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6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AC5D04-3840-924D-958E-A4AC21C7C465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E05A2-2BBB-D94B-8DCE-8D7BD10C8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41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svg"/><Relationship Id="rId18" Type="http://schemas.openxmlformats.org/officeDocument/2006/relationships/image" Target="../media/image40.sv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12" Type="http://schemas.openxmlformats.org/officeDocument/2006/relationships/image" Target="../media/image34.svg"/><Relationship Id="rId17" Type="http://schemas.openxmlformats.org/officeDocument/2006/relationships/image" Target="../media/image39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11" Type="http://schemas.openxmlformats.org/officeDocument/2006/relationships/image" Target="../media/image33.svg"/><Relationship Id="rId5" Type="http://schemas.openxmlformats.org/officeDocument/2006/relationships/image" Target="../media/image27.svg"/><Relationship Id="rId15" Type="http://schemas.openxmlformats.org/officeDocument/2006/relationships/image" Target="../media/image37.sv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svg"/><Relationship Id="rId14" Type="http://schemas.openxmlformats.org/officeDocument/2006/relationships/image" Target="../media/image3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4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svg"/><Relationship Id="rId5" Type="http://schemas.openxmlformats.org/officeDocument/2006/relationships/image" Target="../media/image48.svg"/><Relationship Id="rId4" Type="http://schemas.openxmlformats.org/officeDocument/2006/relationships/image" Target="../media/image4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sv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svg"/><Relationship Id="rId5" Type="http://schemas.openxmlformats.org/officeDocument/2006/relationships/image" Target="../media/image52.svg"/><Relationship Id="rId4" Type="http://schemas.openxmlformats.org/officeDocument/2006/relationships/image" Target="../media/image51.svg"/><Relationship Id="rId9" Type="http://schemas.openxmlformats.org/officeDocument/2006/relationships/image" Target="../media/image5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svg"/><Relationship Id="rId7" Type="http://schemas.openxmlformats.org/officeDocument/2006/relationships/image" Target="../media/image6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svg"/><Relationship Id="rId5" Type="http://schemas.openxmlformats.org/officeDocument/2006/relationships/image" Target="../media/image59.svg"/><Relationship Id="rId4" Type="http://schemas.openxmlformats.org/officeDocument/2006/relationships/image" Target="../media/image5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svg"/><Relationship Id="rId4" Type="http://schemas.openxmlformats.org/officeDocument/2006/relationships/image" Target="../media/image6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svg"/><Relationship Id="rId4" Type="http://schemas.openxmlformats.org/officeDocument/2006/relationships/image" Target="../media/image6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svg"/><Relationship Id="rId5" Type="http://schemas.openxmlformats.org/officeDocument/2006/relationships/image" Target="../media/image71.svg"/><Relationship Id="rId4" Type="http://schemas.openxmlformats.org/officeDocument/2006/relationships/image" Target="../media/image7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svg"/><Relationship Id="rId5" Type="http://schemas.openxmlformats.org/officeDocument/2006/relationships/image" Target="../media/image76.svg"/><Relationship Id="rId4" Type="http://schemas.openxmlformats.org/officeDocument/2006/relationships/image" Target="../media/image7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svg"/><Relationship Id="rId5" Type="http://schemas.openxmlformats.org/officeDocument/2006/relationships/image" Target="../media/image80.svg"/><Relationship Id="rId4" Type="http://schemas.openxmlformats.org/officeDocument/2006/relationships/image" Target="../media/image79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2.svg"/><Relationship Id="rId7" Type="http://schemas.openxmlformats.org/officeDocument/2006/relationships/image" Target="../media/image86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svg"/><Relationship Id="rId5" Type="http://schemas.openxmlformats.org/officeDocument/2006/relationships/image" Target="../media/image84.svg"/><Relationship Id="rId10" Type="http://schemas.openxmlformats.org/officeDocument/2006/relationships/image" Target="../media/image89.svg"/><Relationship Id="rId4" Type="http://schemas.openxmlformats.org/officeDocument/2006/relationships/image" Target="../media/image83.svg"/><Relationship Id="rId9" Type="http://schemas.openxmlformats.org/officeDocument/2006/relationships/image" Target="../media/image88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svg"/><Relationship Id="rId3" Type="http://schemas.openxmlformats.org/officeDocument/2006/relationships/image" Target="../media/image90.svg"/><Relationship Id="rId7" Type="http://schemas.openxmlformats.org/officeDocument/2006/relationships/image" Target="../media/image94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svg"/><Relationship Id="rId5" Type="http://schemas.openxmlformats.org/officeDocument/2006/relationships/image" Target="../media/image92.svg"/><Relationship Id="rId4" Type="http://schemas.openxmlformats.org/officeDocument/2006/relationships/image" Target="../media/image91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8.svg"/><Relationship Id="rId4" Type="http://schemas.openxmlformats.org/officeDocument/2006/relationships/image" Target="../media/image9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svg"/><Relationship Id="rId5" Type="http://schemas.openxmlformats.org/officeDocument/2006/relationships/image" Target="../media/image101.svg"/><Relationship Id="rId4" Type="http://schemas.openxmlformats.org/officeDocument/2006/relationships/image" Target="../media/image100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5.svg"/><Relationship Id="rId4" Type="http://schemas.openxmlformats.org/officeDocument/2006/relationships/image" Target="../media/image104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7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hyperlink" Target="https://forms.office.com/r/EXVCQtPbti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FAB753">
                  <a:alpha val="60000"/>
                </a:srgbClr>
              </a:gs>
              <a:gs pos="70000">
                <a:srgbClr val="FAB753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114330"/>
            <a:ext cx="9144000" cy="2917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FAB753">
                  <a:alpha val="60000"/>
                </a:srgbClr>
              </a:gs>
              <a:gs pos="70000">
                <a:srgbClr val="FAB753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15425" y="3857030"/>
            <a:ext cx="28575" cy="1286470"/>
          </a:xfrm>
          <a:prstGeom prst="rect">
            <a:avLst/>
          </a:prstGeom>
          <a:solidFill>
            <a:srgbClr val="FAB753">
              <a:alpha val="2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71390" y="1143000"/>
            <a:ext cx="5001220" cy="2857500"/>
          </a:xfrm>
          <a:prstGeom prst="rect">
            <a:avLst/>
          </a:prstGeom>
          <a:gradFill rotWithShape="1">
            <a:gsLst>
              <a:gs pos="0">
                <a:srgbClr val="55A49C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01930" y="4775895"/>
            <a:ext cx="54908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58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3209932" y="1695152"/>
            <a:ext cx="272398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b="1" kern="0" spc="136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CENTERSTONE CLINICAL TRAINING SERIES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4343400" y="2053233"/>
            <a:ext cx="457200" cy="21580"/>
          </a:xfrm>
          <a:prstGeom prst="roundRect">
            <a:avLst>
              <a:gd name="adj" fmla="val 64736"/>
            </a:avLst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27704" y="2074813"/>
            <a:ext cx="6288442" cy="472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18"/>
              </a:lnSpc>
              <a:buNone/>
            </a:pPr>
            <a:r>
              <a:rPr lang="en-US" sz="3380" b="1" kern="0" spc="-34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Prevention Pathway Overview</a:t>
            </a:r>
            <a:endParaRPr lang="en-US" sz="3380" dirty="0"/>
          </a:p>
        </p:txBody>
      </p:sp>
      <p:sp>
        <p:nvSpPr>
          <p:cNvPr id="10" name="Text 8"/>
          <p:cNvSpPr/>
          <p:nvPr/>
        </p:nvSpPr>
        <p:spPr>
          <a:xfrm>
            <a:off x="4343400" y="2747516"/>
            <a:ext cx="457200" cy="21580"/>
          </a:xfrm>
          <a:prstGeom prst="roundRect">
            <a:avLst>
              <a:gd name="adj" fmla="val 64736"/>
            </a:avLst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65149" y="2969716"/>
            <a:ext cx="4613702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kern="0" spc="50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Suicide Prevention  ·  Violence Risk  ·  Assessment  ·  Intervention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3356290" y="3233142"/>
            <a:ext cx="2431271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95"/>
              </a:lnSpc>
              <a:buNone/>
            </a:pPr>
            <a:r>
              <a:rPr lang="en-US" sz="1130" kern="0" spc="34" dirty="0">
                <a:solidFill>
                  <a:srgbClr val="FFFFFF">
                    <a:alpha val="8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School-Based Therapist Training</a:t>
            </a:r>
            <a:endParaRPr lang="en-US" sz="11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1359396"/>
            <a:ext cx="251460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140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INTO PRACTICE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285750" y="1609576"/>
            <a:ext cx="2331720" cy="563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13"/>
              </a:lnSpc>
              <a:spcAft>
                <a:spcPts val="1350"/>
              </a:spcAft>
              <a:buNone/>
            </a:pPr>
            <a:r>
              <a:rPr lang="en-US" sz="169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Prevention Pathway Overview</a:t>
            </a:r>
            <a:endParaRPr lang="en-US" sz="1690" dirty="0"/>
          </a:p>
        </p:txBody>
      </p:sp>
      <p:sp>
        <p:nvSpPr>
          <p:cNvPr id="5" name="Text 3"/>
          <p:cNvSpPr/>
          <p:nvPr/>
        </p:nvSpPr>
        <p:spPr>
          <a:xfrm>
            <a:off x="285750" y="2518023"/>
            <a:ext cx="285750" cy="21580"/>
          </a:xfrm>
          <a:prstGeom prst="roundRect">
            <a:avLst>
              <a:gd name="adj" fmla="val 64736"/>
            </a:avLst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5750" y="2740223"/>
            <a:ext cx="2331720" cy="68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2"/>
              </a:lnSpc>
              <a:buNone/>
            </a:pPr>
            <a:r>
              <a:rPr lang="en-US" sz="76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training includes direct instruction, live walkthroughs of each assessment, structured pair role plays with scoring and interpretation, and a group discussion on clinical enrollment decisions.</a:t>
            </a:r>
            <a:endParaRPr lang="en-US" sz="76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3257" y="3652995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4344" y="3654623"/>
            <a:ext cx="208076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· School-Based Therapist Training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2857500" y="0"/>
            <a:ext cx="62865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229570" y="1405979"/>
            <a:ext cx="6128683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spcAft>
                <a:spcPts val="560"/>
              </a:spcAft>
              <a:buNone/>
            </a:pPr>
            <a:r>
              <a:rPr lang="en-US" sz="124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Welcome to Today's Training</a:t>
            </a:r>
            <a:endParaRPr lang="en-US" sz="1240" dirty="0"/>
          </a:p>
        </p:txBody>
      </p:sp>
      <p:sp>
        <p:nvSpPr>
          <p:cNvPr id="11" name="Text 8"/>
          <p:cNvSpPr/>
          <p:nvPr/>
        </p:nvSpPr>
        <p:spPr>
          <a:xfrm>
            <a:off x="3229570" y="1713161"/>
            <a:ext cx="5682960" cy="5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4"/>
              </a:lnSpc>
              <a:spcAft>
                <a:spcPts val="1240"/>
              </a:spcAft>
              <a:buNone/>
            </a:pP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Suicide prevention and violence risk are among the highest-stakes areas of our clinical work. This training is about building real confidence — not just familiarity. You will leave today having scored assessments, interpreted results, and practiced making enrollment decisions alongside a colleague.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3229570" y="2348359"/>
            <a:ext cx="5682960" cy="217140"/>
          </a:xfrm>
          <a:prstGeom prst="rect">
            <a:avLst/>
          </a:prstGeom>
          <a:noFill/>
          <a:ln/>
        </p:spPr>
        <p:txBody>
          <a:bodyPr wrap="none" lIns="0" tIns="0" rIns="0" bIns="57150" rtlCol="0" anchor="t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— By the end of this training you will be able to: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3229570" y="2555974"/>
            <a:ext cx="5571530" cy="9525"/>
          </a:xfrm>
          <a:prstGeom prst="rect">
            <a:avLst/>
          </a:prstGeom>
          <a:solidFill>
            <a:srgbClr val="EAF4F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229570" y="2665809"/>
            <a:ext cx="203820" cy="1465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30" dirty="0"/>
          </a:p>
        </p:txBody>
      </p:sp>
      <p:sp>
        <p:nvSpPr>
          <p:cNvPr id="15" name="Text 12"/>
          <p:cNvSpPr/>
          <p:nvPr/>
        </p:nvSpPr>
        <p:spPr>
          <a:xfrm>
            <a:off x="3515171" y="2715220"/>
            <a:ext cx="43160" cy="431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629323" y="2665809"/>
            <a:ext cx="3261122" cy="149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three clinical pathways and know when each is triggered.</a:t>
            </a:r>
            <a:endParaRPr lang="en-US" sz="760" dirty="0"/>
          </a:p>
        </p:txBody>
      </p:sp>
      <p:sp>
        <p:nvSpPr>
          <p:cNvPr id="17" name="Text 14"/>
          <p:cNvSpPr/>
          <p:nvPr/>
        </p:nvSpPr>
        <p:spPr>
          <a:xfrm>
            <a:off x="3229570" y="2880122"/>
            <a:ext cx="203820" cy="1465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30" dirty="0"/>
          </a:p>
        </p:txBody>
      </p:sp>
      <p:sp>
        <p:nvSpPr>
          <p:cNvPr id="18" name="Text 15"/>
          <p:cNvSpPr/>
          <p:nvPr/>
        </p:nvSpPr>
        <p:spPr>
          <a:xfrm>
            <a:off x="3515171" y="2929533"/>
            <a:ext cx="43160" cy="431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629323" y="2880122"/>
            <a:ext cx="4555093" cy="149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Administer, score, and interpret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PHQ-A, C-SSRS, and RROVS correctly.</a:t>
            </a:r>
            <a:endParaRPr lang="en-US" sz="760" dirty="0"/>
          </a:p>
        </p:txBody>
      </p:sp>
      <p:sp>
        <p:nvSpPr>
          <p:cNvPr id="20" name="Text 17"/>
          <p:cNvSpPr/>
          <p:nvPr/>
        </p:nvSpPr>
        <p:spPr>
          <a:xfrm>
            <a:off x="3229570" y="3094434"/>
            <a:ext cx="203820" cy="1465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30" dirty="0"/>
          </a:p>
        </p:txBody>
      </p:sp>
      <p:sp>
        <p:nvSpPr>
          <p:cNvPr id="21" name="Text 18"/>
          <p:cNvSpPr/>
          <p:nvPr/>
        </p:nvSpPr>
        <p:spPr>
          <a:xfrm>
            <a:off x="3515171" y="3143845"/>
            <a:ext cx="43160" cy="431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629323" y="3094434"/>
            <a:ext cx="4186744" cy="149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enrollment and disenrollment criteria for each pathway with clinical confidence.</a:t>
            </a:r>
            <a:endParaRPr lang="en-US" sz="760" dirty="0"/>
          </a:p>
        </p:txBody>
      </p:sp>
      <p:sp>
        <p:nvSpPr>
          <p:cNvPr id="23" name="Text 20"/>
          <p:cNvSpPr/>
          <p:nvPr/>
        </p:nvSpPr>
        <p:spPr>
          <a:xfrm>
            <a:off x="3229570" y="3308747"/>
            <a:ext cx="203820" cy="1465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30" dirty="0"/>
          </a:p>
        </p:txBody>
      </p:sp>
      <p:sp>
        <p:nvSpPr>
          <p:cNvPr id="24" name="Text 21"/>
          <p:cNvSpPr/>
          <p:nvPr/>
        </p:nvSpPr>
        <p:spPr>
          <a:xfrm>
            <a:off x="3515171" y="3358158"/>
            <a:ext cx="43160" cy="431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629323" y="3308747"/>
            <a:ext cx="3479185" cy="149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Stanley-Brown Safety Plan, Safety Sweep, and CALM in practice.</a:t>
            </a:r>
            <a:endParaRPr lang="en-US" sz="760" dirty="0"/>
          </a:p>
        </p:txBody>
      </p:sp>
      <p:sp>
        <p:nvSpPr>
          <p:cNvPr id="26" name="Text 23"/>
          <p:cNvSpPr/>
          <p:nvPr/>
        </p:nvSpPr>
        <p:spPr>
          <a:xfrm>
            <a:off x="3229570" y="3523059"/>
            <a:ext cx="203820" cy="1465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30" dirty="0"/>
          </a:p>
        </p:txBody>
      </p:sp>
      <p:sp>
        <p:nvSpPr>
          <p:cNvPr id="27" name="Text 24"/>
          <p:cNvSpPr/>
          <p:nvPr/>
        </p:nvSpPr>
        <p:spPr>
          <a:xfrm>
            <a:off x="3515171" y="3572470"/>
            <a:ext cx="43160" cy="431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629323" y="3523059"/>
            <a:ext cx="3052390" cy="149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8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RELATE model and its role in suicide-specific care.</a:t>
            </a:r>
            <a:endParaRPr lang="en-US" sz="760" dirty="0"/>
          </a:p>
        </p:txBody>
      </p:sp>
      <p:sp>
        <p:nvSpPr>
          <p:cNvPr id="29" name="Text 26"/>
          <p:cNvSpPr/>
          <p:nvPr/>
        </p:nvSpPr>
        <p:spPr>
          <a:xfrm>
            <a:off x="0" y="5114334"/>
            <a:ext cx="2857500" cy="29166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501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350" y="253603"/>
            <a:ext cx="150465" cy="1504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9115" y="157460"/>
            <a:ext cx="316660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kern="0" spc="36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Training Matters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0" y="628501"/>
            <a:ext cx="57150" cy="4130427"/>
          </a:xfrm>
          <a:prstGeom prst="rect">
            <a:avLst/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70880" y="886271"/>
            <a:ext cx="8701088" cy="4799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5400" dirty="0">
                <a:solidFill>
                  <a:srgbClr val="EAF4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00050" y="1293763"/>
            <a:ext cx="244602" cy="280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12"/>
              </a:lnSpc>
              <a:buNone/>
            </a:pPr>
            <a:r>
              <a:rPr lang="en-US" sz="1580" b="1" dirty="0">
                <a:solidFill>
                  <a:srgbClr val="FAB7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580" dirty="0"/>
          </a:p>
        </p:txBody>
      </p:sp>
      <p:sp>
        <p:nvSpPr>
          <p:cNvPr id="8" name="Text 5"/>
          <p:cNvSpPr/>
          <p:nvPr/>
        </p:nvSpPr>
        <p:spPr>
          <a:xfrm>
            <a:off x="756791" y="1279922"/>
            <a:ext cx="8058855" cy="63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9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Centerstone's Zero Suicide Initiative began with a charge from our CEO to develop a clinical pathway for suicide prevention — not because the work wasn't happening, but because we wanted to make sure it was happening </a:t>
            </a:r>
            <a:r>
              <a:rPr lang="en-US" sz="9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consistently, systematically,</a:t>
            </a:r>
            <a:r>
              <a:rPr lang="en-US" sz="9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in a way that gave every client the best possible chance at safety and recovery.</a:t>
            </a:r>
            <a:endParaRPr lang="en-US" sz="960" dirty="0"/>
          </a:p>
        </p:txBody>
      </p:sp>
      <p:sp>
        <p:nvSpPr>
          <p:cNvPr id="9" name="Text 6"/>
          <p:cNvSpPr/>
          <p:nvPr/>
        </p:nvSpPr>
        <p:spPr>
          <a:xfrm>
            <a:off x="756791" y="2040582"/>
            <a:ext cx="7900839" cy="7590"/>
          </a:xfrm>
          <a:prstGeom prst="rect">
            <a:avLst/>
          </a:prstGeom>
          <a:solidFill>
            <a:srgbClr val="EAF4F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00050" y="2219474"/>
            <a:ext cx="244602" cy="280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12"/>
              </a:lnSpc>
              <a:buNone/>
            </a:pPr>
            <a:r>
              <a:rPr lang="en-US" sz="1580" b="1" dirty="0">
                <a:solidFill>
                  <a:srgbClr val="FAB7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580" dirty="0"/>
          </a:p>
        </p:txBody>
      </p:sp>
      <p:sp>
        <p:nvSpPr>
          <p:cNvPr id="11" name="Text 8"/>
          <p:cNvSpPr/>
          <p:nvPr/>
        </p:nvSpPr>
        <p:spPr>
          <a:xfrm>
            <a:off x="756791" y="2205633"/>
            <a:ext cx="8058855" cy="42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9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pathways exist so that </a:t>
            </a:r>
            <a:r>
              <a:rPr lang="en-US" sz="9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slips through the cracks.</a:t>
            </a:r>
            <a:r>
              <a:rPr lang="en-US" sz="9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They give you a shared language with your team, a clear structure when things feel uncertain, and documentation that protects both you and your client.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756791" y="2765227"/>
            <a:ext cx="7900839" cy="7590"/>
          </a:xfrm>
          <a:prstGeom prst="rect">
            <a:avLst/>
          </a:prstGeom>
          <a:solidFill>
            <a:srgbClr val="EAF4F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00050" y="2944118"/>
            <a:ext cx="244602" cy="280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12"/>
              </a:lnSpc>
              <a:buNone/>
            </a:pPr>
            <a:r>
              <a:rPr lang="en-US" sz="1580" b="1" dirty="0">
                <a:solidFill>
                  <a:srgbClr val="FAB7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580" dirty="0"/>
          </a:p>
        </p:txBody>
      </p:sp>
      <p:sp>
        <p:nvSpPr>
          <p:cNvPr id="14" name="Text 11"/>
          <p:cNvSpPr/>
          <p:nvPr/>
        </p:nvSpPr>
        <p:spPr>
          <a:xfrm>
            <a:off x="756791" y="2930277"/>
            <a:ext cx="8058855" cy="42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9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training is </a:t>
            </a:r>
            <a:r>
              <a:rPr lang="en-US" sz="9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about checking a box.</a:t>
            </a:r>
            <a:r>
              <a:rPr lang="en-US" sz="9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is about building the kind of clinical confidence that lets you stay calm and present with a client in their most vulnerable moments.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0" y="4758928"/>
            <a:ext cx="9144000" cy="384572"/>
          </a:xfrm>
          <a:prstGeom prst="rect">
            <a:avLst/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6463" y="4884846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96278" y="4865489"/>
            <a:ext cx="674521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kern="0" spc="9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assessment you complete is an act of care. Every safety plan is a lifeline. Do this work with that in mind.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6554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lIns="372110" tIns="128270" rIns="372110" bIns="100330" rtlCol="0" anchor="t"/>
          <a:lstStyle/>
          <a:p>
            <a:pPr marL="0" indent="0" algn="l">
              <a:buNone/>
            </a:pPr>
            <a:r>
              <a:rPr lang="en-US" sz="1690" b="1" kern="0" spc="17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Pathways. One Goal: Safety.</a:t>
            </a:r>
            <a:endParaRPr lang="en-US" sz="169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pathway is triggered by a specific screen, requires a specific assessment, and has specific treatment and disenrollment criteria.</a:t>
            </a:r>
            <a:endParaRPr lang="en-US" sz="1690" dirty="0"/>
          </a:p>
        </p:txBody>
      </p:sp>
      <p:sp>
        <p:nvSpPr>
          <p:cNvPr id="3" name="Text 1"/>
          <p:cNvSpPr/>
          <p:nvPr/>
        </p:nvSpPr>
        <p:spPr>
          <a:xfrm>
            <a:off x="314920" y="780901"/>
            <a:ext cx="2742307" cy="2804517"/>
          </a:xfrm>
          <a:prstGeom prst="roundRect">
            <a:avLst>
              <a:gd name="adj" fmla="val 2593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4920" y="780901"/>
            <a:ext cx="2742307" cy="29170"/>
          </a:xfrm>
          <a:prstGeom prst="roundRect">
            <a:avLst>
              <a:gd name="adj" fmla="val 243812"/>
            </a:avLst>
          </a:prstGeom>
          <a:solidFill>
            <a:srgbClr val="D6404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6370" y="938361"/>
            <a:ext cx="328910" cy="328910"/>
          </a:xfrm>
          <a:prstGeom prst="roundRect">
            <a:avLst>
              <a:gd name="adj" fmla="val 21623"/>
            </a:avLst>
          </a:prstGeom>
          <a:solidFill>
            <a:srgbClr val="D64045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323" y="1033314"/>
            <a:ext cx="139005" cy="1390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6370" y="1359843"/>
            <a:ext cx="2639348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4"/>
              </a:lnSpc>
              <a:spcAft>
                <a:spcPts val="560"/>
              </a:spcAft>
              <a:buNone/>
            </a:pPr>
            <a:r>
              <a:rPr lang="en-US" sz="107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Urgent Risk Pathway</a:t>
            </a:r>
            <a:endParaRPr lang="en-US" sz="1070" dirty="0"/>
          </a:p>
        </p:txBody>
      </p:sp>
      <p:sp>
        <p:nvSpPr>
          <p:cNvPr id="8" name="Text 5"/>
          <p:cNvSpPr/>
          <p:nvPr/>
        </p:nvSpPr>
        <p:spPr>
          <a:xfrm>
            <a:off x="486370" y="1593800"/>
            <a:ext cx="263934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48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TRIGGERED BY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486370" y="1737122"/>
            <a:ext cx="2447395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Item 9 positive, recent suicide attempt, or recent psychiatric hospitalization.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486370" y="2081957"/>
            <a:ext cx="263934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48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ASSESSMENT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486370" y="2225278"/>
            <a:ext cx="2447395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C-SSRS Lifetime/Recent</a:t>
            </a:r>
            <a:r>
              <a:rPr lang="en-US" sz="76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intake; </a:t>
            </a: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C-SSRS Since Last Visit</a:t>
            </a:r>
            <a:r>
              <a:rPr lang="en-US" sz="76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each subsequent session.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486370" y="2570113"/>
            <a:ext cx="263934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48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FREQUENCY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486370" y="2713434"/>
            <a:ext cx="263934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sessions + weekly staffing.</a:t>
            </a:r>
            <a:endParaRPr lang="en-US" sz="760" dirty="0"/>
          </a:p>
        </p:txBody>
      </p:sp>
      <p:sp>
        <p:nvSpPr>
          <p:cNvPr id="14" name="Text 11"/>
          <p:cNvSpPr/>
          <p:nvPr/>
        </p:nvSpPr>
        <p:spPr>
          <a:xfrm>
            <a:off x="486370" y="2989213"/>
            <a:ext cx="1245861" cy="172641"/>
          </a:xfrm>
          <a:prstGeom prst="roundRect">
            <a:avLst>
              <a:gd name="adj" fmla="val 83126"/>
            </a:avLst>
          </a:prstGeom>
          <a:solidFill>
            <a:srgbClr val="D64045">
              <a:alpha val="12000"/>
            </a:srgbClr>
          </a:solidFill>
          <a:ln/>
        </p:spPr>
        <p:txBody>
          <a:bodyPr wrap="none" lIns="149830" tIns="21590" rIns="71120" bIns="2159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Highest-Level Response</a:t>
            </a:r>
            <a:endParaRPr lang="en-US" sz="68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857" y="3009165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00698" y="780901"/>
            <a:ext cx="2742456" cy="2804517"/>
          </a:xfrm>
          <a:prstGeom prst="roundRect">
            <a:avLst>
              <a:gd name="adj" fmla="val 2593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200698" y="780901"/>
            <a:ext cx="2742456" cy="29170"/>
          </a:xfrm>
          <a:custGeom>
            <a:avLst/>
            <a:gdLst/>
            <a:ahLst/>
            <a:cxnLst/>
            <a:rect l="l" t="t" r="r" b="b"/>
            <a:pathLst>
              <a:path w="2742456" h="29170">
                <a:moveTo>
                  <a:pt x="71120" y="0"/>
                </a:moveTo>
                <a:lnTo>
                  <a:pt x="57245" y="1367"/>
                </a:lnTo>
                <a:lnTo>
                  <a:pt x="43904" y="5414"/>
                </a:lnTo>
                <a:lnTo>
                  <a:pt x="31608" y="11986"/>
                </a:lnTo>
                <a:lnTo>
                  <a:pt x="20831" y="20831"/>
                </a:lnTo>
                <a:lnTo>
                  <a:pt x="0" y="29170"/>
                </a:lnTo>
                <a:lnTo>
                  <a:pt x="2742456" y="29170"/>
                </a:lnTo>
                <a:lnTo>
                  <a:pt x="2721625" y="20831"/>
                </a:lnTo>
                <a:lnTo>
                  <a:pt x="2710848" y="11986"/>
                </a:lnTo>
                <a:lnTo>
                  <a:pt x="2698552" y="5414"/>
                </a:lnTo>
                <a:lnTo>
                  <a:pt x="2685211" y="1367"/>
                </a:lnTo>
                <a:lnTo>
                  <a:pt x="2671336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372148" y="938361"/>
            <a:ext cx="328910" cy="328910"/>
          </a:xfrm>
          <a:prstGeom prst="roundRect">
            <a:avLst>
              <a:gd name="adj" fmla="val 21623"/>
            </a:avLst>
          </a:prstGeom>
          <a:solidFill>
            <a:srgbClr val="FAB753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67100" y="1033314"/>
            <a:ext cx="139005" cy="13900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372148" y="1359843"/>
            <a:ext cx="2639511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4"/>
              </a:lnSpc>
              <a:spcAft>
                <a:spcPts val="560"/>
              </a:spcAft>
              <a:buNone/>
            </a:pPr>
            <a:r>
              <a:rPr lang="en-US" sz="107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Moderate Risk Pathway</a:t>
            </a:r>
            <a:endParaRPr lang="en-US" sz="1070" dirty="0"/>
          </a:p>
        </p:txBody>
      </p:sp>
      <p:sp>
        <p:nvSpPr>
          <p:cNvPr id="21" name="Text 16"/>
          <p:cNvSpPr/>
          <p:nvPr/>
        </p:nvSpPr>
        <p:spPr>
          <a:xfrm>
            <a:off x="3372148" y="1593800"/>
            <a:ext cx="263951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48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TRIGGERED BY</a:t>
            </a:r>
            <a:endParaRPr lang="en-US" sz="680" dirty="0"/>
          </a:p>
        </p:txBody>
      </p:sp>
      <p:sp>
        <p:nvSpPr>
          <p:cNvPr id="22" name="Text 17"/>
          <p:cNvSpPr/>
          <p:nvPr/>
        </p:nvSpPr>
        <p:spPr>
          <a:xfrm>
            <a:off x="3372148" y="1737122"/>
            <a:ext cx="2447547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Item 9 </a:t>
            </a: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r>
              <a:rPr lang="en-US" sz="76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 INQ-FAD3 screener (3 questions) is positive.</a:t>
            </a:r>
            <a:endParaRPr lang="en-US" sz="760" dirty="0"/>
          </a:p>
        </p:txBody>
      </p:sp>
      <p:sp>
        <p:nvSpPr>
          <p:cNvPr id="23" name="Text 18"/>
          <p:cNvSpPr/>
          <p:nvPr/>
        </p:nvSpPr>
        <p:spPr>
          <a:xfrm>
            <a:off x="3372148" y="2081957"/>
            <a:ext cx="263951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48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ASSESSMENT</a:t>
            </a:r>
            <a:endParaRPr lang="en-US" sz="680" dirty="0"/>
          </a:p>
        </p:txBody>
      </p:sp>
      <p:sp>
        <p:nvSpPr>
          <p:cNvPr id="24" name="Text 19"/>
          <p:cNvSpPr/>
          <p:nvPr/>
        </p:nvSpPr>
        <p:spPr>
          <a:xfrm>
            <a:off x="3372148" y="2225278"/>
            <a:ext cx="2447547" cy="441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INQ-FAD3</a:t>
            </a:r>
            <a:r>
              <a:rPr lang="en-US" sz="76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(16 questions) measuring burdensomeness, belongingness, and fearlessness about death.</a:t>
            </a:r>
            <a:endParaRPr lang="en-US" sz="760" dirty="0"/>
          </a:p>
        </p:txBody>
      </p:sp>
      <p:sp>
        <p:nvSpPr>
          <p:cNvPr id="25" name="Text 20"/>
          <p:cNvSpPr/>
          <p:nvPr/>
        </p:nvSpPr>
        <p:spPr>
          <a:xfrm>
            <a:off x="3372148" y="2710160"/>
            <a:ext cx="263951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48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FREQUENCY</a:t>
            </a:r>
            <a:endParaRPr lang="en-US" sz="680" dirty="0"/>
          </a:p>
        </p:txBody>
      </p:sp>
      <p:sp>
        <p:nvSpPr>
          <p:cNvPr id="26" name="Text 21"/>
          <p:cNvSpPr/>
          <p:nvPr/>
        </p:nvSpPr>
        <p:spPr>
          <a:xfrm>
            <a:off x="3372148" y="2853482"/>
            <a:ext cx="2447547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sessions. Monitor for escalation to Urgent Risk at every session.</a:t>
            </a:r>
            <a:endParaRPr lang="en-US" sz="760" dirty="0"/>
          </a:p>
        </p:txBody>
      </p:sp>
      <p:sp>
        <p:nvSpPr>
          <p:cNvPr id="27" name="Text 22"/>
          <p:cNvSpPr/>
          <p:nvPr/>
        </p:nvSpPr>
        <p:spPr>
          <a:xfrm>
            <a:off x="3372148" y="3269307"/>
            <a:ext cx="1416945" cy="172641"/>
          </a:xfrm>
          <a:prstGeom prst="roundRect">
            <a:avLst>
              <a:gd name="adj" fmla="val 83126"/>
            </a:avLst>
          </a:prstGeom>
          <a:solidFill>
            <a:srgbClr val="FAB753">
              <a:alpha val="22000"/>
            </a:srgbClr>
          </a:solidFill>
          <a:ln/>
        </p:spPr>
        <p:txBody>
          <a:bodyPr wrap="none" lIns="149830" tIns="21590" rIns="71120" bIns="2159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9E69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What PHQ-9 Misses</a:t>
            </a:r>
            <a:endParaRPr lang="en-US" sz="68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87635" y="3289259"/>
            <a:ext cx="132588" cy="1325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086624" y="780901"/>
            <a:ext cx="2742456" cy="2804517"/>
          </a:xfrm>
          <a:prstGeom prst="roundRect">
            <a:avLst>
              <a:gd name="adj" fmla="val 2593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6086624" y="780901"/>
            <a:ext cx="2742456" cy="29170"/>
          </a:xfrm>
          <a:custGeom>
            <a:avLst/>
            <a:gdLst/>
            <a:ahLst/>
            <a:cxnLst/>
            <a:rect l="l" t="t" r="r" b="b"/>
            <a:pathLst>
              <a:path w="2742456" h="29170">
                <a:moveTo>
                  <a:pt x="71120" y="0"/>
                </a:moveTo>
                <a:lnTo>
                  <a:pt x="57245" y="1367"/>
                </a:lnTo>
                <a:lnTo>
                  <a:pt x="43904" y="5414"/>
                </a:lnTo>
                <a:lnTo>
                  <a:pt x="31608" y="11986"/>
                </a:lnTo>
                <a:lnTo>
                  <a:pt x="20831" y="20831"/>
                </a:lnTo>
                <a:lnTo>
                  <a:pt x="0" y="29170"/>
                </a:lnTo>
                <a:lnTo>
                  <a:pt x="2742456" y="29170"/>
                </a:lnTo>
                <a:lnTo>
                  <a:pt x="2721625" y="20831"/>
                </a:lnTo>
                <a:lnTo>
                  <a:pt x="2710848" y="11986"/>
                </a:lnTo>
                <a:lnTo>
                  <a:pt x="2698552" y="5414"/>
                </a:lnTo>
                <a:lnTo>
                  <a:pt x="2685211" y="1367"/>
                </a:lnTo>
                <a:lnTo>
                  <a:pt x="2671336" y="0"/>
                </a:lnTo>
                <a:close/>
              </a:path>
            </a:pathLst>
          </a:custGeom>
          <a:solidFill>
            <a:srgbClr val="55A49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6258074" y="938361"/>
            <a:ext cx="328910" cy="328910"/>
          </a:xfrm>
          <a:prstGeom prst="roundRect">
            <a:avLst>
              <a:gd name="adj" fmla="val 21623"/>
            </a:avLst>
          </a:prstGeom>
          <a:solidFill>
            <a:srgbClr val="55A49C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3026" y="1033314"/>
            <a:ext cx="139005" cy="13900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258074" y="1359843"/>
            <a:ext cx="2639511" cy="162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84"/>
              </a:lnSpc>
              <a:spcAft>
                <a:spcPts val="560"/>
              </a:spcAft>
              <a:buNone/>
            </a:pPr>
            <a:r>
              <a:rPr lang="en-US" sz="107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Violence Risk Pathway</a:t>
            </a:r>
            <a:endParaRPr lang="en-US" sz="1070" dirty="0"/>
          </a:p>
        </p:txBody>
      </p:sp>
      <p:sp>
        <p:nvSpPr>
          <p:cNvPr id="34" name="Text 27"/>
          <p:cNvSpPr/>
          <p:nvPr/>
        </p:nvSpPr>
        <p:spPr>
          <a:xfrm>
            <a:off x="6258074" y="1593800"/>
            <a:ext cx="263951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48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TRIGGERED BY</a:t>
            </a:r>
            <a:endParaRPr lang="en-US" sz="680" dirty="0"/>
          </a:p>
        </p:txBody>
      </p:sp>
      <p:sp>
        <p:nvSpPr>
          <p:cNvPr id="35" name="Text 28"/>
          <p:cNvSpPr/>
          <p:nvPr/>
        </p:nvSpPr>
        <p:spPr>
          <a:xfrm>
            <a:off x="6258074" y="1737122"/>
            <a:ext cx="2447547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</a:t>
            </a: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RROVS</a:t>
            </a:r>
            <a:r>
              <a:rPr lang="en-US" sz="76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(Rapid Risk of Violence Screener). Screened at intake and every 6 months.</a:t>
            </a:r>
            <a:endParaRPr lang="en-US" sz="760" dirty="0"/>
          </a:p>
        </p:txBody>
      </p:sp>
      <p:sp>
        <p:nvSpPr>
          <p:cNvPr id="36" name="Text 29"/>
          <p:cNvSpPr/>
          <p:nvPr/>
        </p:nvSpPr>
        <p:spPr>
          <a:xfrm>
            <a:off x="6258074" y="2081957"/>
            <a:ext cx="263951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48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RESPONSE REQUIRED</a:t>
            </a:r>
            <a:endParaRPr lang="en-US" sz="680" dirty="0"/>
          </a:p>
        </p:txBody>
      </p:sp>
      <p:sp>
        <p:nvSpPr>
          <p:cNvPr id="37" name="Text 30"/>
          <p:cNvSpPr/>
          <p:nvPr/>
        </p:nvSpPr>
        <p:spPr>
          <a:xfrm>
            <a:off x="6258074" y="2225278"/>
            <a:ext cx="2447547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 week:</a:t>
            </a:r>
            <a:r>
              <a:rPr lang="en-US" sz="76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Structural Clinical Risk form + Support Crisis Plan. Not optional.</a:t>
            </a:r>
            <a:endParaRPr lang="en-US" sz="760" dirty="0"/>
          </a:p>
        </p:txBody>
      </p:sp>
      <p:sp>
        <p:nvSpPr>
          <p:cNvPr id="38" name="Text 31"/>
          <p:cNvSpPr/>
          <p:nvPr/>
        </p:nvSpPr>
        <p:spPr>
          <a:xfrm>
            <a:off x="6258074" y="2570113"/>
            <a:ext cx="263951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48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⬥ SCOPE</a:t>
            </a:r>
            <a:endParaRPr lang="en-US" sz="680" dirty="0"/>
          </a:p>
        </p:txBody>
      </p:sp>
      <p:sp>
        <p:nvSpPr>
          <p:cNvPr id="39" name="Text 32"/>
          <p:cNvSpPr/>
          <p:nvPr/>
        </p:nvSpPr>
        <p:spPr>
          <a:xfrm>
            <a:off x="6258074" y="2713434"/>
            <a:ext cx="2447547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but equally critical track. Protects others — not just the client.</a:t>
            </a:r>
            <a:endParaRPr lang="en-US" sz="760" dirty="0"/>
          </a:p>
        </p:txBody>
      </p:sp>
      <p:sp>
        <p:nvSpPr>
          <p:cNvPr id="40" name="Text 33"/>
          <p:cNvSpPr/>
          <p:nvPr/>
        </p:nvSpPr>
        <p:spPr>
          <a:xfrm>
            <a:off x="6258074" y="3129260"/>
            <a:ext cx="1228859" cy="172641"/>
          </a:xfrm>
          <a:prstGeom prst="roundRect">
            <a:avLst>
              <a:gd name="adj" fmla="val 83126"/>
            </a:avLst>
          </a:prstGeom>
          <a:solidFill>
            <a:srgbClr val="55A49C">
              <a:alpha val="18000"/>
            </a:srgbClr>
          </a:solidFill>
          <a:ln/>
        </p:spPr>
        <p:txBody>
          <a:bodyPr wrap="none" lIns="149830" tIns="21590" rIns="71120" bIns="2159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2E7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+ Every 6 Months</a:t>
            </a:r>
            <a:endParaRPr lang="en-US" sz="68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73561" y="3149212"/>
            <a:ext cx="132588" cy="13258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314920" y="3699718"/>
            <a:ext cx="8514159" cy="316557"/>
          </a:xfrm>
          <a:prstGeom prst="rect">
            <a:avLst/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314920" y="3699718"/>
            <a:ext cx="28575" cy="316557"/>
          </a:xfrm>
          <a:prstGeom prst="rect">
            <a:avLst/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6832" y="3791703"/>
            <a:ext cx="132588" cy="13258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380062" y="3786039"/>
            <a:ext cx="8412450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34"/>
              </a:lnSpc>
              <a:buNone/>
            </a:pPr>
            <a:r>
              <a:rPr lang="en-US" sz="8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clinical judgment is always part of the equation. These pathways </a:t>
            </a:r>
            <a:r>
              <a:rPr lang="en-US" sz="840" b="1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r>
              <a:rPr lang="en-US" sz="8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replace — your clinical thinking.</a:t>
            </a:r>
            <a:endParaRPr lang="en-US" sz="84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3155" y="3791703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5E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FFFFF">
                  <a:alpha val="4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90000" t="80000" r="10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15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10000" t="20000" r="90000" b="8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5A49C">
                  <a:alpha val="10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35421"/>
          </a:xfrm>
          <a:prstGeom prst="rect">
            <a:avLst/>
          </a:prstGeom>
          <a:gradFill rotWithShape="1">
            <a:gsLst>
              <a:gs pos="0">
                <a:srgbClr val="FAB753"/>
              </a:gs>
              <a:gs pos="60000">
                <a:srgbClr val="FAB75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6858000" cy="38576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62362" y="622846"/>
            <a:ext cx="217359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3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URGENT RISK PATHWAY</a:t>
            </a:r>
            <a:endParaRPr lang="en-US" sz="73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2215" y="626054"/>
            <a:ext cx="132588" cy="132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87148" y="919311"/>
            <a:ext cx="4769703" cy="79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78"/>
              </a:lnSpc>
              <a:spcAft>
                <a:spcPts val="560"/>
              </a:spcAft>
              <a:buNone/>
            </a:pPr>
            <a:r>
              <a:rPr lang="en-US" sz="2590" kern="0" spc="-26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the Risk Is Immediate —</a:t>
            </a:r>
            <a:br/>
            <a:r>
              <a:rPr lang="en-US" sz="2590" kern="0" spc="-26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Act Immediately.</a:t>
            </a:r>
            <a:endParaRPr lang="en-US" sz="2590" dirty="0"/>
          </a:p>
        </p:txBody>
      </p:sp>
      <p:sp>
        <p:nvSpPr>
          <p:cNvPr id="10" name="Text 6"/>
          <p:cNvSpPr/>
          <p:nvPr/>
        </p:nvSpPr>
        <p:spPr>
          <a:xfrm>
            <a:off x="4286250" y="1746647"/>
            <a:ext cx="571500" cy="29170"/>
          </a:xfrm>
          <a:prstGeom prst="roundRect">
            <a:avLst>
              <a:gd name="adj" fmla="val 47892"/>
            </a:avLst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2238375" y="1947267"/>
            <a:ext cx="1373984" cy="228898"/>
          </a:xfrm>
          <a:prstGeom prst="roundRect">
            <a:avLst>
              <a:gd name="adj" fmla="val 6269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AB753">
                <a:alpha val="35000"/>
              </a:srgbClr>
            </a:solidFill>
          </a:ln>
        </p:spPr>
        <p:txBody>
          <a:bodyPr wrap="none" lIns="192921" tIns="35560" rIns="100330" bIns="35560" rtlCol="0" anchor="ctr"/>
          <a:lstStyle/>
          <a:p>
            <a:pPr marL="0" indent="0" algn="l">
              <a:buNone/>
            </a:pPr>
            <a:r>
              <a:rPr lang="en-US" sz="730" b="1" kern="0" spc="29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Item 9 Positive</a:t>
            </a:r>
            <a:endParaRPr lang="en-US" sz="730" dirty="0"/>
          </a:p>
        </p:txBody>
      </p:sp>
      <p:sp>
        <p:nvSpPr>
          <p:cNvPr id="12" name="Text 8"/>
          <p:cNvSpPr/>
          <p:nvPr/>
        </p:nvSpPr>
        <p:spPr>
          <a:xfrm>
            <a:off x="2348210" y="2037011"/>
            <a:ext cx="49411" cy="4941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671739" y="1947267"/>
            <a:ext cx="1458084" cy="228898"/>
          </a:xfrm>
          <a:prstGeom prst="roundRect">
            <a:avLst>
              <a:gd name="adj" fmla="val 6269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AB753">
                <a:alpha val="35000"/>
              </a:srgbClr>
            </a:solidFill>
          </a:ln>
        </p:spPr>
        <p:txBody>
          <a:bodyPr wrap="none" lIns="192921" tIns="35560" rIns="100330" bIns="35560" rtlCol="0" anchor="ctr"/>
          <a:lstStyle/>
          <a:p>
            <a:pPr marL="0" indent="0" algn="l">
              <a:buNone/>
            </a:pPr>
            <a:r>
              <a:rPr lang="en-US" sz="730" b="1" kern="0" spc="29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Suicide Attempt</a:t>
            </a:r>
            <a:endParaRPr lang="en-US" sz="730" dirty="0"/>
          </a:p>
        </p:txBody>
      </p:sp>
      <p:sp>
        <p:nvSpPr>
          <p:cNvPr id="14" name="Text 10"/>
          <p:cNvSpPr/>
          <p:nvPr/>
        </p:nvSpPr>
        <p:spPr>
          <a:xfrm>
            <a:off x="3781574" y="2037011"/>
            <a:ext cx="49411" cy="4941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187553" y="1947267"/>
            <a:ext cx="1752282" cy="228898"/>
          </a:xfrm>
          <a:prstGeom prst="roundRect">
            <a:avLst>
              <a:gd name="adj" fmla="val 6269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AB753">
                <a:alpha val="35000"/>
              </a:srgbClr>
            </a:solidFill>
          </a:ln>
        </p:spPr>
        <p:txBody>
          <a:bodyPr wrap="none" lIns="192921" tIns="35560" rIns="100330" bIns="35560" rtlCol="0" anchor="ctr"/>
          <a:lstStyle/>
          <a:p>
            <a:pPr marL="0" indent="0" algn="l">
              <a:buNone/>
            </a:pPr>
            <a:r>
              <a:rPr lang="en-US" sz="730" b="1" kern="0" spc="29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Psychiatric Discharge</a:t>
            </a:r>
            <a:endParaRPr lang="en-US" sz="730" dirty="0"/>
          </a:p>
        </p:txBody>
      </p:sp>
      <p:sp>
        <p:nvSpPr>
          <p:cNvPr id="16" name="Text 12"/>
          <p:cNvSpPr/>
          <p:nvPr/>
        </p:nvSpPr>
        <p:spPr>
          <a:xfrm>
            <a:off x="5297388" y="2037011"/>
            <a:ext cx="49411" cy="4941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1729913" y="2347615"/>
            <a:ext cx="5684175" cy="66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67"/>
              </a:lnSpc>
              <a:spcAft>
                <a:spcPts val="1460"/>
              </a:spcAft>
              <a:buNone/>
            </a:pPr>
            <a:r>
              <a:rPr lang="en-US" sz="101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Urgent Risk Pathway is activated when a client screens positive on PHQ-9 Item 9, has had a recent suicide attempt, or has been recently discharged from a psychiatric hospitalization. This is our highest-level response — and it begins at first contact.</a:t>
            </a:r>
            <a:endParaRPr lang="en-US" sz="1010" dirty="0"/>
          </a:p>
        </p:txBody>
      </p:sp>
      <p:sp>
        <p:nvSpPr>
          <p:cNvPr id="18" name="Text 14"/>
          <p:cNvSpPr/>
          <p:nvPr/>
        </p:nvSpPr>
        <p:spPr>
          <a:xfrm>
            <a:off x="1642765" y="3167807"/>
            <a:ext cx="5858470" cy="881509"/>
          </a:xfrm>
          <a:prstGeom prst="roundRect">
            <a:avLst>
              <a:gd name="adj" fmla="val 8068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1642765" y="3167807"/>
            <a:ext cx="38100" cy="881509"/>
          </a:xfrm>
          <a:custGeom>
            <a:avLst/>
            <a:gdLst/>
            <a:ahLst/>
            <a:cxnLst/>
            <a:rect l="l" t="t" r="r" b="b"/>
            <a:pathLst>
              <a:path w="38100" h="881509">
                <a:moveTo>
                  <a:pt x="0" y="71120"/>
                </a:moveTo>
                <a:lnTo>
                  <a:pt x="4763" y="45532"/>
                </a:lnTo>
                <a:lnTo>
                  <a:pt x="9525" y="35566"/>
                </a:lnTo>
                <a:lnTo>
                  <a:pt x="14288" y="28363"/>
                </a:lnTo>
                <a:lnTo>
                  <a:pt x="19050" y="22677"/>
                </a:lnTo>
                <a:lnTo>
                  <a:pt x="23813" y="18016"/>
                </a:lnTo>
                <a:lnTo>
                  <a:pt x="28575" y="14129"/>
                </a:lnTo>
                <a:lnTo>
                  <a:pt x="33338" y="10866"/>
                </a:lnTo>
                <a:lnTo>
                  <a:pt x="38100" y="8130"/>
                </a:lnTo>
                <a:lnTo>
                  <a:pt x="38100" y="873379"/>
                </a:lnTo>
                <a:lnTo>
                  <a:pt x="33338" y="870643"/>
                </a:lnTo>
                <a:lnTo>
                  <a:pt x="28575" y="867380"/>
                </a:lnTo>
                <a:lnTo>
                  <a:pt x="23813" y="863493"/>
                </a:lnTo>
                <a:lnTo>
                  <a:pt x="19050" y="858832"/>
                </a:lnTo>
                <a:lnTo>
                  <a:pt x="14288" y="853145"/>
                </a:lnTo>
                <a:lnTo>
                  <a:pt x="9525" y="845943"/>
                </a:lnTo>
                <a:lnTo>
                  <a:pt x="4763" y="835977"/>
                </a:lnTo>
                <a:lnTo>
                  <a:pt x="0" y="810389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1909465" y="3339108"/>
            <a:ext cx="285750" cy="285750"/>
          </a:xfrm>
          <a:prstGeom prst="ellipse">
            <a:avLst/>
          </a:prstGeom>
          <a:solidFill>
            <a:srgbClr val="FAB753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85971" y="3415614"/>
            <a:ext cx="132588" cy="1325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323356" y="3325267"/>
            <a:ext cx="5048265" cy="594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9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discharged from psychiatric hospitalization or residential care </a:t>
            </a:r>
            <a:r>
              <a:rPr lang="en-US" sz="9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r>
              <a:rPr lang="en-US" sz="9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 placed on the Suicide Pathway — even if the hospitalization was not for suicidal ideation. They must be seen within </a:t>
            </a:r>
            <a:r>
              <a:rPr lang="en-US" sz="9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of discharge.</a:t>
            </a:r>
            <a:endParaRPr lang="en-US" sz="960" dirty="0"/>
          </a:p>
        </p:txBody>
      </p:sp>
      <p:sp>
        <p:nvSpPr>
          <p:cNvPr id="23" name="Text 18"/>
          <p:cNvSpPr/>
          <p:nvPr/>
        </p:nvSpPr>
        <p:spPr>
          <a:xfrm>
            <a:off x="4121200" y="4213771"/>
            <a:ext cx="29170" cy="29170"/>
          </a:xfrm>
          <a:prstGeom prst="ellipse">
            <a:avLst/>
          </a:prstGeom>
          <a:solidFill>
            <a:srgbClr val="FAB753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4207520" y="4224486"/>
            <a:ext cx="285750" cy="7590"/>
          </a:xfrm>
          <a:prstGeom prst="rect">
            <a:avLst/>
          </a:prstGeom>
          <a:solidFill>
            <a:srgbClr val="FAB753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4550420" y="4206776"/>
            <a:ext cx="43160" cy="43160"/>
          </a:xfrm>
          <a:prstGeom prst="ellipse">
            <a:avLst/>
          </a:prstGeom>
          <a:solidFill>
            <a:srgbClr val="FAB753">
              <a:alpha val="6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650730" y="4224486"/>
            <a:ext cx="285750" cy="7590"/>
          </a:xfrm>
          <a:prstGeom prst="rect">
            <a:avLst/>
          </a:prstGeom>
          <a:solidFill>
            <a:srgbClr val="FAB753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993630" y="4213771"/>
            <a:ext cx="29170" cy="29170"/>
          </a:xfrm>
          <a:prstGeom prst="ellipse">
            <a:avLst/>
          </a:prstGeom>
          <a:solidFill>
            <a:srgbClr val="FAB753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2337346" y="4364236"/>
            <a:ext cx="4469309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30"/>
              </a:lnSpc>
              <a:buNone/>
            </a:pPr>
            <a:r>
              <a:rPr lang="en-US" sz="820" i="1" kern="0" spc="16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escalate. You can always step down. You cannot undo a gap in care.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71500"/>
            <a:ext cx="29170" cy="4000500"/>
          </a:xfrm>
          <a:prstGeom prst="rect">
            <a:avLst/>
          </a:prstGeom>
          <a:solidFill>
            <a:srgbClr val="FAB753">
              <a:alpha val="4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7770" y="1084511"/>
            <a:ext cx="194750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40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URGENT RISK</a:t>
            </a:r>
            <a:endParaRPr lang="en-US" sz="620" dirty="0"/>
          </a:p>
        </p:txBody>
      </p:sp>
      <p:sp>
        <p:nvSpPr>
          <p:cNvPr id="5" name="Text 3"/>
          <p:cNvSpPr/>
          <p:nvPr/>
        </p:nvSpPr>
        <p:spPr>
          <a:xfrm>
            <a:off x="257770" y="1373981"/>
            <a:ext cx="1805869" cy="901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54"/>
              </a:lnSpc>
              <a:buNone/>
            </a:pPr>
            <a:r>
              <a:rPr lang="en-US" sz="191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Screen </a:t>
            </a:r>
            <a:r>
              <a:rPr lang="en-US" sz="1910" b="1" dirty="0">
                <a:solidFill>
                  <a:srgbClr val="FAB7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</a:t>
            </a:r>
            <a:r>
              <a:rPr lang="en-US" sz="191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Assess </a:t>
            </a:r>
            <a:r>
              <a:rPr lang="en-US" sz="1910" b="1" dirty="0">
                <a:solidFill>
                  <a:srgbClr val="FAB7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</a:t>
            </a:r>
            <a:r>
              <a:rPr lang="en-US" sz="191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Enroll</a:t>
            </a:r>
            <a:endParaRPr lang="en-US" sz="1910" dirty="0"/>
          </a:p>
        </p:txBody>
      </p:sp>
      <p:sp>
        <p:nvSpPr>
          <p:cNvPr id="6" name="Text 4"/>
          <p:cNvSpPr/>
          <p:nvPr/>
        </p:nvSpPr>
        <p:spPr>
          <a:xfrm>
            <a:off x="257770" y="2376041"/>
            <a:ext cx="1805869" cy="326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FFFFFF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clear decision points. Each one matters.</a:t>
            </a:r>
            <a:endParaRPr lang="en-US" sz="790" dirty="0"/>
          </a:p>
        </p:txBody>
      </p:sp>
      <p:sp>
        <p:nvSpPr>
          <p:cNvPr id="7" name="Text 5"/>
          <p:cNvSpPr/>
          <p:nvPr/>
        </p:nvSpPr>
        <p:spPr>
          <a:xfrm>
            <a:off x="257770" y="2944564"/>
            <a:ext cx="200620" cy="220682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529382" y="2975372"/>
            <a:ext cx="47476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350341" y="3216176"/>
            <a:ext cx="13841" cy="114300"/>
          </a:xfrm>
          <a:prstGeom prst="rect">
            <a:avLst/>
          </a:prstGeom>
          <a:solidFill>
            <a:srgbClr val="FAB753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7770" y="3401467"/>
            <a:ext cx="200620" cy="220682"/>
          </a:xfrm>
          <a:prstGeom prst="ellipse">
            <a:avLst/>
          </a:prstGeom>
          <a:solidFill>
            <a:srgbClr val="FAB753">
              <a:alpha val="25000"/>
            </a:srgbClr>
          </a:solidFill>
          <a:ln w="9525">
            <a:solidFill>
              <a:srgbClr val="FAB753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29382" y="3432274"/>
            <a:ext cx="46346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350341" y="3673078"/>
            <a:ext cx="13841" cy="114300"/>
          </a:xfrm>
          <a:prstGeom prst="rect">
            <a:avLst/>
          </a:prstGeom>
          <a:solidFill>
            <a:srgbClr val="FAB753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7770" y="3858369"/>
            <a:ext cx="200620" cy="220682"/>
          </a:xfrm>
          <a:prstGeom prst="ellipse">
            <a:avLst/>
          </a:prstGeom>
          <a:solidFill>
            <a:srgbClr val="FAB753">
              <a:alpha val="25000"/>
            </a:srgbClr>
          </a:solidFill>
          <a:ln w="9525">
            <a:solidFill>
              <a:srgbClr val="FAB753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529382" y="3889177"/>
            <a:ext cx="46903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2571750" y="200620"/>
            <a:ext cx="228600" cy="228600"/>
          </a:xfrm>
          <a:prstGeom prst="ellipse">
            <a:avLst/>
          </a:prstGeom>
          <a:solidFill>
            <a:srgbClr val="FEF3D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9756" y="248626"/>
            <a:ext cx="132588" cy="13258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871341" y="250924"/>
            <a:ext cx="3274546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840" b="1" kern="0" spc="60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r>
              <a:rPr lang="en-US" sz="760" b="1" kern="0" spc="20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Any of these triggers enrollment to assessment:</a:t>
            </a:r>
            <a:endParaRPr lang="en-US" sz="760" dirty="0"/>
          </a:p>
        </p:txBody>
      </p:sp>
      <p:sp>
        <p:nvSpPr>
          <p:cNvPr id="18" name="Text 15"/>
          <p:cNvSpPr/>
          <p:nvPr/>
        </p:nvSpPr>
        <p:spPr>
          <a:xfrm>
            <a:off x="2871341" y="521791"/>
            <a:ext cx="49411" cy="4941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985492" y="486370"/>
            <a:ext cx="2088460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Item 9 is positive (any score above 0)</a:t>
            </a:r>
            <a:endParaRPr lang="en-US" sz="730" dirty="0"/>
          </a:p>
        </p:txBody>
      </p:sp>
      <p:sp>
        <p:nvSpPr>
          <p:cNvPr id="20" name="Text 17"/>
          <p:cNvSpPr/>
          <p:nvPr/>
        </p:nvSpPr>
        <p:spPr>
          <a:xfrm>
            <a:off x="2871341" y="685354"/>
            <a:ext cx="49411" cy="4941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985492" y="649932"/>
            <a:ext cx="1799838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reports a recent suicide attempt</a:t>
            </a:r>
            <a:endParaRPr lang="en-US" sz="730" dirty="0"/>
          </a:p>
        </p:txBody>
      </p:sp>
      <p:sp>
        <p:nvSpPr>
          <p:cNvPr id="22" name="Text 19"/>
          <p:cNvSpPr/>
          <p:nvPr/>
        </p:nvSpPr>
        <p:spPr>
          <a:xfrm>
            <a:off x="2871341" y="848916"/>
            <a:ext cx="49411" cy="4941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985492" y="813495"/>
            <a:ext cx="3768953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was recently discharged from a psychiatric hospital or residential facility</a:t>
            </a:r>
            <a:endParaRPr lang="en-US" sz="730" dirty="0"/>
          </a:p>
        </p:txBody>
      </p:sp>
      <p:sp>
        <p:nvSpPr>
          <p:cNvPr id="24" name="Text 21"/>
          <p:cNvSpPr/>
          <p:nvPr/>
        </p:nvSpPr>
        <p:spPr>
          <a:xfrm>
            <a:off x="2857500" y="1076027"/>
            <a:ext cx="5715000" cy="7590"/>
          </a:xfrm>
          <a:prstGeom prst="rect">
            <a:avLst/>
          </a:prstGeom>
          <a:solidFill>
            <a:srgbClr val="E5EF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571750" y="1211759"/>
            <a:ext cx="228600" cy="228600"/>
          </a:xfrm>
          <a:prstGeom prst="ellipse">
            <a:avLst/>
          </a:prstGeom>
          <a:solidFill>
            <a:srgbClr val="EAF4F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19756" y="1259765"/>
            <a:ext cx="132588" cy="13258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871341" y="1262063"/>
            <a:ext cx="3368680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840" b="1" kern="0" spc="60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r>
              <a:rPr lang="en-US" sz="760" b="1" kern="0" spc="20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C-SSRS (Columbia Suicide Severity Rating Scale):</a:t>
            </a:r>
            <a:endParaRPr lang="en-US" sz="760" dirty="0"/>
          </a:p>
        </p:txBody>
      </p:sp>
      <p:sp>
        <p:nvSpPr>
          <p:cNvPr id="28" name="Text 24"/>
          <p:cNvSpPr/>
          <p:nvPr/>
        </p:nvSpPr>
        <p:spPr>
          <a:xfrm>
            <a:off x="2871341" y="1532930"/>
            <a:ext cx="49411" cy="4941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2985492" y="1497509"/>
            <a:ext cx="2161639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intake: administer C-SSRS Lifetime/Recent</a:t>
            </a:r>
            <a:endParaRPr lang="en-US" sz="730" dirty="0"/>
          </a:p>
        </p:txBody>
      </p:sp>
      <p:sp>
        <p:nvSpPr>
          <p:cNvPr id="30" name="Text 26"/>
          <p:cNvSpPr/>
          <p:nvPr/>
        </p:nvSpPr>
        <p:spPr>
          <a:xfrm>
            <a:off x="2871341" y="1696492"/>
            <a:ext cx="49411" cy="4941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2985492" y="1661071"/>
            <a:ext cx="3099375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subsequent session: administer C-SSRS Since Last Visit</a:t>
            </a:r>
            <a:endParaRPr lang="en-US" sz="730" dirty="0"/>
          </a:p>
        </p:txBody>
      </p:sp>
      <p:sp>
        <p:nvSpPr>
          <p:cNvPr id="32" name="Text 28"/>
          <p:cNvSpPr/>
          <p:nvPr/>
        </p:nvSpPr>
        <p:spPr>
          <a:xfrm>
            <a:off x="2871341" y="1860054"/>
            <a:ext cx="49411" cy="4941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2985492" y="1824633"/>
            <a:ext cx="5767209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C-SSRS is not optional once a client is on the Urgent Risk Pathway — it is completed at every session until disenrollment</a:t>
            </a:r>
            <a:endParaRPr lang="en-US" sz="730" dirty="0"/>
          </a:p>
        </p:txBody>
      </p:sp>
      <p:sp>
        <p:nvSpPr>
          <p:cNvPr id="34" name="Text 30"/>
          <p:cNvSpPr/>
          <p:nvPr/>
        </p:nvSpPr>
        <p:spPr>
          <a:xfrm>
            <a:off x="2857500" y="2087166"/>
            <a:ext cx="5715000" cy="7590"/>
          </a:xfrm>
          <a:prstGeom prst="rect">
            <a:avLst/>
          </a:prstGeom>
          <a:solidFill>
            <a:srgbClr val="E5EF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2571750" y="2222897"/>
            <a:ext cx="228600" cy="228600"/>
          </a:xfrm>
          <a:prstGeom prst="ellipse">
            <a:avLst/>
          </a:prstGeom>
          <a:solidFill>
            <a:srgbClr val="E8F5E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19756" y="2270903"/>
            <a:ext cx="132588" cy="13258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2871341" y="2273201"/>
            <a:ext cx="3224123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840" b="1" kern="0" spc="6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</a:t>
            </a:r>
            <a:r>
              <a:rPr lang="en-US" sz="760" b="1" kern="0" spc="20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Client is enrolled in the Urgent Risk Pathway if:</a:t>
            </a:r>
            <a:endParaRPr lang="en-US" sz="760" dirty="0"/>
          </a:p>
        </p:txBody>
      </p:sp>
      <p:sp>
        <p:nvSpPr>
          <p:cNvPr id="38" name="Text 33"/>
          <p:cNvSpPr/>
          <p:nvPr/>
        </p:nvSpPr>
        <p:spPr>
          <a:xfrm>
            <a:off x="2871341" y="2544068"/>
            <a:ext cx="49411" cy="49411"/>
          </a:xfrm>
          <a:prstGeom prst="ellipse">
            <a:avLst/>
          </a:prstGeom>
          <a:solidFill>
            <a:srgbClr val="2E7D3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2985492" y="2508647"/>
            <a:ext cx="1397764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C-SSRS result is positive OR</a:t>
            </a:r>
            <a:endParaRPr lang="en-US" sz="730" dirty="0"/>
          </a:p>
        </p:txBody>
      </p:sp>
      <p:sp>
        <p:nvSpPr>
          <p:cNvPr id="40" name="Text 35"/>
          <p:cNvSpPr/>
          <p:nvPr/>
        </p:nvSpPr>
        <p:spPr>
          <a:xfrm>
            <a:off x="2871341" y="2707630"/>
            <a:ext cx="49411" cy="49411"/>
          </a:xfrm>
          <a:prstGeom prst="ellipse">
            <a:avLst/>
          </a:prstGeom>
          <a:solidFill>
            <a:srgbClr val="2E7D3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2985492" y="2672209"/>
            <a:ext cx="1833890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had a recent suicide attempt OR</a:t>
            </a:r>
            <a:endParaRPr lang="en-US" sz="730" dirty="0"/>
          </a:p>
        </p:txBody>
      </p:sp>
      <p:sp>
        <p:nvSpPr>
          <p:cNvPr id="42" name="Text 37"/>
          <p:cNvSpPr/>
          <p:nvPr/>
        </p:nvSpPr>
        <p:spPr>
          <a:xfrm>
            <a:off x="2871341" y="2871192"/>
            <a:ext cx="49411" cy="49411"/>
          </a:xfrm>
          <a:prstGeom prst="ellipse">
            <a:avLst/>
          </a:prstGeom>
          <a:solidFill>
            <a:srgbClr val="2E7D3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2985492" y="2835771"/>
            <a:ext cx="3893374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was recently discharged from psychiatric hospitalization or residential care</a:t>
            </a:r>
            <a:endParaRPr lang="en-US" sz="730" dirty="0"/>
          </a:p>
        </p:txBody>
      </p:sp>
      <p:sp>
        <p:nvSpPr>
          <p:cNvPr id="44" name="Text 39"/>
          <p:cNvSpPr/>
          <p:nvPr/>
        </p:nvSpPr>
        <p:spPr>
          <a:xfrm>
            <a:off x="2286000" y="4812506"/>
            <a:ext cx="6858000" cy="330994"/>
          </a:xfrm>
          <a:prstGeom prst="rect">
            <a:avLst/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4466" y="4911635"/>
            <a:ext cx="132588" cy="13258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2790081" y="4912816"/>
            <a:ext cx="465102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 b="1" dirty="0">
                <a:solidFill>
                  <a:srgbClr val="1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is not punitive — it is protective. Frame it that way with your clients and families.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7770" y="314920"/>
            <a:ext cx="197959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URGENT RISK</a:t>
            </a:r>
            <a:endParaRPr lang="en-US" sz="620" dirty="0"/>
          </a:p>
        </p:txBody>
      </p:sp>
      <p:sp>
        <p:nvSpPr>
          <p:cNvPr id="4" name="Text 2"/>
          <p:cNvSpPr/>
          <p:nvPr/>
        </p:nvSpPr>
        <p:spPr>
          <a:xfrm>
            <a:off x="257770" y="576411"/>
            <a:ext cx="1835622" cy="551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Treatment Protocol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7770" y="1202382"/>
            <a:ext cx="1835622" cy="315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FFFFFF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from the moment of enrollment forward.</a:t>
            </a:r>
            <a:endParaRPr lang="en-US" sz="790" dirty="0"/>
          </a:p>
        </p:txBody>
      </p:sp>
      <p:sp>
        <p:nvSpPr>
          <p:cNvPr id="6" name="Text 4"/>
          <p:cNvSpPr/>
          <p:nvPr/>
        </p:nvSpPr>
        <p:spPr>
          <a:xfrm>
            <a:off x="257770" y="1731913"/>
            <a:ext cx="1835622" cy="397222"/>
          </a:xfrm>
          <a:prstGeom prst="roundRect">
            <a:avLst>
              <a:gd name="adj" fmla="val 1438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100330" tIns="71120" rIns="100330" bIns="71120" rtlCol="0" anchor="t"/>
          <a:lstStyle/>
          <a:p>
            <a:pPr marL="0" indent="0" algn="l">
              <a:buNone/>
            </a:pPr>
            <a:r>
              <a:rPr lang="en-US" sz="620" b="1" kern="0" spc="37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</a:t>
            </a:r>
            <a:endParaRPr lang="en-US" sz="620" dirty="0"/>
          </a:p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placed on Urgent Risk Pathway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257770" y="1731913"/>
            <a:ext cx="19050" cy="397222"/>
          </a:xfrm>
          <a:custGeom>
            <a:avLst/>
            <a:gdLst/>
            <a:ahLst/>
            <a:cxnLst/>
            <a:rect l="l" t="t" r="r" b="b"/>
            <a:pathLst>
              <a:path w="19050" h="397222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82669"/>
                </a:lnTo>
                <a:lnTo>
                  <a:pt x="16669" y="380413"/>
                </a:lnTo>
                <a:lnTo>
                  <a:pt x="14288" y="377873"/>
                </a:lnTo>
                <a:lnTo>
                  <a:pt x="11906" y="374988"/>
                </a:lnTo>
                <a:lnTo>
                  <a:pt x="9525" y="371663"/>
                </a:lnTo>
                <a:lnTo>
                  <a:pt x="7144" y="367740"/>
                </a:lnTo>
                <a:lnTo>
                  <a:pt x="4763" y="362912"/>
                </a:lnTo>
                <a:lnTo>
                  <a:pt x="2381" y="356397"/>
                </a:lnTo>
                <a:lnTo>
                  <a:pt x="0" y="340072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1241" y="2186285"/>
            <a:ext cx="13841" cy="70991"/>
          </a:xfrm>
          <a:prstGeom prst="rect">
            <a:avLst/>
          </a:prstGeom>
          <a:solidFill>
            <a:srgbClr val="FAB753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7770" y="2314426"/>
            <a:ext cx="1835622" cy="397222"/>
          </a:xfrm>
          <a:prstGeom prst="roundRect">
            <a:avLst>
              <a:gd name="adj" fmla="val 14387"/>
            </a:avLst>
          </a:prstGeom>
          <a:solidFill>
            <a:srgbClr val="FAB753">
              <a:alpha val="18000"/>
            </a:srgbClr>
          </a:solidFill>
          <a:ln/>
        </p:spPr>
        <p:txBody>
          <a:bodyPr wrap="none" lIns="100330" tIns="71120" rIns="100330" bIns="71120" rtlCol="0" anchor="t"/>
          <a:lstStyle/>
          <a:p>
            <a:pPr marL="0" indent="0" algn="l">
              <a:buNone/>
            </a:pPr>
            <a:r>
              <a:rPr lang="en-US" sz="620" b="1" kern="0" spc="37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</a:t>
            </a:r>
            <a:endParaRPr lang="en-US" sz="620" dirty="0"/>
          </a:p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Plan + CALM at first session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257770" y="2314426"/>
            <a:ext cx="19050" cy="397222"/>
          </a:xfrm>
          <a:custGeom>
            <a:avLst/>
            <a:gdLst/>
            <a:ahLst/>
            <a:cxnLst/>
            <a:rect l="l" t="t" r="r" b="b"/>
            <a:pathLst>
              <a:path w="19050" h="397222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82669"/>
                </a:lnTo>
                <a:lnTo>
                  <a:pt x="16669" y="380413"/>
                </a:lnTo>
                <a:lnTo>
                  <a:pt x="14288" y="377873"/>
                </a:lnTo>
                <a:lnTo>
                  <a:pt x="11906" y="374988"/>
                </a:lnTo>
                <a:lnTo>
                  <a:pt x="9525" y="371663"/>
                </a:lnTo>
                <a:lnTo>
                  <a:pt x="7144" y="367740"/>
                </a:lnTo>
                <a:lnTo>
                  <a:pt x="4763" y="362912"/>
                </a:lnTo>
                <a:lnTo>
                  <a:pt x="2381" y="356397"/>
                </a:lnTo>
                <a:lnTo>
                  <a:pt x="0" y="340072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1241" y="2768798"/>
            <a:ext cx="13841" cy="70991"/>
          </a:xfrm>
          <a:prstGeom prst="rect">
            <a:avLst/>
          </a:prstGeom>
          <a:solidFill>
            <a:srgbClr val="FAB753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57770" y="2896939"/>
            <a:ext cx="1835622" cy="397222"/>
          </a:xfrm>
          <a:prstGeom prst="roundRect">
            <a:avLst>
              <a:gd name="adj" fmla="val 1438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100330" tIns="71120" rIns="100330" bIns="71120" rtlCol="0" anchor="t"/>
          <a:lstStyle/>
          <a:p>
            <a:pPr marL="0" indent="0" algn="l">
              <a:buNone/>
            </a:pPr>
            <a:r>
              <a:rPr lang="en-US" sz="620" b="1" kern="0" spc="3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620" dirty="0"/>
          </a:p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C-SSRS every session until disenrollment</a:t>
            </a:r>
            <a:endParaRPr lang="en-US" sz="620" dirty="0"/>
          </a:p>
        </p:txBody>
      </p:sp>
      <p:sp>
        <p:nvSpPr>
          <p:cNvPr id="13" name="Text 11"/>
          <p:cNvSpPr/>
          <p:nvPr/>
        </p:nvSpPr>
        <p:spPr>
          <a:xfrm>
            <a:off x="257770" y="2896939"/>
            <a:ext cx="19050" cy="397222"/>
          </a:xfrm>
          <a:custGeom>
            <a:avLst/>
            <a:gdLst/>
            <a:ahLst/>
            <a:cxnLst/>
            <a:rect l="l" t="t" r="r" b="b"/>
            <a:pathLst>
              <a:path w="19050" h="397222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82669"/>
                </a:lnTo>
                <a:lnTo>
                  <a:pt x="16669" y="380413"/>
                </a:lnTo>
                <a:lnTo>
                  <a:pt x="14288" y="377873"/>
                </a:lnTo>
                <a:lnTo>
                  <a:pt x="11906" y="374988"/>
                </a:lnTo>
                <a:lnTo>
                  <a:pt x="9525" y="371663"/>
                </a:lnTo>
                <a:lnTo>
                  <a:pt x="7144" y="367740"/>
                </a:lnTo>
                <a:lnTo>
                  <a:pt x="4763" y="362912"/>
                </a:lnTo>
                <a:lnTo>
                  <a:pt x="2381" y="356397"/>
                </a:lnTo>
                <a:lnTo>
                  <a:pt x="0" y="340072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1241" y="3351312"/>
            <a:ext cx="13841" cy="70991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7770" y="3479453"/>
            <a:ext cx="1835622" cy="397222"/>
          </a:xfrm>
          <a:prstGeom prst="roundRect">
            <a:avLst>
              <a:gd name="adj" fmla="val 14387"/>
            </a:avLst>
          </a:prstGeom>
          <a:solidFill>
            <a:srgbClr val="FFFFFF">
              <a:alpha val="5000"/>
            </a:srgbClr>
          </a:solidFill>
          <a:ln/>
        </p:spPr>
        <p:txBody>
          <a:bodyPr wrap="none" lIns="100330" tIns="71120" rIns="100330" bIns="71120" rtlCol="0" anchor="t"/>
          <a:lstStyle/>
          <a:p>
            <a:pPr marL="0" indent="0" algn="l">
              <a:buNone/>
            </a:pPr>
            <a:r>
              <a:rPr lang="en-US" sz="620" b="1" kern="0" spc="3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</a:t>
            </a:r>
            <a:endParaRPr lang="en-US" sz="620" dirty="0"/>
          </a:p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sessions · RELATE or BCBT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257770" y="3479453"/>
            <a:ext cx="19050" cy="397222"/>
          </a:xfrm>
          <a:custGeom>
            <a:avLst/>
            <a:gdLst/>
            <a:ahLst/>
            <a:cxnLst/>
            <a:rect l="l" t="t" r="r" b="b"/>
            <a:pathLst>
              <a:path w="19050" h="397222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82669"/>
                </a:lnTo>
                <a:lnTo>
                  <a:pt x="16669" y="380413"/>
                </a:lnTo>
                <a:lnTo>
                  <a:pt x="14288" y="377873"/>
                </a:lnTo>
                <a:lnTo>
                  <a:pt x="11906" y="374988"/>
                </a:lnTo>
                <a:lnTo>
                  <a:pt x="9525" y="371663"/>
                </a:lnTo>
                <a:lnTo>
                  <a:pt x="7144" y="367740"/>
                </a:lnTo>
                <a:lnTo>
                  <a:pt x="4763" y="362912"/>
                </a:lnTo>
                <a:lnTo>
                  <a:pt x="2381" y="356397"/>
                </a:lnTo>
                <a:lnTo>
                  <a:pt x="0" y="340072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57770" y="4649688"/>
            <a:ext cx="1835622" cy="247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i="1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sessions minimum.</a:t>
            </a:r>
            <a:br/>
            <a:r>
              <a:rPr lang="en-US" sz="620" i="1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in clinical supervision.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0" y="5108079"/>
            <a:ext cx="2286000" cy="35421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286000" y="0"/>
            <a:ext cx="6995160" cy="539651"/>
          </a:xfrm>
          <a:prstGeom prst="rect">
            <a:avLst/>
          </a:prstGeom>
          <a:noFill/>
          <a:ln/>
        </p:spPr>
        <p:txBody>
          <a:bodyPr wrap="none" lIns="257810" tIns="200660" rIns="257810" bIns="11430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 Enrollment — Complete Each of These: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2286000" y="530126"/>
            <a:ext cx="6858000" cy="9525"/>
          </a:xfrm>
          <a:prstGeom prst="rect">
            <a:avLst/>
          </a:prstGeom>
          <a:solidFill>
            <a:srgbClr val="EAF4F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43770" y="1177379"/>
            <a:ext cx="6342459" cy="9525"/>
          </a:xfrm>
          <a:prstGeom prst="rect">
            <a:avLst/>
          </a:prstGeom>
          <a:solidFill>
            <a:srgbClr val="F0F6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43770" y="718542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AF4F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1776" y="766548"/>
            <a:ext cx="132588" cy="13258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2872680" y="710952"/>
            <a:ext cx="661490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7"/>
              </a:lnSpc>
              <a:buNone/>
            </a:pPr>
            <a:r>
              <a:rPr lang="en-US" sz="79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Stanley-Brown Safety Plan</a:t>
            </a:r>
            <a:endParaRPr lang="en-US" sz="790" dirty="0"/>
          </a:p>
        </p:txBody>
      </p:sp>
      <p:sp>
        <p:nvSpPr>
          <p:cNvPr id="25" name="Text 22"/>
          <p:cNvSpPr/>
          <p:nvPr/>
        </p:nvSpPr>
        <p:spPr>
          <a:xfrm>
            <a:off x="2872680" y="848916"/>
            <a:ext cx="6133820" cy="270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collaboratively with the client at enrollment. Not a form to fill out — a clinical conversation that builds a personalized plan for staying safe. Updated as needed throughout the pathway.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2543770" y="1724323"/>
            <a:ext cx="6342459" cy="9525"/>
          </a:xfrm>
          <a:prstGeom prst="rect">
            <a:avLst/>
          </a:prstGeom>
          <a:solidFill>
            <a:srgbClr val="F0F6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2543770" y="1265486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AF4F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1776" y="1313492"/>
            <a:ext cx="132588" cy="13258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2872680" y="1257895"/>
            <a:ext cx="661490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7"/>
              </a:lnSpc>
              <a:buNone/>
            </a:pPr>
            <a:r>
              <a:rPr lang="en-US" sz="79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 on Access to Lethal Means (CALM)</a:t>
            </a:r>
            <a:endParaRPr lang="en-US" sz="790" dirty="0"/>
          </a:p>
        </p:txBody>
      </p:sp>
      <p:sp>
        <p:nvSpPr>
          <p:cNvPr id="30" name="Text 26"/>
          <p:cNvSpPr/>
          <p:nvPr/>
        </p:nvSpPr>
        <p:spPr>
          <a:xfrm>
            <a:off x="2872680" y="1395859"/>
            <a:ext cx="6133820" cy="270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conversation about reducing access to means. Required at enrollment. Covers firearms, medications, and other household items. Use the Safety Sweep Checklist as your guide.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2543770" y="2142530"/>
            <a:ext cx="6342459" cy="9525"/>
          </a:xfrm>
          <a:prstGeom prst="rect">
            <a:avLst/>
          </a:prstGeom>
          <a:solidFill>
            <a:srgbClr val="F0F6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2543770" y="1812429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AF4F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1776" y="1860435"/>
            <a:ext cx="132588" cy="13258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2872680" y="1804839"/>
            <a:ext cx="661490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7"/>
              </a:lnSpc>
              <a:buNone/>
            </a:pPr>
            <a:r>
              <a:rPr lang="en-US" sz="79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C-SSRS Since Last Visit — Every Session</a:t>
            </a:r>
            <a:endParaRPr lang="en-US" sz="790" dirty="0"/>
          </a:p>
        </p:txBody>
      </p:sp>
      <p:sp>
        <p:nvSpPr>
          <p:cNvPr id="35" name="Text 30"/>
          <p:cNvSpPr/>
          <p:nvPr/>
        </p:nvSpPr>
        <p:spPr>
          <a:xfrm>
            <a:off x="2872680" y="1942802"/>
            <a:ext cx="6614904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Administered at each session until the client meets disenrollment criteria. Document results in Avatar.</a:t>
            </a:r>
            <a:endParaRPr lang="en-US" sz="700" dirty="0"/>
          </a:p>
        </p:txBody>
      </p:sp>
      <p:sp>
        <p:nvSpPr>
          <p:cNvPr id="36" name="Text 31"/>
          <p:cNvSpPr/>
          <p:nvPr/>
        </p:nvSpPr>
        <p:spPr>
          <a:xfrm>
            <a:off x="2543770" y="2689473"/>
            <a:ext cx="6342459" cy="9525"/>
          </a:xfrm>
          <a:prstGeom prst="rect">
            <a:avLst/>
          </a:prstGeom>
          <a:solidFill>
            <a:srgbClr val="F0F6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2543770" y="2230636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AF4F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1776" y="2278642"/>
            <a:ext cx="132588" cy="13258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2872680" y="2223046"/>
            <a:ext cx="661490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7"/>
              </a:lnSpc>
              <a:buNone/>
            </a:pPr>
            <a:r>
              <a:rPr lang="en-US" sz="79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 Screening — Optional but Strongly Encouraged</a:t>
            </a:r>
            <a:endParaRPr lang="en-US" sz="790" dirty="0"/>
          </a:p>
        </p:txBody>
      </p:sp>
      <p:sp>
        <p:nvSpPr>
          <p:cNvPr id="40" name="Text 34"/>
          <p:cNvSpPr/>
          <p:nvPr/>
        </p:nvSpPr>
        <p:spPr>
          <a:xfrm>
            <a:off x="2872680" y="2361009"/>
            <a:ext cx="6133820" cy="270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INQ regularly alongside C-SSRS gives you a fuller picture of the client's sense of belonging and perceived burdensomeness — core constructs tied to suicide risk.</a:t>
            </a:r>
            <a:endParaRPr lang="en-US" sz="700" dirty="0"/>
          </a:p>
        </p:txBody>
      </p:sp>
      <p:sp>
        <p:nvSpPr>
          <p:cNvPr id="41" name="Text 35"/>
          <p:cNvSpPr/>
          <p:nvPr/>
        </p:nvSpPr>
        <p:spPr>
          <a:xfrm>
            <a:off x="2543770" y="2777579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AF4F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91776" y="2825585"/>
            <a:ext cx="132588" cy="13258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2872680" y="2769989"/>
            <a:ext cx="661490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7"/>
              </a:lnSpc>
              <a:buNone/>
            </a:pPr>
            <a:r>
              <a:rPr lang="en-US" sz="79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Suicide-Specific Treatment — RELATE or BCBT</a:t>
            </a:r>
            <a:endParaRPr lang="en-US" sz="790" dirty="0"/>
          </a:p>
        </p:txBody>
      </p:sp>
      <p:sp>
        <p:nvSpPr>
          <p:cNvPr id="44" name="Text 37"/>
          <p:cNvSpPr/>
          <p:nvPr/>
        </p:nvSpPr>
        <p:spPr>
          <a:xfrm>
            <a:off x="2872680" y="2907953"/>
            <a:ext cx="6133820" cy="270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sessions minimum. Regular staffing in clinical supervision. RELATE is the relational framework for all clinicians; BCBT for Suicide Prevention is an additional protocol for master's level clinicians.</a:t>
            </a:r>
            <a:endParaRPr lang="en-US" sz="700" dirty="0"/>
          </a:p>
        </p:txBody>
      </p:sp>
      <p:sp>
        <p:nvSpPr>
          <p:cNvPr id="45" name="Text 38"/>
          <p:cNvSpPr/>
          <p:nvPr/>
        </p:nvSpPr>
        <p:spPr>
          <a:xfrm>
            <a:off x="2286000" y="4752975"/>
            <a:ext cx="6858000" cy="390525"/>
          </a:xfrm>
          <a:prstGeom prst="rect">
            <a:avLst/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20339" y="4881944"/>
            <a:ext cx="132588" cy="13258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2715816" y="4823966"/>
            <a:ext cx="6293822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discharge appointments use Avatar service code 15000 (individual therapy) or 15501 (intake). Schedule the med appointment immediately as well.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7148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lIns="285750" tIns="100330" rIns="285750" bIns="71120" rtlCol="0" anchor="t"/>
          <a:lstStyle/>
          <a:p>
            <a:pPr marL="0" indent="0" algn="l">
              <a:buNone/>
            </a:pPr>
            <a:r>
              <a:rPr lang="en-US" sz="1240" b="1" kern="0" spc="1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Risk — Disenrollment Criteria</a:t>
            </a:r>
            <a:endParaRPr lang="en-US" sz="1240" dirty="0"/>
          </a:p>
          <a:p>
            <a:pPr marL="0" indent="0" algn="l">
              <a:buNone/>
            </a:pPr>
            <a:r>
              <a:rPr lang="en-US" sz="730" b="1" kern="0" spc="7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consecutive negatives on the C-SSRS Since Last Visit triggers the disenrollment decision.</a:t>
            </a:r>
            <a:endParaRPr lang="en-US" sz="1240" dirty="0"/>
          </a:p>
        </p:txBody>
      </p:sp>
      <p:sp>
        <p:nvSpPr>
          <p:cNvPr id="3" name="Text 1"/>
          <p:cNvSpPr/>
          <p:nvPr/>
        </p:nvSpPr>
        <p:spPr>
          <a:xfrm>
            <a:off x="200620" y="660648"/>
            <a:ext cx="4320969" cy="191691"/>
          </a:xfrm>
          <a:prstGeom prst="roundRect">
            <a:avLst>
              <a:gd name="adj" fmla="val 74865"/>
            </a:avLst>
          </a:prstGeom>
          <a:solidFill>
            <a:srgbClr val="FAB753">
              <a:alpha val="18000"/>
            </a:srgbClr>
          </a:solidFill>
          <a:ln w="9525">
            <a:solidFill>
              <a:srgbClr val="FAB753"/>
            </a:solidFill>
          </a:ln>
        </p:spPr>
        <p:txBody>
          <a:bodyPr wrap="none" lIns="169833" tIns="21590" rIns="86360" bIns="21590" rtlCol="0" anchor="ctr"/>
          <a:lstStyle/>
          <a:p>
            <a:pPr marL="0" indent="0" algn="l">
              <a:buNone/>
            </a:pPr>
            <a:r>
              <a:rPr lang="en-US" sz="680" b="1" kern="0" spc="7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INQ-FAD3 Result</a:t>
            </a:r>
            <a:endParaRPr lang="en-US" sz="68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5753" y="690125"/>
            <a:ext cx="132588" cy="1325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0620" y="923330"/>
            <a:ext cx="4236244" cy="301972"/>
          </a:xfrm>
          <a:prstGeom prst="roundRect">
            <a:avLst>
              <a:gd name="adj" fmla="val 18926"/>
            </a:avLst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269" y="1008022"/>
            <a:ext cx="132588" cy="132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355" y="994321"/>
            <a:ext cx="140873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INQ-FAD3 is POSITIVE</a:t>
            </a:r>
            <a:endParaRPr lang="en-US" sz="840" dirty="0"/>
          </a:p>
        </p:txBody>
      </p:sp>
      <p:sp>
        <p:nvSpPr>
          <p:cNvPr id="8" name="Text 4"/>
          <p:cNvSpPr/>
          <p:nvPr/>
        </p:nvSpPr>
        <p:spPr>
          <a:xfrm>
            <a:off x="200620" y="1225302"/>
            <a:ext cx="4236244" cy="2793206"/>
          </a:xfrm>
          <a:prstGeom prst="rect">
            <a:avLst/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6463" y="1351145"/>
            <a:ext cx="132588" cy="132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7893" y="1339602"/>
            <a:ext cx="3856446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for Moderate Risk using the INQ-FAD3 after 3 consecutive negative C-SSRS results.</a:t>
            </a:r>
            <a:endParaRPr lang="en-US" sz="73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463" y="1684669"/>
            <a:ext cx="132588" cy="1325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7893" y="1673126"/>
            <a:ext cx="3722950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score on the INQ-FAD3 = enroll client in the Moderate Risk Pathway.</a:t>
            </a:r>
            <a:endParaRPr lang="en-US" sz="73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463" y="1891391"/>
            <a:ext cx="132588" cy="132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7893" y="1879848"/>
            <a:ext cx="3870781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Disenroll from Urgent Risk Pathway using the Clinical Pathway Disenrollment form.</a:t>
            </a:r>
            <a:endParaRPr lang="en-US" sz="73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6463" y="2098113"/>
            <a:ext cx="132588" cy="13258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27893" y="2086570"/>
            <a:ext cx="2400166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transitions from weekly to bi-weekly sessions.</a:t>
            </a:r>
            <a:endParaRPr lang="en-US" sz="73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6463" y="2304836"/>
            <a:ext cx="132588" cy="13258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27893" y="2293293"/>
            <a:ext cx="1884968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INQ monitoring at each session.</a:t>
            </a:r>
            <a:endParaRPr lang="en-US" sz="730" dirty="0"/>
          </a:p>
        </p:txBody>
      </p:sp>
      <p:sp>
        <p:nvSpPr>
          <p:cNvPr id="19" name="Text 10"/>
          <p:cNvSpPr/>
          <p:nvPr/>
        </p:nvSpPr>
        <p:spPr>
          <a:xfrm>
            <a:off x="4565005" y="660648"/>
            <a:ext cx="13841" cy="3357860"/>
          </a:xfrm>
          <a:prstGeom prst="rect">
            <a:avLst/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1"/>
          <p:cNvSpPr/>
          <p:nvPr/>
        </p:nvSpPr>
        <p:spPr>
          <a:xfrm>
            <a:off x="4706987" y="660648"/>
            <a:ext cx="4321120" cy="191691"/>
          </a:xfrm>
          <a:prstGeom prst="roundRect">
            <a:avLst>
              <a:gd name="adj" fmla="val 74865"/>
            </a:avLst>
          </a:prstGeom>
          <a:solidFill>
            <a:srgbClr val="55A49C">
              <a:alpha val="12000"/>
            </a:srgbClr>
          </a:solidFill>
          <a:ln w="9525">
            <a:solidFill>
              <a:srgbClr val="55A49C"/>
            </a:solidFill>
          </a:ln>
        </p:spPr>
        <p:txBody>
          <a:bodyPr wrap="none" lIns="169833" tIns="21590" rIns="86360" bIns="21590" rtlCol="0" anchor="ctr"/>
          <a:lstStyle/>
          <a:p>
            <a:pPr marL="0" indent="0" algn="l">
              <a:buNone/>
            </a:pPr>
            <a:r>
              <a:rPr lang="en-US" sz="680" b="1" kern="0" spc="7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INQ-FAD3 Result</a:t>
            </a:r>
            <a:endParaRPr lang="en-US" sz="68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42119" y="690125"/>
            <a:ext cx="132588" cy="13258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4706987" y="923330"/>
            <a:ext cx="4236393" cy="301972"/>
          </a:xfrm>
          <a:prstGeom prst="roundRect">
            <a:avLst>
              <a:gd name="adj" fmla="val 18926"/>
            </a:avLst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22635" y="1008022"/>
            <a:ext cx="132588" cy="13258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013722" y="994321"/>
            <a:ext cx="1458664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INQ-FAD3 is NEGATIVE</a:t>
            </a:r>
            <a:endParaRPr lang="en-US" sz="840" dirty="0"/>
          </a:p>
        </p:txBody>
      </p:sp>
      <p:sp>
        <p:nvSpPr>
          <p:cNvPr id="25" name="Text 14"/>
          <p:cNvSpPr/>
          <p:nvPr/>
        </p:nvSpPr>
        <p:spPr>
          <a:xfrm>
            <a:off x="4706987" y="1225302"/>
            <a:ext cx="4236393" cy="2793206"/>
          </a:xfrm>
          <a:prstGeom prst="rect">
            <a:avLst/>
          </a:prstGeom>
          <a:solidFill>
            <a:srgbClr val="FFFFFF"/>
          </a:solidFill>
          <a:ln w="9525">
            <a:solidFill>
              <a:srgbClr val="EAF4F4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42355" y="1360670"/>
            <a:ext cx="132588" cy="13258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043785" y="1349127"/>
            <a:ext cx="3868326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score on the INQ-FAD3 = client does not meet criteria for either pathway.</a:t>
            </a:r>
            <a:endParaRPr lang="en-US" sz="73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42355" y="1567392"/>
            <a:ext cx="132588" cy="13258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043785" y="1555849"/>
            <a:ext cx="3870781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Disenroll from Urgent Risk Pathway using the Clinical Pathway Disenrollment form.</a:t>
            </a:r>
            <a:endParaRPr lang="en-US" sz="730" dirty="0"/>
          </a:p>
        </p:txBody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42355" y="1774115"/>
            <a:ext cx="132588" cy="13258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043785" y="1762571"/>
            <a:ext cx="2212881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returns to standard treatment frequency.</a:t>
            </a:r>
            <a:endParaRPr lang="en-US" sz="73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42355" y="1980837"/>
            <a:ext cx="132588" cy="132588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5043785" y="1969294"/>
            <a:ext cx="3107234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to monitor — if symptoms worsen, re-screen immediately.</a:t>
            </a:r>
            <a:endParaRPr lang="en-US" sz="73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42355" y="2187559"/>
            <a:ext cx="132588" cy="132588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5043785" y="2176016"/>
            <a:ext cx="2937302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your clinical rationale for disenrollment in the chart.</a:t>
            </a:r>
            <a:endParaRPr lang="en-US" sz="730" dirty="0"/>
          </a:p>
        </p:txBody>
      </p:sp>
      <p:sp>
        <p:nvSpPr>
          <p:cNvPr id="36" name="Text 20"/>
          <p:cNvSpPr/>
          <p:nvPr/>
        </p:nvSpPr>
        <p:spPr>
          <a:xfrm>
            <a:off x="200620" y="4104829"/>
            <a:ext cx="8742759" cy="297507"/>
          </a:xfrm>
          <a:prstGeom prst="roundRect">
            <a:avLst>
              <a:gd name="adj" fmla="val 19210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18316" y="4187288"/>
            <a:ext cx="132588" cy="132588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1125394" y="4183559"/>
            <a:ext cx="689321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02"/>
              </a:lnSpc>
              <a:buNone/>
            </a:pP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clinical judgment should </a:t>
            </a: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 considered in determining when to disenroll. Include your rationale in the chart — </a:t>
            </a:r>
            <a:r>
              <a:rPr lang="en-US" sz="7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time.</a:t>
            </a:r>
            <a:endParaRPr lang="en-US" sz="760" dirty="0"/>
          </a:p>
        </p:txBody>
      </p:sp>
      <p:pic>
        <p:nvPicPr>
          <p:cNvPr id="39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793096" y="4187288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1468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2070" y="128141"/>
            <a:ext cx="990451" cy="164857"/>
          </a:xfrm>
          <a:prstGeom prst="roundRect">
            <a:avLst>
              <a:gd name="adj" fmla="val 13096"/>
            </a:avLst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1B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ACTIVITY</a:t>
            </a:r>
            <a:endParaRPr lang="en-US" sz="560" dirty="0"/>
          </a:p>
        </p:txBody>
      </p:sp>
      <p:sp>
        <p:nvSpPr>
          <p:cNvPr id="4" name="Text 2"/>
          <p:cNvSpPr/>
          <p:nvPr/>
        </p:nvSpPr>
        <p:spPr>
          <a:xfrm>
            <a:off x="1433513" y="128141"/>
            <a:ext cx="845344" cy="164857"/>
          </a:xfrm>
          <a:prstGeom prst="roundRect">
            <a:avLst>
              <a:gd name="adj" fmla="val 13096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ROLE PLAY</a:t>
            </a:r>
            <a:endParaRPr lang="en-US" sz="560" dirty="0"/>
          </a:p>
        </p:txBody>
      </p:sp>
      <p:sp>
        <p:nvSpPr>
          <p:cNvPr id="5" name="Text 3"/>
          <p:cNvSpPr/>
          <p:nvPr/>
        </p:nvSpPr>
        <p:spPr>
          <a:xfrm>
            <a:off x="372070" y="305693"/>
            <a:ext cx="3101636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6"/>
              </a:lnSpc>
              <a:buNone/>
            </a:pPr>
            <a:r>
              <a:rPr lang="en-US" sz="1460" b="1" kern="0" spc="15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Practice Activity · Pair Role Play</a:t>
            </a:r>
            <a:endParaRPr lang="en-US" sz="1460" dirty="0"/>
          </a:p>
        </p:txBody>
      </p:sp>
      <p:sp>
        <p:nvSpPr>
          <p:cNvPr id="6" name="Text 4"/>
          <p:cNvSpPr/>
          <p:nvPr/>
        </p:nvSpPr>
        <p:spPr>
          <a:xfrm>
            <a:off x="372070" y="531168"/>
            <a:ext cx="923984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34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C-SSRS — Administer, Score, and Interpret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342900" y="934938"/>
            <a:ext cx="2723704" cy="3787527"/>
          </a:xfrm>
          <a:prstGeom prst="roundRect">
            <a:avLst>
              <a:gd name="adj" fmla="val 2611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2900" y="934938"/>
            <a:ext cx="2723704" cy="28575"/>
          </a:xfrm>
          <a:custGeom>
            <a:avLst/>
            <a:gdLst/>
            <a:ahLst/>
            <a:cxnLst/>
            <a:rect l="l" t="t" r="r" b="b"/>
            <a:pathLst>
              <a:path w="2723704" h="28575">
                <a:moveTo>
                  <a:pt x="71120" y="0"/>
                </a:moveTo>
                <a:lnTo>
                  <a:pt x="48865" y="3572"/>
                </a:lnTo>
                <a:lnTo>
                  <a:pt x="40054" y="7144"/>
                </a:lnTo>
                <a:lnTo>
                  <a:pt x="33579" y="10716"/>
                </a:lnTo>
                <a:lnTo>
                  <a:pt x="28363" y="14288"/>
                </a:lnTo>
                <a:lnTo>
                  <a:pt x="23989" y="17859"/>
                </a:lnTo>
                <a:lnTo>
                  <a:pt x="20237" y="21431"/>
                </a:lnTo>
                <a:lnTo>
                  <a:pt x="16979" y="25003"/>
                </a:lnTo>
                <a:lnTo>
                  <a:pt x="14129" y="28575"/>
                </a:lnTo>
                <a:lnTo>
                  <a:pt x="2709575" y="28575"/>
                </a:lnTo>
                <a:lnTo>
                  <a:pt x="2706725" y="25003"/>
                </a:lnTo>
                <a:lnTo>
                  <a:pt x="2703467" y="21431"/>
                </a:lnTo>
                <a:lnTo>
                  <a:pt x="2699715" y="17859"/>
                </a:lnTo>
                <a:lnTo>
                  <a:pt x="2695340" y="14288"/>
                </a:lnTo>
                <a:lnTo>
                  <a:pt x="2690125" y="10716"/>
                </a:lnTo>
                <a:lnTo>
                  <a:pt x="2683649" y="7144"/>
                </a:lnTo>
                <a:lnTo>
                  <a:pt x="2674839" y="3572"/>
                </a:lnTo>
                <a:lnTo>
                  <a:pt x="2652583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71750" y="1091654"/>
            <a:ext cx="366713" cy="177299"/>
          </a:xfrm>
          <a:prstGeom prst="roundRect">
            <a:avLst>
              <a:gd name="adj" fmla="val 80943"/>
            </a:avLst>
          </a:prstGeom>
          <a:solidFill>
            <a:srgbClr val="1B5E72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514350" y="1120973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297" y="1222921"/>
            <a:ext cx="139005" cy="13900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4350" y="1573113"/>
            <a:ext cx="185291" cy="20382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B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13" name="Text 10"/>
          <p:cNvSpPr/>
          <p:nvPr/>
        </p:nvSpPr>
        <p:spPr>
          <a:xfrm>
            <a:off x="764381" y="1556445"/>
            <a:ext cx="44644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12"/>
              </a:lnSpc>
              <a:spcAft>
                <a:spcPts val="510"/>
              </a:spcAft>
              <a:buNone/>
            </a:pPr>
            <a:r>
              <a:rPr lang="en-US" sz="101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Up</a:t>
            </a:r>
            <a:endParaRPr lang="en-US" sz="1010" dirty="0"/>
          </a:p>
        </p:txBody>
      </p:sp>
      <p:sp>
        <p:nvSpPr>
          <p:cNvPr id="14" name="Text 11"/>
          <p:cNvSpPr/>
          <p:nvPr/>
        </p:nvSpPr>
        <p:spPr>
          <a:xfrm>
            <a:off x="514350" y="1839813"/>
            <a:ext cx="2428420" cy="652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partner. One person plays the </a:t>
            </a:r>
            <a:r>
              <a:rPr lang="en-US" sz="79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</a:t>
            </a:r>
            <a:r>
              <a:rPr lang="en-US" sz="79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one plays the </a:t>
            </a:r>
            <a:r>
              <a:rPr lang="en-US" sz="79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r>
              <a:rPr lang="en-US" sz="79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Your facilitator will provide a C-SSRS scenario card with a client profile. Read the scenario before you begin.</a:t>
            </a:r>
            <a:endParaRPr lang="en-US" sz="790" dirty="0"/>
          </a:p>
        </p:txBody>
      </p:sp>
      <p:sp>
        <p:nvSpPr>
          <p:cNvPr id="15" name="Text 12"/>
          <p:cNvSpPr/>
          <p:nvPr/>
        </p:nvSpPr>
        <p:spPr>
          <a:xfrm>
            <a:off x="514350" y="2526060"/>
            <a:ext cx="2428420" cy="815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spcBef>
                <a:spcPts val="510"/>
              </a:spcBef>
              <a:buNone/>
            </a:pPr>
            <a:r>
              <a:rPr lang="en-US" sz="79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—</a:t>
            </a:r>
            <a:r>
              <a:rPr lang="en-US" sz="79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job is to administer the C-SSRS verbatim, score it, and make an enrollment recommendation.</a:t>
            </a:r>
            <a:br/>
            <a:r>
              <a:rPr lang="en-US" sz="79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9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—</a:t>
            </a:r>
            <a:r>
              <a:rPr lang="en-US" sz="79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job is to respond authentically to the scenario provided.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3210074" y="934938"/>
            <a:ext cx="2723852" cy="3787527"/>
          </a:xfrm>
          <a:prstGeom prst="roundRect">
            <a:avLst>
              <a:gd name="adj" fmla="val 2611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210074" y="934938"/>
            <a:ext cx="2723852" cy="28575"/>
          </a:xfrm>
          <a:custGeom>
            <a:avLst/>
            <a:gdLst/>
            <a:ahLst/>
            <a:cxnLst/>
            <a:rect l="l" t="t" r="r" b="b"/>
            <a:pathLst>
              <a:path w="2723852" h="28575">
                <a:moveTo>
                  <a:pt x="71120" y="0"/>
                </a:moveTo>
                <a:lnTo>
                  <a:pt x="48865" y="3572"/>
                </a:lnTo>
                <a:lnTo>
                  <a:pt x="40054" y="7144"/>
                </a:lnTo>
                <a:lnTo>
                  <a:pt x="33579" y="10716"/>
                </a:lnTo>
                <a:lnTo>
                  <a:pt x="28363" y="14288"/>
                </a:lnTo>
                <a:lnTo>
                  <a:pt x="23989" y="17859"/>
                </a:lnTo>
                <a:lnTo>
                  <a:pt x="20237" y="21431"/>
                </a:lnTo>
                <a:lnTo>
                  <a:pt x="16979" y="25003"/>
                </a:lnTo>
                <a:lnTo>
                  <a:pt x="14129" y="28575"/>
                </a:lnTo>
                <a:lnTo>
                  <a:pt x="2709723" y="28575"/>
                </a:lnTo>
                <a:lnTo>
                  <a:pt x="2706874" y="25003"/>
                </a:lnTo>
                <a:lnTo>
                  <a:pt x="2703615" y="21431"/>
                </a:lnTo>
                <a:lnTo>
                  <a:pt x="2699864" y="17859"/>
                </a:lnTo>
                <a:lnTo>
                  <a:pt x="2695489" y="14288"/>
                </a:lnTo>
                <a:lnTo>
                  <a:pt x="2690274" y="10716"/>
                </a:lnTo>
                <a:lnTo>
                  <a:pt x="2683798" y="7144"/>
                </a:lnTo>
                <a:lnTo>
                  <a:pt x="2674988" y="3572"/>
                </a:lnTo>
                <a:lnTo>
                  <a:pt x="2652732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389811" y="1091654"/>
            <a:ext cx="415975" cy="177299"/>
          </a:xfrm>
          <a:prstGeom prst="roundRect">
            <a:avLst>
              <a:gd name="adj" fmla="val 80943"/>
            </a:avLst>
          </a:prstGeom>
          <a:solidFill>
            <a:srgbClr val="1B5E72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620" dirty="0"/>
          </a:p>
        </p:txBody>
      </p:sp>
      <p:sp>
        <p:nvSpPr>
          <p:cNvPr id="19" name="Text 16"/>
          <p:cNvSpPr/>
          <p:nvPr/>
        </p:nvSpPr>
        <p:spPr>
          <a:xfrm>
            <a:off x="3381524" y="1120973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3471" y="1222921"/>
            <a:ext cx="139005" cy="13900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381524" y="1573113"/>
            <a:ext cx="185291" cy="20382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B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22" name="Text 18"/>
          <p:cNvSpPr/>
          <p:nvPr/>
        </p:nvSpPr>
        <p:spPr>
          <a:xfrm>
            <a:off x="3631555" y="1556445"/>
            <a:ext cx="63470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12"/>
              </a:lnSpc>
              <a:spcAft>
                <a:spcPts val="510"/>
              </a:spcAft>
              <a:buNone/>
            </a:pPr>
            <a:r>
              <a:rPr lang="en-US" sz="101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Role Play</a:t>
            </a:r>
            <a:endParaRPr lang="en-US" sz="1010" dirty="0"/>
          </a:p>
        </p:txBody>
      </p:sp>
      <p:sp>
        <p:nvSpPr>
          <p:cNvPr id="23" name="Text 19"/>
          <p:cNvSpPr/>
          <p:nvPr/>
        </p:nvSpPr>
        <p:spPr>
          <a:xfrm>
            <a:off x="3381524" y="1839813"/>
            <a:ext cx="2428571" cy="48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administers the </a:t>
            </a:r>
            <a:r>
              <a:rPr lang="en-US" sz="79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C-SSRS Lifetime/Recent</a:t>
            </a:r>
            <a:r>
              <a:rPr lang="en-US" sz="79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if this is an intake session. Stay in the role — resist the urge to skip ahead or narrate.</a:t>
            </a:r>
            <a:endParaRPr lang="en-US" sz="790" dirty="0"/>
          </a:p>
        </p:txBody>
      </p:sp>
      <p:sp>
        <p:nvSpPr>
          <p:cNvPr id="24" name="Text 20"/>
          <p:cNvSpPr/>
          <p:nvPr/>
        </p:nvSpPr>
        <p:spPr>
          <a:xfrm>
            <a:off x="3381524" y="2370683"/>
            <a:ext cx="2428571" cy="48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spcBef>
                <a:spcPts val="510"/>
              </a:spcBef>
              <a:buNone/>
            </a:pPr>
            <a:r>
              <a:rPr lang="en-US" sz="79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complete, </a:t>
            </a:r>
            <a:r>
              <a:rPr lang="en-US" sz="79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C-SSRS together</a:t>
            </a:r>
            <a:r>
              <a:rPr lang="en-US" sz="79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Discuss: what did you notice? What was harder than you expected?</a:t>
            </a:r>
            <a:endParaRPr lang="en-US" sz="790" dirty="0"/>
          </a:p>
        </p:txBody>
      </p:sp>
      <p:sp>
        <p:nvSpPr>
          <p:cNvPr id="25" name="Text 21"/>
          <p:cNvSpPr/>
          <p:nvPr/>
        </p:nvSpPr>
        <p:spPr>
          <a:xfrm>
            <a:off x="3381524" y="2901553"/>
            <a:ext cx="26190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5"/>
              </a:lnSpc>
              <a:spcBef>
                <a:spcPts val="510"/>
              </a:spcBef>
              <a:buNone/>
            </a:pPr>
            <a:r>
              <a:rPr lang="en-US" sz="79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</a:t>
            </a:r>
            <a:r>
              <a:rPr lang="en-US" sz="79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roles</a:t>
            </a:r>
            <a:r>
              <a:rPr lang="en-US" sz="79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repeat with a new scenario.</a:t>
            </a:r>
            <a:endParaRPr lang="en-US" sz="790" dirty="0"/>
          </a:p>
        </p:txBody>
      </p:sp>
      <p:sp>
        <p:nvSpPr>
          <p:cNvPr id="26" name="Text 22"/>
          <p:cNvSpPr/>
          <p:nvPr/>
        </p:nvSpPr>
        <p:spPr>
          <a:xfrm>
            <a:off x="6077396" y="934938"/>
            <a:ext cx="2723704" cy="3787527"/>
          </a:xfrm>
          <a:prstGeom prst="roundRect">
            <a:avLst>
              <a:gd name="adj" fmla="val 2611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077396" y="934938"/>
            <a:ext cx="2723704" cy="28575"/>
          </a:xfrm>
          <a:custGeom>
            <a:avLst/>
            <a:gdLst/>
            <a:ahLst/>
            <a:cxnLst/>
            <a:rect l="l" t="t" r="r" b="b"/>
            <a:pathLst>
              <a:path w="2723704" h="28575">
                <a:moveTo>
                  <a:pt x="71120" y="0"/>
                </a:moveTo>
                <a:lnTo>
                  <a:pt x="48865" y="3572"/>
                </a:lnTo>
                <a:lnTo>
                  <a:pt x="40054" y="7144"/>
                </a:lnTo>
                <a:lnTo>
                  <a:pt x="33579" y="10716"/>
                </a:lnTo>
                <a:lnTo>
                  <a:pt x="28363" y="14288"/>
                </a:lnTo>
                <a:lnTo>
                  <a:pt x="23989" y="17859"/>
                </a:lnTo>
                <a:lnTo>
                  <a:pt x="20237" y="21431"/>
                </a:lnTo>
                <a:lnTo>
                  <a:pt x="16979" y="25003"/>
                </a:lnTo>
                <a:lnTo>
                  <a:pt x="14129" y="28575"/>
                </a:lnTo>
                <a:lnTo>
                  <a:pt x="2709575" y="28575"/>
                </a:lnTo>
                <a:lnTo>
                  <a:pt x="2706725" y="25003"/>
                </a:lnTo>
                <a:lnTo>
                  <a:pt x="2703467" y="21431"/>
                </a:lnTo>
                <a:lnTo>
                  <a:pt x="2699715" y="17859"/>
                </a:lnTo>
                <a:lnTo>
                  <a:pt x="2695340" y="14288"/>
                </a:lnTo>
                <a:lnTo>
                  <a:pt x="2690125" y="10716"/>
                </a:lnTo>
                <a:lnTo>
                  <a:pt x="2683649" y="7144"/>
                </a:lnTo>
                <a:lnTo>
                  <a:pt x="2674839" y="3572"/>
                </a:lnTo>
                <a:lnTo>
                  <a:pt x="2652583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8256984" y="1091654"/>
            <a:ext cx="415975" cy="177299"/>
          </a:xfrm>
          <a:prstGeom prst="roundRect">
            <a:avLst>
              <a:gd name="adj" fmla="val 80943"/>
            </a:avLst>
          </a:prstGeom>
          <a:solidFill>
            <a:srgbClr val="1B5E72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620" dirty="0"/>
          </a:p>
        </p:txBody>
      </p:sp>
      <p:sp>
        <p:nvSpPr>
          <p:cNvPr id="29" name="Text 25"/>
          <p:cNvSpPr/>
          <p:nvPr/>
        </p:nvSpPr>
        <p:spPr>
          <a:xfrm>
            <a:off x="6248846" y="1120973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794" y="1222921"/>
            <a:ext cx="139005" cy="139005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248846" y="1573113"/>
            <a:ext cx="185291" cy="20382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B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32" name="Text 27"/>
          <p:cNvSpPr/>
          <p:nvPr/>
        </p:nvSpPr>
        <p:spPr>
          <a:xfrm>
            <a:off x="6498878" y="1556445"/>
            <a:ext cx="121408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12"/>
              </a:lnSpc>
              <a:spcAft>
                <a:spcPts val="510"/>
              </a:spcAft>
              <a:buNone/>
            </a:pPr>
            <a:r>
              <a:rPr lang="en-US" sz="101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Group Discussion</a:t>
            </a:r>
            <a:endParaRPr lang="en-US" sz="1010" dirty="0"/>
          </a:p>
        </p:txBody>
      </p:sp>
      <p:sp>
        <p:nvSpPr>
          <p:cNvPr id="33" name="Text 28"/>
          <p:cNvSpPr/>
          <p:nvPr/>
        </p:nvSpPr>
        <p:spPr>
          <a:xfrm>
            <a:off x="6248846" y="1839813"/>
            <a:ext cx="2428420" cy="326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your scores: </a:t>
            </a:r>
            <a:r>
              <a:rPr lang="en-US" sz="79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enroll</a:t>
            </a:r>
            <a:r>
              <a:rPr lang="en-US" sz="79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client in the Urgent Risk Pathway? </a:t>
            </a:r>
            <a:r>
              <a:rPr lang="en-US" sz="79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you?</a:t>
            </a:r>
            <a:endParaRPr lang="en-US" sz="790" dirty="0"/>
          </a:p>
        </p:txBody>
      </p:sp>
      <p:sp>
        <p:nvSpPr>
          <p:cNvPr id="34" name="Text 29"/>
          <p:cNvSpPr/>
          <p:nvPr/>
        </p:nvSpPr>
        <p:spPr>
          <a:xfrm>
            <a:off x="6248846" y="2215307"/>
            <a:ext cx="2428420" cy="48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spcBef>
                <a:spcPts val="510"/>
              </a:spcBef>
              <a:buNone/>
            </a:pPr>
            <a:r>
              <a:rPr lang="en-US" sz="79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your partner scored it differently? What if the score is negative but your </a:t>
            </a:r>
            <a:r>
              <a:rPr lang="en-US" sz="79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gut says something is wrong?</a:t>
            </a:r>
            <a:r>
              <a:rPr lang="en-US" sz="79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How do you document that?</a:t>
            </a:r>
            <a:endParaRPr lang="en-US" sz="790" dirty="0"/>
          </a:p>
        </p:txBody>
      </p:sp>
      <p:sp>
        <p:nvSpPr>
          <p:cNvPr id="35" name="Text 30"/>
          <p:cNvSpPr/>
          <p:nvPr/>
        </p:nvSpPr>
        <p:spPr>
          <a:xfrm>
            <a:off x="6248846" y="2746177"/>
            <a:ext cx="2428420" cy="326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spcBef>
                <a:spcPts val="510"/>
              </a:spcBef>
              <a:buNone/>
            </a:pPr>
            <a:r>
              <a:rPr lang="en-US" sz="79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reasoning — not just your score — to the group.</a:t>
            </a:r>
            <a:endParaRPr lang="en-US" sz="790" dirty="0"/>
          </a:p>
        </p:txBody>
      </p:sp>
      <p:sp>
        <p:nvSpPr>
          <p:cNvPr id="36" name="Text 31"/>
          <p:cNvSpPr/>
          <p:nvPr/>
        </p:nvSpPr>
        <p:spPr>
          <a:xfrm>
            <a:off x="0" y="4850606"/>
            <a:ext cx="9144000" cy="292894"/>
          </a:xfrm>
          <a:prstGeom prst="rect">
            <a:avLst/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8365" y="4930759"/>
            <a:ext cx="132588" cy="13258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400763" y="4929336"/>
            <a:ext cx="6342325" cy="135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66"/>
              </a:lnSpc>
              <a:buNone/>
            </a:pPr>
            <a:r>
              <a:rPr lang="en-US" sz="820" b="1" dirty="0">
                <a:solidFill>
                  <a:srgbClr val="1B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with the C-SSRS comes from repetition. Every role play today makes the real conversation easier tomorrow.</a:t>
            </a:r>
            <a:endParaRPr lang="en-US" sz="82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2899" y="4930759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5E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3160" cy="5143500"/>
          </a:xfrm>
          <a:prstGeom prst="rect">
            <a:avLst/>
          </a:prstGeom>
          <a:gradFill rotWithShape="1">
            <a:gsLst>
              <a:gs pos="0">
                <a:srgbClr val="FAB753"/>
              </a:gs>
              <a:gs pos="100000">
                <a:srgbClr val="FAB753">
                  <a:alpha val="15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0" y="0"/>
            <a:ext cx="2857500" cy="2571750"/>
          </a:xfrm>
          <a:prstGeom prst="ellipse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572470"/>
            <a:ext cx="1856780" cy="1571030"/>
          </a:xfrm>
          <a:prstGeom prst="ellipse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86030" y="3285530"/>
            <a:ext cx="1286470" cy="1286470"/>
          </a:xfrm>
          <a:prstGeom prst="ellipse">
            <a:avLst/>
          </a:prstGeom>
          <a:solidFill>
            <a:srgbClr val="FAB753">
              <a:alpha val="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75149" y="940445"/>
            <a:ext cx="219290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22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MODERATE RISK PATHWAY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3288209" y="988665"/>
            <a:ext cx="200620" cy="13841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55022" y="988665"/>
            <a:ext cx="200620" cy="13841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79486" y="1203871"/>
            <a:ext cx="4384878" cy="79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78"/>
              </a:lnSpc>
              <a:buNone/>
            </a:pPr>
            <a:r>
              <a:rPr lang="en-US" sz="2590" b="1" kern="0" spc="-26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the Screen Is Quiet —</a:t>
            </a:r>
            <a:br/>
            <a:r>
              <a:rPr lang="en-US" sz="2590" b="1" kern="0" spc="-26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But the Risk Is Still Real.</a:t>
            </a:r>
            <a:endParaRPr lang="en-US" sz="2590" dirty="0"/>
          </a:p>
        </p:txBody>
      </p:sp>
      <p:sp>
        <p:nvSpPr>
          <p:cNvPr id="11" name="Text 9"/>
          <p:cNvSpPr/>
          <p:nvPr/>
        </p:nvSpPr>
        <p:spPr>
          <a:xfrm>
            <a:off x="4343400" y="2131665"/>
            <a:ext cx="457200" cy="21580"/>
          </a:xfrm>
          <a:prstGeom prst="roundRect">
            <a:avLst>
              <a:gd name="adj" fmla="val 64736"/>
            </a:avLst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84180" y="2324695"/>
            <a:ext cx="5975640" cy="646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17"/>
              </a:lnSpc>
              <a:spcAft>
                <a:spcPts val="1460"/>
              </a:spcAft>
              <a:buNone/>
            </a:pPr>
            <a:r>
              <a:rPr lang="en-US" sz="98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Moderate Risk Pathway is designed to catch clients whose PHQ-9 Item 9 is negative — meaning they are not reporting active suicidal ideation — but whose responses on the INQ-FAD3 screener indicate elevated risk through perceived burdensomeness, thwarted belongingness, or fearlessness about death.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1857375" y="3125688"/>
            <a:ext cx="5429250" cy="836116"/>
          </a:xfrm>
          <a:prstGeom prst="roundRect">
            <a:avLst>
              <a:gd name="adj" fmla="val 6835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857375" y="3125688"/>
            <a:ext cx="28575" cy="836116"/>
          </a:xfrm>
          <a:custGeom>
            <a:avLst/>
            <a:gdLst/>
            <a:ahLst/>
            <a:cxnLst/>
            <a:rect l="l" t="t" r="r" b="b"/>
            <a:pathLst>
              <a:path w="28575" h="836116">
                <a:moveTo>
                  <a:pt x="0" y="57150"/>
                </a:moveTo>
                <a:lnTo>
                  <a:pt x="3572" y="37263"/>
                </a:lnTo>
                <a:lnTo>
                  <a:pt x="7144" y="29482"/>
                </a:lnTo>
                <a:lnTo>
                  <a:pt x="10716" y="23834"/>
                </a:lnTo>
                <a:lnTo>
                  <a:pt x="14288" y="19349"/>
                </a:lnTo>
                <a:lnTo>
                  <a:pt x="17859" y="15649"/>
                </a:lnTo>
                <a:lnTo>
                  <a:pt x="21431" y="12537"/>
                </a:lnTo>
                <a:lnTo>
                  <a:pt x="25003" y="9899"/>
                </a:lnTo>
                <a:lnTo>
                  <a:pt x="28575" y="7657"/>
                </a:lnTo>
                <a:lnTo>
                  <a:pt x="28575" y="828460"/>
                </a:lnTo>
                <a:lnTo>
                  <a:pt x="25003" y="826218"/>
                </a:lnTo>
                <a:lnTo>
                  <a:pt x="21431" y="823579"/>
                </a:lnTo>
                <a:lnTo>
                  <a:pt x="17859" y="820468"/>
                </a:lnTo>
                <a:lnTo>
                  <a:pt x="14288" y="816768"/>
                </a:lnTo>
                <a:lnTo>
                  <a:pt x="10716" y="812283"/>
                </a:lnTo>
                <a:lnTo>
                  <a:pt x="7144" y="806634"/>
                </a:lnTo>
                <a:lnTo>
                  <a:pt x="3572" y="798854"/>
                </a:lnTo>
                <a:lnTo>
                  <a:pt x="0" y="778966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7266" y="3275716"/>
            <a:ext cx="132588" cy="1325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346871" y="3269159"/>
            <a:ext cx="4805377" cy="576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2"/>
              </a:lnSpc>
              <a:buNone/>
            </a:pPr>
            <a:r>
              <a:rPr lang="en-US" sz="93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PHQ-9 Item 9 does not mean a client is safe. The INQ-FAD3 exists precisely because some of the most significant risk factors are not captured by a direct question about suicidal thoughts.</a:t>
            </a:r>
            <a:endParaRPr lang="en-US" sz="930" dirty="0"/>
          </a:p>
        </p:txBody>
      </p:sp>
      <p:sp>
        <p:nvSpPr>
          <p:cNvPr id="17" name="Text 14"/>
          <p:cNvSpPr/>
          <p:nvPr/>
        </p:nvSpPr>
        <p:spPr>
          <a:xfrm>
            <a:off x="1885176" y="4147096"/>
            <a:ext cx="5373648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5"/>
              </a:lnSpc>
              <a:buNone/>
            </a:pPr>
            <a:r>
              <a:rPr lang="en-US" sz="790" i="1" kern="0" spc="8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pathway is about catching what the standard screen misses. It exists because we chose to look harder.</a:t>
            </a:r>
            <a:endParaRPr lang="en-US" sz="79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31420" y="4779768"/>
            <a:ext cx="132588" cy="208203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49738" y="4779768"/>
            <a:ext cx="132588" cy="208203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8057" y="4779768"/>
            <a:ext cx="132588" cy="2082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429470" cy="5143500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00300" y="571500"/>
            <a:ext cx="29170" cy="400050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FAB753"/>
              </a:gs>
              <a:gs pos="100000">
                <a:srgbClr val="FAB753">
                  <a:alpha val="1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7770" y="342900"/>
            <a:ext cx="210532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12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MODERATE RISK</a:t>
            </a:r>
            <a:endParaRPr lang="en-US" sz="620" dirty="0"/>
          </a:p>
        </p:txBody>
      </p:sp>
      <p:sp>
        <p:nvSpPr>
          <p:cNvPr id="5" name="Text 3"/>
          <p:cNvSpPr/>
          <p:nvPr/>
        </p:nvSpPr>
        <p:spPr>
          <a:xfrm>
            <a:off x="257770" y="632371"/>
            <a:ext cx="1952208" cy="576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Screen </a:t>
            </a:r>
            <a:r>
              <a:rPr lang="en-US" sz="1800" b="1" dirty="0">
                <a:solidFill>
                  <a:srgbClr val="FAB7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</a:t>
            </a: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Assess </a:t>
            </a:r>
            <a:r>
              <a:rPr lang="en-US" sz="1800" b="1" dirty="0">
                <a:solidFill>
                  <a:srgbClr val="FAB7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</a:t>
            </a: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Enroll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7770" y="1338263"/>
            <a:ext cx="1952208" cy="31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8"/>
              </a:lnSpc>
              <a:buNone/>
            </a:pPr>
            <a:r>
              <a:rPr lang="en-US" sz="76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two-stage process. The screener leads to the full assessment.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257770" y="1909167"/>
            <a:ext cx="228600" cy="2514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572691" y="1953964"/>
            <a:ext cx="102614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3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INQ-FAD3 Screener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364331" y="2224088"/>
            <a:ext cx="13841" cy="100310"/>
          </a:xfrm>
          <a:prstGeom prst="rect">
            <a:avLst/>
          </a:prstGeom>
          <a:solidFill>
            <a:srgbClr val="FAB753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7770" y="2410718"/>
            <a:ext cx="228600" cy="2514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572691" y="2455515"/>
            <a:ext cx="131067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3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INQ-FAD3 (16 items)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364331" y="2725638"/>
            <a:ext cx="13841" cy="100310"/>
          </a:xfrm>
          <a:prstGeom prst="rect">
            <a:avLst/>
          </a:prstGeom>
          <a:solidFill>
            <a:srgbClr val="FAB753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7770" y="2912269"/>
            <a:ext cx="228600" cy="25146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572691" y="2957066"/>
            <a:ext cx="106510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3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Enrollment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257770" y="4256038"/>
            <a:ext cx="1913930" cy="619763"/>
          </a:xfrm>
          <a:prstGeom prst="roundRect">
            <a:avLst>
              <a:gd name="adj" fmla="val 922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lIns="114300" tIns="100330" rIns="114300" bIns="100330" rtlCol="0" anchor="t"/>
          <a:lstStyle/>
          <a:p>
            <a:pPr marL="0" indent="0" algn="l">
              <a:buNone/>
            </a:pPr>
            <a:r>
              <a:rPr lang="en-US" sz="560" b="1" kern="0" spc="84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CONDITION</a:t>
            </a:r>
            <a:endParaRPr lang="en-US" sz="56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Item 9 is </a:t>
            </a:r>
            <a:r>
              <a:rPr lang="en-US" sz="680" b="1" dirty="0">
                <a:solidFill>
                  <a:srgbClr val="FAB753"/>
                </a:solidFill>
                <a:highlight>
                  <a:srgbClr val="FAB753">
                    <a:alpha val="25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r>
              <a:rPr lang="en-US" sz="6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risk may still be present</a:t>
            </a:r>
            <a:endParaRPr lang="en-US" sz="560" dirty="0"/>
          </a:p>
        </p:txBody>
      </p:sp>
      <p:sp>
        <p:nvSpPr>
          <p:cNvPr id="16" name="Text 14"/>
          <p:cNvSpPr/>
          <p:nvPr/>
        </p:nvSpPr>
        <p:spPr>
          <a:xfrm>
            <a:off x="257770" y="4256038"/>
            <a:ext cx="19050" cy="601712"/>
          </a:xfrm>
          <a:custGeom>
            <a:avLst/>
            <a:gdLst/>
            <a:ahLst/>
            <a:cxnLst/>
            <a:rect l="l" t="t" r="r" b="b"/>
            <a:pathLst>
              <a:path w="19050" h="601712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587159"/>
                </a:lnTo>
                <a:lnTo>
                  <a:pt x="16669" y="584903"/>
                </a:lnTo>
                <a:lnTo>
                  <a:pt x="14288" y="582363"/>
                </a:lnTo>
                <a:lnTo>
                  <a:pt x="11906" y="579478"/>
                </a:lnTo>
                <a:lnTo>
                  <a:pt x="9525" y="576153"/>
                </a:lnTo>
                <a:lnTo>
                  <a:pt x="7144" y="572230"/>
                </a:lnTo>
                <a:lnTo>
                  <a:pt x="4763" y="567402"/>
                </a:lnTo>
                <a:lnTo>
                  <a:pt x="2381" y="560887"/>
                </a:lnTo>
                <a:lnTo>
                  <a:pt x="0" y="544562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87241" y="1041648"/>
            <a:ext cx="6198989" cy="9525"/>
          </a:xfrm>
          <a:prstGeom prst="rect">
            <a:avLst/>
          </a:prstGeom>
          <a:solidFill>
            <a:srgbClr val="EAF4F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87241" y="314771"/>
            <a:ext cx="285750" cy="285750"/>
          </a:xfrm>
          <a:prstGeom prst="ellipse">
            <a:avLst/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3747" y="391278"/>
            <a:ext cx="132588" cy="13258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087291" y="300930"/>
            <a:ext cx="543764" cy="149870"/>
          </a:xfrm>
          <a:prstGeom prst="roundRect">
            <a:avLst>
              <a:gd name="adj" fmla="val 14406"/>
            </a:avLst>
          </a:prstGeom>
          <a:solidFill>
            <a:srgbClr val="1B5E72"/>
          </a:solidFill>
          <a:ln/>
        </p:spPr>
        <p:txBody>
          <a:bodyPr wrap="none" lIns="167580" tIns="21590" rIns="71120" bIns="21590" rtlCol="0" anchor="ctr"/>
          <a:lstStyle/>
          <a:p>
            <a:pPr marL="0" indent="0" algn="l">
              <a:buNone/>
            </a:pPr>
            <a:r>
              <a:rPr lang="en-US" sz="560" b="1" kern="0" spc="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56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8628" y="309497"/>
            <a:ext cx="132588" cy="1325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087291" y="493961"/>
            <a:ext cx="6378833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kern="0" spc="23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— INQ-FAD3 Screener (3 questions):</a:t>
            </a:r>
            <a:endParaRPr lang="en-US" sz="760" dirty="0"/>
          </a:p>
        </p:txBody>
      </p:sp>
      <p:sp>
        <p:nvSpPr>
          <p:cNvPr id="23" name="Text 19"/>
          <p:cNvSpPr/>
          <p:nvPr/>
        </p:nvSpPr>
        <p:spPr>
          <a:xfrm>
            <a:off x="4538216" y="660053"/>
            <a:ext cx="402580" cy="157981"/>
          </a:xfrm>
          <a:prstGeom prst="roundRect">
            <a:avLst>
              <a:gd name="adj" fmla="val 13666"/>
            </a:avLst>
          </a:prstGeom>
          <a:solidFill>
            <a:srgbClr val="EAF4F4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590" dirty="0"/>
          </a:p>
        </p:txBody>
      </p:sp>
      <p:sp>
        <p:nvSpPr>
          <p:cNvPr id="24" name="Text 20"/>
          <p:cNvSpPr/>
          <p:nvPr/>
        </p:nvSpPr>
        <p:spPr>
          <a:xfrm>
            <a:off x="2687241" y="2029867"/>
            <a:ext cx="6198989" cy="9525"/>
          </a:xfrm>
          <a:prstGeom prst="rect">
            <a:avLst/>
          </a:prstGeom>
          <a:solidFill>
            <a:srgbClr val="EAF4F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2687241" y="1165324"/>
            <a:ext cx="285750" cy="285750"/>
          </a:xfrm>
          <a:prstGeom prst="ellipse">
            <a:avLst/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3747" y="1241831"/>
            <a:ext cx="132588" cy="1325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087291" y="1151483"/>
            <a:ext cx="543764" cy="149870"/>
          </a:xfrm>
          <a:prstGeom prst="roundRect">
            <a:avLst>
              <a:gd name="adj" fmla="val 14406"/>
            </a:avLst>
          </a:prstGeom>
          <a:solidFill>
            <a:srgbClr val="1B5E72"/>
          </a:solidFill>
          <a:ln/>
        </p:spPr>
        <p:txBody>
          <a:bodyPr wrap="none" lIns="167580" tIns="21590" rIns="71120" bIns="21590" rtlCol="0" anchor="ctr"/>
          <a:lstStyle/>
          <a:p>
            <a:pPr marL="0" indent="0" algn="l">
              <a:buNone/>
            </a:pPr>
            <a:r>
              <a:rPr lang="en-US" sz="560" b="1" kern="0" spc="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56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18628" y="1160050"/>
            <a:ext cx="132588" cy="1325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087291" y="1344513"/>
            <a:ext cx="6378833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kern="0" spc="23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— Full INQ-FAD3 Assessment (16 questions):</a:t>
            </a:r>
            <a:endParaRPr lang="en-US" sz="760" dirty="0"/>
          </a:p>
        </p:txBody>
      </p:sp>
      <p:sp>
        <p:nvSpPr>
          <p:cNvPr id="30" name="Text 24"/>
          <p:cNvSpPr/>
          <p:nvPr/>
        </p:nvSpPr>
        <p:spPr>
          <a:xfrm>
            <a:off x="5111055" y="1785938"/>
            <a:ext cx="796528" cy="157981"/>
          </a:xfrm>
          <a:prstGeom prst="roundRect">
            <a:avLst>
              <a:gd name="adj" fmla="val 13666"/>
            </a:avLst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enrollment</a:t>
            </a:r>
            <a:endParaRPr lang="en-US" sz="590" dirty="0"/>
          </a:p>
        </p:txBody>
      </p:sp>
      <p:sp>
        <p:nvSpPr>
          <p:cNvPr id="31" name="Text 25"/>
          <p:cNvSpPr/>
          <p:nvPr/>
        </p:nvSpPr>
        <p:spPr>
          <a:xfrm>
            <a:off x="2687241" y="2153543"/>
            <a:ext cx="285750" cy="285750"/>
          </a:xfrm>
          <a:prstGeom prst="ellipse">
            <a:avLst/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63747" y="2230050"/>
            <a:ext cx="132588" cy="1325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087291" y="2139702"/>
            <a:ext cx="543764" cy="149870"/>
          </a:xfrm>
          <a:prstGeom prst="roundRect">
            <a:avLst>
              <a:gd name="adj" fmla="val 14406"/>
            </a:avLst>
          </a:prstGeom>
          <a:solidFill>
            <a:srgbClr val="1B5E72"/>
          </a:solidFill>
          <a:ln/>
        </p:spPr>
        <p:txBody>
          <a:bodyPr wrap="none" lIns="167580" tIns="21590" rIns="71120" bIns="21590" rtlCol="0" anchor="ctr"/>
          <a:lstStyle/>
          <a:p>
            <a:pPr marL="0" indent="0" algn="l">
              <a:buNone/>
            </a:pPr>
            <a:r>
              <a:rPr lang="en-US" sz="560" b="1" kern="0" spc="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56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18628" y="2148269"/>
            <a:ext cx="132588" cy="1325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087291" y="2332732"/>
            <a:ext cx="6378833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kern="0" spc="23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— Criteria:</a:t>
            </a:r>
            <a:endParaRPr lang="en-US" sz="760" dirty="0"/>
          </a:p>
        </p:txBody>
      </p:sp>
      <p:sp>
        <p:nvSpPr>
          <p:cNvPr id="36" name="Text 28"/>
          <p:cNvSpPr/>
          <p:nvPr/>
        </p:nvSpPr>
        <p:spPr>
          <a:xfrm>
            <a:off x="3087291" y="2493615"/>
            <a:ext cx="5914918" cy="289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scores </a:t>
            </a:r>
            <a:r>
              <a:rPr lang="en-US" sz="70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on the full INQ-FAD3</a:t>
            </a: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assessment. Client is enrolled in the </a:t>
            </a:r>
            <a:r>
              <a:rPr lang="en-US" sz="70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 Pathway</a:t>
            </a: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</a:t>
            </a:r>
            <a:r>
              <a:rPr lang="en-US" sz="70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Stanley-Brown Safety Plan</a:t>
            </a:r>
            <a:r>
              <a:rPr lang="en-US" sz="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initiated at enrollment.</a:t>
            </a:r>
            <a:endParaRPr lang="en-US" sz="700" dirty="0"/>
          </a:p>
        </p:txBody>
      </p:sp>
      <p:sp>
        <p:nvSpPr>
          <p:cNvPr id="37" name="Text 29"/>
          <p:cNvSpPr/>
          <p:nvPr/>
        </p:nvSpPr>
        <p:spPr>
          <a:xfrm>
            <a:off x="2429470" y="4708029"/>
            <a:ext cx="6714530" cy="435471"/>
          </a:xfrm>
          <a:prstGeom prst="rect">
            <a:avLst/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74748" y="4859396"/>
            <a:ext cx="132588" cy="13258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2881164" y="4800600"/>
            <a:ext cx="6125167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Moderate Risk session: administer the INQ screener. Optionally — and strongly encouraged — administer the C-SSRS Since Last Visit to monitor for escalation to Urgent Risk.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7241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750" y="212973"/>
            <a:ext cx="150465" cy="1504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6525" y="100310"/>
            <a:ext cx="4395829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06"/>
              </a:lnSpc>
              <a:buNone/>
            </a:pPr>
            <a:r>
              <a:rPr lang="en-US" sz="14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Moderate Risk — Treatment and Disenrollment</a:t>
            </a:r>
            <a:endParaRPr lang="en-US" sz="1460" dirty="0"/>
          </a:p>
        </p:txBody>
      </p:sp>
      <p:sp>
        <p:nvSpPr>
          <p:cNvPr id="5" name="Text 2"/>
          <p:cNvSpPr/>
          <p:nvPr/>
        </p:nvSpPr>
        <p:spPr>
          <a:xfrm>
            <a:off x="536525" y="325785"/>
            <a:ext cx="451907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spcBef>
                <a:spcPts val="170"/>
              </a:spcBef>
              <a:buNone/>
            </a:pPr>
            <a:r>
              <a:rPr lang="en-US" sz="790" kern="0" spc="16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sessions. Consistent monitoring. Clear off-ramp.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200620" y="675382"/>
            <a:ext cx="4271070" cy="313432"/>
          </a:xfrm>
          <a:prstGeom prst="roundRect">
            <a:avLst>
              <a:gd name="adj" fmla="val 18234"/>
            </a:avLst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539" y="765804"/>
            <a:ext cx="132588" cy="132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5895" y="746373"/>
            <a:ext cx="16015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TREATMENT PROTOCOL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200620" y="988814"/>
            <a:ext cx="4271070" cy="3344168"/>
          </a:xfrm>
          <a:prstGeom prst="rect">
            <a:avLst/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28761" y="1325910"/>
            <a:ext cx="4014788" cy="9525"/>
          </a:xfrm>
          <a:prstGeom prst="rect">
            <a:avLst/>
          </a:prstGeom>
          <a:solidFill>
            <a:srgbClr val="1B5E72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28761" y="1132136"/>
            <a:ext cx="134079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60" dirty="0"/>
          </a:p>
        </p:txBody>
      </p:sp>
      <p:sp>
        <p:nvSpPr>
          <p:cNvPr id="12" name="Text 8"/>
          <p:cNvSpPr/>
          <p:nvPr/>
        </p:nvSpPr>
        <p:spPr>
          <a:xfrm>
            <a:off x="521643" y="1124545"/>
            <a:ext cx="2462867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36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Stanley-Brown Safety Plan at enrollment.</a:t>
            </a:r>
            <a:endParaRPr lang="en-US" sz="740" dirty="0"/>
          </a:p>
        </p:txBody>
      </p:sp>
      <p:sp>
        <p:nvSpPr>
          <p:cNvPr id="13" name="Text 9"/>
          <p:cNvSpPr/>
          <p:nvPr/>
        </p:nvSpPr>
        <p:spPr>
          <a:xfrm>
            <a:off x="328761" y="1572220"/>
            <a:ext cx="4014788" cy="9525"/>
          </a:xfrm>
          <a:prstGeom prst="rect">
            <a:avLst/>
          </a:prstGeom>
          <a:solidFill>
            <a:srgbClr val="1B5E72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28761" y="1378446"/>
            <a:ext cx="134079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60" dirty="0"/>
          </a:p>
        </p:txBody>
      </p:sp>
      <p:sp>
        <p:nvSpPr>
          <p:cNvPr id="15" name="Text 11"/>
          <p:cNvSpPr/>
          <p:nvPr/>
        </p:nvSpPr>
        <p:spPr>
          <a:xfrm>
            <a:off x="521643" y="1370856"/>
            <a:ext cx="2963987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36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 on Access to Lethal Means (CALM) at enrollment.</a:t>
            </a:r>
            <a:endParaRPr lang="en-US" sz="740" dirty="0"/>
          </a:p>
        </p:txBody>
      </p:sp>
      <p:sp>
        <p:nvSpPr>
          <p:cNvPr id="16" name="Text 12"/>
          <p:cNvSpPr/>
          <p:nvPr/>
        </p:nvSpPr>
        <p:spPr>
          <a:xfrm>
            <a:off x="328761" y="1818531"/>
            <a:ext cx="4014788" cy="9525"/>
          </a:xfrm>
          <a:prstGeom prst="rect">
            <a:avLst/>
          </a:prstGeom>
          <a:solidFill>
            <a:srgbClr val="1B5E72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28761" y="1624757"/>
            <a:ext cx="134079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60" dirty="0"/>
          </a:p>
        </p:txBody>
      </p:sp>
      <p:sp>
        <p:nvSpPr>
          <p:cNvPr id="18" name="Text 14"/>
          <p:cNvSpPr/>
          <p:nvPr/>
        </p:nvSpPr>
        <p:spPr>
          <a:xfrm>
            <a:off x="521643" y="1617166"/>
            <a:ext cx="2675692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36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 screener at every session — track scores over time.</a:t>
            </a:r>
            <a:endParaRPr lang="en-US" sz="740" dirty="0"/>
          </a:p>
        </p:txBody>
      </p:sp>
      <p:sp>
        <p:nvSpPr>
          <p:cNvPr id="19" name="Text 15"/>
          <p:cNvSpPr/>
          <p:nvPr/>
        </p:nvSpPr>
        <p:spPr>
          <a:xfrm>
            <a:off x="328761" y="2064841"/>
            <a:ext cx="4014788" cy="9525"/>
          </a:xfrm>
          <a:prstGeom prst="rect">
            <a:avLst/>
          </a:prstGeom>
          <a:solidFill>
            <a:srgbClr val="1B5E72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28761" y="1871067"/>
            <a:ext cx="134079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60" dirty="0"/>
          </a:p>
        </p:txBody>
      </p:sp>
      <p:sp>
        <p:nvSpPr>
          <p:cNvPr id="21" name="Text 17"/>
          <p:cNvSpPr/>
          <p:nvPr/>
        </p:nvSpPr>
        <p:spPr>
          <a:xfrm>
            <a:off x="521643" y="1863477"/>
            <a:ext cx="2708106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36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C-SSRS Since Last Visit regularly — watch for escalation.</a:t>
            </a:r>
            <a:endParaRPr lang="en-US" sz="740" dirty="0"/>
          </a:p>
        </p:txBody>
      </p:sp>
      <p:sp>
        <p:nvSpPr>
          <p:cNvPr id="22" name="Text 18"/>
          <p:cNvSpPr/>
          <p:nvPr/>
        </p:nvSpPr>
        <p:spPr>
          <a:xfrm>
            <a:off x="328761" y="2311152"/>
            <a:ext cx="4014788" cy="9525"/>
          </a:xfrm>
          <a:prstGeom prst="rect">
            <a:avLst/>
          </a:prstGeom>
          <a:solidFill>
            <a:srgbClr val="1B5E72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28761" y="2117378"/>
            <a:ext cx="134079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60" dirty="0"/>
          </a:p>
        </p:txBody>
      </p:sp>
      <p:sp>
        <p:nvSpPr>
          <p:cNvPr id="24" name="Text 20"/>
          <p:cNvSpPr/>
          <p:nvPr/>
        </p:nvSpPr>
        <p:spPr>
          <a:xfrm>
            <a:off x="521643" y="2109788"/>
            <a:ext cx="3247370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36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Suicide-specific treatment: RELATE or BCBT for Suicide Prevention.</a:t>
            </a:r>
            <a:endParaRPr lang="en-US" sz="740" dirty="0"/>
          </a:p>
        </p:txBody>
      </p:sp>
      <p:sp>
        <p:nvSpPr>
          <p:cNvPr id="25" name="Text 21"/>
          <p:cNvSpPr/>
          <p:nvPr/>
        </p:nvSpPr>
        <p:spPr>
          <a:xfrm>
            <a:off x="328761" y="2557463"/>
            <a:ext cx="4014788" cy="9525"/>
          </a:xfrm>
          <a:prstGeom prst="rect">
            <a:avLst/>
          </a:prstGeom>
          <a:solidFill>
            <a:srgbClr val="1B5E72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328761" y="2363688"/>
            <a:ext cx="134079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60" dirty="0"/>
          </a:p>
        </p:txBody>
      </p:sp>
      <p:sp>
        <p:nvSpPr>
          <p:cNvPr id="27" name="Text 23"/>
          <p:cNvSpPr/>
          <p:nvPr/>
        </p:nvSpPr>
        <p:spPr>
          <a:xfrm>
            <a:off x="521643" y="2356098"/>
            <a:ext cx="1825704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36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therapy sessions minimum.</a:t>
            </a:r>
            <a:endParaRPr lang="en-US" sz="740" dirty="0"/>
          </a:p>
        </p:txBody>
      </p:sp>
      <p:sp>
        <p:nvSpPr>
          <p:cNvPr id="28" name="Text 24"/>
          <p:cNvSpPr/>
          <p:nvPr/>
        </p:nvSpPr>
        <p:spPr>
          <a:xfrm>
            <a:off x="328761" y="2596158"/>
            <a:ext cx="4014788" cy="349151"/>
          </a:xfrm>
          <a:prstGeom prst="roundRect">
            <a:avLst>
              <a:gd name="adj" fmla="val 10185"/>
            </a:avLst>
          </a:prstGeom>
          <a:solidFill>
            <a:srgbClr val="FAB753">
              <a:alpha val="9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385911" y="2646908"/>
            <a:ext cx="134079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60" dirty="0"/>
          </a:p>
        </p:txBody>
      </p:sp>
      <p:sp>
        <p:nvSpPr>
          <p:cNvPr id="30" name="Text 26"/>
          <p:cNvSpPr/>
          <p:nvPr/>
        </p:nvSpPr>
        <p:spPr>
          <a:xfrm>
            <a:off x="578793" y="2639318"/>
            <a:ext cx="3781758" cy="275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36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client's symptoms worsen at any point: administer the C-SSRS Since Last Visit immediately to determine if Urgent Risk enrollment is warranted.</a:t>
            </a:r>
            <a:endParaRPr lang="en-US" sz="740" dirty="0"/>
          </a:p>
        </p:txBody>
      </p:sp>
      <p:sp>
        <p:nvSpPr>
          <p:cNvPr id="31" name="Text 27"/>
          <p:cNvSpPr/>
          <p:nvPr/>
        </p:nvSpPr>
        <p:spPr>
          <a:xfrm>
            <a:off x="4672310" y="675382"/>
            <a:ext cx="4271070" cy="313432"/>
          </a:xfrm>
          <a:prstGeom prst="roundRect">
            <a:avLst>
              <a:gd name="adj" fmla="val 18234"/>
            </a:avLst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2229" y="765804"/>
            <a:ext cx="132588" cy="1325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967585" y="746373"/>
            <a:ext cx="182193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B2A3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DISENROLLMENT CRITERIA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4672310" y="988814"/>
            <a:ext cx="4271070" cy="3344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4672310" y="988814"/>
            <a:ext cx="9525" cy="3344168"/>
          </a:xfrm>
          <a:prstGeom prst="rect">
            <a:avLst/>
          </a:prstGeom>
          <a:solidFill>
            <a:srgbClr val="D0E9E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8933855" y="988814"/>
            <a:ext cx="9525" cy="3344168"/>
          </a:xfrm>
          <a:prstGeom prst="rect">
            <a:avLst/>
          </a:prstGeom>
          <a:solidFill>
            <a:srgbClr val="D0E9E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4809976" y="1325910"/>
            <a:ext cx="3995738" cy="9525"/>
          </a:xfrm>
          <a:prstGeom prst="rect">
            <a:avLst/>
          </a:prstGeom>
          <a:solidFill>
            <a:srgbClr val="1B5E72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4809976" y="1132136"/>
            <a:ext cx="134079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60" dirty="0"/>
          </a:p>
        </p:txBody>
      </p:sp>
      <p:sp>
        <p:nvSpPr>
          <p:cNvPr id="39" name="Text 34"/>
          <p:cNvSpPr/>
          <p:nvPr/>
        </p:nvSpPr>
        <p:spPr>
          <a:xfrm>
            <a:off x="5002857" y="1124545"/>
            <a:ext cx="1992198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36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consecutive INQ-FAD3 scores below 9.</a:t>
            </a:r>
            <a:endParaRPr lang="en-US" sz="740" dirty="0"/>
          </a:p>
        </p:txBody>
      </p:sp>
      <p:sp>
        <p:nvSpPr>
          <p:cNvPr id="40" name="Text 35"/>
          <p:cNvSpPr/>
          <p:nvPr/>
        </p:nvSpPr>
        <p:spPr>
          <a:xfrm>
            <a:off x="4809976" y="1572220"/>
            <a:ext cx="3995738" cy="9525"/>
          </a:xfrm>
          <a:prstGeom prst="rect">
            <a:avLst/>
          </a:prstGeom>
          <a:solidFill>
            <a:srgbClr val="1B5E72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4809976" y="1378446"/>
            <a:ext cx="134079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60" dirty="0"/>
          </a:p>
        </p:txBody>
      </p:sp>
      <p:sp>
        <p:nvSpPr>
          <p:cNvPr id="42" name="Text 37"/>
          <p:cNvSpPr/>
          <p:nvPr/>
        </p:nvSpPr>
        <p:spPr>
          <a:xfrm>
            <a:off x="5002857" y="1370856"/>
            <a:ext cx="2698447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36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Disenroll using the Clinical Pathway Disenrollment form.</a:t>
            </a:r>
            <a:endParaRPr lang="en-US" sz="740" dirty="0"/>
          </a:p>
        </p:txBody>
      </p:sp>
      <p:sp>
        <p:nvSpPr>
          <p:cNvPr id="43" name="Text 38"/>
          <p:cNvSpPr/>
          <p:nvPr/>
        </p:nvSpPr>
        <p:spPr>
          <a:xfrm>
            <a:off x="4809976" y="1818531"/>
            <a:ext cx="3995738" cy="9525"/>
          </a:xfrm>
          <a:prstGeom prst="rect">
            <a:avLst/>
          </a:prstGeom>
          <a:solidFill>
            <a:srgbClr val="1B5E72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4809976" y="1624757"/>
            <a:ext cx="134079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60" dirty="0"/>
          </a:p>
        </p:txBody>
      </p:sp>
      <p:sp>
        <p:nvSpPr>
          <p:cNvPr id="45" name="Text 40"/>
          <p:cNvSpPr/>
          <p:nvPr/>
        </p:nvSpPr>
        <p:spPr>
          <a:xfrm>
            <a:off x="5002857" y="1617166"/>
            <a:ext cx="2996892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36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your clinical rationale in the chart — this is required.</a:t>
            </a:r>
            <a:endParaRPr lang="en-US" sz="740" dirty="0"/>
          </a:p>
        </p:txBody>
      </p:sp>
      <p:sp>
        <p:nvSpPr>
          <p:cNvPr id="46" name="Text 41"/>
          <p:cNvSpPr/>
          <p:nvPr/>
        </p:nvSpPr>
        <p:spPr>
          <a:xfrm>
            <a:off x="4809976" y="2161729"/>
            <a:ext cx="3995738" cy="9525"/>
          </a:xfrm>
          <a:prstGeom prst="rect">
            <a:avLst/>
          </a:prstGeom>
          <a:solidFill>
            <a:srgbClr val="1B5E72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4809976" y="1871067"/>
            <a:ext cx="134079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60" dirty="0"/>
          </a:p>
        </p:txBody>
      </p:sp>
      <p:sp>
        <p:nvSpPr>
          <p:cNvPr id="48" name="Text 43"/>
          <p:cNvSpPr/>
          <p:nvPr/>
        </p:nvSpPr>
        <p:spPr>
          <a:xfrm>
            <a:off x="5002857" y="1863477"/>
            <a:ext cx="3878913" cy="275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36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worsening symptoms occur before the 3-session threshold: do not wait. Complete the C-SSRS Since Last Visit and consider escalation to the Urgent Risk Pathway.</a:t>
            </a:r>
            <a:endParaRPr lang="en-US" sz="740" dirty="0"/>
          </a:p>
        </p:txBody>
      </p:sp>
      <p:sp>
        <p:nvSpPr>
          <p:cNvPr id="49" name="Text 44"/>
          <p:cNvSpPr/>
          <p:nvPr/>
        </p:nvSpPr>
        <p:spPr>
          <a:xfrm>
            <a:off x="4809976" y="2200424"/>
            <a:ext cx="3995738" cy="252264"/>
          </a:xfrm>
          <a:prstGeom prst="roundRect">
            <a:avLst>
              <a:gd name="adj" fmla="val 14096"/>
            </a:avLst>
          </a:prstGeom>
          <a:solidFill>
            <a:srgbClr val="55A49C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5"/>
          <p:cNvSpPr/>
          <p:nvPr/>
        </p:nvSpPr>
        <p:spPr>
          <a:xfrm>
            <a:off x="4867126" y="2251174"/>
            <a:ext cx="134079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60" dirty="0"/>
          </a:p>
        </p:txBody>
      </p:sp>
      <p:sp>
        <p:nvSpPr>
          <p:cNvPr id="51" name="Text 46"/>
          <p:cNvSpPr/>
          <p:nvPr/>
        </p:nvSpPr>
        <p:spPr>
          <a:xfrm>
            <a:off x="5060007" y="2243584"/>
            <a:ext cx="2543086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36"/>
              </a:lnSpc>
              <a:buNone/>
            </a:pPr>
            <a:r>
              <a:rPr lang="en-US" sz="74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judgment always supersedes the algorithm.</a:t>
            </a:r>
            <a:endParaRPr lang="en-US" sz="740" dirty="0"/>
          </a:p>
        </p:txBody>
      </p:sp>
      <p:sp>
        <p:nvSpPr>
          <p:cNvPr id="52" name="Text 47"/>
          <p:cNvSpPr/>
          <p:nvPr/>
        </p:nvSpPr>
        <p:spPr>
          <a:xfrm>
            <a:off x="4809976" y="3989636"/>
            <a:ext cx="3995738" cy="247501"/>
          </a:xfrm>
          <a:prstGeom prst="roundRect">
            <a:avLst>
              <a:gd name="adj" fmla="val 17446"/>
            </a:avLst>
          </a:prstGeom>
          <a:solidFill>
            <a:srgbClr val="1B5E72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8"/>
          <p:cNvSpPr/>
          <p:nvPr/>
        </p:nvSpPr>
        <p:spPr>
          <a:xfrm>
            <a:off x="4809976" y="3989636"/>
            <a:ext cx="19050" cy="247501"/>
          </a:xfrm>
          <a:custGeom>
            <a:avLst/>
            <a:gdLst/>
            <a:ahLst/>
            <a:cxnLst/>
            <a:rect l="l" t="t" r="r" b="b"/>
            <a:pathLst>
              <a:path w="19050" h="247501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240130"/>
                </a:lnTo>
                <a:lnTo>
                  <a:pt x="16669" y="238404"/>
                </a:lnTo>
                <a:lnTo>
                  <a:pt x="14288" y="236411"/>
                </a:lnTo>
                <a:lnTo>
                  <a:pt x="11906" y="234095"/>
                </a:lnTo>
                <a:lnTo>
                  <a:pt x="9525" y="231374"/>
                </a:lnTo>
                <a:lnTo>
                  <a:pt x="7144" y="228110"/>
                </a:lnTo>
                <a:lnTo>
                  <a:pt x="4763" y="224034"/>
                </a:lnTo>
                <a:lnTo>
                  <a:pt x="2381" y="218462"/>
                </a:lnTo>
                <a:lnTo>
                  <a:pt x="0" y="204321"/>
                </a:lnTo>
                <a:close/>
              </a:path>
            </a:pathLst>
          </a:cu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1915" y="4047018"/>
            <a:ext cx="132588" cy="132588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5058221" y="4046786"/>
            <a:ext cx="279389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PATHWAY ALWAYS OPEN — ANY SESSION</a:t>
            </a:r>
            <a:endParaRPr lang="en-US" sz="700" dirty="0"/>
          </a:p>
        </p:txBody>
      </p:sp>
      <p:sp>
        <p:nvSpPr>
          <p:cNvPr id="56" name="Text 50"/>
          <p:cNvSpPr/>
          <p:nvPr/>
        </p:nvSpPr>
        <p:spPr>
          <a:xfrm>
            <a:off x="200620" y="4419302"/>
            <a:ext cx="8742759" cy="296168"/>
          </a:xfrm>
          <a:prstGeom prst="rect">
            <a:avLst/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1"/>
          <p:cNvSpPr/>
          <p:nvPr/>
        </p:nvSpPr>
        <p:spPr>
          <a:xfrm>
            <a:off x="200620" y="4419302"/>
            <a:ext cx="28575" cy="296168"/>
          </a:xfrm>
          <a:prstGeom prst="rect">
            <a:avLst/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3362" y="4501018"/>
            <a:ext cx="132588" cy="132588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222245" y="4498032"/>
            <a:ext cx="8728085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2"/>
              </a:lnSpc>
              <a:buNone/>
            </a:pPr>
            <a:r>
              <a:rPr lang="en-US" sz="78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can move from Moderate to Urgent Risk at any time. Treat every session as a monitoring session, not just a therapy session.</a:t>
            </a:r>
            <a:endParaRPr lang="en-US" sz="780" dirty="0"/>
          </a:p>
        </p:txBody>
      </p:sp>
      <p:pic>
        <p:nvPicPr>
          <p:cNvPr id="6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46625" y="4501018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15404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128141"/>
            <a:ext cx="9050274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9"/>
              </a:lnSpc>
              <a:buNone/>
            </a:pPr>
            <a:r>
              <a:rPr lang="en-US" sz="1460" b="1" kern="0" spc="15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Practice Activity · Pair Role Play</a:t>
            </a:r>
            <a:endParaRPr lang="en-US" sz="1460" dirty="0"/>
          </a:p>
        </p:txBody>
      </p:sp>
      <p:sp>
        <p:nvSpPr>
          <p:cNvPr id="4" name="Text 2"/>
          <p:cNvSpPr/>
          <p:nvPr/>
        </p:nvSpPr>
        <p:spPr>
          <a:xfrm>
            <a:off x="342900" y="355104"/>
            <a:ext cx="930402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34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INQ-FAD3 — Administer, Score, and Interpret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257770" y="758875"/>
            <a:ext cx="2780407" cy="3948559"/>
          </a:xfrm>
          <a:prstGeom prst="roundRect">
            <a:avLst>
              <a:gd name="adj" fmla="val 2558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7770" y="758875"/>
            <a:ext cx="35421" cy="3948559"/>
          </a:xfrm>
          <a:custGeom>
            <a:avLst/>
            <a:gdLst/>
            <a:ahLst/>
            <a:cxnLst/>
            <a:rect l="l" t="t" r="r" b="b"/>
            <a:pathLst>
              <a:path w="35421" h="3948559">
                <a:moveTo>
                  <a:pt x="31608" y="11986"/>
                </a:move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lnTo>
                  <a:pt x="0" y="3877439"/>
                </a:lnTo>
                <a:lnTo>
                  <a:pt x="1367" y="3891314"/>
                </a:lnTo>
                <a:lnTo>
                  <a:pt x="5414" y="3904655"/>
                </a:lnTo>
                <a:lnTo>
                  <a:pt x="11986" y="3916951"/>
                </a:lnTo>
                <a:lnTo>
                  <a:pt x="20831" y="3927728"/>
                </a:lnTo>
                <a:lnTo>
                  <a:pt x="31608" y="3936573"/>
                </a:lnTo>
                <a:lnTo>
                  <a:pt x="35421" y="3948559"/>
                </a:lnTo>
                <a:lnTo>
                  <a:pt x="35421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5230" y="910977"/>
            <a:ext cx="171450" cy="188595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43830" y="902345"/>
            <a:ext cx="998488" cy="160273"/>
          </a:xfrm>
          <a:prstGeom prst="roundRect">
            <a:avLst>
              <a:gd name="adj" fmla="val 89541"/>
            </a:avLst>
          </a:prstGeom>
          <a:solidFill>
            <a:srgbClr val="FAB753">
              <a:alpha val="13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· 5 MINUTES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415230" y="1155948"/>
            <a:ext cx="299591" cy="299591"/>
          </a:xfrm>
          <a:prstGeom prst="ellipse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732" y="1239450"/>
            <a:ext cx="132588" cy="1325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5230" y="1534269"/>
            <a:ext cx="271203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Up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415230" y="1737568"/>
            <a:ext cx="2514796" cy="2983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2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roles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C-SSRS activity. Your facilitator will provide a new scenario card.</a:t>
            </a:r>
            <a:br/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client's PHQ-9 Item 9 was </a:t>
            </a: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something in the intake felt off. The clinician will administer the </a:t>
            </a: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INQ-FAD3 screener first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If positive, move to the full 16-question INQ-FAD3.</a:t>
            </a:r>
            <a:br/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3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respond based on your scenario. Be specific. The tool is designed to pick up on </a:t>
            </a: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risk factors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30" dirty="0"/>
          </a:p>
        </p:txBody>
      </p:sp>
      <p:sp>
        <p:nvSpPr>
          <p:cNvPr id="13" name="Text 10"/>
          <p:cNvSpPr/>
          <p:nvPr/>
        </p:nvSpPr>
        <p:spPr>
          <a:xfrm>
            <a:off x="3181648" y="758875"/>
            <a:ext cx="2780556" cy="3948559"/>
          </a:xfrm>
          <a:prstGeom prst="roundRect">
            <a:avLst>
              <a:gd name="adj" fmla="val 2558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181648" y="758875"/>
            <a:ext cx="35421" cy="3948559"/>
          </a:xfrm>
          <a:custGeom>
            <a:avLst/>
            <a:gdLst/>
            <a:ahLst/>
            <a:cxnLst/>
            <a:rect l="l" t="t" r="r" b="b"/>
            <a:pathLst>
              <a:path w="35421" h="3948559">
                <a:moveTo>
                  <a:pt x="31608" y="11986"/>
                </a:move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lnTo>
                  <a:pt x="0" y="3877439"/>
                </a:lnTo>
                <a:lnTo>
                  <a:pt x="1367" y="3891314"/>
                </a:lnTo>
                <a:lnTo>
                  <a:pt x="5414" y="3904655"/>
                </a:lnTo>
                <a:lnTo>
                  <a:pt x="11986" y="3916951"/>
                </a:lnTo>
                <a:lnTo>
                  <a:pt x="20831" y="3927728"/>
                </a:lnTo>
                <a:lnTo>
                  <a:pt x="31608" y="3936573"/>
                </a:lnTo>
                <a:lnTo>
                  <a:pt x="35421" y="3948559"/>
                </a:lnTo>
                <a:lnTo>
                  <a:pt x="35421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339108" y="910977"/>
            <a:ext cx="171450" cy="188595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3567708" y="902345"/>
            <a:ext cx="1219795" cy="160273"/>
          </a:xfrm>
          <a:prstGeom prst="roundRect">
            <a:avLst>
              <a:gd name="adj" fmla="val 89541"/>
            </a:avLst>
          </a:prstGeom>
          <a:solidFill>
            <a:srgbClr val="FAB753">
              <a:alpha val="13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PLAY · 10 MINUTES</a:t>
            </a:r>
            <a:endParaRPr lang="en-US" sz="620" dirty="0"/>
          </a:p>
        </p:txBody>
      </p:sp>
      <p:sp>
        <p:nvSpPr>
          <p:cNvPr id="17" name="Text 14"/>
          <p:cNvSpPr/>
          <p:nvPr/>
        </p:nvSpPr>
        <p:spPr>
          <a:xfrm>
            <a:off x="3339108" y="1155948"/>
            <a:ext cx="299591" cy="299591"/>
          </a:xfrm>
          <a:prstGeom prst="ellipse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2609" y="1239450"/>
            <a:ext cx="132588" cy="1325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39108" y="1534269"/>
            <a:ext cx="2712199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Role Play</a:t>
            </a:r>
            <a:endParaRPr lang="en-US" sz="960" dirty="0"/>
          </a:p>
        </p:txBody>
      </p:sp>
      <p:sp>
        <p:nvSpPr>
          <p:cNvPr id="20" name="Text 16"/>
          <p:cNvSpPr/>
          <p:nvPr/>
        </p:nvSpPr>
        <p:spPr>
          <a:xfrm>
            <a:off x="3956596" y="1756618"/>
            <a:ext cx="159012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2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INQ-FAD3 screener (3 questions)</a:t>
            </a:r>
            <a:endParaRPr lang="en-US" sz="730" dirty="0"/>
          </a:p>
        </p:txBody>
      </p:sp>
      <p:sp>
        <p:nvSpPr>
          <p:cNvPr id="21" name="Text 17"/>
          <p:cNvSpPr/>
          <p:nvPr/>
        </p:nvSpPr>
        <p:spPr>
          <a:xfrm>
            <a:off x="4424958" y="1900238"/>
            <a:ext cx="148273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2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assessment (16 questions)</a:t>
            </a:r>
            <a:endParaRPr lang="en-US" sz="730" dirty="0"/>
          </a:p>
        </p:txBody>
      </p:sp>
      <p:sp>
        <p:nvSpPr>
          <p:cNvPr id="22" name="Text 18"/>
          <p:cNvSpPr/>
          <p:nvPr/>
        </p:nvSpPr>
        <p:spPr>
          <a:xfrm>
            <a:off x="3339108" y="2361456"/>
            <a:ext cx="2465636" cy="311185"/>
          </a:xfrm>
          <a:prstGeom prst="rect">
            <a:avLst/>
          </a:prstGeom>
          <a:solidFill>
            <a:srgbClr val="1B5E72">
              <a:alpha val="8000"/>
            </a:srgbClr>
          </a:solidFill>
          <a:ln/>
        </p:spPr>
        <p:txBody>
          <a:bodyPr wrap="square" lIns="57150" tIns="35560" rIns="57150" bIns="3556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Items 7, 8, 10, 13, and 14 are reverse-scored on the belongingness subscale.</a:t>
            </a:r>
            <a:endParaRPr lang="en-US" sz="650" dirty="0"/>
          </a:p>
        </p:txBody>
      </p:sp>
      <p:sp>
        <p:nvSpPr>
          <p:cNvPr id="23" name="Text 19"/>
          <p:cNvSpPr/>
          <p:nvPr/>
        </p:nvSpPr>
        <p:spPr>
          <a:xfrm>
            <a:off x="3339108" y="2361456"/>
            <a:ext cx="19050" cy="302121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3397300" y="2969865"/>
            <a:ext cx="136404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2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Burdensomeness</a:t>
            </a:r>
            <a:endParaRPr lang="en-US" sz="730" dirty="0"/>
          </a:p>
        </p:txBody>
      </p:sp>
      <p:sp>
        <p:nvSpPr>
          <p:cNvPr id="25" name="Text 21"/>
          <p:cNvSpPr/>
          <p:nvPr/>
        </p:nvSpPr>
        <p:spPr>
          <a:xfrm>
            <a:off x="3397300" y="3113484"/>
            <a:ext cx="121080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2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Thwarted Belongingness</a:t>
            </a:r>
            <a:endParaRPr lang="en-US" sz="730" dirty="0"/>
          </a:p>
        </p:txBody>
      </p:sp>
      <p:sp>
        <p:nvSpPr>
          <p:cNvPr id="26" name="Text 22"/>
          <p:cNvSpPr/>
          <p:nvPr/>
        </p:nvSpPr>
        <p:spPr>
          <a:xfrm>
            <a:off x="6105674" y="758875"/>
            <a:ext cx="2780556" cy="3948559"/>
          </a:xfrm>
          <a:prstGeom prst="roundRect">
            <a:avLst>
              <a:gd name="adj" fmla="val 2558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105674" y="758875"/>
            <a:ext cx="35421" cy="3948559"/>
          </a:xfrm>
          <a:custGeom>
            <a:avLst/>
            <a:gdLst/>
            <a:ahLst/>
            <a:cxnLst/>
            <a:rect l="l" t="t" r="r" b="b"/>
            <a:pathLst>
              <a:path w="35421" h="3948559">
                <a:moveTo>
                  <a:pt x="31608" y="11986"/>
                </a:move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lnTo>
                  <a:pt x="0" y="3877439"/>
                </a:lnTo>
                <a:lnTo>
                  <a:pt x="1367" y="3891314"/>
                </a:lnTo>
                <a:lnTo>
                  <a:pt x="5414" y="3904655"/>
                </a:lnTo>
                <a:lnTo>
                  <a:pt x="11986" y="3916951"/>
                </a:lnTo>
                <a:lnTo>
                  <a:pt x="20831" y="3927728"/>
                </a:lnTo>
                <a:lnTo>
                  <a:pt x="31608" y="3936573"/>
                </a:lnTo>
                <a:lnTo>
                  <a:pt x="35421" y="3948559"/>
                </a:lnTo>
                <a:lnTo>
                  <a:pt x="35421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263134" y="910977"/>
            <a:ext cx="171450" cy="188595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80" dirty="0"/>
          </a:p>
        </p:txBody>
      </p:sp>
      <p:sp>
        <p:nvSpPr>
          <p:cNvPr id="29" name="Text 25"/>
          <p:cNvSpPr/>
          <p:nvPr/>
        </p:nvSpPr>
        <p:spPr>
          <a:xfrm>
            <a:off x="6491734" y="902345"/>
            <a:ext cx="1609279" cy="160273"/>
          </a:xfrm>
          <a:prstGeom prst="roundRect">
            <a:avLst>
              <a:gd name="adj" fmla="val 89541"/>
            </a:avLst>
          </a:prstGeom>
          <a:solidFill>
            <a:srgbClr val="FAB753">
              <a:alpha val="13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DISCUSSION · 10 MINUTES</a:t>
            </a:r>
            <a:endParaRPr lang="en-US" sz="620" dirty="0"/>
          </a:p>
        </p:txBody>
      </p:sp>
      <p:sp>
        <p:nvSpPr>
          <p:cNvPr id="30" name="Text 26"/>
          <p:cNvSpPr/>
          <p:nvPr/>
        </p:nvSpPr>
        <p:spPr>
          <a:xfrm>
            <a:off x="6263134" y="1155948"/>
            <a:ext cx="299591" cy="299591"/>
          </a:xfrm>
          <a:prstGeom prst="ellipse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6635" y="1239450"/>
            <a:ext cx="132588" cy="13258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263134" y="1534269"/>
            <a:ext cx="2712199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Group Discussion</a:t>
            </a:r>
            <a:endParaRPr lang="en-US" sz="960" dirty="0"/>
          </a:p>
        </p:txBody>
      </p:sp>
      <p:sp>
        <p:nvSpPr>
          <p:cNvPr id="33" name="Text 28"/>
          <p:cNvSpPr/>
          <p:nvPr/>
        </p:nvSpPr>
        <p:spPr>
          <a:xfrm>
            <a:off x="6263134" y="1737568"/>
            <a:ext cx="2514948" cy="2983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2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enroll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client in the Moderate Risk Pathway? </a:t>
            </a:r>
            <a:r>
              <a:rPr lang="en-US" sz="73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you?</a:t>
            </a:r>
            <a:br/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did your </a:t>
            </a: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tell you? What did the </a:t>
            </a: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tell you that the score did not?</a:t>
            </a:r>
            <a:br/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you and your partner scored </a:t>
            </a: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differently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why? What does </a:t>
            </a: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judgment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 here that the number cannot?</a:t>
            </a:r>
            <a:endParaRPr lang="en-US" sz="730" dirty="0"/>
          </a:p>
        </p:txBody>
      </p:sp>
      <p:sp>
        <p:nvSpPr>
          <p:cNvPr id="34" name="Text 29"/>
          <p:cNvSpPr/>
          <p:nvPr/>
        </p:nvSpPr>
        <p:spPr>
          <a:xfrm>
            <a:off x="-91440" y="4835575"/>
            <a:ext cx="9326880" cy="307925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lIns="342900" tIns="78740" rIns="342900" bIns="78740" rtlCol="0" anchor="t"/>
          <a:lstStyle/>
          <a:p>
            <a:pPr marL="0" indent="0" algn="ctr">
              <a:buNone/>
            </a:pPr>
            <a:r>
              <a:rPr lang="en-US" sz="790" b="1" kern="0" spc="8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INQ captures what clients often cannot say directly. Learning to read it takes practice. This is that practice.</a:t>
            </a:r>
            <a:endParaRPr lang="en-US" sz="7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" y="0"/>
            <a:ext cx="9086850" cy="35421"/>
          </a:xfrm>
          <a:prstGeom prst="rect">
            <a:avLst/>
          </a:prstGeom>
          <a:solidFill>
            <a:srgbClr val="1B5E72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41725" y="1213842"/>
            <a:ext cx="122946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88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DISCUSSION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2091355" y="1423839"/>
            <a:ext cx="5018440" cy="362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2"/>
              </a:lnSpc>
              <a:spcAft>
                <a:spcPts val="1580"/>
              </a:spcAft>
              <a:buNone/>
            </a:pPr>
            <a:r>
              <a:rPr lang="en-US" sz="248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Would You Enroll? Should You?</a:t>
            </a:r>
            <a:endParaRPr lang="en-US" sz="2480" dirty="0"/>
          </a:p>
        </p:txBody>
      </p:sp>
      <p:sp>
        <p:nvSpPr>
          <p:cNvPr id="6" name="Text 4"/>
          <p:cNvSpPr/>
          <p:nvPr/>
        </p:nvSpPr>
        <p:spPr>
          <a:xfrm>
            <a:off x="2886075" y="2008138"/>
            <a:ext cx="1601539" cy="1012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FAB753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4281" y="1946904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13536" y="2008138"/>
            <a:ext cx="1601539" cy="1012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FAB753"/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029825" y="2240459"/>
            <a:ext cx="7141500" cy="614139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t"/>
          <a:lstStyle/>
          <a:p>
            <a:pPr marL="0" indent="0" algn="ctr">
              <a:lnSpc>
                <a:spcPts val="1536"/>
              </a:lnSpc>
              <a:buNone/>
            </a:pPr>
            <a:r>
              <a:rPr lang="en-US" sz="9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both role plays, take a few minutes with your partner to compare your enrollment decisions. Did you arrive at the same conclusion? If not — what drove the difference? Was it the score, the conversation, a gut feeling, or something the client said that the assessment didn't fully capture?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4429125" y="2939653"/>
            <a:ext cx="342900" cy="7590"/>
          </a:xfrm>
          <a:prstGeom prst="rect">
            <a:avLst/>
          </a:prstGeom>
          <a:solidFill>
            <a:srgbClr val="EAF4F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029825" y="3061543"/>
            <a:ext cx="7141500" cy="614139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t"/>
          <a:lstStyle/>
          <a:p>
            <a:pPr marL="0" indent="0" algn="ctr">
              <a:lnSpc>
                <a:spcPts val="1536"/>
              </a:lnSpc>
              <a:buNone/>
            </a:pPr>
            <a:r>
              <a:rPr lang="en-US" sz="9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pathways are designed to reduce the chance that risk goes undetected. But they are not designed to override your clinical reasoning. The question </a:t>
            </a:r>
            <a:r>
              <a:rPr lang="en-US" sz="9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"would you enroll?"</a:t>
            </a:r>
            <a:r>
              <a:rPr lang="en-US" sz="9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about the data. The question </a:t>
            </a:r>
            <a:r>
              <a:rPr lang="en-US" sz="96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"should you enroll?"</a:t>
            </a:r>
            <a:r>
              <a:rPr lang="en-US" sz="9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about the whole picture — the score, the relationship, the context, and your clinical judgment working together.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4429125" y="3760738"/>
            <a:ext cx="342900" cy="7590"/>
          </a:xfrm>
          <a:prstGeom prst="rect">
            <a:avLst/>
          </a:prstGeom>
          <a:solidFill>
            <a:srgbClr val="EAF4F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029825" y="3882628"/>
            <a:ext cx="7141500" cy="409426"/>
          </a:xfrm>
          <a:prstGeom prst="rect">
            <a:avLst/>
          </a:prstGeom>
          <a:noFill/>
          <a:ln/>
        </p:spPr>
        <p:txBody>
          <a:bodyPr wrap="square" lIns="57150" tIns="0" rIns="57150" bIns="0" rtlCol="0" anchor="t"/>
          <a:lstStyle/>
          <a:p>
            <a:pPr marL="0" indent="0" algn="ctr">
              <a:lnSpc>
                <a:spcPts val="1536"/>
              </a:lnSpc>
              <a:buNone/>
            </a:pPr>
            <a:r>
              <a:rPr lang="en-US" sz="9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doubt: enroll, consult, and document your rationale. Stepping up is always easier to justify than stepping down. Your supervisor is your partner in these decisions — use them.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57150" y="4770388"/>
            <a:ext cx="9086850" cy="373112"/>
          </a:xfrm>
          <a:prstGeom prst="rect">
            <a:avLst/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446" y="4890576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1984" y="4876949"/>
            <a:ext cx="8297034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wrong answer in this discussion. There is only the work of thinking it through — and that is exactly what we are building today.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3967" y="4890576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5E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0" y="0"/>
            <a:ext cx="2857500" cy="2571750"/>
          </a:xfrm>
          <a:prstGeom prst="ellipse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429000"/>
            <a:ext cx="1857966" cy="1714500"/>
          </a:xfrm>
          <a:prstGeom prst="ellipse">
            <a:avLst/>
          </a:prstGeom>
          <a:noFill/>
          <a:ln w="9525">
            <a:solidFill>
              <a:srgbClr val="FAB753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1000720"/>
            <a:ext cx="91440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FFFFF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FAB753"/>
              </a:gs>
              <a:gs pos="50000">
                <a:srgbClr val="F9C97A"/>
              </a:gs>
              <a:gs pos="100000">
                <a:srgbClr val="FAB753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84091" y="1039564"/>
            <a:ext cx="195339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12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VIOLENCE RISK PATHWAY</a:t>
            </a:r>
            <a:endParaRPr lang="en-US" sz="62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9227" y="1032281"/>
            <a:ext cx="132588" cy="132588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2185" y="1032281"/>
            <a:ext cx="132588" cy="132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89013" y="1394222"/>
            <a:ext cx="29170" cy="457200"/>
          </a:xfrm>
          <a:prstGeom prst="roundRect">
            <a:avLst>
              <a:gd name="adj" fmla="val 47892"/>
            </a:avLst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1561654" y="1415802"/>
            <a:ext cx="413891" cy="413891"/>
          </a:xfrm>
          <a:prstGeom prst="ellipse">
            <a:avLst/>
          </a:prstGeom>
          <a:solidFill>
            <a:srgbClr val="FAB753">
              <a:alpha val="15000"/>
            </a:srgbClr>
          </a:solidFill>
          <a:ln w="9525">
            <a:solidFill>
              <a:srgbClr val="FAB753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3366" y="1547515"/>
            <a:ext cx="150465" cy="1504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119015" y="1285726"/>
            <a:ext cx="5572598" cy="707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55"/>
              </a:lnSpc>
              <a:buNone/>
            </a:pPr>
            <a:r>
              <a:rPr lang="en-US" sz="2250" kern="0" spc="-22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Keeping Everyone Safe —</a:t>
            </a:r>
            <a:br/>
            <a:r>
              <a:rPr lang="en-US" sz="2250" kern="0" spc="-22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Including the People Around Our Clients.</a:t>
            </a:r>
            <a:endParaRPr lang="en-US" sz="2250" dirty="0"/>
          </a:p>
        </p:txBody>
      </p:sp>
      <p:sp>
        <p:nvSpPr>
          <p:cNvPr id="13" name="Text 8"/>
          <p:cNvSpPr/>
          <p:nvPr/>
        </p:nvSpPr>
        <p:spPr>
          <a:xfrm>
            <a:off x="7725817" y="1394222"/>
            <a:ext cx="29170" cy="457200"/>
          </a:xfrm>
          <a:prstGeom prst="roundRect">
            <a:avLst>
              <a:gd name="adj" fmla="val 47892"/>
            </a:avLst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1729913" y="2117378"/>
            <a:ext cx="5684175" cy="646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17"/>
              </a:lnSpc>
              <a:spcAft>
                <a:spcPts val="1460"/>
              </a:spcAft>
              <a:buNone/>
            </a:pPr>
            <a:r>
              <a:rPr lang="en-US" sz="98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Violence Risk Pathway is a separate but equally important track in our prevention program. It exists to identify clients who may pose a risk of harm to others — and to put a structured response in place quickly.</a:t>
            </a:r>
            <a:endParaRPr lang="en-US" sz="980" dirty="0"/>
          </a:p>
        </p:txBody>
      </p:sp>
      <p:sp>
        <p:nvSpPr>
          <p:cNvPr id="15" name="Text 10"/>
          <p:cNvSpPr/>
          <p:nvPr/>
        </p:nvSpPr>
        <p:spPr>
          <a:xfrm>
            <a:off x="1642765" y="2918371"/>
            <a:ext cx="5858470" cy="883146"/>
          </a:xfrm>
          <a:prstGeom prst="roundRect">
            <a:avLst>
              <a:gd name="adj" fmla="val 8053"/>
            </a:avLst>
          </a:prstGeom>
          <a:solidFill>
            <a:srgbClr val="EAF4F4">
              <a:alpha val="14000"/>
            </a:srgbClr>
          </a:solidFill>
          <a:ln w="9525">
            <a:solidFill>
              <a:srgbClr val="FAB753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2777" y="3091913"/>
            <a:ext cx="132588" cy="132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142381" y="3085356"/>
            <a:ext cx="5193390" cy="576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2"/>
              </a:lnSpc>
              <a:buNone/>
            </a:pPr>
            <a:r>
              <a:rPr lang="en-US" sz="93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93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RROVS (Rapid Risk of Violence Screener)</a:t>
            </a:r>
            <a:r>
              <a:rPr lang="en-US" sz="93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screened at intake for every client </a:t>
            </a:r>
            <a:r>
              <a:rPr lang="en-US" sz="93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93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6 months thereafter. A positive screen requires a structured response </a:t>
            </a:r>
            <a:r>
              <a:rPr lang="en-US" sz="93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one week.</a:t>
            </a:r>
            <a:r>
              <a:rPr lang="en-US" sz="93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is not optional.</a:t>
            </a:r>
            <a:endParaRPr lang="en-US" sz="930" dirty="0"/>
          </a:p>
        </p:txBody>
      </p:sp>
      <p:sp>
        <p:nvSpPr>
          <p:cNvPr id="18" name="Text 12"/>
          <p:cNvSpPr/>
          <p:nvPr/>
        </p:nvSpPr>
        <p:spPr>
          <a:xfrm>
            <a:off x="1371942" y="3958977"/>
            <a:ext cx="6400115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40"/>
              </a:lnSpc>
              <a:buNone/>
            </a:pPr>
            <a:r>
              <a:rPr lang="en-US" sz="760" i="1" kern="0" spc="8" dirty="0">
                <a:solidFill>
                  <a:srgbClr val="FFFFFF">
                    <a:alpha val="5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RROVS is a screening instrument only — not a full violence risk assessment. A positive result opens a process, not a conclusion.</a:t>
            </a:r>
            <a:endParaRPr lang="en-US" sz="760" dirty="0"/>
          </a:p>
        </p:txBody>
      </p:sp>
      <p:sp>
        <p:nvSpPr>
          <p:cNvPr id="19" name="Text 13"/>
          <p:cNvSpPr/>
          <p:nvPr/>
        </p:nvSpPr>
        <p:spPr>
          <a:xfrm>
            <a:off x="0" y="512192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AB753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1652290" y="3100760"/>
            <a:ext cx="29170" cy="518369"/>
          </a:xfrm>
          <a:custGeom>
            <a:avLst/>
            <a:gdLst/>
            <a:ahLst/>
            <a:cxnLst/>
            <a:rect l="l" t="t" r="r" b="b"/>
            <a:pathLst>
              <a:path w="29170" h="518369">
                <a:moveTo>
                  <a:pt x="0" y="0"/>
                </a:moveTo>
                <a:lnTo>
                  <a:pt x="15200" y="0"/>
                </a:lnTo>
                <a:lnTo>
                  <a:pt x="15200" y="0"/>
                </a:lnTo>
                <a:lnTo>
                  <a:pt x="17926" y="268"/>
                </a:lnTo>
                <a:lnTo>
                  <a:pt x="20546" y="1063"/>
                </a:lnTo>
                <a:lnTo>
                  <a:pt x="22962" y="2354"/>
                </a:lnTo>
                <a:lnTo>
                  <a:pt x="25079" y="4092"/>
                </a:lnTo>
                <a:lnTo>
                  <a:pt x="26816" y="6209"/>
                </a:lnTo>
                <a:lnTo>
                  <a:pt x="28107" y="8624"/>
                </a:lnTo>
                <a:lnTo>
                  <a:pt x="28902" y="11245"/>
                </a:lnTo>
                <a:lnTo>
                  <a:pt x="29170" y="13970"/>
                </a:lnTo>
                <a:lnTo>
                  <a:pt x="29170" y="504399"/>
                </a:lnTo>
                <a:lnTo>
                  <a:pt x="29170" y="504399"/>
                </a:lnTo>
                <a:lnTo>
                  <a:pt x="28902" y="507124"/>
                </a:lnTo>
                <a:lnTo>
                  <a:pt x="28107" y="509745"/>
                </a:lnTo>
                <a:lnTo>
                  <a:pt x="26816" y="512160"/>
                </a:lnTo>
                <a:lnTo>
                  <a:pt x="25079" y="514277"/>
                </a:lnTo>
                <a:lnTo>
                  <a:pt x="22962" y="516014"/>
                </a:lnTo>
                <a:lnTo>
                  <a:pt x="20546" y="517305"/>
                </a:lnTo>
                <a:lnTo>
                  <a:pt x="17926" y="518100"/>
                </a:lnTo>
                <a:lnTo>
                  <a:pt x="15200" y="518369"/>
                </a:lnTo>
                <a:lnTo>
                  <a:pt x="0" y="518369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429470" cy="5143500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7770" y="961579"/>
            <a:ext cx="210532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spcAft>
                <a:spcPts val="1130"/>
              </a:spcAft>
              <a:buNone/>
            </a:pPr>
            <a:r>
              <a:rPr lang="en-US" sz="620" b="1" kern="0" spc="74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VIOLENCE RISK</a:t>
            </a:r>
            <a:endParaRPr lang="en-US" sz="620" dirty="0"/>
          </a:p>
        </p:txBody>
      </p:sp>
      <p:sp>
        <p:nvSpPr>
          <p:cNvPr id="4" name="Text 2"/>
          <p:cNvSpPr/>
          <p:nvPr/>
        </p:nvSpPr>
        <p:spPr>
          <a:xfrm>
            <a:off x="257770" y="1223070"/>
            <a:ext cx="1952208" cy="81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8"/>
              </a:lnSpc>
              <a:spcAft>
                <a:spcPts val="900"/>
              </a:spcAft>
              <a:buNone/>
            </a:pPr>
            <a:r>
              <a:rPr lang="en-US" sz="169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RROVS —</a:t>
            </a:r>
            <a:br/>
            <a:r>
              <a:rPr lang="en-US" sz="169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Screen and</a:t>
            </a:r>
            <a:br/>
            <a:r>
              <a:rPr lang="en-US" sz="169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Respond</a:t>
            </a:r>
            <a:endParaRPr lang="en-US" sz="1690" dirty="0"/>
          </a:p>
        </p:txBody>
      </p:sp>
      <p:sp>
        <p:nvSpPr>
          <p:cNvPr id="5" name="Text 3"/>
          <p:cNvSpPr/>
          <p:nvPr/>
        </p:nvSpPr>
        <p:spPr>
          <a:xfrm>
            <a:off x="257770" y="2109788"/>
            <a:ext cx="1952208" cy="315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FFFFFF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Risk of Violence Screener</a:t>
            </a:r>
            <a:br/>
            <a:r>
              <a:rPr lang="en-US" sz="790" dirty="0">
                <a:solidFill>
                  <a:srgbClr val="FFFFFF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items, scored 0 to 2 each.</a:t>
            </a:r>
            <a:endParaRPr lang="en-US" sz="790" dirty="0"/>
          </a:p>
        </p:txBody>
      </p:sp>
      <p:sp>
        <p:nvSpPr>
          <p:cNvPr id="6" name="Text 4"/>
          <p:cNvSpPr/>
          <p:nvPr/>
        </p:nvSpPr>
        <p:spPr>
          <a:xfrm>
            <a:off x="257770" y="2611338"/>
            <a:ext cx="1913930" cy="314920"/>
          </a:xfrm>
          <a:prstGeom prst="roundRect">
            <a:avLst>
              <a:gd name="adj" fmla="val 18147"/>
            </a:avLst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4091" y="2668488"/>
            <a:ext cx="200620" cy="22068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615702" y="2712690"/>
            <a:ext cx="295171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257770" y="2983409"/>
            <a:ext cx="1913930" cy="314920"/>
          </a:xfrm>
          <a:prstGeom prst="roundRect">
            <a:avLst>
              <a:gd name="adj" fmla="val 18147"/>
            </a:avLst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4091" y="3040559"/>
            <a:ext cx="200620" cy="220682"/>
          </a:xfrm>
          <a:prstGeom prst="ellipse">
            <a:avLst/>
          </a:prstGeom>
          <a:solidFill>
            <a:srgbClr val="FAB753">
              <a:alpha val="5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615702" y="3084761"/>
            <a:ext cx="1101120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Possibly / partially present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257770" y="3355479"/>
            <a:ext cx="1913930" cy="314920"/>
          </a:xfrm>
          <a:prstGeom prst="roundRect">
            <a:avLst>
              <a:gd name="adj" fmla="val 18147"/>
            </a:avLst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4091" y="3412629"/>
            <a:ext cx="200620" cy="220682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615702" y="3456831"/>
            <a:ext cx="732443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Definitely present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257770" y="3770709"/>
            <a:ext cx="1913930" cy="411063"/>
          </a:xfrm>
          <a:prstGeom prst="roundRect">
            <a:avLst>
              <a:gd name="adj" fmla="val 13903"/>
            </a:avLst>
          </a:prstGeom>
          <a:solidFill>
            <a:srgbClr val="FAB753">
              <a:alpha val="1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7770" y="3770709"/>
            <a:ext cx="19050" cy="411063"/>
          </a:xfrm>
          <a:custGeom>
            <a:avLst/>
            <a:gdLst/>
            <a:ahLst/>
            <a:cxnLst/>
            <a:rect l="l" t="t" r="r" b="b"/>
            <a:pathLst>
              <a:path w="19050" h="411063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96510"/>
                </a:lnTo>
                <a:lnTo>
                  <a:pt x="16669" y="394254"/>
                </a:lnTo>
                <a:lnTo>
                  <a:pt x="14288" y="391714"/>
                </a:lnTo>
                <a:lnTo>
                  <a:pt x="11906" y="388829"/>
                </a:lnTo>
                <a:lnTo>
                  <a:pt x="9525" y="385504"/>
                </a:lnTo>
                <a:lnTo>
                  <a:pt x="7144" y="381581"/>
                </a:lnTo>
                <a:lnTo>
                  <a:pt x="4763" y="376753"/>
                </a:lnTo>
                <a:lnTo>
                  <a:pt x="2381" y="370238"/>
                </a:lnTo>
                <a:lnTo>
                  <a:pt x="0" y="353913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3141" y="3835450"/>
            <a:ext cx="189446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RELIABILITY ESTIMATE</a:t>
            </a:r>
            <a:endParaRPr lang="en-US" sz="560" dirty="0"/>
          </a:p>
        </p:txBody>
      </p:sp>
      <p:sp>
        <p:nvSpPr>
          <p:cNvPr id="18" name="Text 16"/>
          <p:cNvSpPr/>
          <p:nvPr/>
        </p:nvSpPr>
        <p:spPr>
          <a:xfrm>
            <a:off x="363141" y="3971330"/>
            <a:ext cx="289024" cy="160273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695325" y="3971330"/>
            <a:ext cx="411212" cy="160273"/>
          </a:xfrm>
          <a:prstGeom prst="roundRect">
            <a:avLst>
              <a:gd name="adj" fmla="val 4437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1149697" y="3971330"/>
            <a:ext cx="271463" cy="160273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620" dirty="0"/>
          </a:p>
        </p:txBody>
      </p:sp>
      <p:sp>
        <p:nvSpPr>
          <p:cNvPr id="21" name="Text 19"/>
          <p:cNvSpPr/>
          <p:nvPr/>
        </p:nvSpPr>
        <p:spPr>
          <a:xfrm>
            <a:off x="2429470" y="0"/>
            <a:ext cx="6848820" cy="482500"/>
          </a:xfrm>
          <a:prstGeom prst="rect">
            <a:avLst/>
          </a:prstGeom>
          <a:noFill/>
          <a:ln/>
        </p:spPr>
        <p:txBody>
          <a:bodyPr wrap="none" lIns="257810" tIns="157480" rIns="257810" bIns="10033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RROVS Covers Eight Areas: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2429470" y="472976"/>
            <a:ext cx="6714530" cy="9525"/>
          </a:xfrm>
          <a:prstGeom prst="rect">
            <a:avLst/>
          </a:prstGeom>
          <a:solidFill>
            <a:srgbClr val="EAF4F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687241" y="610493"/>
            <a:ext cx="185291" cy="203820"/>
          </a:xfrm>
          <a:prstGeom prst="roundRect">
            <a:avLst>
              <a:gd name="adj" fmla="val 23304"/>
            </a:avLst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20" dirty="0"/>
          </a:p>
        </p:txBody>
      </p:sp>
      <p:sp>
        <p:nvSpPr>
          <p:cNvPr id="24" name="Text 22"/>
          <p:cNvSpPr/>
          <p:nvPr/>
        </p:nvSpPr>
        <p:spPr>
          <a:xfrm>
            <a:off x="2943523" y="602903"/>
            <a:ext cx="2841784" cy="375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Violence</a:t>
            </a: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intentionally injured someone requiring medical treatment? Arrested for assault?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43885" y="610493"/>
            <a:ext cx="185291" cy="203820"/>
          </a:xfrm>
          <a:prstGeom prst="roundRect">
            <a:avLst>
              <a:gd name="adj" fmla="val 23304"/>
            </a:avLst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6100167" y="602903"/>
            <a:ext cx="1802130" cy="2415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 Abuse</a:t>
            </a: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client recently been drunk or high?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87241" y="1667768"/>
            <a:ext cx="185291" cy="203820"/>
          </a:xfrm>
          <a:prstGeom prst="roundRect">
            <a:avLst>
              <a:gd name="adj" fmla="val 23304"/>
            </a:avLst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2943523" y="1660178"/>
            <a:ext cx="2070616" cy="2415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Interpersonal Conflict</a:t>
            </a: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conflicts in close relationships or at work?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43885" y="1667768"/>
            <a:ext cx="185291" cy="203820"/>
          </a:xfrm>
          <a:prstGeom prst="roundRect">
            <a:avLst>
              <a:gd name="adj" fmla="val 23304"/>
            </a:avLst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20" dirty="0"/>
          </a:p>
        </p:txBody>
      </p:sp>
      <p:sp>
        <p:nvSpPr>
          <p:cNvPr id="30" name="Text 28"/>
          <p:cNvSpPr/>
          <p:nvPr/>
        </p:nvSpPr>
        <p:spPr>
          <a:xfrm>
            <a:off x="6100167" y="1660178"/>
            <a:ext cx="2623959" cy="2415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 and Impulsivity</a:t>
            </a: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client lose their temper easily or act without thinking?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87241" y="2608659"/>
            <a:ext cx="185291" cy="203820"/>
          </a:xfrm>
          <a:prstGeom prst="roundRect">
            <a:avLst>
              <a:gd name="adj" fmla="val 23304"/>
            </a:avLst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2943523" y="2601069"/>
            <a:ext cx="2841784" cy="375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someone the client has thoughts about hurting or would like to see hurt?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43885" y="2608659"/>
            <a:ext cx="185291" cy="203820"/>
          </a:xfrm>
          <a:prstGeom prst="roundRect">
            <a:avLst>
              <a:gd name="adj" fmla="val 23304"/>
            </a:avLst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6100167" y="2601069"/>
            <a:ext cx="2841784" cy="375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Noncompliance</a:t>
            </a: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Unwilling to take psychiatric medication as prescribed in the last 6 months?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687241" y="3666083"/>
            <a:ext cx="185291" cy="203820"/>
          </a:xfrm>
          <a:prstGeom prst="roundRect">
            <a:avLst>
              <a:gd name="adj" fmla="val 23304"/>
            </a:avLst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20" dirty="0"/>
          </a:p>
        </p:txBody>
      </p:sp>
      <p:sp>
        <p:nvSpPr>
          <p:cNvPr id="36" name="Text 34"/>
          <p:cNvSpPr/>
          <p:nvPr/>
        </p:nvSpPr>
        <p:spPr>
          <a:xfrm>
            <a:off x="2943523" y="3658493"/>
            <a:ext cx="2841784" cy="375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Mental/Behavioral Status</a:t>
            </a: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symptoms of psychosis, mania, or dementia — based on your direct observation?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843885" y="3666083"/>
            <a:ext cx="185291" cy="203820"/>
          </a:xfrm>
          <a:prstGeom prst="roundRect">
            <a:avLst>
              <a:gd name="adj" fmla="val 23304"/>
            </a:avLst>
          </a:prstGeom>
          <a:solidFill>
            <a:srgbClr val="1B5E72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20" dirty="0"/>
          </a:p>
        </p:txBody>
      </p:sp>
      <p:sp>
        <p:nvSpPr>
          <p:cNvPr id="38" name="Text 36"/>
          <p:cNvSpPr/>
          <p:nvPr/>
        </p:nvSpPr>
        <p:spPr>
          <a:xfrm>
            <a:off x="6100167" y="3658493"/>
            <a:ext cx="2841784" cy="375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73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Key</a:t>
            </a: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absent · 1 = possibly/partially present · 2 = definitely present. Note reliability estimate.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429470" y="4737497"/>
            <a:ext cx="6714530" cy="406003"/>
          </a:xfrm>
          <a:prstGeom prst="rect">
            <a:avLst/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4748" y="4874130"/>
            <a:ext cx="132588" cy="132588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2881164" y="4816227"/>
            <a:ext cx="6125167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RROVS is </a:t>
            </a: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POSITIVE:</a:t>
            </a:r>
            <a:r>
              <a:rPr lang="en-US" sz="700" b="1" dirty="0">
                <a:solidFill>
                  <a:srgbClr val="1B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Within 1 week — complete the Structural Clinical Risk form + Support Crisis Plan. · Disenroll using the Clinical Pathway Disenrollment form when criteria are met.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1143000" y="0"/>
            <a:ext cx="1857966" cy="1286466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0" y="4143966"/>
            <a:ext cx="999490" cy="999534"/>
          </a:xfrm>
          <a:prstGeom prst="ellipse">
            <a:avLst/>
          </a:prstGeom>
          <a:solidFill>
            <a:srgbClr val="FAB753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1495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lIns="342900" tIns="128270" rIns="342900" bIns="100330" rtlCol="0" anchor="t"/>
          <a:lstStyle/>
          <a:p>
            <a:pPr marL="0" indent="0" algn="l">
              <a:buNone/>
            </a:pPr>
            <a:r>
              <a:rPr lang="en-US" sz="1460" b="1" kern="0" spc="15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Practice Activity · Pair Role Play</a:t>
            </a:r>
            <a:endParaRPr lang="en-US" sz="1460" dirty="0"/>
          </a:p>
          <a:p>
            <a:pPr marL="0" indent="0" algn="l">
              <a:buNone/>
            </a:pPr>
            <a:r>
              <a:rPr lang="en-US" sz="840" b="1" kern="0" spc="34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RROVS — Administer, Score, and Respond</a:t>
            </a:r>
            <a:endParaRPr lang="en-US" sz="1460" dirty="0"/>
          </a:p>
        </p:txBody>
      </p:sp>
      <p:sp>
        <p:nvSpPr>
          <p:cNvPr id="3" name="Text 1"/>
          <p:cNvSpPr/>
          <p:nvPr/>
        </p:nvSpPr>
        <p:spPr>
          <a:xfrm>
            <a:off x="257770" y="775990"/>
            <a:ext cx="2771180" cy="2122884"/>
          </a:xfrm>
          <a:prstGeom prst="roundRect">
            <a:avLst>
              <a:gd name="adj" fmla="val 3350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5230" y="933450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658" y="1016877"/>
            <a:ext cx="132588" cy="1325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5813" y="1010394"/>
            <a:ext cx="603120" cy="145703"/>
          </a:xfrm>
          <a:prstGeom prst="roundRect">
            <a:avLst>
              <a:gd name="adj" fmla="val 20048"/>
            </a:avLst>
          </a:prstGeom>
          <a:solidFill>
            <a:srgbClr val="FAB753"/>
          </a:solidFill>
          <a:ln/>
        </p:spPr>
        <p:txBody>
          <a:bodyPr wrap="none" lIns="64770" tIns="13970" rIns="64770" bIns="13970" rtlCol="0" anchor="t"/>
          <a:lstStyle/>
          <a:p>
            <a:pPr marL="0" indent="0" algn="l">
              <a:buNone/>
            </a:pPr>
            <a:r>
              <a:rPr lang="en-US" sz="620" b="1" kern="0" spc="37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</a:t>
            </a:r>
            <a:endParaRPr lang="en-US" sz="620" dirty="0"/>
          </a:p>
        </p:txBody>
      </p:sp>
      <p:sp>
        <p:nvSpPr>
          <p:cNvPr id="7" name="Text 4"/>
          <p:cNvSpPr/>
          <p:nvPr/>
        </p:nvSpPr>
        <p:spPr>
          <a:xfrm>
            <a:off x="415230" y="1317873"/>
            <a:ext cx="270188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Up</a:t>
            </a:r>
            <a:endParaRPr lang="en-US" sz="960" dirty="0"/>
          </a:p>
        </p:txBody>
      </p:sp>
      <p:sp>
        <p:nvSpPr>
          <p:cNvPr id="8" name="Text 5"/>
          <p:cNvSpPr/>
          <p:nvPr/>
        </p:nvSpPr>
        <p:spPr>
          <a:xfrm>
            <a:off x="415230" y="1535013"/>
            <a:ext cx="2505385" cy="1281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1"/>
              </a:lnSpc>
              <a:buNone/>
            </a:pP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facilitator will provide a RROVS scenario. </a:t>
            </a:r>
            <a:r>
              <a:rPr lang="en-US" sz="76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note: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RROVS is administered </a:t>
            </a:r>
            <a:r>
              <a:rPr lang="en-US" sz="76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clinician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reading items verbatim to the client. Item 8 (current mental/behavioral status) is based on the clinician's </a:t>
            </a:r>
            <a:r>
              <a:rPr lang="en-US" sz="76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observation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the client's report. </a:t>
            </a:r>
            <a:br/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Switch roles again so each person practices as the clinician.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3186410" y="775990"/>
            <a:ext cx="2771180" cy="2122884"/>
          </a:xfrm>
          <a:prstGeom prst="roundRect">
            <a:avLst>
              <a:gd name="adj" fmla="val 3350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343870" y="933450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7297" y="1016877"/>
            <a:ext cx="132588" cy="132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14452" y="1010394"/>
            <a:ext cx="652457" cy="145703"/>
          </a:xfrm>
          <a:prstGeom prst="roundRect">
            <a:avLst>
              <a:gd name="adj" fmla="val 20048"/>
            </a:avLst>
          </a:prstGeom>
          <a:solidFill>
            <a:srgbClr val="FAB753"/>
          </a:solidFill>
          <a:ln/>
        </p:spPr>
        <p:txBody>
          <a:bodyPr wrap="none" lIns="64770" tIns="13970" rIns="64770" bIns="13970" rtlCol="0" anchor="t"/>
          <a:lstStyle/>
          <a:p>
            <a:pPr marL="0" indent="0" algn="l">
              <a:buNone/>
            </a:pPr>
            <a:r>
              <a:rPr lang="en-US" sz="620" b="1" kern="0" spc="37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620" dirty="0"/>
          </a:p>
        </p:txBody>
      </p:sp>
      <p:sp>
        <p:nvSpPr>
          <p:cNvPr id="13" name="Text 9"/>
          <p:cNvSpPr/>
          <p:nvPr/>
        </p:nvSpPr>
        <p:spPr>
          <a:xfrm>
            <a:off x="3343870" y="1317873"/>
            <a:ext cx="270188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Role Play</a:t>
            </a:r>
            <a:endParaRPr lang="en-US" sz="960" dirty="0"/>
          </a:p>
        </p:txBody>
      </p:sp>
      <p:sp>
        <p:nvSpPr>
          <p:cNvPr id="14" name="Text 10"/>
          <p:cNvSpPr/>
          <p:nvPr/>
        </p:nvSpPr>
        <p:spPr>
          <a:xfrm>
            <a:off x="3343870" y="1535013"/>
            <a:ext cx="2505385" cy="1121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1"/>
              </a:lnSpc>
              <a:buNone/>
            </a:pP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 all </a:t>
            </a:r>
            <a:r>
              <a:rPr lang="en-US" sz="76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RROVS items verbatim.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 each item 0, 1, or 2. Note your sources of information for each item (individual, records, family, other). </a:t>
            </a:r>
            <a:br/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Calculate the total score. Document your estimate of </a:t>
            </a:r>
            <a:r>
              <a:rPr lang="en-US" sz="76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reliability.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Then discuss: is this a positive screen? What is your next step?</a:t>
            </a:r>
            <a:endParaRPr lang="en-US" sz="760" dirty="0"/>
          </a:p>
        </p:txBody>
      </p:sp>
      <p:sp>
        <p:nvSpPr>
          <p:cNvPr id="15" name="Text 11"/>
          <p:cNvSpPr/>
          <p:nvPr/>
        </p:nvSpPr>
        <p:spPr>
          <a:xfrm>
            <a:off x="6115050" y="775990"/>
            <a:ext cx="2771180" cy="2122884"/>
          </a:xfrm>
          <a:prstGeom prst="roundRect">
            <a:avLst>
              <a:gd name="adj" fmla="val 3350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272510" y="933450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5937" y="1016877"/>
            <a:ext cx="132588" cy="132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43092" y="1010394"/>
            <a:ext cx="652457" cy="145703"/>
          </a:xfrm>
          <a:prstGeom prst="roundRect">
            <a:avLst>
              <a:gd name="adj" fmla="val 20048"/>
            </a:avLst>
          </a:prstGeom>
          <a:solidFill>
            <a:srgbClr val="FAB753"/>
          </a:solidFill>
          <a:ln/>
        </p:spPr>
        <p:txBody>
          <a:bodyPr wrap="none" lIns="64770" tIns="13970" rIns="64770" bIns="13970" rtlCol="0" anchor="t"/>
          <a:lstStyle/>
          <a:p>
            <a:pPr marL="0" indent="0" algn="l">
              <a:buNone/>
            </a:pPr>
            <a:r>
              <a:rPr lang="en-US" sz="620" b="1" kern="0" spc="37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620" dirty="0"/>
          </a:p>
        </p:txBody>
      </p:sp>
      <p:sp>
        <p:nvSpPr>
          <p:cNvPr id="19" name="Text 14"/>
          <p:cNvSpPr/>
          <p:nvPr/>
        </p:nvSpPr>
        <p:spPr>
          <a:xfrm>
            <a:off x="6272510" y="1317873"/>
            <a:ext cx="2701885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Group Discussion</a:t>
            </a:r>
            <a:endParaRPr lang="en-US" sz="960" dirty="0"/>
          </a:p>
        </p:txBody>
      </p:sp>
      <p:sp>
        <p:nvSpPr>
          <p:cNvPr id="20" name="Text 15"/>
          <p:cNvSpPr/>
          <p:nvPr/>
        </p:nvSpPr>
        <p:spPr>
          <a:xfrm>
            <a:off x="6272510" y="1535013"/>
            <a:ext cx="2505385" cy="1121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1"/>
              </a:lnSpc>
              <a:buNone/>
            </a:pP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RROVS requires a response within </a:t>
            </a:r>
            <a:r>
              <a:rPr lang="en-US" sz="76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week.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your partner, discuss: what does that response look like in a </a:t>
            </a:r>
            <a:r>
              <a:rPr lang="en-US" sz="76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school-based setting?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/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Who do you notify? What do you tell the school? How do you balance client confidentiality with school safety? </a:t>
            </a:r>
            <a:r>
              <a:rPr lang="en-US" sz="76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your first call?</a:t>
            </a:r>
            <a:endParaRPr lang="en-US" sz="760" dirty="0"/>
          </a:p>
        </p:txBody>
      </p:sp>
      <p:sp>
        <p:nvSpPr>
          <p:cNvPr id="21" name="Text 16"/>
          <p:cNvSpPr/>
          <p:nvPr/>
        </p:nvSpPr>
        <p:spPr>
          <a:xfrm>
            <a:off x="257770" y="3027015"/>
            <a:ext cx="8628459" cy="325487"/>
          </a:xfrm>
          <a:prstGeom prst="roundRect">
            <a:avLst>
              <a:gd name="adj" fmla="val 17558"/>
            </a:avLst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9087" y="3123465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07055" y="3119586"/>
            <a:ext cx="8748221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06"/>
              </a:lnSpc>
              <a:buNone/>
            </a:pPr>
            <a:r>
              <a:rPr lang="en-US" sz="79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school-based therapists: a positive RROVS affects school safety as well as clinical safety. Update your school contact when violence risk is identified.</a:t>
            </a:r>
            <a:endParaRPr lang="en-US" sz="79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56915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750" y="185142"/>
            <a:ext cx="200620" cy="200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6680" y="100310"/>
            <a:ext cx="3466628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06"/>
              </a:lnSpc>
              <a:buNone/>
            </a:pPr>
            <a:r>
              <a:rPr lang="en-US" sz="1460" b="1" kern="0" spc="29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Tools of the Trade</a:t>
            </a:r>
            <a:endParaRPr lang="en-US" sz="1460" dirty="0"/>
          </a:p>
        </p:txBody>
      </p:sp>
      <p:sp>
        <p:nvSpPr>
          <p:cNvPr id="5" name="Text 2"/>
          <p:cNvSpPr/>
          <p:nvPr/>
        </p:nvSpPr>
        <p:spPr>
          <a:xfrm>
            <a:off x="586680" y="325785"/>
            <a:ext cx="3563823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spcBef>
                <a:spcPts val="170"/>
              </a:spcBef>
              <a:buNone/>
            </a:pPr>
            <a:r>
              <a:rPr lang="en-US" sz="760" i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required interventions at enrollment on any suicide prevention pathway.</a:t>
            </a:r>
            <a:endParaRPr lang="en-US" sz="760" dirty="0"/>
          </a:p>
        </p:txBody>
      </p:sp>
      <p:sp>
        <p:nvSpPr>
          <p:cNvPr id="6" name="Text 3"/>
          <p:cNvSpPr/>
          <p:nvPr/>
        </p:nvSpPr>
        <p:spPr>
          <a:xfrm>
            <a:off x="4562475" y="556915"/>
            <a:ext cx="19050" cy="3821311"/>
          </a:xfrm>
          <a:prstGeom prst="rect">
            <a:avLst/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0" y="556915"/>
            <a:ext cx="4653725" cy="307628"/>
          </a:xfrm>
          <a:prstGeom prst="rect">
            <a:avLst/>
          </a:prstGeom>
          <a:solidFill>
            <a:srgbClr val="1B5E72"/>
          </a:solidFill>
          <a:ln/>
        </p:spPr>
        <p:txBody>
          <a:bodyPr wrap="none" lIns="372070" tIns="71120" rIns="157480" bIns="71120" rtlCol="0" anchor="ctr"/>
          <a:lstStyle/>
          <a:p>
            <a:pPr marL="0" indent="0" algn="l">
              <a:buNone/>
            </a:pPr>
            <a:r>
              <a:rPr lang="en-US" sz="870" b="1" kern="0" spc="9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Stanley-Brown Safety Plan</a:t>
            </a:r>
            <a:endParaRPr lang="en-US" sz="87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460" y="638919"/>
            <a:ext cx="143470" cy="1434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0" y="864543"/>
            <a:ext cx="4562475" cy="3513683"/>
          </a:xfrm>
          <a:prstGeom prst="rect">
            <a:avLst/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157460" y="986433"/>
            <a:ext cx="117217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40" dirty="0"/>
          </a:p>
        </p:txBody>
      </p:sp>
      <p:sp>
        <p:nvSpPr>
          <p:cNvPr id="11" name="Text 7"/>
          <p:cNvSpPr/>
          <p:nvPr/>
        </p:nvSpPr>
        <p:spPr>
          <a:xfrm>
            <a:off x="328761" y="978843"/>
            <a:ext cx="4101286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form — a clinical conversation. Completed collaboratively with the client at enrollment.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157460" y="1187351"/>
            <a:ext cx="117217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40" dirty="0"/>
          </a:p>
        </p:txBody>
      </p:sp>
      <p:sp>
        <p:nvSpPr>
          <p:cNvPr id="13" name="Text 9"/>
          <p:cNvSpPr/>
          <p:nvPr/>
        </p:nvSpPr>
        <p:spPr>
          <a:xfrm>
            <a:off x="328761" y="1189286"/>
            <a:ext cx="78745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components: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322411" y="1321147"/>
            <a:ext cx="647751" cy="121444"/>
          </a:xfrm>
          <a:prstGeom prst="roundRect">
            <a:avLst>
              <a:gd name="adj" fmla="val 17778"/>
            </a:avLst>
          </a:prstGeom>
          <a:solidFill>
            <a:srgbClr val="1B5E72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signs</a:t>
            </a:r>
            <a:endParaRPr lang="en-US" sz="620" dirty="0"/>
          </a:p>
        </p:txBody>
      </p:sp>
      <p:sp>
        <p:nvSpPr>
          <p:cNvPr id="15" name="Text 11"/>
          <p:cNvSpPr/>
          <p:nvPr/>
        </p:nvSpPr>
        <p:spPr>
          <a:xfrm>
            <a:off x="982349" y="1321147"/>
            <a:ext cx="1084493" cy="121444"/>
          </a:xfrm>
          <a:prstGeom prst="roundRect">
            <a:avLst>
              <a:gd name="adj" fmla="val 17778"/>
            </a:avLst>
          </a:prstGeom>
          <a:solidFill>
            <a:srgbClr val="1B5E72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coping strategies</a:t>
            </a:r>
            <a:endParaRPr lang="en-US" sz="620" dirty="0"/>
          </a:p>
        </p:txBody>
      </p:sp>
      <p:sp>
        <p:nvSpPr>
          <p:cNvPr id="16" name="Text 12"/>
          <p:cNvSpPr/>
          <p:nvPr/>
        </p:nvSpPr>
        <p:spPr>
          <a:xfrm>
            <a:off x="2073006" y="1321147"/>
            <a:ext cx="1262104" cy="121444"/>
          </a:xfrm>
          <a:prstGeom prst="roundRect">
            <a:avLst>
              <a:gd name="adj" fmla="val 17778"/>
            </a:avLst>
          </a:prstGeom>
          <a:solidFill>
            <a:srgbClr val="1B5E72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contacts for distraction</a:t>
            </a:r>
            <a:endParaRPr lang="en-US" sz="620" dirty="0"/>
          </a:p>
        </p:txBody>
      </p:sp>
      <p:sp>
        <p:nvSpPr>
          <p:cNvPr id="17" name="Text 13"/>
          <p:cNvSpPr/>
          <p:nvPr/>
        </p:nvSpPr>
        <p:spPr>
          <a:xfrm>
            <a:off x="3342705" y="1321147"/>
            <a:ext cx="938608" cy="121444"/>
          </a:xfrm>
          <a:prstGeom prst="roundRect">
            <a:avLst>
              <a:gd name="adj" fmla="val 17778"/>
            </a:avLst>
          </a:prstGeom>
          <a:solidFill>
            <a:srgbClr val="1B5E72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to ask for help</a:t>
            </a:r>
            <a:endParaRPr lang="en-US" sz="620" dirty="0"/>
          </a:p>
        </p:txBody>
      </p:sp>
      <p:sp>
        <p:nvSpPr>
          <p:cNvPr id="18" name="Text 14"/>
          <p:cNvSpPr/>
          <p:nvPr/>
        </p:nvSpPr>
        <p:spPr>
          <a:xfrm>
            <a:off x="315459" y="1471761"/>
            <a:ext cx="1356830" cy="121444"/>
          </a:xfrm>
          <a:prstGeom prst="roundRect">
            <a:avLst>
              <a:gd name="adj" fmla="val 17778"/>
            </a:avLst>
          </a:prstGeom>
          <a:solidFill>
            <a:srgbClr val="1B5E72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&amp; crisis resources</a:t>
            </a:r>
            <a:endParaRPr lang="en-US" sz="620" dirty="0"/>
          </a:p>
        </p:txBody>
      </p:sp>
      <p:sp>
        <p:nvSpPr>
          <p:cNvPr id="19" name="Text 15"/>
          <p:cNvSpPr/>
          <p:nvPr/>
        </p:nvSpPr>
        <p:spPr>
          <a:xfrm>
            <a:off x="1676251" y="1471761"/>
            <a:ext cx="1214438" cy="121444"/>
          </a:xfrm>
          <a:prstGeom prst="roundRect">
            <a:avLst>
              <a:gd name="adj" fmla="val 17778"/>
            </a:avLst>
          </a:prstGeom>
          <a:solidFill>
            <a:srgbClr val="1B5E72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environment safe</a:t>
            </a:r>
            <a:endParaRPr lang="en-US" sz="620" dirty="0"/>
          </a:p>
        </p:txBody>
      </p:sp>
      <p:sp>
        <p:nvSpPr>
          <p:cNvPr id="20" name="Text 16"/>
          <p:cNvSpPr/>
          <p:nvPr/>
        </p:nvSpPr>
        <p:spPr>
          <a:xfrm>
            <a:off x="157460" y="1650206"/>
            <a:ext cx="117217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40" dirty="0"/>
          </a:p>
        </p:txBody>
      </p:sp>
      <p:sp>
        <p:nvSpPr>
          <p:cNvPr id="21" name="Text 17"/>
          <p:cNvSpPr/>
          <p:nvPr/>
        </p:nvSpPr>
        <p:spPr>
          <a:xfrm>
            <a:off x="328761" y="1642616"/>
            <a:ext cx="3074491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writes their own plan in their own words wherever possible.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157460" y="1851124"/>
            <a:ext cx="117217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40" dirty="0"/>
          </a:p>
        </p:txBody>
      </p:sp>
      <p:sp>
        <p:nvSpPr>
          <p:cNvPr id="23" name="Text 19"/>
          <p:cNvSpPr/>
          <p:nvPr/>
        </p:nvSpPr>
        <p:spPr>
          <a:xfrm>
            <a:off x="328761" y="1843534"/>
            <a:ext cx="3036838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regularly throughout the pathway as circumstances change.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157460" y="2052042"/>
            <a:ext cx="117217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40" dirty="0"/>
          </a:p>
        </p:txBody>
      </p:sp>
      <p:sp>
        <p:nvSpPr>
          <p:cNvPr id="25" name="Text 21"/>
          <p:cNvSpPr/>
          <p:nvPr/>
        </p:nvSpPr>
        <p:spPr>
          <a:xfrm>
            <a:off x="328761" y="2044452"/>
            <a:ext cx="3967207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copy goes with the client — they leave every enrollment session with their plan in hand.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157460" y="2274540"/>
            <a:ext cx="4247555" cy="7590"/>
          </a:xfrm>
          <a:prstGeom prst="rect">
            <a:avLst/>
          </a:prstGeom>
          <a:solidFill>
            <a:srgbClr val="1B5E72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157460" y="2339132"/>
            <a:ext cx="117217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40" dirty="0"/>
          </a:p>
        </p:txBody>
      </p:sp>
      <p:sp>
        <p:nvSpPr>
          <p:cNvPr id="28" name="Text 24"/>
          <p:cNvSpPr/>
          <p:nvPr/>
        </p:nvSpPr>
        <p:spPr>
          <a:xfrm>
            <a:off x="328761" y="2341066"/>
            <a:ext cx="333561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Resource: Stanley-Brown Safety Planning webinar available via NASMHPD.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328761" y="2458938"/>
            <a:ext cx="3335610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i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provided by your team lead.</a:t>
            </a:r>
            <a:endParaRPr lang="en-US" sz="650" dirty="0"/>
          </a:p>
        </p:txBody>
      </p:sp>
      <p:sp>
        <p:nvSpPr>
          <p:cNvPr id="30" name="Text 26"/>
          <p:cNvSpPr/>
          <p:nvPr/>
        </p:nvSpPr>
        <p:spPr>
          <a:xfrm>
            <a:off x="4581525" y="556915"/>
            <a:ext cx="4653725" cy="307628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lIns="372070" tIns="71120" rIns="157480" bIns="71120" rtlCol="0" anchor="ctr"/>
          <a:lstStyle/>
          <a:p>
            <a:pPr marL="0" indent="0" algn="l">
              <a:buNone/>
            </a:pPr>
            <a:r>
              <a:rPr lang="en-US" sz="870" b="1" kern="0" spc="9" dirty="0">
                <a:solidFill>
                  <a:srgbClr val="1B2B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CALM — Counseling on Access to Lethal Means</a:t>
            </a:r>
            <a:endParaRPr lang="en-US" sz="87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8985" y="638919"/>
            <a:ext cx="143470" cy="14347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581525" y="864543"/>
            <a:ext cx="4562475" cy="3513683"/>
          </a:xfrm>
          <a:prstGeom prst="rect">
            <a:avLst/>
          </a:prstGeom>
          <a:solidFill>
            <a:srgbClr val="FFFFFF"/>
          </a:solidFill>
          <a:ln w="9525">
            <a:solidFill>
              <a:srgbClr val="EAF4F4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4748510" y="995958"/>
            <a:ext cx="117217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40" dirty="0"/>
          </a:p>
        </p:txBody>
      </p:sp>
      <p:sp>
        <p:nvSpPr>
          <p:cNvPr id="34" name="Text 29"/>
          <p:cNvSpPr/>
          <p:nvPr/>
        </p:nvSpPr>
        <p:spPr>
          <a:xfrm>
            <a:off x="4919811" y="988368"/>
            <a:ext cx="3835092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at enrollment on any suicide prevention pathway — Urgent or Moderate Risk.</a:t>
            </a:r>
            <a:endParaRPr lang="en-US" sz="700" dirty="0"/>
          </a:p>
        </p:txBody>
      </p:sp>
      <p:sp>
        <p:nvSpPr>
          <p:cNvPr id="35" name="Text 30"/>
          <p:cNvSpPr/>
          <p:nvPr/>
        </p:nvSpPr>
        <p:spPr>
          <a:xfrm>
            <a:off x="4748510" y="1196876"/>
            <a:ext cx="117217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40" dirty="0"/>
          </a:p>
        </p:txBody>
      </p:sp>
      <p:sp>
        <p:nvSpPr>
          <p:cNvPr id="36" name="Text 31"/>
          <p:cNvSpPr/>
          <p:nvPr/>
        </p:nvSpPr>
        <p:spPr>
          <a:xfrm>
            <a:off x="4919811" y="1189286"/>
            <a:ext cx="4138348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clinical conversation about reducing access to the means most commonly used in suicide attempts.</a:t>
            </a:r>
            <a:endParaRPr lang="en-US" sz="700" dirty="0"/>
          </a:p>
        </p:txBody>
      </p:sp>
      <p:sp>
        <p:nvSpPr>
          <p:cNvPr id="37" name="Text 32"/>
          <p:cNvSpPr/>
          <p:nvPr/>
        </p:nvSpPr>
        <p:spPr>
          <a:xfrm>
            <a:off x="4748510" y="1485900"/>
            <a:ext cx="117217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4919811" y="1487835"/>
            <a:ext cx="36409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</a:t>
            </a:r>
            <a:endParaRPr lang="en-US" sz="700" dirty="0"/>
          </a:p>
        </p:txBody>
      </p:sp>
      <p:sp>
        <p:nvSpPr>
          <p:cNvPr id="39" name="Text 34"/>
          <p:cNvSpPr/>
          <p:nvPr/>
        </p:nvSpPr>
        <p:spPr>
          <a:xfrm>
            <a:off x="4915565" y="1619696"/>
            <a:ext cx="433099" cy="121444"/>
          </a:xfrm>
          <a:prstGeom prst="roundRect">
            <a:avLst>
              <a:gd name="adj" fmla="val 17778"/>
            </a:avLst>
          </a:prstGeom>
          <a:solidFill>
            <a:srgbClr val="FAB753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Firearms</a:t>
            </a:r>
            <a:endParaRPr lang="en-US" sz="620" dirty="0"/>
          </a:p>
        </p:txBody>
      </p:sp>
      <p:sp>
        <p:nvSpPr>
          <p:cNvPr id="40" name="Text 35"/>
          <p:cNvSpPr/>
          <p:nvPr/>
        </p:nvSpPr>
        <p:spPr>
          <a:xfrm>
            <a:off x="5356586" y="1619696"/>
            <a:ext cx="1734217" cy="121444"/>
          </a:xfrm>
          <a:prstGeom prst="roundRect">
            <a:avLst>
              <a:gd name="adj" fmla="val 17778"/>
            </a:avLst>
          </a:prstGeom>
          <a:solidFill>
            <a:srgbClr val="FAB753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 — lock, limit &amp; dispose safely</a:t>
            </a:r>
            <a:endParaRPr lang="en-US" sz="620" dirty="0"/>
          </a:p>
        </p:txBody>
      </p:sp>
      <p:sp>
        <p:nvSpPr>
          <p:cNvPr id="41" name="Text 36"/>
          <p:cNvSpPr/>
          <p:nvPr/>
        </p:nvSpPr>
        <p:spPr>
          <a:xfrm>
            <a:off x="7093384" y="1619696"/>
            <a:ext cx="977926" cy="121444"/>
          </a:xfrm>
          <a:prstGeom prst="roundRect">
            <a:avLst>
              <a:gd name="adj" fmla="val 17778"/>
            </a:avLst>
          </a:prstGeom>
          <a:solidFill>
            <a:srgbClr val="FAB753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household items</a:t>
            </a:r>
            <a:endParaRPr lang="en-US" sz="620" dirty="0"/>
          </a:p>
        </p:txBody>
      </p:sp>
      <p:sp>
        <p:nvSpPr>
          <p:cNvPr id="42" name="Text 37"/>
          <p:cNvSpPr/>
          <p:nvPr/>
        </p:nvSpPr>
        <p:spPr>
          <a:xfrm>
            <a:off x="4919811" y="1762720"/>
            <a:ext cx="3456102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i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Safety Sweep Checklist as your guide.</a:t>
            </a:r>
            <a:endParaRPr lang="en-US" sz="650" dirty="0"/>
          </a:p>
        </p:txBody>
      </p:sp>
      <p:sp>
        <p:nvSpPr>
          <p:cNvPr id="43" name="Text 38"/>
          <p:cNvSpPr/>
          <p:nvPr/>
        </p:nvSpPr>
        <p:spPr>
          <a:xfrm>
            <a:off x="4748510" y="1931194"/>
            <a:ext cx="117217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40" dirty="0"/>
          </a:p>
        </p:txBody>
      </p:sp>
      <p:sp>
        <p:nvSpPr>
          <p:cNvPr id="44" name="Text 39"/>
          <p:cNvSpPr/>
          <p:nvPr/>
        </p:nvSpPr>
        <p:spPr>
          <a:xfrm>
            <a:off x="4919811" y="1923604"/>
            <a:ext cx="4138348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not to take things away — it is to create time and space between the impulse and the action.</a:t>
            </a:r>
            <a:endParaRPr lang="en-US" sz="700" dirty="0"/>
          </a:p>
        </p:txBody>
      </p:sp>
      <p:sp>
        <p:nvSpPr>
          <p:cNvPr id="45" name="Text 40"/>
          <p:cNvSpPr/>
          <p:nvPr/>
        </p:nvSpPr>
        <p:spPr>
          <a:xfrm>
            <a:off x="4748510" y="2241798"/>
            <a:ext cx="4228505" cy="7590"/>
          </a:xfrm>
          <a:prstGeom prst="rect">
            <a:avLst/>
          </a:prstGeom>
          <a:solidFill>
            <a:srgbClr val="1B5E72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4748510" y="2306389"/>
            <a:ext cx="117217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b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40" dirty="0"/>
          </a:p>
        </p:txBody>
      </p:sp>
      <p:sp>
        <p:nvSpPr>
          <p:cNvPr id="47" name="Text 42"/>
          <p:cNvSpPr/>
          <p:nvPr/>
        </p:nvSpPr>
        <p:spPr>
          <a:xfrm>
            <a:off x="4919811" y="2308324"/>
            <a:ext cx="93953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 training:</a:t>
            </a:r>
            <a:endParaRPr lang="en-US" sz="700" dirty="0"/>
          </a:p>
        </p:txBody>
      </p:sp>
      <p:sp>
        <p:nvSpPr>
          <p:cNvPr id="48" name="Text 43"/>
          <p:cNvSpPr/>
          <p:nvPr/>
        </p:nvSpPr>
        <p:spPr>
          <a:xfrm>
            <a:off x="4919811" y="2432447"/>
            <a:ext cx="2536046" cy="116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b="1" i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training.sprc.org</a:t>
            </a:r>
            <a:r>
              <a:rPr lang="en-US" sz="680" i="1" dirty="0">
                <a:solidFill>
                  <a:srgbClr val="55A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Counseling on Access to Lethal Means</a:t>
            </a:r>
            <a:endParaRPr lang="en-US" sz="680" dirty="0"/>
          </a:p>
        </p:txBody>
      </p:sp>
      <p:sp>
        <p:nvSpPr>
          <p:cNvPr id="49" name="Text 44"/>
          <p:cNvSpPr/>
          <p:nvPr/>
        </p:nvSpPr>
        <p:spPr>
          <a:xfrm>
            <a:off x="0" y="4378226"/>
            <a:ext cx="9144000" cy="319980"/>
          </a:xfrm>
          <a:prstGeom prst="rect">
            <a:avLst/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5"/>
          <p:cNvSpPr/>
          <p:nvPr/>
        </p:nvSpPr>
        <p:spPr>
          <a:xfrm>
            <a:off x="0" y="4378226"/>
            <a:ext cx="9144000" cy="19050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3096" y="4476006"/>
            <a:ext cx="143470" cy="143470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315493" y="4485084"/>
            <a:ext cx="8742655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86"/>
              </a:lnSpc>
              <a:buNone/>
            </a:pPr>
            <a:r>
              <a:rPr lang="en-US" sz="73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interventions together — a personalized safety plan and a safer home environment — are among the most evidence-supported actions we can take to reduce suicide risk.</a:t>
            </a:r>
            <a:endParaRPr lang="en-US" sz="7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429470" cy="5143500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7770" y="1224111"/>
            <a:ext cx="2105323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83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OF THE TRADE</a:t>
            </a:r>
            <a:endParaRPr lang="en-US" sz="590" dirty="0"/>
          </a:p>
        </p:txBody>
      </p:sp>
      <p:sp>
        <p:nvSpPr>
          <p:cNvPr id="4" name="Text 2"/>
          <p:cNvSpPr/>
          <p:nvPr/>
        </p:nvSpPr>
        <p:spPr>
          <a:xfrm>
            <a:off x="257770" y="1464469"/>
            <a:ext cx="1952208" cy="50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6"/>
              </a:lnSpc>
              <a:buNone/>
            </a:pPr>
            <a:r>
              <a:rPr lang="en-US" sz="158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Safety Sweep Checklist</a:t>
            </a:r>
            <a:endParaRPr lang="en-US" sz="1580" dirty="0"/>
          </a:p>
        </p:txBody>
      </p:sp>
      <p:sp>
        <p:nvSpPr>
          <p:cNvPr id="5" name="Text 3"/>
          <p:cNvSpPr/>
          <p:nvPr/>
        </p:nvSpPr>
        <p:spPr>
          <a:xfrm>
            <a:off x="257770" y="2060079"/>
            <a:ext cx="1952208" cy="3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2"/>
              </a:lnSpc>
              <a:buNone/>
            </a:pPr>
            <a:r>
              <a:rPr lang="en-US" sz="730" dirty="0">
                <a:solidFill>
                  <a:srgbClr val="FFFFFF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thorough home safety sweep is part of every CALM conversation.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257770" y="2605088"/>
            <a:ext cx="1913930" cy="253305"/>
          </a:xfrm>
          <a:prstGeom prst="roundRect">
            <a:avLst>
              <a:gd name="adj" fmla="val 2256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738" y="2665446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2713" y="2669828"/>
            <a:ext cx="4015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Weapons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257770" y="2958703"/>
            <a:ext cx="1913930" cy="253305"/>
          </a:xfrm>
          <a:prstGeom prst="roundRect">
            <a:avLst>
              <a:gd name="adj" fmla="val 2256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738" y="3019062"/>
            <a:ext cx="132588" cy="132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2713" y="3023443"/>
            <a:ext cx="102826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Knives &amp; Sharp Objects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257770" y="3312319"/>
            <a:ext cx="1913930" cy="253305"/>
          </a:xfrm>
          <a:prstGeom prst="roundRect">
            <a:avLst>
              <a:gd name="adj" fmla="val 2256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738" y="3372677"/>
            <a:ext cx="132588" cy="132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2713" y="3377059"/>
            <a:ext cx="50914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Substances</a:t>
            </a:r>
            <a:endParaRPr lang="en-US" sz="650" dirty="0"/>
          </a:p>
        </p:txBody>
      </p:sp>
      <p:sp>
        <p:nvSpPr>
          <p:cNvPr id="15" name="Text 10"/>
          <p:cNvSpPr/>
          <p:nvPr/>
        </p:nvSpPr>
        <p:spPr>
          <a:xfrm>
            <a:off x="257770" y="3665934"/>
            <a:ext cx="1913930" cy="253305"/>
          </a:xfrm>
          <a:prstGeom prst="roundRect">
            <a:avLst>
              <a:gd name="adj" fmla="val 2256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9738" y="3726293"/>
            <a:ext cx="132588" cy="132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2713" y="3730675"/>
            <a:ext cx="74095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Choking Hazards</a:t>
            </a:r>
            <a:endParaRPr lang="en-US" sz="650" dirty="0"/>
          </a:p>
        </p:txBody>
      </p:sp>
      <p:sp>
        <p:nvSpPr>
          <p:cNvPr id="18" name="Text 12"/>
          <p:cNvSpPr/>
          <p:nvPr/>
        </p:nvSpPr>
        <p:spPr>
          <a:xfrm>
            <a:off x="2687241" y="200620"/>
            <a:ext cx="6818888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kern="0" spc="10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to Look For — Four Categories:</a:t>
            </a:r>
            <a:endParaRPr lang="en-US" sz="1010" dirty="0"/>
          </a:p>
        </p:txBody>
      </p:sp>
      <p:sp>
        <p:nvSpPr>
          <p:cNvPr id="19" name="Text 13"/>
          <p:cNvSpPr/>
          <p:nvPr/>
        </p:nvSpPr>
        <p:spPr>
          <a:xfrm>
            <a:off x="2687241" y="493365"/>
            <a:ext cx="3063925" cy="2068860"/>
          </a:xfrm>
          <a:prstGeom prst="roundRect">
            <a:avLst>
              <a:gd name="adj" fmla="val 3438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2687241" y="493365"/>
            <a:ext cx="19050" cy="2068860"/>
          </a:xfrm>
          <a:custGeom>
            <a:avLst/>
            <a:gdLst/>
            <a:ahLst/>
            <a:cxnLst/>
            <a:rect l="l" t="t" r="r" b="b"/>
            <a:pathLst>
              <a:path w="19050" h="2068860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2046183"/>
                </a:lnTo>
                <a:lnTo>
                  <a:pt x="16669" y="2043490"/>
                </a:lnTo>
                <a:lnTo>
                  <a:pt x="14288" y="2040496"/>
                </a:lnTo>
                <a:lnTo>
                  <a:pt x="11906" y="2037132"/>
                </a:lnTo>
                <a:lnTo>
                  <a:pt x="9525" y="2033294"/>
                </a:lnTo>
                <a:lnTo>
                  <a:pt x="7144" y="2028806"/>
                </a:lnTo>
                <a:lnTo>
                  <a:pt x="4763" y="2023328"/>
                </a:lnTo>
                <a:lnTo>
                  <a:pt x="2381" y="2015989"/>
                </a:lnTo>
                <a:lnTo>
                  <a:pt x="0" y="199774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91206" y="585722"/>
            <a:ext cx="132588" cy="132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965549" y="579686"/>
            <a:ext cx="477054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kern="0" spc="8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Weapons</a:t>
            </a:r>
            <a:endParaRPr lang="en-US" sz="760" dirty="0"/>
          </a:p>
        </p:txBody>
      </p:sp>
      <p:sp>
        <p:nvSpPr>
          <p:cNvPr id="23" name="Text 16"/>
          <p:cNvSpPr/>
          <p:nvPr/>
        </p:nvSpPr>
        <p:spPr>
          <a:xfrm>
            <a:off x="2806601" y="824508"/>
            <a:ext cx="35421" cy="3542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2891433" y="789087"/>
            <a:ext cx="887313" cy="117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3"/>
              </a:lnSpc>
              <a:buNone/>
            </a:pPr>
            <a:r>
              <a:rPr lang="en-US" sz="6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Guns and ammunition</a:t>
            </a:r>
            <a:endParaRPr lang="en-US" sz="650" dirty="0"/>
          </a:p>
        </p:txBody>
      </p:sp>
      <p:sp>
        <p:nvSpPr>
          <p:cNvPr id="25" name="Text 18"/>
          <p:cNvSpPr/>
          <p:nvPr/>
        </p:nvSpPr>
        <p:spPr>
          <a:xfrm>
            <a:off x="2806601" y="977205"/>
            <a:ext cx="35421" cy="3542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2891433" y="941784"/>
            <a:ext cx="473943" cy="117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3"/>
              </a:lnSpc>
              <a:buNone/>
            </a:pPr>
            <a:r>
              <a:rPr lang="en-US" sz="6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tools</a:t>
            </a:r>
            <a:endParaRPr lang="en-US" sz="650" dirty="0"/>
          </a:p>
        </p:txBody>
      </p:sp>
      <p:sp>
        <p:nvSpPr>
          <p:cNvPr id="27" name="Text 20"/>
          <p:cNvSpPr/>
          <p:nvPr/>
        </p:nvSpPr>
        <p:spPr>
          <a:xfrm>
            <a:off x="5822156" y="493365"/>
            <a:ext cx="3064073" cy="2068860"/>
          </a:xfrm>
          <a:prstGeom prst="roundRect">
            <a:avLst>
              <a:gd name="adj" fmla="val 3438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5822156" y="493365"/>
            <a:ext cx="19050" cy="2068860"/>
          </a:xfrm>
          <a:custGeom>
            <a:avLst/>
            <a:gdLst/>
            <a:ahLst/>
            <a:cxnLst/>
            <a:rect l="l" t="t" r="r" b="b"/>
            <a:pathLst>
              <a:path w="19050" h="2068860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2046183"/>
                </a:lnTo>
                <a:lnTo>
                  <a:pt x="16669" y="2043490"/>
                </a:lnTo>
                <a:lnTo>
                  <a:pt x="14288" y="2040496"/>
                </a:lnTo>
                <a:lnTo>
                  <a:pt x="11906" y="2037132"/>
                </a:lnTo>
                <a:lnTo>
                  <a:pt x="9525" y="2033294"/>
                </a:lnTo>
                <a:lnTo>
                  <a:pt x="7144" y="2028806"/>
                </a:lnTo>
                <a:lnTo>
                  <a:pt x="4763" y="2023328"/>
                </a:lnTo>
                <a:lnTo>
                  <a:pt x="2381" y="2015989"/>
                </a:lnTo>
                <a:lnTo>
                  <a:pt x="0" y="199774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6122" y="585722"/>
            <a:ext cx="132588" cy="13258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100465" y="579686"/>
            <a:ext cx="1226031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kern="0" spc="8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Knives &amp; Sharp Objects</a:t>
            </a:r>
            <a:endParaRPr lang="en-US" sz="760" dirty="0"/>
          </a:p>
        </p:txBody>
      </p:sp>
      <p:sp>
        <p:nvSpPr>
          <p:cNvPr id="31" name="Text 23"/>
          <p:cNvSpPr/>
          <p:nvPr/>
        </p:nvSpPr>
        <p:spPr>
          <a:xfrm>
            <a:off x="5941516" y="824508"/>
            <a:ext cx="35421" cy="3542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6026348" y="789087"/>
            <a:ext cx="1356018" cy="117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3"/>
              </a:lnSpc>
              <a:buNone/>
            </a:pPr>
            <a:r>
              <a:rPr lang="en-US" sz="6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knives, cleavers, skewers</a:t>
            </a:r>
            <a:endParaRPr lang="en-US" sz="650" dirty="0"/>
          </a:p>
        </p:txBody>
      </p:sp>
      <p:sp>
        <p:nvSpPr>
          <p:cNvPr id="33" name="Text 25"/>
          <p:cNvSpPr/>
          <p:nvPr/>
        </p:nvSpPr>
        <p:spPr>
          <a:xfrm>
            <a:off x="5941516" y="977205"/>
            <a:ext cx="35421" cy="3542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6026348" y="941784"/>
            <a:ext cx="1648405" cy="117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3"/>
              </a:lnSpc>
              <a:buNone/>
            </a:pPr>
            <a:r>
              <a:rPr lang="en-US" sz="6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knives, decorative knives, swords</a:t>
            </a:r>
            <a:endParaRPr lang="en-US" sz="650" dirty="0"/>
          </a:p>
        </p:txBody>
      </p:sp>
      <p:sp>
        <p:nvSpPr>
          <p:cNvPr id="35" name="Text 27"/>
          <p:cNvSpPr/>
          <p:nvPr/>
        </p:nvSpPr>
        <p:spPr>
          <a:xfrm>
            <a:off x="5941516" y="1129903"/>
            <a:ext cx="35421" cy="3542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6026348" y="1094482"/>
            <a:ext cx="1215226" cy="117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3"/>
              </a:lnSpc>
              <a:buNone/>
            </a:pPr>
            <a:r>
              <a:rPr lang="en-US" sz="6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blades and disposables</a:t>
            </a:r>
            <a:endParaRPr lang="en-US" sz="650" dirty="0"/>
          </a:p>
        </p:txBody>
      </p:sp>
      <p:sp>
        <p:nvSpPr>
          <p:cNvPr id="37" name="Text 29"/>
          <p:cNvSpPr/>
          <p:nvPr/>
        </p:nvSpPr>
        <p:spPr>
          <a:xfrm>
            <a:off x="5941516" y="1282601"/>
            <a:ext cx="35421" cy="3542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6026348" y="1247180"/>
            <a:ext cx="1623194" cy="117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3"/>
              </a:lnSpc>
              <a:buNone/>
            </a:pPr>
            <a:r>
              <a:rPr lang="en-US" sz="6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Manicuring tools, glass items, light bulbs</a:t>
            </a:r>
            <a:endParaRPr lang="en-US" sz="650" dirty="0"/>
          </a:p>
        </p:txBody>
      </p:sp>
      <p:sp>
        <p:nvSpPr>
          <p:cNvPr id="39" name="Text 31"/>
          <p:cNvSpPr/>
          <p:nvPr/>
        </p:nvSpPr>
        <p:spPr>
          <a:xfrm>
            <a:off x="5941516" y="1435298"/>
            <a:ext cx="35421" cy="3542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6026348" y="1399877"/>
            <a:ext cx="1935882" cy="117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3"/>
              </a:lnSpc>
              <a:buNone/>
            </a:pPr>
            <a:r>
              <a:rPr lang="en-US" sz="6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clips, pins, needles, pencils, nails, screws</a:t>
            </a:r>
            <a:endParaRPr lang="en-US" sz="650" dirty="0"/>
          </a:p>
        </p:txBody>
      </p:sp>
      <p:sp>
        <p:nvSpPr>
          <p:cNvPr id="41" name="Text 33"/>
          <p:cNvSpPr/>
          <p:nvPr/>
        </p:nvSpPr>
        <p:spPr>
          <a:xfrm>
            <a:off x="2687241" y="2633216"/>
            <a:ext cx="3063925" cy="2069009"/>
          </a:xfrm>
          <a:prstGeom prst="roundRect">
            <a:avLst>
              <a:gd name="adj" fmla="val 3437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2687241" y="2633216"/>
            <a:ext cx="19050" cy="2069009"/>
          </a:xfrm>
          <a:custGeom>
            <a:avLst/>
            <a:gdLst/>
            <a:ahLst/>
            <a:cxnLst/>
            <a:rect l="l" t="t" r="r" b="b"/>
            <a:pathLst>
              <a:path w="19050" h="2069009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2046332"/>
                </a:lnTo>
                <a:lnTo>
                  <a:pt x="16669" y="2043639"/>
                </a:lnTo>
                <a:lnTo>
                  <a:pt x="14288" y="2040645"/>
                </a:lnTo>
                <a:lnTo>
                  <a:pt x="11906" y="2037281"/>
                </a:lnTo>
                <a:lnTo>
                  <a:pt x="9525" y="2033443"/>
                </a:lnTo>
                <a:lnTo>
                  <a:pt x="7144" y="2028955"/>
                </a:lnTo>
                <a:lnTo>
                  <a:pt x="4763" y="2023476"/>
                </a:lnTo>
                <a:lnTo>
                  <a:pt x="2381" y="2016138"/>
                </a:lnTo>
                <a:lnTo>
                  <a:pt x="0" y="1997889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91206" y="2725573"/>
            <a:ext cx="132588" cy="13258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2965549" y="2719536"/>
            <a:ext cx="606222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kern="0" spc="8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Substances</a:t>
            </a:r>
            <a:endParaRPr lang="en-US" sz="760" dirty="0"/>
          </a:p>
        </p:txBody>
      </p:sp>
      <p:sp>
        <p:nvSpPr>
          <p:cNvPr id="45" name="Text 36"/>
          <p:cNvSpPr/>
          <p:nvPr/>
        </p:nvSpPr>
        <p:spPr>
          <a:xfrm>
            <a:off x="2806601" y="2964359"/>
            <a:ext cx="35421" cy="3542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7"/>
          <p:cNvSpPr/>
          <p:nvPr/>
        </p:nvSpPr>
        <p:spPr>
          <a:xfrm>
            <a:off x="2891433" y="2928938"/>
            <a:ext cx="2206332" cy="117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3"/>
              </a:lnSpc>
              <a:buNone/>
            </a:pPr>
            <a:r>
              <a:rPr lang="en-US" sz="6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medications — prescription and over-the-counter</a:t>
            </a:r>
            <a:endParaRPr lang="en-US" sz="650" dirty="0"/>
          </a:p>
        </p:txBody>
      </p:sp>
      <p:sp>
        <p:nvSpPr>
          <p:cNvPr id="47" name="Text 38"/>
          <p:cNvSpPr/>
          <p:nvPr/>
        </p:nvSpPr>
        <p:spPr>
          <a:xfrm>
            <a:off x="2806601" y="3117056"/>
            <a:ext cx="35421" cy="3542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9"/>
          <p:cNvSpPr/>
          <p:nvPr/>
        </p:nvSpPr>
        <p:spPr>
          <a:xfrm>
            <a:off x="2891433" y="3081635"/>
            <a:ext cx="2117601" cy="117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3"/>
              </a:lnSpc>
              <a:buNone/>
            </a:pPr>
            <a:r>
              <a:rPr lang="en-US" sz="6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Mouthwash, aerosols, cleaning and laundry products</a:t>
            </a:r>
            <a:endParaRPr lang="en-US" sz="650" dirty="0"/>
          </a:p>
        </p:txBody>
      </p:sp>
      <p:sp>
        <p:nvSpPr>
          <p:cNvPr id="49" name="Text 40"/>
          <p:cNvSpPr/>
          <p:nvPr/>
        </p:nvSpPr>
        <p:spPr>
          <a:xfrm>
            <a:off x="2806601" y="3269754"/>
            <a:ext cx="35421" cy="3542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1"/>
          <p:cNvSpPr/>
          <p:nvPr/>
        </p:nvSpPr>
        <p:spPr>
          <a:xfrm>
            <a:off x="2891433" y="3234333"/>
            <a:ext cx="1688842" cy="117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3"/>
              </a:lnSpc>
              <a:buNone/>
            </a:pPr>
            <a:r>
              <a:rPr lang="en-US" sz="6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Paint, solvents, lighters, matches, candles</a:t>
            </a:r>
            <a:endParaRPr lang="en-US" sz="650" dirty="0"/>
          </a:p>
        </p:txBody>
      </p:sp>
      <p:sp>
        <p:nvSpPr>
          <p:cNvPr id="51" name="Text 42"/>
          <p:cNvSpPr/>
          <p:nvPr/>
        </p:nvSpPr>
        <p:spPr>
          <a:xfrm>
            <a:off x="5822156" y="2633216"/>
            <a:ext cx="3064073" cy="2069009"/>
          </a:xfrm>
          <a:prstGeom prst="roundRect">
            <a:avLst>
              <a:gd name="adj" fmla="val 3437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3"/>
          <p:cNvSpPr/>
          <p:nvPr/>
        </p:nvSpPr>
        <p:spPr>
          <a:xfrm>
            <a:off x="5822156" y="2633216"/>
            <a:ext cx="19050" cy="2069009"/>
          </a:xfrm>
          <a:custGeom>
            <a:avLst/>
            <a:gdLst/>
            <a:ahLst/>
            <a:cxnLst/>
            <a:rect l="l" t="t" r="r" b="b"/>
            <a:pathLst>
              <a:path w="19050" h="2069009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2046332"/>
                </a:lnTo>
                <a:lnTo>
                  <a:pt x="16669" y="2043639"/>
                </a:lnTo>
                <a:lnTo>
                  <a:pt x="14288" y="2040645"/>
                </a:lnTo>
                <a:lnTo>
                  <a:pt x="11906" y="2037281"/>
                </a:lnTo>
                <a:lnTo>
                  <a:pt x="9525" y="2033443"/>
                </a:lnTo>
                <a:lnTo>
                  <a:pt x="7144" y="2028955"/>
                </a:lnTo>
                <a:lnTo>
                  <a:pt x="4763" y="2023476"/>
                </a:lnTo>
                <a:lnTo>
                  <a:pt x="2381" y="2016138"/>
                </a:lnTo>
                <a:lnTo>
                  <a:pt x="0" y="1997889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26122" y="2725573"/>
            <a:ext cx="132588" cy="132588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6100465" y="2719536"/>
            <a:ext cx="882566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kern="0" spc="8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Choking Hazards</a:t>
            </a:r>
            <a:endParaRPr lang="en-US" sz="760" dirty="0"/>
          </a:p>
        </p:txBody>
      </p:sp>
      <p:sp>
        <p:nvSpPr>
          <p:cNvPr id="55" name="Text 45"/>
          <p:cNvSpPr/>
          <p:nvPr/>
        </p:nvSpPr>
        <p:spPr>
          <a:xfrm>
            <a:off x="5941516" y="2964359"/>
            <a:ext cx="35421" cy="3542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6"/>
          <p:cNvSpPr/>
          <p:nvPr/>
        </p:nvSpPr>
        <p:spPr>
          <a:xfrm>
            <a:off x="6026348" y="2928938"/>
            <a:ext cx="1431816" cy="117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3"/>
              </a:lnSpc>
              <a:buNone/>
            </a:pPr>
            <a:r>
              <a:rPr lang="en-US" sz="6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Shoelaces, belts, chains, necklaces</a:t>
            </a:r>
            <a:endParaRPr lang="en-US" sz="650" dirty="0"/>
          </a:p>
        </p:txBody>
      </p:sp>
      <p:sp>
        <p:nvSpPr>
          <p:cNvPr id="57" name="Text 47"/>
          <p:cNvSpPr/>
          <p:nvPr/>
        </p:nvSpPr>
        <p:spPr>
          <a:xfrm>
            <a:off x="5941516" y="3117056"/>
            <a:ext cx="35421" cy="3542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48"/>
          <p:cNvSpPr/>
          <p:nvPr/>
        </p:nvSpPr>
        <p:spPr>
          <a:xfrm>
            <a:off x="6026348" y="3081635"/>
            <a:ext cx="1905595" cy="117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3"/>
              </a:lnSpc>
              <a:buNone/>
            </a:pPr>
            <a:r>
              <a:rPr lang="en-US" sz="6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cords, window blind and curtain cords</a:t>
            </a:r>
            <a:endParaRPr lang="en-US" sz="650" dirty="0"/>
          </a:p>
        </p:txBody>
      </p:sp>
      <p:sp>
        <p:nvSpPr>
          <p:cNvPr id="59" name="Text 49"/>
          <p:cNvSpPr/>
          <p:nvPr/>
        </p:nvSpPr>
        <p:spPr>
          <a:xfrm>
            <a:off x="5941516" y="3269754"/>
            <a:ext cx="35421" cy="35421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0"/>
          <p:cNvSpPr/>
          <p:nvPr/>
        </p:nvSpPr>
        <p:spPr>
          <a:xfrm>
            <a:off x="6026348" y="3234333"/>
            <a:ext cx="1315909" cy="1172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3"/>
              </a:lnSpc>
              <a:buNone/>
            </a:pPr>
            <a:r>
              <a:rPr lang="en-US" sz="6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linens, clothing, plastic bags</a:t>
            </a:r>
            <a:endParaRPr lang="en-US" sz="650" dirty="0"/>
          </a:p>
        </p:txBody>
      </p:sp>
      <p:sp>
        <p:nvSpPr>
          <p:cNvPr id="61" name="Text 51"/>
          <p:cNvSpPr/>
          <p:nvPr/>
        </p:nvSpPr>
        <p:spPr>
          <a:xfrm>
            <a:off x="2429470" y="4773216"/>
            <a:ext cx="6714530" cy="381393"/>
          </a:xfrm>
          <a:prstGeom prst="rect">
            <a:avLst/>
          </a:prstGeom>
          <a:solidFill>
            <a:srgbClr val="FAB753"/>
          </a:solidFill>
          <a:ln/>
        </p:spPr>
        <p:txBody>
          <a:bodyPr wrap="square" lIns="257810" tIns="71120" rIns="257810" bIns="71120" rtlCol="0" anchor="t"/>
          <a:lstStyle/>
          <a:p>
            <a:pPr marL="0" indent="0" algn="ctr">
              <a:lnSpc>
                <a:spcPts val="899"/>
              </a:lnSpc>
              <a:buNone/>
            </a:pPr>
            <a:r>
              <a:rPr lang="en-US" sz="620" b="1" dirty="0">
                <a:solidFill>
                  <a:srgbClr val="1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an all-inclusive list — it is a guide. The goal is a thorough, compassionate conversation with the family about creating a safer environment. | Online tutorial on means restriction: </a:t>
            </a:r>
            <a:r>
              <a:rPr lang="en-US" sz="620" b="1" u="sng" dirty="0">
                <a:solidFill>
                  <a:srgbClr val="1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www.hennepin.us/saferhome</a:t>
            </a:r>
            <a:endParaRPr lang="en-US" sz="620" dirty="0"/>
          </a:p>
        </p:txBody>
      </p:sp>
      <p:sp>
        <p:nvSpPr>
          <p:cNvPr id="62" name="Text 52"/>
          <p:cNvSpPr/>
          <p:nvPr/>
        </p:nvSpPr>
        <p:spPr>
          <a:xfrm>
            <a:off x="2407891" y="429260"/>
            <a:ext cx="21580" cy="4285059"/>
          </a:xfrm>
          <a:prstGeom prst="roundRect">
            <a:avLst>
              <a:gd name="adj" fmla="val 64736"/>
            </a:avLst>
          </a:prstGeom>
          <a:solidFill>
            <a:srgbClr val="FAB753">
              <a:alpha val="3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429470" cy="5143500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7770" y="1803499"/>
            <a:ext cx="2105323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7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SUICIDE-SPECIFIC TREATMENT</a:t>
            </a:r>
            <a:endParaRPr lang="en-US" sz="590" dirty="0"/>
          </a:p>
        </p:txBody>
      </p:sp>
      <p:sp>
        <p:nvSpPr>
          <p:cNvPr id="4" name="Text 2"/>
          <p:cNvSpPr/>
          <p:nvPr/>
        </p:nvSpPr>
        <p:spPr>
          <a:xfrm>
            <a:off x="257770" y="2059186"/>
            <a:ext cx="2009626" cy="486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30"/>
              </a:lnSpc>
              <a:buNone/>
            </a:pPr>
            <a:r>
              <a:rPr lang="en-US" sz="3830" b="1" kern="0" spc="153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RELATE</a:t>
            </a:r>
            <a:endParaRPr lang="en-US" sz="3830" dirty="0"/>
          </a:p>
        </p:txBody>
      </p:sp>
      <p:sp>
        <p:nvSpPr>
          <p:cNvPr id="5" name="Text 3"/>
          <p:cNvSpPr/>
          <p:nvPr/>
        </p:nvSpPr>
        <p:spPr>
          <a:xfrm>
            <a:off x="257770" y="2703016"/>
            <a:ext cx="1952208" cy="66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4"/>
              </a:lnSpc>
              <a:buNone/>
            </a:pPr>
            <a:r>
              <a:rPr lang="en-US" sz="760" i="1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corrective relational experience designed to open honest and restorative conversations about building a life worth living.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214610" y="4828580"/>
            <a:ext cx="57150" cy="57150"/>
          </a:xfrm>
          <a:prstGeom prst="ellipse">
            <a:avLst/>
          </a:prstGeom>
          <a:solidFill>
            <a:srgbClr val="FAB753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8910" y="4839444"/>
            <a:ext cx="35421" cy="35421"/>
          </a:xfrm>
          <a:prstGeom prst="ellipse">
            <a:avLst/>
          </a:prstGeom>
          <a:solidFill>
            <a:srgbClr val="FAB753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1481" y="4846290"/>
            <a:ext cx="21580" cy="21580"/>
          </a:xfrm>
          <a:prstGeom prst="ellipse">
            <a:avLst/>
          </a:prstGeom>
          <a:solidFill>
            <a:srgbClr val="FAB753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44391" y="228600"/>
            <a:ext cx="6725245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kern="0" spc="10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Six Steps of RELATE:</a:t>
            </a:r>
            <a:endParaRPr lang="en-US" sz="101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6168" y="524702"/>
            <a:ext cx="132588" cy="1325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31331" y="528935"/>
            <a:ext cx="220682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3367832" y="521345"/>
            <a:ext cx="5600227" cy="3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2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suicide risk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Drawing on the Interpersonal Theory of Suicide: thwarted belongingness, perceived burdensomeness, and acquired capability. Distinguishing chronic vs. acute suicidality.</a:t>
            </a:r>
            <a:endParaRPr lang="en-US" sz="73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6168" y="882932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31331" y="887164"/>
            <a:ext cx="220682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40" dirty="0"/>
          </a:p>
        </p:txBody>
      </p:sp>
      <p:sp>
        <p:nvSpPr>
          <p:cNvPr id="15" name="Text 11"/>
          <p:cNvSpPr/>
          <p:nvPr/>
        </p:nvSpPr>
        <p:spPr>
          <a:xfrm>
            <a:off x="3367832" y="879574"/>
            <a:ext cx="5600227" cy="3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2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patients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Setting a suicide-specific agenda. Using Zero Suicide philosophies of care. Managing your own energy as the clinician.</a:t>
            </a:r>
            <a:endParaRPr lang="en-US" sz="73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6168" y="1241161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031331" y="1245394"/>
            <a:ext cx="220682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40" dirty="0"/>
          </a:p>
        </p:txBody>
      </p:sp>
      <p:sp>
        <p:nvSpPr>
          <p:cNvPr id="18" name="Text 13"/>
          <p:cNvSpPr/>
          <p:nvPr/>
        </p:nvSpPr>
        <p:spPr>
          <a:xfrm>
            <a:off x="3367832" y="1237804"/>
            <a:ext cx="5600227" cy="3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2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with empathy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Conducting a narrative interview. Listening for ITS constructs in the client's story — not just responding to symptoms.</a:t>
            </a:r>
            <a:endParaRPr lang="en-US" sz="73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26168" y="1599390"/>
            <a:ext cx="132588" cy="132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031331" y="1603623"/>
            <a:ext cx="220682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40" dirty="0"/>
          </a:p>
        </p:txBody>
      </p:sp>
      <p:sp>
        <p:nvSpPr>
          <p:cNvPr id="21" name="Text 15"/>
          <p:cNvSpPr/>
          <p:nvPr/>
        </p:nvSpPr>
        <p:spPr>
          <a:xfrm>
            <a:off x="3367832" y="1596033"/>
            <a:ext cx="5600227" cy="3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2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suicidality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Administering the INQ, C-SSRS, and ACSS-FAD within the relational frame. Assessment as conversation, not interrogation.</a:t>
            </a:r>
            <a:endParaRPr lang="en-US" sz="73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26168" y="1957620"/>
            <a:ext cx="132588" cy="132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031331" y="1961852"/>
            <a:ext cx="220682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40" dirty="0"/>
          </a:p>
        </p:txBody>
      </p:sp>
      <p:sp>
        <p:nvSpPr>
          <p:cNvPr id="24" name="Text 17"/>
          <p:cNvSpPr/>
          <p:nvPr/>
        </p:nvSpPr>
        <p:spPr>
          <a:xfrm>
            <a:off x="3367832" y="1954262"/>
            <a:ext cx="5600227" cy="3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2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to care (Treat)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Motivational Interviewing. TACIT — Stanley-Brown Safety Planning. Counseling on Access to Lethal Means (CALM).</a:t>
            </a:r>
            <a:endParaRPr lang="en-US" sz="73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26168" y="2315849"/>
            <a:ext cx="132588" cy="13258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031331" y="2320082"/>
            <a:ext cx="220682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124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40" dirty="0"/>
          </a:p>
        </p:txBody>
      </p:sp>
      <p:sp>
        <p:nvSpPr>
          <p:cNvPr id="27" name="Text 19"/>
          <p:cNvSpPr/>
          <p:nvPr/>
        </p:nvSpPr>
        <p:spPr>
          <a:xfrm>
            <a:off x="3367832" y="2312491"/>
            <a:ext cx="4816867" cy="1436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2"/>
              </a:lnSpc>
              <a:buNone/>
            </a:pPr>
            <a:r>
              <a:rPr lang="en-US" sz="73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experience</a:t>
            </a: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Building greater trust over time. Saying goodbye thoughtfully at disenrollment.</a:t>
            </a:r>
            <a:endParaRPr lang="en-US" sz="730" dirty="0"/>
          </a:p>
        </p:txBody>
      </p:sp>
      <p:sp>
        <p:nvSpPr>
          <p:cNvPr id="28" name="Text 20"/>
          <p:cNvSpPr/>
          <p:nvPr/>
        </p:nvSpPr>
        <p:spPr>
          <a:xfrm>
            <a:off x="2429470" y="4735116"/>
            <a:ext cx="6714530" cy="420636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lIns="314960" tIns="71120" rIns="314960" bIns="7112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philosophies: Personhood  ·  Autonomy  ·  Collaboration  ·  Transparency   |   Master's level clinicians complete an additional BCBT for Suicide Prevention training.</a:t>
            </a:r>
            <a:endParaRPr lang="en-US" sz="700" dirty="0"/>
          </a:p>
        </p:txBody>
      </p:sp>
      <p:sp>
        <p:nvSpPr>
          <p:cNvPr id="29" name="Text 21"/>
          <p:cNvSpPr/>
          <p:nvPr/>
        </p:nvSpPr>
        <p:spPr>
          <a:xfrm>
            <a:off x="2400300" y="285750"/>
            <a:ext cx="29170" cy="4572000"/>
          </a:xfrm>
          <a:prstGeom prst="roundRect">
            <a:avLst>
              <a:gd name="adj" fmla="val 47892"/>
            </a:avLst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59135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128141"/>
            <a:ext cx="3233333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17"/>
              </a:lnSpc>
              <a:buNone/>
            </a:pPr>
            <a:r>
              <a:rPr lang="en-US" sz="1580" b="1" kern="0" spc="16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Resources and Crisis Contacts</a:t>
            </a:r>
            <a:endParaRPr lang="en-US" sz="1580" dirty="0"/>
          </a:p>
        </p:txBody>
      </p:sp>
      <p:sp>
        <p:nvSpPr>
          <p:cNvPr id="4" name="Text 2"/>
          <p:cNvSpPr/>
          <p:nvPr/>
        </p:nvSpPr>
        <p:spPr>
          <a:xfrm>
            <a:off x="3536156" y="185291"/>
            <a:ext cx="2364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36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these. Save them. Share them.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02605"/>
            <a:ext cx="2799904" cy="4147989"/>
          </a:xfrm>
          <a:prstGeom prst="roundRect">
            <a:avLst>
              <a:gd name="adj" fmla="val 2540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28600" y="602605"/>
            <a:ext cx="2799904" cy="19050"/>
          </a:xfrm>
          <a:custGeom>
            <a:avLst/>
            <a:gdLst/>
            <a:ahLst/>
            <a:cxnLst/>
            <a:rect l="l" t="t" r="r" b="b"/>
            <a:pathLst>
              <a:path w="2799904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777227" y="19050"/>
                </a:lnTo>
                <a:lnTo>
                  <a:pt x="2774534" y="16669"/>
                </a:lnTo>
                <a:lnTo>
                  <a:pt x="2771540" y="14288"/>
                </a:lnTo>
                <a:lnTo>
                  <a:pt x="2768176" y="11906"/>
                </a:lnTo>
                <a:lnTo>
                  <a:pt x="2764338" y="9525"/>
                </a:lnTo>
                <a:lnTo>
                  <a:pt x="2759849" y="7144"/>
                </a:lnTo>
                <a:lnTo>
                  <a:pt x="2754371" y="4763"/>
                </a:lnTo>
                <a:lnTo>
                  <a:pt x="2747033" y="2381"/>
                </a:lnTo>
                <a:lnTo>
                  <a:pt x="2728783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6060" y="765125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5572" y="834637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4141" y="834777"/>
            <a:ext cx="1803276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Clinical Learning Resources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386060" y="1107877"/>
            <a:ext cx="6286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790" dirty="0"/>
          </a:p>
        </p:txBody>
      </p:sp>
      <p:sp>
        <p:nvSpPr>
          <p:cNvPr id="11" name="Text 8"/>
          <p:cNvSpPr/>
          <p:nvPr/>
        </p:nvSpPr>
        <p:spPr>
          <a:xfrm>
            <a:off x="486370" y="1107877"/>
            <a:ext cx="2432367" cy="437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nowmattersnow.org/skills — DBT skills videos for clients and families, suicide intervention trainings for clinicians. Free and high quality.</a:t>
            </a:r>
            <a:endParaRPr lang="en-US" sz="730" dirty="0"/>
          </a:p>
        </p:txBody>
      </p:sp>
      <p:sp>
        <p:nvSpPr>
          <p:cNvPr id="12" name="Text 9"/>
          <p:cNvSpPr/>
          <p:nvPr/>
        </p:nvSpPr>
        <p:spPr>
          <a:xfrm>
            <a:off x="386060" y="1554063"/>
            <a:ext cx="6286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486370" y="1554063"/>
            <a:ext cx="2432367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training: training.sprc.org — Counseling on Access to Lethal Means.</a:t>
            </a:r>
            <a:endParaRPr lang="en-US" sz="730" dirty="0"/>
          </a:p>
        </p:txBody>
      </p:sp>
      <p:sp>
        <p:nvSpPr>
          <p:cNvPr id="14" name="Text 11"/>
          <p:cNvSpPr/>
          <p:nvPr/>
        </p:nvSpPr>
        <p:spPr>
          <a:xfrm>
            <a:off x="386060" y="1861245"/>
            <a:ext cx="6286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790" dirty="0"/>
          </a:p>
        </p:txBody>
      </p:sp>
      <p:sp>
        <p:nvSpPr>
          <p:cNvPr id="15" name="Text 12"/>
          <p:cNvSpPr/>
          <p:nvPr/>
        </p:nvSpPr>
        <p:spPr>
          <a:xfrm>
            <a:off x="486370" y="1861245"/>
            <a:ext cx="2432367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Stanley-Brown Safety Planning webinar: available via NASMHPD.</a:t>
            </a:r>
            <a:endParaRPr lang="en-US" sz="730" dirty="0"/>
          </a:p>
        </p:txBody>
      </p:sp>
      <p:sp>
        <p:nvSpPr>
          <p:cNvPr id="16" name="Text 13"/>
          <p:cNvSpPr/>
          <p:nvPr/>
        </p:nvSpPr>
        <p:spPr>
          <a:xfrm>
            <a:off x="386060" y="2168426"/>
            <a:ext cx="6286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790" dirty="0"/>
          </a:p>
        </p:txBody>
      </p:sp>
      <p:sp>
        <p:nvSpPr>
          <p:cNvPr id="17" name="Text 14"/>
          <p:cNvSpPr/>
          <p:nvPr/>
        </p:nvSpPr>
        <p:spPr>
          <a:xfrm>
            <a:off x="486370" y="2168426"/>
            <a:ext cx="241309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lead can share direct links to all resources.</a:t>
            </a:r>
            <a:endParaRPr lang="en-US" sz="730" dirty="0"/>
          </a:p>
        </p:txBody>
      </p:sp>
      <p:sp>
        <p:nvSpPr>
          <p:cNvPr id="18" name="Text 15"/>
          <p:cNvSpPr/>
          <p:nvPr/>
        </p:nvSpPr>
        <p:spPr>
          <a:xfrm>
            <a:off x="3171974" y="602605"/>
            <a:ext cx="2800052" cy="4147989"/>
          </a:xfrm>
          <a:prstGeom prst="roundRect">
            <a:avLst>
              <a:gd name="adj" fmla="val 2540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171974" y="602605"/>
            <a:ext cx="2800052" cy="19050"/>
          </a:xfrm>
          <a:custGeom>
            <a:avLst/>
            <a:gdLst/>
            <a:ahLst/>
            <a:cxnLst/>
            <a:rect l="l" t="t" r="r" b="b"/>
            <a:pathLst>
              <a:path w="2800052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777376" y="19050"/>
                </a:lnTo>
                <a:lnTo>
                  <a:pt x="2774683" y="16669"/>
                </a:lnTo>
                <a:lnTo>
                  <a:pt x="2771689" y="14288"/>
                </a:lnTo>
                <a:lnTo>
                  <a:pt x="2768325" y="11906"/>
                </a:lnTo>
                <a:lnTo>
                  <a:pt x="2764487" y="9525"/>
                </a:lnTo>
                <a:lnTo>
                  <a:pt x="2759998" y="7144"/>
                </a:lnTo>
                <a:lnTo>
                  <a:pt x="2754520" y="4763"/>
                </a:lnTo>
                <a:lnTo>
                  <a:pt x="2747182" y="2381"/>
                </a:lnTo>
                <a:lnTo>
                  <a:pt x="2728932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329434" y="765125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8946" y="834637"/>
            <a:ext cx="132588" cy="1325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687514" y="834777"/>
            <a:ext cx="2332226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Crisis Lines — Know These by Heart</a:t>
            </a:r>
            <a:endParaRPr lang="en-US" sz="960" dirty="0"/>
          </a:p>
        </p:txBody>
      </p:sp>
      <p:sp>
        <p:nvSpPr>
          <p:cNvPr id="23" name="Text 19"/>
          <p:cNvSpPr/>
          <p:nvPr/>
        </p:nvSpPr>
        <p:spPr>
          <a:xfrm>
            <a:off x="3329434" y="1107877"/>
            <a:ext cx="6286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790" dirty="0"/>
          </a:p>
        </p:txBody>
      </p:sp>
      <p:sp>
        <p:nvSpPr>
          <p:cNvPr id="24" name="Text 20"/>
          <p:cNvSpPr/>
          <p:nvPr/>
        </p:nvSpPr>
        <p:spPr>
          <a:xfrm>
            <a:off x="3429744" y="1107877"/>
            <a:ext cx="205457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988 — Suicide and Crisis Lifeline (call or text)</a:t>
            </a:r>
            <a:endParaRPr lang="en-US" sz="730" dirty="0"/>
          </a:p>
        </p:txBody>
      </p:sp>
      <p:sp>
        <p:nvSpPr>
          <p:cNvPr id="25" name="Text 21"/>
          <p:cNvSpPr/>
          <p:nvPr/>
        </p:nvSpPr>
        <p:spPr>
          <a:xfrm>
            <a:off x="3329434" y="1287512"/>
            <a:ext cx="6286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790" dirty="0"/>
          </a:p>
        </p:txBody>
      </p:sp>
      <p:sp>
        <p:nvSpPr>
          <p:cNvPr id="26" name="Text 22"/>
          <p:cNvSpPr/>
          <p:nvPr/>
        </p:nvSpPr>
        <p:spPr>
          <a:xfrm>
            <a:off x="3429744" y="1287512"/>
            <a:ext cx="2432518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TN to 741-741 — Tennessee Statewide Crisis Line · Call 800-274-7471</a:t>
            </a:r>
            <a:endParaRPr lang="en-US" sz="730" dirty="0"/>
          </a:p>
        </p:txBody>
      </p:sp>
      <p:sp>
        <p:nvSpPr>
          <p:cNvPr id="27" name="Text 23"/>
          <p:cNvSpPr/>
          <p:nvPr/>
        </p:nvSpPr>
        <p:spPr>
          <a:xfrm>
            <a:off x="3329434" y="1594693"/>
            <a:ext cx="6286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790" dirty="0"/>
          </a:p>
        </p:txBody>
      </p:sp>
      <p:sp>
        <p:nvSpPr>
          <p:cNvPr id="28" name="Text 24"/>
          <p:cNvSpPr/>
          <p:nvPr/>
        </p:nvSpPr>
        <p:spPr>
          <a:xfrm>
            <a:off x="3429744" y="1594693"/>
            <a:ext cx="193015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Centerstone Crisis Line: 1-800-681-7444</a:t>
            </a:r>
            <a:endParaRPr lang="en-US" sz="730" dirty="0"/>
          </a:p>
        </p:txBody>
      </p:sp>
      <p:sp>
        <p:nvSpPr>
          <p:cNvPr id="29" name="Text 25"/>
          <p:cNvSpPr/>
          <p:nvPr/>
        </p:nvSpPr>
        <p:spPr>
          <a:xfrm>
            <a:off x="3329434" y="1774329"/>
            <a:ext cx="6286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790" dirty="0"/>
          </a:p>
        </p:txBody>
      </p:sp>
      <p:sp>
        <p:nvSpPr>
          <p:cNvPr id="30" name="Text 26"/>
          <p:cNvSpPr/>
          <p:nvPr/>
        </p:nvSpPr>
        <p:spPr>
          <a:xfrm>
            <a:off x="3429744" y="1774329"/>
            <a:ext cx="2432518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Davidson County: Mental Health Cooperative 615-726-0125</a:t>
            </a:r>
            <a:endParaRPr lang="en-US" sz="730" dirty="0"/>
          </a:p>
        </p:txBody>
      </p:sp>
      <p:sp>
        <p:nvSpPr>
          <p:cNvPr id="31" name="Text 27"/>
          <p:cNvSpPr/>
          <p:nvPr/>
        </p:nvSpPr>
        <p:spPr>
          <a:xfrm>
            <a:off x="3329434" y="2081510"/>
            <a:ext cx="6286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790" dirty="0"/>
          </a:p>
        </p:txBody>
      </p:sp>
      <p:sp>
        <p:nvSpPr>
          <p:cNvPr id="32" name="Text 28"/>
          <p:cNvSpPr/>
          <p:nvPr/>
        </p:nvSpPr>
        <p:spPr>
          <a:xfrm>
            <a:off x="3429744" y="2081510"/>
            <a:ext cx="2432518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Rutherford &amp; Wilson County: Youth Villages 1-866-791-9221</a:t>
            </a:r>
            <a:endParaRPr lang="en-US" sz="730" dirty="0"/>
          </a:p>
        </p:txBody>
      </p:sp>
      <p:sp>
        <p:nvSpPr>
          <p:cNvPr id="33" name="Text 29"/>
          <p:cNvSpPr/>
          <p:nvPr/>
        </p:nvSpPr>
        <p:spPr>
          <a:xfrm>
            <a:off x="3329434" y="2388691"/>
            <a:ext cx="6286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790" dirty="0"/>
          </a:p>
        </p:txBody>
      </p:sp>
      <p:sp>
        <p:nvSpPr>
          <p:cNvPr id="34" name="Text 30"/>
          <p:cNvSpPr/>
          <p:nvPr/>
        </p:nvSpPr>
        <p:spPr>
          <a:xfrm>
            <a:off x="3429744" y="2388691"/>
            <a:ext cx="142068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 Reporting: 877-237-0004</a:t>
            </a:r>
            <a:endParaRPr lang="en-US" sz="730" dirty="0"/>
          </a:p>
        </p:txBody>
      </p:sp>
      <p:sp>
        <p:nvSpPr>
          <p:cNvPr id="35" name="Text 31"/>
          <p:cNvSpPr/>
          <p:nvPr/>
        </p:nvSpPr>
        <p:spPr>
          <a:xfrm>
            <a:off x="6115496" y="602605"/>
            <a:ext cx="2799904" cy="4147989"/>
          </a:xfrm>
          <a:prstGeom prst="roundRect">
            <a:avLst>
              <a:gd name="adj" fmla="val 2540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6115496" y="602605"/>
            <a:ext cx="2799904" cy="19050"/>
          </a:xfrm>
          <a:custGeom>
            <a:avLst/>
            <a:gdLst/>
            <a:ahLst/>
            <a:cxnLst/>
            <a:rect l="l" t="t" r="r" b="b"/>
            <a:pathLst>
              <a:path w="2799904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2777227" y="19050"/>
                </a:lnTo>
                <a:lnTo>
                  <a:pt x="2774534" y="16669"/>
                </a:lnTo>
                <a:lnTo>
                  <a:pt x="2771540" y="14288"/>
                </a:lnTo>
                <a:lnTo>
                  <a:pt x="2768176" y="11906"/>
                </a:lnTo>
                <a:lnTo>
                  <a:pt x="2764338" y="9525"/>
                </a:lnTo>
                <a:lnTo>
                  <a:pt x="2759849" y="7144"/>
                </a:lnTo>
                <a:lnTo>
                  <a:pt x="2754371" y="4763"/>
                </a:lnTo>
                <a:lnTo>
                  <a:pt x="2747033" y="2381"/>
                </a:lnTo>
                <a:lnTo>
                  <a:pt x="2728783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6272957" y="765125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1B5E7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2468" y="834637"/>
            <a:ext cx="132588" cy="13258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631037" y="834777"/>
            <a:ext cx="1862703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School-Based Therapists</a:t>
            </a:r>
            <a:endParaRPr lang="en-US" sz="960" dirty="0"/>
          </a:p>
        </p:txBody>
      </p:sp>
      <p:sp>
        <p:nvSpPr>
          <p:cNvPr id="40" name="Text 35"/>
          <p:cNvSpPr/>
          <p:nvPr/>
        </p:nvSpPr>
        <p:spPr>
          <a:xfrm>
            <a:off x="6272957" y="1107877"/>
            <a:ext cx="6286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790" dirty="0"/>
          </a:p>
        </p:txBody>
      </p:sp>
      <p:sp>
        <p:nvSpPr>
          <p:cNvPr id="41" name="Text 36"/>
          <p:cNvSpPr/>
          <p:nvPr/>
        </p:nvSpPr>
        <p:spPr>
          <a:xfrm>
            <a:off x="6373267" y="1107877"/>
            <a:ext cx="2432367" cy="437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mobile crisis is called: you are NOT required to staff with your supervisor before calling if you clinically feel it is warranted.</a:t>
            </a:r>
            <a:endParaRPr lang="en-US" sz="730" dirty="0"/>
          </a:p>
        </p:txBody>
      </p:sp>
      <p:sp>
        <p:nvSpPr>
          <p:cNvPr id="42" name="Text 37"/>
          <p:cNvSpPr/>
          <p:nvPr/>
        </p:nvSpPr>
        <p:spPr>
          <a:xfrm>
            <a:off x="6272957" y="1554063"/>
            <a:ext cx="6286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790" dirty="0"/>
          </a:p>
        </p:txBody>
      </p:sp>
      <p:sp>
        <p:nvSpPr>
          <p:cNvPr id="43" name="Text 38"/>
          <p:cNvSpPr/>
          <p:nvPr/>
        </p:nvSpPr>
        <p:spPr>
          <a:xfrm>
            <a:off x="6373267" y="1554063"/>
            <a:ext cx="2432367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inform your supervisor after a crisis call so it can be formally documented in supervision records.</a:t>
            </a:r>
            <a:endParaRPr lang="en-US" sz="730" dirty="0"/>
          </a:p>
        </p:txBody>
      </p:sp>
      <p:sp>
        <p:nvSpPr>
          <p:cNvPr id="44" name="Text 39"/>
          <p:cNvSpPr/>
          <p:nvPr/>
        </p:nvSpPr>
        <p:spPr>
          <a:xfrm>
            <a:off x="6272957" y="1861245"/>
            <a:ext cx="6286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790" dirty="0"/>
          </a:p>
        </p:txBody>
      </p:sp>
      <p:sp>
        <p:nvSpPr>
          <p:cNvPr id="45" name="Text 40"/>
          <p:cNvSpPr/>
          <p:nvPr/>
        </p:nvSpPr>
        <p:spPr>
          <a:xfrm>
            <a:off x="6373267" y="1861245"/>
            <a:ext cx="2432367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school when suicidal or homicidal ideation affects the student's school safety.</a:t>
            </a:r>
            <a:endParaRPr lang="en-US" sz="730" dirty="0"/>
          </a:p>
        </p:txBody>
      </p:sp>
      <p:sp>
        <p:nvSpPr>
          <p:cNvPr id="46" name="Text 41"/>
          <p:cNvSpPr/>
          <p:nvPr/>
        </p:nvSpPr>
        <p:spPr>
          <a:xfrm>
            <a:off x="6272957" y="2168426"/>
            <a:ext cx="6286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790" dirty="0"/>
          </a:p>
        </p:txBody>
      </p:sp>
      <p:sp>
        <p:nvSpPr>
          <p:cNvPr id="47" name="Text 42"/>
          <p:cNvSpPr/>
          <p:nvPr/>
        </p:nvSpPr>
        <p:spPr>
          <a:xfrm>
            <a:off x="6373267" y="2168426"/>
            <a:ext cx="2432367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local crisis number and keep it accessible at all times.</a:t>
            </a:r>
            <a:endParaRPr lang="en-US" sz="730" dirty="0"/>
          </a:p>
        </p:txBody>
      </p:sp>
      <p:sp>
        <p:nvSpPr>
          <p:cNvPr id="48" name="Text 43"/>
          <p:cNvSpPr/>
          <p:nvPr/>
        </p:nvSpPr>
        <p:spPr>
          <a:xfrm>
            <a:off x="-91440" y="4850904"/>
            <a:ext cx="9326880" cy="292596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lIns="342900" tIns="78740" rIns="342900" bIns="78740" rtlCol="0" anchor="t"/>
          <a:lstStyle/>
          <a:p>
            <a:pPr marL="0" indent="0" algn="ctr">
              <a:buNone/>
            </a:pPr>
            <a:r>
              <a:rPr lang="en-US" sz="760" b="1" kern="0" spc="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client has suicidal or homicidal ideation and you decide NOT to call mobile crisis — contact your clinical supervisor immediately to discuss. Document everything.</a:t>
            </a:r>
            <a:endParaRPr lang="en-US" sz="7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B5E72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B5E72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0" y="0"/>
            <a:ext cx="3143250" cy="2857500"/>
          </a:xfrm>
          <a:prstGeom prst="ellipse">
            <a:avLst/>
          </a:prstGeom>
          <a:gradFill rotWithShape="1">
            <a:gsLst>
              <a:gs pos="0">
                <a:srgbClr val="1B5E72">
                  <a:alpha val="5000"/>
                </a:srgbClr>
              </a:gs>
              <a:gs pos="70000">
                <a:srgbClr val="1B5E72">
                  <a:alpha val="1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2857500"/>
            <a:ext cx="2285955" cy="2286000"/>
          </a:xfrm>
          <a:prstGeom prst="ellipse">
            <a:avLst/>
          </a:prstGeom>
          <a:gradFill rotWithShape="1">
            <a:gsLst>
              <a:gs pos="0">
                <a:srgbClr val="FAB753">
                  <a:alpha val="7000"/>
                </a:srgbClr>
              </a:gs>
              <a:gs pos="70000">
                <a:srgbClr val="FAB753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4782889"/>
            <a:ext cx="9144000" cy="360611"/>
          </a:xfrm>
          <a:prstGeom prst="rect">
            <a:avLst/>
          </a:prstGeom>
          <a:solidFill>
            <a:srgbClr val="FAB75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517" y="4896826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1107" y="4883200"/>
            <a:ext cx="816410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pour from an empty cup. Protecting your own wellbeing is part of protecting your clients. These are not competing priorities.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097162" y="1010245"/>
            <a:ext cx="4949528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14"/>
              </a:lnSpc>
              <a:spcAft>
                <a:spcPts val="1800"/>
              </a:spcAft>
              <a:buNone/>
            </a:pPr>
            <a:r>
              <a:rPr lang="en-US" sz="2360" b="1" kern="0" spc="-20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Work Is Heavy. Carry It Well.</a:t>
            </a:r>
            <a:endParaRPr lang="en-US" sz="2360" dirty="0"/>
          </a:p>
        </p:txBody>
      </p:sp>
      <p:sp>
        <p:nvSpPr>
          <p:cNvPr id="10" name="Text 7"/>
          <p:cNvSpPr/>
          <p:nvPr/>
        </p:nvSpPr>
        <p:spPr>
          <a:xfrm>
            <a:off x="4314825" y="1583531"/>
            <a:ext cx="514350" cy="29170"/>
          </a:xfrm>
          <a:prstGeom prst="roundRect">
            <a:avLst>
              <a:gd name="adj" fmla="val 47892"/>
            </a:avLst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071265" y="1870472"/>
            <a:ext cx="35421" cy="2262783"/>
          </a:xfrm>
          <a:prstGeom prst="roundRect">
            <a:avLst>
              <a:gd name="adj" fmla="val 60953"/>
            </a:avLst>
          </a:prstGeom>
          <a:gradFill rotWithShape="1">
            <a:gsLst>
              <a:gs pos="0">
                <a:srgbClr val="FAB753"/>
              </a:gs>
              <a:gs pos="100000">
                <a:srgbClr val="FAB753">
                  <a:alpha val="3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307306" y="2686794"/>
            <a:ext cx="6765429" cy="9525"/>
          </a:xfrm>
          <a:prstGeom prst="rect">
            <a:avLst/>
          </a:prstGeom>
          <a:solidFill>
            <a:srgbClr val="1B5E72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4814" y="1979869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8379" y="1970782"/>
            <a:ext cx="6644643" cy="646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17"/>
              </a:lnSpc>
              <a:buNone/>
            </a:pPr>
            <a:r>
              <a:rPr lang="en-US" sz="9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work asks you to sit with the heaviest material in clinical practice — and to do it in schools, in hallways, in rooms without much privacy, often without a colleague nearby. That takes something out of you. Acknowledging that is not weakness. It is self-awareness.</a:t>
            </a:r>
            <a:endParaRPr lang="en-US" sz="980" dirty="0"/>
          </a:p>
        </p:txBody>
      </p:sp>
      <p:sp>
        <p:nvSpPr>
          <p:cNvPr id="15" name="Text 11"/>
          <p:cNvSpPr/>
          <p:nvPr/>
        </p:nvSpPr>
        <p:spPr>
          <a:xfrm>
            <a:off x="1307306" y="3512641"/>
            <a:ext cx="6765429" cy="9525"/>
          </a:xfrm>
          <a:prstGeom prst="rect">
            <a:avLst/>
          </a:prstGeom>
          <a:solidFill>
            <a:srgbClr val="1B5E72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4814" y="2805717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8379" y="2796629"/>
            <a:ext cx="6644643" cy="646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17"/>
              </a:lnSpc>
              <a:buNone/>
            </a:pPr>
            <a:r>
              <a:rPr lang="en-US" sz="9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things that protect our clients also protect us: a solid plan, a trusted supervisor, a routine of consultation, and the discipline to leave work at work when the day is done. Eleos running during your session is one part of that — it means your notes get done before you leave, and you go home present instead of behind.</a:t>
            </a:r>
            <a:endParaRPr lang="en-US" sz="98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94814" y="3631564"/>
            <a:ext cx="132588" cy="1325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8379" y="3622477"/>
            <a:ext cx="6644643" cy="430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17"/>
              </a:lnSpc>
              <a:buNone/>
            </a:pPr>
            <a:r>
              <a:rPr lang="en-US" sz="9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session ever leaves you unsettled — debrief with your supervisor. If the weight accumulates — say something. The clinical community you are part of here is one of your most important resources. Use it.</a:t>
            </a:r>
            <a:endParaRPr lang="en-US" sz="9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1684"/>
          </a:xfrm>
          <a:prstGeom prst="rect">
            <a:avLst/>
          </a:prstGeom>
          <a:solidFill>
            <a:srgbClr val="1B5E72"/>
          </a:solidFill>
          <a:ln/>
        </p:spPr>
        <p:txBody>
          <a:bodyPr wrap="square" lIns="342900" tIns="128270" rIns="342900" bIns="100330" rtlCol="0" anchor="t"/>
          <a:lstStyle/>
          <a:p>
            <a:pPr marL="0" indent="0" algn="l">
              <a:buNone/>
            </a:pPr>
            <a:r>
              <a:rPr lang="en-US" sz="1460" b="1" kern="0" spc="15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Homework — Building Your Confidence Before the Next Session</a:t>
            </a:r>
            <a:endParaRPr lang="en-US" sz="1460" dirty="0"/>
          </a:p>
          <a:p>
            <a:pPr marL="0" indent="0" algn="l">
              <a:buNone/>
            </a:pPr>
            <a:r>
              <a:rPr lang="en-US" sz="790" b="1" kern="0" spc="16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steps. Complete all of them before your next supervision or team meeting.</a:t>
            </a:r>
            <a:endParaRPr lang="en-US" sz="1460" dirty="0"/>
          </a:p>
        </p:txBody>
      </p:sp>
      <p:sp>
        <p:nvSpPr>
          <p:cNvPr id="3" name="Text 1"/>
          <p:cNvSpPr/>
          <p:nvPr/>
        </p:nvSpPr>
        <p:spPr>
          <a:xfrm>
            <a:off x="285750" y="751136"/>
            <a:ext cx="2752427" cy="3970139"/>
          </a:xfrm>
          <a:prstGeom prst="roundRect">
            <a:avLst>
              <a:gd name="adj" fmla="val 2584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751136"/>
            <a:ext cx="2752427" cy="28575"/>
          </a:xfrm>
          <a:custGeom>
            <a:avLst/>
            <a:gdLst/>
            <a:ahLst/>
            <a:cxnLst/>
            <a:rect l="l" t="t" r="r" b="b"/>
            <a:pathLst>
              <a:path w="2752427" h="28575">
                <a:moveTo>
                  <a:pt x="71120" y="0"/>
                </a:moveTo>
                <a:lnTo>
                  <a:pt x="48865" y="3572"/>
                </a:lnTo>
                <a:lnTo>
                  <a:pt x="40054" y="7144"/>
                </a:lnTo>
                <a:lnTo>
                  <a:pt x="33579" y="10716"/>
                </a:lnTo>
                <a:lnTo>
                  <a:pt x="28363" y="14288"/>
                </a:lnTo>
                <a:lnTo>
                  <a:pt x="23989" y="17859"/>
                </a:lnTo>
                <a:lnTo>
                  <a:pt x="20237" y="21431"/>
                </a:lnTo>
                <a:lnTo>
                  <a:pt x="16979" y="25003"/>
                </a:lnTo>
                <a:lnTo>
                  <a:pt x="14129" y="28575"/>
                </a:lnTo>
                <a:lnTo>
                  <a:pt x="2738298" y="28575"/>
                </a:lnTo>
                <a:lnTo>
                  <a:pt x="2735449" y="25003"/>
                </a:lnTo>
                <a:lnTo>
                  <a:pt x="2732190" y="21431"/>
                </a:lnTo>
                <a:lnTo>
                  <a:pt x="2728439" y="17859"/>
                </a:lnTo>
                <a:lnTo>
                  <a:pt x="2724064" y="14288"/>
                </a:lnTo>
                <a:lnTo>
                  <a:pt x="2718849" y="10716"/>
                </a:lnTo>
                <a:lnTo>
                  <a:pt x="2712373" y="7144"/>
                </a:lnTo>
                <a:lnTo>
                  <a:pt x="2703563" y="3572"/>
                </a:lnTo>
                <a:lnTo>
                  <a:pt x="2681307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3210" y="937171"/>
            <a:ext cx="2437507" cy="147831"/>
          </a:xfrm>
          <a:prstGeom prst="roundRect">
            <a:avLst>
              <a:gd name="adj" fmla="val 19759"/>
            </a:avLst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560" dirty="0"/>
          </a:p>
        </p:txBody>
      </p:sp>
      <p:sp>
        <p:nvSpPr>
          <p:cNvPr id="6" name="Text 4"/>
          <p:cNvSpPr/>
          <p:nvPr/>
        </p:nvSpPr>
        <p:spPr>
          <a:xfrm>
            <a:off x="443210" y="1128713"/>
            <a:ext cx="328910" cy="328910"/>
          </a:xfrm>
          <a:prstGeom prst="ellipse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371" y="1226874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3210" y="1543943"/>
            <a:ext cx="2681258" cy="137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8"/>
              </a:lnSpc>
              <a:buNone/>
            </a:pPr>
            <a:r>
              <a:rPr lang="en-US" sz="87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Explore nowmattersnow.org</a:t>
            </a:r>
            <a:endParaRPr lang="en-US" sz="870" dirty="0"/>
          </a:p>
        </p:txBody>
      </p:sp>
      <p:sp>
        <p:nvSpPr>
          <p:cNvPr id="9" name="Text 6"/>
          <p:cNvSpPr/>
          <p:nvPr/>
        </p:nvSpPr>
        <p:spPr>
          <a:xfrm>
            <a:off x="443210" y="1752898"/>
            <a:ext cx="2486257" cy="296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16"/>
              </a:lnSpc>
              <a:buNone/>
            </a:pP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</a:t>
            </a:r>
            <a:r>
              <a:rPr lang="en-US" sz="76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nowmattersnow.org/skills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explore at least two of the skill videos. Consider: which of these could you introduce to a current client? Identify one resource you would feel comfortable recommending this week. Come prepared to share it with your team.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3195638" y="751136"/>
            <a:ext cx="2752576" cy="3970139"/>
          </a:xfrm>
          <a:prstGeom prst="roundRect">
            <a:avLst>
              <a:gd name="adj" fmla="val 2584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195638" y="751136"/>
            <a:ext cx="2752576" cy="28575"/>
          </a:xfrm>
          <a:custGeom>
            <a:avLst/>
            <a:gdLst/>
            <a:ahLst/>
            <a:cxnLst/>
            <a:rect l="l" t="t" r="r" b="b"/>
            <a:pathLst>
              <a:path w="2752576" h="28575">
                <a:moveTo>
                  <a:pt x="71120" y="0"/>
                </a:moveTo>
                <a:lnTo>
                  <a:pt x="48865" y="3572"/>
                </a:lnTo>
                <a:lnTo>
                  <a:pt x="40054" y="7144"/>
                </a:lnTo>
                <a:lnTo>
                  <a:pt x="33579" y="10716"/>
                </a:lnTo>
                <a:lnTo>
                  <a:pt x="28363" y="14288"/>
                </a:lnTo>
                <a:lnTo>
                  <a:pt x="23989" y="17859"/>
                </a:lnTo>
                <a:lnTo>
                  <a:pt x="20237" y="21431"/>
                </a:lnTo>
                <a:lnTo>
                  <a:pt x="16979" y="25003"/>
                </a:lnTo>
                <a:lnTo>
                  <a:pt x="14129" y="28575"/>
                </a:lnTo>
                <a:lnTo>
                  <a:pt x="2738447" y="28575"/>
                </a:lnTo>
                <a:lnTo>
                  <a:pt x="2735598" y="25003"/>
                </a:lnTo>
                <a:lnTo>
                  <a:pt x="2732339" y="21431"/>
                </a:lnTo>
                <a:lnTo>
                  <a:pt x="2728587" y="17859"/>
                </a:lnTo>
                <a:lnTo>
                  <a:pt x="2724213" y="14288"/>
                </a:lnTo>
                <a:lnTo>
                  <a:pt x="2718998" y="10716"/>
                </a:lnTo>
                <a:lnTo>
                  <a:pt x="2712522" y="7144"/>
                </a:lnTo>
                <a:lnTo>
                  <a:pt x="2703712" y="3572"/>
                </a:lnTo>
                <a:lnTo>
                  <a:pt x="2681456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353098" y="937171"/>
            <a:ext cx="2437656" cy="147831"/>
          </a:xfrm>
          <a:prstGeom prst="roundRect">
            <a:avLst>
              <a:gd name="adj" fmla="val 19759"/>
            </a:avLst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560" dirty="0"/>
          </a:p>
        </p:txBody>
      </p:sp>
      <p:sp>
        <p:nvSpPr>
          <p:cNvPr id="13" name="Text 10"/>
          <p:cNvSpPr/>
          <p:nvPr/>
        </p:nvSpPr>
        <p:spPr>
          <a:xfrm>
            <a:off x="3353098" y="1128713"/>
            <a:ext cx="328910" cy="328910"/>
          </a:xfrm>
          <a:prstGeom prst="ellipse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1259" y="1226874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53098" y="1543943"/>
            <a:ext cx="2681421" cy="137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8"/>
              </a:lnSpc>
              <a:buNone/>
            </a:pPr>
            <a:r>
              <a:rPr lang="en-US" sz="87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Complete a Practice Safety Plan</a:t>
            </a:r>
            <a:endParaRPr lang="en-US" sz="870" dirty="0"/>
          </a:p>
        </p:txBody>
      </p:sp>
      <p:sp>
        <p:nvSpPr>
          <p:cNvPr id="16" name="Text 12"/>
          <p:cNvSpPr/>
          <p:nvPr/>
        </p:nvSpPr>
        <p:spPr>
          <a:xfrm>
            <a:off x="3353098" y="1752898"/>
            <a:ext cx="2486409" cy="296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16"/>
              </a:lnSpc>
              <a:buNone/>
            </a:pP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</a:t>
            </a:r>
            <a:r>
              <a:rPr lang="en-US" sz="76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Stanley-Brown Safety Plan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format, complete a practice safety plan for a fictional client of your own design. Work through all six components. Imagine explaining each section to a nervous parent. Bring it to your next supervision session for feedback. This is about building fluency — not perfection.</a:t>
            </a:r>
            <a:endParaRPr lang="en-US" sz="760" dirty="0"/>
          </a:p>
        </p:txBody>
      </p:sp>
      <p:sp>
        <p:nvSpPr>
          <p:cNvPr id="17" name="Text 13"/>
          <p:cNvSpPr/>
          <p:nvPr/>
        </p:nvSpPr>
        <p:spPr>
          <a:xfrm>
            <a:off x="6105674" y="751136"/>
            <a:ext cx="2752576" cy="3970139"/>
          </a:xfrm>
          <a:prstGeom prst="roundRect">
            <a:avLst>
              <a:gd name="adj" fmla="val 2584"/>
            </a:avLst>
          </a:prstGeom>
          <a:solidFill>
            <a:srgbClr val="EAF4F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105674" y="751136"/>
            <a:ext cx="2752576" cy="28575"/>
          </a:xfrm>
          <a:custGeom>
            <a:avLst/>
            <a:gdLst/>
            <a:ahLst/>
            <a:cxnLst/>
            <a:rect l="l" t="t" r="r" b="b"/>
            <a:pathLst>
              <a:path w="2752576" h="28575">
                <a:moveTo>
                  <a:pt x="71120" y="0"/>
                </a:moveTo>
                <a:lnTo>
                  <a:pt x="48865" y="3572"/>
                </a:lnTo>
                <a:lnTo>
                  <a:pt x="40054" y="7144"/>
                </a:lnTo>
                <a:lnTo>
                  <a:pt x="33579" y="10716"/>
                </a:lnTo>
                <a:lnTo>
                  <a:pt x="28363" y="14288"/>
                </a:lnTo>
                <a:lnTo>
                  <a:pt x="23989" y="17859"/>
                </a:lnTo>
                <a:lnTo>
                  <a:pt x="20237" y="21431"/>
                </a:lnTo>
                <a:lnTo>
                  <a:pt x="16979" y="25003"/>
                </a:lnTo>
                <a:lnTo>
                  <a:pt x="14129" y="28575"/>
                </a:lnTo>
                <a:lnTo>
                  <a:pt x="2738447" y="28575"/>
                </a:lnTo>
                <a:lnTo>
                  <a:pt x="2735598" y="25003"/>
                </a:lnTo>
                <a:lnTo>
                  <a:pt x="2732339" y="21431"/>
                </a:lnTo>
                <a:lnTo>
                  <a:pt x="2728587" y="17859"/>
                </a:lnTo>
                <a:lnTo>
                  <a:pt x="2724213" y="14288"/>
                </a:lnTo>
                <a:lnTo>
                  <a:pt x="2718998" y="10716"/>
                </a:lnTo>
                <a:lnTo>
                  <a:pt x="2712522" y="7144"/>
                </a:lnTo>
                <a:lnTo>
                  <a:pt x="2703712" y="3572"/>
                </a:lnTo>
                <a:lnTo>
                  <a:pt x="2681456" y="0"/>
                </a:lnTo>
                <a:close/>
              </a:path>
            </a:pathLst>
          </a:cu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263134" y="937171"/>
            <a:ext cx="2437656" cy="147831"/>
          </a:xfrm>
          <a:prstGeom prst="roundRect">
            <a:avLst>
              <a:gd name="adj" fmla="val 19759"/>
            </a:avLst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560" dirty="0"/>
          </a:p>
        </p:txBody>
      </p:sp>
      <p:sp>
        <p:nvSpPr>
          <p:cNvPr id="20" name="Text 16"/>
          <p:cNvSpPr/>
          <p:nvPr/>
        </p:nvSpPr>
        <p:spPr>
          <a:xfrm>
            <a:off x="6263134" y="1128713"/>
            <a:ext cx="328910" cy="328910"/>
          </a:xfrm>
          <a:prstGeom prst="ellipse">
            <a:avLst/>
          </a:prstGeom>
          <a:solidFill>
            <a:srgbClr val="1B5E7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1295" y="1226874"/>
            <a:ext cx="132588" cy="1325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134" y="1543943"/>
            <a:ext cx="2681421" cy="137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8"/>
              </a:lnSpc>
              <a:buNone/>
            </a:pPr>
            <a:r>
              <a:rPr lang="en-US" sz="870" b="1" dirty="0">
                <a:solidFill>
                  <a:srgbClr val="1B5E7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More Role Play</a:t>
            </a:r>
            <a:endParaRPr lang="en-US" sz="870" dirty="0"/>
          </a:p>
        </p:txBody>
      </p:sp>
      <p:sp>
        <p:nvSpPr>
          <p:cNvPr id="23" name="Text 18"/>
          <p:cNvSpPr/>
          <p:nvPr/>
        </p:nvSpPr>
        <p:spPr>
          <a:xfrm>
            <a:off x="6263134" y="1752898"/>
            <a:ext cx="2486409" cy="296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16"/>
              </a:lnSpc>
              <a:buNone/>
            </a:pP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colleague — in person or by phone — and practice administering one of the three assessments again (your choice: </a:t>
            </a:r>
            <a:r>
              <a:rPr lang="en-US" sz="76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C-SSRS, INQ-FAD3, or RROVS</a:t>
            </a:r>
            <a:r>
              <a:rPr lang="en-US" sz="76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Score it together. Discuss whether you would enroll. Bring one question or one observation from that conversation to your next supervision.</a:t>
            </a:r>
            <a:endParaRPr lang="en-US" sz="760" dirty="0"/>
          </a:p>
        </p:txBody>
      </p:sp>
      <p:sp>
        <p:nvSpPr>
          <p:cNvPr id="24" name="Text 19"/>
          <p:cNvSpPr/>
          <p:nvPr/>
        </p:nvSpPr>
        <p:spPr>
          <a:xfrm>
            <a:off x="-91440" y="4835575"/>
            <a:ext cx="9326880" cy="307925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lIns="342900" tIns="78740" rIns="342900" bIns="78740" rtlCol="0" anchor="t"/>
          <a:lstStyle/>
          <a:p>
            <a:pPr marL="0" indent="0" algn="ctr">
              <a:buNone/>
            </a:pPr>
            <a:r>
              <a:rPr lang="en-US" sz="790" b="1" kern="0" spc="8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 this work is built one practice at a time. Do the homework. It matters.</a:t>
            </a:r>
            <a:endParaRPr lang="en-US" sz="79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5E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85000" t="50000" r="15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AB753">
                  <a:alpha val="6000"/>
                </a:srgbClr>
              </a:gs>
              <a:gs pos="40000">
                <a:srgbClr val="000000">
                  <a:alpha val="0"/>
                </a:srgbClr>
              </a:gs>
            </a:gsLst>
            <a:path path="circle">
              <a:fillToRect l="15000" t="80000" r="85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55A49C">
                  <a:alpha val="8000"/>
                </a:srgbClr>
              </a:gs>
              <a:gs pos="40000">
                <a:srgbClr val="000000">
                  <a:alpha val="0"/>
                </a:srgbClr>
              </a:gs>
            </a:gsLst>
            <a:path path="circle">
              <a:fillToRect l="40000" t="10000" r="60000" b="9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43160" cy="5143500"/>
          </a:xfrm>
          <a:prstGeom prst="rect">
            <a:avLst/>
          </a:prstGeom>
          <a:gradFill rotWithShape="1">
            <a:gsLst>
              <a:gs pos="0">
                <a:srgbClr val="FAB753">
                  <a:alpha val="70000"/>
                </a:srgbClr>
              </a:gs>
              <a:gs pos="60000">
                <a:srgbClr val="55A49C">
                  <a:alpha val="70000"/>
                </a:srgbClr>
              </a:gs>
              <a:gs pos="100000">
                <a:srgbClr val="1B5E72">
                  <a:alpha val="7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30" y="300782"/>
            <a:ext cx="9080372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28"/>
              </a:lnSpc>
              <a:spcAft>
                <a:spcPts val="280"/>
              </a:spcAft>
              <a:buNone/>
            </a:pPr>
            <a:r>
              <a:rPr lang="en-US" sz="1690" b="1" kern="0" spc="-2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Prevention Pathway Overview — Key Takeaways</a:t>
            </a:r>
            <a:endParaRPr lang="en-US" sz="1690" dirty="0"/>
          </a:p>
        </p:txBody>
      </p:sp>
      <p:sp>
        <p:nvSpPr>
          <p:cNvPr id="7" name="Text 5"/>
          <p:cNvSpPr/>
          <p:nvPr/>
        </p:nvSpPr>
        <p:spPr>
          <a:xfrm>
            <a:off x="-81565" y="593675"/>
            <a:ext cx="9334961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5"/>
              </a:lnSpc>
              <a:buNone/>
            </a:pPr>
            <a:r>
              <a:rPr lang="en-US" sz="790" b="1" kern="0" spc="50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CARRY OUT OF THIS ROOM TODAY</a:t>
            </a:r>
            <a:endParaRPr lang="en-US" sz="790" dirty="0"/>
          </a:p>
        </p:txBody>
      </p:sp>
      <p:sp>
        <p:nvSpPr>
          <p:cNvPr id="8" name="Text 6"/>
          <p:cNvSpPr/>
          <p:nvPr/>
        </p:nvSpPr>
        <p:spPr>
          <a:xfrm>
            <a:off x="342751" y="858441"/>
            <a:ext cx="8486329" cy="1012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FAB753">
                  <a:alpha val="60000"/>
                </a:srgbClr>
              </a:gs>
              <a:gs pos="80000">
                <a:srgbClr val="FAB753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2751" y="1484858"/>
            <a:ext cx="403874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751" y="1041202"/>
            <a:ext cx="185291" cy="20382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628352" y="1033611"/>
            <a:ext cx="412846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pathways. Each is different.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628352" y="1171575"/>
            <a:ext cx="3828211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Risk = C-SSRS. Moderate Risk = INQ-FAD3. Violence Risk = RROVS. Know which tool belongs to which pathway.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42751" y="2010370"/>
            <a:ext cx="403874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2751" y="1566714"/>
            <a:ext cx="185291" cy="20382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628352" y="1559123"/>
            <a:ext cx="412846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PHQ-9 Item 9 is not a green light.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628352" y="1697087"/>
            <a:ext cx="3828211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INQ-FAD3 exists to catch risk that the direct question misses. Administer it. Score it. Act on it.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42751" y="2092226"/>
            <a:ext cx="185291" cy="20382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28352" y="2084636"/>
            <a:ext cx="412846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is protective, not punitive.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628352" y="2222599"/>
            <a:ext cx="3828211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pathways that way with clients and families. This is extra care during a vulnerable time — not a label or a penalty.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611291" y="968871"/>
            <a:ext cx="7590" cy="409604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90331" y="1484858"/>
            <a:ext cx="403874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90331" y="1041202"/>
            <a:ext cx="185291" cy="20382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5075932" y="1033611"/>
            <a:ext cx="412846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Disenrollment requires clinical judgment.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5075932" y="1171575"/>
            <a:ext cx="3828211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criteria give you a threshold. Your clinical reasoning determines when it is safe to cross it. Document your rationale every time.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790331" y="2010370"/>
            <a:ext cx="403874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90331" y="1566714"/>
            <a:ext cx="185291" cy="20382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5075932" y="1559123"/>
            <a:ext cx="412846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plans and CALM go together.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5075932" y="1697087"/>
            <a:ext cx="3828211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enrollment on any suicide pathway: Stanley-Brown Safety Plan + Counseling on Access to Lethal Means. Both. Every time.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790331" y="2092226"/>
            <a:ext cx="185291" cy="203820"/>
          </a:xfrm>
          <a:prstGeom prst="ellipse">
            <a:avLst/>
          </a:prstGeom>
          <a:solidFill>
            <a:srgbClr val="FAB75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B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5075932" y="2084636"/>
            <a:ext cx="412846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alone in this.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5075932" y="2222599"/>
            <a:ext cx="3828211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supervisor, your team, and your crisis line contacts are part of your clinical toolkit. Use them — before, during, and after the hardest sessions.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42751" y="5135910"/>
            <a:ext cx="8486329" cy="759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3160" y="4843909"/>
            <a:ext cx="9100840" cy="299591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3160" y="4843909"/>
            <a:ext cx="9100840" cy="9525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588" y="4932024"/>
            <a:ext cx="132588" cy="13258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22833" y="4939308"/>
            <a:ext cx="69773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CENTERSTONE</a:t>
            </a:r>
            <a:endParaRPr lang="en-US" sz="620" dirty="0"/>
          </a:p>
        </p:txBody>
      </p:sp>
      <p:sp>
        <p:nvSpPr>
          <p:cNvPr id="37" name="Text 34"/>
          <p:cNvSpPr/>
          <p:nvPr/>
        </p:nvSpPr>
        <p:spPr>
          <a:xfrm>
            <a:off x="2362691" y="4936480"/>
            <a:ext cx="446177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650" i="1" kern="0" spc="10" dirty="0">
                <a:solidFill>
                  <a:srgbClr val="FAB753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Centerstone Clinical Training Series  ·  Prevention Pathway Overview  ·  June 2026  ·  Topher Fuqua, LMFT</a:t>
            </a:r>
            <a:endParaRPr lang="en-US" sz="65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14714" y="4932099"/>
            <a:ext cx="132588" cy="132588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342751" y="200620"/>
            <a:ext cx="372070" cy="29170"/>
          </a:xfrm>
          <a:prstGeom prst="roundRect">
            <a:avLst>
              <a:gd name="adj" fmla="val 47892"/>
            </a:avLst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61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220" y="0"/>
            <a:ext cx="2999780" cy="2857500"/>
          </a:xfrm>
          <a:prstGeom prst="ellipse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3572470"/>
            <a:ext cx="2000250" cy="1571030"/>
          </a:xfrm>
          <a:prstGeom prst="ellipse">
            <a:avLst/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29250" y="0"/>
            <a:ext cx="3714750" cy="3571280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3356521"/>
            <a:ext cx="2358479" cy="1786979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220" y="429220"/>
            <a:ext cx="2143720" cy="2143720"/>
          </a:xfrm>
          <a:prstGeom prst="ellipse">
            <a:avLst/>
          </a:prstGeom>
          <a:noFill/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2917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FAB753">
                  <a:alpha val="40000"/>
                </a:srgbClr>
              </a:gs>
              <a:gs pos="70000">
                <a:srgbClr val="FAB75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Eyebrow"/>
          <p:cNvSpPr/>
          <p:nvPr/>
        </p:nvSpPr>
        <p:spPr>
          <a:xfrm>
            <a:off x="3072036" y="627387"/>
            <a:ext cx="2999779" cy="99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b="1" kern="0" spc="155" dirty="0">
                <a:solidFill>
                  <a:srgbClr val="FAB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CENTERSTONE SCHOOL-BASED CLINICAL TRAINING SERIES</a:t>
            </a:r>
            <a:endParaRPr lang="en-US" sz="620" dirty="0"/>
          </a:p>
        </p:txBody>
      </p:sp>
      <p:sp>
        <p:nvSpPr>
          <p:cNvPr id="9" name="Accent Line Top"/>
          <p:cNvSpPr/>
          <p:nvPr/>
        </p:nvSpPr>
        <p:spPr>
          <a:xfrm>
            <a:off x="4357390" y="931416"/>
            <a:ext cx="429220" cy="13841"/>
          </a:xfrm>
          <a:prstGeom prst="rect">
            <a:avLst/>
          </a:prstGeom>
          <a:solidFill>
            <a:srgbClr val="FAB75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itle"/>
          <p:cNvSpPr/>
          <p:nvPr/>
        </p:nvSpPr>
        <p:spPr>
          <a:xfrm>
            <a:off x="1327158" y="1149561"/>
            <a:ext cx="6345936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55"/>
              </a:lnSpc>
              <a:spcAft>
                <a:spcPts val="1580"/>
              </a:spcAft>
              <a:buNone/>
            </a:pPr>
            <a:r>
              <a:rPr lang="en-US" sz="4050" kern="0" spc="-40" dirty="0">
                <a:solidFill>
                  <a:srgbClr val="FFFFFF"/>
                </a:solidFill>
                <a:latin typeface="Calibri Light" pitchFamily="34" charset="0"/>
                <a:cs typeface="Calibri Light" pitchFamily="34" charset="-120"/>
              </a:rPr>
              <a:t>Prevention Pathways Overview</a:t>
            </a:r>
            <a:endParaRPr lang="en-US" sz="4050" dirty="0"/>
          </a:p>
        </p:txBody>
      </p:sp>
      <p:sp>
        <p:nvSpPr>
          <p:cNvPr id="11" name="Accent Line Bottom"/>
          <p:cNvSpPr/>
          <p:nvPr/>
        </p:nvSpPr>
        <p:spPr>
          <a:xfrm>
            <a:off x="4143375" y="1900000"/>
            <a:ext cx="857250" cy="7590"/>
          </a:xfrm>
          <a:prstGeom prst="rect">
            <a:avLst/>
          </a:prstGeom>
          <a:solidFill>
            <a:srgbClr val="FAB753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Message"/>
          <p:cNvSpPr/>
          <p:nvPr/>
        </p:nvSpPr>
        <p:spPr>
          <a:xfrm>
            <a:off x="2072123" y="2040000"/>
            <a:ext cx="4999754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40" kern="0" spc="50" dirty="0">
                <a:solidFill>
                  <a:srgbClr val="55A49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Completion of this survey is required for attendance verification for today’s training.</a:t>
            </a:r>
            <a:endParaRPr lang="en-US" sz="1240" dirty="0"/>
          </a:p>
        </p:txBody>
      </p:sp>
      <p:sp>
        <p:nvSpPr>
          <p:cNvPr id="17" name="Survey Link Placeholder"/>
          <p:cNvSpPr/>
          <p:nvPr/>
        </p:nvSpPr>
        <p:spPr>
          <a:xfrm>
            <a:off x="2000250" y="4192872"/>
            <a:ext cx="4999754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40"/>
              </a:lnSpc>
            </a:pPr>
            <a:r>
              <a:rPr lang="en-US" sz="1060" u="sng" dirty="0">
                <a:solidFill>
                  <a:srgbClr val="FBB75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https://forms.office.com/r/EXVCQtPbti</a:t>
            </a:r>
            <a:endParaRPr lang="en-US" sz="1060" dirty="0">
              <a:solidFill>
                <a:srgbClr val="FBB753"/>
              </a:solidFill>
            </a:endParaRPr>
          </a:p>
          <a:p>
            <a:pPr marL="0" indent="0" algn="ctr">
              <a:lnSpc>
                <a:spcPts val="1440"/>
              </a:lnSpc>
              <a:buNone/>
            </a:pPr>
            <a:endParaRPr lang="en-US" sz="1050" dirty="0"/>
          </a:p>
        </p:txBody>
      </p:sp>
      <p:sp>
        <p:nvSpPr>
          <p:cNvPr id="15" name="Bottom Accent"/>
          <p:cNvSpPr/>
          <p:nvPr/>
        </p:nvSpPr>
        <p:spPr>
          <a:xfrm>
            <a:off x="0" y="5114330"/>
            <a:ext cx="9144000" cy="2917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FAB753">
                  <a:alpha val="60000"/>
                </a:srgbClr>
              </a:gs>
              <a:gs pos="70000">
                <a:srgbClr val="FAB753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3F00BDF-A22A-92E6-20D7-10B447887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429" y="2676823"/>
            <a:ext cx="1359395" cy="13593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4595</Words>
  <Application>Microsoft Macintosh PowerPoint</Application>
  <PresentationFormat>On-screen Show (16:9)</PresentationFormat>
  <Paragraphs>463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Topher Fuqua</cp:lastModifiedBy>
  <cp:revision>4</cp:revision>
  <dcterms:created xsi:type="dcterms:W3CDTF">2026-06-16T00:26:52Z</dcterms:created>
  <dcterms:modified xsi:type="dcterms:W3CDTF">2026-07-08T01:07:20Z</dcterms:modified>
</cp:coreProperties>
</file>