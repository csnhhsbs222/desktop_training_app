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74" r:id="rId2"/>
    <p:sldId id="275" r:id="rId3"/>
    <p:sldId id="272"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6" r:id="rId1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A5E7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DEAB3F8-533B-2C46-8C0A-3ED63FCF2E95}" v="11" dt="2026-06-27T20:50:02.12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1"/>
    <p:restoredTop sz="94610"/>
  </p:normalViewPr>
  <p:slideViewPr>
    <p:cSldViewPr snapToGrid="0" snapToObjects="1">
      <p:cViewPr varScale="1">
        <p:scale>
          <a:sx n="139" d="100"/>
          <a:sy n="139" d="100"/>
        </p:scale>
        <p:origin x="176" y="6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pher Fuqua" userId="b06e452ca8d47646" providerId="LiveId" clId="{FDC30CCB-931D-5803-897A-9D7300DA2EAE}"/>
    <pc:docChg chg="undo custSel addSld delSld modSld">
      <pc:chgData name="Topher Fuqua" userId="b06e452ca8d47646" providerId="LiveId" clId="{FDC30CCB-931D-5803-897A-9D7300DA2EAE}" dt="2026-06-27T20:53:33.947" v="492" actId="2696"/>
      <pc:docMkLst>
        <pc:docMk/>
      </pc:docMkLst>
      <pc:sldChg chg="modSp del mod">
        <pc:chgData name="Topher Fuqua" userId="b06e452ca8d47646" providerId="LiveId" clId="{FDC30CCB-931D-5803-897A-9D7300DA2EAE}" dt="2026-06-27T20:53:33.947" v="492" actId="2696"/>
        <pc:sldMkLst>
          <pc:docMk/>
          <pc:sldMk cId="0" sldId="256"/>
        </pc:sldMkLst>
        <pc:spChg chg="mod">
          <ac:chgData name="Topher Fuqua" userId="b06e452ca8d47646" providerId="LiveId" clId="{FDC30CCB-931D-5803-897A-9D7300DA2EAE}" dt="2026-06-27T20:17:29.425" v="0" actId="26606"/>
          <ac:spMkLst>
            <pc:docMk/>
            <pc:sldMk cId="0" sldId="256"/>
            <ac:spMk id="3" creationId="{00000000-0000-0000-0000-000000000000}"/>
          </ac:spMkLst>
        </pc:spChg>
        <pc:spChg chg="mod">
          <ac:chgData name="Topher Fuqua" userId="b06e452ca8d47646" providerId="LiveId" clId="{FDC30CCB-931D-5803-897A-9D7300DA2EAE}" dt="2026-06-27T20:17:29.425" v="0" actId="26606"/>
          <ac:spMkLst>
            <pc:docMk/>
            <pc:sldMk cId="0" sldId="256"/>
            <ac:spMk id="13" creationId="{00000000-0000-0000-0000-000000000000}"/>
          </ac:spMkLst>
        </pc:spChg>
      </pc:sldChg>
      <pc:sldChg chg="addSp delSp modSp del mod setBg">
        <pc:chgData name="Topher Fuqua" userId="b06e452ca8d47646" providerId="LiveId" clId="{FDC30CCB-931D-5803-897A-9D7300DA2EAE}" dt="2026-06-27T20:49:19.114" v="379" actId="2696"/>
        <pc:sldMkLst>
          <pc:docMk/>
          <pc:sldMk cId="0" sldId="257"/>
        </pc:sldMkLst>
        <pc:spChg chg="del">
          <ac:chgData name="Topher Fuqua" userId="b06e452ca8d47646" providerId="LiveId" clId="{FDC30CCB-931D-5803-897A-9D7300DA2EAE}" dt="2026-06-27T20:36:26.543" v="1" actId="26606"/>
          <ac:spMkLst>
            <pc:docMk/>
            <pc:sldMk cId="0" sldId="257"/>
            <ac:spMk id="2" creationId="{00000000-0000-0000-0000-000000000000}"/>
          </ac:spMkLst>
        </pc:spChg>
        <pc:spChg chg="del mod">
          <ac:chgData name="Topher Fuqua" userId="b06e452ca8d47646" providerId="LiveId" clId="{FDC30CCB-931D-5803-897A-9D7300DA2EAE}" dt="2026-06-27T20:36:26.543" v="1" actId="26606"/>
          <ac:spMkLst>
            <pc:docMk/>
            <pc:sldMk cId="0" sldId="257"/>
            <ac:spMk id="3" creationId="{00000000-0000-0000-0000-000000000000}"/>
          </ac:spMkLst>
        </pc:spChg>
        <pc:spChg chg="mod">
          <ac:chgData name="Topher Fuqua" userId="b06e452ca8d47646" providerId="LiveId" clId="{FDC30CCB-931D-5803-897A-9D7300DA2EAE}" dt="2026-06-27T20:17:29.425" v="0" actId="26606"/>
          <ac:spMkLst>
            <pc:docMk/>
            <pc:sldMk cId="0" sldId="257"/>
            <ac:spMk id="5" creationId="{00000000-0000-0000-0000-000000000000}"/>
          </ac:spMkLst>
        </pc:spChg>
        <pc:spChg chg="mod">
          <ac:chgData name="Topher Fuqua" userId="b06e452ca8d47646" providerId="LiveId" clId="{FDC30CCB-931D-5803-897A-9D7300DA2EAE}" dt="2026-06-27T20:45:03.600" v="52" actId="26606"/>
          <ac:spMkLst>
            <pc:docMk/>
            <pc:sldMk cId="0" sldId="257"/>
            <ac:spMk id="6" creationId="{00000000-0000-0000-0000-000000000000}"/>
          </ac:spMkLst>
        </pc:spChg>
        <pc:spChg chg="mod">
          <ac:chgData name="Topher Fuqua" userId="b06e452ca8d47646" providerId="LiveId" clId="{FDC30CCB-931D-5803-897A-9D7300DA2EAE}" dt="2026-06-27T20:45:03.600" v="52" actId="26606"/>
          <ac:spMkLst>
            <pc:docMk/>
            <pc:sldMk cId="0" sldId="257"/>
            <ac:spMk id="7" creationId="{00000000-0000-0000-0000-000000000000}"/>
          </ac:spMkLst>
        </pc:spChg>
        <pc:spChg chg="mod">
          <ac:chgData name="Topher Fuqua" userId="b06e452ca8d47646" providerId="LiveId" clId="{FDC30CCB-931D-5803-897A-9D7300DA2EAE}" dt="2026-06-27T20:17:29.425" v="0" actId="26606"/>
          <ac:spMkLst>
            <pc:docMk/>
            <pc:sldMk cId="0" sldId="257"/>
            <ac:spMk id="8" creationId="{00000000-0000-0000-0000-000000000000}"/>
          </ac:spMkLst>
        </pc:spChg>
        <pc:spChg chg="mod">
          <ac:chgData name="Topher Fuqua" userId="b06e452ca8d47646" providerId="LiveId" clId="{FDC30CCB-931D-5803-897A-9D7300DA2EAE}" dt="2026-06-27T20:45:03.600" v="52" actId="26606"/>
          <ac:spMkLst>
            <pc:docMk/>
            <pc:sldMk cId="0" sldId="257"/>
            <ac:spMk id="9" creationId="{00000000-0000-0000-0000-000000000000}"/>
          </ac:spMkLst>
        </pc:spChg>
        <pc:spChg chg="mod">
          <ac:chgData name="Topher Fuqua" userId="b06e452ca8d47646" providerId="LiveId" clId="{FDC30CCB-931D-5803-897A-9D7300DA2EAE}" dt="2026-06-27T20:45:03.600" v="52" actId="26606"/>
          <ac:spMkLst>
            <pc:docMk/>
            <pc:sldMk cId="0" sldId="257"/>
            <ac:spMk id="11" creationId="{00000000-0000-0000-0000-000000000000}"/>
          </ac:spMkLst>
        </pc:spChg>
        <pc:spChg chg="mod">
          <ac:chgData name="Topher Fuqua" userId="b06e452ca8d47646" providerId="LiveId" clId="{FDC30CCB-931D-5803-897A-9D7300DA2EAE}" dt="2026-06-27T20:17:29.425" v="0" actId="26606"/>
          <ac:spMkLst>
            <pc:docMk/>
            <pc:sldMk cId="0" sldId="257"/>
            <ac:spMk id="12" creationId="{00000000-0000-0000-0000-000000000000}"/>
          </ac:spMkLst>
        </pc:spChg>
        <pc:spChg chg="mod">
          <ac:chgData name="Topher Fuqua" userId="b06e452ca8d47646" providerId="LiveId" clId="{FDC30CCB-931D-5803-897A-9D7300DA2EAE}" dt="2026-06-27T20:45:03.600" v="52" actId="26606"/>
          <ac:spMkLst>
            <pc:docMk/>
            <pc:sldMk cId="0" sldId="257"/>
            <ac:spMk id="13" creationId="{00000000-0000-0000-0000-000000000000}"/>
          </ac:spMkLst>
        </pc:spChg>
        <pc:spChg chg="mod">
          <ac:chgData name="Topher Fuqua" userId="b06e452ca8d47646" providerId="LiveId" clId="{FDC30CCB-931D-5803-897A-9D7300DA2EAE}" dt="2026-06-27T20:45:03.600" v="52" actId="26606"/>
          <ac:spMkLst>
            <pc:docMk/>
            <pc:sldMk cId="0" sldId="257"/>
            <ac:spMk id="15" creationId="{00000000-0000-0000-0000-000000000000}"/>
          </ac:spMkLst>
        </pc:spChg>
        <pc:spChg chg="mod">
          <ac:chgData name="Topher Fuqua" userId="b06e452ca8d47646" providerId="LiveId" clId="{FDC30CCB-931D-5803-897A-9D7300DA2EAE}" dt="2026-06-27T20:17:29.425" v="0" actId="26606"/>
          <ac:spMkLst>
            <pc:docMk/>
            <pc:sldMk cId="0" sldId="257"/>
            <ac:spMk id="16" creationId="{00000000-0000-0000-0000-000000000000}"/>
          </ac:spMkLst>
        </pc:spChg>
        <pc:spChg chg="mod">
          <ac:chgData name="Topher Fuqua" userId="b06e452ca8d47646" providerId="LiveId" clId="{FDC30CCB-931D-5803-897A-9D7300DA2EAE}" dt="2026-06-27T20:45:03.600" v="52" actId="26606"/>
          <ac:spMkLst>
            <pc:docMk/>
            <pc:sldMk cId="0" sldId="257"/>
            <ac:spMk id="17" creationId="{00000000-0000-0000-0000-000000000000}"/>
          </ac:spMkLst>
        </pc:spChg>
        <pc:spChg chg="mod">
          <ac:chgData name="Topher Fuqua" userId="b06e452ca8d47646" providerId="LiveId" clId="{FDC30CCB-931D-5803-897A-9D7300DA2EAE}" dt="2026-06-27T20:45:03.600" v="52" actId="26606"/>
          <ac:spMkLst>
            <pc:docMk/>
            <pc:sldMk cId="0" sldId="257"/>
            <ac:spMk id="18" creationId="{00000000-0000-0000-0000-000000000000}"/>
          </ac:spMkLst>
        </pc:spChg>
        <pc:spChg chg="mod">
          <ac:chgData name="Topher Fuqua" userId="b06e452ca8d47646" providerId="LiveId" clId="{FDC30CCB-931D-5803-897A-9D7300DA2EAE}" dt="2026-06-27T20:17:29.425" v="0" actId="26606"/>
          <ac:spMkLst>
            <pc:docMk/>
            <pc:sldMk cId="0" sldId="257"/>
            <ac:spMk id="19" creationId="{00000000-0000-0000-0000-000000000000}"/>
          </ac:spMkLst>
        </pc:spChg>
        <pc:spChg chg="add del mod">
          <ac:chgData name="Topher Fuqua" userId="b06e452ca8d47646" providerId="LiveId" clId="{FDC30CCB-931D-5803-897A-9D7300DA2EAE}" dt="2026-06-27T20:43:23.674" v="45"/>
          <ac:spMkLst>
            <pc:docMk/>
            <pc:sldMk cId="0" sldId="257"/>
            <ac:spMk id="20" creationId="{7A594F4D-0B2A-D34A-786C-C47CF359B812}"/>
          </ac:spMkLst>
        </pc:spChg>
      </pc:sldChg>
      <pc:sldChg chg="addSp delSp modSp mod">
        <pc:chgData name="Topher Fuqua" userId="b06e452ca8d47646" providerId="LiveId" clId="{FDC30CCB-931D-5803-897A-9D7300DA2EAE}" dt="2026-06-27T20:17:29.425" v="0" actId="26606"/>
        <pc:sldMkLst>
          <pc:docMk/>
          <pc:sldMk cId="0" sldId="258"/>
        </pc:sldMkLst>
        <pc:spChg chg="mod">
          <ac:chgData name="Topher Fuqua" userId="b06e452ca8d47646" providerId="LiveId" clId="{FDC30CCB-931D-5803-897A-9D7300DA2EAE}" dt="2026-06-27T20:17:29.425" v="0" actId="26606"/>
          <ac:spMkLst>
            <pc:docMk/>
            <pc:sldMk cId="0" sldId="258"/>
            <ac:spMk id="3" creationId="{00000000-0000-0000-0000-000000000000}"/>
          </ac:spMkLst>
        </pc:spChg>
        <pc:spChg chg="del">
          <ac:chgData name="Topher Fuqua" userId="b06e452ca8d47646" providerId="LiveId" clId="{FDC30CCB-931D-5803-897A-9D7300DA2EAE}" dt="2026-06-27T20:17:29.425" v="0" actId="26606"/>
          <ac:spMkLst>
            <pc:docMk/>
            <pc:sldMk cId="0" sldId="258"/>
            <ac:spMk id="5" creationId="{00000000-0000-0000-0000-000000000000}"/>
          </ac:spMkLst>
        </pc:spChg>
        <pc:spChg chg="del">
          <ac:chgData name="Topher Fuqua" userId="b06e452ca8d47646" providerId="LiveId" clId="{FDC30CCB-931D-5803-897A-9D7300DA2EAE}" dt="2026-06-27T20:17:29.425" v="0" actId="26606"/>
          <ac:spMkLst>
            <pc:docMk/>
            <pc:sldMk cId="0" sldId="258"/>
            <ac:spMk id="9" creationId="{00000000-0000-0000-0000-000000000000}"/>
          </ac:spMkLst>
        </pc:spChg>
        <pc:spChg chg="mod">
          <ac:chgData name="Topher Fuqua" userId="b06e452ca8d47646" providerId="LiveId" clId="{FDC30CCB-931D-5803-897A-9D7300DA2EAE}" dt="2026-06-27T20:17:29.425" v="0" actId="26606"/>
          <ac:spMkLst>
            <pc:docMk/>
            <pc:sldMk cId="0" sldId="258"/>
            <ac:spMk id="10" creationId="{00000000-0000-0000-0000-000000000000}"/>
          </ac:spMkLst>
        </pc:spChg>
        <pc:spChg chg="mod">
          <ac:chgData name="Topher Fuqua" userId="b06e452ca8d47646" providerId="LiveId" clId="{FDC30CCB-931D-5803-897A-9D7300DA2EAE}" dt="2026-06-27T20:17:29.425" v="0" actId="26606"/>
          <ac:spMkLst>
            <pc:docMk/>
            <pc:sldMk cId="0" sldId="258"/>
            <ac:spMk id="11" creationId="{00000000-0000-0000-0000-000000000000}"/>
          </ac:spMkLst>
        </pc:spChg>
        <pc:spChg chg="del">
          <ac:chgData name="Topher Fuqua" userId="b06e452ca8d47646" providerId="LiveId" clId="{FDC30CCB-931D-5803-897A-9D7300DA2EAE}" dt="2026-06-27T20:17:29.425" v="0" actId="26606"/>
          <ac:spMkLst>
            <pc:docMk/>
            <pc:sldMk cId="0" sldId="258"/>
            <ac:spMk id="26" creationId="{00000000-0000-0000-0000-000000000000}"/>
          </ac:spMkLst>
        </pc:spChg>
        <pc:spChg chg="add">
          <ac:chgData name="Topher Fuqua" userId="b06e452ca8d47646" providerId="LiveId" clId="{FDC30CCB-931D-5803-897A-9D7300DA2EAE}" dt="2026-06-27T20:17:29.425" v="0" actId="26606"/>
          <ac:spMkLst>
            <pc:docMk/>
            <pc:sldMk cId="0" sldId="258"/>
            <ac:spMk id="31" creationId="{00000000-0000-0000-0000-000000000000}"/>
          </ac:spMkLst>
        </pc:spChg>
        <pc:spChg chg="add">
          <ac:chgData name="Topher Fuqua" userId="b06e452ca8d47646" providerId="LiveId" clId="{FDC30CCB-931D-5803-897A-9D7300DA2EAE}" dt="2026-06-27T20:17:29.425" v="0" actId="26606"/>
          <ac:spMkLst>
            <pc:docMk/>
            <pc:sldMk cId="0" sldId="258"/>
            <ac:spMk id="41" creationId="{00000000-0000-0000-0000-000000000000}"/>
          </ac:spMkLst>
        </pc:spChg>
        <pc:spChg chg="add">
          <ac:chgData name="Topher Fuqua" userId="b06e452ca8d47646" providerId="LiveId" clId="{FDC30CCB-931D-5803-897A-9D7300DA2EAE}" dt="2026-06-27T20:17:29.425" v="0" actId="26606"/>
          <ac:spMkLst>
            <pc:docMk/>
            <pc:sldMk cId="0" sldId="258"/>
            <ac:spMk id="50" creationId="{00000000-0000-0000-0000-000000000000}"/>
          </ac:spMkLst>
        </pc:spChg>
        <pc:spChg chg="add">
          <ac:chgData name="Topher Fuqua" userId="b06e452ca8d47646" providerId="LiveId" clId="{FDC30CCB-931D-5803-897A-9D7300DA2EAE}" dt="2026-06-27T20:17:29.425" v="0" actId="26606"/>
          <ac:spMkLst>
            <pc:docMk/>
            <pc:sldMk cId="0" sldId="258"/>
            <ac:spMk id="53" creationId="{00000000-0000-0000-0000-000000000000}"/>
          </ac:spMkLst>
        </pc:spChg>
      </pc:sldChg>
      <pc:sldChg chg="modSp mod">
        <pc:chgData name="Topher Fuqua" userId="b06e452ca8d47646" providerId="LiveId" clId="{FDC30CCB-931D-5803-897A-9D7300DA2EAE}" dt="2026-06-27T20:17:29.425" v="0" actId="26606"/>
        <pc:sldMkLst>
          <pc:docMk/>
          <pc:sldMk cId="0" sldId="260"/>
        </pc:sldMkLst>
        <pc:spChg chg="mod">
          <ac:chgData name="Topher Fuqua" userId="b06e452ca8d47646" providerId="LiveId" clId="{FDC30CCB-931D-5803-897A-9D7300DA2EAE}" dt="2026-06-27T20:17:29.425" v="0" actId="26606"/>
          <ac:spMkLst>
            <pc:docMk/>
            <pc:sldMk cId="0" sldId="260"/>
            <ac:spMk id="25" creationId="{00000000-0000-0000-0000-000000000000}"/>
          </ac:spMkLst>
        </pc:spChg>
      </pc:sldChg>
      <pc:sldChg chg="modSp mod">
        <pc:chgData name="Topher Fuqua" userId="b06e452ca8d47646" providerId="LiveId" clId="{FDC30CCB-931D-5803-897A-9D7300DA2EAE}" dt="2026-06-27T20:17:29.425" v="0" actId="26606"/>
        <pc:sldMkLst>
          <pc:docMk/>
          <pc:sldMk cId="0" sldId="263"/>
        </pc:sldMkLst>
        <pc:spChg chg="mod">
          <ac:chgData name="Topher Fuqua" userId="b06e452ca8d47646" providerId="LiveId" clId="{FDC30CCB-931D-5803-897A-9D7300DA2EAE}" dt="2026-06-27T20:17:29.425" v="0" actId="26606"/>
          <ac:spMkLst>
            <pc:docMk/>
            <pc:sldMk cId="0" sldId="263"/>
            <ac:spMk id="63" creationId="{00000000-0000-0000-0000-000000000000}"/>
          </ac:spMkLst>
        </pc:spChg>
      </pc:sldChg>
      <pc:sldChg chg="modSp mod">
        <pc:chgData name="Topher Fuqua" userId="b06e452ca8d47646" providerId="LiveId" clId="{FDC30CCB-931D-5803-897A-9D7300DA2EAE}" dt="2026-06-27T20:17:29.425" v="0" actId="26606"/>
        <pc:sldMkLst>
          <pc:docMk/>
          <pc:sldMk cId="0" sldId="269"/>
        </pc:sldMkLst>
        <pc:spChg chg="mod">
          <ac:chgData name="Topher Fuqua" userId="b06e452ca8d47646" providerId="LiveId" clId="{FDC30CCB-931D-5803-897A-9D7300DA2EAE}" dt="2026-06-27T20:17:29.425" v="0" actId="26606"/>
          <ac:spMkLst>
            <pc:docMk/>
            <pc:sldMk cId="0" sldId="269"/>
            <ac:spMk id="57" creationId="{00000000-0000-0000-0000-000000000000}"/>
          </ac:spMkLst>
        </pc:spChg>
      </pc:sldChg>
      <pc:sldChg chg="modSp mod">
        <pc:chgData name="Topher Fuqua" userId="b06e452ca8d47646" providerId="LiveId" clId="{FDC30CCB-931D-5803-897A-9D7300DA2EAE}" dt="2026-06-27T20:17:29.425" v="0" actId="26606"/>
        <pc:sldMkLst>
          <pc:docMk/>
          <pc:sldMk cId="0" sldId="270"/>
        </pc:sldMkLst>
        <pc:spChg chg="mod">
          <ac:chgData name="Topher Fuqua" userId="b06e452ca8d47646" providerId="LiveId" clId="{FDC30CCB-931D-5803-897A-9D7300DA2EAE}" dt="2026-06-27T20:17:29.425" v="0" actId="26606"/>
          <ac:spMkLst>
            <pc:docMk/>
            <pc:sldMk cId="0" sldId="270"/>
            <ac:spMk id="2" creationId="{00000000-0000-0000-0000-000000000000}"/>
          </ac:spMkLst>
        </pc:spChg>
      </pc:sldChg>
      <pc:sldChg chg="modSp mod">
        <pc:chgData name="Topher Fuqua" userId="b06e452ca8d47646" providerId="LiveId" clId="{FDC30CCB-931D-5803-897A-9D7300DA2EAE}" dt="2026-06-27T20:17:29.425" v="0" actId="26606"/>
        <pc:sldMkLst>
          <pc:docMk/>
          <pc:sldMk cId="0" sldId="271"/>
        </pc:sldMkLst>
        <pc:spChg chg="mod">
          <ac:chgData name="Topher Fuqua" userId="b06e452ca8d47646" providerId="LiveId" clId="{FDC30CCB-931D-5803-897A-9D7300DA2EAE}" dt="2026-06-27T20:17:29.425" v="0" actId="26606"/>
          <ac:spMkLst>
            <pc:docMk/>
            <pc:sldMk cId="0" sldId="271"/>
            <ac:spMk id="27" creationId="{00000000-0000-0000-0000-000000000000}"/>
          </ac:spMkLst>
        </pc:spChg>
      </pc:sldChg>
      <pc:sldChg chg="add">
        <pc:chgData name="Topher Fuqua" userId="b06e452ca8d47646" providerId="LiveId" clId="{FDC30CCB-931D-5803-897A-9D7300DA2EAE}" dt="2026-06-27T20:17:29.425" v="0" actId="26606"/>
        <pc:sldMkLst>
          <pc:docMk/>
          <pc:sldMk cId="0" sldId="272"/>
        </pc:sldMkLst>
      </pc:sldChg>
      <pc:sldChg chg="new del">
        <pc:chgData name="Topher Fuqua" userId="b06e452ca8d47646" providerId="LiveId" clId="{FDC30CCB-931D-5803-897A-9D7300DA2EAE}" dt="2026-06-27T20:40:37.444" v="4" actId="2696"/>
        <pc:sldMkLst>
          <pc:docMk/>
          <pc:sldMk cId="4013051745" sldId="273"/>
        </pc:sldMkLst>
      </pc:sldChg>
      <pc:sldChg chg="modSp add del mod setBg">
        <pc:chgData name="Topher Fuqua" userId="b06e452ca8d47646" providerId="LiveId" clId="{FDC30CCB-931D-5803-897A-9D7300DA2EAE}" dt="2026-06-27T20:53:26.305" v="491" actId="20577"/>
        <pc:sldMkLst>
          <pc:docMk/>
          <pc:sldMk cId="0" sldId="274"/>
        </pc:sldMkLst>
        <pc:spChg chg="mod">
          <ac:chgData name="Topher Fuqua" userId="b06e452ca8d47646" providerId="LiveId" clId="{FDC30CCB-931D-5803-897A-9D7300DA2EAE}" dt="2026-06-27T20:53:13.951" v="454" actId="20577"/>
          <ac:spMkLst>
            <pc:docMk/>
            <pc:sldMk cId="0" sldId="274"/>
            <ac:spMk id="14" creationId="{00000000-0000-0000-0000-000000000000}"/>
          </ac:spMkLst>
        </pc:spChg>
        <pc:spChg chg="mod">
          <ac:chgData name="Topher Fuqua" userId="b06e452ca8d47646" providerId="LiveId" clId="{FDC30CCB-931D-5803-897A-9D7300DA2EAE}" dt="2026-06-27T20:53:26.305" v="491" actId="20577"/>
          <ac:spMkLst>
            <pc:docMk/>
            <pc:sldMk cId="0" sldId="274"/>
            <ac:spMk id="15" creationId="{00000000-0000-0000-0000-000000000000}"/>
          </ac:spMkLst>
        </pc:spChg>
      </pc:sldChg>
      <pc:sldChg chg="modSp add mod setBg">
        <pc:chgData name="Topher Fuqua" userId="b06e452ca8d47646" providerId="LiveId" clId="{FDC30CCB-931D-5803-897A-9D7300DA2EAE}" dt="2026-06-27T20:49:00.271" v="378" actId="20577"/>
        <pc:sldMkLst>
          <pc:docMk/>
          <pc:sldMk cId="0" sldId="275"/>
        </pc:sldMkLst>
        <pc:spChg chg="mod">
          <ac:chgData name="Topher Fuqua" userId="b06e452ca8d47646" providerId="LiveId" clId="{FDC30CCB-931D-5803-897A-9D7300DA2EAE}" dt="2026-06-27T20:46:50.063" v="93" actId="20577"/>
          <ac:spMkLst>
            <pc:docMk/>
            <pc:sldMk cId="0" sldId="275"/>
            <ac:spMk id="5" creationId="{00000000-0000-0000-0000-000000000000}"/>
          </ac:spMkLst>
        </pc:spChg>
        <pc:spChg chg="mod">
          <ac:chgData name="Topher Fuqua" userId="b06e452ca8d47646" providerId="LiveId" clId="{FDC30CCB-931D-5803-897A-9D7300DA2EAE}" dt="2026-06-27T20:47:21.288" v="128" actId="20577"/>
          <ac:spMkLst>
            <pc:docMk/>
            <pc:sldMk cId="0" sldId="275"/>
            <ac:spMk id="6" creationId="{00000000-0000-0000-0000-000000000000}"/>
          </ac:spMkLst>
        </pc:spChg>
        <pc:spChg chg="mod">
          <ac:chgData name="Topher Fuqua" userId="b06e452ca8d47646" providerId="LiveId" clId="{FDC30CCB-931D-5803-897A-9D7300DA2EAE}" dt="2026-06-27T20:48:36.559" v="322" actId="20577"/>
          <ac:spMkLst>
            <pc:docMk/>
            <pc:sldMk cId="0" sldId="275"/>
            <ac:spMk id="8" creationId="{00000000-0000-0000-0000-000000000000}"/>
          </ac:spMkLst>
        </pc:spChg>
        <pc:spChg chg="mod">
          <ac:chgData name="Topher Fuqua" userId="b06e452ca8d47646" providerId="LiveId" clId="{FDC30CCB-931D-5803-897A-9D7300DA2EAE}" dt="2026-06-27T20:49:00.271" v="378" actId="20577"/>
          <ac:spMkLst>
            <pc:docMk/>
            <pc:sldMk cId="0" sldId="275"/>
            <ac:spMk id="9" creationId="{00000000-0000-0000-0000-000000000000}"/>
          </ac:spMkLst>
        </pc:spChg>
        <pc:spChg chg="mod">
          <ac:chgData name="Topher Fuqua" userId="b06e452ca8d47646" providerId="LiveId" clId="{FDC30CCB-931D-5803-897A-9D7300DA2EAE}" dt="2026-06-27T20:46:31.562" v="56" actId="948"/>
          <ac:spMkLst>
            <pc:docMk/>
            <pc:sldMk cId="0" sldId="275"/>
            <ac:spMk id="16" creationId="{00000000-0000-0000-0000-000000000000}"/>
          </ac:spMkLst>
        </pc:spChg>
        <pc:spChg chg="mod">
          <ac:chgData name="Topher Fuqua" userId="b06e452ca8d47646" providerId="LiveId" clId="{FDC30CCB-931D-5803-897A-9D7300DA2EAE}" dt="2026-06-27T20:43:31.224" v="46"/>
          <ac:spMkLst>
            <pc:docMk/>
            <pc:sldMk cId="0" sldId="275"/>
            <ac:spMk id="23" creationId="{00000000-0000-0000-0000-000000000000}"/>
          </ac:spMkLst>
        </pc:spChg>
        <pc:spChg chg="mod">
          <ac:chgData name="Topher Fuqua" userId="b06e452ca8d47646" providerId="LiveId" clId="{FDC30CCB-931D-5803-897A-9D7300DA2EAE}" dt="2026-06-27T20:43:48.580" v="47"/>
          <ac:spMkLst>
            <pc:docMk/>
            <pc:sldMk cId="0" sldId="275"/>
            <ac:spMk id="28" creationId="{00000000-0000-0000-0000-000000000000}"/>
          </ac:spMkLst>
        </pc:spChg>
        <pc:spChg chg="mod">
          <ac:chgData name="Topher Fuqua" userId="b06e452ca8d47646" providerId="LiveId" clId="{FDC30CCB-931D-5803-897A-9D7300DA2EAE}" dt="2026-06-27T20:44:04.930" v="48"/>
          <ac:spMkLst>
            <pc:docMk/>
            <pc:sldMk cId="0" sldId="275"/>
            <ac:spMk id="33" creationId="{00000000-0000-0000-0000-000000000000}"/>
          </ac:spMkLst>
        </pc:spChg>
        <pc:spChg chg="mod">
          <ac:chgData name="Topher Fuqua" userId="b06e452ca8d47646" providerId="LiveId" clId="{FDC30CCB-931D-5803-897A-9D7300DA2EAE}" dt="2026-06-27T20:44:24.112" v="49"/>
          <ac:spMkLst>
            <pc:docMk/>
            <pc:sldMk cId="0" sldId="275"/>
            <ac:spMk id="38" creationId="{00000000-0000-0000-0000-000000000000}"/>
          </ac:spMkLst>
        </pc:spChg>
        <pc:spChg chg="mod">
          <ac:chgData name="Topher Fuqua" userId="b06e452ca8d47646" providerId="LiveId" clId="{FDC30CCB-931D-5803-897A-9D7300DA2EAE}" dt="2026-06-27T20:45:28.612" v="53"/>
          <ac:spMkLst>
            <pc:docMk/>
            <pc:sldMk cId="0" sldId="275"/>
            <ac:spMk id="4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055739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svg"/><Relationship Id="rId7" Type="http://schemas.openxmlformats.org/officeDocument/2006/relationships/image" Target="../media/image5.sv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7.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6.svg"/><Relationship Id="rId5" Type="http://schemas.openxmlformats.org/officeDocument/2006/relationships/image" Target="../media/image15.svg"/><Relationship Id="rId4" Type="http://schemas.openxmlformats.org/officeDocument/2006/relationships/image" Target="../media/image14.svg"/></Relationships>
</file>

<file path=ppt/slides/_rels/slide9.xml.rels><?xml version="1.0" encoding="UTF-8" standalone="yes"?>
<Relationships xmlns="http://schemas.openxmlformats.org/package/2006/relationships"><Relationship Id="rId8" Type="http://schemas.openxmlformats.org/officeDocument/2006/relationships/image" Target="../media/image22.svg"/><Relationship Id="rId13" Type="http://schemas.openxmlformats.org/officeDocument/2006/relationships/image" Target="../media/image27.svg"/><Relationship Id="rId18" Type="http://schemas.openxmlformats.org/officeDocument/2006/relationships/image" Target="../media/image32.svg"/><Relationship Id="rId3" Type="http://schemas.openxmlformats.org/officeDocument/2006/relationships/image" Target="../media/image17.svg"/><Relationship Id="rId7" Type="http://schemas.openxmlformats.org/officeDocument/2006/relationships/image" Target="../media/image21.svg"/><Relationship Id="rId12" Type="http://schemas.openxmlformats.org/officeDocument/2006/relationships/image" Target="../media/image26.svg"/><Relationship Id="rId17" Type="http://schemas.openxmlformats.org/officeDocument/2006/relationships/image" Target="../media/image31.svg"/><Relationship Id="rId2" Type="http://schemas.openxmlformats.org/officeDocument/2006/relationships/notesSlide" Target="../notesSlides/notesSlide8.xml"/><Relationship Id="rId16" Type="http://schemas.openxmlformats.org/officeDocument/2006/relationships/image" Target="../media/image30.svg"/><Relationship Id="rId1" Type="http://schemas.openxmlformats.org/officeDocument/2006/relationships/slideLayout" Target="../slideLayouts/slideLayout1.xml"/><Relationship Id="rId6" Type="http://schemas.openxmlformats.org/officeDocument/2006/relationships/image" Target="../media/image20.svg"/><Relationship Id="rId11" Type="http://schemas.openxmlformats.org/officeDocument/2006/relationships/image" Target="../media/image25.svg"/><Relationship Id="rId5" Type="http://schemas.openxmlformats.org/officeDocument/2006/relationships/image" Target="../media/image19.svg"/><Relationship Id="rId15" Type="http://schemas.openxmlformats.org/officeDocument/2006/relationships/image" Target="../media/image29.svg"/><Relationship Id="rId10" Type="http://schemas.openxmlformats.org/officeDocument/2006/relationships/image" Target="../media/image24.svg"/><Relationship Id="rId19" Type="http://schemas.openxmlformats.org/officeDocument/2006/relationships/image" Target="../media/image33.svg"/><Relationship Id="rId4" Type="http://schemas.openxmlformats.org/officeDocument/2006/relationships/image" Target="../media/image18.svg"/><Relationship Id="rId9" Type="http://schemas.openxmlformats.org/officeDocument/2006/relationships/image" Target="../media/image23.svg"/><Relationship Id="rId14" Type="http://schemas.openxmlformats.org/officeDocument/2006/relationships/image" Target="../media/image28.sv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36.svg"/><Relationship Id="rId4" Type="http://schemas.openxmlformats.org/officeDocument/2006/relationships/image" Target="../media/image35.svg"/></Relationships>
</file>

<file path=ppt/slides/_rels/slide12.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40.svg"/><Relationship Id="rId5" Type="http://schemas.openxmlformats.org/officeDocument/2006/relationships/image" Target="../media/image39.svg"/><Relationship Id="rId4" Type="http://schemas.openxmlformats.org/officeDocument/2006/relationships/image" Target="../media/image38.svg"/></Relationships>
</file>

<file path=ppt/slides/_rels/slide13.xml.rels><?xml version="1.0" encoding="UTF-8" standalone="yes"?>
<Relationships xmlns="http://schemas.openxmlformats.org/package/2006/relationships"><Relationship Id="rId3" Type="http://schemas.openxmlformats.org/officeDocument/2006/relationships/image" Target="../media/image41.sv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44.svg"/><Relationship Id="rId5" Type="http://schemas.openxmlformats.org/officeDocument/2006/relationships/image" Target="../media/image43.svg"/><Relationship Id="rId4" Type="http://schemas.openxmlformats.org/officeDocument/2006/relationships/image" Target="../media/image42.svg"/></Relationships>
</file>

<file path=ppt/slides/_rels/slide14.xml.rels><?xml version="1.0" encoding="UTF-8" standalone="yes"?>
<Relationships xmlns="http://schemas.openxmlformats.org/package/2006/relationships"><Relationship Id="rId3" Type="http://schemas.openxmlformats.org/officeDocument/2006/relationships/image" Target="../media/image45.sv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6.svg"/><Relationship Id="rId7" Type="http://schemas.openxmlformats.org/officeDocument/2006/relationships/image" Target="../media/image50.sv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49.svg"/><Relationship Id="rId5" Type="http://schemas.openxmlformats.org/officeDocument/2006/relationships/image" Target="../media/image48.svg"/><Relationship Id="rId4" Type="http://schemas.openxmlformats.org/officeDocument/2006/relationships/image" Target="../media/image47.sv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51.sv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54.svg"/><Relationship Id="rId5" Type="http://schemas.openxmlformats.org/officeDocument/2006/relationships/image" Target="../media/image53.svg"/><Relationship Id="rId4" Type="http://schemas.openxmlformats.org/officeDocument/2006/relationships/image" Target="../media/image52.svg"/></Relationships>
</file>

<file path=ppt/slides/_rels/slide1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hyperlink" Target="https://forms.office.com/r/EXVCQtPbti"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5E72"/>
        </a:solidFill>
        <a:effectLst/>
      </p:bgPr>
    </p:bg>
    <p:spTree>
      <p:nvGrpSpPr>
        <p:cNvPr id="1" name=""/>
        <p:cNvGrpSpPr/>
        <p:nvPr/>
      </p:nvGrpSpPr>
      <p:grpSpPr>
        <a:xfrm>
          <a:off x="0" y="0"/>
          <a:ext cx="0" cy="0"/>
          <a:chOff x="0" y="0"/>
          <a:chExt cx="0" cy="0"/>
        </a:xfrm>
      </p:grpSpPr>
      <p:sp>
        <p:nvSpPr>
          <p:cNvPr id="2" name="Text 0"/>
          <p:cNvSpPr/>
          <p:nvPr/>
        </p:nvSpPr>
        <p:spPr>
          <a:xfrm>
            <a:off x="6572250" y="0"/>
            <a:ext cx="2571750" cy="2571750"/>
          </a:xfrm>
          <a:prstGeom prst="ellipse">
            <a:avLst/>
          </a:prstGeom>
          <a:solidFill>
            <a:srgbClr val="FFFFFF">
              <a:alpha val="3000"/>
            </a:srgbClr>
          </a:solidFill>
          <a:ln/>
        </p:spPr>
        <p:txBody>
          <a:bodyPr wrap="square" rtlCol="0" anchor="t"/>
          <a:lstStyle/>
          <a:p>
            <a:pPr marL="0" indent="0">
              <a:buNone/>
            </a:pPr>
            <a:endParaRPr lang="en-US" dirty="0"/>
          </a:p>
        </p:txBody>
      </p:sp>
      <p:sp>
        <p:nvSpPr>
          <p:cNvPr id="3" name="Text 1"/>
          <p:cNvSpPr/>
          <p:nvPr/>
        </p:nvSpPr>
        <p:spPr>
          <a:xfrm>
            <a:off x="0" y="3143250"/>
            <a:ext cx="2000250" cy="2000250"/>
          </a:xfrm>
          <a:prstGeom prst="ellipse">
            <a:avLst/>
          </a:prstGeom>
          <a:solidFill>
            <a:srgbClr val="FFFFFF">
              <a:alpha val="3000"/>
            </a:srgbClr>
          </a:solidFill>
          <a:ln/>
        </p:spPr>
        <p:txBody>
          <a:bodyPr wrap="square" rtlCol="0" anchor="t"/>
          <a:lstStyle/>
          <a:p>
            <a:pPr marL="0" indent="0">
              <a:buNone/>
            </a:pPr>
            <a:endParaRPr lang="en-US" dirty="0"/>
          </a:p>
        </p:txBody>
      </p:sp>
      <p:sp>
        <p:nvSpPr>
          <p:cNvPr id="4" name="Text 2"/>
          <p:cNvSpPr/>
          <p:nvPr/>
        </p:nvSpPr>
        <p:spPr>
          <a:xfrm>
            <a:off x="1357015" y="0"/>
            <a:ext cx="6429970" cy="5143500"/>
          </a:xfrm>
          <a:prstGeom prst="ellipse">
            <a:avLst/>
          </a:prstGeom>
          <a:gradFill rotWithShape="1">
            <a:gsLst>
              <a:gs pos="0">
                <a:srgbClr val="FFFFFF">
                  <a:alpha val="3000"/>
                </a:srgbClr>
              </a:gs>
              <a:gs pos="70000">
                <a:srgbClr val="000000">
                  <a:alpha val="0"/>
                </a:srgbClr>
              </a:gs>
            </a:gsLst>
            <a:path path="circle">
              <a:fillToRect l="50000" t="50000" r="50000" b="50000"/>
            </a:path>
          </a:gradFill>
          <a:ln/>
        </p:spPr>
        <p:txBody>
          <a:bodyPr wrap="square" rtlCol="0" anchor="t"/>
          <a:lstStyle/>
          <a:p>
            <a:pPr marL="0" indent="0">
              <a:buNone/>
            </a:pPr>
            <a:endParaRPr lang="en-US" dirty="0"/>
          </a:p>
        </p:txBody>
      </p:sp>
      <p:sp>
        <p:nvSpPr>
          <p:cNvPr id="5" name="Text 3"/>
          <p:cNvSpPr/>
          <p:nvPr/>
        </p:nvSpPr>
        <p:spPr>
          <a:xfrm>
            <a:off x="0" y="0"/>
            <a:ext cx="43160" cy="5143500"/>
          </a:xfrm>
          <a:prstGeom prst="rect">
            <a:avLst/>
          </a:prstGeom>
          <a:gradFill rotWithShape="1">
            <a:gsLst>
              <a:gs pos="0">
                <a:srgbClr val="FAB753"/>
              </a:gs>
              <a:gs pos="100000">
                <a:srgbClr val="55A49C"/>
              </a:gs>
            </a:gsLst>
            <a:lin ang="5400000" scaled="1"/>
          </a:gradFill>
          <a:ln/>
        </p:spPr>
        <p:txBody>
          <a:bodyPr wrap="square" rtlCol="0" anchor="t"/>
          <a:lstStyle/>
          <a:p>
            <a:pPr marL="0" indent="0">
              <a:buNone/>
            </a:pPr>
            <a:endParaRPr lang="en-US" dirty="0"/>
          </a:p>
        </p:txBody>
      </p:sp>
      <p:sp>
        <p:nvSpPr>
          <p:cNvPr id="6" name="Text 4"/>
          <p:cNvSpPr/>
          <p:nvPr/>
        </p:nvSpPr>
        <p:spPr>
          <a:xfrm>
            <a:off x="571500" y="628650"/>
            <a:ext cx="8001000" cy="7590"/>
          </a:xfrm>
          <a:prstGeom prst="rect">
            <a:avLst/>
          </a:prstGeom>
          <a:solidFill>
            <a:srgbClr val="FAB753">
              <a:alpha val="35000"/>
            </a:srgbClr>
          </a:solidFill>
          <a:ln/>
        </p:spPr>
        <p:txBody>
          <a:bodyPr wrap="none" rtlCol="0" anchor="t"/>
          <a:lstStyle/>
          <a:p>
            <a:pPr marL="0" indent="0">
              <a:buNone/>
            </a:pPr>
            <a:endParaRPr lang="en-US" dirty="0"/>
          </a:p>
        </p:txBody>
      </p:sp>
      <p:sp>
        <p:nvSpPr>
          <p:cNvPr id="7" name="Text 5"/>
          <p:cNvSpPr/>
          <p:nvPr/>
        </p:nvSpPr>
        <p:spPr>
          <a:xfrm>
            <a:off x="571500" y="4507260"/>
            <a:ext cx="8001000" cy="7590"/>
          </a:xfrm>
          <a:prstGeom prst="rect">
            <a:avLst/>
          </a:prstGeom>
          <a:solidFill>
            <a:srgbClr val="FFFFFF">
              <a:alpha val="15000"/>
            </a:srgbClr>
          </a:solidFill>
          <a:ln/>
        </p:spPr>
        <p:txBody>
          <a:bodyPr wrap="none" rtlCol="0" anchor="t"/>
          <a:lstStyle/>
          <a:p>
            <a:pPr marL="0" indent="0">
              <a:buNone/>
            </a:pPr>
            <a:endParaRPr lang="en-US" dirty="0"/>
          </a:p>
        </p:txBody>
      </p:sp>
      <p:sp>
        <p:nvSpPr>
          <p:cNvPr id="8" name="Text 6"/>
          <p:cNvSpPr/>
          <p:nvPr/>
        </p:nvSpPr>
        <p:spPr>
          <a:xfrm>
            <a:off x="3175717" y="1380381"/>
            <a:ext cx="2792417" cy="129480"/>
          </a:xfrm>
          <a:prstGeom prst="rect">
            <a:avLst/>
          </a:prstGeom>
          <a:noFill/>
          <a:ln/>
        </p:spPr>
        <p:txBody>
          <a:bodyPr wrap="none" lIns="0" tIns="0" rIns="0" bIns="0" rtlCol="0" anchor="t"/>
          <a:lstStyle/>
          <a:p>
            <a:pPr marL="0" indent="0" algn="ctr">
              <a:lnSpc>
                <a:spcPts val="1020"/>
              </a:lnSpc>
              <a:buNone/>
            </a:pPr>
            <a:r>
              <a:rPr lang="en-US" sz="680" b="1" kern="0" spc="150" dirty="0">
                <a:solidFill>
                  <a:srgbClr val="FAB753"/>
                </a:solidFill>
                <a:latin typeface="Calibri" pitchFamily="34" charset="0"/>
                <a:ea typeface="Calibri" pitchFamily="34" charset="-122"/>
                <a:cs typeface="Calibri" pitchFamily="34" charset="-120"/>
              </a:rPr>
              <a:t>CENTERSTONE SCHOOL-BASED CLINICAL TRAINING SERIES</a:t>
            </a:r>
            <a:endParaRPr lang="en-US" sz="680" dirty="0"/>
          </a:p>
        </p:txBody>
      </p:sp>
      <p:sp>
        <p:nvSpPr>
          <p:cNvPr id="9" name="Text 7"/>
          <p:cNvSpPr/>
          <p:nvPr/>
        </p:nvSpPr>
        <p:spPr>
          <a:xfrm>
            <a:off x="4033986" y="1895773"/>
            <a:ext cx="342900" cy="7590"/>
          </a:xfrm>
          <a:prstGeom prst="rect">
            <a:avLst/>
          </a:prstGeom>
          <a:solidFill>
            <a:srgbClr val="FAB753">
              <a:alpha val="50000"/>
            </a:srgbClr>
          </a:solidFill>
          <a:ln/>
        </p:spPr>
        <p:txBody>
          <a:bodyPr wrap="none" rtlCol="0" anchor="t"/>
          <a:lstStyle/>
          <a:p>
            <a:pPr marL="0" indent="0">
              <a:buNone/>
            </a:pPr>
            <a:endParaRPr lang="en-US" dirty="0"/>
          </a:p>
        </p:txBody>
      </p:sp>
      <p:sp>
        <p:nvSpPr>
          <p:cNvPr id="10" name="Text 8"/>
          <p:cNvSpPr/>
          <p:nvPr/>
        </p:nvSpPr>
        <p:spPr>
          <a:xfrm>
            <a:off x="4447877" y="1881932"/>
            <a:ext cx="35421" cy="35421"/>
          </a:xfrm>
          <a:prstGeom prst="ellipse">
            <a:avLst/>
          </a:prstGeom>
          <a:solidFill>
            <a:srgbClr val="FAB753">
              <a:alpha val="70000"/>
            </a:srgbClr>
          </a:solidFill>
          <a:ln/>
        </p:spPr>
        <p:txBody>
          <a:bodyPr wrap="none" rtlCol="0" anchor="t"/>
          <a:lstStyle/>
          <a:p>
            <a:pPr marL="0" indent="0">
              <a:buNone/>
            </a:pPr>
            <a:endParaRPr lang="en-US" dirty="0"/>
          </a:p>
        </p:txBody>
      </p:sp>
      <p:sp>
        <p:nvSpPr>
          <p:cNvPr id="11" name="Text 9"/>
          <p:cNvSpPr/>
          <p:nvPr/>
        </p:nvSpPr>
        <p:spPr>
          <a:xfrm>
            <a:off x="4554289" y="1881932"/>
            <a:ext cx="35421" cy="35421"/>
          </a:xfrm>
          <a:prstGeom prst="ellipse">
            <a:avLst/>
          </a:prstGeom>
          <a:solidFill>
            <a:srgbClr val="FAB753">
              <a:alpha val="70000"/>
            </a:srgbClr>
          </a:solidFill>
          <a:ln/>
        </p:spPr>
        <p:txBody>
          <a:bodyPr wrap="none" rtlCol="0" anchor="t"/>
          <a:lstStyle/>
          <a:p>
            <a:pPr marL="0" indent="0">
              <a:buNone/>
            </a:pPr>
            <a:endParaRPr lang="en-US" dirty="0"/>
          </a:p>
        </p:txBody>
      </p:sp>
      <p:sp>
        <p:nvSpPr>
          <p:cNvPr id="12" name="Text 10"/>
          <p:cNvSpPr/>
          <p:nvPr/>
        </p:nvSpPr>
        <p:spPr>
          <a:xfrm>
            <a:off x="4660702" y="1881932"/>
            <a:ext cx="35421" cy="35421"/>
          </a:xfrm>
          <a:prstGeom prst="ellipse">
            <a:avLst/>
          </a:prstGeom>
          <a:solidFill>
            <a:srgbClr val="FAB753">
              <a:alpha val="70000"/>
            </a:srgbClr>
          </a:solidFill>
          <a:ln/>
        </p:spPr>
        <p:txBody>
          <a:bodyPr wrap="none" rtlCol="0" anchor="t"/>
          <a:lstStyle/>
          <a:p>
            <a:pPr marL="0" indent="0">
              <a:buNone/>
            </a:pPr>
            <a:endParaRPr lang="en-US" dirty="0"/>
          </a:p>
        </p:txBody>
      </p:sp>
      <p:sp>
        <p:nvSpPr>
          <p:cNvPr id="13" name="Text 11"/>
          <p:cNvSpPr/>
          <p:nvPr/>
        </p:nvSpPr>
        <p:spPr>
          <a:xfrm>
            <a:off x="4767114" y="1895773"/>
            <a:ext cx="342900" cy="7590"/>
          </a:xfrm>
          <a:prstGeom prst="rect">
            <a:avLst/>
          </a:prstGeom>
          <a:solidFill>
            <a:srgbClr val="FAB753">
              <a:alpha val="50000"/>
            </a:srgbClr>
          </a:solidFill>
          <a:ln/>
        </p:spPr>
        <p:txBody>
          <a:bodyPr wrap="none" rtlCol="0" anchor="t"/>
          <a:lstStyle/>
          <a:p>
            <a:pPr marL="0" indent="0">
              <a:buNone/>
            </a:pPr>
            <a:endParaRPr lang="en-US" dirty="0"/>
          </a:p>
        </p:txBody>
      </p:sp>
      <p:sp>
        <p:nvSpPr>
          <p:cNvPr id="14" name="Text 12"/>
          <p:cNvSpPr/>
          <p:nvPr/>
        </p:nvSpPr>
        <p:spPr>
          <a:xfrm>
            <a:off x="3477023" y="2145953"/>
            <a:ext cx="2189805" cy="772120"/>
          </a:xfrm>
          <a:prstGeom prst="rect">
            <a:avLst/>
          </a:prstGeom>
          <a:noFill/>
          <a:ln/>
        </p:spPr>
        <p:txBody>
          <a:bodyPr wrap="none" lIns="0" tIns="0" rIns="0" bIns="0" rtlCol="0" anchor="t"/>
          <a:lstStyle/>
          <a:p>
            <a:pPr marL="0" indent="0" algn="ctr">
              <a:lnSpc>
                <a:spcPts val="6080"/>
              </a:lnSpc>
              <a:spcAft>
                <a:spcPts val="1800"/>
              </a:spcAft>
              <a:buNone/>
            </a:pPr>
            <a:r>
              <a:rPr lang="en-US" sz="6080" kern="0" spc="243" dirty="0">
                <a:solidFill>
                  <a:srgbClr val="FFFFFF"/>
                </a:solidFill>
                <a:latin typeface="Calibri Light" pitchFamily="34" charset="0"/>
                <a:ea typeface="Calibri Light" pitchFamily="34" charset="-122"/>
                <a:cs typeface="Calibri Light" pitchFamily="34" charset="-120"/>
              </a:rPr>
              <a:t>School-Based Groups</a:t>
            </a:r>
            <a:endParaRPr lang="en-US" sz="6080" dirty="0"/>
          </a:p>
        </p:txBody>
      </p:sp>
      <p:sp>
        <p:nvSpPr>
          <p:cNvPr id="15" name="Text 13"/>
          <p:cNvSpPr/>
          <p:nvPr/>
        </p:nvSpPr>
        <p:spPr>
          <a:xfrm>
            <a:off x="3368105" y="3146673"/>
            <a:ext cx="2407642" cy="300930"/>
          </a:xfrm>
          <a:prstGeom prst="rect">
            <a:avLst/>
          </a:prstGeom>
          <a:noFill/>
          <a:ln/>
        </p:spPr>
        <p:txBody>
          <a:bodyPr wrap="none" lIns="0" tIns="0" rIns="0" bIns="0" rtlCol="0" anchor="t"/>
          <a:lstStyle/>
          <a:p>
            <a:pPr marL="0" indent="0" algn="ctr">
              <a:lnSpc>
                <a:spcPts val="2370"/>
              </a:lnSpc>
              <a:buNone/>
            </a:pPr>
            <a:r>
              <a:rPr lang="en-US" sz="1580" kern="0" spc="95" dirty="0">
                <a:solidFill>
                  <a:srgbClr val="55A49C"/>
                </a:solidFill>
                <a:latin typeface="Calibri Light" pitchFamily="34" charset="0"/>
                <a:ea typeface="Calibri Light" pitchFamily="34" charset="-122"/>
                <a:cs typeface="Calibri Light" pitchFamily="34" charset="-120"/>
              </a:rPr>
              <a:t>Moving from Planning to Practice</a:t>
            </a:r>
          </a:p>
          <a:p>
            <a:pPr marL="0" indent="0" algn="ctr">
              <a:lnSpc>
                <a:spcPts val="2370"/>
              </a:lnSpc>
              <a:buNone/>
            </a:pPr>
            <a:endParaRPr lang="en-US" sz="1580" kern="0" spc="95" dirty="0">
              <a:solidFill>
                <a:srgbClr val="55A49C"/>
              </a:solidFill>
              <a:latin typeface="Calibri Light" pitchFamily="34" charset="0"/>
              <a:ea typeface="Calibri Light" pitchFamily="34" charset="-122"/>
              <a:cs typeface="Calibri Light" pitchFamily="34" charset="-120"/>
            </a:endParaRPr>
          </a:p>
          <a:p>
            <a:pPr marL="0" indent="0" algn="ctr">
              <a:lnSpc>
                <a:spcPts val="2370"/>
              </a:lnSpc>
              <a:buNone/>
            </a:pPr>
            <a:endParaRPr lang="en-US" sz="1580" dirty="0"/>
          </a:p>
        </p:txBody>
      </p:sp>
      <p:sp>
        <p:nvSpPr>
          <p:cNvPr id="16" name="Text 14"/>
          <p:cNvSpPr/>
          <p:nvPr/>
        </p:nvSpPr>
        <p:spPr>
          <a:xfrm>
            <a:off x="3839066" y="3547914"/>
            <a:ext cx="1465868" cy="215205"/>
          </a:xfrm>
          <a:prstGeom prst="rect">
            <a:avLst/>
          </a:prstGeom>
          <a:noFill/>
          <a:ln/>
        </p:spPr>
        <p:txBody>
          <a:bodyPr wrap="none" lIns="0" tIns="0" rIns="0" bIns="0" rtlCol="0" anchor="t"/>
          <a:lstStyle/>
          <a:p>
            <a:pPr marL="0" indent="0" algn="ctr">
              <a:lnSpc>
                <a:spcPts val="1695"/>
              </a:lnSpc>
              <a:buNone/>
            </a:pPr>
            <a:endParaRPr lang="en-US" sz="1130" dirty="0"/>
          </a:p>
        </p:txBody>
      </p:sp>
      <p:sp>
        <p:nvSpPr>
          <p:cNvPr id="17" name="Text 15"/>
          <p:cNvSpPr/>
          <p:nvPr/>
        </p:nvSpPr>
        <p:spPr>
          <a:xfrm>
            <a:off x="8272760" y="4762054"/>
            <a:ext cx="549086" cy="139005"/>
          </a:xfrm>
          <a:prstGeom prst="rect">
            <a:avLst/>
          </a:prstGeom>
          <a:noFill/>
          <a:ln/>
        </p:spPr>
        <p:txBody>
          <a:bodyPr wrap="none" lIns="0" tIns="0" rIns="0" bIns="0" rtlCol="0" anchor="t"/>
          <a:lstStyle/>
          <a:p>
            <a:pPr marL="0" indent="0" algn="l">
              <a:lnSpc>
                <a:spcPts val="1095"/>
              </a:lnSpc>
              <a:buNone/>
            </a:pPr>
            <a:r>
              <a:rPr lang="en-US" sz="730" kern="0" spc="58" dirty="0">
                <a:solidFill>
                  <a:srgbClr val="FFFFFF">
                    <a:alpha val="50000"/>
                  </a:srgbClr>
                </a:solidFill>
                <a:latin typeface="Calibri" pitchFamily="34" charset="0"/>
                <a:ea typeface="Calibri" pitchFamily="34" charset="-122"/>
                <a:cs typeface="Calibri" pitchFamily="34" charset="-120"/>
              </a:rPr>
              <a:t>June 2026</a:t>
            </a:r>
            <a:endParaRPr lang="en-US" sz="730" dirty="0"/>
          </a:p>
        </p:txBody>
      </p:sp>
      <p:sp>
        <p:nvSpPr>
          <p:cNvPr id="18" name="Text 16"/>
          <p:cNvSpPr/>
          <p:nvPr/>
        </p:nvSpPr>
        <p:spPr>
          <a:xfrm>
            <a:off x="372070" y="4843909"/>
            <a:ext cx="57150" cy="57150"/>
          </a:xfrm>
          <a:prstGeom prst="ellipse">
            <a:avLst/>
          </a:prstGeom>
          <a:solidFill>
            <a:srgbClr val="FAB753">
              <a:alpha val="60000"/>
            </a:srgbClr>
          </a:solidFill>
          <a:ln/>
        </p:spPr>
        <p:txBody>
          <a:bodyPr wrap="none" rtlCol="0" anchor="t"/>
          <a:lstStyle/>
          <a:p>
            <a:pPr marL="0" indent="0">
              <a:buNone/>
            </a:pPr>
            <a:endParaRPr lang="en-US" dirty="0"/>
          </a:p>
        </p:txBody>
      </p:sp>
      <p:sp>
        <p:nvSpPr>
          <p:cNvPr id="19" name="Text 17"/>
          <p:cNvSpPr/>
          <p:nvPr/>
        </p:nvSpPr>
        <p:spPr>
          <a:xfrm>
            <a:off x="500211" y="4868614"/>
            <a:ext cx="228600" cy="7590"/>
          </a:xfrm>
          <a:prstGeom prst="rect">
            <a:avLst/>
          </a:prstGeom>
          <a:solidFill>
            <a:srgbClr val="FFFFFF">
              <a:alpha val="25000"/>
            </a:srgbClr>
          </a:solidFill>
          <a:ln/>
        </p:spPr>
        <p:txBody>
          <a:bodyPr wrap="none" rtlCol="0" anchor="t"/>
          <a:lstStyle/>
          <a:p>
            <a:pPr marL="0" indent="0">
              <a:buNone/>
            </a:pP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0" y="0"/>
            <a:ext cx="2429470" cy="5143500"/>
          </a:xfrm>
          <a:prstGeom prst="rect">
            <a:avLst/>
          </a:prstGeom>
          <a:solidFill>
            <a:srgbClr val="1B5E72"/>
          </a:solidFill>
          <a:ln/>
        </p:spPr>
        <p:txBody>
          <a:bodyPr wrap="square" rtlCol="0" anchor="t"/>
          <a:lstStyle/>
          <a:p>
            <a:pPr marL="0" indent="0">
              <a:buNone/>
            </a:pPr>
            <a:endParaRPr lang="en-US" dirty="0"/>
          </a:p>
        </p:txBody>
      </p:sp>
      <p:sp>
        <p:nvSpPr>
          <p:cNvPr id="3" name="Text 1"/>
          <p:cNvSpPr/>
          <p:nvPr/>
        </p:nvSpPr>
        <p:spPr>
          <a:xfrm>
            <a:off x="257770" y="342900"/>
            <a:ext cx="342900" cy="29170"/>
          </a:xfrm>
          <a:prstGeom prst="roundRect">
            <a:avLst>
              <a:gd name="adj" fmla="val 47892"/>
            </a:avLst>
          </a:prstGeom>
          <a:solidFill>
            <a:srgbClr val="FAB753"/>
          </a:solidFill>
          <a:ln/>
        </p:spPr>
        <p:txBody>
          <a:bodyPr wrap="none" rtlCol="0" anchor="t"/>
          <a:lstStyle/>
          <a:p>
            <a:pPr marL="0" indent="0">
              <a:buNone/>
            </a:pPr>
            <a:endParaRPr lang="en-US" dirty="0"/>
          </a:p>
        </p:txBody>
      </p:sp>
      <p:sp>
        <p:nvSpPr>
          <p:cNvPr id="4" name="Text 2"/>
          <p:cNvSpPr/>
          <p:nvPr/>
        </p:nvSpPr>
        <p:spPr>
          <a:xfrm>
            <a:off x="257770" y="572691"/>
            <a:ext cx="2105323" cy="118021"/>
          </a:xfrm>
          <a:prstGeom prst="rect">
            <a:avLst/>
          </a:prstGeom>
          <a:noFill/>
          <a:ln/>
        </p:spPr>
        <p:txBody>
          <a:bodyPr wrap="none" lIns="0" tIns="0" rIns="0" bIns="0" rtlCol="0" anchor="t"/>
          <a:lstStyle/>
          <a:p>
            <a:pPr marL="0" indent="0" algn="l">
              <a:lnSpc>
                <a:spcPts val="930"/>
              </a:lnSpc>
              <a:buNone/>
            </a:pPr>
            <a:r>
              <a:rPr lang="en-US" sz="620" kern="0" spc="112" dirty="0">
                <a:solidFill>
                  <a:srgbClr val="FAB753">
                    <a:alpha val="90000"/>
                  </a:srgbClr>
                </a:solidFill>
                <a:latin typeface="Calibri Light" pitchFamily="34" charset="0"/>
                <a:ea typeface="Calibri Light" pitchFamily="34" charset="-122"/>
                <a:cs typeface="Calibri Light" pitchFamily="34" charset="-120"/>
              </a:rPr>
              <a:t>TRAINING SERIES</a:t>
            </a:r>
            <a:endParaRPr lang="en-US" sz="620" dirty="0"/>
          </a:p>
        </p:txBody>
      </p:sp>
      <p:sp>
        <p:nvSpPr>
          <p:cNvPr id="5" name="Text 3"/>
          <p:cNvSpPr/>
          <p:nvPr/>
        </p:nvSpPr>
        <p:spPr>
          <a:xfrm>
            <a:off x="257770" y="761702"/>
            <a:ext cx="1952208" cy="540693"/>
          </a:xfrm>
          <a:prstGeom prst="rect">
            <a:avLst/>
          </a:prstGeom>
          <a:noFill/>
          <a:ln/>
        </p:spPr>
        <p:txBody>
          <a:bodyPr wrap="square" lIns="0" tIns="0" rIns="0" bIns="0" rtlCol="0" anchor="ctr"/>
          <a:lstStyle/>
          <a:p>
            <a:pPr marL="0" indent="0" algn="l">
              <a:lnSpc>
                <a:spcPts val="2028"/>
              </a:lnSpc>
              <a:buNone/>
            </a:pPr>
            <a:r>
              <a:rPr lang="en-US" sz="1690" dirty="0">
                <a:solidFill>
                  <a:srgbClr val="FAB753"/>
                </a:solidFill>
                <a:latin typeface="Calibri Light" pitchFamily="34" charset="0"/>
                <a:ea typeface="Calibri Light" pitchFamily="34" charset="-122"/>
                <a:cs typeface="Calibri Light" pitchFamily="34" charset="-120"/>
              </a:rPr>
              <a:t>Starting School-Based Group therapy</a:t>
            </a:r>
            <a:endParaRPr lang="en-US" sz="1690" dirty="0"/>
          </a:p>
        </p:txBody>
      </p:sp>
      <p:sp>
        <p:nvSpPr>
          <p:cNvPr id="6" name="Text 4"/>
          <p:cNvSpPr/>
          <p:nvPr/>
        </p:nvSpPr>
        <p:spPr>
          <a:xfrm>
            <a:off x="257770" y="1333798"/>
            <a:ext cx="2105323" cy="159990"/>
          </a:xfrm>
          <a:prstGeom prst="rect">
            <a:avLst/>
          </a:prstGeom>
          <a:noFill/>
          <a:ln/>
        </p:spPr>
        <p:txBody>
          <a:bodyPr wrap="none" lIns="0" tIns="0" rIns="0" bIns="0" rtlCol="0" anchor="t"/>
          <a:lstStyle/>
          <a:p>
            <a:pPr marL="0" indent="0" algn="l">
              <a:lnSpc>
                <a:spcPts val="1260"/>
              </a:lnSpc>
              <a:buNone/>
            </a:pPr>
            <a:r>
              <a:rPr lang="en-US" sz="840" b="1" kern="0" spc="34" dirty="0">
                <a:solidFill>
                  <a:srgbClr val="FFFFFF">
                    <a:alpha val="85000"/>
                  </a:srgbClr>
                </a:solidFill>
                <a:latin typeface="Calibri" pitchFamily="34" charset="0"/>
                <a:cs typeface="Calibri" pitchFamily="34" charset="-120"/>
              </a:rPr>
              <a:t>Development and Logistics</a:t>
            </a:r>
            <a:endParaRPr lang="en-US" sz="840" dirty="0"/>
          </a:p>
        </p:txBody>
      </p:sp>
      <p:sp>
        <p:nvSpPr>
          <p:cNvPr id="7" name="Text 5"/>
          <p:cNvSpPr/>
          <p:nvPr/>
        </p:nvSpPr>
        <p:spPr>
          <a:xfrm>
            <a:off x="257770" y="1694408"/>
            <a:ext cx="257770" cy="13841"/>
          </a:xfrm>
          <a:prstGeom prst="rect">
            <a:avLst/>
          </a:prstGeom>
          <a:solidFill>
            <a:srgbClr val="FFFFFF">
              <a:alpha val="25000"/>
            </a:srgbClr>
          </a:solidFill>
          <a:ln/>
        </p:spPr>
        <p:txBody>
          <a:bodyPr wrap="none" rtlCol="0" anchor="t"/>
          <a:lstStyle/>
          <a:p>
            <a:pPr marL="0" indent="0">
              <a:buNone/>
            </a:pPr>
            <a:endParaRPr lang="en-US" dirty="0"/>
          </a:p>
        </p:txBody>
      </p:sp>
      <p:sp>
        <p:nvSpPr>
          <p:cNvPr id="8" name="Text 6"/>
          <p:cNvSpPr/>
          <p:nvPr/>
        </p:nvSpPr>
        <p:spPr>
          <a:xfrm>
            <a:off x="257770" y="1879699"/>
            <a:ext cx="1952208" cy="481466"/>
          </a:xfrm>
          <a:prstGeom prst="rect">
            <a:avLst/>
          </a:prstGeom>
          <a:noFill/>
          <a:ln/>
        </p:spPr>
        <p:txBody>
          <a:bodyPr wrap="square" lIns="0" tIns="0" rIns="0" bIns="0" rtlCol="0" anchor="t"/>
          <a:lstStyle/>
          <a:p>
            <a:pPr marL="0" indent="0" algn="l">
              <a:lnSpc>
                <a:spcPts val="1204"/>
              </a:lnSpc>
              <a:buNone/>
            </a:pPr>
            <a:r>
              <a:rPr lang="en-US" sz="730" dirty="0">
                <a:solidFill>
                  <a:srgbClr val="FFFFFF">
                    <a:alpha val="80000"/>
                  </a:srgbClr>
                </a:solidFill>
                <a:latin typeface="Calibri" pitchFamily="34" charset="0"/>
                <a:ea typeface="Calibri" pitchFamily="34" charset="-122"/>
                <a:cs typeface="Calibri" pitchFamily="34" charset="-120"/>
              </a:rPr>
              <a:t>This training includes both the developmental phase of creating small groups, exploration of common barriers, and learning how to navigate the electronic health record for new groups and writing group notes.</a:t>
            </a:r>
            <a:endParaRPr lang="en-US" sz="730" dirty="0"/>
          </a:p>
        </p:txBody>
      </p:sp>
      <p:sp>
        <p:nvSpPr>
          <p:cNvPr id="9" name="Text 7"/>
          <p:cNvSpPr/>
          <p:nvPr/>
        </p:nvSpPr>
        <p:spPr>
          <a:xfrm>
            <a:off x="257770" y="4229249"/>
            <a:ext cx="1913930" cy="647356"/>
          </a:xfrm>
          <a:prstGeom prst="roundRect">
            <a:avLst>
              <a:gd name="adj" fmla="val 8828"/>
            </a:avLst>
          </a:prstGeom>
          <a:solidFill>
            <a:srgbClr val="FFFFFF">
              <a:alpha val="7000"/>
            </a:srgbClr>
          </a:solidFill>
          <a:ln w="9525">
            <a:solidFill>
              <a:srgbClr val="FAB753">
                <a:alpha val="30000"/>
              </a:srgbClr>
            </a:solidFill>
          </a:ln>
        </p:spPr>
        <p:txBody>
          <a:bodyPr wrap="square" lIns="114300" tIns="100330" rIns="114300" bIns="100330" rtlCol="0" anchor="t"/>
          <a:lstStyle/>
          <a:p>
            <a:pPr marL="0" indent="0" algn="l">
              <a:buNone/>
            </a:pPr>
            <a:r>
              <a:rPr lang="en-US" sz="560" kern="0" spc="67" dirty="0">
                <a:solidFill>
                  <a:srgbClr val="FAB753"/>
                </a:solidFill>
                <a:latin typeface="Calibri" pitchFamily="34" charset="0"/>
                <a:ea typeface="Calibri" pitchFamily="34" charset="-122"/>
                <a:cs typeface="Calibri" pitchFamily="34" charset="-120"/>
              </a:rPr>
              <a:t>SESSION FORMAT</a:t>
            </a:r>
            <a:endParaRPr lang="en-US" sz="560" dirty="0"/>
          </a:p>
          <a:p>
            <a:pPr marL="0" indent="0" algn="l">
              <a:buNone/>
            </a:pPr>
            <a:r>
              <a:rPr lang="en-US" sz="680" dirty="0">
                <a:solidFill>
                  <a:srgbClr val="FFFFFF"/>
                </a:solidFill>
                <a:latin typeface="Calibri" pitchFamily="34" charset="0"/>
                <a:ea typeface="Calibri" pitchFamily="34" charset="-122"/>
                <a:cs typeface="Calibri" pitchFamily="34" charset="-120"/>
              </a:rPr>
              <a:t>Discussion and hands-on practice</a:t>
            </a:r>
            <a:endParaRPr lang="en-US" sz="560" dirty="0"/>
          </a:p>
        </p:txBody>
      </p:sp>
      <p:sp>
        <p:nvSpPr>
          <p:cNvPr id="11" name="Text 9"/>
          <p:cNvSpPr/>
          <p:nvPr/>
        </p:nvSpPr>
        <p:spPr>
          <a:xfrm>
            <a:off x="4454755" y="370954"/>
            <a:ext cx="6714530" cy="5143500"/>
          </a:xfrm>
          <a:prstGeom prst="rect">
            <a:avLst/>
          </a:prstGeom>
          <a:solidFill>
            <a:srgbClr val="FFFFFF"/>
          </a:solidFill>
          <a:ln/>
        </p:spPr>
        <p:txBody>
          <a:bodyPr wrap="square" rtlCol="0" anchor="t"/>
          <a:lstStyle/>
          <a:p>
            <a:pPr marL="0" indent="0">
              <a:buNone/>
            </a:pPr>
            <a:endParaRPr lang="en-US" dirty="0"/>
          </a:p>
        </p:txBody>
      </p:sp>
      <p:sp>
        <p:nvSpPr>
          <p:cNvPr id="12" name="Text 10"/>
          <p:cNvSpPr/>
          <p:nvPr/>
        </p:nvSpPr>
        <p:spPr>
          <a:xfrm>
            <a:off x="2801541" y="342454"/>
            <a:ext cx="57150" cy="57150"/>
          </a:xfrm>
          <a:prstGeom prst="ellipse">
            <a:avLst/>
          </a:prstGeom>
          <a:solidFill>
            <a:srgbClr val="FAB753"/>
          </a:solidFill>
          <a:ln/>
        </p:spPr>
        <p:txBody>
          <a:bodyPr wrap="none" rtlCol="0" anchor="t"/>
          <a:lstStyle/>
          <a:p>
            <a:pPr marL="0" indent="0">
              <a:buNone/>
            </a:pPr>
            <a:endParaRPr lang="en-US" dirty="0"/>
          </a:p>
        </p:txBody>
      </p:sp>
      <p:sp>
        <p:nvSpPr>
          <p:cNvPr id="13" name="Text 11"/>
          <p:cNvSpPr/>
          <p:nvPr/>
        </p:nvSpPr>
        <p:spPr>
          <a:xfrm>
            <a:off x="2929682" y="364034"/>
            <a:ext cx="285750" cy="13841"/>
          </a:xfrm>
          <a:prstGeom prst="roundRect">
            <a:avLst>
              <a:gd name="adj" fmla="val 55054"/>
            </a:avLst>
          </a:prstGeom>
          <a:solidFill>
            <a:srgbClr val="FAB753"/>
          </a:solidFill>
          <a:ln/>
        </p:spPr>
        <p:txBody>
          <a:bodyPr wrap="none" rtlCol="0" anchor="t"/>
          <a:lstStyle/>
          <a:p>
            <a:pPr marL="0" indent="0">
              <a:buNone/>
            </a:pPr>
            <a:endParaRPr lang="en-US" dirty="0"/>
          </a:p>
        </p:txBody>
      </p:sp>
      <p:sp>
        <p:nvSpPr>
          <p:cNvPr id="14" name="Text 12"/>
          <p:cNvSpPr/>
          <p:nvPr/>
        </p:nvSpPr>
        <p:spPr>
          <a:xfrm>
            <a:off x="3286423" y="314920"/>
            <a:ext cx="2128242" cy="112216"/>
          </a:xfrm>
          <a:prstGeom prst="rect">
            <a:avLst/>
          </a:prstGeom>
          <a:noFill/>
          <a:ln/>
        </p:spPr>
        <p:txBody>
          <a:bodyPr wrap="none" lIns="0" tIns="0" rIns="0" bIns="0" rtlCol="0" anchor="ctr"/>
          <a:lstStyle/>
          <a:p>
            <a:pPr marL="0" indent="0" algn="l">
              <a:lnSpc>
                <a:spcPts val="885"/>
              </a:lnSpc>
              <a:buNone/>
            </a:pPr>
            <a:r>
              <a:rPr lang="en-US" sz="590" b="1" kern="0" spc="71" dirty="0">
                <a:solidFill>
                  <a:srgbClr val="55A49C"/>
                </a:solidFill>
                <a:latin typeface="Calibri" pitchFamily="34" charset="0"/>
                <a:ea typeface="Calibri" pitchFamily="34" charset="-122"/>
                <a:cs typeface="Calibri" pitchFamily="34" charset="-120"/>
              </a:rPr>
              <a:t>CENTERSTONE CLINICAL TRAINING SERIES</a:t>
            </a:r>
            <a:endParaRPr lang="en-US" sz="590" dirty="0"/>
          </a:p>
        </p:txBody>
      </p:sp>
      <p:sp>
        <p:nvSpPr>
          <p:cNvPr id="15" name="Text 13"/>
          <p:cNvSpPr/>
          <p:nvPr/>
        </p:nvSpPr>
        <p:spPr>
          <a:xfrm>
            <a:off x="2801541" y="555278"/>
            <a:ext cx="6567428" cy="257175"/>
          </a:xfrm>
          <a:prstGeom prst="rect">
            <a:avLst/>
          </a:prstGeom>
          <a:noFill/>
          <a:ln/>
        </p:spPr>
        <p:txBody>
          <a:bodyPr wrap="none" lIns="0" tIns="0" rIns="0" bIns="0" rtlCol="0" anchor="t"/>
          <a:lstStyle/>
          <a:p>
            <a:pPr marL="0" indent="0" algn="l">
              <a:lnSpc>
                <a:spcPts val="2025"/>
              </a:lnSpc>
              <a:buNone/>
            </a:pPr>
            <a:r>
              <a:rPr lang="en-US" sz="1350" kern="0" spc="14" dirty="0">
                <a:solidFill>
                  <a:srgbClr val="1B5E72"/>
                </a:solidFill>
                <a:latin typeface="Calibri Light" pitchFamily="34" charset="0"/>
                <a:ea typeface="Calibri Light" pitchFamily="34" charset="-122"/>
                <a:cs typeface="Calibri Light" pitchFamily="34" charset="-120"/>
              </a:rPr>
              <a:t>Welcome to Today's Training</a:t>
            </a:r>
            <a:endParaRPr lang="en-US" sz="1350" dirty="0"/>
          </a:p>
        </p:txBody>
      </p:sp>
      <p:sp>
        <p:nvSpPr>
          <p:cNvPr id="16" name="Text 14"/>
          <p:cNvSpPr/>
          <p:nvPr/>
        </p:nvSpPr>
        <p:spPr>
          <a:xfrm>
            <a:off x="2801541" y="841623"/>
            <a:ext cx="5143500" cy="462320"/>
          </a:xfrm>
          <a:prstGeom prst="rect">
            <a:avLst/>
          </a:prstGeom>
          <a:noFill/>
          <a:ln/>
        </p:spPr>
        <p:txBody>
          <a:bodyPr wrap="square" lIns="0" tIns="0" rIns="0" bIns="0" rtlCol="0" anchor="ctr"/>
          <a:lstStyle/>
          <a:p>
            <a:pPr>
              <a:lnSpc>
                <a:spcPts val="1000"/>
              </a:lnSpc>
            </a:pPr>
            <a:r>
              <a:rPr lang="en-US" sz="800" dirty="0">
                <a:solidFill>
                  <a:srgbClr val="2C2C2C"/>
                </a:solidFill>
                <a:latin typeface="Calibri" pitchFamily="34" charset="0"/>
                <a:ea typeface="Calibri" pitchFamily="34" charset="-122"/>
                <a:cs typeface="Calibri" pitchFamily="34" charset="-120"/>
              </a:rPr>
              <a:t>This session is about moving from "I should start a group" to "my first group is running." You will build the skills, structure, and confidence to design, document, and facilitate a school-based therapy group with real clinical value.</a:t>
            </a:r>
            <a:endParaRPr lang="en-US" sz="800" dirty="0"/>
          </a:p>
        </p:txBody>
      </p:sp>
      <p:sp>
        <p:nvSpPr>
          <p:cNvPr id="17" name="Text 15"/>
          <p:cNvSpPr/>
          <p:nvPr/>
        </p:nvSpPr>
        <p:spPr>
          <a:xfrm>
            <a:off x="2801541" y="1252389"/>
            <a:ext cx="5143500" cy="9525"/>
          </a:xfrm>
          <a:prstGeom prst="rect">
            <a:avLst/>
          </a:prstGeom>
          <a:solidFill>
            <a:srgbClr val="EAF4F4"/>
          </a:solidFill>
          <a:ln/>
        </p:spPr>
        <p:txBody>
          <a:bodyPr wrap="none" rtlCol="0" anchor="t"/>
          <a:lstStyle/>
          <a:p>
            <a:pPr marL="0" indent="0">
              <a:buNone/>
            </a:pPr>
            <a:endParaRPr lang="en-US" dirty="0"/>
          </a:p>
        </p:txBody>
      </p:sp>
      <p:sp>
        <p:nvSpPr>
          <p:cNvPr id="18" name="Text 16"/>
          <p:cNvSpPr/>
          <p:nvPr/>
        </p:nvSpPr>
        <p:spPr>
          <a:xfrm>
            <a:off x="2801541" y="1390055"/>
            <a:ext cx="6567428" cy="144810"/>
          </a:xfrm>
          <a:prstGeom prst="rect">
            <a:avLst/>
          </a:prstGeom>
          <a:noFill/>
          <a:ln/>
        </p:spPr>
        <p:txBody>
          <a:bodyPr wrap="none" lIns="0" tIns="0" rIns="0" bIns="0" rtlCol="0" anchor="t"/>
          <a:lstStyle/>
          <a:p>
            <a:pPr marL="0" indent="0" algn="l">
              <a:lnSpc>
                <a:spcPts val="1140"/>
              </a:lnSpc>
              <a:buNone/>
            </a:pPr>
            <a:r>
              <a:rPr lang="en-US" sz="760" b="1" kern="0" spc="8" dirty="0">
                <a:solidFill>
                  <a:srgbClr val="1B5E72"/>
                </a:solidFill>
                <a:latin typeface="Calibri" pitchFamily="34" charset="0"/>
                <a:ea typeface="Calibri" pitchFamily="34" charset="-122"/>
                <a:cs typeface="Calibri" pitchFamily="34" charset="-120"/>
              </a:rPr>
              <a:t>Objectives — By the end of this training you will be able to:</a:t>
            </a:r>
            <a:endParaRPr lang="en-US" sz="760" dirty="0"/>
          </a:p>
        </p:txBody>
      </p:sp>
      <p:sp>
        <p:nvSpPr>
          <p:cNvPr id="19" name="Text 17"/>
          <p:cNvSpPr/>
          <p:nvPr/>
        </p:nvSpPr>
        <p:spPr>
          <a:xfrm>
            <a:off x="2801541" y="1635175"/>
            <a:ext cx="5970389" cy="276374"/>
          </a:xfrm>
          <a:prstGeom prst="rect">
            <a:avLst/>
          </a:prstGeom>
          <a:solidFill>
            <a:srgbClr val="FAFEFE"/>
          </a:solidFill>
          <a:ln/>
        </p:spPr>
        <p:txBody>
          <a:bodyPr wrap="square" rtlCol="0" anchor="t"/>
          <a:lstStyle/>
          <a:p>
            <a:pPr marL="0" indent="0">
              <a:buNone/>
            </a:pPr>
            <a:endParaRPr lang="en-US" dirty="0"/>
          </a:p>
        </p:txBody>
      </p:sp>
      <p:sp>
        <p:nvSpPr>
          <p:cNvPr id="20" name="Text 18"/>
          <p:cNvSpPr/>
          <p:nvPr/>
        </p:nvSpPr>
        <p:spPr>
          <a:xfrm>
            <a:off x="2801541" y="1635175"/>
            <a:ext cx="19050" cy="276374"/>
          </a:xfrm>
          <a:prstGeom prst="rect">
            <a:avLst/>
          </a:prstGeom>
          <a:solidFill>
            <a:srgbClr val="EAF4F4"/>
          </a:solidFill>
          <a:ln/>
        </p:spPr>
        <p:txBody>
          <a:bodyPr wrap="square" rtlCol="0" anchor="t"/>
          <a:lstStyle/>
          <a:p>
            <a:pPr marL="0" indent="0">
              <a:buNone/>
            </a:pPr>
            <a:endParaRPr lang="en-US" dirty="0"/>
          </a:p>
        </p:txBody>
      </p:sp>
      <p:pic>
        <p:nvPicPr>
          <p:cNvPr id="21"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97469" y="1690324"/>
            <a:ext cx="132588" cy="132588"/>
          </a:xfrm>
          <a:prstGeom prst="rect">
            <a:avLst/>
          </a:prstGeom>
        </p:spPr>
      </p:pic>
      <p:sp>
        <p:nvSpPr>
          <p:cNvPr id="22" name="Text 19"/>
          <p:cNvSpPr/>
          <p:nvPr/>
        </p:nvSpPr>
        <p:spPr>
          <a:xfrm>
            <a:off x="3106936" y="1720007"/>
            <a:ext cx="140955" cy="118021"/>
          </a:xfrm>
          <a:prstGeom prst="rect">
            <a:avLst/>
          </a:prstGeom>
          <a:noFill/>
          <a:ln/>
        </p:spPr>
        <p:txBody>
          <a:bodyPr wrap="none" lIns="0" tIns="0" rIns="0" bIns="0" rtlCol="0" anchor="ctr"/>
          <a:lstStyle/>
          <a:p>
            <a:pPr marL="0" indent="0" algn="l">
              <a:lnSpc>
                <a:spcPts val="930"/>
              </a:lnSpc>
              <a:buNone/>
            </a:pPr>
            <a:r>
              <a:rPr lang="en-US" sz="620" b="1" dirty="0">
                <a:solidFill>
                  <a:srgbClr val="FAB753"/>
                </a:solidFill>
                <a:latin typeface="Calibri" pitchFamily="34" charset="0"/>
                <a:ea typeface="Calibri" pitchFamily="34" charset="-122"/>
                <a:cs typeface="Calibri" pitchFamily="34" charset="-120"/>
              </a:rPr>
              <a:t>01</a:t>
            </a:r>
            <a:endParaRPr lang="en-US" sz="620" dirty="0"/>
          </a:p>
        </p:txBody>
      </p:sp>
      <p:sp>
        <p:nvSpPr>
          <p:cNvPr id="23" name="Text 20"/>
          <p:cNvSpPr/>
          <p:nvPr/>
        </p:nvSpPr>
        <p:spPr>
          <a:xfrm>
            <a:off x="3335387" y="1706166"/>
            <a:ext cx="2315036" cy="134392"/>
          </a:xfrm>
          <a:prstGeom prst="rect">
            <a:avLst/>
          </a:prstGeom>
          <a:noFill/>
          <a:ln/>
        </p:spPr>
        <p:txBody>
          <a:bodyPr wrap="none" lIns="0" tIns="0" rIns="0" bIns="0" rtlCol="0" anchor="ctr"/>
          <a:lstStyle/>
          <a:p>
            <a:r>
              <a:rPr lang="en-US" sz="800" dirty="0">
                <a:solidFill>
                  <a:srgbClr val="2C2C2C"/>
                </a:solidFill>
                <a:latin typeface="Calibri" pitchFamily="34" charset="0"/>
                <a:ea typeface="Calibri" pitchFamily="34" charset="-122"/>
                <a:cs typeface="Calibri" pitchFamily="34" charset="-120"/>
              </a:rPr>
              <a:t>Explain why group therapy is one of the most effective school-based interventions.</a:t>
            </a:r>
            <a:endParaRPr lang="en-US" sz="800" dirty="0"/>
          </a:p>
        </p:txBody>
      </p:sp>
      <p:sp>
        <p:nvSpPr>
          <p:cNvPr id="24" name="Text 21"/>
          <p:cNvSpPr/>
          <p:nvPr/>
        </p:nvSpPr>
        <p:spPr>
          <a:xfrm>
            <a:off x="2801541" y="1982539"/>
            <a:ext cx="5970389" cy="276374"/>
          </a:xfrm>
          <a:prstGeom prst="rect">
            <a:avLst/>
          </a:prstGeom>
          <a:solidFill>
            <a:srgbClr val="FAFEFE"/>
          </a:solidFill>
          <a:ln/>
        </p:spPr>
        <p:txBody>
          <a:bodyPr wrap="square" rtlCol="0" anchor="t"/>
          <a:lstStyle/>
          <a:p>
            <a:pPr marL="0" indent="0">
              <a:buNone/>
            </a:pPr>
            <a:endParaRPr lang="en-US" dirty="0"/>
          </a:p>
        </p:txBody>
      </p:sp>
      <p:sp>
        <p:nvSpPr>
          <p:cNvPr id="25" name="Text 22"/>
          <p:cNvSpPr/>
          <p:nvPr/>
        </p:nvSpPr>
        <p:spPr>
          <a:xfrm>
            <a:off x="2801541" y="1982539"/>
            <a:ext cx="19050" cy="276374"/>
          </a:xfrm>
          <a:prstGeom prst="rect">
            <a:avLst/>
          </a:prstGeom>
          <a:solidFill>
            <a:srgbClr val="EAF4F4"/>
          </a:solidFill>
          <a:ln/>
        </p:spPr>
        <p:txBody>
          <a:bodyPr wrap="square" rtlCol="0" anchor="t"/>
          <a:lstStyle/>
          <a:p>
            <a:pPr marL="0" indent="0">
              <a:buNone/>
            </a:pPr>
            <a:endParaRPr lang="en-US" dirty="0"/>
          </a:p>
        </p:txBody>
      </p:sp>
      <p:pic>
        <p:nvPicPr>
          <p:cNvPr id="2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97469" y="2037689"/>
            <a:ext cx="132588" cy="132588"/>
          </a:xfrm>
          <a:prstGeom prst="rect">
            <a:avLst/>
          </a:prstGeom>
        </p:spPr>
      </p:pic>
      <p:sp>
        <p:nvSpPr>
          <p:cNvPr id="27" name="Text 23"/>
          <p:cNvSpPr/>
          <p:nvPr/>
        </p:nvSpPr>
        <p:spPr>
          <a:xfrm>
            <a:off x="3106936" y="2067371"/>
            <a:ext cx="140955" cy="118021"/>
          </a:xfrm>
          <a:prstGeom prst="rect">
            <a:avLst/>
          </a:prstGeom>
          <a:noFill/>
          <a:ln/>
        </p:spPr>
        <p:txBody>
          <a:bodyPr wrap="none" lIns="0" tIns="0" rIns="0" bIns="0" rtlCol="0" anchor="ctr"/>
          <a:lstStyle/>
          <a:p>
            <a:pPr marL="0" indent="0" algn="l">
              <a:lnSpc>
                <a:spcPts val="930"/>
              </a:lnSpc>
              <a:buNone/>
            </a:pPr>
            <a:r>
              <a:rPr lang="en-US" sz="620" b="1" dirty="0">
                <a:solidFill>
                  <a:srgbClr val="FAB753"/>
                </a:solidFill>
                <a:latin typeface="Calibri" pitchFamily="34" charset="0"/>
                <a:ea typeface="Calibri" pitchFamily="34" charset="-122"/>
                <a:cs typeface="Calibri" pitchFamily="34" charset="-120"/>
              </a:rPr>
              <a:t>02</a:t>
            </a:r>
            <a:endParaRPr lang="en-US" sz="620" dirty="0"/>
          </a:p>
        </p:txBody>
      </p:sp>
      <p:sp>
        <p:nvSpPr>
          <p:cNvPr id="28" name="Text 24"/>
          <p:cNvSpPr/>
          <p:nvPr/>
        </p:nvSpPr>
        <p:spPr>
          <a:xfrm>
            <a:off x="3335387" y="2053530"/>
            <a:ext cx="2837602" cy="134392"/>
          </a:xfrm>
          <a:prstGeom prst="rect">
            <a:avLst/>
          </a:prstGeom>
          <a:noFill/>
          <a:ln/>
        </p:spPr>
        <p:txBody>
          <a:bodyPr wrap="none" lIns="0" tIns="0" rIns="0" bIns="0" rtlCol="0" anchor="ctr"/>
          <a:lstStyle/>
          <a:p>
            <a:r>
              <a:rPr lang="en-US" sz="800" dirty="0">
                <a:solidFill>
                  <a:srgbClr val="2C2C2C"/>
                </a:solidFill>
                <a:latin typeface="Calibri" pitchFamily="34" charset="0"/>
                <a:ea typeface="Calibri" pitchFamily="34" charset="-122"/>
                <a:cs typeface="Calibri" pitchFamily="34" charset="-120"/>
              </a:rPr>
              <a:t>Design a school-based therapy group appropriate for your school setting.</a:t>
            </a:r>
            <a:endParaRPr lang="en-US" sz="800" dirty="0"/>
          </a:p>
        </p:txBody>
      </p:sp>
      <p:sp>
        <p:nvSpPr>
          <p:cNvPr id="29" name="Text 25"/>
          <p:cNvSpPr/>
          <p:nvPr/>
        </p:nvSpPr>
        <p:spPr>
          <a:xfrm>
            <a:off x="2801541" y="2329904"/>
            <a:ext cx="5970389" cy="276374"/>
          </a:xfrm>
          <a:prstGeom prst="rect">
            <a:avLst/>
          </a:prstGeom>
          <a:solidFill>
            <a:srgbClr val="FAFEFE"/>
          </a:solidFill>
          <a:ln/>
        </p:spPr>
        <p:txBody>
          <a:bodyPr wrap="square" rtlCol="0" anchor="t"/>
          <a:lstStyle/>
          <a:p>
            <a:pPr marL="0" indent="0">
              <a:buNone/>
            </a:pPr>
            <a:endParaRPr lang="en-US" dirty="0"/>
          </a:p>
        </p:txBody>
      </p:sp>
      <p:sp>
        <p:nvSpPr>
          <p:cNvPr id="30" name="Text 26"/>
          <p:cNvSpPr/>
          <p:nvPr/>
        </p:nvSpPr>
        <p:spPr>
          <a:xfrm>
            <a:off x="2801541" y="2329904"/>
            <a:ext cx="19050" cy="276374"/>
          </a:xfrm>
          <a:prstGeom prst="rect">
            <a:avLst/>
          </a:prstGeom>
          <a:solidFill>
            <a:srgbClr val="EAF4F4"/>
          </a:solidFill>
          <a:ln/>
        </p:spPr>
        <p:txBody>
          <a:bodyPr wrap="square" rtlCol="0" anchor="t"/>
          <a:lstStyle/>
          <a:p>
            <a:pPr marL="0" indent="0">
              <a:buNone/>
            </a:pPr>
            <a:endParaRPr lang="en-US" dirty="0"/>
          </a:p>
        </p:txBody>
      </p:sp>
      <p:pic>
        <p:nvPicPr>
          <p:cNvPr id="3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897469" y="2385054"/>
            <a:ext cx="132588" cy="132588"/>
          </a:xfrm>
          <a:prstGeom prst="rect">
            <a:avLst/>
          </a:prstGeom>
        </p:spPr>
      </p:pic>
      <p:sp>
        <p:nvSpPr>
          <p:cNvPr id="32" name="Text 27"/>
          <p:cNvSpPr/>
          <p:nvPr/>
        </p:nvSpPr>
        <p:spPr>
          <a:xfrm>
            <a:off x="3106936" y="2414736"/>
            <a:ext cx="140955" cy="118021"/>
          </a:xfrm>
          <a:prstGeom prst="rect">
            <a:avLst/>
          </a:prstGeom>
          <a:noFill/>
          <a:ln/>
        </p:spPr>
        <p:txBody>
          <a:bodyPr wrap="none" lIns="0" tIns="0" rIns="0" bIns="0" rtlCol="0" anchor="ctr"/>
          <a:lstStyle/>
          <a:p>
            <a:pPr marL="0" indent="0" algn="l">
              <a:lnSpc>
                <a:spcPts val="930"/>
              </a:lnSpc>
              <a:buNone/>
            </a:pPr>
            <a:r>
              <a:rPr lang="en-US" sz="620" b="1" dirty="0">
                <a:solidFill>
                  <a:srgbClr val="FAB753"/>
                </a:solidFill>
                <a:latin typeface="Calibri" pitchFamily="34" charset="0"/>
                <a:ea typeface="Calibri" pitchFamily="34" charset="-122"/>
                <a:cs typeface="Calibri" pitchFamily="34" charset="-120"/>
              </a:rPr>
              <a:t>03</a:t>
            </a:r>
            <a:endParaRPr lang="en-US" sz="620" dirty="0"/>
          </a:p>
        </p:txBody>
      </p:sp>
      <p:sp>
        <p:nvSpPr>
          <p:cNvPr id="33" name="Text 28"/>
          <p:cNvSpPr/>
          <p:nvPr/>
        </p:nvSpPr>
        <p:spPr>
          <a:xfrm>
            <a:off x="3335387" y="2400895"/>
            <a:ext cx="2515091" cy="134392"/>
          </a:xfrm>
          <a:prstGeom prst="rect">
            <a:avLst/>
          </a:prstGeom>
          <a:noFill/>
          <a:ln/>
        </p:spPr>
        <p:txBody>
          <a:bodyPr wrap="none" lIns="0" tIns="0" rIns="0" bIns="0" rtlCol="0" anchor="ctr"/>
          <a:lstStyle/>
          <a:p>
            <a:r>
              <a:rPr lang="en-US" sz="800" dirty="0">
                <a:solidFill>
                  <a:srgbClr val="2C2C2C"/>
                </a:solidFill>
                <a:latin typeface="Calibri" pitchFamily="34" charset="0"/>
                <a:ea typeface="Calibri" pitchFamily="34" charset="-122"/>
                <a:cs typeface="Calibri" pitchFamily="34" charset="-120"/>
              </a:rPr>
              <a:t>Create a practical implementation plan for the first month.</a:t>
            </a:r>
            <a:endParaRPr lang="en-US" sz="800" dirty="0"/>
          </a:p>
        </p:txBody>
      </p:sp>
      <p:sp>
        <p:nvSpPr>
          <p:cNvPr id="34" name="Text 29"/>
          <p:cNvSpPr/>
          <p:nvPr/>
        </p:nvSpPr>
        <p:spPr>
          <a:xfrm>
            <a:off x="2801541" y="2677269"/>
            <a:ext cx="5970389" cy="276374"/>
          </a:xfrm>
          <a:prstGeom prst="rect">
            <a:avLst/>
          </a:prstGeom>
          <a:solidFill>
            <a:srgbClr val="FAFEFE"/>
          </a:solidFill>
          <a:ln/>
        </p:spPr>
        <p:txBody>
          <a:bodyPr wrap="square" rtlCol="0" anchor="t"/>
          <a:lstStyle/>
          <a:p>
            <a:pPr marL="0" indent="0">
              <a:buNone/>
            </a:pPr>
            <a:endParaRPr lang="en-US" dirty="0"/>
          </a:p>
        </p:txBody>
      </p:sp>
      <p:sp>
        <p:nvSpPr>
          <p:cNvPr id="35" name="Text 30"/>
          <p:cNvSpPr/>
          <p:nvPr/>
        </p:nvSpPr>
        <p:spPr>
          <a:xfrm>
            <a:off x="2801541" y="2677269"/>
            <a:ext cx="19050" cy="276374"/>
          </a:xfrm>
          <a:prstGeom prst="rect">
            <a:avLst/>
          </a:prstGeom>
          <a:solidFill>
            <a:srgbClr val="EAF4F4"/>
          </a:solidFill>
          <a:ln/>
        </p:spPr>
        <p:txBody>
          <a:bodyPr wrap="square" rtlCol="0" anchor="t"/>
          <a:lstStyle/>
          <a:p>
            <a:pPr marL="0" indent="0">
              <a:buNone/>
            </a:pPr>
            <a:endParaRPr lang="en-US" dirty="0"/>
          </a:p>
        </p:txBody>
      </p:sp>
      <p:pic>
        <p:nvPicPr>
          <p:cNvPr id="36"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897469" y="2732419"/>
            <a:ext cx="132588" cy="132588"/>
          </a:xfrm>
          <a:prstGeom prst="rect">
            <a:avLst/>
          </a:prstGeom>
        </p:spPr>
      </p:pic>
      <p:sp>
        <p:nvSpPr>
          <p:cNvPr id="37" name="Text 31"/>
          <p:cNvSpPr/>
          <p:nvPr/>
        </p:nvSpPr>
        <p:spPr>
          <a:xfrm>
            <a:off x="3106936" y="2762101"/>
            <a:ext cx="140955" cy="118021"/>
          </a:xfrm>
          <a:prstGeom prst="rect">
            <a:avLst/>
          </a:prstGeom>
          <a:noFill/>
          <a:ln/>
        </p:spPr>
        <p:txBody>
          <a:bodyPr wrap="none" lIns="0" tIns="0" rIns="0" bIns="0" rtlCol="0" anchor="ctr"/>
          <a:lstStyle/>
          <a:p>
            <a:pPr marL="0" indent="0" algn="l">
              <a:lnSpc>
                <a:spcPts val="930"/>
              </a:lnSpc>
              <a:buNone/>
            </a:pPr>
            <a:r>
              <a:rPr lang="en-US" sz="620" b="1" dirty="0">
                <a:solidFill>
                  <a:srgbClr val="FAB753"/>
                </a:solidFill>
                <a:latin typeface="Calibri" pitchFamily="34" charset="0"/>
                <a:ea typeface="Calibri" pitchFamily="34" charset="-122"/>
                <a:cs typeface="Calibri" pitchFamily="34" charset="-120"/>
              </a:rPr>
              <a:t>04</a:t>
            </a:r>
            <a:endParaRPr lang="en-US" sz="620" dirty="0"/>
          </a:p>
        </p:txBody>
      </p:sp>
      <p:sp>
        <p:nvSpPr>
          <p:cNvPr id="38" name="Text 32"/>
          <p:cNvSpPr/>
          <p:nvPr/>
        </p:nvSpPr>
        <p:spPr>
          <a:xfrm>
            <a:off x="3335387" y="2748260"/>
            <a:ext cx="2507397" cy="134392"/>
          </a:xfrm>
          <a:prstGeom prst="rect">
            <a:avLst/>
          </a:prstGeom>
          <a:noFill/>
          <a:ln/>
        </p:spPr>
        <p:txBody>
          <a:bodyPr wrap="none" lIns="0" tIns="0" rIns="0" bIns="0" rtlCol="0" anchor="ctr"/>
          <a:lstStyle/>
          <a:p>
            <a:r>
              <a:rPr lang="en-US" sz="800" dirty="0">
                <a:solidFill>
                  <a:srgbClr val="2C2C2C"/>
                </a:solidFill>
                <a:latin typeface="Calibri" pitchFamily="34" charset="0"/>
                <a:ea typeface="Calibri" pitchFamily="34" charset="-122"/>
                <a:cs typeface="Calibri" pitchFamily="34" charset="-120"/>
              </a:rPr>
              <a:t>Complete all consent, care plan, and Avatar requirements.</a:t>
            </a:r>
            <a:endParaRPr lang="en-US" sz="800" dirty="0"/>
          </a:p>
        </p:txBody>
      </p:sp>
      <p:sp>
        <p:nvSpPr>
          <p:cNvPr id="39" name="Text 33"/>
          <p:cNvSpPr/>
          <p:nvPr/>
        </p:nvSpPr>
        <p:spPr>
          <a:xfrm>
            <a:off x="2801541" y="3024634"/>
            <a:ext cx="5970389" cy="276374"/>
          </a:xfrm>
          <a:prstGeom prst="rect">
            <a:avLst/>
          </a:prstGeom>
          <a:solidFill>
            <a:srgbClr val="FAFEFE"/>
          </a:solidFill>
          <a:ln/>
        </p:spPr>
        <p:txBody>
          <a:bodyPr wrap="square" rtlCol="0" anchor="t"/>
          <a:lstStyle/>
          <a:p>
            <a:pPr marL="0" indent="0">
              <a:buNone/>
            </a:pPr>
            <a:endParaRPr lang="en-US" dirty="0"/>
          </a:p>
        </p:txBody>
      </p:sp>
      <p:sp>
        <p:nvSpPr>
          <p:cNvPr id="40" name="Text 34"/>
          <p:cNvSpPr/>
          <p:nvPr/>
        </p:nvSpPr>
        <p:spPr>
          <a:xfrm>
            <a:off x="2801541" y="3024634"/>
            <a:ext cx="19050" cy="276374"/>
          </a:xfrm>
          <a:prstGeom prst="rect">
            <a:avLst/>
          </a:prstGeom>
          <a:solidFill>
            <a:srgbClr val="EAF4F4"/>
          </a:solidFill>
          <a:ln/>
        </p:spPr>
        <p:txBody>
          <a:bodyPr wrap="square" rtlCol="0" anchor="t"/>
          <a:lstStyle/>
          <a:p>
            <a:pPr marL="0" indent="0">
              <a:buNone/>
            </a:pPr>
            <a:endParaRPr lang="en-US" dirty="0"/>
          </a:p>
        </p:txBody>
      </p:sp>
      <p:pic>
        <p:nvPicPr>
          <p:cNvPr id="41"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897469" y="3079784"/>
            <a:ext cx="132588" cy="132588"/>
          </a:xfrm>
          <a:prstGeom prst="rect">
            <a:avLst/>
          </a:prstGeom>
        </p:spPr>
      </p:pic>
      <p:sp>
        <p:nvSpPr>
          <p:cNvPr id="42" name="Text 35"/>
          <p:cNvSpPr/>
          <p:nvPr/>
        </p:nvSpPr>
        <p:spPr>
          <a:xfrm>
            <a:off x="3106936" y="3109466"/>
            <a:ext cx="140955" cy="118021"/>
          </a:xfrm>
          <a:prstGeom prst="rect">
            <a:avLst/>
          </a:prstGeom>
          <a:noFill/>
          <a:ln/>
        </p:spPr>
        <p:txBody>
          <a:bodyPr wrap="none" lIns="0" tIns="0" rIns="0" bIns="0" rtlCol="0" anchor="ctr"/>
          <a:lstStyle/>
          <a:p>
            <a:pPr marL="0" indent="0" algn="l">
              <a:lnSpc>
                <a:spcPts val="930"/>
              </a:lnSpc>
              <a:buNone/>
            </a:pPr>
            <a:r>
              <a:rPr lang="en-US" sz="620" b="1" dirty="0">
                <a:solidFill>
                  <a:srgbClr val="FAB753"/>
                </a:solidFill>
                <a:latin typeface="Calibri" pitchFamily="34" charset="0"/>
                <a:ea typeface="Calibri" pitchFamily="34" charset="-122"/>
                <a:cs typeface="Calibri" pitchFamily="34" charset="-120"/>
              </a:rPr>
              <a:t>05</a:t>
            </a:r>
            <a:endParaRPr lang="en-US" sz="620" dirty="0"/>
          </a:p>
        </p:txBody>
      </p:sp>
      <p:sp>
        <p:nvSpPr>
          <p:cNvPr id="43" name="Text 36"/>
          <p:cNvSpPr/>
          <p:nvPr/>
        </p:nvSpPr>
        <p:spPr>
          <a:xfrm>
            <a:off x="3335387" y="3095625"/>
            <a:ext cx="4420850" cy="134392"/>
          </a:xfrm>
          <a:prstGeom prst="rect">
            <a:avLst/>
          </a:prstGeom>
          <a:noFill/>
          <a:ln/>
        </p:spPr>
        <p:txBody>
          <a:bodyPr wrap="none" lIns="0" tIns="0" rIns="0" bIns="0" rtlCol="0" anchor="ctr"/>
          <a:lstStyle/>
          <a:p>
            <a:r>
              <a:rPr lang="en-US" sz="800" dirty="0">
                <a:solidFill>
                  <a:srgbClr val="2C2C2C"/>
                </a:solidFill>
                <a:latin typeface="Calibri" pitchFamily="34" charset="0"/>
                <a:ea typeface="Calibri" pitchFamily="34" charset="-122"/>
                <a:cs typeface="Calibri" pitchFamily="34" charset="-120"/>
              </a:rPr>
              <a:t>Launch and facilitate a therapy group with confidence.</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Why This Training Matters">
    <p:bg>
      <p:bgPr>
        <a:solidFill>
          <a:srgbClr val="FFFFFF"/>
        </a:solidFill>
        <a:effectLst/>
      </p:bgPr>
    </p:bg>
    <p:spTree>
      <p:nvGrpSpPr>
        <p:cNvPr id="1" name=""/>
        <p:cNvGrpSpPr/>
        <p:nvPr/>
      </p:nvGrpSpPr>
      <p:grpSpPr>
        <a:xfrm>
          <a:off x="0" y="0"/>
          <a:ext cx="0" cy="0"/>
          <a:chOff x="0" y="0"/>
          <a:chExt cx="0" cy="0"/>
        </a:xfrm>
      </p:grpSpPr>
      <p:sp>
        <p:nvSpPr>
          <p:cNvPr id="2" name="LeftAccent"/>
          <p:cNvSpPr/>
          <p:nvPr/>
        </p:nvSpPr>
        <p:spPr>
          <a:xfrm>
            <a:off x="429220" y="1300000"/>
            <a:ext cx="45720" cy="2900000"/>
          </a:xfrm>
          <a:prstGeom prst="rect">
            <a:avLst/>
          </a:prstGeom>
          <a:solidFill>
            <a:srgbClr val="F4B753"/>
          </a:solidFill>
          <a:ln/>
        </p:spPr>
        <p:txBody>
          <a:bodyPr wrap="none" rtlCol="0" anchor="t"/>
          <a:lstStyle/>
          <a:p>
            <a:pPr marL="0" indent="0">
              <a:buNone/>
            </a:pPr>
            <a:endParaRPr lang="en-US"/>
          </a:p>
        </p:txBody>
      </p:sp>
      <p:sp>
        <p:nvSpPr>
          <p:cNvPr id="3" name="QuoteMark"/>
          <p:cNvSpPr/>
          <p:nvPr/>
        </p:nvSpPr>
        <p:spPr>
          <a:xfrm>
            <a:off x="640000" y="340000"/>
            <a:ext cx="1600000" cy="1200000"/>
          </a:xfrm>
          <a:prstGeom prst="rect">
            <a:avLst/>
          </a:prstGeom>
          <a:noFill/>
          <a:ln/>
        </p:spPr>
        <p:txBody>
          <a:bodyPr wrap="none" lIns="0" tIns="0" rIns="0" bIns="0" rtlCol="0" anchor="t"/>
          <a:lstStyle/>
          <a:p>
            <a:pPr marL="0" indent="0" algn="l">
              <a:buNone/>
            </a:pPr>
            <a:r>
              <a:rPr lang="en-US" sz="9000" b="1">
                <a:solidFill>
                  <a:srgbClr val="F4B753"/>
                </a:solidFill>
                <a:latin typeface="Calibri" pitchFamily="34" charset="0"/>
                <a:ea typeface="Calibri" pitchFamily="34" charset="-122"/>
                <a:cs typeface="Calibri" pitchFamily="34" charset="-120"/>
              </a:rPr>
              <a:t>“</a:t>
            </a:r>
            <a:endParaRPr lang="en-US" sz="9000"/>
          </a:p>
        </p:txBody>
      </p:sp>
      <p:sp>
        <p:nvSpPr>
          <p:cNvPr id="4" name="Heading"/>
          <p:cNvSpPr/>
          <p:nvPr/>
        </p:nvSpPr>
        <p:spPr>
          <a:xfrm>
            <a:off x="700000" y="1320000"/>
            <a:ext cx="7700000" cy="620000"/>
          </a:xfrm>
          <a:prstGeom prst="rect">
            <a:avLst/>
          </a:prstGeom>
          <a:noFill/>
          <a:ln/>
        </p:spPr>
        <p:txBody>
          <a:bodyPr wrap="square" lIns="0" tIns="0" rIns="0" bIns="0" rtlCol="0" anchor="t"/>
          <a:lstStyle/>
          <a:p>
            <a:pPr marL="0" indent="0" algn="l">
              <a:buNone/>
            </a:pPr>
            <a:r>
              <a:rPr lang="en-US" sz="3200" b="1">
                <a:solidFill>
                  <a:srgbClr val="1B5E72"/>
                </a:solidFill>
                <a:latin typeface="Calibri Light" pitchFamily="34" charset="0"/>
                <a:ea typeface="Calibri Light" pitchFamily="34" charset="-122"/>
                <a:cs typeface="Calibri Light" pitchFamily="34" charset="-120"/>
              </a:rPr>
              <a:t>Why This Training Matters</a:t>
            </a:r>
            <a:endParaRPr lang="en-US" sz="3200"/>
          </a:p>
        </p:txBody>
      </p:sp>
      <p:sp>
        <p:nvSpPr>
          <p:cNvPr id="5" name="Body"/>
          <p:cNvSpPr/>
          <p:nvPr/>
        </p:nvSpPr>
        <p:spPr>
          <a:xfrm>
            <a:off x="700000" y="2120000"/>
            <a:ext cx="7500000" cy="1750000"/>
          </a:xfrm>
          <a:prstGeom prst="rect">
            <a:avLst/>
          </a:prstGeom>
          <a:noFill/>
          <a:ln/>
        </p:spPr>
        <p:txBody>
          <a:bodyPr wrap="square" lIns="0" tIns="0" rIns="0" bIns="0" rtlCol="0" anchor="t"/>
          <a:lstStyle/>
          <a:p>
            <a:pPr marL="0" indent="0" algn="l">
              <a:lnSpc>
                <a:spcPts val="2000"/>
              </a:lnSpc>
              <a:spcAft>
                <a:spcPts val="1200"/>
              </a:spcAft>
              <a:buNone/>
            </a:pPr>
            <a:r>
              <a:rPr lang="en-US" sz="1400">
                <a:solidFill>
                  <a:srgbClr val="2C2C2C"/>
                </a:solidFill>
                <a:latin typeface="Calibri" pitchFamily="34" charset="0"/>
                <a:ea typeface="Calibri" pitchFamily="34" charset="-122"/>
                <a:cs typeface="Calibri" pitchFamily="34" charset="-120"/>
              </a:rPr>
              <a:t>Many therapists graduate with strong individual therapy skills but little guidance on creating and facilitating groups. School-based groups create opportunities for connection, peer learning, belonging, and therapeutic change — while allowing clinicians to reach more students.</a:t>
            </a:r>
          </a:p>
          <a:p>
            <a:pPr marL="0" indent="0" algn="l">
              <a:lnSpc>
                <a:spcPts val="2000"/>
              </a:lnSpc>
              <a:buNone/>
            </a:pPr>
            <a:r>
              <a:rPr lang="en-US" sz="1400">
                <a:solidFill>
                  <a:srgbClr val="2C2C2C"/>
                </a:solidFill>
                <a:latin typeface="Calibri" pitchFamily="34" charset="0"/>
                <a:ea typeface="Calibri" pitchFamily="34" charset="-122"/>
                <a:cs typeface="Calibri" pitchFamily="34" charset="-120"/>
              </a:rPr>
              <a:t>This training provides a practical framework for moving from "I should start a group" to "my first group is running."</a:t>
            </a:r>
            <a:endParaRPr lang="en-US" sz="1400"/>
          </a:p>
        </p:txBody>
      </p:sp>
      <p:sp>
        <p:nvSpPr>
          <p:cNvPr id="6" name="Closing"/>
          <p:cNvSpPr/>
          <p:nvPr/>
        </p:nvSpPr>
        <p:spPr>
          <a:xfrm>
            <a:off x="700000" y="4150000"/>
            <a:ext cx="7700000" cy="500000"/>
          </a:xfrm>
          <a:prstGeom prst="rect">
            <a:avLst/>
          </a:prstGeom>
          <a:noFill/>
          <a:ln/>
        </p:spPr>
        <p:txBody>
          <a:bodyPr wrap="square" lIns="0" tIns="0" rIns="0" bIns="0" rtlCol="0" anchor="t"/>
          <a:lstStyle/>
          <a:p>
            <a:pPr marL="0" indent="0" algn="l">
              <a:buNone/>
            </a:pPr>
            <a:r>
              <a:rPr lang="en-US" sz="1900" b="1" i="1">
                <a:solidFill>
                  <a:srgbClr val="1B5E72"/>
                </a:solidFill>
                <a:latin typeface="Calibri" pitchFamily="34" charset="0"/>
                <a:ea typeface="Calibri" pitchFamily="34" charset="-122"/>
                <a:cs typeface="Calibri" pitchFamily="34" charset="-120"/>
              </a:rPr>
              <a:t>More connection.  More reach.  Better outcomes.</a:t>
            </a:r>
            <a:endParaRPr lang="en-US" sz="1900"/>
          </a:p>
        </p:txBody>
      </p:sp>
      <p:sp>
        <p:nvSpPr>
          <p:cNvPr id="18" name="FooterBar"/>
          <p:cNvSpPr/>
          <p:nvPr/>
        </p:nvSpPr>
        <p:spPr>
          <a:xfrm>
            <a:off x="0" y="4828580"/>
            <a:ext cx="9144000" cy="324368"/>
          </a:xfrm>
          <a:prstGeom prst="rect">
            <a:avLst/>
          </a:prstGeom>
          <a:solidFill>
            <a:srgbClr val="F0F4F6"/>
          </a:solidFill>
          <a:ln/>
        </p:spPr>
        <p:txBody>
          <a:bodyPr wrap="none" lIns="429260" tIns="0" rIns="429260" bIns="0" rtlCol="0" anchor="ctr"/>
          <a:lstStyle/>
          <a:p>
            <a:pPr marL="0" indent="0" algn="l">
              <a:buNone/>
            </a:pPr>
            <a:r>
              <a:rPr lang="en-US" sz="790" b="1" kern="0" spc="63">
                <a:solidFill>
                  <a:srgbClr val="1A2340"/>
                </a:solidFill>
                <a:latin typeface="Calibri" pitchFamily="34" charset="0"/>
                <a:ea typeface="Calibri" pitchFamily="34" charset="-122"/>
                <a:cs typeface="Calibri" pitchFamily="34" charset="-120"/>
              </a:rPr>
              <a:t>CENTERSTONE CLINICAL TRAINING SERIES</a:t>
            </a:r>
            <a:endParaRPr lang="en-US" sz="790"/>
          </a:p>
        </p:txBody>
      </p:sp>
      <p:sp>
        <p:nvSpPr>
          <p:cNvPr id="19" name="FooterGold"/>
          <p:cNvSpPr/>
          <p:nvPr/>
        </p:nvSpPr>
        <p:spPr>
          <a:xfrm>
            <a:off x="0" y="4828580"/>
            <a:ext cx="9144000" cy="9525"/>
          </a:xfrm>
          <a:prstGeom prst="rect">
            <a:avLst/>
          </a:prstGeom>
          <a:solidFill>
            <a:srgbClr val="F4B753"/>
          </a:solidFill>
          <a:ln/>
        </p:spPr>
        <p:txBody>
          <a:bodyPr wrap="none" rtlCol="0" anchor="t"/>
          <a:lstStyle/>
          <a:p>
            <a:pPr marL="0" indent="0">
              <a:buNone/>
            </a:pP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Training Purpose">
    <p:bg>
      <p:bgPr>
        <a:solidFill>
          <a:srgbClr val="FFFFFF"/>
        </a:solidFill>
        <a:effectLst/>
      </p:bgPr>
    </p:bg>
    <p:spTree>
      <p:nvGrpSpPr>
        <p:cNvPr id="1" name=""/>
        <p:cNvGrpSpPr/>
        <p:nvPr/>
      </p:nvGrpSpPr>
      <p:grpSpPr>
        <a:xfrm>
          <a:off x="0" y="0"/>
          <a:ext cx="0" cy="0"/>
          <a:chOff x="0" y="0"/>
          <a:chExt cx="0" cy="0"/>
        </a:xfrm>
      </p:grpSpPr>
      <p:sp>
        <p:nvSpPr>
          <p:cNvPr id="2" name="Header"/>
          <p:cNvSpPr/>
          <p:nvPr/>
        </p:nvSpPr>
        <p:spPr>
          <a:xfrm>
            <a:off x="0" y="0"/>
            <a:ext cx="9326880" cy="478780"/>
          </a:xfrm>
          <a:prstGeom prst="rect">
            <a:avLst/>
          </a:prstGeom>
          <a:solidFill>
            <a:srgbClr val="367689"/>
          </a:solidFill>
          <a:ln/>
        </p:spPr>
        <p:txBody>
          <a:bodyPr wrap="none" lIns="285750" tIns="100330" rIns="285750" bIns="100330" rtlCol="0" anchor="ctr"/>
          <a:lstStyle/>
          <a:p>
            <a:pPr marL="0" indent="0" algn="l">
              <a:buNone/>
            </a:pPr>
            <a:r>
              <a:rPr lang="en-US" sz="1460" b="1" kern="0" spc="29">
                <a:solidFill>
                  <a:srgbClr val="FFFFFF"/>
                </a:solidFill>
                <a:latin typeface="Calibri" pitchFamily="34" charset="0"/>
                <a:ea typeface="Calibri" pitchFamily="34" charset="-122"/>
                <a:cs typeface="Calibri" pitchFamily="34" charset="-120"/>
              </a:rPr>
              <a:t>Training </a:t>
            </a:r>
            <a:r>
              <a:rPr lang="en-US" sz="1460" b="1" kern="0" spc="29" dirty="0">
                <a:solidFill>
                  <a:srgbClr val="FFFFFF"/>
                </a:solidFill>
                <a:latin typeface="Calibri" pitchFamily="34" charset="0"/>
                <a:ea typeface="Calibri" pitchFamily="34" charset="-122"/>
                <a:cs typeface="Calibri" pitchFamily="34" charset="-120"/>
              </a:rPr>
              <a:t>Purpose</a:t>
            </a:r>
            <a:endParaRPr lang="en-US" sz="1460" dirty="0"/>
          </a:p>
        </p:txBody>
      </p:sp>
      <p:sp>
        <p:nvSpPr>
          <p:cNvPr id="3" name="GoldStrip"/>
          <p:cNvSpPr/>
          <p:nvPr/>
        </p:nvSpPr>
        <p:spPr>
          <a:xfrm>
            <a:off x="0" y="478780"/>
            <a:ext cx="9144000" cy="29170"/>
          </a:xfrm>
          <a:prstGeom prst="rect">
            <a:avLst/>
          </a:prstGeom>
          <a:solidFill>
            <a:srgbClr val="F4B753"/>
          </a:solidFill>
          <a:ln/>
        </p:spPr>
        <p:txBody>
          <a:bodyPr wrap="none" rtlCol="0" anchor="t"/>
          <a:lstStyle/>
          <a:p>
            <a:pPr marL="0" indent="0">
              <a:buNone/>
            </a:pPr>
            <a:endParaRPr lang="en-US" dirty="0"/>
          </a:p>
        </p:txBody>
      </p:sp>
      <p:sp>
        <p:nvSpPr>
          <p:cNvPr id="4" name="Subtitle"/>
          <p:cNvSpPr/>
          <p:nvPr/>
        </p:nvSpPr>
        <p:spPr>
          <a:xfrm>
            <a:off x="300000" y="640000"/>
            <a:ext cx="8544000" cy="360000"/>
          </a:xfrm>
          <a:prstGeom prst="rect">
            <a:avLst/>
          </a:prstGeom>
          <a:noFill/>
          <a:ln/>
        </p:spPr>
        <p:txBody>
          <a:bodyPr wrap="square" lIns="0" tIns="0" rIns="0" bIns="0" rtlCol="0" anchor="t"/>
          <a:lstStyle/>
          <a:p>
            <a:pPr marL="0" indent="0" algn="l">
              <a:buNone/>
            </a:pPr>
            <a:r>
              <a:rPr lang="en-US" sz="1300" i="1">
                <a:solidFill>
                  <a:srgbClr val="55A49C"/>
                </a:solidFill>
                <a:latin typeface="Calibri" pitchFamily="34" charset="0"/>
                <a:ea typeface="Calibri" pitchFamily="34" charset="-122"/>
                <a:cs typeface="Calibri" pitchFamily="34" charset="-120"/>
              </a:rPr>
              <a:t>Five things you will walk away able to do.</a:t>
            </a:r>
            <a:endParaRPr lang="en-US" sz="1300"/>
          </a:p>
        </p:txBody>
      </p:sp>
      <p:sp>
        <p:nvSpPr>
          <p:cNvPr id="10" name="Card1"/>
          <p:cNvSpPr/>
          <p:nvPr/>
        </p:nvSpPr>
        <p:spPr>
          <a:xfrm>
            <a:off x="300000" y="1140000"/>
            <a:ext cx="1580800" cy="3280000"/>
          </a:xfrm>
          <a:prstGeom prst="roundRect">
            <a:avLst>
              <a:gd name="adj" fmla="val 5000"/>
            </a:avLst>
          </a:prstGeom>
          <a:solidFill>
            <a:srgbClr val="F7F9FA"/>
          </a:solidFill>
          <a:ln w="9525">
            <a:solidFill>
              <a:srgbClr val="D8E6E8"/>
            </a:solidFill>
          </a:ln>
        </p:spPr>
        <p:txBody>
          <a:bodyPr wrap="square" rtlCol="0" anchor="t"/>
          <a:lstStyle/>
          <a:p>
            <a:pPr marL="0" indent="0">
              <a:buNone/>
            </a:pPr>
            <a:endParaRPr lang="en-US" dirty="0"/>
          </a:p>
        </p:txBody>
      </p:sp>
      <p:sp>
        <p:nvSpPr>
          <p:cNvPr id="11" name="Card1Num"/>
          <p:cNvSpPr/>
          <p:nvPr/>
        </p:nvSpPr>
        <p:spPr>
          <a:xfrm>
            <a:off x="420000" y="1290000"/>
            <a:ext cx="1340800" cy="420000"/>
          </a:xfrm>
          <a:prstGeom prst="rect">
            <a:avLst/>
          </a:prstGeom>
          <a:noFill/>
          <a:ln/>
        </p:spPr>
        <p:txBody>
          <a:bodyPr wrap="none" lIns="0" tIns="0" rIns="0" bIns="0" rtlCol="0" anchor="t"/>
          <a:lstStyle/>
          <a:p>
            <a:pPr marL="0" indent="0" algn="l">
              <a:buNone/>
            </a:pPr>
            <a:r>
              <a:rPr lang="en-US" sz="2200" b="1">
                <a:solidFill>
                  <a:srgbClr val="F4B753"/>
                </a:solidFill>
                <a:latin typeface="Calibri" pitchFamily="34" charset="0"/>
                <a:ea typeface="Calibri" pitchFamily="34" charset="-122"/>
                <a:cs typeface="Calibri" pitchFamily="34" charset="-120"/>
              </a:rPr>
              <a:t>01</a:t>
            </a:r>
            <a:endParaRPr lang="en-US" sz="2200"/>
          </a:p>
        </p:txBody>
      </p:sp>
      <p:sp>
        <p:nvSpPr>
          <p:cNvPr id="12" name="Card1Title"/>
          <p:cNvSpPr/>
          <p:nvPr/>
        </p:nvSpPr>
        <p:spPr>
          <a:xfrm>
            <a:off x="420000" y="1780000"/>
            <a:ext cx="1340800" cy="640000"/>
          </a:xfrm>
          <a:prstGeom prst="rect">
            <a:avLst/>
          </a:prstGeom>
          <a:noFill/>
          <a:ln/>
        </p:spPr>
        <p:txBody>
          <a:bodyPr wrap="square" lIns="0" tIns="0" rIns="0" bIns="0" rtlCol="0" anchor="t"/>
          <a:lstStyle/>
          <a:p>
            <a:pPr marL="0" indent="0" algn="l">
              <a:lnSpc>
                <a:spcPts val="1450"/>
              </a:lnSpc>
              <a:buNone/>
            </a:pPr>
            <a:r>
              <a:rPr lang="en-US" sz="1200" b="1">
                <a:solidFill>
                  <a:srgbClr val="1B5E72"/>
                </a:solidFill>
                <a:latin typeface="Calibri" pitchFamily="34" charset="0"/>
                <a:ea typeface="Calibri" pitchFamily="34" charset="-122"/>
                <a:cs typeface="Calibri" pitchFamily="34" charset="-120"/>
              </a:rPr>
              <a:t>Understand the Science</a:t>
            </a:r>
            <a:endParaRPr lang="en-US" sz="1200"/>
          </a:p>
        </p:txBody>
      </p:sp>
      <p:sp>
        <p:nvSpPr>
          <p:cNvPr id="13" name="Card1Body"/>
          <p:cNvSpPr/>
          <p:nvPr/>
        </p:nvSpPr>
        <p:spPr>
          <a:xfrm>
            <a:off x="420000" y="2480000"/>
            <a:ext cx="1340800" cy="1820000"/>
          </a:xfrm>
          <a:prstGeom prst="rect">
            <a:avLst/>
          </a:prstGeom>
          <a:noFill/>
          <a:ln/>
        </p:spPr>
        <p:txBody>
          <a:bodyPr wrap="square" lIns="0" tIns="0" rIns="0" bIns="0" rtlCol="0" anchor="t"/>
          <a:lstStyle/>
          <a:p>
            <a:pPr marL="0" indent="0" algn="l">
              <a:lnSpc>
                <a:spcPts val="1300"/>
              </a:lnSpc>
              <a:buNone/>
            </a:pPr>
            <a:r>
              <a:rPr lang="en-US" sz="1000">
                <a:solidFill>
                  <a:srgbClr val="444444"/>
                </a:solidFill>
                <a:latin typeface="Calibri" pitchFamily="34" charset="0"/>
                <a:ea typeface="Calibri" pitchFamily="34" charset="-122"/>
                <a:cs typeface="Calibri" pitchFamily="34" charset="-120"/>
              </a:rPr>
              <a:t>Learn why group therapy works and how therapeutic change occurs in groups.</a:t>
            </a:r>
            <a:endParaRPr lang="en-US" sz="1000"/>
          </a:p>
        </p:txBody>
      </p:sp>
      <p:sp>
        <p:nvSpPr>
          <p:cNvPr id="20" name="Card2"/>
          <p:cNvSpPr/>
          <p:nvPr/>
        </p:nvSpPr>
        <p:spPr>
          <a:xfrm>
            <a:off x="2040800" y="1140000"/>
            <a:ext cx="1580800" cy="3280000"/>
          </a:xfrm>
          <a:prstGeom prst="roundRect">
            <a:avLst>
              <a:gd name="adj" fmla="val 5000"/>
            </a:avLst>
          </a:prstGeom>
          <a:solidFill>
            <a:srgbClr val="F7F9FA"/>
          </a:solidFill>
          <a:ln w="9525">
            <a:solidFill>
              <a:srgbClr val="D8E6E8"/>
            </a:solidFill>
          </a:ln>
        </p:spPr>
        <p:txBody>
          <a:bodyPr wrap="square" rtlCol="0" anchor="t"/>
          <a:lstStyle/>
          <a:p>
            <a:pPr marL="0" indent="0">
              <a:buNone/>
            </a:pPr>
            <a:endParaRPr lang="en-US"/>
          </a:p>
        </p:txBody>
      </p:sp>
      <p:sp>
        <p:nvSpPr>
          <p:cNvPr id="21" name="Card2Num"/>
          <p:cNvSpPr/>
          <p:nvPr/>
        </p:nvSpPr>
        <p:spPr>
          <a:xfrm>
            <a:off x="2160800" y="1290000"/>
            <a:ext cx="1340800" cy="420000"/>
          </a:xfrm>
          <a:prstGeom prst="rect">
            <a:avLst/>
          </a:prstGeom>
          <a:noFill/>
          <a:ln/>
        </p:spPr>
        <p:txBody>
          <a:bodyPr wrap="none" lIns="0" tIns="0" rIns="0" bIns="0" rtlCol="0" anchor="t"/>
          <a:lstStyle/>
          <a:p>
            <a:pPr marL="0" indent="0" algn="l">
              <a:buNone/>
            </a:pPr>
            <a:r>
              <a:rPr lang="en-US" sz="2200" b="1">
                <a:solidFill>
                  <a:srgbClr val="F4B753"/>
                </a:solidFill>
                <a:latin typeface="Calibri" pitchFamily="34" charset="0"/>
                <a:ea typeface="Calibri" pitchFamily="34" charset="-122"/>
                <a:cs typeface="Calibri" pitchFamily="34" charset="-120"/>
              </a:rPr>
              <a:t>02</a:t>
            </a:r>
            <a:endParaRPr lang="en-US" sz="2200"/>
          </a:p>
        </p:txBody>
      </p:sp>
      <p:sp>
        <p:nvSpPr>
          <p:cNvPr id="22" name="Card2Title"/>
          <p:cNvSpPr/>
          <p:nvPr/>
        </p:nvSpPr>
        <p:spPr>
          <a:xfrm>
            <a:off x="2160800" y="1780000"/>
            <a:ext cx="1340800" cy="640000"/>
          </a:xfrm>
          <a:prstGeom prst="rect">
            <a:avLst/>
          </a:prstGeom>
          <a:noFill/>
          <a:ln/>
        </p:spPr>
        <p:txBody>
          <a:bodyPr wrap="square" lIns="0" tIns="0" rIns="0" bIns="0" rtlCol="0" anchor="t"/>
          <a:lstStyle/>
          <a:p>
            <a:pPr marL="0" indent="0" algn="l">
              <a:lnSpc>
                <a:spcPts val="1450"/>
              </a:lnSpc>
              <a:buNone/>
            </a:pPr>
            <a:r>
              <a:rPr lang="en-US" sz="1200" b="1">
                <a:solidFill>
                  <a:srgbClr val="1B5E72"/>
                </a:solidFill>
                <a:latin typeface="Calibri" pitchFamily="34" charset="0"/>
                <a:ea typeface="Calibri" pitchFamily="34" charset="-122"/>
                <a:cs typeface="Calibri" pitchFamily="34" charset="-120"/>
              </a:rPr>
              <a:t>Design Your Group</a:t>
            </a:r>
            <a:endParaRPr lang="en-US" sz="1200"/>
          </a:p>
        </p:txBody>
      </p:sp>
      <p:sp>
        <p:nvSpPr>
          <p:cNvPr id="23" name="Card2Body"/>
          <p:cNvSpPr/>
          <p:nvPr/>
        </p:nvSpPr>
        <p:spPr>
          <a:xfrm>
            <a:off x="2160800" y="2480000"/>
            <a:ext cx="1340800" cy="1820000"/>
          </a:xfrm>
          <a:prstGeom prst="rect">
            <a:avLst/>
          </a:prstGeom>
          <a:noFill/>
          <a:ln/>
        </p:spPr>
        <p:txBody>
          <a:bodyPr wrap="square" lIns="0" tIns="0" rIns="0" bIns="0" rtlCol="0" anchor="t"/>
          <a:lstStyle/>
          <a:p>
            <a:pPr marL="0" indent="0" algn="l">
              <a:lnSpc>
                <a:spcPts val="1300"/>
              </a:lnSpc>
              <a:buNone/>
            </a:pPr>
            <a:r>
              <a:rPr lang="en-US" sz="1000">
                <a:solidFill>
                  <a:srgbClr val="444444"/>
                </a:solidFill>
                <a:latin typeface="Calibri" pitchFamily="34" charset="0"/>
                <a:ea typeface="Calibri" pitchFamily="34" charset="-122"/>
                <a:cs typeface="Calibri" pitchFamily="34" charset="-120"/>
              </a:rPr>
              <a:t>Create structure, membership criteria, and logistics.</a:t>
            </a:r>
            <a:endParaRPr lang="en-US" sz="1000"/>
          </a:p>
        </p:txBody>
      </p:sp>
      <p:sp>
        <p:nvSpPr>
          <p:cNvPr id="30" name="Card3"/>
          <p:cNvSpPr/>
          <p:nvPr/>
        </p:nvSpPr>
        <p:spPr>
          <a:xfrm>
            <a:off x="3781600" y="1140000"/>
            <a:ext cx="1580800" cy="3280000"/>
          </a:xfrm>
          <a:prstGeom prst="roundRect">
            <a:avLst>
              <a:gd name="adj" fmla="val 5000"/>
            </a:avLst>
          </a:prstGeom>
          <a:solidFill>
            <a:srgbClr val="F7F9FA"/>
          </a:solidFill>
          <a:ln w="9525">
            <a:solidFill>
              <a:srgbClr val="D8E6E8"/>
            </a:solidFill>
          </a:ln>
        </p:spPr>
        <p:txBody>
          <a:bodyPr wrap="square" rtlCol="0" anchor="t"/>
          <a:lstStyle/>
          <a:p>
            <a:pPr marL="0" indent="0">
              <a:buNone/>
            </a:pPr>
            <a:endParaRPr lang="en-US" dirty="0"/>
          </a:p>
        </p:txBody>
      </p:sp>
      <p:sp>
        <p:nvSpPr>
          <p:cNvPr id="31" name="Card3Num"/>
          <p:cNvSpPr/>
          <p:nvPr/>
        </p:nvSpPr>
        <p:spPr>
          <a:xfrm>
            <a:off x="3901600" y="1290000"/>
            <a:ext cx="1340800" cy="420000"/>
          </a:xfrm>
          <a:prstGeom prst="rect">
            <a:avLst/>
          </a:prstGeom>
          <a:noFill/>
          <a:ln/>
        </p:spPr>
        <p:txBody>
          <a:bodyPr wrap="none" lIns="0" tIns="0" rIns="0" bIns="0" rtlCol="0" anchor="t"/>
          <a:lstStyle/>
          <a:p>
            <a:pPr marL="0" indent="0" algn="l">
              <a:buNone/>
            </a:pPr>
            <a:r>
              <a:rPr lang="en-US" sz="2200" b="1">
                <a:solidFill>
                  <a:srgbClr val="F4B753"/>
                </a:solidFill>
                <a:latin typeface="Calibri" pitchFamily="34" charset="0"/>
                <a:ea typeface="Calibri" pitchFamily="34" charset="-122"/>
                <a:cs typeface="Calibri" pitchFamily="34" charset="-120"/>
              </a:rPr>
              <a:t>03</a:t>
            </a:r>
            <a:endParaRPr lang="en-US" sz="2200"/>
          </a:p>
        </p:txBody>
      </p:sp>
      <p:sp>
        <p:nvSpPr>
          <p:cNvPr id="32" name="Card3Title"/>
          <p:cNvSpPr/>
          <p:nvPr/>
        </p:nvSpPr>
        <p:spPr>
          <a:xfrm>
            <a:off x="3901600" y="1780000"/>
            <a:ext cx="1340800" cy="640000"/>
          </a:xfrm>
          <a:prstGeom prst="rect">
            <a:avLst/>
          </a:prstGeom>
          <a:noFill/>
          <a:ln/>
        </p:spPr>
        <p:txBody>
          <a:bodyPr wrap="square" lIns="0" tIns="0" rIns="0" bIns="0" rtlCol="0" anchor="t"/>
          <a:lstStyle/>
          <a:p>
            <a:pPr marL="0" indent="0" algn="l">
              <a:lnSpc>
                <a:spcPts val="1450"/>
              </a:lnSpc>
              <a:buNone/>
            </a:pPr>
            <a:r>
              <a:rPr lang="en-US" sz="1200" b="1">
                <a:solidFill>
                  <a:srgbClr val="1B5E72"/>
                </a:solidFill>
                <a:latin typeface="Calibri" pitchFamily="34" charset="0"/>
                <a:ea typeface="Calibri" pitchFamily="34" charset="-122"/>
                <a:cs typeface="Calibri" pitchFamily="34" charset="-120"/>
              </a:rPr>
              <a:t>Build Documentation Foundations</a:t>
            </a:r>
            <a:endParaRPr lang="en-US" sz="1200"/>
          </a:p>
        </p:txBody>
      </p:sp>
      <p:sp>
        <p:nvSpPr>
          <p:cNvPr id="33" name="Card3Body"/>
          <p:cNvSpPr/>
          <p:nvPr/>
        </p:nvSpPr>
        <p:spPr>
          <a:xfrm>
            <a:off x="3901600" y="2480000"/>
            <a:ext cx="1340800" cy="1820000"/>
          </a:xfrm>
          <a:prstGeom prst="rect">
            <a:avLst/>
          </a:prstGeom>
          <a:noFill/>
          <a:ln/>
        </p:spPr>
        <p:txBody>
          <a:bodyPr wrap="square" lIns="0" tIns="0" rIns="0" bIns="0" rtlCol="0" anchor="t"/>
          <a:lstStyle/>
          <a:p>
            <a:pPr marL="0" indent="0" algn="l">
              <a:lnSpc>
                <a:spcPts val="1300"/>
              </a:lnSpc>
              <a:buNone/>
            </a:pPr>
            <a:r>
              <a:rPr lang="en-US" sz="1000">
                <a:solidFill>
                  <a:srgbClr val="444444"/>
                </a:solidFill>
                <a:latin typeface="Calibri" pitchFamily="34" charset="0"/>
                <a:ea typeface="Calibri" pitchFamily="34" charset="-122"/>
                <a:cs typeface="Calibri" pitchFamily="34" charset="-120"/>
              </a:rPr>
              <a:t>Prepare consent, care plans, and required records.</a:t>
            </a:r>
            <a:endParaRPr lang="en-US" sz="1000"/>
          </a:p>
        </p:txBody>
      </p:sp>
      <p:sp>
        <p:nvSpPr>
          <p:cNvPr id="40" name="Card4"/>
          <p:cNvSpPr/>
          <p:nvPr/>
        </p:nvSpPr>
        <p:spPr>
          <a:xfrm>
            <a:off x="5522400" y="1140000"/>
            <a:ext cx="1580800" cy="3280000"/>
          </a:xfrm>
          <a:prstGeom prst="roundRect">
            <a:avLst>
              <a:gd name="adj" fmla="val 5000"/>
            </a:avLst>
          </a:prstGeom>
          <a:solidFill>
            <a:srgbClr val="F7F9FA"/>
          </a:solidFill>
          <a:ln w="9525">
            <a:solidFill>
              <a:srgbClr val="D8E6E8"/>
            </a:solidFill>
          </a:ln>
        </p:spPr>
        <p:txBody>
          <a:bodyPr wrap="square" rtlCol="0" anchor="t"/>
          <a:lstStyle/>
          <a:p>
            <a:pPr marL="0" indent="0">
              <a:buNone/>
            </a:pPr>
            <a:endParaRPr lang="en-US"/>
          </a:p>
        </p:txBody>
      </p:sp>
      <p:sp>
        <p:nvSpPr>
          <p:cNvPr id="41" name="Card4Num"/>
          <p:cNvSpPr/>
          <p:nvPr/>
        </p:nvSpPr>
        <p:spPr>
          <a:xfrm>
            <a:off x="5642400" y="1290000"/>
            <a:ext cx="1340800" cy="420000"/>
          </a:xfrm>
          <a:prstGeom prst="rect">
            <a:avLst/>
          </a:prstGeom>
          <a:noFill/>
          <a:ln/>
        </p:spPr>
        <p:txBody>
          <a:bodyPr wrap="none" lIns="0" tIns="0" rIns="0" bIns="0" rtlCol="0" anchor="t"/>
          <a:lstStyle/>
          <a:p>
            <a:pPr marL="0" indent="0" algn="l">
              <a:buNone/>
            </a:pPr>
            <a:r>
              <a:rPr lang="en-US" sz="2200" b="1">
                <a:solidFill>
                  <a:srgbClr val="F4B753"/>
                </a:solidFill>
                <a:latin typeface="Calibri" pitchFamily="34" charset="0"/>
                <a:ea typeface="Calibri" pitchFamily="34" charset="-122"/>
                <a:cs typeface="Calibri" pitchFamily="34" charset="-120"/>
              </a:rPr>
              <a:t>04</a:t>
            </a:r>
            <a:endParaRPr lang="en-US" sz="2200"/>
          </a:p>
        </p:txBody>
      </p:sp>
      <p:sp>
        <p:nvSpPr>
          <p:cNvPr id="42" name="Card4Title"/>
          <p:cNvSpPr/>
          <p:nvPr/>
        </p:nvSpPr>
        <p:spPr>
          <a:xfrm>
            <a:off x="5642400" y="1780000"/>
            <a:ext cx="1340800" cy="640000"/>
          </a:xfrm>
          <a:prstGeom prst="rect">
            <a:avLst/>
          </a:prstGeom>
          <a:noFill/>
          <a:ln/>
        </p:spPr>
        <p:txBody>
          <a:bodyPr wrap="square" lIns="0" tIns="0" rIns="0" bIns="0" rtlCol="0" anchor="t"/>
          <a:lstStyle/>
          <a:p>
            <a:pPr marL="0" indent="0" algn="l">
              <a:lnSpc>
                <a:spcPts val="1450"/>
              </a:lnSpc>
              <a:buNone/>
            </a:pPr>
            <a:r>
              <a:rPr lang="en-US" sz="1200" b="1">
                <a:solidFill>
                  <a:srgbClr val="1B5E72"/>
                </a:solidFill>
                <a:latin typeface="Calibri" pitchFamily="34" charset="0"/>
                <a:ea typeface="Calibri" pitchFamily="34" charset="-122"/>
                <a:cs typeface="Calibri" pitchFamily="34" charset="-120"/>
              </a:rPr>
              <a:t>Develop Your Curriculum</a:t>
            </a:r>
            <a:endParaRPr lang="en-US" sz="1200"/>
          </a:p>
        </p:txBody>
      </p:sp>
      <p:sp>
        <p:nvSpPr>
          <p:cNvPr id="43" name="Card4Body"/>
          <p:cNvSpPr/>
          <p:nvPr/>
        </p:nvSpPr>
        <p:spPr>
          <a:xfrm>
            <a:off x="5642400" y="2480000"/>
            <a:ext cx="1340800" cy="1820000"/>
          </a:xfrm>
          <a:prstGeom prst="rect">
            <a:avLst/>
          </a:prstGeom>
          <a:noFill/>
          <a:ln/>
        </p:spPr>
        <p:txBody>
          <a:bodyPr wrap="square" lIns="0" tIns="0" rIns="0" bIns="0" rtlCol="0" anchor="t"/>
          <a:lstStyle/>
          <a:p>
            <a:pPr marL="0" indent="0" algn="l">
              <a:lnSpc>
                <a:spcPts val="1300"/>
              </a:lnSpc>
              <a:buNone/>
            </a:pPr>
            <a:r>
              <a:rPr lang="en-US" sz="1000">
                <a:solidFill>
                  <a:srgbClr val="444444"/>
                </a:solidFill>
                <a:latin typeface="Calibri" pitchFamily="34" charset="0"/>
                <a:ea typeface="Calibri" pitchFamily="34" charset="-122"/>
                <a:cs typeface="Calibri" pitchFamily="34" charset="-120"/>
              </a:rPr>
              <a:t>Create a structured and repeatable month-one experience.</a:t>
            </a:r>
            <a:endParaRPr lang="en-US" sz="1000"/>
          </a:p>
        </p:txBody>
      </p:sp>
      <p:sp>
        <p:nvSpPr>
          <p:cNvPr id="50" name="Card5"/>
          <p:cNvSpPr/>
          <p:nvPr/>
        </p:nvSpPr>
        <p:spPr>
          <a:xfrm>
            <a:off x="7263200" y="1140000"/>
            <a:ext cx="1580800" cy="3280000"/>
          </a:xfrm>
          <a:prstGeom prst="roundRect">
            <a:avLst>
              <a:gd name="adj" fmla="val 5000"/>
            </a:avLst>
          </a:prstGeom>
          <a:solidFill>
            <a:srgbClr val="F7F9FA"/>
          </a:solidFill>
          <a:ln w="9525">
            <a:solidFill>
              <a:srgbClr val="D8E6E8"/>
            </a:solidFill>
          </a:ln>
        </p:spPr>
        <p:txBody>
          <a:bodyPr wrap="square" rtlCol="0" anchor="t"/>
          <a:lstStyle/>
          <a:p>
            <a:pPr marL="0" indent="0">
              <a:buNone/>
            </a:pPr>
            <a:endParaRPr lang="en-US"/>
          </a:p>
        </p:txBody>
      </p:sp>
      <p:sp>
        <p:nvSpPr>
          <p:cNvPr id="51" name="Card5Num"/>
          <p:cNvSpPr/>
          <p:nvPr/>
        </p:nvSpPr>
        <p:spPr>
          <a:xfrm>
            <a:off x="7383200" y="1290000"/>
            <a:ext cx="1340800" cy="420000"/>
          </a:xfrm>
          <a:prstGeom prst="rect">
            <a:avLst/>
          </a:prstGeom>
          <a:noFill/>
          <a:ln/>
        </p:spPr>
        <p:txBody>
          <a:bodyPr wrap="none" lIns="0" tIns="0" rIns="0" bIns="0" rtlCol="0" anchor="t"/>
          <a:lstStyle/>
          <a:p>
            <a:pPr marL="0" indent="0" algn="l">
              <a:buNone/>
            </a:pPr>
            <a:r>
              <a:rPr lang="en-US" sz="2200" b="1">
                <a:solidFill>
                  <a:srgbClr val="F4B753"/>
                </a:solidFill>
                <a:latin typeface="Calibri" pitchFamily="34" charset="0"/>
                <a:ea typeface="Calibri" pitchFamily="34" charset="-122"/>
                <a:cs typeface="Calibri" pitchFamily="34" charset="-120"/>
              </a:rPr>
              <a:t>05</a:t>
            </a:r>
            <a:endParaRPr lang="en-US" sz="2200"/>
          </a:p>
        </p:txBody>
      </p:sp>
      <p:sp>
        <p:nvSpPr>
          <p:cNvPr id="52" name="Card5Title"/>
          <p:cNvSpPr/>
          <p:nvPr/>
        </p:nvSpPr>
        <p:spPr>
          <a:xfrm>
            <a:off x="7383200" y="1780000"/>
            <a:ext cx="1340800" cy="640000"/>
          </a:xfrm>
          <a:prstGeom prst="rect">
            <a:avLst/>
          </a:prstGeom>
          <a:noFill/>
          <a:ln/>
        </p:spPr>
        <p:txBody>
          <a:bodyPr wrap="square" lIns="0" tIns="0" rIns="0" bIns="0" rtlCol="0" anchor="t"/>
          <a:lstStyle/>
          <a:p>
            <a:pPr marL="0" indent="0" algn="l">
              <a:lnSpc>
                <a:spcPts val="1450"/>
              </a:lnSpc>
              <a:buNone/>
            </a:pPr>
            <a:r>
              <a:rPr lang="en-US" sz="1200" b="1">
                <a:solidFill>
                  <a:srgbClr val="1B5E72"/>
                </a:solidFill>
                <a:latin typeface="Calibri" pitchFamily="34" charset="0"/>
                <a:ea typeface="Calibri" pitchFamily="34" charset="-122"/>
                <a:cs typeface="Calibri" pitchFamily="34" charset="-120"/>
              </a:rPr>
              <a:t>Launch With Confidence</a:t>
            </a:r>
            <a:endParaRPr lang="en-US" sz="1200"/>
          </a:p>
        </p:txBody>
      </p:sp>
      <p:sp>
        <p:nvSpPr>
          <p:cNvPr id="53" name="Card5Body"/>
          <p:cNvSpPr/>
          <p:nvPr/>
        </p:nvSpPr>
        <p:spPr>
          <a:xfrm>
            <a:off x="7383200" y="2480000"/>
            <a:ext cx="1340800" cy="1820000"/>
          </a:xfrm>
          <a:prstGeom prst="rect">
            <a:avLst/>
          </a:prstGeom>
          <a:noFill/>
          <a:ln/>
        </p:spPr>
        <p:txBody>
          <a:bodyPr wrap="square" lIns="0" tIns="0" rIns="0" bIns="0" rtlCol="0" anchor="t"/>
          <a:lstStyle/>
          <a:p>
            <a:pPr marL="0" indent="0" algn="l">
              <a:lnSpc>
                <a:spcPts val="1300"/>
              </a:lnSpc>
              <a:buNone/>
            </a:pPr>
            <a:r>
              <a:rPr lang="en-US" sz="1000">
                <a:solidFill>
                  <a:srgbClr val="444444"/>
                </a:solidFill>
                <a:latin typeface="Calibri" pitchFamily="34" charset="0"/>
                <a:ea typeface="Calibri" pitchFamily="34" charset="-122"/>
                <a:cs typeface="Calibri" pitchFamily="34" charset="-120"/>
              </a:rPr>
              <a:t>Leave with a practical plan for implementation.</a:t>
            </a:r>
            <a:endParaRPr lang="en-US" sz="1000"/>
          </a:p>
        </p:txBody>
      </p:sp>
      <p:sp>
        <p:nvSpPr>
          <p:cNvPr id="60" name="FooterBar"/>
          <p:cNvSpPr/>
          <p:nvPr/>
        </p:nvSpPr>
        <p:spPr>
          <a:xfrm>
            <a:off x="0" y="4828580"/>
            <a:ext cx="9144000" cy="324368"/>
          </a:xfrm>
          <a:prstGeom prst="rect">
            <a:avLst/>
          </a:prstGeom>
          <a:solidFill>
            <a:srgbClr val="F0F4F6"/>
          </a:solidFill>
          <a:ln/>
        </p:spPr>
        <p:txBody>
          <a:bodyPr wrap="none" lIns="429260" tIns="0" rIns="429260" bIns="0" rtlCol="0" anchor="ctr"/>
          <a:lstStyle/>
          <a:p>
            <a:pPr marL="0" indent="0" algn="l">
              <a:buNone/>
            </a:pPr>
            <a:r>
              <a:rPr lang="en-US" sz="790" b="1" kern="0" spc="63">
                <a:solidFill>
                  <a:srgbClr val="1A2340"/>
                </a:solidFill>
                <a:latin typeface="Calibri" pitchFamily="34" charset="0"/>
                <a:ea typeface="Calibri" pitchFamily="34" charset="-122"/>
                <a:cs typeface="Calibri" pitchFamily="34" charset="-120"/>
              </a:rPr>
              <a:t>CENTERSTONE CLINICAL TRAINING SERIES</a:t>
            </a:r>
            <a:endParaRPr lang="en-US" sz="790"/>
          </a:p>
        </p:txBody>
      </p:sp>
      <p:sp>
        <p:nvSpPr>
          <p:cNvPr id="61" name="FooterGold"/>
          <p:cNvSpPr/>
          <p:nvPr/>
        </p:nvSpPr>
        <p:spPr>
          <a:xfrm>
            <a:off x="0" y="4828580"/>
            <a:ext cx="9144000" cy="9525"/>
          </a:xfrm>
          <a:prstGeom prst="rect">
            <a:avLst/>
          </a:prstGeom>
          <a:solidFill>
            <a:srgbClr val="F4B753"/>
          </a:solidFill>
          <a:ln/>
        </p:spPr>
        <p:txBody>
          <a:bodyPr wrap="none" rtlCol="0" anchor="t"/>
          <a:lstStyle/>
          <a:p>
            <a:pPr marL="0" indent="0">
              <a:buNone/>
            </a:pP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653653"/>
          </a:xfrm>
          <a:prstGeom prst="rect">
            <a:avLst/>
          </a:prstGeom>
          <a:solidFill>
            <a:srgbClr val="367689"/>
          </a:solidFill>
          <a:ln/>
        </p:spPr>
        <p:txBody>
          <a:bodyPr wrap="square" rtlCol="0" anchor="t"/>
          <a:lstStyle/>
          <a:p>
            <a:pPr marL="0" indent="0">
              <a:buNone/>
            </a:pPr>
            <a:endParaRPr lang="en-US" dirty="0"/>
          </a:p>
        </p:txBody>
      </p:sp>
      <p:pic>
        <p:nvPicPr>
          <p:cNvPr id="3" name="Image 0" descr="preencoded.png"/>
          <p:cNvPicPr>
            <a:picLocks noChangeAspect="1"/>
          </p:cNvPicPr>
          <p:nvPr/>
        </p:nvPicPr>
        <p:blipFill>
          <a:blip>
            <a:alphaModFix amt="85000"/>
            <a:extLst>
              <a:ext uri="{96DAC541-7B7A-43D3-8B79-37D633B846F1}">
                <asvg:svgBlip xmlns:asvg="http://schemas.microsoft.com/office/drawing/2016/SVG/main" r:embed="rId3"/>
              </a:ext>
            </a:extLst>
          </a:blip>
          <a:stretch>
            <a:fillRect/>
          </a:stretch>
        </p:blipFill>
        <p:spPr>
          <a:xfrm>
            <a:off x="400050" y="265509"/>
            <a:ext cx="150465" cy="150465"/>
          </a:xfrm>
          <a:prstGeom prst="rect">
            <a:avLst/>
          </a:prstGeom>
        </p:spPr>
      </p:pic>
      <p:sp>
        <p:nvSpPr>
          <p:cNvPr id="4" name="Text 1"/>
          <p:cNvSpPr/>
          <p:nvPr/>
        </p:nvSpPr>
        <p:spPr>
          <a:xfrm>
            <a:off x="650825" y="128141"/>
            <a:ext cx="2374519" cy="236041"/>
          </a:xfrm>
          <a:prstGeom prst="rect">
            <a:avLst/>
          </a:prstGeom>
          <a:noFill/>
          <a:ln/>
        </p:spPr>
        <p:txBody>
          <a:bodyPr wrap="none" lIns="0" tIns="0" rIns="0" bIns="0" rtlCol="0" anchor="ctr"/>
          <a:lstStyle/>
          <a:p>
            <a:pPr marL="0" indent="0" algn="l">
              <a:lnSpc>
                <a:spcPts val="1859"/>
              </a:lnSpc>
              <a:buNone/>
            </a:pPr>
            <a:r>
              <a:rPr lang="en-US" sz="1690" b="1" kern="0" spc="17" dirty="0">
                <a:solidFill>
                  <a:srgbClr val="FFFFFF"/>
                </a:solidFill>
                <a:latin typeface="Calibri" pitchFamily="34" charset="0"/>
                <a:ea typeface="Calibri" pitchFamily="34" charset="-122"/>
                <a:cs typeface="Calibri" pitchFamily="34" charset="-120"/>
              </a:rPr>
              <a:t>Why Group Therapy?</a:t>
            </a:r>
            <a:endParaRPr lang="en-US" sz="1690" dirty="0"/>
          </a:p>
        </p:txBody>
      </p:sp>
      <p:sp>
        <p:nvSpPr>
          <p:cNvPr id="5" name="Text 2"/>
          <p:cNvSpPr/>
          <p:nvPr/>
        </p:nvSpPr>
        <p:spPr>
          <a:xfrm>
            <a:off x="650825" y="393353"/>
            <a:ext cx="2441094" cy="159990"/>
          </a:xfrm>
          <a:prstGeom prst="rect">
            <a:avLst/>
          </a:prstGeom>
          <a:noFill/>
          <a:ln/>
        </p:spPr>
        <p:txBody>
          <a:bodyPr wrap="none" lIns="0" tIns="0" rIns="0" bIns="0" rtlCol="0" anchor="ctr"/>
          <a:lstStyle/>
          <a:p>
            <a:pPr marL="0" indent="0" algn="l">
              <a:lnSpc>
                <a:spcPts val="1260"/>
              </a:lnSpc>
              <a:spcBef>
                <a:spcPts val="230"/>
              </a:spcBef>
              <a:buNone/>
            </a:pPr>
            <a:r>
              <a:rPr lang="en-US" sz="840" kern="0" spc="25" dirty="0">
                <a:solidFill>
                  <a:srgbClr val="FFFFFF">
                    <a:alpha val="82000"/>
                  </a:srgbClr>
                </a:solidFill>
                <a:latin typeface="Calibri Light" pitchFamily="34" charset="0"/>
                <a:ea typeface="Calibri Light" pitchFamily="34" charset="-122"/>
                <a:cs typeface="Calibri Light" pitchFamily="34" charset="-120"/>
              </a:rPr>
              <a:t>Clinical and Practical Benefits</a:t>
            </a:r>
            <a:endParaRPr lang="en-US" sz="840" dirty="0"/>
          </a:p>
        </p:txBody>
      </p:sp>
      <p:sp>
        <p:nvSpPr>
          <p:cNvPr id="6" name="Text 3"/>
          <p:cNvSpPr/>
          <p:nvPr/>
        </p:nvSpPr>
        <p:spPr>
          <a:xfrm>
            <a:off x="0" y="653653"/>
            <a:ext cx="9144000" cy="29170"/>
          </a:xfrm>
          <a:prstGeom prst="rect">
            <a:avLst/>
          </a:prstGeom>
          <a:solidFill>
            <a:srgbClr val="F4B753"/>
          </a:solidFill>
          <a:ln/>
        </p:spPr>
        <p:txBody>
          <a:bodyPr wrap="none" rtlCol="0" anchor="t"/>
          <a:lstStyle/>
          <a:p>
            <a:pPr marL="0" indent="0">
              <a:buNone/>
            </a:pPr>
            <a:endParaRPr lang="en-US" dirty="0"/>
          </a:p>
        </p:txBody>
      </p:sp>
      <p:sp>
        <p:nvSpPr>
          <p:cNvPr id="7" name="Text 4"/>
          <p:cNvSpPr/>
          <p:nvPr/>
        </p:nvSpPr>
        <p:spPr>
          <a:xfrm>
            <a:off x="342900" y="883444"/>
            <a:ext cx="1996380" cy="1912293"/>
          </a:xfrm>
          <a:prstGeom prst="roundRect">
            <a:avLst>
              <a:gd name="adj" fmla="val 3719"/>
            </a:avLst>
          </a:prstGeom>
          <a:solidFill>
            <a:srgbClr val="F7FBFC"/>
          </a:solidFill>
          <a:ln/>
          <a:effectLst>
            <a:outerShdw blurRad="86360" dist="13970" dir="5400000" algn="bl" rotWithShape="0">
              <a:srgbClr val="367689">
                <a:alpha val="9000"/>
              </a:srgbClr>
            </a:outerShdw>
          </a:effectLst>
        </p:spPr>
        <p:txBody>
          <a:bodyPr wrap="square" rtlCol="0" anchor="t"/>
          <a:lstStyle/>
          <a:p>
            <a:pPr marL="0" indent="0">
              <a:buNone/>
            </a:pPr>
            <a:endParaRPr lang="en-US" dirty="0"/>
          </a:p>
        </p:txBody>
      </p:sp>
      <p:sp>
        <p:nvSpPr>
          <p:cNvPr id="8" name="Text 5"/>
          <p:cNvSpPr/>
          <p:nvPr/>
        </p:nvSpPr>
        <p:spPr>
          <a:xfrm>
            <a:off x="342900" y="883444"/>
            <a:ext cx="28575" cy="1912293"/>
          </a:xfrm>
          <a:custGeom>
            <a:avLst/>
            <a:gdLst/>
            <a:ahLst/>
            <a:cxnLst/>
            <a:rect l="l" t="t" r="r" b="b"/>
            <a:pathLst>
              <a:path w="28575" h="1912293">
                <a:moveTo>
                  <a:pt x="0" y="71120"/>
                </a:moveTo>
                <a:lnTo>
                  <a:pt x="3572" y="48865"/>
                </a:lnTo>
                <a:lnTo>
                  <a:pt x="7144" y="40054"/>
                </a:lnTo>
                <a:lnTo>
                  <a:pt x="10716" y="33579"/>
                </a:lnTo>
                <a:lnTo>
                  <a:pt x="14288" y="28363"/>
                </a:lnTo>
                <a:lnTo>
                  <a:pt x="17859" y="23989"/>
                </a:lnTo>
                <a:lnTo>
                  <a:pt x="21431" y="20237"/>
                </a:lnTo>
                <a:lnTo>
                  <a:pt x="25003" y="16979"/>
                </a:lnTo>
                <a:lnTo>
                  <a:pt x="28575" y="14129"/>
                </a:lnTo>
                <a:lnTo>
                  <a:pt x="28575" y="1898164"/>
                </a:lnTo>
                <a:lnTo>
                  <a:pt x="25003" y="1895314"/>
                </a:lnTo>
                <a:lnTo>
                  <a:pt x="21431" y="1892056"/>
                </a:lnTo>
                <a:lnTo>
                  <a:pt x="17859" y="1888304"/>
                </a:lnTo>
                <a:lnTo>
                  <a:pt x="14288" y="1883929"/>
                </a:lnTo>
                <a:lnTo>
                  <a:pt x="10716" y="1878714"/>
                </a:lnTo>
                <a:lnTo>
                  <a:pt x="7144" y="1872239"/>
                </a:lnTo>
                <a:lnTo>
                  <a:pt x="3572" y="1863428"/>
                </a:lnTo>
                <a:lnTo>
                  <a:pt x="0" y="1841173"/>
                </a:lnTo>
                <a:close/>
              </a:path>
            </a:pathLst>
          </a:custGeom>
          <a:solidFill>
            <a:srgbClr val="367689"/>
          </a:solidFill>
          <a:ln/>
        </p:spPr>
        <p:txBody>
          <a:bodyPr wrap="square" rtlCol="0" anchor="t"/>
          <a:lstStyle/>
          <a:p>
            <a:pPr marL="0" indent="0">
              <a:buNone/>
            </a:pPr>
            <a:endParaRPr lang="en-US" dirty="0"/>
          </a:p>
        </p:txBody>
      </p:sp>
      <p:pic>
        <p:nvPicPr>
          <p:cNvPr id="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8935" y="1040904"/>
            <a:ext cx="171450" cy="171450"/>
          </a:xfrm>
          <a:prstGeom prst="rect">
            <a:avLst/>
          </a:prstGeom>
        </p:spPr>
      </p:pic>
      <p:sp>
        <p:nvSpPr>
          <p:cNvPr id="10" name="Text 6"/>
          <p:cNvSpPr/>
          <p:nvPr/>
        </p:nvSpPr>
        <p:spPr>
          <a:xfrm>
            <a:off x="528935" y="1284684"/>
            <a:ext cx="1666875" cy="160273"/>
          </a:xfrm>
          <a:prstGeom prst="roundRect">
            <a:avLst>
              <a:gd name="adj" fmla="val 133915"/>
            </a:avLst>
          </a:prstGeom>
          <a:solidFill>
            <a:srgbClr val="E8F2F5"/>
          </a:solidFill>
          <a:ln/>
        </p:spPr>
        <p:txBody>
          <a:bodyPr wrap="none" lIns="0" tIns="0" rIns="0" bIns="0" rtlCol="0" anchor="ctr"/>
          <a:lstStyle/>
          <a:p>
            <a:pPr marL="0" indent="0" algn="ctr">
              <a:buNone/>
            </a:pPr>
            <a:r>
              <a:rPr lang="en-US" sz="620" b="1" dirty="0">
                <a:solidFill>
                  <a:srgbClr val="367689"/>
                </a:solidFill>
                <a:latin typeface="Calibri" pitchFamily="34" charset="0"/>
                <a:ea typeface="Calibri" pitchFamily="34" charset="-122"/>
                <a:cs typeface="Calibri" pitchFamily="34" charset="-120"/>
              </a:rPr>
              <a:t>EFFICIENCY</a:t>
            </a:r>
            <a:endParaRPr lang="en-US" sz="620" dirty="0"/>
          </a:p>
        </p:txBody>
      </p:sp>
      <p:sp>
        <p:nvSpPr>
          <p:cNvPr id="11" name="Text 7"/>
          <p:cNvSpPr/>
          <p:nvPr/>
        </p:nvSpPr>
        <p:spPr>
          <a:xfrm>
            <a:off x="528935" y="1502718"/>
            <a:ext cx="1750219" cy="342900"/>
          </a:xfrm>
          <a:prstGeom prst="rect">
            <a:avLst/>
          </a:prstGeom>
          <a:noFill/>
          <a:ln/>
        </p:spPr>
        <p:txBody>
          <a:bodyPr wrap="none" lIns="0" tIns="0" rIns="0" bIns="0" rtlCol="0" anchor="ctr"/>
          <a:lstStyle/>
          <a:p>
            <a:pPr marL="0" indent="0" algn="l">
              <a:lnSpc>
                <a:spcPts val="2700"/>
              </a:lnSpc>
              <a:buNone/>
            </a:pPr>
            <a:r>
              <a:rPr lang="en-US" sz="2700" b="1" dirty="0">
                <a:solidFill>
                  <a:srgbClr val="367689"/>
                </a:solidFill>
                <a:latin typeface="Calibri" pitchFamily="34" charset="0"/>
                <a:ea typeface="Calibri" pitchFamily="34" charset="-122"/>
                <a:cs typeface="Calibri" pitchFamily="34" charset="-120"/>
              </a:rPr>
              <a:t>1.98 </a:t>
            </a:r>
            <a:r>
              <a:rPr lang="en-US" sz="1130" b="1" dirty="0">
                <a:solidFill>
                  <a:srgbClr val="367689"/>
                </a:solidFill>
                <a:latin typeface="Calibri" pitchFamily="34" charset="0"/>
                <a:ea typeface="Calibri" pitchFamily="34" charset="-122"/>
                <a:cs typeface="Calibri" pitchFamily="34" charset="-120"/>
              </a:rPr>
              <a:t>hrs</a:t>
            </a:r>
            <a:endParaRPr lang="en-US" sz="2700" dirty="0"/>
          </a:p>
        </p:txBody>
      </p:sp>
      <p:sp>
        <p:nvSpPr>
          <p:cNvPr id="12" name="Text 8"/>
          <p:cNvSpPr/>
          <p:nvPr/>
        </p:nvSpPr>
        <p:spPr>
          <a:xfrm>
            <a:off x="528935" y="1945779"/>
            <a:ext cx="257770" cy="21580"/>
          </a:xfrm>
          <a:prstGeom prst="roundRect">
            <a:avLst>
              <a:gd name="adj" fmla="val 64736"/>
            </a:avLst>
          </a:prstGeom>
          <a:solidFill>
            <a:srgbClr val="367689"/>
          </a:solidFill>
          <a:ln/>
        </p:spPr>
        <p:txBody>
          <a:bodyPr wrap="none" rtlCol="0" anchor="t"/>
          <a:lstStyle/>
          <a:p>
            <a:pPr marL="0" indent="0">
              <a:buNone/>
            </a:pPr>
            <a:endParaRPr lang="en-US" dirty="0"/>
          </a:p>
        </p:txBody>
      </p:sp>
      <p:sp>
        <p:nvSpPr>
          <p:cNvPr id="13" name="Text 9"/>
          <p:cNvSpPr/>
          <p:nvPr/>
        </p:nvSpPr>
        <p:spPr>
          <a:xfrm>
            <a:off x="528935" y="2068860"/>
            <a:ext cx="1700213" cy="459432"/>
          </a:xfrm>
          <a:prstGeom prst="rect">
            <a:avLst/>
          </a:prstGeom>
          <a:noFill/>
          <a:ln/>
        </p:spPr>
        <p:txBody>
          <a:bodyPr wrap="square" lIns="0" tIns="0" rIns="0" bIns="0" rtlCol="0" anchor="ctr"/>
          <a:lstStyle/>
          <a:p>
            <a:pPr marL="0" indent="0" algn="l">
              <a:lnSpc>
                <a:spcPts val="1148"/>
              </a:lnSpc>
              <a:buNone/>
            </a:pPr>
            <a:r>
              <a:rPr lang="en-US" sz="820" dirty="0">
                <a:solidFill>
                  <a:srgbClr val="444444"/>
                </a:solidFill>
                <a:latin typeface="Calibri" pitchFamily="34" charset="0"/>
                <a:ea typeface="Calibri" pitchFamily="34" charset="-122"/>
                <a:cs typeface="Calibri" pitchFamily="34" charset="-120"/>
              </a:rPr>
              <a:t>Clinical hours generated from one </a:t>
            </a:r>
            <a:r>
              <a:rPr lang="en-US" sz="820" b="1" dirty="0">
                <a:solidFill>
                  <a:srgbClr val="444444"/>
                </a:solidFill>
                <a:latin typeface="Calibri" pitchFamily="34" charset="0"/>
                <a:ea typeface="Calibri" pitchFamily="34" charset="-122"/>
                <a:cs typeface="Calibri" pitchFamily="34" charset="-120"/>
              </a:rPr>
              <a:t>40-minute group</a:t>
            </a:r>
            <a:r>
              <a:rPr lang="en-US" sz="820" dirty="0">
                <a:solidFill>
                  <a:srgbClr val="444444"/>
                </a:solidFill>
                <a:latin typeface="Calibri" pitchFamily="34" charset="0"/>
                <a:ea typeface="Calibri" pitchFamily="34" charset="-122"/>
                <a:cs typeface="Calibri" pitchFamily="34" charset="-120"/>
              </a:rPr>
              <a:t> of 6 students — in a single session</a:t>
            </a:r>
            <a:endParaRPr lang="en-US" sz="820" dirty="0"/>
          </a:p>
        </p:txBody>
      </p:sp>
      <p:sp>
        <p:nvSpPr>
          <p:cNvPr id="14" name="Text 10"/>
          <p:cNvSpPr/>
          <p:nvPr/>
        </p:nvSpPr>
        <p:spPr>
          <a:xfrm>
            <a:off x="2496741" y="883444"/>
            <a:ext cx="1996529" cy="1912293"/>
          </a:xfrm>
          <a:prstGeom prst="roundRect">
            <a:avLst>
              <a:gd name="adj" fmla="val 3719"/>
            </a:avLst>
          </a:prstGeom>
          <a:solidFill>
            <a:srgbClr val="F7FBFC"/>
          </a:solidFill>
          <a:ln/>
          <a:effectLst>
            <a:outerShdw blurRad="86360" dist="13970" dir="5400000" algn="bl" rotWithShape="0">
              <a:srgbClr val="367689">
                <a:alpha val="9000"/>
              </a:srgbClr>
            </a:outerShdw>
          </a:effectLst>
        </p:spPr>
        <p:txBody>
          <a:bodyPr wrap="square" rtlCol="0" anchor="t"/>
          <a:lstStyle/>
          <a:p>
            <a:pPr marL="0" indent="0">
              <a:buNone/>
            </a:pPr>
            <a:endParaRPr lang="en-US" dirty="0"/>
          </a:p>
        </p:txBody>
      </p:sp>
      <p:sp>
        <p:nvSpPr>
          <p:cNvPr id="15" name="Text 11"/>
          <p:cNvSpPr/>
          <p:nvPr/>
        </p:nvSpPr>
        <p:spPr>
          <a:xfrm>
            <a:off x="2496741" y="883444"/>
            <a:ext cx="28575" cy="1912293"/>
          </a:xfrm>
          <a:custGeom>
            <a:avLst/>
            <a:gdLst/>
            <a:ahLst/>
            <a:cxnLst/>
            <a:rect l="l" t="t" r="r" b="b"/>
            <a:pathLst>
              <a:path w="28575" h="1912293">
                <a:moveTo>
                  <a:pt x="0" y="71120"/>
                </a:moveTo>
                <a:lnTo>
                  <a:pt x="3572" y="48865"/>
                </a:lnTo>
                <a:lnTo>
                  <a:pt x="7144" y="40054"/>
                </a:lnTo>
                <a:lnTo>
                  <a:pt x="10716" y="33579"/>
                </a:lnTo>
                <a:lnTo>
                  <a:pt x="14288" y="28363"/>
                </a:lnTo>
                <a:lnTo>
                  <a:pt x="17859" y="23989"/>
                </a:lnTo>
                <a:lnTo>
                  <a:pt x="21431" y="20237"/>
                </a:lnTo>
                <a:lnTo>
                  <a:pt x="25003" y="16979"/>
                </a:lnTo>
                <a:lnTo>
                  <a:pt x="28575" y="14129"/>
                </a:lnTo>
                <a:lnTo>
                  <a:pt x="28575" y="1898164"/>
                </a:lnTo>
                <a:lnTo>
                  <a:pt x="25003" y="1895314"/>
                </a:lnTo>
                <a:lnTo>
                  <a:pt x="21431" y="1892056"/>
                </a:lnTo>
                <a:lnTo>
                  <a:pt x="17859" y="1888304"/>
                </a:lnTo>
                <a:lnTo>
                  <a:pt x="14288" y="1883929"/>
                </a:lnTo>
                <a:lnTo>
                  <a:pt x="10716" y="1878714"/>
                </a:lnTo>
                <a:lnTo>
                  <a:pt x="7144" y="1872239"/>
                </a:lnTo>
                <a:lnTo>
                  <a:pt x="3572" y="1863428"/>
                </a:lnTo>
                <a:lnTo>
                  <a:pt x="0" y="1841173"/>
                </a:lnTo>
                <a:close/>
              </a:path>
            </a:pathLst>
          </a:custGeom>
          <a:solidFill>
            <a:srgbClr val="55A49C"/>
          </a:solidFill>
          <a:ln/>
        </p:spPr>
        <p:txBody>
          <a:bodyPr wrap="square" rtlCol="0" anchor="t"/>
          <a:lstStyle/>
          <a:p>
            <a:pPr marL="0" indent="0">
              <a:buNone/>
            </a:pPr>
            <a:endParaRPr lang="en-US" dirty="0"/>
          </a:p>
        </p:txBody>
      </p:sp>
      <p:pic>
        <p:nvPicPr>
          <p:cNvPr id="1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682776" y="1040904"/>
            <a:ext cx="171450" cy="171450"/>
          </a:xfrm>
          <a:prstGeom prst="rect">
            <a:avLst/>
          </a:prstGeom>
        </p:spPr>
      </p:pic>
      <p:sp>
        <p:nvSpPr>
          <p:cNvPr id="17" name="Text 12"/>
          <p:cNvSpPr/>
          <p:nvPr/>
        </p:nvSpPr>
        <p:spPr>
          <a:xfrm>
            <a:off x="2682776" y="1284684"/>
            <a:ext cx="1667024" cy="160273"/>
          </a:xfrm>
          <a:prstGeom prst="roundRect">
            <a:avLst>
              <a:gd name="adj" fmla="val 133915"/>
            </a:avLst>
          </a:prstGeom>
          <a:solidFill>
            <a:srgbClr val="E6F4F2"/>
          </a:solidFill>
          <a:ln/>
        </p:spPr>
        <p:txBody>
          <a:bodyPr wrap="none" lIns="0" tIns="0" rIns="0" bIns="0" rtlCol="0" anchor="ctr"/>
          <a:lstStyle/>
          <a:p>
            <a:pPr marL="0" indent="0" algn="ctr">
              <a:buNone/>
            </a:pPr>
            <a:r>
              <a:rPr lang="en-US" sz="620" b="1" dirty="0">
                <a:solidFill>
                  <a:srgbClr val="3A8079"/>
                </a:solidFill>
                <a:latin typeface="Calibri" pitchFamily="34" charset="0"/>
                <a:ea typeface="Calibri" pitchFamily="34" charset="-122"/>
                <a:cs typeface="Calibri" pitchFamily="34" charset="-120"/>
              </a:rPr>
              <a:t>INSIGHT</a:t>
            </a:r>
            <a:endParaRPr lang="en-US" sz="620" dirty="0"/>
          </a:p>
        </p:txBody>
      </p:sp>
      <p:sp>
        <p:nvSpPr>
          <p:cNvPr id="18" name="Text 13"/>
          <p:cNvSpPr/>
          <p:nvPr/>
        </p:nvSpPr>
        <p:spPr>
          <a:xfrm>
            <a:off x="2682776" y="1502718"/>
            <a:ext cx="1750375" cy="342900"/>
          </a:xfrm>
          <a:prstGeom prst="rect">
            <a:avLst/>
          </a:prstGeom>
          <a:noFill/>
          <a:ln/>
        </p:spPr>
        <p:txBody>
          <a:bodyPr wrap="none" lIns="0" tIns="0" rIns="0" bIns="0" rtlCol="0" anchor="t"/>
          <a:lstStyle/>
          <a:p>
            <a:pPr marL="0" indent="0" algn="l">
              <a:lnSpc>
                <a:spcPts val="2700"/>
              </a:lnSpc>
              <a:buNone/>
            </a:pPr>
            <a:r>
              <a:rPr lang="en-US" sz="2700" b="1" dirty="0">
                <a:solidFill>
                  <a:srgbClr val="55A49C"/>
                </a:solidFill>
                <a:latin typeface="Calibri" pitchFamily="34" charset="0"/>
                <a:ea typeface="Calibri" pitchFamily="34" charset="-122"/>
                <a:cs typeface="Calibri" pitchFamily="34" charset="-120"/>
              </a:rPr>
              <a:t>360°</a:t>
            </a:r>
            <a:endParaRPr lang="en-US" sz="2700" dirty="0"/>
          </a:p>
        </p:txBody>
      </p:sp>
      <p:sp>
        <p:nvSpPr>
          <p:cNvPr id="19" name="Text 14"/>
          <p:cNvSpPr/>
          <p:nvPr/>
        </p:nvSpPr>
        <p:spPr>
          <a:xfrm>
            <a:off x="2682776" y="1945779"/>
            <a:ext cx="257770" cy="21580"/>
          </a:xfrm>
          <a:prstGeom prst="roundRect">
            <a:avLst>
              <a:gd name="adj" fmla="val 64736"/>
            </a:avLst>
          </a:prstGeom>
          <a:solidFill>
            <a:srgbClr val="55A49C"/>
          </a:solidFill>
          <a:ln/>
        </p:spPr>
        <p:txBody>
          <a:bodyPr wrap="none" rtlCol="0" anchor="t"/>
          <a:lstStyle/>
          <a:p>
            <a:pPr marL="0" indent="0">
              <a:buNone/>
            </a:pPr>
            <a:endParaRPr lang="en-US" dirty="0"/>
          </a:p>
        </p:txBody>
      </p:sp>
      <p:sp>
        <p:nvSpPr>
          <p:cNvPr id="20" name="Text 15"/>
          <p:cNvSpPr/>
          <p:nvPr/>
        </p:nvSpPr>
        <p:spPr>
          <a:xfrm>
            <a:off x="2682776" y="2068860"/>
            <a:ext cx="1700364" cy="459432"/>
          </a:xfrm>
          <a:prstGeom prst="rect">
            <a:avLst/>
          </a:prstGeom>
          <a:noFill/>
          <a:ln/>
        </p:spPr>
        <p:txBody>
          <a:bodyPr wrap="square" lIns="0" tIns="0" rIns="0" bIns="0" rtlCol="0" anchor="ctr"/>
          <a:lstStyle/>
          <a:p>
            <a:pPr marL="0" indent="0" algn="l">
              <a:lnSpc>
                <a:spcPts val="1148"/>
              </a:lnSpc>
              <a:buNone/>
            </a:pPr>
            <a:r>
              <a:rPr lang="en-US" sz="820" dirty="0">
                <a:solidFill>
                  <a:srgbClr val="444444"/>
                </a:solidFill>
                <a:latin typeface="Calibri" pitchFamily="34" charset="0"/>
                <a:ea typeface="Calibri" pitchFamily="34" charset="-122"/>
                <a:cs typeface="Calibri" pitchFamily="34" charset="-120"/>
              </a:rPr>
              <a:t>Richer clinical insight — observe clients in </a:t>
            </a:r>
            <a:r>
              <a:rPr lang="en-US" sz="820" b="1" dirty="0">
                <a:solidFill>
                  <a:srgbClr val="444444"/>
                </a:solidFill>
                <a:latin typeface="Calibri" pitchFamily="34" charset="0"/>
                <a:ea typeface="Calibri" pitchFamily="34" charset="-122"/>
                <a:cs typeface="Calibri" pitchFamily="34" charset="-120"/>
              </a:rPr>
              <a:t>real peer interaction</a:t>
            </a:r>
            <a:r>
              <a:rPr lang="en-US" sz="820" dirty="0">
                <a:solidFill>
                  <a:srgbClr val="444444"/>
                </a:solidFill>
                <a:latin typeface="Calibri" pitchFamily="34" charset="0"/>
                <a:ea typeface="Calibri" pitchFamily="34" charset="-122"/>
                <a:cs typeface="Calibri" pitchFamily="34" charset="-120"/>
              </a:rPr>
              <a:t>, not just self-report</a:t>
            </a:r>
            <a:endParaRPr lang="en-US" sz="820" dirty="0"/>
          </a:p>
        </p:txBody>
      </p:sp>
      <p:sp>
        <p:nvSpPr>
          <p:cNvPr id="21" name="Text 16"/>
          <p:cNvSpPr/>
          <p:nvPr/>
        </p:nvSpPr>
        <p:spPr>
          <a:xfrm>
            <a:off x="4650730" y="883444"/>
            <a:ext cx="1996380" cy="1912293"/>
          </a:xfrm>
          <a:prstGeom prst="roundRect">
            <a:avLst>
              <a:gd name="adj" fmla="val 3719"/>
            </a:avLst>
          </a:prstGeom>
          <a:solidFill>
            <a:srgbClr val="F7FBFC"/>
          </a:solidFill>
          <a:ln/>
          <a:effectLst>
            <a:outerShdw blurRad="86360" dist="13970" dir="5400000" algn="bl" rotWithShape="0">
              <a:srgbClr val="367689">
                <a:alpha val="9000"/>
              </a:srgbClr>
            </a:outerShdw>
          </a:effectLst>
        </p:spPr>
        <p:txBody>
          <a:bodyPr wrap="square" rtlCol="0" anchor="t"/>
          <a:lstStyle/>
          <a:p>
            <a:pPr marL="0" indent="0">
              <a:buNone/>
            </a:pPr>
            <a:endParaRPr lang="en-US" dirty="0"/>
          </a:p>
        </p:txBody>
      </p:sp>
      <p:sp>
        <p:nvSpPr>
          <p:cNvPr id="22" name="Text 17"/>
          <p:cNvSpPr/>
          <p:nvPr/>
        </p:nvSpPr>
        <p:spPr>
          <a:xfrm>
            <a:off x="4650730" y="883444"/>
            <a:ext cx="28575" cy="1912293"/>
          </a:xfrm>
          <a:custGeom>
            <a:avLst/>
            <a:gdLst/>
            <a:ahLst/>
            <a:cxnLst/>
            <a:rect l="l" t="t" r="r" b="b"/>
            <a:pathLst>
              <a:path w="28575" h="1912293">
                <a:moveTo>
                  <a:pt x="0" y="71120"/>
                </a:moveTo>
                <a:lnTo>
                  <a:pt x="3572" y="48865"/>
                </a:lnTo>
                <a:lnTo>
                  <a:pt x="7144" y="40054"/>
                </a:lnTo>
                <a:lnTo>
                  <a:pt x="10716" y="33579"/>
                </a:lnTo>
                <a:lnTo>
                  <a:pt x="14288" y="28363"/>
                </a:lnTo>
                <a:lnTo>
                  <a:pt x="17859" y="23989"/>
                </a:lnTo>
                <a:lnTo>
                  <a:pt x="21431" y="20237"/>
                </a:lnTo>
                <a:lnTo>
                  <a:pt x="25003" y="16979"/>
                </a:lnTo>
                <a:lnTo>
                  <a:pt x="28575" y="14129"/>
                </a:lnTo>
                <a:lnTo>
                  <a:pt x="28575" y="1898164"/>
                </a:lnTo>
                <a:lnTo>
                  <a:pt x="25003" y="1895314"/>
                </a:lnTo>
                <a:lnTo>
                  <a:pt x="21431" y="1892056"/>
                </a:lnTo>
                <a:lnTo>
                  <a:pt x="17859" y="1888304"/>
                </a:lnTo>
                <a:lnTo>
                  <a:pt x="14288" y="1883929"/>
                </a:lnTo>
                <a:lnTo>
                  <a:pt x="10716" y="1878714"/>
                </a:lnTo>
                <a:lnTo>
                  <a:pt x="7144" y="1872239"/>
                </a:lnTo>
                <a:lnTo>
                  <a:pt x="3572" y="1863428"/>
                </a:lnTo>
                <a:lnTo>
                  <a:pt x="0" y="1841173"/>
                </a:lnTo>
                <a:close/>
              </a:path>
            </a:pathLst>
          </a:custGeom>
          <a:solidFill>
            <a:srgbClr val="F4B753"/>
          </a:solidFill>
          <a:ln/>
        </p:spPr>
        <p:txBody>
          <a:bodyPr wrap="square" rtlCol="0" anchor="t"/>
          <a:lstStyle/>
          <a:p>
            <a:pPr marL="0" indent="0">
              <a:buNone/>
            </a:pPr>
            <a:endParaRPr lang="en-US" dirty="0"/>
          </a:p>
        </p:txBody>
      </p:sp>
      <p:pic>
        <p:nvPicPr>
          <p:cNvPr id="23"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836765" y="1040904"/>
            <a:ext cx="171450" cy="171450"/>
          </a:xfrm>
          <a:prstGeom prst="rect">
            <a:avLst/>
          </a:prstGeom>
        </p:spPr>
      </p:pic>
      <p:sp>
        <p:nvSpPr>
          <p:cNvPr id="24" name="Text 18"/>
          <p:cNvSpPr/>
          <p:nvPr/>
        </p:nvSpPr>
        <p:spPr>
          <a:xfrm>
            <a:off x="4836765" y="1284684"/>
            <a:ext cx="1666875" cy="160273"/>
          </a:xfrm>
          <a:prstGeom prst="roundRect">
            <a:avLst>
              <a:gd name="adj" fmla="val 133915"/>
            </a:avLst>
          </a:prstGeom>
          <a:solidFill>
            <a:srgbClr val="FFF5E0"/>
          </a:solidFill>
          <a:ln/>
        </p:spPr>
        <p:txBody>
          <a:bodyPr wrap="none" lIns="0" tIns="0" rIns="0" bIns="0" rtlCol="0" anchor="ctr"/>
          <a:lstStyle/>
          <a:p>
            <a:pPr marL="0" indent="0" algn="ctr">
              <a:buNone/>
            </a:pPr>
            <a:r>
              <a:rPr lang="en-US" sz="620" b="1" dirty="0">
                <a:solidFill>
                  <a:srgbClr val="B07D18"/>
                </a:solidFill>
                <a:latin typeface="Calibri" pitchFamily="34" charset="0"/>
                <a:ea typeface="Calibri" pitchFamily="34" charset="-122"/>
                <a:cs typeface="Calibri" pitchFamily="34" charset="-120"/>
              </a:rPr>
              <a:t>SKILL TRANSFER</a:t>
            </a:r>
            <a:endParaRPr lang="en-US" sz="620" dirty="0"/>
          </a:p>
        </p:txBody>
      </p:sp>
      <p:sp>
        <p:nvSpPr>
          <p:cNvPr id="25" name="Text 19"/>
          <p:cNvSpPr/>
          <p:nvPr/>
        </p:nvSpPr>
        <p:spPr>
          <a:xfrm>
            <a:off x="4836765" y="1502718"/>
            <a:ext cx="1750219" cy="342900"/>
          </a:xfrm>
          <a:prstGeom prst="rect">
            <a:avLst/>
          </a:prstGeom>
          <a:noFill/>
          <a:ln/>
        </p:spPr>
        <p:txBody>
          <a:bodyPr wrap="none" lIns="0" tIns="0" rIns="0" bIns="0" rtlCol="0" anchor="t"/>
          <a:lstStyle/>
          <a:p>
            <a:pPr marL="0" indent="0" algn="l">
              <a:lnSpc>
                <a:spcPts val="2700"/>
              </a:lnSpc>
              <a:buNone/>
            </a:pPr>
            <a:r>
              <a:rPr lang="en-US" sz="2700" b="1" dirty="0">
                <a:solidFill>
                  <a:srgbClr val="C98D2A"/>
                </a:solidFill>
                <a:latin typeface="Calibri" pitchFamily="34" charset="0"/>
                <a:ea typeface="Calibri" pitchFamily="34" charset="-122"/>
                <a:cs typeface="Calibri" pitchFamily="34" charset="-120"/>
              </a:rPr>
              <a:t>2x</a:t>
            </a:r>
            <a:endParaRPr lang="en-US" sz="2700" dirty="0"/>
          </a:p>
        </p:txBody>
      </p:sp>
      <p:sp>
        <p:nvSpPr>
          <p:cNvPr id="26" name="Text 20"/>
          <p:cNvSpPr/>
          <p:nvPr/>
        </p:nvSpPr>
        <p:spPr>
          <a:xfrm>
            <a:off x="4836765" y="1945779"/>
            <a:ext cx="257770" cy="21580"/>
          </a:xfrm>
          <a:prstGeom prst="roundRect">
            <a:avLst>
              <a:gd name="adj" fmla="val 64736"/>
            </a:avLst>
          </a:prstGeom>
          <a:solidFill>
            <a:srgbClr val="F4B753"/>
          </a:solidFill>
          <a:ln/>
        </p:spPr>
        <p:txBody>
          <a:bodyPr wrap="none" rtlCol="0" anchor="t"/>
          <a:lstStyle/>
          <a:p>
            <a:pPr marL="0" indent="0">
              <a:buNone/>
            </a:pPr>
            <a:endParaRPr lang="en-US" dirty="0"/>
          </a:p>
        </p:txBody>
      </p:sp>
      <p:sp>
        <p:nvSpPr>
          <p:cNvPr id="27" name="Text 21"/>
          <p:cNvSpPr/>
          <p:nvPr/>
        </p:nvSpPr>
        <p:spPr>
          <a:xfrm>
            <a:off x="4836765" y="2068860"/>
            <a:ext cx="1700213" cy="612577"/>
          </a:xfrm>
          <a:prstGeom prst="rect">
            <a:avLst/>
          </a:prstGeom>
          <a:noFill/>
          <a:ln/>
        </p:spPr>
        <p:txBody>
          <a:bodyPr wrap="square" lIns="0" tIns="0" rIns="0" bIns="0" rtlCol="0" anchor="ctr"/>
          <a:lstStyle/>
          <a:p>
            <a:pPr marL="0" indent="0" algn="l">
              <a:lnSpc>
                <a:spcPts val="1148"/>
              </a:lnSpc>
              <a:buNone/>
            </a:pPr>
            <a:r>
              <a:rPr lang="en-US" sz="820" dirty="0">
                <a:solidFill>
                  <a:srgbClr val="444444"/>
                </a:solidFill>
                <a:latin typeface="Calibri" pitchFamily="34" charset="0"/>
                <a:ea typeface="Calibri" pitchFamily="34" charset="-122"/>
                <a:cs typeface="Calibri" pitchFamily="34" charset="-120"/>
              </a:rPr>
              <a:t>Skill generalization — students rehearse </a:t>
            </a:r>
            <a:r>
              <a:rPr lang="en-US" sz="820" b="1" dirty="0">
                <a:solidFill>
                  <a:srgbClr val="444444"/>
                </a:solidFill>
                <a:latin typeface="Calibri" pitchFamily="34" charset="0"/>
                <a:ea typeface="Calibri" pitchFamily="34" charset="-122"/>
                <a:cs typeface="Calibri" pitchFamily="34" charset="-120"/>
              </a:rPr>
              <a:t>communication &amp; emotional regulation</a:t>
            </a:r>
            <a:r>
              <a:rPr lang="en-US" sz="820" dirty="0">
                <a:solidFill>
                  <a:srgbClr val="444444"/>
                </a:solidFill>
                <a:latin typeface="Calibri" pitchFamily="34" charset="0"/>
                <a:ea typeface="Calibri" pitchFamily="34" charset="-122"/>
                <a:cs typeface="Calibri" pitchFamily="34" charset="-120"/>
              </a:rPr>
              <a:t> in live social moments</a:t>
            </a:r>
            <a:endParaRPr lang="en-US" sz="820" dirty="0"/>
          </a:p>
        </p:txBody>
      </p:sp>
      <p:sp>
        <p:nvSpPr>
          <p:cNvPr id="28" name="Text 22"/>
          <p:cNvSpPr/>
          <p:nvPr/>
        </p:nvSpPr>
        <p:spPr>
          <a:xfrm>
            <a:off x="6804571" y="883444"/>
            <a:ext cx="1996529" cy="1912293"/>
          </a:xfrm>
          <a:prstGeom prst="roundRect">
            <a:avLst>
              <a:gd name="adj" fmla="val 3719"/>
            </a:avLst>
          </a:prstGeom>
          <a:solidFill>
            <a:srgbClr val="F7FBFC"/>
          </a:solidFill>
          <a:ln/>
          <a:effectLst>
            <a:outerShdw blurRad="86360" dist="13970" dir="5400000" algn="bl" rotWithShape="0">
              <a:srgbClr val="367689">
                <a:alpha val="9000"/>
              </a:srgbClr>
            </a:outerShdw>
          </a:effectLst>
        </p:spPr>
        <p:txBody>
          <a:bodyPr wrap="square" rtlCol="0" anchor="t"/>
          <a:lstStyle/>
          <a:p>
            <a:pPr marL="0" indent="0">
              <a:buNone/>
            </a:pPr>
            <a:endParaRPr lang="en-US" dirty="0"/>
          </a:p>
        </p:txBody>
      </p:sp>
      <p:sp>
        <p:nvSpPr>
          <p:cNvPr id="29" name="Text 23"/>
          <p:cNvSpPr/>
          <p:nvPr/>
        </p:nvSpPr>
        <p:spPr>
          <a:xfrm>
            <a:off x="6804571" y="883444"/>
            <a:ext cx="28575" cy="1912293"/>
          </a:xfrm>
          <a:custGeom>
            <a:avLst/>
            <a:gdLst/>
            <a:ahLst/>
            <a:cxnLst/>
            <a:rect l="l" t="t" r="r" b="b"/>
            <a:pathLst>
              <a:path w="28575" h="1912293">
                <a:moveTo>
                  <a:pt x="0" y="71120"/>
                </a:moveTo>
                <a:lnTo>
                  <a:pt x="3572" y="48865"/>
                </a:lnTo>
                <a:lnTo>
                  <a:pt x="7144" y="40054"/>
                </a:lnTo>
                <a:lnTo>
                  <a:pt x="10716" y="33579"/>
                </a:lnTo>
                <a:lnTo>
                  <a:pt x="14288" y="28363"/>
                </a:lnTo>
                <a:lnTo>
                  <a:pt x="17859" y="23989"/>
                </a:lnTo>
                <a:lnTo>
                  <a:pt x="21431" y="20237"/>
                </a:lnTo>
                <a:lnTo>
                  <a:pt x="25003" y="16979"/>
                </a:lnTo>
                <a:lnTo>
                  <a:pt x="28575" y="14129"/>
                </a:lnTo>
                <a:lnTo>
                  <a:pt x="28575" y="1898164"/>
                </a:lnTo>
                <a:lnTo>
                  <a:pt x="25003" y="1895314"/>
                </a:lnTo>
                <a:lnTo>
                  <a:pt x="21431" y="1892056"/>
                </a:lnTo>
                <a:lnTo>
                  <a:pt x="17859" y="1888304"/>
                </a:lnTo>
                <a:lnTo>
                  <a:pt x="14288" y="1883929"/>
                </a:lnTo>
                <a:lnTo>
                  <a:pt x="10716" y="1878714"/>
                </a:lnTo>
                <a:lnTo>
                  <a:pt x="7144" y="1872239"/>
                </a:lnTo>
                <a:lnTo>
                  <a:pt x="3572" y="1863428"/>
                </a:lnTo>
                <a:lnTo>
                  <a:pt x="0" y="1841173"/>
                </a:lnTo>
                <a:close/>
              </a:path>
            </a:pathLst>
          </a:custGeom>
          <a:solidFill>
            <a:srgbClr val="E4923F"/>
          </a:solidFill>
          <a:ln/>
        </p:spPr>
        <p:txBody>
          <a:bodyPr wrap="square" rtlCol="0" anchor="t"/>
          <a:lstStyle/>
          <a:p>
            <a:pPr marL="0" indent="0">
              <a:buNone/>
            </a:pPr>
            <a:endParaRPr lang="en-US" dirty="0"/>
          </a:p>
        </p:txBody>
      </p:sp>
      <p:pic>
        <p:nvPicPr>
          <p:cNvPr id="30"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990606" y="1040904"/>
            <a:ext cx="171450" cy="171450"/>
          </a:xfrm>
          <a:prstGeom prst="rect">
            <a:avLst/>
          </a:prstGeom>
        </p:spPr>
      </p:pic>
      <p:sp>
        <p:nvSpPr>
          <p:cNvPr id="31" name="Text 24"/>
          <p:cNvSpPr/>
          <p:nvPr/>
        </p:nvSpPr>
        <p:spPr>
          <a:xfrm>
            <a:off x="6990606" y="1284684"/>
            <a:ext cx="1667024" cy="160273"/>
          </a:xfrm>
          <a:prstGeom prst="roundRect">
            <a:avLst>
              <a:gd name="adj" fmla="val 133915"/>
            </a:avLst>
          </a:prstGeom>
          <a:solidFill>
            <a:srgbClr val="FEF1E6"/>
          </a:solidFill>
          <a:ln/>
        </p:spPr>
        <p:txBody>
          <a:bodyPr wrap="none" lIns="0" tIns="0" rIns="0" bIns="0" rtlCol="0" anchor="ctr"/>
          <a:lstStyle/>
          <a:p>
            <a:pPr marL="0" indent="0" algn="ctr">
              <a:buNone/>
            </a:pPr>
            <a:r>
              <a:rPr lang="en-US" sz="620" b="1" dirty="0">
                <a:solidFill>
                  <a:srgbClr val="C46B1E"/>
                </a:solidFill>
                <a:latin typeface="Calibri" pitchFamily="34" charset="0"/>
                <a:ea typeface="Calibri" pitchFamily="34" charset="-122"/>
                <a:cs typeface="Calibri" pitchFamily="34" charset="-120"/>
              </a:rPr>
              <a:t>EQUITY</a:t>
            </a:r>
            <a:endParaRPr lang="en-US" sz="620" dirty="0"/>
          </a:p>
        </p:txBody>
      </p:sp>
      <p:sp>
        <p:nvSpPr>
          <p:cNvPr id="32" name="Text 25"/>
          <p:cNvSpPr/>
          <p:nvPr/>
        </p:nvSpPr>
        <p:spPr>
          <a:xfrm>
            <a:off x="6990606" y="1545878"/>
            <a:ext cx="1783715" cy="283518"/>
          </a:xfrm>
          <a:prstGeom prst="rect">
            <a:avLst/>
          </a:prstGeom>
          <a:noFill/>
          <a:ln/>
        </p:spPr>
        <p:txBody>
          <a:bodyPr wrap="none" lIns="0" tIns="0" rIns="0" bIns="0" rtlCol="0" anchor="t"/>
          <a:lstStyle/>
          <a:p>
            <a:pPr marL="0" indent="0" algn="l">
              <a:lnSpc>
                <a:spcPts val="2233"/>
              </a:lnSpc>
              <a:buNone/>
            </a:pPr>
            <a:r>
              <a:rPr lang="en-US" sz="2030" b="1" dirty="0">
                <a:solidFill>
                  <a:srgbClr val="E4923F"/>
                </a:solidFill>
                <a:latin typeface="Calibri" pitchFamily="34" charset="0"/>
                <a:ea typeface="Calibri" pitchFamily="34" charset="-122"/>
                <a:cs typeface="Calibri" pitchFamily="34" charset="-120"/>
              </a:rPr>
              <a:t>Efficiency</a:t>
            </a:r>
            <a:endParaRPr lang="en-US" sz="2030" dirty="0"/>
          </a:p>
        </p:txBody>
      </p:sp>
      <p:sp>
        <p:nvSpPr>
          <p:cNvPr id="33" name="Text 26"/>
          <p:cNvSpPr/>
          <p:nvPr/>
        </p:nvSpPr>
        <p:spPr>
          <a:xfrm>
            <a:off x="6990606" y="1929557"/>
            <a:ext cx="257770" cy="21580"/>
          </a:xfrm>
          <a:prstGeom prst="roundRect">
            <a:avLst>
              <a:gd name="adj" fmla="val 64736"/>
            </a:avLst>
          </a:prstGeom>
          <a:solidFill>
            <a:srgbClr val="E4923F"/>
          </a:solidFill>
          <a:ln/>
        </p:spPr>
        <p:txBody>
          <a:bodyPr wrap="none" rtlCol="0" anchor="t"/>
          <a:lstStyle/>
          <a:p>
            <a:pPr marL="0" indent="0">
              <a:buNone/>
            </a:pPr>
            <a:endParaRPr lang="en-US" dirty="0"/>
          </a:p>
        </p:txBody>
      </p:sp>
      <p:sp>
        <p:nvSpPr>
          <p:cNvPr id="34" name="Text 27"/>
          <p:cNvSpPr/>
          <p:nvPr/>
        </p:nvSpPr>
        <p:spPr>
          <a:xfrm>
            <a:off x="6990606" y="2052637"/>
            <a:ext cx="1700364" cy="459432"/>
          </a:xfrm>
          <a:prstGeom prst="rect">
            <a:avLst/>
          </a:prstGeom>
          <a:noFill/>
          <a:ln/>
        </p:spPr>
        <p:txBody>
          <a:bodyPr wrap="square" lIns="0" tIns="0" rIns="0" bIns="0" rtlCol="0" anchor="ctr"/>
          <a:lstStyle/>
          <a:p>
            <a:pPr marL="0" indent="0" algn="l">
              <a:lnSpc>
                <a:spcPts val="1148"/>
              </a:lnSpc>
              <a:buNone/>
            </a:pPr>
            <a:r>
              <a:rPr lang="en-US" sz="820" dirty="0">
                <a:solidFill>
                  <a:srgbClr val="444444"/>
                </a:solidFill>
                <a:latin typeface="Calibri" pitchFamily="34" charset="0"/>
                <a:ea typeface="Calibri" pitchFamily="34" charset="-122"/>
                <a:cs typeface="Calibri" pitchFamily="34" charset="-120"/>
              </a:rPr>
              <a:t>Groups ensure </a:t>
            </a:r>
            <a:r>
              <a:rPr lang="en-US" sz="820" b="1" dirty="0">
                <a:solidFill>
                  <a:srgbClr val="444444"/>
                </a:solidFill>
                <a:latin typeface="Calibri" pitchFamily="34" charset="0"/>
                <a:ea typeface="Calibri" pitchFamily="34" charset="-122"/>
                <a:cs typeface="Calibri" pitchFamily="34" charset="-120"/>
              </a:rPr>
              <a:t>every student is seen</a:t>
            </a:r>
            <a:r>
              <a:rPr lang="en-US" sz="820" dirty="0">
                <a:solidFill>
                  <a:srgbClr val="444444"/>
                </a:solidFill>
                <a:latin typeface="Calibri" pitchFamily="34" charset="0"/>
                <a:ea typeface="Calibri" pitchFamily="34" charset="-122"/>
                <a:cs typeface="Calibri" pitchFamily="34" charset="-120"/>
              </a:rPr>
              <a:t> consistently, even under the highest caseloads</a:t>
            </a:r>
            <a:endParaRPr lang="en-US" sz="820" dirty="0"/>
          </a:p>
        </p:txBody>
      </p:sp>
      <p:pic>
        <p:nvPicPr>
          <p:cNvPr id="35"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71335" y="2882363"/>
            <a:ext cx="132588" cy="132588"/>
          </a:xfrm>
          <a:prstGeom prst="rect">
            <a:avLst/>
          </a:prstGeom>
        </p:spPr>
      </p:pic>
      <p:sp>
        <p:nvSpPr>
          <p:cNvPr id="36" name="Text 28"/>
          <p:cNvSpPr/>
          <p:nvPr/>
        </p:nvSpPr>
        <p:spPr>
          <a:xfrm>
            <a:off x="524619" y="2882057"/>
            <a:ext cx="3377684" cy="133201"/>
          </a:xfrm>
          <a:prstGeom prst="rect">
            <a:avLst/>
          </a:prstGeom>
          <a:noFill/>
          <a:ln/>
        </p:spPr>
        <p:txBody>
          <a:bodyPr wrap="none" lIns="0" tIns="0" rIns="0" bIns="0" rtlCol="0" anchor="ctr"/>
          <a:lstStyle/>
          <a:p>
            <a:pPr marL="0" indent="0" algn="l">
              <a:lnSpc>
                <a:spcPts val="1050"/>
              </a:lnSpc>
              <a:buNone/>
            </a:pPr>
            <a:r>
              <a:rPr lang="en-US" sz="700" i="1" dirty="0">
                <a:solidFill>
                  <a:srgbClr val="9CA3AF"/>
                </a:solidFill>
                <a:latin typeface="Calibri" pitchFamily="34" charset="0"/>
                <a:ea typeface="Calibri" pitchFamily="34" charset="-122"/>
                <a:cs typeface="Calibri" pitchFamily="34" charset="-120"/>
              </a:rPr>
              <a:t>Avoid billing individual and group therapy on the same day for the same client.</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724346"/>
          </a:xfrm>
          <a:prstGeom prst="rect">
            <a:avLst/>
          </a:prstGeom>
          <a:solidFill>
            <a:srgbClr val="367689"/>
          </a:solidFill>
          <a:ln/>
        </p:spPr>
        <p:txBody>
          <a:bodyPr wrap="square" rtlCol="0" anchor="t"/>
          <a:lstStyle/>
          <a:p>
            <a:pPr marL="0" indent="0">
              <a:buNone/>
            </a:pPr>
            <a:endParaRPr lang="en-US" dirty="0"/>
          </a:p>
        </p:txBody>
      </p:sp>
      <p:sp>
        <p:nvSpPr>
          <p:cNvPr id="3" name="Text 1"/>
          <p:cNvSpPr/>
          <p:nvPr/>
        </p:nvSpPr>
        <p:spPr>
          <a:xfrm>
            <a:off x="372070" y="128141"/>
            <a:ext cx="8987850" cy="230684"/>
          </a:xfrm>
          <a:prstGeom prst="rect">
            <a:avLst/>
          </a:prstGeom>
          <a:noFill/>
          <a:ln/>
        </p:spPr>
        <p:txBody>
          <a:bodyPr wrap="none" lIns="0" tIns="0" rIns="0" bIns="0" rtlCol="0" anchor="t"/>
          <a:lstStyle/>
          <a:p>
            <a:pPr marL="0" indent="0" algn="l">
              <a:lnSpc>
                <a:spcPts val="1817"/>
              </a:lnSpc>
              <a:buNone/>
            </a:pPr>
            <a:r>
              <a:rPr lang="en-US" sz="1580" b="1" kern="0" spc="32" dirty="0">
                <a:solidFill>
                  <a:srgbClr val="FFFFFF"/>
                </a:solidFill>
                <a:latin typeface="Calibri" pitchFamily="34" charset="0"/>
                <a:ea typeface="Calibri" pitchFamily="34" charset="-122"/>
                <a:cs typeface="Calibri" pitchFamily="34" charset="-120"/>
              </a:rPr>
              <a:t>The Science Behind It</a:t>
            </a:r>
            <a:endParaRPr lang="en-US" sz="1580" dirty="0"/>
          </a:p>
        </p:txBody>
      </p:sp>
      <p:sp>
        <p:nvSpPr>
          <p:cNvPr id="4" name="Text 2"/>
          <p:cNvSpPr/>
          <p:nvPr/>
        </p:nvSpPr>
        <p:spPr>
          <a:xfrm>
            <a:off x="372070" y="429816"/>
            <a:ext cx="8399859" cy="21580"/>
          </a:xfrm>
          <a:prstGeom prst="rect">
            <a:avLst/>
          </a:prstGeom>
          <a:solidFill>
            <a:srgbClr val="F4B753"/>
          </a:solidFill>
          <a:ln/>
        </p:spPr>
        <p:txBody>
          <a:bodyPr wrap="none" rtlCol="0" anchor="t"/>
          <a:lstStyle/>
          <a:p>
            <a:pPr marL="0" indent="0">
              <a:buNone/>
            </a:pPr>
            <a:endParaRPr lang="en-US" dirty="0"/>
          </a:p>
        </p:txBody>
      </p:sp>
      <p:sp>
        <p:nvSpPr>
          <p:cNvPr id="5" name="Text 3"/>
          <p:cNvSpPr/>
          <p:nvPr/>
        </p:nvSpPr>
        <p:spPr>
          <a:xfrm>
            <a:off x="372070" y="494556"/>
            <a:ext cx="9239845" cy="129480"/>
          </a:xfrm>
          <a:prstGeom prst="rect">
            <a:avLst/>
          </a:prstGeom>
          <a:noFill/>
          <a:ln/>
        </p:spPr>
        <p:txBody>
          <a:bodyPr wrap="none" lIns="0" tIns="0" rIns="0" bIns="0" rtlCol="0" anchor="ctr"/>
          <a:lstStyle/>
          <a:p>
            <a:pPr marL="0" indent="0" algn="l">
              <a:lnSpc>
                <a:spcPts val="1020"/>
              </a:lnSpc>
              <a:buNone/>
            </a:pPr>
            <a:r>
              <a:rPr lang="en-US" sz="680" i="1" kern="0" spc="7" dirty="0">
                <a:solidFill>
                  <a:srgbClr val="55A49C"/>
                </a:solidFill>
                <a:latin typeface="Calibri Light" pitchFamily="34" charset="0"/>
                <a:ea typeface="Calibri Light" pitchFamily="34" charset="-122"/>
                <a:cs typeface="Calibri Light" pitchFamily="34" charset="-120"/>
              </a:rPr>
              <a:t>Yalom, I. D., &amp; Leszcz, M. (2005). The Theory and Practice of Group Psychotherapy, 5th ed. Basic Books.</a:t>
            </a:r>
            <a:endParaRPr lang="en-US" sz="680" dirty="0"/>
          </a:p>
        </p:txBody>
      </p:sp>
      <p:sp>
        <p:nvSpPr>
          <p:cNvPr id="6" name="Text 4"/>
          <p:cNvSpPr/>
          <p:nvPr/>
        </p:nvSpPr>
        <p:spPr>
          <a:xfrm>
            <a:off x="328761" y="824657"/>
            <a:ext cx="9350350" cy="171450"/>
          </a:xfrm>
          <a:prstGeom prst="rect">
            <a:avLst/>
          </a:prstGeom>
          <a:noFill/>
          <a:ln/>
        </p:spPr>
        <p:txBody>
          <a:bodyPr wrap="none" lIns="0" tIns="0" rIns="0" bIns="0" rtlCol="0" anchor="t"/>
          <a:lstStyle/>
          <a:p>
            <a:pPr marL="0" indent="0" algn="l">
              <a:lnSpc>
                <a:spcPts val="1350"/>
              </a:lnSpc>
              <a:buNone/>
            </a:pPr>
            <a:r>
              <a:rPr lang="en-US" sz="900" b="1" kern="0" spc="36" dirty="0">
                <a:solidFill>
                  <a:srgbClr val="367689"/>
                </a:solidFill>
                <a:latin typeface="Calibri Light" pitchFamily="34" charset="0"/>
                <a:ea typeface="Calibri Light" pitchFamily="34" charset="-122"/>
                <a:cs typeface="Calibri Light" pitchFamily="34" charset="-120"/>
              </a:rPr>
              <a:t>YALOM'S THERAPEUTIC FACTORS — PART 1</a:t>
            </a:r>
            <a:endParaRPr lang="en-US" sz="900" dirty="0"/>
          </a:p>
        </p:txBody>
      </p:sp>
      <p:sp>
        <p:nvSpPr>
          <p:cNvPr id="7" name="Text 5"/>
          <p:cNvSpPr/>
          <p:nvPr/>
        </p:nvSpPr>
        <p:spPr>
          <a:xfrm>
            <a:off x="314920" y="1074688"/>
            <a:ext cx="8514159" cy="456605"/>
          </a:xfrm>
          <a:prstGeom prst="rect">
            <a:avLst/>
          </a:prstGeom>
          <a:solidFill>
            <a:srgbClr val="F4F8F9"/>
          </a:solidFill>
          <a:ln/>
          <a:effectLst>
            <a:outerShdw blurRad="29210" dist="7620" dir="5400000" algn="bl" rotWithShape="0">
              <a:srgbClr val="367689">
                <a:alpha val="6000"/>
              </a:srgbClr>
            </a:outerShdw>
          </a:effectLst>
        </p:spPr>
        <p:txBody>
          <a:bodyPr wrap="square" rtlCol="0" anchor="t"/>
          <a:lstStyle/>
          <a:p>
            <a:pPr marL="0" indent="0">
              <a:buNone/>
            </a:pPr>
            <a:endParaRPr lang="en-US" dirty="0"/>
          </a:p>
        </p:txBody>
      </p:sp>
      <p:sp>
        <p:nvSpPr>
          <p:cNvPr id="8" name="Text 6"/>
          <p:cNvSpPr/>
          <p:nvPr/>
        </p:nvSpPr>
        <p:spPr>
          <a:xfrm>
            <a:off x="314920" y="1074688"/>
            <a:ext cx="28575" cy="456605"/>
          </a:xfrm>
          <a:prstGeom prst="rect">
            <a:avLst/>
          </a:prstGeom>
          <a:solidFill>
            <a:srgbClr val="55A49C"/>
          </a:solidFill>
          <a:ln/>
        </p:spPr>
        <p:txBody>
          <a:bodyPr wrap="square" rtlCol="0" anchor="t"/>
          <a:lstStyle/>
          <a:p>
            <a:pPr marL="0" indent="0">
              <a:buNone/>
            </a:pPr>
            <a:endParaRPr lang="en-US" dirty="0"/>
          </a:p>
        </p:txBody>
      </p:sp>
      <p:sp>
        <p:nvSpPr>
          <p:cNvPr id="9" name="Text 7"/>
          <p:cNvSpPr/>
          <p:nvPr/>
        </p:nvSpPr>
        <p:spPr>
          <a:xfrm>
            <a:off x="447764" y="1153269"/>
            <a:ext cx="220682" cy="204639"/>
          </a:xfrm>
          <a:prstGeom prst="rect">
            <a:avLst/>
          </a:prstGeom>
          <a:noFill/>
          <a:ln/>
        </p:spPr>
        <p:txBody>
          <a:bodyPr wrap="none" lIns="0" tIns="0" rIns="0" bIns="0" rtlCol="0" anchor="t"/>
          <a:lstStyle/>
          <a:p>
            <a:pPr marL="0" indent="0" algn="ctr">
              <a:lnSpc>
                <a:spcPts val="1612"/>
              </a:lnSpc>
              <a:buNone/>
            </a:pPr>
            <a:r>
              <a:rPr lang="en-US" sz="1240" dirty="0">
                <a:solidFill>
                  <a:srgbClr val="1A2A2E"/>
                </a:solidFill>
                <a:latin typeface="Calibri" pitchFamily="34" charset="0"/>
                <a:ea typeface="Calibri" pitchFamily="34" charset="-122"/>
                <a:cs typeface="Calibri" pitchFamily="34" charset="-120"/>
              </a:rPr>
              <a:t>💡</a:t>
            </a:r>
            <a:endParaRPr lang="en-US" sz="1240" dirty="0"/>
          </a:p>
        </p:txBody>
      </p:sp>
      <p:sp>
        <p:nvSpPr>
          <p:cNvPr id="10" name="Text 8"/>
          <p:cNvSpPr/>
          <p:nvPr/>
        </p:nvSpPr>
        <p:spPr>
          <a:xfrm>
            <a:off x="758726" y="1145679"/>
            <a:ext cx="8101057" cy="330354"/>
          </a:xfrm>
          <a:prstGeom prst="rect">
            <a:avLst/>
          </a:prstGeom>
          <a:noFill/>
          <a:ln/>
        </p:spPr>
        <p:txBody>
          <a:bodyPr wrap="square" lIns="0" tIns="0" rIns="0" bIns="0" rtlCol="0" anchor="ctr"/>
          <a:lstStyle/>
          <a:p>
            <a:pPr marL="0" indent="0" algn="l">
              <a:lnSpc>
                <a:spcPts val="1262"/>
              </a:lnSpc>
              <a:buNone/>
            </a:pPr>
            <a:r>
              <a:rPr lang="en-US" sz="870" b="1" dirty="0">
                <a:solidFill>
                  <a:srgbClr val="367689"/>
                </a:solidFill>
                <a:latin typeface="Calibri" pitchFamily="34" charset="0"/>
                <a:ea typeface="Calibri" pitchFamily="34" charset="-122"/>
                <a:cs typeface="Calibri" pitchFamily="34" charset="-120"/>
              </a:rPr>
              <a:t>Instillation of Hope —</a:t>
            </a:r>
            <a:r>
              <a:rPr lang="en-US" sz="870" dirty="0">
                <a:solidFill>
                  <a:srgbClr val="1A2A2E"/>
                </a:solidFill>
                <a:latin typeface="Calibri" pitchFamily="34" charset="0"/>
                <a:ea typeface="Calibri" pitchFamily="34" charset="-122"/>
                <a:cs typeface="Calibri" pitchFamily="34" charset="-120"/>
              </a:rPr>
              <a:t> </a:t>
            </a:r>
            <a:r>
              <a:rPr lang="en-US" sz="840" dirty="0">
                <a:solidFill>
                  <a:srgbClr val="2D3E42"/>
                </a:solidFill>
                <a:latin typeface="Calibri" pitchFamily="34" charset="0"/>
                <a:ea typeface="Calibri" pitchFamily="34" charset="-122"/>
                <a:cs typeface="Calibri" pitchFamily="34" charset="-120"/>
              </a:rPr>
              <a:t> Seeing peers make progress activates the belief that change is possible. In school groups, this is the student who says: </a:t>
            </a:r>
            <a:r>
              <a:rPr lang="en-US" sz="840" i="1" dirty="0">
                <a:solidFill>
                  <a:srgbClr val="2D3E42"/>
                </a:solidFill>
                <a:latin typeface="Calibri" pitchFamily="34" charset="0"/>
                <a:ea typeface="Calibri" pitchFamily="34" charset="-122"/>
                <a:cs typeface="Calibri" pitchFamily="34" charset="-120"/>
              </a:rPr>
              <a:t>I used to feel that way too.</a:t>
            </a:r>
            <a:endParaRPr lang="en-US" sz="870" dirty="0"/>
          </a:p>
        </p:txBody>
      </p:sp>
      <p:sp>
        <p:nvSpPr>
          <p:cNvPr id="11" name="Text 9"/>
          <p:cNvSpPr/>
          <p:nvPr/>
        </p:nvSpPr>
        <p:spPr>
          <a:xfrm>
            <a:off x="314920" y="1596033"/>
            <a:ext cx="8514159" cy="354211"/>
          </a:xfrm>
          <a:prstGeom prst="rect">
            <a:avLst/>
          </a:prstGeom>
          <a:solidFill>
            <a:srgbClr val="F4F8F9"/>
          </a:solidFill>
          <a:ln/>
          <a:effectLst>
            <a:outerShdw blurRad="29210" dist="7620" dir="5400000" algn="bl" rotWithShape="0">
              <a:srgbClr val="367689">
                <a:alpha val="6000"/>
              </a:srgbClr>
            </a:outerShdw>
          </a:effectLst>
        </p:spPr>
        <p:txBody>
          <a:bodyPr wrap="square" rtlCol="0" anchor="t"/>
          <a:lstStyle/>
          <a:p>
            <a:pPr marL="0" indent="0">
              <a:buNone/>
            </a:pPr>
            <a:endParaRPr lang="en-US" dirty="0"/>
          </a:p>
        </p:txBody>
      </p:sp>
      <p:sp>
        <p:nvSpPr>
          <p:cNvPr id="12" name="Text 10"/>
          <p:cNvSpPr/>
          <p:nvPr/>
        </p:nvSpPr>
        <p:spPr>
          <a:xfrm>
            <a:off x="314920" y="1596033"/>
            <a:ext cx="28575" cy="354211"/>
          </a:xfrm>
          <a:prstGeom prst="rect">
            <a:avLst/>
          </a:prstGeom>
          <a:solidFill>
            <a:srgbClr val="55A49C"/>
          </a:solidFill>
          <a:ln/>
        </p:spPr>
        <p:txBody>
          <a:bodyPr wrap="square" rtlCol="0" anchor="t"/>
          <a:lstStyle/>
          <a:p>
            <a:pPr marL="0" indent="0">
              <a:buNone/>
            </a:pPr>
            <a:endParaRPr lang="en-US" dirty="0"/>
          </a:p>
        </p:txBody>
      </p:sp>
      <p:sp>
        <p:nvSpPr>
          <p:cNvPr id="13" name="Text 11"/>
          <p:cNvSpPr/>
          <p:nvPr/>
        </p:nvSpPr>
        <p:spPr>
          <a:xfrm>
            <a:off x="447764" y="1674614"/>
            <a:ext cx="220682" cy="204639"/>
          </a:xfrm>
          <a:prstGeom prst="rect">
            <a:avLst/>
          </a:prstGeom>
          <a:noFill/>
          <a:ln/>
        </p:spPr>
        <p:txBody>
          <a:bodyPr wrap="none" lIns="0" tIns="0" rIns="0" bIns="0" rtlCol="0" anchor="t"/>
          <a:lstStyle/>
          <a:p>
            <a:pPr marL="0" indent="0" algn="ctr">
              <a:lnSpc>
                <a:spcPts val="1612"/>
              </a:lnSpc>
              <a:buNone/>
            </a:pPr>
            <a:r>
              <a:rPr lang="en-US" sz="1240" dirty="0">
                <a:solidFill>
                  <a:srgbClr val="1A2A2E"/>
                </a:solidFill>
                <a:latin typeface="Calibri" pitchFamily="34" charset="0"/>
                <a:ea typeface="Calibri" pitchFamily="34" charset="-122"/>
                <a:cs typeface="Calibri" pitchFamily="34" charset="-120"/>
              </a:rPr>
              <a:t>🌐</a:t>
            </a:r>
            <a:endParaRPr lang="en-US" sz="1240" dirty="0"/>
          </a:p>
        </p:txBody>
      </p:sp>
      <p:sp>
        <p:nvSpPr>
          <p:cNvPr id="14" name="Text 12"/>
          <p:cNvSpPr/>
          <p:nvPr/>
        </p:nvSpPr>
        <p:spPr>
          <a:xfrm>
            <a:off x="758726" y="1667024"/>
            <a:ext cx="7289721" cy="159990"/>
          </a:xfrm>
          <a:prstGeom prst="rect">
            <a:avLst/>
          </a:prstGeom>
          <a:noFill/>
          <a:ln/>
        </p:spPr>
        <p:txBody>
          <a:bodyPr wrap="none" lIns="0" tIns="0" rIns="0" bIns="0" rtlCol="0" anchor="ctr"/>
          <a:lstStyle/>
          <a:p>
            <a:pPr marL="0" indent="0" algn="l">
              <a:lnSpc>
                <a:spcPts val="1262"/>
              </a:lnSpc>
              <a:buNone/>
            </a:pPr>
            <a:r>
              <a:rPr lang="en-US" sz="870" b="1" dirty="0">
                <a:solidFill>
                  <a:srgbClr val="367689"/>
                </a:solidFill>
                <a:latin typeface="Calibri" pitchFamily="34" charset="0"/>
                <a:ea typeface="Calibri" pitchFamily="34" charset="-122"/>
                <a:cs typeface="Calibri" pitchFamily="34" charset="-120"/>
              </a:rPr>
              <a:t>Universality —</a:t>
            </a:r>
            <a:r>
              <a:rPr lang="en-US" sz="870" dirty="0">
                <a:solidFill>
                  <a:srgbClr val="1A2A2E"/>
                </a:solidFill>
                <a:latin typeface="Calibri" pitchFamily="34" charset="0"/>
                <a:ea typeface="Calibri" pitchFamily="34" charset="-122"/>
                <a:cs typeface="Calibri" pitchFamily="34" charset="-120"/>
              </a:rPr>
              <a:t> </a:t>
            </a:r>
            <a:r>
              <a:rPr lang="en-US" sz="840" dirty="0">
                <a:solidFill>
                  <a:srgbClr val="2D3E42"/>
                </a:solidFill>
                <a:latin typeface="Calibri" pitchFamily="34" charset="0"/>
                <a:ea typeface="Calibri" pitchFamily="34" charset="-122"/>
                <a:cs typeface="Calibri" pitchFamily="34" charset="-120"/>
              </a:rPr>
              <a:t> </a:t>
            </a:r>
            <a:r>
              <a:rPr lang="en-US" sz="840" i="1" dirty="0">
                <a:solidFill>
                  <a:srgbClr val="2D3E42"/>
                </a:solidFill>
                <a:latin typeface="Calibri" pitchFamily="34" charset="0"/>
                <a:ea typeface="Calibri" pitchFamily="34" charset="-122"/>
                <a:cs typeface="Calibri" pitchFamily="34" charset="-120"/>
              </a:rPr>
              <a:t>I am not alone.</a:t>
            </a:r>
            <a:r>
              <a:rPr lang="en-US" sz="840" dirty="0">
                <a:solidFill>
                  <a:srgbClr val="2D3E42"/>
                </a:solidFill>
                <a:latin typeface="Calibri" pitchFamily="34" charset="0"/>
                <a:ea typeface="Calibri" pitchFamily="34" charset="-122"/>
                <a:cs typeface="Calibri" pitchFamily="34" charset="-120"/>
              </a:rPr>
              <a:t> Students discover their struggles are shared, reducing shame and isolation before the second session ends.</a:t>
            </a:r>
            <a:endParaRPr lang="en-US" sz="870" dirty="0"/>
          </a:p>
        </p:txBody>
      </p:sp>
      <p:sp>
        <p:nvSpPr>
          <p:cNvPr id="15" name="Text 13"/>
          <p:cNvSpPr/>
          <p:nvPr/>
        </p:nvSpPr>
        <p:spPr>
          <a:xfrm>
            <a:off x="314920" y="2014984"/>
            <a:ext cx="8514159" cy="354211"/>
          </a:xfrm>
          <a:prstGeom prst="rect">
            <a:avLst/>
          </a:prstGeom>
          <a:solidFill>
            <a:srgbClr val="F4F8F9"/>
          </a:solidFill>
          <a:ln/>
          <a:effectLst>
            <a:outerShdw blurRad="29210" dist="7620" dir="5400000" algn="bl" rotWithShape="0">
              <a:srgbClr val="367689">
                <a:alpha val="6000"/>
              </a:srgbClr>
            </a:outerShdw>
          </a:effectLst>
        </p:spPr>
        <p:txBody>
          <a:bodyPr wrap="square" rtlCol="0" anchor="t"/>
          <a:lstStyle/>
          <a:p>
            <a:pPr marL="0" indent="0">
              <a:buNone/>
            </a:pPr>
            <a:endParaRPr lang="en-US" dirty="0"/>
          </a:p>
        </p:txBody>
      </p:sp>
      <p:sp>
        <p:nvSpPr>
          <p:cNvPr id="16" name="Text 14"/>
          <p:cNvSpPr/>
          <p:nvPr/>
        </p:nvSpPr>
        <p:spPr>
          <a:xfrm>
            <a:off x="314920" y="2014984"/>
            <a:ext cx="28575" cy="354211"/>
          </a:xfrm>
          <a:prstGeom prst="rect">
            <a:avLst/>
          </a:prstGeom>
          <a:solidFill>
            <a:srgbClr val="55A49C"/>
          </a:solidFill>
          <a:ln/>
        </p:spPr>
        <p:txBody>
          <a:bodyPr wrap="square" rtlCol="0" anchor="t"/>
          <a:lstStyle/>
          <a:p>
            <a:pPr marL="0" indent="0">
              <a:buNone/>
            </a:pPr>
            <a:endParaRPr lang="en-US" dirty="0"/>
          </a:p>
        </p:txBody>
      </p:sp>
      <p:sp>
        <p:nvSpPr>
          <p:cNvPr id="17" name="Text 15"/>
          <p:cNvSpPr/>
          <p:nvPr/>
        </p:nvSpPr>
        <p:spPr>
          <a:xfrm>
            <a:off x="447764" y="2093565"/>
            <a:ext cx="220682" cy="204639"/>
          </a:xfrm>
          <a:prstGeom prst="rect">
            <a:avLst/>
          </a:prstGeom>
          <a:noFill/>
          <a:ln/>
        </p:spPr>
        <p:txBody>
          <a:bodyPr wrap="none" lIns="0" tIns="0" rIns="0" bIns="0" rtlCol="0" anchor="t"/>
          <a:lstStyle/>
          <a:p>
            <a:pPr marL="0" indent="0" algn="ctr">
              <a:lnSpc>
                <a:spcPts val="1612"/>
              </a:lnSpc>
              <a:buNone/>
            </a:pPr>
            <a:r>
              <a:rPr lang="en-US" sz="1240" dirty="0">
                <a:solidFill>
                  <a:srgbClr val="1A2A2E"/>
                </a:solidFill>
                <a:latin typeface="Calibri" pitchFamily="34" charset="0"/>
                <a:ea typeface="Calibri" pitchFamily="34" charset="-122"/>
                <a:cs typeface="Calibri" pitchFamily="34" charset="-120"/>
              </a:rPr>
              <a:t>🤲</a:t>
            </a:r>
            <a:endParaRPr lang="en-US" sz="1240" dirty="0"/>
          </a:p>
        </p:txBody>
      </p:sp>
      <p:sp>
        <p:nvSpPr>
          <p:cNvPr id="18" name="Text 16"/>
          <p:cNvSpPr/>
          <p:nvPr/>
        </p:nvSpPr>
        <p:spPr>
          <a:xfrm>
            <a:off x="758726" y="2085975"/>
            <a:ext cx="7677879" cy="159990"/>
          </a:xfrm>
          <a:prstGeom prst="rect">
            <a:avLst/>
          </a:prstGeom>
          <a:noFill/>
          <a:ln/>
        </p:spPr>
        <p:txBody>
          <a:bodyPr wrap="none" lIns="0" tIns="0" rIns="0" bIns="0" rtlCol="0" anchor="ctr"/>
          <a:lstStyle/>
          <a:p>
            <a:pPr marL="0" indent="0" algn="l">
              <a:lnSpc>
                <a:spcPts val="1262"/>
              </a:lnSpc>
              <a:buNone/>
            </a:pPr>
            <a:r>
              <a:rPr lang="en-US" sz="870" b="1" dirty="0">
                <a:solidFill>
                  <a:srgbClr val="367689"/>
                </a:solidFill>
                <a:latin typeface="Calibri" pitchFamily="34" charset="0"/>
                <a:ea typeface="Calibri" pitchFamily="34" charset="-122"/>
                <a:cs typeface="Calibri" pitchFamily="34" charset="-120"/>
              </a:rPr>
              <a:t>Altruism —</a:t>
            </a:r>
            <a:r>
              <a:rPr lang="en-US" sz="870" dirty="0">
                <a:solidFill>
                  <a:srgbClr val="1A2A2E"/>
                </a:solidFill>
                <a:latin typeface="Calibri" pitchFamily="34" charset="0"/>
                <a:ea typeface="Calibri" pitchFamily="34" charset="-122"/>
                <a:cs typeface="Calibri" pitchFamily="34" charset="-120"/>
              </a:rPr>
              <a:t> </a:t>
            </a:r>
            <a:r>
              <a:rPr lang="en-US" sz="840" dirty="0">
                <a:solidFill>
                  <a:srgbClr val="2D3E42"/>
                </a:solidFill>
                <a:latin typeface="Calibri" pitchFamily="34" charset="0"/>
                <a:ea typeface="Calibri" pitchFamily="34" charset="-122"/>
                <a:cs typeface="Calibri" pitchFamily="34" charset="-120"/>
              </a:rPr>
              <a:t> Helping others heals the helper. When students offer support to peers, they build self-worth and purpose alongside their clinical growth.</a:t>
            </a:r>
            <a:endParaRPr lang="en-US" sz="870" dirty="0"/>
          </a:p>
        </p:txBody>
      </p:sp>
      <p:sp>
        <p:nvSpPr>
          <p:cNvPr id="19" name="Text 17"/>
          <p:cNvSpPr/>
          <p:nvPr/>
        </p:nvSpPr>
        <p:spPr>
          <a:xfrm>
            <a:off x="314920" y="2433935"/>
            <a:ext cx="8514159" cy="354211"/>
          </a:xfrm>
          <a:prstGeom prst="rect">
            <a:avLst/>
          </a:prstGeom>
          <a:solidFill>
            <a:srgbClr val="F4F8F9"/>
          </a:solidFill>
          <a:ln/>
          <a:effectLst>
            <a:outerShdw blurRad="29210" dist="7620" dir="5400000" algn="bl" rotWithShape="0">
              <a:srgbClr val="367689">
                <a:alpha val="6000"/>
              </a:srgbClr>
            </a:outerShdw>
          </a:effectLst>
        </p:spPr>
        <p:txBody>
          <a:bodyPr wrap="square" rtlCol="0" anchor="t"/>
          <a:lstStyle/>
          <a:p>
            <a:pPr marL="0" indent="0">
              <a:buNone/>
            </a:pPr>
            <a:endParaRPr lang="en-US" dirty="0"/>
          </a:p>
        </p:txBody>
      </p:sp>
      <p:sp>
        <p:nvSpPr>
          <p:cNvPr id="20" name="Text 18"/>
          <p:cNvSpPr/>
          <p:nvPr/>
        </p:nvSpPr>
        <p:spPr>
          <a:xfrm>
            <a:off x="314920" y="2433935"/>
            <a:ext cx="28575" cy="354211"/>
          </a:xfrm>
          <a:prstGeom prst="rect">
            <a:avLst/>
          </a:prstGeom>
          <a:solidFill>
            <a:srgbClr val="55A49C"/>
          </a:solidFill>
          <a:ln/>
        </p:spPr>
        <p:txBody>
          <a:bodyPr wrap="square" rtlCol="0" anchor="t"/>
          <a:lstStyle/>
          <a:p>
            <a:pPr marL="0" indent="0">
              <a:buNone/>
            </a:pPr>
            <a:endParaRPr lang="en-US" dirty="0"/>
          </a:p>
        </p:txBody>
      </p:sp>
      <p:sp>
        <p:nvSpPr>
          <p:cNvPr id="21" name="Text 19"/>
          <p:cNvSpPr/>
          <p:nvPr/>
        </p:nvSpPr>
        <p:spPr>
          <a:xfrm>
            <a:off x="447764" y="2512516"/>
            <a:ext cx="220682" cy="204639"/>
          </a:xfrm>
          <a:prstGeom prst="rect">
            <a:avLst/>
          </a:prstGeom>
          <a:noFill/>
          <a:ln/>
        </p:spPr>
        <p:txBody>
          <a:bodyPr wrap="none" lIns="0" tIns="0" rIns="0" bIns="0" rtlCol="0" anchor="t"/>
          <a:lstStyle/>
          <a:p>
            <a:pPr marL="0" indent="0" algn="ctr">
              <a:lnSpc>
                <a:spcPts val="1612"/>
              </a:lnSpc>
              <a:buNone/>
            </a:pPr>
            <a:r>
              <a:rPr lang="en-US" sz="1240" dirty="0">
                <a:solidFill>
                  <a:srgbClr val="1A2A2E"/>
                </a:solidFill>
                <a:latin typeface="Calibri" pitchFamily="34" charset="0"/>
                <a:ea typeface="Calibri" pitchFamily="34" charset="-122"/>
                <a:cs typeface="Calibri" pitchFamily="34" charset="-120"/>
              </a:rPr>
              <a:t>📖</a:t>
            </a:r>
            <a:endParaRPr lang="en-US" sz="1240" dirty="0"/>
          </a:p>
        </p:txBody>
      </p:sp>
      <p:sp>
        <p:nvSpPr>
          <p:cNvPr id="22" name="Text 20"/>
          <p:cNvSpPr/>
          <p:nvPr/>
        </p:nvSpPr>
        <p:spPr>
          <a:xfrm>
            <a:off x="758726" y="2504926"/>
            <a:ext cx="7360771" cy="159990"/>
          </a:xfrm>
          <a:prstGeom prst="rect">
            <a:avLst/>
          </a:prstGeom>
          <a:noFill/>
          <a:ln/>
        </p:spPr>
        <p:txBody>
          <a:bodyPr wrap="none" lIns="0" tIns="0" rIns="0" bIns="0" rtlCol="0" anchor="ctr"/>
          <a:lstStyle/>
          <a:p>
            <a:pPr marL="0" indent="0" algn="l">
              <a:lnSpc>
                <a:spcPts val="1262"/>
              </a:lnSpc>
              <a:buNone/>
            </a:pPr>
            <a:r>
              <a:rPr lang="en-US" sz="870" b="1" dirty="0">
                <a:solidFill>
                  <a:srgbClr val="367689"/>
                </a:solidFill>
                <a:latin typeface="Calibri" pitchFamily="34" charset="0"/>
                <a:ea typeface="Calibri" pitchFamily="34" charset="-122"/>
                <a:cs typeface="Calibri" pitchFamily="34" charset="-120"/>
              </a:rPr>
              <a:t>Imparting Information —</a:t>
            </a:r>
            <a:r>
              <a:rPr lang="en-US" sz="870" dirty="0">
                <a:solidFill>
                  <a:srgbClr val="1A2A2E"/>
                </a:solidFill>
                <a:latin typeface="Calibri" pitchFamily="34" charset="0"/>
                <a:ea typeface="Calibri" pitchFamily="34" charset="-122"/>
                <a:cs typeface="Calibri" pitchFamily="34" charset="-120"/>
              </a:rPr>
              <a:t> </a:t>
            </a:r>
            <a:r>
              <a:rPr lang="en-US" sz="840" dirty="0">
                <a:solidFill>
                  <a:srgbClr val="2D3E42"/>
                </a:solidFill>
                <a:latin typeface="Calibri" pitchFamily="34" charset="0"/>
                <a:ea typeface="Calibri" pitchFamily="34" charset="-122"/>
                <a:cs typeface="Calibri" pitchFamily="34" charset="-120"/>
              </a:rPr>
              <a:t> Psychoeducation delivered in group is reinforced by peers, not just the clinician — increasing retention and buy-in.</a:t>
            </a:r>
            <a:endParaRPr lang="en-US" sz="870" dirty="0"/>
          </a:p>
        </p:txBody>
      </p:sp>
      <p:sp>
        <p:nvSpPr>
          <p:cNvPr id="23" name="Text 21"/>
          <p:cNvSpPr/>
          <p:nvPr/>
        </p:nvSpPr>
        <p:spPr>
          <a:xfrm>
            <a:off x="314920" y="2852886"/>
            <a:ext cx="8514159" cy="456605"/>
          </a:xfrm>
          <a:prstGeom prst="rect">
            <a:avLst/>
          </a:prstGeom>
          <a:solidFill>
            <a:srgbClr val="F4F8F9"/>
          </a:solidFill>
          <a:ln/>
          <a:effectLst>
            <a:outerShdw blurRad="29210" dist="7620" dir="5400000" algn="bl" rotWithShape="0">
              <a:srgbClr val="367689">
                <a:alpha val="6000"/>
              </a:srgbClr>
            </a:outerShdw>
          </a:effectLst>
        </p:spPr>
        <p:txBody>
          <a:bodyPr wrap="square" rtlCol="0" anchor="t"/>
          <a:lstStyle/>
          <a:p>
            <a:pPr marL="0" indent="0">
              <a:buNone/>
            </a:pPr>
            <a:endParaRPr lang="en-US" dirty="0"/>
          </a:p>
        </p:txBody>
      </p:sp>
      <p:sp>
        <p:nvSpPr>
          <p:cNvPr id="24" name="Text 22"/>
          <p:cNvSpPr/>
          <p:nvPr/>
        </p:nvSpPr>
        <p:spPr>
          <a:xfrm>
            <a:off x="314920" y="2852886"/>
            <a:ext cx="28575" cy="456605"/>
          </a:xfrm>
          <a:prstGeom prst="rect">
            <a:avLst/>
          </a:prstGeom>
          <a:solidFill>
            <a:srgbClr val="55A49C"/>
          </a:solidFill>
          <a:ln/>
        </p:spPr>
        <p:txBody>
          <a:bodyPr wrap="square" rtlCol="0" anchor="t"/>
          <a:lstStyle/>
          <a:p>
            <a:pPr marL="0" indent="0">
              <a:buNone/>
            </a:pPr>
            <a:endParaRPr lang="en-US" dirty="0"/>
          </a:p>
        </p:txBody>
      </p:sp>
      <p:sp>
        <p:nvSpPr>
          <p:cNvPr id="25" name="Text 23"/>
          <p:cNvSpPr/>
          <p:nvPr/>
        </p:nvSpPr>
        <p:spPr>
          <a:xfrm>
            <a:off x="447764" y="2931468"/>
            <a:ext cx="220682" cy="204639"/>
          </a:xfrm>
          <a:prstGeom prst="rect">
            <a:avLst/>
          </a:prstGeom>
          <a:noFill/>
          <a:ln/>
        </p:spPr>
        <p:txBody>
          <a:bodyPr wrap="none" lIns="0" tIns="0" rIns="0" bIns="0" rtlCol="0" anchor="t"/>
          <a:lstStyle/>
          <a:p>
            <a:pPr marL="0" indent="0" algn="ctr">
              <a:lnSpc>
                <a:spcPts val="1612"/>
              </a:lnSpc>
              <a:buNone/>
            </a:pPr>
            <a:r>
              <a:rPr lang="en-US" sz="1240">
                <a:solidFill>
                  <a:srgbClr val="1A2A2E"/>
                </a:solidFill>
                <a:latin typeface="Calibri" pitchFamily="34" charset="0"/>
                <a:ea typeface="Calibri" pitchFamily="34" charset="-122"/>
                <a:cs typeface="Calibri" pitchFamily="34" charset="-120"/>
              </a:rPr>
              <a:t>🌱</a:t>
            </a:r>
            <a:endParaRPr lang="en-US" sz="1240" dirty="0"/>
          </a:p>
        </p:txBody>
      </p:sp>
      <p:sp>
        <p:nvSpPr>
          <p:cNvPr id="26" name="Text 24"/>
          <p:cNvSpPr/>
          <p:nvPr/>
        </p:nvSpPr>
        <p:spPr>
          <a:xfrm>
            <a:off x="758726" y="2923877"/>
            <a:ext cx="8101057" cy="330354"/>
          </a:xfrm>
          <a:prstGeom prst="rect">
            <a:avLst/>
          </a:prstGeom>
          <a:noFill/>
          <a:ln/>
        </p:spPr>
        <p:txBody>
          <a:bodyPr wrap="square" lIns="0" tIns="0" rIns="0" bIns="0" rtlCol="0" anchor="ctr"/>
          <a:lstStyle/>
          <a:p>
            <a:pPr marL="0" indent="0" algn="l">
              <a:lnSpc>
                <a:spcPts val="1262"/>
              </a:lnSpc>
              <a:buNone/>
            </a:pPr>
            <a:r>
              <a:rPr lang="en-US" sz="870" b="1" dirty="0">
                <a:solidFill>
                  <a:srgbClr val="367689"/>
                </a:solidFill>
                <a:latin typeface="Calibri" pitchFamily="34" charset="0"/>
                <a:ea typeface="Calibri" pitchFamily="34" charset="-122"/>
                <a:cs typeface="Calibri" pitchFamily="34" charset="-120"/>
              </a:rPr>
              <a:t>Corrective Recapitulation —</a:t>
            </a:r>
            <a:r>
              <a:rPr lang="en-US" sz="870" dirty="0">
                <a:solidFill>
                  <a:srgbClr val="1A2A2E"/>
                </a:solidFill>
                <a:latin typeface="Calibri" pitchFamily="34" charset="0"/>
                <a:ea typeface="Calibri" pitchFamily="34" charset="-122"/>
                <a:cs typeface="Calibri" pitchFamily="34" charset="-120"/>
              </a:rPr>
              <a:t> </a:t>
            </a:r>
            <a:r>
              <a:rPr lang="en-US" sz="840" dirty="0">
                <a:solidFill>
                  <a:srgbClr val="2D3E42"/>
                </a:solidFill>
                <a:latin typeface="Calibri" pitchFamily="34" charset="0"/>
                <a:ea typeface="Calibri" pitchFamily="34" charset="-122"/>
                <a:cs typeface="Calibri" pitchFamily="34" charset="-120"/>
              </a:rPr>
              <a:t> For many students, the therapy group is the first safe relational container they have experienced. The group itself becomes the intervention.</a:t>
            </a:r>
            <a:endParaRPr lang="en-US" sz="870" dirty="0"/>
          </a:p>
        </p:txBody>
      </p:sp>
      <p:sp>
        <p:nvSpPr>
          <p:cNvPr id="27" name="Text 25"/>
          <p:cNvSpPr/>
          <p:nvPr/>
        </p:nvSpPr>
        <p:spPr>
          <a:xfrm>
            <a:off x="0" y="5108079"/>
            <a:ext cx="9144000" cy="35421"/>
          </a:xfrm>
          <a:prstGeom prst="rect">
            <a:avLst/>
          </a:prstGeom>
          <a:gradFill rotWithShape="1">
            <a:gsLst>
              <a:gs pos="0">
                <a:srgbClr val="367689"/>
              </a:gs>
              <a:gs pos="50000">
                <a:srgbClr val="55A49C"/>
              </a:gs>
              <a:gs pos="100000">
                <a:srgbClr val="F4B753"/>
              </a:gs>
            </a:gsLst>
            <a:lin ang="0" scaled="1"/>
          </a:gradFill>
          <a:ln/>
        </p:spPr>
        <p:txBody>
          <a:bodyPr wrap="none" rtlCol="0" anchor="t"/>
          <a:lstStyle/>
          <a:p>
            <a:pPr marL="0" indent="0">
              <a:buNone/>
            </a:pP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326880" cy="399752"/>
          </a:xfrm>
          <a:prstGeom prst="rect">
            <a:avLst/>
          </a:prstGeom>
          <a:solidFill>
            <a:srgbClr val="367689"/>
          </a:solidFill>
          <a:ln/>
        </p:spPr>
        <p:txBody>
          <a:bodyPr wrap="none" lIns="285750" tIns="92710" rIns="285750" bIns="71120" rtlCol="0" anchor="t"/>
          <a:lstStyle/>
          <a:p>
            <a:pPr marL="0" indent="0" algn="l">
              <a:buNone/>
            </a:pPr>
            <a:r>
              <a:rPr lang="en-US" sz="1240" b="1" kern="0" spc="37" dirty="0">
                <a:solidFill>
                  <a:srgbClr val="FFFFFF"/>
                </a:solidFill>
                <a:latin typeface="Calibri" pitchFamily="34" charset="0"/>
                <a:ea typeface="Calibri" pitchFamily="34" charset="-122"/>
                <a:cs typeface="Calibri" pitchFamily="34" charset="-120"/>
              </a:rPr>
              <a:t>The Science Behind It (Continued)</a:t>
            </a:r>
            <a:endParaRPr lang="en-US" sz="1240" dirty="0"/>
          </a:p>
        </p:txBody>
      </p:sp>
      <p:sp>
        <p:nvSpPr>
          <p:cNvPr id="3" name="Text 1"/>
          <p:cNvSpPr/>
          <p:nvPr/>
        </p:nvSpPr>
        <p:spPr>
          <a:xfrm>
            <a:off x="0" y="399752"/>
            <a:ext cx="9144000" cy="21580"/>
          </a:xfrm>
          <a:prstGeom prst="rect">
            <a:avLst/>
          </a:prstGeom>
          <a:solidFill>
            <a:srgbClr val="F4B753"/>
          </a:solidFill>
          <a:ln/>
        </p:spPr>
        <p:txBody>
          <a:bodyPr wrap="none" rtlCol="0" anchor="t"/>
          <a:lstStyle/>
          <a:p>
            <a:pPr marL="0" indent="0">
              <a:buNone/>
            </a:pPr>
            <a:endParaRPr lang="en-US" dirty="0"/>
          </a:p>
        </p:txBody>
      </p:sp>
      <p:sp>
        <p:nvSpPr>
          <p:cNvPr id="4" name="Text 2"/>
          <p:cNvSpPr/>
          <p:nvPr/>
        </p:nvSpPr>
        <p:spPr>
          <a:xfrm>
            <a:off x="0" y="421332"/>
            <a:ext cx="9326880" cy="178296"/>
          </a:xfrm>
          <a:prstGeom prst="rect">
            <a:avLst/>
          </a:prstGeom>
          <a:solidFill>
            <a:srgbClr val="F0F7F9"/>
          </a:solidFill>
          <a:ln/>
        </p:spPr>
        <p:txBody>
          <a:bodyPr wrap="none" lIns="285750" tIns="29210" rIns="285750" bIns="21590" rtlCol="0" anchor="t"/>
          <a:lstStyle/>
          <a:p>
            <a:pPr marL="0" indent="0" algn="l">
              <a:lnSpc>
                <a:spcPts val="930"/>
              </a:lnSpc>
              <a:buNone/>
            </a:pPr>
            <a:r>
              <a:rPr lang="en-US" sz="620" i="1" dirty="0">
                <a:solidFill>
                  <a:srgbClr val="367689"/>
                </a:solidFill>
                <a:latin typeface="Calibri" pitchFamily="34" charset="0"/>
                <a:ea typeface="Calibri" pitchFamily="34" charset="-122"/>
                <a:cs typeface="Calibri" pitchFamily="34" charset="-120"/>
              </a:rPr>
              <a:t>Yalom, I. D., &amp; Leszcz, M. (2005). The Theory and Practice of Group Psychotherapy, 5th ed. Basic Books.</a:t>
            </a:r>
            <a:endParaRPr lang="en-US" sz="620" dirty="0"/>
          </a:p>
        </p:txBody>
      </p:sp>
      <p:sp>
        <p:nvSpPr>
          <p:cNvPr id="5" name="Text 3"/>
          <p:cNvSpPr/>
          <p:nvPr/>
        </p:nvSpPr>
        <p:spPr>
          <a:xfrm>
            <a:off x="0" y="590104"/>
            <a:ext cx="9144000" cy="9525"/>
          </a:xfrm>
          <a:prstGeom prst="rect">
            <a:avLst/>
          </a:prstGeom>
          <a:solidFill>
            <a:srgbClr val="D0E8EF"/>
          </a:solidFill>
          <a:ln/>
        </p:spPr>
        <p:txBody>
          <a:bodyPr wrap="none" rtlCol="0" anchor="t"/>
          <a:lstStyle/>
          <a:p>
            <a:pPr marL="0" indent="0">
              <a:buNone/>
            </a:pPr>
            <a:endParaRPr lang="en-US" dirty="0"/>
          </a:p>
        </p:txBody>
      </p:sp>
      <p:sp>
        <p:nvSpPr>
          <p:cNvPr id="6" name="Text 4"/>
          <p:cNvSpPr/>
          <p:nvPr/>
        </p:nvSpPr>
        <p:spPr>
          <a:xfrm>
            <a:off x="228600" y="670620"/>
            <a:ext cx="2857500" cy="1903661"/>
          </a:xfrm>
          <a:prstGeom prst="rect">
            <a:avLst/>
          </a:prstGeom>
          <a:solidFill>
            <a:srgbClr val="F8FBFC"/>
          </a:solidFill>
          <a:ln/>
          <a:effectLst>
            <a:outerShdw blurRad="29210" dist="7620" dir="5400000" algn="bl" rotWithShape="0">
              <a:srgbClr val="367689">
                <a:alpha val="7000"/>
              </a:srgbClr>
            </a:outerShdw>
          </a:effectLst>
        </p:spPr>
        <p:txBody>
          <a:bodyPr wrap="square" rtlCol="0" anchor="t"/>
          <a:lstStyle/>
          <a:p>
            <a:pPr marL="0" indent="0">
              <a:buNone/>
            </a:pPr>
            <a:endParaRPr lang="en-US" dirty="0"/>
          </a:p>
        </p:txBody>
      </p:sp>
      <p:sp>
        <p:nvSpPr>
          <p:cNvPr id="7" name="Text 5"/>
          <p:cNvSpPr/>
          <p:nvPr/>
        </p:nvSpPr>
        <p:spPr>
          <a:xfrm>
            <a:off x="228600" y="670620"/>
            <a:ext cx="28575" cy="1903661"/>
          </a:xfrm>
          <a:prstGeom prst="rect">
            <a:avLst/>
          </a:prstGeom>
          <a:solidFill>
            <a:srgbClr val="367689"/>
          </a:solidFill>
          <a:ln/>
        </p:spPr>
        <p:txBody>
          <a:bodyPr wrap="square" rtlCol="0" anchor="t"/>
          <a:lstStyle/>
          <a:p>
            <a:pPr marL="0" indent="0">
              <a:buNone/>
            </a:pPr>
            <a:endParaRPr lang="en-US" dirty="0"/>
          </a:p>
        </p:txBody>
      </p:sp>
      <p:sp>
        <p:nvSpPr>
          <p:cNvPr id="8" name="Text 6"/>
          <p:cNvSpPr/>
          <p:nvPr/>
        </p:nvSpPr>
        <p:spPr>
          <a:xfrm>
            <a:off x="343495" y="735360"/>
            <a:ext cx="178118" cy="128290"/>
          </a:xfrm>
          <a:prstGeom prst="rect">
            <a:avLst/>
          </a:prstGeom>
          <a:noFill/>
          <a:ln/>
        </p:spPr>
        <p:txBody>
          <a:bodyPr wrap="none" lIns="0" tIns="0" rIns="0" bIns="0" rtlCol="0" anchor="ctr"/>
          <a:lstStyle/>
          <a:p>
            <a:pPr marL="0" indent="0" algn="l">
              <a:lnSpc>
                <a:spcPts val="1010"/>
              </a:lnSpc>
              <a:buNone/>
            </a:pPr>
            <a:r>
              <a:rPr lang="en-US" sz="1010" dirty="0">
                <a:solidFill>
                  <a:srgbClr val="1A2340"/>
                </a:solidFill>
                <a:latin typeface="Calibri" pitchFamily="34" charset="0"/>
                <a:ea typeface="Calibri" pitchFamily="34" charset="-122"/>
                <a:cs typeface="Calibri" pitchFamily="34" charset="-120"/>
              </a:rPr>
              <a:t>🎭</a:t>
            </a:r>
            <a:endParaRPr lang="en-US" sz="1010" dirty="0"/>
          </a:p>
        </p:txBody>
      </p:sp>
      <p:sp>
        <p:nvSpPr>
          <p:cNvPr id="9" name="Text 7"/>
          <p:cNvSpPr/>
          <p:nvPr/>
        </p:nvSpPr>
        <p:spPr>
          <a:xfrm>
            <a:off x="554831" y="741611"/>
            <a:ext cx="913998" cy="115788"/>
          </a:xfrm>
          <a:prstGeom prst="rect">
            <a:avLst/>
          </a:prstGeom>
          <a:noFill/>
          <a:ln/>
        </p:spPr>
        <p:txBody>
          <a:bodyPr wrap="none" lIns="0" tIns="0" rIns="0" bIns="0" rtlCol="0" anchor="ctr"/>
          <a:lstStyle/>
          <a:p>
            <a:pPr marL="0" indent="0" algn="l">
              <a:lnSpc>
                <a:spcPts val="912"/>
              </a:lnSpc>
              <a:buNone/>
            </a:pPr>
            <a:r>
              <a:rPr lang="en-US" sz="760" b="1" dirty="0">
                <a:solidFill>
                  <a:srgbClr val="367689"/>
                </a:solidFill>
                <a:latin typeface="Calibri" pitchFamily="34" charset="0"/>
                <a:ea typeface="Calibri" pitchFamily="34" charset="-122"/>
                <a:cs typeface="Calibri" pitchFamily="34" charset="-120"/>
              </a:rPr>
              <a:t>Imitative Behavior</a:t>
            </a:r>
            <a:endParaRPr lang="en-US" sz="760" dirty="0"/>
          </a:p>
        </p:txBody>
      </p:sp>
      <p:sp>
        <p:nvSpPr>
          <p:cNvPr id="10" name="Text 8"/>
          <p:cNvSpPr/>
          <p:nvPr/>
        </p:nvSpPr>
        <p:spPr>
          <a:xfrm>
            <a:off x="343495" y="892820"/>
            <a:ext cx="2656284" cy="7590"/>
          </a:xfrm>
          <a:prstGeom prst="rect">
            <a:avLst/>
          </a:prstGeom>
          <a:solidFill>
            <a:srgbClr val="D0E8EF"/>
          </a:solidFill>
          <a:ln/>
        </p:spPr>
        <p:txBody>
          <a:bodyPr wrap="none" rtlCol="0" anchor="t"/>
          <a:lstStyle/>
          <a:p>
            <a:pPr marL="0" indent="0">
              <a:buNone/>
            </a:pPr>
            <a:endParaRPr lang="en-US" dirty="0"/>
          </a:p>
        </p:txBody>
      </p:sp>
      <p:sp>
        <p:nvSpPr>
          <p:cNvPr id="11" name="Text 9"/>
          <p:cNvSpPr/>
          <p:nvPr/>
        </p:nvSpPr>
        <p:spPr>
          <a:xfrm>
            <a:off x="343495" y="935831"/>
            <a:ext cx="2709410" cy="270346"/>
          </a:xfrm>
          <a:prstGeom prst="rect">
            <a:avLst/>
          </a:prstGeom>
          <a:noFill/>
          <a:ln/>
        </p:spPr>
        <p:txBody>
          <a:bodyPr wrap="square" lIns="0" tIns="0" rIns="0" bIns="0" rtlCol="0" anchor="t"/>
          <a:lstStyle/>
          <a:p>
            <a:pPr marL="0" indent="0" algn="l">
              <a:lnSpc>
                <a:spcPts val="1015"/>
              </a:lnSpc>
              <a:buNone/>
            </a:pPr>
            <a:r>
              <a:rPr lang="en-US" sz="700" dirty="0">
                <a:solidFill>
                  <a:srgbClr val="2A3A4A"/>
                </a:solidFill>
                <a:latin typeface="Calibri" pitchFamily="34" charset="0"/>
                <a:ea typeface="Calibri" pitchFamily="34" charset="-122"/>
                <a:cs typeface="Calibri" pitchFamily="34" charset="-120"/>
              </a:rPr>
              <a:t>Students model regulation and coping from each other. You do not have to teach everything — the group does.</a:t>
            </a:r>
            <a:endParaRPr lang="en-US" sz="700" dirty="0"/>
          </a:p>
        </p:txBody>
      </p:sp>
      <p:sp>
        <p:nvSpPr>
          <p:cNvPr id="12" name="Text 10"/>
          <p:cNvSpPr/>
          <p:nvPr/>
        </p:nvSpPr>
        <p:spPr>
          <a:xfrm>
            <a:off x="3143250" y="670620"/>
            <a:ext cx="2857500" cy="1903661"/>
          </a:xfrm>
          <a:prstGeom prst="rect">
            <a:avLst/>
          </a:prstGeom>
          <a:solidFill>
            <a:srgbClr val="F8FBFC"/>
          </a:solidFill>
          <a:ln/>
          <a:effectLst>
            <a:outerShdw blurRad="29210" dist="7620" dir="5400000" algn="bl" rotWithShape="0">
              <a:srgbClr val="367689">
                <a:alpha val="7000"/>
              </a:srgbClr>
            </a:outerShdw>
          </a:effectLst>
        </p:spPr>
        <p:txBody>
          <a:bodyPr wrap="square" rtlCol="0" anchor="t"/>
          <a:lstStyle/>
          <a:p>
            <a:pPr marL="0" indent="0">
              <a:buNone/>
            </a:pPr>
            <a:endParaRPr lang="en-US" dirty="0"/>
          </a:p>
        </p:txBody>
      </p:sp>
      <p:sp>
        <p:nvSpPr>
          <p:cNvPr id="13" name="Text 11"/>
          <p:cNvSpPr/>
          <p:nvPr/>
        </p:nvSpPr>
        <p:spPr>
          <a:xfrm>
            <a:off x="3143250" y="670620"/>
            <a:ext cx="28575" cy="1903661"/>
          </a:xfrm>
          <a:prstGeom prst="rect">
            <a:avLst/>
          </a:prstGeom>
          <a:solidFill>
            <a:srgbClr val="367689"/>
          </a:solidFill>
          <a:ln/>
        </p:spPr>
        <p:txBody>
          <a:bodyPr wrap="square" rtlCol="0" anchor="t"/>
          <a:lstStyle/>
          <a:p>
            <a:pPr marL="0" indent="0">
              <a:buNone/>
            </a:pPr>
            <a:endParaRPr lang="en-US" dirty="0"/>
          </a:p>
        </p:txBody>
      </p:sp>
      <p:sp>
        <p:nvSpPr>
          <p:cNvPr id="14" name="Text 12"/>
          <p:cNvSpPr/>
          <p:nvPr/>
        </p:nvSpPr>
        <p:spPr>
          <a:xfrm>
            <a:off x="3258145" y="735360"/>
            <a:ext cx="178118" cy="128290"/>
          </a:xfrm>
          <a:prstGeom prst="rect">
            <a:avLst/>
          </a:prstGeom>
          <a:noFill/>
          <a:ln/>
        </p:spPr>
        <p:txBody>
          <a:bodyPr wrap="none" lIns="0" tIns="0" rIns="0" bIns="0" rtlCol="0" anchor="ctr"/>
          <a:lstStyle/>
          <a:p>
            <a:pPr marL="0" indent="0" algn="l">
              <a:lnSpc>
                <a:spcPts val="1010"/>
              </a:lnSpc>
              <a:buNone/>
            </a:pPr>
            <a:r>
              <a:rPr lang="en-US" sz="1010" dirty="0">
                <a:solidFill>
                  <a:srgbClr val="1A2340"/>
                </a:solidFill>
                <a:latin typeface="Calibri" pitchFamily="34" charset="0"/>
                <a:ea typeface="Calibri" pitchFamily="34" charset="-122"/>
                <a:cs typeface="Calibri" pitchFamily="34" charset="-120"/>
              </a:rPr>
              <a:t>🔗</a:t>
            </a:r>
            <a:endParaRPr lang="en-US" sz="1010" dirty="0"/>
          </a:p>
        </p:txBody>
      </p:sp>
      <p:sp>
        <p:nvSpPr>
          <p:cNvPr id="15" name="Text 13"/>
          <p:cNvSpPr/>
          <p:nvPr/>
        </p:nvSpPr>
        <p:spPr>
          <a:xfrm>
            <a:off x="3469481" y="741611"/>
            <a:ext cx="1149578" cy="115788"/>
          </a:xfrm>
          <a:prstGeom prst="rect">
            <a:avLst/>
          </a:prstGeom>
          <a:noFill/>
          <a:ln/>
        </p:spPr>
        <p:txBody>
          <a:bodyPr wrap="none" lIns="0" tIns="0" rIns="0" bIns="0" rtlCol="0" anchor="ctr"/>
          <a:lstStyle/>
          <a:p>
            <a:pPr marL="0" indent="0" algn="l">
              <a:lnSpc>
                <a:spcPts val="912"/>
              </a:lnSpc>
              <a:buNone/>
            </a:pPr>
            <a:r>
              <a:rPr lang="en-US" sz="760" b="1" dirty="0">
                <a:solidFill>
                  <a:srgbClr val="367689"/>
                </a:solidFill>
                <a:latin typeface="Calibri" pitchFamily="34" charset="0"/>
                <a:ea typeface="Calibri" pitchFamily="34" charset="-122"/>
                <a:cs typeface="Calibri" pitchFamily="34" charset="-120"/>
              </a:rPr>
              <a:t>Interpersonal Learning</a:t>
            </a:r>
            <a:endParaRPr lang="en-US" sz="760" dirty="0"/>
          </a:p>
        </p:txBody>
      </p:sp>
      <p:sp>
        <p:nvSpPr>
          <p:cNvPr id="16" name="Text 14"/>
          <p:cNvSpPr/>
          <p:nvPr/>
        </p:nvSpPr>
        <p:spPr>
          <a:xfrm>
            <a:off x="3258145" y="892820"/>
            <a:ext cx="2656284" cy="7590"/>
          </a:xfrm>
          <a:prstGeom prst="rect">
            <a:avLst/>
          </a:prstGeom>
          <a:solidFill>
            <a:srgbClr val="D0E8EF"/>
          </a:solidFill>
          <a:ln/>
        </p:spPr>
        <p:txBody>
          <a:bodyPr wrap="none" rtlCol="0" anchor="t"/>
          <a:lstStyle/>
          <a:p>
            <a:pPr marL="0" indent="0">
              <a:buNone/>
            </a:pPr>
            <a:endParaRPr lang="en-US" dirty="0"/>
          </a:p>
        </p:txBody>
      </p:sp>
      <p:sp>
        <p:nvSpPr>
          <p:cNvPr id="17" name="Text 15"/>
          <p:cNvSpPr/>
          <p:nvPr/>
        </p:nvSpPr>
        <p:spPr>
          <a:xfrm>
            <a:off x="3258145" y="935831"/>
            <a:ext cx="2709410" cy="270346"/>
          </a:xfrm>
          <a:prstGeom prst="rect">
            <a:avLst/>
          </a:prstGeom>
          <a:noFill/>
          <a:ln/>
        </p:spPr>
        <p:txBody>
          <a:bodyPr wrap="square" lIns="0" tIns="0" rIns="0" bIns="0" rtlCol="0" anchor="t"/>
          <a:lstStyle/>
          <a:p>
            <a:pPr marL="0" indent="0" algn="l">
              <a:lnSpc>
                <a:spcPts val="1015"/>
              </a:lnSpc>
              <a:buNone/>
            </a:pPr>
            <a:r>
              <a:rPr lang="en-US" sz="700" dirty="0">
                <a:solidFill>
                  <a:srgbClr val="2A3A4A"/>
                </a:solidFill>
                <a:latin typeface="Calibri" pitchFamily="34" charset="0"/>
                <a:ea typeface="Calibri" pitchFamily="34" charset="-122"/>
                <a:cs typeface="Calibri" pitchFamily="34" charset="-120"/>
              </a:rPr>
              <a:t>The group is a social microcosm. How a student shows up in group is how they show up in life — and the group reflects it back safely.</a:t>
            </a:r>
            <a:endParaRPr lang="en-US" sz="700" dirty="0"/>
          </a:p>
        </p:txBody>
      </p:sp>
      <p:sp>
        <p:nvSpPr>
          <p:cNvPr id="18" name="Text 16"/>
          <p:cNvSpPr/>
          <p:nvPr/>
        </p:nvSpPr>
        <p:spPr>
          <a:xfrm>
            <a:off x="6057900" y="670620"/>
            <a:ext cx="2857500" cy="1903661"/>
          </a:xfrm>
          <a:prstGeom prst="rect">
            <a:avLst/>
          </a:prstGeom>
          <a:solidFill>
            <a:srgbClr val="F8FBFC"/>
          </a:solidFill>
          <a:ln/>
          <a:effectLst>
            <a:outerShdw blurRad="29210" dist="7620" dir="5400000" algn="bl" rotWithShape="0">
              <a:srgbClr val="367689">
                <a:alpha val="7000"/>
              </a:srgbClr>
            </a:outerShdw>
          </a:effectLst>
        </p:spPr>
        <p:txBody>
          <a:bodyPr wrap="square" rtlCol="0" anchor="t"/>
          <a:lstStyle/>
          <a:p>
            <a:pPr marL="0" indent="0">
              <a:buNone/>
            </a:pPr>
            <a:endParaRPr lang="en-US" dirty="0"/>
          </a:p>
        </p:txBody>
      </p:sp>
      <p:sp>
        <p:nvSpPr>
          <p:cNvPr id="19" name="Text 17"/>
          <p:cNvSpPr/>
          <p:nvPr/>
        </p:nvSpPr>
        <p:spPr>
          <a:xfrm>
            <a:off x="6057900" y="670620"/>
            <a:ext cx="28575" cy="1903661"/>
          </a:xfrm>
          <a:prstGeom prst="rect">
            <a:avLst/>
          </a:prstGeom>
          <a:solidFill>
            <a:srgbClr val="367689"/>
          </a:solidFill>
          <a:ln/>
        </p:spPr>
        <p:txBody>
          <a:bodyPr wrap="square" rtlCol="0" anchor="t"/>
          <a:lstStyle/>
          <a:p>
            <a:pPr marL="0" indent="0">
              <a:buNone/>
            </a:pPr>
            <a:endParaRPr lang="en-US" dirty="0"/>
          </a:p>
        </p:txBody>
      </p:sp>
      <p:sp>
        <p:nvSpPr>
          <p:cNvPr id="20" name="Text 18"/>
          <p:cNvSpPr/>
          <p:nvPr/>
        </p:nvSpPr>
        <p:spPr>
          <a:xfrm>
            <a:off x="6172795" y="735360"/>
            <a:ext cx="178118" cy="128290"/>
          </a:xfrm>
          <a:prstGeom prst="rect">
            <a:avLst/>
          </a:prstGeom>
          <a:noFill/>
          <a:ln/>
        </p:spPr>
        <p:txBody>
          <a:bodyPr wrap="none" lIns="0" tIns="0" rIns="0" bIns="0" rtlCol="0" anchor="ctr"/>
          <a:lstStyle/>
          <a:p>
            <a:pPr marL="0" indent="0" algn="l">
              <a:lnSpc>
                <a:spcPts val="1010"/>
              </a:lnSpc>
              <a:buNone/>
            </a:pPr>
            <a:r>
              <a:rPr lang="en-US" sz="1010" dirty="0">
                <a:solidFill>
                  <a:srgbClr val="1A2340"/>
                </a:solidFill>
                <a:latin typeface="Calibri" pitchFamily="34" charset="0"/>
                <a:ea typeface="Calibri" pitchFamily="34" charset="-122"/>
                <a:cs typeface="Calibri" pitchFamily="34" charset="-120"/>
              </a:rPr>
              <a:t>🧲</a:t>
            </a:r>
            <a:endParaRPr lang="en-US" sz="1010" dirty="0"/>
          </a:p>
        </p:txBody>
      </p:sp>
      <p:sp>
        <p:nvSpPr>
          <p:cNvPr id="21" name="Text 19"/>
          <p:cNvSpPr/>
          <p:nvPr/>
        </p:nvSpPr>
        <p:spPr>
          <a:xfrm>
            <a:off x="6384131" y="741611"/>
            <a:ext cx="1061174" cy="115788"/>
          </a:xfrm>
          <a:prstGeom prst="rect">
            <a:avLst/>
          </a:prstGeom>
          <a:noFill/>
          <a:ln/>
        </p:spPr>
        <p:txBody>
          <a:bodyPr wrap="none" lIns="0" tIns="0" rIns="0" bIns="0" rtlCol="0" anchor="ctr"/>
          <a:lstStyle/>
          <a:p>
            <a:pPr marL="0" indent="0" algn="l">
              <a:lnSpc>
                <a:spcPts val="912"/>
              </a:lnSpc>
              <a:buNone/>
            </a:pPr>
            <a:r>
              <a:rPr lang="en-US" sz="760" b="1" dirty="0">
                <a:solidFill>
                  <a:srgbClr val="367689"/>
                </a:solidFill>
                <a:latin typeface="Calibri" pitchFamily="34" charset="0"/>
                <a:ea typeface="Calibri" pitchFamily="34" charset="-122"/>
                <a:cs typeface="Calibri" pitchFamily="34" charset="-120"/>
              </a:rPr>
              <a:t>Group Cohesiveness</a:t>
            </a:r>
            <a:endParaRPr lang="en-US" sz="760" dirty="0"/>
          </a:p>
        </p:txBody>
      </p:sp>
      <p:sp>
        <p:nvSpPr>
          <p:cNvPr id="22" name="Text 20"/>
          <p:cNvSpPr/>
          <p:nvPr/>
        </p:nvSpPr>
        <p:spPr>
          <a:xfrm>
            <a:off x="6172795" y="892820"/>
            <a:ext cx="2656284" cy="7590"/>
          </a:xfrm>
          <a:prstGeom prst="rect">
            <a:avLst/>
          </a:prstGeom>
          <a:solidFill>
            <a:srgbClr val="D0E8EF"/>
          </a:solidFill>
          <a:ln/>
        </p:spPr>
        <p:txBody>
          <a:bodyPr wrap="none" rtlCol="0" anchor="t"/>
          <a:lstStyle/>
          <a:p>
            <a:pPr marL="0" indent="0">
              <a:buNone/>
            </a:pPr>
            <a:endParaRPr lang="en-US" dirty="0"/>
          </a:p>
        </p:txBody>
      </p:sp>
      <p:sp>
        <p:nvSpPr>
          <p:cNvPr id="23" name="Text 21"/>
          <p:cNvSpPr/>
          <p:nvPr/>
        </p:nvSpPr>
        <p:spPr>
          <a:xfrm>
            <a:off x="6172795" y="935831"/>
            <a:ext cx="2709410" cy="270346"/>
          </a:xfrm>
          <a:prstGeom prst="rect">
            <a:avLst/>
          </a:prstGeom>
          <a:noFill/>
          <a:ln/>
        </p:spPr>
        <p:txBody>
          <a:bodyPr wrap="square" lIns="0" tIns="0" rIns="0" bIns="0" rtlCol="0" anchor="t"/>
          <a:lstStyle/>
          <a:p>
            <a:pPr marL="0" indent="0" algn="l">
              <a:lnSpc>
                <a:spcPts val="1015"/>
              </a:lnSpc>
              <a:buNone/>
            </a:pPr>
            <a:r>
              <a:rPr lang="en-US" sz="700" dirty="0">
                <a:solidFill>
                  <a:srgbClr val="2A3A4A"/>
                </a:solidFill>
                <a:latin typeface="Calibri" pitchFamily="34" charset="0"/>
                <a:ea typeface="Calibri" pitchFamily="34" charset="-122"/>
                <a:cs typeface="Calibri" pitchFamily="34" charset="-120"/>
              </a:rPr>
              <a:t>Belonging is curative. When students feel part of something, attendance climbs, disclosure deepens, and progress accelerates.</a:t>
            </a:r>
            <a:endParaRPr lang="en-US" sz="700" dirty="0"/>
          </a:p>
        </p:txBody>
      </p:sp>
      <p:sp>
        <p:nvSpPr>
          <p:cNvPr id="24" name="Text 22"/>
          <p:cNvSpPr/>
          <p:nvPr/>
        </p:nvSpPr>
        <p:spPr>
          <a:xfrm>
            <a:off x="228600" y="2631430"/>
            <a:ext cx="2857500" cy="1903809"/>
          </a:xfrm>
          <a:prstGeom prst="rect">
            <a:avLst/>
          </a:prstGeom>
          <a:solidFill>
            <a:srgbClr val="F8FBFC"/>
          </a:solidFill>
          <a:ln/>
          <a:effectLst>
            <a:outerShdw blurRad="29210" dist="7620" dir="5400000" algn="bl" rotWithShape="0">
              <a:srgbClr val="367689">
                <a:alpha val="7000"/>
              </a:srgbClr>
            </a:outerShdw>
          </a:effectLst>
        </p:spPr>
        <p:txBody>
          <a:bodyPr wrap="square" rtlCol="0" anchor="t"/>
          <a:lstStyle/>
          <a:p>
            <a:pPr marL="0" indent="0">
              <a:buNone/>
            </a:pPr>
            <a:endParaRPr lang="en-US" dirty="0"/>
          </a:p>
        </p:txBody>
      </p:sp>
      <p:sp>
        <p:nvSpPr>
          <p:cNvPr id="25" name="Text 23"/>
          <p:cNvSpPr/>
          <p:nvPr/>
        </p:nvSpPr>
        <p:spPr>
          <a:xfrm>
            <a:off x="228600" y="2631430"/>
            <a:ext cx="28575" cy="1903809"/>
          </a:xfrm>
          <a:prstGeom prst="rect">
            <a:avLst/>
          </a:prstGeom>
          <a:solidFill>
            <a:srgbClr val="367689"/>
          </a:solidFill>
          <a:ln/>
        </p:spPr>
        <p:txBody>
          <a:bodyPr wrap="square" rtlCol="0" anchor="t"/>
          <a:lstStyle/>
          <a:p>
            <a:pPr marL="0" indent="0">
              <a:buNone/>
            </a:pPr>
            <a:endParaRPr lang="en-US" dirty="0"/>
          </a:p>
        </p:txBody>
      </p:sp>
      <p:sp>
        <p:nvSpPr>
          <p:cNvPr id="26" name="Text 24"/>
          <p:cNvSpPr/>
          <p:nvPr/>
        </p:nvSpPr>
        <p:spPr>
          <a:xfrm>
            <a:off x="343495" y="2696170"/>
            <a:ext cx="178118" cy="128290"/>
          </a:xfrm>
          <a:prstGeom prst="rect">
            <a:avLst/>
          </a:prstGeom>
          <a:noFill/>
          <a:ln/>
        </p:spPr>
        <p:txBody>
          <a:bodyPr wrap="none" lIns="0" tIns="0" rIns="0" bIns="0" rtlCol="0" anchor="ctr"/>
          <a:lstStyle/>
          <a:p>
            <a:pPr marL="0" indent="0" algn="l">
              <a:lnSpc>
                <a:spcPts val="1010"/>
              </a:lnSpc>
              <a:buNone/>
            </a:pPr>
            <a:r>
              <a:rPr lang="en-US" sz="1010" dirty="0">
                <a:solidFill>
                  <a:srgbClr val="1A2340"/>
                </a:solidFill>
                <a:latin typeface="Calibri" pitchFamily="34" charset="0"/>
                <a:ea typeface="Calibri" pitchFamily="34" charset="-122"/>
                <a:cs typeface="Calibri" pitchFamily="34" charset="-120"/>
              </a:rPr>
              <a:t>🌊</a:t>
            </a:r>
            <a:endParaRPr lang="en-US" sz="1010" dirty="0"/>
          </a:p>
        </p:txBody>
      </p:sp>
      <p:sp>
        <p:nvSpPr>
          <p:cNvPr id="27" name="Text 25"/>
          <p:cNvSpPr/>
          <p:nvPr/>
        </p:nvSpPr>
        <p:spPr>
          <a:xfrm>
            <a:off x="554831" y="2702421"/>
            <a:ext cx="483602" cy="115788"/>
          </a:xfrm>
          <a:prstGeom prst="rect">
            <a:avLst/>
          </a:prstGeom>
          <a:noFill/>
          <a:ln/>
        </p:spPr>
        <p:txBody>
          <a:bodyPr wrap="none" lIns="0" tIns="0" rIns="0" bIns="0" rtlCol="0" anchor="ctr"/>
          <a:lstStyle/>
          <a:p>
            <a:pPr marL="0" indent="0" algn="l">
              <a:lnSpc>
                <a:spcPts val="912"/>
              </a:lnSpc>
              <a:buNone/>
            </a:pPr>
            <a:r>
              <a:rPr lang="en-US" sz="760" b="1" dirty="0">
                <a:solidFill>
                  <a:srgbClr val="367689"/>
                </a:solidFill>
                <a:latin typeface="Calibri" pitchFamily="34" charset="0"/>
                <a:ea typeface="Calibri" pitchFamily="34" charset="-122"/>
                <a:cs typeface="Calibri" pitchFamily="34" charset="-120"/>
              </a:rPr>
              <a:t>Catharsis</a:t>
            </a:r>
            <a:endParaRPr lang="en-US" sz="760" dirty="0"/>
          </a:p>
        </p:txBody>
      </p:sp>
      <p:sp>
        <p:nvSpPr>
          <p:cNvPr id="28" name="Text 26"/>
          <p:cNvSpPr/>
          <p:nvPr/>
        </p:nvSpPr>
        <p:spPr>
          <a:xfrm>
            <a:off x="343495" y="2853630"/>
            <a:ext cx="2656284" cy="7590"/>
          </a:xfrm>
          <a:prstGeom prst="rect">
            <a:avLst/>
          </a:prstGeom>
          <a:solidFill>
            <a:srgbClr val="D0E8EF"/>
          </a:solidFill>
          <a:ln/>
        </p:spPr>
        <p:txBody>
          <a:bodyPr wrap="none" rtlCol="0" anchor="t"/>
          <a:lstStyle/>
          <a:p>
            <a:pPr marL="0" indent="0">
              <a:buNone/>
            </a:pPr>
            <a:endParaRPr lang="en-US" dirty="0"/>
          </a:p>
        </p:txBody>
      </p:sp>
      <p:sp>
        <p:nvSpPr>
          <p:cNvPr id="29" name="Text 27"/>
          <p:cNvSpPr/>
          <p:nvPr/>
        </p:nvSpPr>
        <p:spPr>
          <a:xfrm>
            <a:off x="343495" y="2896642"/>
            <a:ext cx="2709410" cy="405519"/>
          </a:xfrm>
          <a:prstGeom prst="rect">
            <a:avLst/>
          </a:prstGeom>
          <a:noFill/>
          <a:ln/>
        </p:spPr>
        <p:txBody>
          <a:bodyPr wrap="square" lIns="0" tIns="0" rIns="0" bIns="0" rtlCol="0" anchor="t"/>
          <a:lstStyle/>
          <a:p>
            <a:pPr marL="0" indent="0" algn="l">
              <a:lnSpc>
                <a:spcPts val="1015"/>
              </a:lnSpc>
              <a:buNone/>
            </a:pPr>
            <a:r>
              <a:rPr lang="en-US" sz="700" dirty="0">
                <a:solidFill>
                  <a:srgbClr val="2A3A4A"/>
                </a:solidFill>
                <a:latin typeface="Calibri" pitchFamily="34" charset="0"/>
                <a:ea typeface="Calibri" pitchFamily="34" charset="-122"/>
                <a:cs typeface="Calibri" pitchFamily="34" charset="-120"/>
              </a:rPr>
              <a:t>Expressing emotion in the presence of empathetic peers is uniquely powerful. Many students experience this for the first time in your group.</a:t>
            </a:r>
            <a:endParaRPr lang="en-US" sz="700" dirty="0"/>
          </a:p>
        </p:txBody>
      </p:sp>
      <p:sp>
        <p:nvSpPr>
          <p:cNvPr id="30" name="Text 28"/>
          <p:cNvSpPr/>
          <p:nvPr/>
        </p:nvSpPr>
        <p:spPr>
          <a:xfrm>
            <a:off x="3143250" y="2631430"/>
            <a:ext cx="2857500" cy="1903809"/>
          </a:xfrm>
          <a:prstGeom prst="rect">
            <a:avLst/>
          </a:prstGeom>
          <a:solidFill>
            <a:srgbClr val="F8FBFC"/>
          </a:solidFill>
          <a:ln/>
          <a:effectLst>
            <a:outerShdw blurRad="29210" dist="7620" dir="5400000" algn="bl" rotWithShape="0">
              <a:srgbClr val="367689">
                <a:alpha val="7000"/>
              </a:srgbClr>
            </a:outerShdw>
          </a:effectLst>
        </p:spPr>
        <p:txBody>
          <a:bodyPr wrap="square" rtlCol="0" anchor="t"/>
          <a:lstStyle/>
          <a:p>
            <a:pPr marL="0" indent="0">
              <a:buNone/>
            </a:pPr>
            <a:endParaRPr lang="en-US" dirty="0"/>
          </a:p>
        </p:txBody>
      </p:sp>
      <p:sp>
        <p:nvSpPr>
          <p:cNvPr id="31" name="Text 29"/>
          <p:cNvSpPr/>
          <p:nvPr/>
        </p:nvSpPr>
        <p:spPr>
          <a:xfrm>
            <a:off x="3143250" y="2631430"/>
            <a:ext cx="28575" cy="1903809"/>
          </a:xfrm>
          <a:prstGeom prst="rect">
            <a:avLst/>
          </a:prstGeom>
          <a:solidFill>
            <a:srgbClr val="367689"/>
          </a:solidFill>
          <a:ln/>
        </p:spPr>
        <p:txBody>
          <a:bodyPr wrap="square" rtlCol="0" anchor="t"/>
          <a:lstStyle/>
          <a:p>
            <a:pPr marL="0" indent="0">
              <a:buNone/>
            </a:pPr>
            <a:endParaRPr lang="en-US" dirty="0"/>
          </a:p>
        </p:txBody>
      </p:sp>
      <p:sp>
        <p:nvSpPr>
          <p:cNvPr id="32" name="Text 30"/>
          <p:cNvSpPr/>
          <p:nvPr/>
        </p:nvSpPr>
        <p:spPr>
          <a:xfrm>
            <a:off x="3258145" y="2696170"/>
            <a:ext cx="178118" cy="128290"/>
          </a:xfrm>
          <a:prstGeom prst="rect">
            <a:avLst/>
          </a:prstGeom>
          <a:noFill/>
          <a:ln/>
        </p:spPr>
        <p:txBody>
          <a:bodyPr wrap="none" lIns="0" tIns="0" rIns="0" bIns="0" rtlCol="0" anchor="ctr"/>
          <a:lstStyle/>
          <a:p>
            <a:pPr marL="0" indent="0" algn="l">
              <a:lnSpc>
                <a:spcPts val="1010"/>
              </a:lnSpc>
              <a:buNone/>
            </a:pPr>
            <a:r>
              <a:rPr lang="en-US" sz="1010" dirty="0">
                <a:solidFill>
                  <a:srgbClr val="1A2340"/>
                </a:solidFill>
                <a:latin typeface="Calibri" pitchFamily="34" charset="0"/>
                <a:ea typeface="Calibri" pitchFamily="34" charset="-122"/>
                <a:cs typeface="Calibri" pitchFamily="34" charset="-120"/>
              </a:rPr>
              <a:t>⚙️</a:t>
            </a:r>
            <a:endParaRPr lang="en-US" sz="1010" dirty="0"/>
          </a:p>
        </p:txBody>
      </p:sp>
      <p:sp>
        <p:nvSpPr>
          <p:cNvPr id="33" name="Text 31"/>
          <p:cNvSpPr/>
          <p:nvPr/>
        </p:nvSpPr>
        <p:spPr>
          <a:xfrm>
            <a:off x="3469481" y="2702421"/>
            <a:ext cx="1990398" cy="115788"/>
          </a:xfrm>
          <a:prstGeom prst="rect">
            <a:avLst/>
          </a:prstGeom>
          <a:noFill/>
          <a:ln/>
        </p:spPr>
        <p:txBody>
          <a:bodyPr wrap="none" lIns="0" tIns="0" rIns="0" bIns="0" rtlCol="0" anchor="ctr"/>
          <a:lstStyle/>
          <a:p>
            <a:pPr marL="0" indent="0" algn="l">
              <a:lnSpc>
                <a:spcPts val="912"/>
              </a:lnSpc>
              <a:buNone/>
            </a:pPr>
            <a:r>
              <a:rPr lang="en-US" sz="760" b="1" dirty="0">
                <a:solidFill>
                  <a:srgbClr val="367689"/>
                </a:solidFill>
                <a:latin typeface="Calibri" pitchFamily="34" charset="0"/>
                <a:ea typeface="Calibri" pitchFamily="34" charset="-122"/>
                <a:cs typeface="Calibri" pitchFamily="34" charset="-120"/>
              </a:rPr>
              <a:t>Development of Socializing Techniques</a:t>
            </a:r>
            <a:endParaRPr lang="en-US" sz="760" dirty="0"/>
          </a:p>
        </p:txBody>
      </p:sp>
      <p:sp>
        <p:nvSpPr>
          <p:cNvPr id="34" name="Text 32"/>
          <p:cNvSpPr/>
          <p:nvPr/>
        </p:nvSpPr>
        <p:spPr>
          <a:xfrm>
            <a:off x="3258145" y="2853630"/>
            <a:ext cx="2656284" cy="7590"/>
          </a:xfrm>
          <a:prstGeom prst="rect">
            <a:avLst/>
          </a:prstGeom>
          <a:solidFill>
            <a:srgbClr val="D0E8EF"/>
          </a:solidFill>
          <a:ln/>
        </p:spPr>
        <p:txBody>
          <a:bodyPr wrap="none" rtlCol="0" anchor="t"/>
          <a:lstStyle/>
          <a:p>
            <a:pPr marL="0" indent="0">
              <a:buNone/>
            </a:pPr>
            <a:endParaRPr lang="en-US" dirty="0"/>
          </a:p>
        </p:txBody>
      </p:sp>
      <p:sp>
        <p:nvSpPr>
          <p:cNvPr id="35" name="Text 33"/>
          <p:cNvSpPr/>
          <p:nvPr/>
        </p:nvSpPr>
        <p:spPr>
          <a:xfrm>
            <a:off x="3258145" y="2896642"/>
            <a:ext cx="2709410" cy="270346"/>
          </a:xfrm>
          <a:prstGeom prst="rect">
            <a:avLst/>
          </a:prstGeom>
          <a:noFill/>
          <a:ln/>
        </p:spPr>
        <p:txBody>
          <a:bodyPr wrap="square" lIns="0" tIns="0" rIns="0" bIns="0" rtlCol="0" anchor="t"/>
          <a:lstStyle/>
          <a:p>
            <a:pPr marL="0" indent="0" algn="l">
              <a:lnSpc>
                <a:spcPts val="1015"/>
              </a:lnSpc>
              <a:buNone/>
            </a:pPr>
            <a:r>
              <a:rPr lang="en-US" sz="700" dirty="0">
                <a:solidFill>
                  <a:srgbClr val="2A3A4A"/>
                </a:solidFill>
                <a:latin typeface="Calibri" pitchFamily="34" charset="0"/>
                <a:ea typeface="Calibri" pitchFamily="34" charset="-122"/>
                <a:cs typeface="Calibri" pitchFamily="34" charset="-120"/>
              </a:rPr>
              <a:t>Group is a rehearsal space for real life: eye contact, turn-taking, conflict resolution, and repair.</a:t>
            </a:r>
            <a:endParaRPr lang="en-US" sz="700" dirty="0"/>
          </a:p>
        </p:txBody>
      </p:sp>
      <p:sp>
        <p:nvSpPr>
          <p:cNvPr id="36" name="Text 34"/>
          <p:cNvSpPr/>
          <p:nvPr/>
        </p:nvSpPr>
        <p:spPr>
          <a:xfrm>
            <a:off x="6057900" y="2631430"/>
            <a:ext cx="2857500" cy="1903809"/>
          </a:xfrm>
          <a:prstGeom prst="rect">
            <a:avLst/>
          </a:prstGeom>
          <a:solidFill>
            <a:srgbClr val="F8FBFC"/>
          </a:solidFill>
          <a:ln/>
          <a:effectLst>
            <a:outerShdw blurRad="29210" dist="7620" dir="5400000" algn="bl" rotWithShape="0">
              <a:srgbClr val="367689">
                <a:alpha val="7000"/>
              </a:srgbClr>
            </a:outerShdw>
          </a:effectLst>
        </p:spPr>
        <p:txBody>
          <a:bodyPr wrap="square" rtlCol="0" anchor="t"/>
          <a:lstStyle/>
          <a:p>
            <a:pPr marL="0" indent="0">
              <a:buNone/>
            </a:pPr>
            <a:endParaRPr lang="en-US" dirty="0"/>
          </a:p>
        </p:txBody>
      </p:sp>
      <p:sp>
        <p:nvSpPr>
          <p:cNvPr id="37" name="Text 35"/>
          <p:cNvSpPr/>
          <p:nvPr/>
        </p:nvSpPr>
        <p:spPr>
          <a:xfrm>
            <a:off x="6057900" y="2631430"/>
            <a:ext cx="28575" cy="1903809"/>
          </a:xfrm>
          <a:prstGeom prst="rect">
            <a:avLst/>
          </a:prstGeom>
          <a:solidFill>
            <a:srgbClr val="367689"/>
          </a:solidFill>
          <a:ln/>
        </p:spPr>
        <p:txBody>
          <a:bodyPr wrap="square" rtlCol="0" anchor="t"/>
          <a:lstStyle/>
          <a:p>
            <a:pPr marL="0" indent="0">
              <a:buNone/>
            </a:pPr>
            <a:endParaRPr lang="en-US" dirty="0"/>
          </a:p>
        </p:txBody>
      </p:sp>
      <p:sp>
        <p:nvSpPr>
          <p:cNvPr id="38" name="Text 36"/>
          <p:cNvSpPr/>
          <p:nvPr/>
        </p:nvSpPr>
        <p:spPr>
          <a:xfrm>
            <a:off x="6172795" y="2696170"/>
            <a:ext cx="178118" cy="128290"/>
          </a:xfrm>
          <a:prstGeom prst="rect">
            <a:avLst/>
          </a:prstGeom>
          <a:noFill/>
          <a:ln/>
        </p:spPr>
        <p:txBody>
          <a:bodyPr wrap="none" lIns="0" tIns="0" rIns="0" bIns="0" rtlCol="0" anchor="ctr"/>
          <a:lstStyle/>
          <a:p>
            <a:pPr marL="0" indent="0" algn="l">
              <a:lnSpc>
                <a:spcPts val="1010"/>
              </a:lnSpc>
              <a:buNone/>
            </a:pPr>
            <a:r>
              <a:rPr lang="en-US" sz="1010" dirty="0">
                <a:solidFill>
                  <a:srgbClr val="1A2340"/>
                </a:solidFill>
                <a:latin typeface="Calibri" pitchFamily="34" charset="0"/>
                <a:ea typeface="Calibri" pitchFamily="34" charset="-122"/>
                <a:cs typeface="Calibri" pitchFamily="34" charset="-120"/>
              </a:rPr>
              <a:t>🕊️</a:t>
            </a:r>
            <a:endParaRPr lang="en-US" sz="1010" dirty="0"/>
          </a:p>
        </p:txBody>
      </p:sp>
      <p:sp>
        <p:nvSpPr>
          <p:cNvPr id="39" name="Text 37"/>
          <p:cNvSpPr/>
          <p:nvPr/>
        </p:nvSpPr>
        <p:spPr>
          <a:xfrm>
            <a:off x="6384131" y="2702421"/>
            <a:ext cx="943466" cy="115788"/>
          </a:xfrm>
          <a:prstGeom prst="rect">
            <a:avLst/>
          </a:prstGeom>
          <a:noFill/>
          <a:ln/>
        </p:spPr>
        <p:txBody>
          <a:bodyPr wrap="none" lIns="0" tIns="0" rIns="0" bIns="0" rtlCol="0" anchor="ctr"/>
          <a:lstStyle/>
          <a:p>
            <a:pPr marL="0" indent="0" algn="l">
              <a:lnSpc>
                <a:spcPts val="912"/>
              </a:lnSpc>
              <a:buNone/>
            </a:pPr>
            <a:r>
              <a:rPr lang="en-US" sz="760" b="1" dirty="0">
                <a:solidFill>
                  <a:srgbClr val="367689"/>
                </a:solidFill>
                <a:latin typeface="Calibri" pitchFamily="34" charset="0"/>
                <a:ea typeface="Calibri" pitchFamily="34" charset="-122"/>
                <a:cs typeface="Calibri" pitchFamily="34" charset="-120"/>
              </a:rPr>
              <a:t>Existential Factors</a:t>
            </a:r>
            <a:endParaRPr lang="en-US" sz="760" dirty="0"/>
          </a:p>
        </p:txBody>
      </p:sp>
      <p:sp>
        <p:nvSpPr>
          <p:cNvPr id="40" name="Text 38"/>
          <p:cNvSpPr/>
          <p:nvPr/>
        </p:nvSpPr>
        <p:spPr>
          <a:xfrm>
            <a:off x="6172795" y="2853630"/>
            <a:ext cx="2656284" cy="7590"/>
          </a:xfrm>
          <a:prstGeom prst="rect">
            <a:avLst/>
          </a:prstGeom>
          <a:solidFill>
            <a:srgbClr val="D0E8EF"/>
          </a:solidFill>
          <a:ln/>
        </p:spPr>
        <p:txBody>
          <a:bodyPr wrap="none" rtlCol="0" anchor="t"/>
          <a:lstStyle/>
          <a:p>
            <a:pPr marL="0" indent="0">
              <a:buNone/>
            </a:pPr>
            <a:endParaRPr lang="en-US" dirty="0"/>
          </a:p>
        </p:txBody>
      </p:sp>
      <p:sp>
        <p:nvSpPr>
          <p:cNvPr id="41" name="Text 39"/>
          <p:cNvSpPr/>
          <p:nvPr/>
        </p:nvSpPr>
        <p:spPr>
          <a:xfrm>
            <a:off x="6172795" y="2896642"/>
            <a:ext cx="2709410" cy="270346"/>
          </a:xfrm>
          <a:prstGeom prst="rect">
            <a:avLst/>
          </a:prstGeom>
          <a:noFill/>
          <a:ln/>
        </p:spPr>
        <p:txBody>
          <a:bodyPr wrap="square" lIns="0" tIns="0" rIns="0" bIns="0" rtlCol="0" anchor="t"/>
          <a:lstStyle/>
          <a:p>
            <a:pPr marL="0" indent="0" algn="l">
              <a:lnSpc>
                <a:spcPts val="1015"/>
              </a:lnSpc>
              <a:buNone/>
            </a:pPr>
            <a:r>
              <a:rPr lang="en-US" sz="700" dirty="0">
                <a:solidFill>
                  <a:srgbClr val="2A3A4A"/>
                </a:solidFill>
                <a:latin typeface="Calibri" pitchFamily="34" charset="0"/>
                <a:ea typeface="Calibri" pitchFamily="34" charset="-122"/>
                <a:cs typeface="Calibri" pitchFamily="34" charset="-120"/>
              </a:rPr>
              <a:t>Students grapple together with fairness, grief, and the reality of life. Honor it — do not solve it.</a:t>
            </a:r>
            <a:endParaRPr lang="en-US" sz="700" dirty="0"/>
          </a:p>
        </p:txBody>
      </p:sp>
      <p:sp>
        <p:nvSpPr>
          <p:cNvPr id="42" name="Text 40"/>
          <p:cNvSpPr/>
          <p:nvPr/>
        </p:nvSpPr>
        <p:spPr>
          <a:xfrm>
            <a:off x="228600" y="4592389"/>
            <a:ext cx="8686800" cy="277267"/>
          </a:xfrm>
          <a:prstGeom prst="roundRect">
            <a:avLst>
              <a:gd name="adj" fmla="val 17864"/>
            </a:avLst>
          </a:prstGeom>
          <a:solidFill>
            <a:srgbClr val="F4B753"/>
          </a:solidFill>
          <a:ln/>
          <a:effectLst>
            <a:outerShdw blurRad="57150" dist="13970" dir="5400000" algn="bl" rotWithShape="0">
              <a:srgbClr val="F4B753">
                <a:alpha val="25000"/>
              </a:srgbClr>
            </a:outerShdw>
          </a:effectLst>
        </p:spPr>
        <p:txBody>
          <a:bodyPr wrap="square" rtlCol="0" anchor="t"/>
          <a:lstStyle/>
          <a:p>
            <a:pPr marL="0" indent="0">
              <a:buNone/>
            </a:pPr>
            <a:endParaRPr lang="en-US" dirty="0"/>
          </a:p>
        </p:txBody>
      </p:sp>
      <p:pic>
        <p:nvPicPr>
          <p:cNvPr id="43" name="Image 0" descr="preencoded.png"/>
          <p:cNvPicPr>
            <a:picLocks noChangeAspect="1"/>
          </p:cNvPicPr>
          <p:nvPr/>
        </p:nvPicPr>
        <p:blipFill>
          <a:blip>
            <a:alphaModFix amt="80000"/>
            <a:extLst>
              <a:ext uri="{96DAC541-7B7A-43D3-8B79-37D633B846F1}">
                <asvg:svgBlip xmlns:asvg="http://schemas.microsoft.com/office/drawing/2016/SVG/main" r:embed="rId3"/>
              </a:ext>
            </a:extLst>
          </a:blip>
          <a:stretch>
            <a:fillRect/>
          </a:stretch>
        </p:blipFill>
        <p:spPr>
          <a:xfrm>
            <a:off x="378777" y="4664729"/>
            <a:ext cx="132588" cy="132588"/>
          </a:xfrm>
          <a:prstGeom prst="rect">
            <a:avLst/>
          </a:prstGeom>
        </p:spPr>
      </p:pic>
      <p:sp>
        <p:nvSpPr>
          <p:cNvPr id="44" name="Text 41"/>
          <p:cNvSpPr/>
          <p:nvPr/>
        </p:nvSpPr>
        <p:spPr>
          <a:xfrm>
            <a:off x="604391" y="4663380"/>
            <a:ext cx="5676022" cy="135285"/>
          </a:xfrm>
          <a:prstGeom prst="rect">
            <a:avLst/>
          </a:prstGeom>
          <a:noFill/>
          <a:ln/>
        </p:spPr>
        <p:txBody>
          <a:bodyPr wrap="none" lIns="0" tIns="0" rIns="0" bIns="0" rtlCol="0" anchor="ctr"/>
          <a:lstStyle/>
          <a:p>
            <a:pPr marL="0" indent="0" algn="l">
              <a:lnSpc>
                <a:spcPts val="1067"/>
              </a:lnSpc>
              <a:buNone/>
            </a:pPr>
            <a:r>
              <a:rPr lang="en-US" sz="790" b="1" i="1" dirty="0">
                <a:solidFill>
                  <a:srgbClr val="1A2340"/>
                </a:solidFill>
                <a:latin typeface="Calibri" pitchFamily="34" charset="0"/>
                <a:ea typeface="Calibri" pitchFamily="34" charset="-122"/>
                <a:cs typeface="Calibri" pitchFamily="34" charset="-120"/>
              </a:rPr>
              <a:t>"These factors do not happen by accident — they happen because you designed a space where they could."</a:t>
            </a:r>
            <a:endParaRPr lang="en-US" sz="79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493216"/>
          </a:xfrm>
          <a:prstGeom prst="rect">
            <a:avLst/>
          </a:prstGeom>
          <a:solidFill>
            <a:srgbClr val="367689"/>
          </a:solidFill>
          <a:ln/>
        </p:spPr>
        <p:txBody>
          <a:bodyPr wrap="square" rtlCol="0" anchor="t"/>
          <a:lstStyle/>
          <a:p>
            <a:pPr marL="0" indent="0">
              <a:buNone/>
            </a:pPr>
            <a:endParaRPr lang="en-US" dirty="0"/>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2900" y="186035"/>
            <a:ext cx="150465" cy="150465"/>
          </a:xfrm>
          <a:prstGeom prst="rect">
            <a:avLst/>
          </a:prstGeom>
        </p:spPr>
      </p:pic>
      <p:sp>
        <p:nvSpPr>
          <p:cNvPr id="4" name="Text 1"/>
          <p:cNvSpPr/>
          <p:nvPr/>
        </p:nvSpPr>
        <p:spPr>
          <a:xfrm>
            <a:off x="579686" y="100310"/>
            <a:ext cx="2322286" cy="321915"/>
          </a:xfrm>
          <a:prstGeom prst="rect">
            <a:avLst/>
          </a:prstGeom>
          <a:noFill/>
          <a:ln/>
        </p:spPr>
        <p:txBody>
          <a:bodyPr wrap="none" lIns="0" tIns="0" rIns="0" bIns="0" rtlCol="0" anchor="ctr"/>
          <a:lstStyle/>
          <a:p>
            <a:pPr marL="0" indent="0" algn="l">
              <a:lnSpc>
                <a:spcPts val="2535"/>
              </a:lnSpc>
              <a:buNone/>
            </a:pPr>
            <a:r>
              <a:rPr lang="en-US" sz="1690" b="1" dirty="0">
                <a:solidFill>
                  <a:srgbClr val="FFFFFF"/>
                </a:solidFill>
                <a:latin typeface="Calibri" pitchFamily="34" charset="0"/>
                <a:ea typeface="Calibri" pitchFamily="34" charset="-122"/>
                <a:cs typeface="Calibri" pitchFamily="34" charset="-120"/>
              </a:rPr>
              <a:t>Building Your Group</a:t>
            </a:r>
            <a:endParaRPr lang="en-US" sz="1690" dirty="0"/>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694721" y="194974"/>
            <a:ext cx="132588" cy="132588"/>
          </a:xfrm>
          <a:prstGeom prst="rect">
            <a:avLst/>
          </a:prstGeom>
        </p:spPr>
      </p:pic>
      <p:sp>
        <p:nvSpPr>
          <p:cNvPr id="6" name="Text 2"/>
          <p:cNvSpPr/>
          <p:nvPr/>
        </p:nvSpPr>
        <p:spPr>
          <a:xfrm>
            <a:off x="7877175" y="186035"/>
            <a:ext cx="1016318" cy="150465"/>
          </a:xfrm>
          <a:prstGeom prst="rect">
            <a:avLst/>
          </a:prstGeom>
          <a:noFill/>
          <a:ln/>
        </p:spPr>
        <p:txBody>
          <a:bodyPr wrap="none" lIns="0" tIns="0" rIns="0" bIns="0" rtlCol="0" anchor="ctr"/>
          <a:lstStyle/>
          <a:p>
            <a:pPr marL="0" indent="0" algn="l">
              <a:lnSpc>
                <a:spcPts val="1185"/>
              </a:lnSpc>
              <a:buNone/>
            </a:pPr>
            <a:r>
              <a:rPr lang="en-US" sz="790" b="1" dirty="0">
                <a:solidFill>
                  <a:srgbClr val="D0E8EF"/>
                </a:solidFill>
                <a:latin typeface="Calibri" pitchFamily="34" charset="0"/>
                <a:ea typeface="Calibri" pitchFamily="34" charset="-122"/>
                <a:cs typeface="Calibri" pitchFamily="34" charset="-120"/>
              </a:rPr>
              <a:t>Planning Decisions</a:t>
            </a:r>
            <a:endParaRPr lang="en-US" sz="790" dirty="0"/>
          </a:p>
        </p:txBody>
      </p:sp>
      <p:sp>
        <p:nvSpPr>
          <p:cNvPr id="7" name="Text 3"/>
          <p:cNvSpPr/>
          <p:nvPr/>
        </p:nvSpPr>
        <p:spPr>
          <a:xfrm>
            <a:off x="0" y="493216"/>
            <a:ext cx="9144000" cy="35421"/>
          </a:xfrm>
          <a:prstGeom prst="rect">
            <a:avLst/>
          </a:prstGeom>
          <a:solidFill>
            <a:srgbClr val="F4B753"/>
          </a:solidFill>
          <a:ln/>
        </p:spPr>
        <p:txBody>
          <a:bodyPr wrap="none" rtlCol="0" anchor="t"/>
          <a:lstStyle/>
          <a:p>
            <a:pPr marL="0" indent="0">
              <a:buNone/>
            </a:pPr>
            <a:endParaRPr lang="en-US" dirty="0"/>
          </a:p>
        </p:txBody>
      </p:sp>
      <p:sp>
        <p:nvSpPr>
          <p:cNvPr id="8" name="Text 4"/>
          <p:cNvSpPr/>
          <p:nvPr/>
        </p:nvSpPr>
        <p:spPr>
          <a:xfrm>
            <a:off x="4567238" y="686098"/>
            <a:ext cx="9525" cy="4057055"/>
          </a:xfrm>
          <a:prstGeom prst="rect">
            <a:avLst/>
          </a:prstGeom>
          <a:solidFill>
            <a:srgbClr val="E0ECF0"/>
          </a:solidFill>
          <a:ln/>
        </p:spPr>
        <p:txBody>
          <a:bodyPr wrap="square" rtlCol="0" anchor="t"/>
          <a:lstStyle/>
          <a:p>
            <a:pPr marL="0" indent="0">
              <a:buNone/>
            </a:pPr>
            <a:endParaRPr lang="en-US" dirty="0"/>
          </a:p>
        </p:txBody>
      </p:sp>
      <p:sp>
        <p:nvSpPr>
          <p:cNvPr id="9" name="Text 5"/>
          <p:cNvSpPr/>
          <p:nvPr/>
        </p:nvSpPr>
        <p:spPr>
          <a:xfrm>
            <a:off x="429220" y="686098"/>
            <a:ext cx="3957852" cy="262682"/>
          </a:xfrm>
          <a:prstGeom prst="rect">
            <a:avLst/>
          </a:prstGeom>
          <a:noFill/>
          <a:ln/>
        </p:spPr>
        <p:txBody>
          <a:bodyPr wrap="none" lIns="153293" tIns="0" rIns="0" bIns="49530" rtlCol="0" anchor="ctr"/>
          <a:lstStyle/>
          <a:p>
            <a:pPr marL="0" indent="0" algn="l">
              <a:buNone/>
            </a:pPr>
            <a:r>
              <a:rPr lang="en-US" sz="1070" b="1" kern="0" spc="11" dirty="0">
                <a:solidFill>
                  <a:srgbClr val="367689"/>
                </a:solidFill>
                <a:latin typeface="Calibri" pitchFamily="34" charset="0"/>
                <a:ea typeface="Calibri" pitchFamily="34" charset="-122"/>
                <a:cs typeface="Calibri" pitchFamily="34" charset="-120"/>
              </a:rPr>
              <a:t>Structure Decisions</a:t>
            </a:r>
            <a:endParaRPr lang="en-US" sz="1070" dirty="0"/>
          </a:p>
        </p:txBody>
      </p:sp>
      <p:sp>
        <p:nvSpPr>
          <p:cNvPr id="10" name="Text 6"/>
          <p:cNvSpPr/>
          <p:nvPr/>
        </p:nvSpPr>
        <p:spPr>
          <a:xfrm>
            <a:off x="429220" y="939254"/>
            <a:ext cx="3880247" cy="9525"/>
          </a:xfrm>
          <a:prstGeom prst="rect">
            <a:avLst/>
          </a:prstGeom>
          <a:solidFill>
            <a:srgbClr val="367689"/>
          </a:solidFill>
          <a:ln/>
        </p:spPr>
        <p:txBody>
          <a:bodyPr wrap="none" rtlCol="0" anchor="t"/>
          <a:lstStyle/>
          <a:p>
            <a:pPr marL="0" indent="0">
              <a:buNone/>
            </a:pPr>
            <a:endParaRPr lang="en-US" dirty="0"/>
          </a:p>
        </p:txBody>
      </p:sp>
      <p:pic>
        <p:nvPicPr>
          <p:cNvPr id="1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10998" y="721602"/>
            <a:ext cx="132588" cy="132588"/>
          </a:xfrm>
          <a:prstGeom prst="rect">
            <a:avLst/>
          </a:prstGeom>
        </p:spPr>
      </p:pic>
      <p:sp>
        <p:nvSpPr>
          <p:cNvPr id="12" name="Text 7"/>
          <p:cNvSpPr/>
          <p:nvPr/>
        </p:nvSpPr>
        <p:spPr>
          <a:xfrm>
            <a:off x="429220" y="1049089"/>
            <a:ext cx="3880247" cy="272058"/>
          </a:xfrm>
          <a:prstGeom prst="roundRect">
            <a:avLst>
              <a:gd name="adj" fmla="val 18206"/>
            </a:avLst>
          </a:prstGeom>
          <a:solidFill>
            <a:srgbClr val="F4F9FB"/>
          </a:solidFill>
          <a:ln/>
        </p:spPr>
        <p:txBody>
          <a:bodyPr wrap="none" rtlCol="0" anchor="t"/>
          <a:lstStyle/>
          <a:p>
            <a:pPr marL="0" indent="0">
              <a:buNone/>
            </a:pPr>
            <a:endParaRPr lang="en-US" dirty="0"/>
          </a:p>
        </p:txBody>
      </p:sp>
      <p:sp>
        <p:nvSpPr>
          <p:cNvPr id="13" name="Text 8"/>
          <p:cNvSpPr/>
          <p:nvPr/>
        </p:nvSpPr>
        <p:spPr>
          <a:xfrm>
            <a:off x="429220" y="1049089"/>
            <a:ext cx="19050" cy="272058"/>
          </a:xfrm>
          <a:custGeom>
            <a:avLst/>
            <a:gdLst/>
            <a:ahLst/>
            <a:cxnLst/>
            <a:rect l="l" t="t" r="r" b="b"/>
            <a:pathLst>
              <a:path w="19050" h="272058">
                <a:moveTo>
                  <a:pt x="0" y="49530"/>
                </a:moveTo>
                <a:lnTo>
                  <a:pt x="2381" y="34357"/>
                </a:lnTo>
                <a:lnTo>
                  <a:pt x="4763" y="28338"/>
                </a:lnTo>
                <a:lnTo>
                  <a:pt x="7144" y="23905"/>
                </a:lnTo>
                <a:lnTo>
                  <a:pt x="9525" y="20327"/>
                </a:lnTo>
                <a:lnTo>
                  <a:pt x="11906" y="17317"/>
                </a:lnTo>
                <a:lnTo>
                  <a:pt x="14288" y="14728"/>
                </a:lnTo>
                <a:lnTo>
                  <a:pt x="16669" y="12471"/>
                </a:lnTo>
                <a:lnTo>
                  <a:pt x="19050" y="10489"/>
                </a:lnTo>
                <a:lnTo>
                  <a:pt x="19050" y="261569"/>
                </a:lnTo>
                <a:lnTo>
                  <a:pt x="16669" y="259587"/>
                </a:lnTo>
                <a:lnTo>
                  <a:pt x="14288" y="257330"/>
                </a:lnTo>
                <a:lnTo>
                  <a:pt x="11906" y="254741"/>
                </a:lnTo>
                <a:lnTo>
                  <a:pt x="9525" y="251731"/>
                </a:lnTo>
                <a:lnTo>
                  <a:pt x="7144" y="248153"/>
                </a:lnTo>
                <a:lnTo>
                  <a:pt x="4763" y="243720"/>
                </a:lnTo>
                <a:lnTo>
                  <a:pt x="2381" y="237701"/>
                </a:lnTo>
                <a:lnTo>
                  <a:pt x="0" y="222528"/>
                </a:lnTo>
                <a:close/>
              </a:path>
            </a:pathLst>
          </a:custGeom>
          <a:solidFill>
            <a:srgbClr val="367689"/>
          </a:solidFill>
          <a:ln/>
        </p:spPr>
        <p:txBody>
          <a:bodyPr wrap="none" rtlCol="0" anchor="t"/>
          <a:lstStyle/>
          <a:p>
            <a:pPr marL="0" indent="0">
              <a:buNone/>
            </a:pPr>
            <a:endParaRPr lang="en-US" dirty="0"/>
          </a:p>
        </p:txBody>
      </p:sp>
      <p:sp>
        <p:nvSpPr>
          <p:cNvPr id="14" name="Text 9"/>
          <p:cNvSpPr/>
          <p:nvPr/>
        </p:nvSpPr>
        <p:spPr>
          <a:xfrm>
            <a:off x="534591" y="1106091"/>
            <a:ext cx="157163" cy="165646"/>
          </a:xfrm>
          <a:prstGeom prst="rect">
            <a:avLst/>
          </a:prstGeom>
          <a:noFill/>
          <a:ln/>
        </p:spPr>
        <p:txBody>
          <a:bodyPr wrap="none" lIns="0" tIns="0" rIns="0" bIns="0" rtlCol="0" anchor="ctr"/>
          <a:lstStyle/>
          <a:p>
            <a:pPr marL="0" indent="0" algn="l">
              <a:lnSpc>
                <a:spcPts val="1305"/>
              </a:lnSpc>
              <a:buNone/>
            </a:pPr>
            <a:r>
              <a:rPr lang="en-US" sz="900" dirty="0">
                <a:solidFill>
                  <a:srgbClr val="1A2A35"/>
                </a:solidFill>
                <a:latin typeface="Calibri" pitchFamily="34" charset="0"/>
                <a:ea typeface="Calibri" pitchFamily="34" charset="-122"/>
                <a:cs typeface="Calibri" pitchFamily="34" charset="-120"/>
              </a:rPr>
              <a:t>✅</a:t>
            </a:r>
            <a:endParaRPr lang="en-US" sz="900" dirty="0"/>
          </a:p>
        </p:txBody>
      </p:sp>
      <p:sp>
        <p:nvSpPr>
          <p:cNvPr id="15" name="Text 10"/>
          <p:cNvSpPr/>
          <p:nvPr/>
        </p:nvSpPr>
        <p:spPr>
          <a:xfrm>
            <a:off x="748457" y="1098500"/>
            <a:ext cx="3822159" cy="159990"/>
          </a:xfrm>
          <a:prstGeom prst="rect">
            <a:avLst/>
          </a:prstGeom>
          <a:noFill/>
          <a:ln/>
        </p:spPr>
        <p:txBody>
          <a:bodyPr wrap="none" lIns="0" tIns="0" rIns="0" bIns="0" rtlCol="0" anchor="ctr"/>
          <a:lstStyle/>
          <a:p>
            <a:pPr marL="0" indent="0" algn="l">
              <a:lnSpc>
                <a:spcPts val="1262"/>
              </a:lnSpc>
              <a:buNone/>
            </a:pPr>
            <a:r>
              <a:rPr lang="en-US" sz="870" dirty="0">
                <a:solidFill>
                  <a:srgbClr val="1A2A35"/>
                </a:solidFill>
                <a:latin typeface="Calibri" pitchFamily="34" charset="0"/>
                <a:ea typeface="Calibri" pitchFamily="34" charset="-122"/>
                <a:cs typeface="Calibri" pitchFamily="34" charset="-120"/>
              </a:rPr>
              <a:t>Open group vs. Closed group</a:t>
            </a:r>
            <a:endParaRPr lang="en-US" sz="870" dirty="0"/>
          </a:p>
        </p:txBody>
      </p:sp>
      <p:sp>
        <p:nvSpPr>
          <p:cNvPr id="16" name="Text 11"/>
          <p:cNvSpPr/>
          <p:nvPr/>
        </p:nvSpPr>
        <p:spPr>
          <a:xfrm>
            <a:off x="429220" y="1385888"/>
            <a:ext cx="3880247" cy="272058"/>
          </a:xfrm>
          <a:prstGeom prst="roundRect">
            <a:avLst>
              <a:gd name="adj" fmla="val 18206"/>
            </a:avLst>
          </a:prstGeom>
          <a:solidFill>
            <a:srgbClr val="F4F9FB"/>
          </a:solidFill>
          <a:ln/>
        </p:spPr>
        <p:txBody>
          <a:bodyPr wrap="none" rtlCol="0" anchor="t"/>
          <a:lstStyle/>
          <a:p>
            <a:pPr marL="0" indent="0">
              <a:buNone/>
            </a:pPr>
            <a:endParaRPr lang="en-US" dirty="0"/>
          </a:p>
        </p:txBody>
      </p:sp>
      <p:sp>
        <p:nvSpPr>
          <p:cNvPr id="17" name="Text 12"/>
          <p:cNvSpPr/>
          <p:nvPr/>
        </p:nvSpPr>
        <p:spPr>
          <a:xfrm>
            <a:off x="429220" y="1385888"/>
            <a:ext cx="19050" cy="272058"/>
          </a:xfrm>
          <a:custGeom>
            <a:avLst/>
            <a:gdLst/>
            <a:ahLst/>
            <a:cxnLst/>
            <a:rect l="l" t="t" r="r" b="b"/>
            <a:pathLst>
              <a:path w="19050" h="272058">
                <a:moveTo>
                  <a:pt x="0" y="49530"/>
                </a:moveTo>
                <a:lnTo>
                  <a:pt x="2381" y="34357"/>
                </a:lnTo>
                <a:lnTo>
                  <a:pt x="4763" y="28338"/>
                </a:lnTo>
                <a:lnTo>
                  <a:pt x="7144" y="23905"/>
                </a:lnTo>
                <a:lnTo>
                  <a:pt x="9525" y="20327"/>
                </a:lnTo>
                <a:lnTo>
                  <a:pt x="11906" y="17317"/>
                </a:lnTo>
                <a:lnTo>
                  <a:pt x="14288" y="14728"/>
                </a:lnTo>
                <a:lnTo>
                  <a:pt x="16669" y="12471"/>
                </a:lnTo>
                <a:lnTo>
                  <a:pt x="19050" y="10489"/>
                </a:lnTo>
                <a:lnTo>
                  <a:pt x="19050" y="261569"/>
                </a:lnTo>
                <a:lnTo>
                  <a:pt x="16669" y="259587"/>
                </a:lnTo>
                <a:lnTo>
                  <a:pt x="14288" y="257330"/>
                </a:lnTo>
                <a:lnTo>
                  <a:pt x="11906" y="254741"/>
                </a:lnTo>
                <a:lnTo>
                  <a:pt x="9525" y="251731"/>
                </a:lnTo>
                <a:lnTo>
                  <a:pt x="7144" y="248153"/>
                </a:lnTo>
                <a:lnTo>
                  <a:pt x="4763" y="243720"/>
                </a:lnTo>
                <a:lnTo>
                  <a:pt x="2381" y="237701"/>
                </a:lnTo>
                <a:lnTo>
                  <a:pt x="0" y="222528"/>
                </a:lnTo>
                <a:close/>
              </a:path>
            </a:pathLst>
          </a:custGeom>
          <a:solidFill>
            <a:srgbClr val="367689"/>
          </a:solidFill>
          <a:ln/>
        </p:spPr>
        <p:txBody>
          <a:bodyPr wrap="none" rtlCol="0" anchor="t"/>
          <a:lstStyle/>
          <a:p>
            <a:pPr marL="0" indent="0">
              <a:buNone/>
            </a:pPr>
            <a:endParaRPr lang="en-US" dirty="0"/>
          </a:p>
        </p:txBody>
      </p:sp>
      <p:sp>
        <p:nvSpPr>
          <p:cNvPr id="18" name="Text 13"/>
          <p:cNvSpPr/>
          <p:nvPr/>
        </p:nvSpPr>
        <p:spPr>
          <a:xfrm>
            <a:off x="534591" y="1442889"/>
            <a:ext cx="157163" cy="165646"/>
          </a:xfrm>
          <a:prstGeom prst="rect">
            <a:avLst/>
          </a:prstGeom>
          <a:noFill/>
          <a:ln/>
        </p:spPr>
        <p:txBody>
          <a:bodyPr wrap="none" lIns="0" tIns="0" rIns="0" bIns="0" rtlCol="0" anchor="ctr"/>
          <a:lstStyle/>
          <a:p>
            <a:pPr marL="0" indent="0" algn="l">
              <a:lnSpc>
                <a:spcPts val="1305"/>
              </a:lnSpc>
              <a:buNone/>
            </a:pPr>
            <a:r>
              <a:rPr lang="en-US" sz="900" dirty="0">
                <a:solidFill>
                  <a:srgbClr val="1A2A35"/>
                </a:solidFill>
                <a:latin typeface="Calibri" pitchFamily="34" charset="0"/>
                <a:ea typeface="Calibri" pitchFamily="34" charset="-122"/>
                <a:cs typeface="Calibri" pitchFamily="34" charset="-120"/>
              </a:rPr>
              <a:t>✅</a:t>
            </a:r>
            <a:endParaRPr lang="en-US" sz="900" dirty="0"/>
          </a:p>
        </p:txBody>
      </p:sp>
      <p:sp>
        <p:nvSpPr>
          <p:cNvPr id="19" name="Text 14"/>
          <p:cNvSpPr/>
          <p:nvPr/>
        </p:nvSpPr>
        <p:spPr>
          <a:xfrm>
            <a:off x="748457" y="1435298"/>
            <a:ext cx="3822159" cy="159990"/>
          </a:xfrm>
          <a:prstGeom prst="rect">
            <a:avLst/>
          </a:prstGeom>
          <a:noFill/>
          <a:ln/>
        </p:spPr>
        <p:txBody>
          <a:bodyPr wrap="none" lIns="0" tIns="0" rIns="0" bIns="0" rtlCol="0" anchor="ctr"/>
          <a:lstStyle/>
          <a:p>
            <a:pPr marL="0" indent="0" algn="l">
              <a:lnSpc>
                <a:spcPts val="1262"/>
              </a:lnSpc>
              <a:buNone/>
            </a:pPr>
            <a:r>
              <a:rPr lang="en-US" sz="870" dirty="0">
                <a:solidFill>
                  <a:srgbClr val="1A2A35"/>
                </a:solidFill>
                <a:latin typeface="Calibri" pitchFamily="34" charset="0"/>
                <a:ea typeface="Calibri" pitchFamily="34" charset="-122"/>
                <a:cs typeface="Calibri" pitchFamily="34" charset="-120"/>
              </a:rPr>
              <a:t>Group size (no fewer than 2, no more than 8)</a:t>
            </a:r>
            <a:endParaRPr lang="en-US" sz="870" dirty="0"/>
          </a:p>
        </p:txBody>
      </p:sp>
      <p:sp>
        <p:nvSpPr>
          <p:cNvPr id="20" name="Text 15"/>
          <p:cNvSpPr/>
          <p:nvPr/>
        </p:nvSpPr>
        <p:spPr>
          <a:xfrm>
            <a:off x="429220" y="1722686"/>
            <a:ext cx="3880247" cy="272058"/>
          </a:xfrm>
          <a:prstGeom prst="roundRect">
            <a:avLst>
              <a:gd name="adj" fmla="val 18206"/>
            </a:avLst>
          </a:prstGeom>
          <a:solidFill>
            <a:srgbClr val="F4F9FB"/>
          </a:solidFill>
          <a:ln/>
        </p:spPr>
        <p:txBody>
          <a:bodyPr wrap="none" rtlCol="0" anchor="t"/>
          <a:lstStyle/>
          <a:p>
            <a:pPr marL="0" indent="0">
              <a:buNone/>
            </a:pPr>
            <a:endParaRPr lang="en-US" dirty="0"/>
          </a:p>
        </p:txBody>
      </p:sp>
      <p:sp>
        <p:nvSpPr>
          <p:cNvPr id="21" name="Text 16"/>
          <p:cNvSpPr/>
          <p:nvPr/>
        </p:nvSpPr>
        <p:spPr>
          <a:xfrm>
            <a:off x="429220" y="1722686"/>
            <a:ext cx="19050" cy="272058"/>
          </a:xfrm>
          <a:custGeom>
            <a:avLst/>
            <a:gdLst/>
            <a:ahLst/>
            <a:cxnLst/>
            <a:rect l="l" t="t" r="r" b="b"/>
            <a:pathLst>
              <a:path w="19050" h="272058">
                <a:moveTo>
                  <a:pt x="0" y="49530"/>
                </a:moveTo>
                <a:lnTo>
                  <a:pt x="2381" y="34357"/>
                </a:lnTo>
                <a:lnTo>
                  <a:pt x="4763" y="28338"/>
                </a:lnTo>
                <a:lnTo>
                  <a:pt x="7144" y="23905"/>
                </a:lnTo>
                <a:lnTo>
                  <a:pt x="9525" y="20327"/>
                </a:lnTo>
                <a:lnTo>
                  <a:pt x="11906" y="17317"/>
                </a:lnTo>
                <a:lnTo>
                  <a:pt x="14288" y="14728"/>
                </a:lnTo>
                <a:lnTo>
                  <a:pt x="16669" y="12471"/>
                </a:lnTo>
                <a:lnTo>
                  <a:pt x="19050" y="10489"/>
                </a:lnTo>
                <a:lnTo>
                  <a:pt x="19050" y="261569"/>
                </a:lnTo>
                <a:lnTo>
                  <a:pt x="16669" y="259587"/>
                </a:lnTo>
                <a:lnTo>
                  <a:pt x="14288" y="257330"/>
                </a:lnTo>
                <a:lnTo>
                  <a:pt x="11906" y="254741"/>
                </a:lnTo>
                <a:lnTo>
                  <a:pt x="9525" y="251731"/>
                </a:lnTo>
                <a:lnTo>
                  <a:pt x="7144" y="248153"/>
                </a:lnTo>
                <a:lnTo>
                  <a:pt x="4763" y="243720"/>
                </a:lnTo>
                <a:lnTo>
                  <a:pt x="2381" y="237701"/>
                </a:lnTo>
                <a:lnTo>
                  <a:pt x="0" y="222528"/>
                </a:lnTo>
                <a:close/>
              </a:path>
            </a:pathLst>
          </a:custGeom>
          <a:solidFill>
            <a:srgbClr val="367689"/>
          </a:solidFill>
          <a:ln/>
        </p:spPr>
        <p:txBody>
          <a:bodyPr wrap="none" rtlCol="0" anchor="t"/>
          <a:lstStyle/>
          <a:p>
            <a:pPr marL="0" indent="0">
              <a:buNone/>
            </a:pPr>
            <a:endParaRPr lang="en-US" dirty="0"/>
          </a:p>
        </p:txBody>
      </p:sp>
      <p:sp>
        <p:nvSpPr>
          <p:cNvPr id="22" name="Text 17"/>
          <p:cNvSpPr/>
          <p:nvPr/>
        </p:nvSpPr>
        <p:spPr>
          <a:xfrm>
            <a:off x="534591" y="1779687"/>
            <a:ext cx="157163" cy="165646"/>
          </a:xfrm>
          <a:prstGeom prst="rect">
            <a:avLst/>
          </a:prstGeom>
          <a:noFill/>
          <a:ln/>
        </p:spPr>
        <p:txBody>
          <a:bodyPr wrap="none" lIns="0" tIns="0" rIns="0" bIns="0" rtlCol="0" anchor="ctr"/>
          <a:lstStyle/>
          <a:p>
            <a:pPr marL="0" indent="0" algn="l">
              <a:lnSpc>
                <a:spcPts val="1305"/>
              </a:lnSpc>
              <a:buNone/>
            </a:pPr>
            <a:r>
              <a:rPr lang="en-US" sz="900" dirty="0">
                <a:solidFill>
                  <a:srgbClr val="1A2A35"/>
                </a:solidFill>
                <a:latin typeface="Calibri" pitchFamily="34" charset="0"/>
                <a:ea typeface="Calibri" pitchFamily="34" charset="-122"/>
                <a:cs typeface="Calibri" pitchFamily="34" charset="-120"/>
              </a:rPr>
              <a:t>✅</a:t>
            </a:r>
            <a:endParaRPr lang="en-US" sz="900" dirty="0"/>
          </a:p>
        </p:txBody>
      </p:sp>
      <p:sp>
        <p:nvSpPr>
          <p:cNvPr id="23" name="Text 18"/>
          <p:cNvSpPr/>
          <p:nvPr/>
        </p:nvSpPr>
        <p:spPr>
          <a:xfrm>
            <a:off x="748457" y="1772096"/>
            <a:ext cx="3822159" cy="159990"/>
          </a:xfrm>
          <a:prstGeom prst="rect">
            <a:avLst/>
          </a:prstGeom>
          <a:noFill/>
          <a:ln/>
        </p:spPr>
        <p:txBody>
          <a:bodyPr wrap="none" lIns="0" tIns="0" rIns="0" bIns="0" rtlCol="0" anchor="ctr"/>
          <a:lstStyle/>
          <a:p>
            <a:pPr marL="0" indent="0" algn="l">
              <a:lnSpc>
                <a:spcPts val="1262"/>
              </a:lnSpc>
              <a:buNone/>
            </a:pPr>
            <a:r>
              <a:rPr lang="en-US" sz="870" dirty="0">
                <a:solidFill>
                  <a:srgbClr val="1A2A35"/>
                </a:solidFill>
                <a:latin typeface="Calibri" pitchFamily="34" charset="0"/>
                <a:ea typeface="Calibri" pitchFamily="34" charset="-122"/>
                <a:cs typeface="Calibri" pitchFamily="34" charset="-120"/>
              </a:rPr>
              <a:t>Target population and presenting concerns</a:t>
            </a:r>
            <a:endParaRPr lang="en-US" sz="870" dirty="0"/>
          </a:p>
        </p:txBody>
      </p:sp>
      <p:sp>
        <p:nvSpPr>
          <p:cNvPr id="24" name="Text 19"/>
          <p:cNvSpPr/>
          <p:nvPr/>
        </p:nvSpPr>
        <p:spPr>
          <a:xfrm>
            <a:off x="429220" y="2059484"/>
            <a:ext cx="3880247" cy="272058"/>
          </a:xfrm>
          <a:prstGeom prst="roundRect">
            <a:avLst>
              <a:gd name="adj" fmla="val 18206"/>
            </a:avLst>
          </a:prstGeom>
          <a:solidFill>
            <a:srgbClr val="F4F9FB"/>
          </a:solidFill>
          <a:ln/>
        </p:spPr>
        <p:txBody>
          <a:bodyPr wrap="none" rtlCol="0" anchor="t"/>
          <a:lstStyle/>
          <a:p>
            <a:pPr marL="0" indent="0">
              <a:buNone/>
            </a:pPr>
            <a:endParaRPr lang="en-US" dirty="0"/>
          </a:p>
        </p:txBody>
      </p:sp>
      <p:sp>
        <p:nvSpPr>
          <p:cNvPr id="25" name="Text 20"/>
          <p:cNvSpPr/>
          <p:nvPr/>
        </p:nvSpPr>
        <p:spPr>
          <a:xfrm>
            <a:off x="429220" y="2059484"/>
            <a:ext cx="19050" cy="272058"/>
          </a:xfrm>
          <a:custGeom>
            <a:avLst/>
            <a:gdLst/>
            <a:ahLst/>
            <a:cxnLst/>
            <a:rect l="l" t="t" r="r" b="b"/>
            <a:pathLst>
              <a:path w="19050" h="272058">
                <a:moveTo>
                  <a:pt x="0" y="49530"/>
                </a:moveTo>
                <a:lnTo>
                  <a:pt x="2381" y="34357"/>
                </a:lnTo>
                <a:lnTo>
                  <a:pt x="4763" y="28338"/>
                </a:lnTo>
                <a:lnTo>
                  <a:pt x="7144" y="23905"/>
                </a:lnTo>
                <a:lnTo>
                  <a:pt x="9525" y="20327"/>
                </a:lnTo>
                <a:lnTo>
                  <a:pt x="11906" y="17317"/>
                </a:lnTo>
                <a:lnTo>
                  <a:pt x="14288" y="14728"/>
                </a:lnTo>
                <a:lnTo>
                  <a:pt x="16669" y="12471"/>
                </a:lnTo>
                <a:lnTo>
                  <a:pt x="19050" y="10489"/>
                </a:lnTo>
                <a:lnTo>
                  <a:pt x="19050" y="261569"/>
                </a:lnTo>
                <a:lnTo>
                  <a:pt x="16669" y="259587"/>
                </a:lnTo>
                <a:lnTo>
                  <a:pt x="14288" y="257330"/>
                </a:lnTo>
                <a:lnTo>
                  <a:pt x="11906" y="254741"/>
                </a:lnTo>
                <a:lnTo>
                  <a:pt x="9525" y="251731"/>
                </a:lnTo>
                <a:lnTo>
                  <a:pt x="7144" y="248153"/>
                </a:lnTo>
                <a:lnTo>
                  <a:pt x="4763" y="243720"/>
                </a:lnTo>
                <a:lnTo>
                  <a:pt x="2381" y="237701"/>
                </a:lnTo>
                <a:lnTo>
                  <a:pt x="0" y="222528"/>
                </a:lnTo>
                <a:close/>
              </a:path>
            </a:pathLst>
          </a:custGeom>
          <a:solidFill>
            <a:srgbClr val="367689"/>
          </a:solidFill>
          <a:ln/>
        </p:spPr>
        <p:txBody>
          <a:bodyPr wrap="none" rtlCol="0" anchor="t"/>
          <a:lstStyle/>
          <a:p>
            <a:pPr marL="0" indent="0">
              <a:buNone/>
            </a:pPr>
            <a:endParaRPr lang="en-US" dirty="0"/>
          </a:p>
        </p:txBody>
      </p:sp>
      <p:sp>
        <p:nvSpPr>
          <p:cNvPr id="26" name="Text 21"/>
          <p:cNvSpPr/>
          <p:nvPr/>
        </p:nvSpPr>
        <p:spPr>
          <a:xfrm>
            <a:off x="534591" y="2116485"/>
            <a:ext cx="157163" cy="165646"/>
          </a:xfrm>
          <a:prstGeom prst="rect">
            <a:avLst/>
          </a:prstGeom>
          <a:noFill/>
          <a:ln/>
        </p:spPr>
        <p:txBody>
          <a:bodyPr wrap="none" lIns="0" tIns="0" rIns="0" bIns="0" rtlCol="0" anchor="ctr"/>
          <a:lstStyle/>
          <a:p>
            <a:pPr marL="0" indent="0" algn="l">
              <a:lnSpc>
                <a:spcPts val="1305"/>
              </a:lnSpc>
              <a:buNone/>
            </a:pPr>
            <a:r>
              <a:rPr lang="en-US" sz="900" dirty="0">
                <a:solidFill>
                  <a:srgbClr val="1A2A35"/>
                </a:solidFill>
                <a:latin typeface="Calibri" pitchFamily="34" charset="0"/>
                <a:ea typeface="Calibri" pitchFamily="34" charset="-122"/>
                <a:cs typeface="Calibri" pitchFamily="34" charset="-120"/>
              </a:rPr>
              <a:t>✅</a:t>
            </a:r>
            <a:endParaRPr lang="en-US" sz="900" dirty="0"/>
          </a:p>
        </p:txBody>
      </p:sp>
      <p:sp>
        <p:nvSpPr>
          <p:cNvPr id="27" name="Text 22"/>
          <p:cNvSpPr/>
          <p:nvPr/>
        </p:nvSpPr>
        <p:spPr>
          <a:xfrm>
            <a:off x="748457" y="2108895"/>
            <a:ext cx="3822159" cy="159990"/>
          </a:xfrm>
          <a:prstGeom prst="rect">
            <a:avLst/>
          </a:prstGeom>
          <a:noFill/>
          <a:ln/>
        </p:spPr>
        <p:txBody>
          <a:bodyPr wrap="none" lIns="0" tIns="0" rIns="0" bIns="0" rtlCol="0" anchor="ctr"/>
          <a:lstStyle/>
          <a:p>
            <a:pPr marL="0" indent="0" algn="l">
              <a:lnSpc>
                <a:spcPts val="1262"/>
              </a:lnSpc>
              <a:buNone/>
            </a:pPr>
            <a:r>
              <a:rPr lang="en-US" sz="870" dirty="0">
                <a:solidFill>
                  <a:srgbClr val="1A2A35"/>
                </a:solidFill>
                <a:latin typeface="Calibri" pitchFamily="34" charset="0"/>
                <a:ea typeface="Calibri" pitchFamily="34" charset="-122"/>
                <a:cs typeface="Calibri" pitchFamily="34" charset="-120"/>
              </a:rPr>
              <a:t>Grade level and developmental stage</a:t>
            </a:r>
            <a:endParaRPr lang="en-US" sz="870" dirty="0"/>
          </a:p>
        </p:txBody>
      </p:sp>
      <p:sp>
        <p:nvSpPr>
          <p:cNvPr id="28" name="Text 23"/>
          <p:cNvSpPr/>
          <p:nvPr/>
        </p:nvSpPr>
        <p:spPr>
          <a:xfrm>
            <a:off x="429220" y="2396282"/>
            <a:ext cx="3880247" cy="272058"/>
          </a:xfrm>
          <a:prstGeom prst="roundRect">
            <a:avLst>
              <a:gd name="adj" fmla="val 18206"/>
            </a:avLst>
          </a:prstGeom>
          <a:solidFill>
            <a:srgbClr val="F4F9FB"/>
          </a:solidFill>
          <a:ln/>
        </p:spPr>
        <p:txBody>
          <a:bodyPr wrap="none" rtlCol="0" anchor="t"/>
          <a:lstStyle/>
          <a:p>
            <a:pPr marL="0" indent="0">
              <a:buNone/>
            </a:pPr>
            <a:endParaRPr lang="en-US" dirty="0"/>
          </a:p>
        </p:txBody>
      </p:sp>
      <p:sp>
        <p:nvSpPr>
          <p:cNvPr id="29" name="Text 24"/>
          <p:cNvSpPr/>
          <p:nvPr/>
        </p:nvSpPr>
        <p:spPr>
          <a:xfrm>
            <a:off x="429220" y="2396282"/>
            <a:ext cx="19050" cy="272058"/>
          </a:xfrm>
          <a:custGeom>
            <a:avLst/>
            <a:gdLst/>
            <a:ahLst/>
            <a:cxnLst/>
            <a:rect l="l" t="t" r="r" b="b"/>
            <a:pathLst>
              <a:path w="19050" h="272058">
                <a:moveTo>
                  <a:pt x="0" y="49530"/>
                </a:moveTo>
                <a:lnTo>
                  <a:pt x="2381" y="34357"/>
                </a:lnTo>
                <a:lnTo>
                  <a:pt x="4763" y="28338"/>
                </a:lnTo>
                <a:lnTo>
                  <a:pt x="7144" y="23905"/>
                </a:lnTo>
                <a:lnTo>
                  <a:pt x="9525" y="20327"/>
                </a:lnTo>
                <a:lnTo>
                  <a:pt x="11906" y="17317"/>
                </a:lnTo>
                <a:lnTo>
                  <a:pt x="14288" y="14728"/>
                </a:lnTo>
                <a:lnTo>
                  <a:pt x="16669" y="12471"/>
                </a:lnTo>
                <a:lnTo>
                  <a:pt x="19050" y="10489"/>
                </a:lnTo>
                <a:lnTo>
                  <a:pt x="19050" y="261569"/>
                </a:lnTo>
                <a:lnTo>
                  <a:pt x="16669" y="259587"/>
                </a:lnTo>
                <a:lnTo>
                  <a:pt x="14288" y="257330"/>
                </a:lnTo>
                <a:lnTo>
                  <a:pt x="11906" y="254741"/>
                </a:lnTo>
                <a:lnTo>
                  <a:pt x="9525" y="251731"/>
                </a:lnTo>
                <a:lnTo>
                  <a:pt x="7144" y="248153"/>
                </a:lnTo>
                <a:lnTo>
                  <a:pt x="4763" y="243720"/>
                </a:lnTo>
                <a:lnTo>
                  <a:pt x="2381" y="237701"/>
                </a:lnTo>
                <a:lnTo>
                  <a:pt x="0" y="222528"/>
                </a:lnTo>
                <a:close/>
              </a:path>
            </a:pathLst>
          </a:custGeom>
          <a:solidFill>
            <a:srgbClr val="367689"/>
          </a:solidFill>
          <a:ln/>
        </p:spPr>
        <p:txBody>
          <a:bodyPr wrap="none" rtlCol="0" anchor="t"/>
          <a:lstStyle/>
          <a:p>
            <a:pPr marL="0" indent="0">
              <a:buNone/>
            </a:pPr>
            <a:endParaRPr lang="en-US" dirty="0"/>
          </a:p>
        </p:txBody>
      </p:sp>
      <p:sp>
        <p:nvSpPr>
          <p:cNvPr id="30" name="Text 25"/>
          <p:cNvSpPr/>
          <p:nvPr/>
        </p:nvSpPr>
        <p:spPr>
          <a:xfrm>
            <a:off x="534591" y="2453283"/>
            <a:ext cx="157163" cy="165646"/>
          </a:xfrm>
          <a:prstGeom prst="rect">
            <a:avLst/>
          </a:prstGeom>
          <a:noFill/>
          <a:ln/>
        </p:spPr>
        <p:txBody>
          <a:bodyPr wrap="none" lIns="0" tIns="0" rIns="0" bIns="0" rtlCol="0" anchor="ctr"/>
          <a:lstStyle/>
          <a:p>
            <a:pPr marL="0" indent="0" algn="l">
              <a:lnSpc>
                <a:spcPts val="1305"/>
              </a:lnSpc>
              <a:buNone/>
            </a:pPr>
            <a:r>
              <a:rPr lang="en-US" sz="900" dirty="0">
                <a:solidFill>
                  <a:srgbClr val="1A2A35"/>
                </a:solidFill>
                <a:latin typeface="Calibri" pitchFamily="34" charset="0"/>
                <a:ea typeface="Calibri" pitchFamily="34" charset="-122"/>
                <a:cs typeface="Calibri" pitchFamily="34" charset="-120"/>
              </a:rPr>
              <a:t>✅</a:t>
            </a:r>
            <a:endParaRPr lang="en-US" sz="900" dirty="0"/>
          </a:p>
        </p:txBody>
      </p:sp>
      <p:sp>
        <p:nvSpPr>
          <p:cNvPr id="31" name="Text 26"/>
          <p:cNvSpPr/>
          <p:nvPr/>
        </p:nvSpPr>
        <p:spPr>
          <a:xfrm>
            <a:off x="748457" y="2445693"/>
            <a:ext cx="3822159" cy="159990"/>
          </a:xfrm>
          <a:prstGeom prst="rect">
            <a:avLst/>
          </a:prstGeom>
          <a:noFill/>
          <a:ln/>
        </p:spPr>
        <p:txBody>
          <a:bodyPr wrap="none" lIns="0" tIns="0" rIns="0" bIns="0" rtlCol="0" anchor="ctr"/>
          <a:lstStyle/>
          <a:p>
            <a:pPr marL="0" indent="0" algn="l">
              <a:lnSpc>
                <a:spcPts val="1262"/>
              </a:lnSpc>
              <a:buNone/>
            </a:pPr>
            <a:r>
              <a:rPr lang="en-US" sz="870" dirty="0">
                <a:solidFill>
                  <a:srgbClr val="1A2A35"/>
                </a:solidFill>
                <a:latin typeface="Calibri" pitchFamily="34" charset="0"/>
                <a:ea typeface="Calibri" pitchFamily="34" charset="-122"/>
                <a:cs typeface="Calibri" pitchFamily="34" charset="-120"/>
              </a:rPr>
              <a:t>In-person or virtual format</a:t>
            </a:r>
            <a:endParaRPr lang="en-US" sz="870" dirty="0"/>
          </a:p>
        </p:txBody>
      </p:sp>
      <p:sp>
        <p:nvSpPr>
          <p:cNvPr id="32" name="Text 27"/>
          <p:cNvSpPr/>
          <p:nvPr/>
        </p:nvSpPr>
        <p:spPr>
          <a:xfrm>
            <a:off x="429220" y="2733080"/>
            <a:ext cx="3880247" cy="272058"/>
          </a:xfrm>
          <a:prstGeom prst="roundRect">
            <a:avLst>
              <a:gd name="adj" fmla="val 18206"/>
            </a:avLst>
          </a:prstGeom>
          <a:solidFill>
            <a:srgbClr val="F4F9FB"/>
          </a:solidFill>
          <a:ln/>
        </p:spPr>
        <p:txBody>
          <a:bodyPr wrap="none" rtlCol="0" anchor="t"/>
          <a:lstStyle/>
          <a:p>
            <a:pPr marL="0" indent="0">
              <a:buNone/>
            </a:pPr>
            <a:endParaRPr lang="en-US" dirty="0"/>
          </a:p>
        </p:txBody>
      </p:sp>
      <p:sp>
        <p:nvSpPr>
          <p:cNvPr id="33" name="Text 28"/>
          <p:cNvSpPr/>
          <p:nvPr/>
        </p:nvSpPr>
        <p:spPr>
          <a:xfrm>
            <a:off x="429220" y="2733080"/>
            <a:ext cx="19050" cy="272058"/>
          </a:xfrm>
          <a:custGeom>
            <a:avLst/>
            <a:gdLst/>
            <a:ahLst/>
            <a:cxnLst/>
            <a:rect l="l" t="t" r="r" b="b"/>
            <a:pathLst>
              <a:path w="19050" h="272058">
                <a:moveTo>
                  <a:pt x="0" y="49530"/>
                </a:moveTo>
                <a:lnTo>
                  <a:pt x="2381" y="34357"/>
                </a:lnTo>
                <a:lnTo>
                  <a:pt x="4763" y="28338"/>
                </a:lnTo>
                <a:lnTo>
                  <a:pt x="7144" y="23905"/>
                </a:lnTo>
                <a:lnTo>
                  <a:pt x="9525" y="20327"/>
                </a:lnTo>
                <a:lnTo>
                  <a:pt x="11906" y="17317"/>
                </a:lnTo>
                <a:lnTo>
                  <a:pt x="14288" y="14728"/>
                </a:lnTo>
                <a:lnTo>
                  <a:pt x="16669" y="12471"/>
                </a:lnTo>
                <a:lnTo>
                  <a:pt x="19050" y="10489"/>
                </a:lnTo>
                <a:lnTo>
                  <a:pt x="19050" y="261569"/>
                </a:lnTo>
                <a:lnTo>
                  <a:pt x="16669" y="259587"/>
                </a:lnTo>
                <a:lnTo>
                  <a:pt x="14288" y="257330"/>
                </a:lnTo>
                <a:lnTo>
                  <a:pt x="11906" y="254741"/>
                </a:lnTo>
                <a:lnTo>
                  <a:pt x="9525" y="251731"/>
                </a:lnTo>
                <a:lnTo>
                  <a:pt x="7144" y="248153"/>
                </a:lnTo>
                <a:lnTo>
                  <a:pt x="4763" y="243720"/>
                </a:lnTo>
                <a:lnTo>
                  <a:pt x="2381" y="237701"/>
                </a:lnTo>
                <a:lnTo>
                  <a:pt x="0" y="222528"/>
                </a:lnTo>
                <a:close/>
              </a:path>
            </a:pathLst>
          </a:custGeom>
          <a:solidFill>
            <a:srgbClr val="367689"/>
          </a:solidFill>
          <a:ln/>
        </p:spPr>
        <p:txBody>
          <a:bodyPr wrap="none" rtlCol="0" anchor="t"/>
          <a:lstStyle/>
          <a:p>
            <a:pPr marL="0" indent="0">
              <a:buNone/>
            </a:pPr>
            <a:endParaRPr lang="en-US" dirty="0"/>
          </a:p>
        </p:txBody>
      </p:sp>
      <p:sp>
        <p:nvSpPr>
          <p:cNvPr id="34" name="Text 29"/>
          <p:cNvSpPr/>
          <p:nvPr/>
        </p:nvSpPr>
        <p:spPr>
          <a:xfrm>
            <a:off x="534591" y="2790081"/>
            <a:ext cx="157163" cy="165646"/>
          </a:xfrm>
          <a:prstGeom prst="rect">
            <a:avLst/>
          </a:prstGeom>
          <a:noFill/>
          <a:ln/>
        </p:spPr>
        <p:txBody>
          <a:bodyPr wrap="none" lIns="0" tIns="0" rIns="0" bIns="0" rtlCol="0" anchor="ctr"/>
          <a:lstStyle/>
          <a:p>
            <a:pPr marL="0" indent="0" algn="l">
              <a:lnSpc>
                <a:spcPts val="1305"/>
              </a:lnSpc>
              <a:buNone/>
            </a:pPr>
            <a:r>
              <a:rPr lang="en-US" sz="900" dirty="0">
                <a:solidFill>
                  <a:srgbClr val="1A2A35"/>
                </a:solidFill>
                <a:latin typeface="Calibri" pitchFamily="34" charset="0"/>
                <a:ea typeface="Calibri" pitchFamily="34" charset="-122"/>
                <a:cs typeface="Calibri" pitchFamily="34" charset="-120"/>
              </a:rPr>
              <a:t>✅</a:t>
            </a:r>
            <a:endParaRPr lang="en-US" sz="900" dirty="0"/>
          </a:p>
        </p:txBody>
      </p:sp>
      <p:sp>
        <p:nvSpPr>
          <p:cNvPr id="35" name="Text 30"/>
          <p:cNvSpPr/>
          <p:nvPr/>
        </p:nvSpPr>
        <p:spPr>
          <a:xfrm>
            <a:off x="748457" y="2782491"/>
            <a:ext cx="3822159" cy="159990"/>
          </a:xfrm>
          <a:prstGeom prst="rect">
            <a:avLst/>
          </a:prstGeom>
          <a:noFill/>
          <a:ln/>
        </p:spPr>
        <p:txBody>
          <a:bodyPr wrap="none" lIns="0" tIns="0" rIns="0" bIns="0" rtlCol="0" anchor="ctr"/>
          <a:lstStyle/>
          <a:p>
            <a:pPr marL="0" indent="0" algn="l">
              <a:lnSpc>
                <a:spcPts val="1262"/>
              </a:lnSpc>
              <a:buNone/>
            </a:pPr>
            <a:r>
              <a:rPr lang="en-US" sz="870" dirty="0">
                <a:solidFill>
                  <a:srgbClr val="1A2A35"/>
                </a:solidFill>
                <a:latin typeface="Calibri" pitchFamily="34" charset="0"/>
                <a:ea typeface="Calibri" pitchFamily="34" charset="-122"/>
                <a:cs typeface="Calibri" pitchFamily="34" charset="-120"/>
              </a:rPr>
              <a:t>Special materials or equipment needed</a:t>
            </a:r>
            <a:endParaRPr lang="en-US" sz="870" dirty="0"/>
          </a:p>
        </p:txBody>
      </p:sp>
      <p:sp>
        <p:nvSpPr>
          <p:cNvPr id="36" name="Text 31"/>
          <p:cNvSpPr/>
          <p:nvPr/>
        </p:nvSpPr>
        <p:spPr>
          <a:xfrm>
            <a:off x="4834533" y="686098"/>
            <a:ext cx="3957852" cy="262682"/>
          </a:xfrm>
          <a:prstGeom prst="rect">
            <a:avLst/>
          </a:prstGeom>
          <a:noFill/>
          <a:ln/>
        </p:spPr>
        <p:txBody>
          <a:bodyPr wrap="none" lIns="153293" tIns="0" rIns="0" bIns="49530" rtlCol="0" anchor="ctr"/>
          <a:lstStyle/>
          <a:p>
            <a:pPr marL="0" indent="0" algn="l">
              <a:buNone/>
            </a:pPr>
            <a:r>
              <a:rPr lang="en-US" sz="1070" b="1" kern="0" spc="11" dirty="0">
                <a:solidFill>
                  <a:srgbClr val="55A49C"/>
                </a:solidFill>
                <a:latin typeface="Calibri" pitchFamily="34" charset="0"/>
                <a:ea typeface="Calibri" pitchFamily="34" charset="-122"/>
                <a:cs typeface="Calibri" pitchFamily="34" charset="-120"/>
              </a:rPr>
              <a:t>Logistics Decisions</a:t>
            </a:r>
            <a:endParaRPr lang="en-US" sz="1070" dirty="0"/>
          </a:p>
        </p:txBody>
      </p:sp>
      <p:sp>
        <p:nvSpPr>
          <p:cNvPr id="37" name="Text 32"/>
          <p:cNvSpPr/>
          <p:nvPr/>
        </p:nvSpPr>
        <p:spPr>
          <a:xfrm>
            <a:off x="4834533" y="939254"/>
            <a:ext cx="3880247" cy="9525"/>
          </a:xfrm>
          <a:prstGeom prst="rect">
            <a:avLst/>
          </a:prstGeom>
          <a:solidFill>
            <a:srgbClr val="55A49C"/>
          </a:solidFill>
          <a:ln/>
        </p:spPr>
        <p:txBody>
          <a:bodyPr wrap="none" rtlCol="0" anchor="t"/>
          <a:lstStyle/>
          <a:p>
            <a:pPr marL="0" indent="0">
              <a:buNone/>
            </a:pPr>
            <a:endParaRPr lang="en-US" dirty="0"/>
          </a:p>
        </p:txBody>
      </p:sp>
      <p:pic>
        <p:nvPicPr>
          <p:cNvPr id="38"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816310" y="721602"/>
            <a:ext cx="132588" cy="132588"/>
          </a:xfrm>
          <a:prstGeom prst="rect">
            <a:avLst/>
          </a:prstGeom>
        </p:spPr>
      </p:pic>
      <p:sp>
        <p:nvSpPr>
          <p:cNvPr id="39" name="Text 33"/>
          <p:cNvSpPr/>
          <p:nvPr/>
        </p:nvSpPr>
        <p:spPr>
          <a:xfrm>
            <a:off x="4834533" y="1049089"/>
            <a:ext cx="3880247" cy="272058"/>
          </a:xfrm>
          <a:prstGeom prst="roundRect">
            <a:avLst>
              <a:gd name="adj" fmla="val 18206"/>
            </a:avLst>
          </a:prstGeom>
          <a:solidFill>
            <a:srgbClr val="F2FAF9"/>
          </a:solidFill>
          <a:ln/>
        </p:spPr>
        <p:txBody>
          <a:bodyPr wrap="none" rtlCol="0" anchor="t"/>
          <a:lstStyle/>
          <a:p>
            <a:pPr marL="0" indent="0">
              <a:buNone/>
            </a:pPr>
            <a:endParaRPr lang="en-US" dirty="0"/>
          </a:p>
        </p:txBody>
      </p:sp>
      <p:sp>
        <p:nvSpPr>
          <p:cNvPr id="40" name="Text 34"/>
          <p:cNvSpPr/>
          <p:nvPr/>
        </p:nvSpPr>
        <p:spPr>
          <a:xfrm>
            <a:off x="4834533" y="1049089"/>
            <a:ext cx="19050" cy="272058"/>
          </a:xfrm>
          <a:custGeom>
            <a:avLst/>
            <a:gdLst/>
            <a:ahLst/>
            <a:cxnLst/>
            <a:rect l="l" t="t" r="r" b="b"/>
            <a:pathLst>
              <a:path w="19050" h="272058">
                <a:moveTo>
                  <a:pt x="0" y="49530"/>
                </a:moveTo>
                <a:lnTo>
                  <a:pt x="2381" y="34357"/>
                </a:lnTo>
                <a:lnTo>
                  <a:pt x="4763" y="28338"/>
                </a:lnTo>
                <a:lnTo>
                  <a:pt x="7144" y="23905"/>
                </a:lnTo>
                <a:lnTo>
                  <a:pt x="9525" y="20327"/>
                </a:lnTo>
                <a:lnTo>
                  <a:pt x="11906" y="17317"/>
                </a:lnTo>
                <a:lnTo>
                  <a:pt x="14288" y="14728"/>
                </a:lnTo>
                <a:lnTo>
                  <a:pt x="16669" y="12471"/>
                </a:lnTo>
                <a:lnTo>
                  <a:pt x="19050" y="10489"/>
                </a:lnTo>
                <a:lnTo>
                  <a:pt x="19050" y="261569"/>
                </a:lnTo>
                <a:lnTo>
                  <a:pt x="16669" y="259587"/>
                </a:lnTo>
                <a:lnTo>
                  <a:pt x="14288" y="257330"/>
                </a:lnTo>
                <a:lnTo>
                  <a:pt x="11906" y="254741"/>
                </a:lnTo>
                <a:lnTo>
                  <a:pt x="9525" y="251731"/>
                </a:lnTo>
                <a:lnTo>
                  <a:pt x="7144" y="248153"/>
                </a:lnTo>
                <a:lnTo>
                  <a:pt x="4763" y="243720"/>
                </a:lnTo>
                <a:lnTo>
                  <a:pt x="2381" y="237701"/>
                </a:lnTo>
                <a:lnTo>
                  <a:pt x="0" y="222528"/>
                </a:lnTo>
                <a:close/>
              </a:path>
            </a:pathLst>
          </a:custGeom>
          <a:solidFill>
            <a:srgbClr val="55A49C"/>
          </a:solidFill>
          <a:ln/>
        </p:spPr>
        <p:txBody>
          <a:bodyPr wrap="none" rtlCol="0" anchor="t"/>
          <a:lstStyle/>
          <a:p>
            <a:pPr marL="0" indent="0">
              <a:buNone/>
            </a:pPr>
            <a:endParaRPr lang="en-US" dirty="0"/>
          </a:p>
        </p:txBody>
      </p:sp>
      <p:sp>
        <p:nvSpPr>
          <p:cNvPr id="41" name="Text 35"/>
          <p:cNvSpPr/>
          <p:nvPr/>
        </p:nvSpPr>
        <p:spPr>
          <a:xfrm>
            <a:off x="4939903" y="1106091"/>
            <a:ext cx="157163" cy="165646"/>
          </a:xfrm>
          <a:prstGeom prst="rect">
            <a:avLst/>
          </a:prstGeom>
          <a:noFill/>
          <a:ln/>
        </p:spPr>
        <p:txBody>
          <a:bodyPr wrap="none" lIns="0" tIns="0" rIns="0" bIns="0" rtlCol="0" anchor="ctr"/>
          <a:lstStyle/>
          <a:p>
            <a:pPr marL="0" indent="0" algn="l">
              <a:lnSpc>
                <a:spcPts val="1305"/>
              </a:lnSpc>
              <a:buNone/>
            </a:pPr>
            <a:r>
              <a:rPr lang="en-US" sz="900" dirty="0">
                <a:solidFill>
                  <a:srgbClr val="1A2A35"/>
                </a:solidFill>
                <a:latin typeface="Calibri" pitchFamily="34" charset="0"/>
                <a:ea typeface="Calibri" pitchFamily="34" charset="-122"/>
                <a:cs typeface="Calibri" pitchFamily="34" charset="-120"/>
              </a:rPr>
              <a:t>📅</a:t>
            </a:r>
            <a:endParaRPr lang="en-US" sz="900" dirty="0"/>
          </a:p>
        </p:txBody>
      </p:sp>
      <p:sp>
        <p:nvSpPr>
          <p:cNvPr id="42" name="Text 36"/>
          <p:cNvSpPr/>
          <p:nvPr/>
        </p:nvSpPr>
        <p:spPr>
          <a:xfrm>
            <a:off x="5153769" y="1098500"/>
            <a:ext cx="3822159" cy="159990"/>
          </a:xfrm>
          <a:prstGeom prst="rect">
            <a:avLst/>
          </a:prstGeom>
          <a:noFill/>
          <a:ln/>
        </p:spPr>
        <p:txBody>
          <a:bodyPr wrap="none" lIns="0" tIns="0" rIns="0" bIns="0" rtlCol="0" anchor="ctr"/>
          <a:lstStyle/>
          <a:p>
            <a:pPr marL="0" indent="0" algn="l">
              <a:lnSpc>
                <a:spcPts val="1262"/>
              </a:lnSpc>
              <a:buNone/>
            </a:pPr>
            <a:r>
              <a:rPr lang="en-US" sz="870" dirty="0">
                <a:solidFill>
                  <a:srgbClr val="1A2A35"/>
                </a:solidFill>
                <a:latin typeface="Calibri" pitchFamily="34" charset="0"/>
                <a:ea typeface="Calibri" pitchFamily="34" charset="-122"/>
                <a:cs typeface="Calibri" pitchFamily="34" charset="-120"/>
              </a:rPr>
              <a:t>Day and time — minimize instructional disruption</a:t>
            </a:r>
            <a:endParaRPr lang="en-US" sz="870" dirty="0"/>
          </a:p>
        </p:txBody>
      </p:sp>
      <p:sp>
        <p:nvSpPr>
          <p:cNvPr id="43" name="Text 37"/>
          <p:cNvSpPr/>
          <p:nvPr/>
        </p:nvSpPr>
        <p:spPr>
          <a:xfrm>
            <a:off x="4834533" y="1385888"/>
            <a:ext cx="3880247" cy="272058"/>
          </a:xfrm>
          <a:prstGeom prst="roundRect">
            <a:avLst>
              <a:gd name="adj" fmla="val 18206"/>
            </a:avLst>
          </a:prstGeom>
          <a:solidFill>
            <a:srgbClr val="F2FAF9"/>
          </a:solidFill>
          <a:ln/>
        </p:spPr>
        <p:txBody>
          <a:bodyPr wrap="none" rtlCol="0" anchor="t"/>
          <a:lstStyle/>
          <a:p>
            <a:pPr marL="0" indent="0">
              <a:buNone/>
            </a:pPr>
            <a:endParaRPr lang="en-US" dirty="0"/>
          </a:p>
        </p:txBody>
      </p:sp>
      <p:sp>
        <p:nvSpPr>
          <p:cNvPr id="44" name="Text 38"/>
          <p:cNvSpPr/>
          <p:nvPr/>
        </p:nvSpPr>
        <p:spPr>
          <a:xfrm>
            <a:off x="4834533" y="1385888"/>
            <a:ext cx="19050" cy="272058"/>
          </a:xfrm>
          <a:custGeom>
            <a:avLst/>
            <a:gdLst/>
            <a:ahLst/>
            <a:cxnLst/>
            <a:rect l="l" t="t" r="r" b="b"/>
            <a:pathLst>
              <a:path w="19050" h="272058">
                <a:moveTo>
                  <a:pt x="0" y="49530"/>
                </a:moveTo>
                <a:lnTo>
                  <a:pt x="2381" y="34357"/>
                </a:lnTo>
                <a:lnTo>
                  <a:pt x="4763" y="28338"/>
                </a:lnTo>
                <a:lnTo>
                  <a:pt x="7144" y="23905"/>
                </a:lnTo>
                <a:lnTo>
                  <a:pt x="9525" y="20327"/>
                </a:lnTo>
                <a:lnTo>
                  <a:pt x="11906" y="17317"/>
                </a:lnTo>
                <a:lnTo>
                  <a:pt x="14288" y="14728"/>
                </a:lnTo>
                <a:lnTo>
                  <a:pt x="16669" y="12471"/>
                </a:lnTo>
                <a:lnTo>
                  <a:pt x="19050" y="10489"/>
                </a:lnTo>
                <a:lnTo>
                  <a:pt x="19050" y="261569"/>
                </a:lnTo>
                <a:lnTo>
                  <a:pt x="16669" y="259587"/>
                </a:lnTo>
                <a:lnTo>
                  <a:pt x="14288" y="257330"/>
                </a:lnTo>
                <a:lnTo>
                  <a:pt x="11906" y="254741"/>
                </a:lnTo>
                <a:lnTo>
                  <a:pt x="9525" y="251731"/>
                </a:lnTo>
                <a:lnTo>
                  <a:pt x="7144" y="248153"/>
                </a:lnTo>
                <a:lnTo>
                  <a:pt x="4763" y="243720"/>
                </a:lnTo>
                <a:lnTo>
                  <a:pt x="2381" y="237701"/>
                </a:lnTo>
                <a:lnTo>
                  <a:pt x="0" y="222528"/>
                </a:lnTo>
                <a:close/>
              </a:path>
            </a:pathLst>
          </a:custGeom>
          <a:solidFill>
            <a:srgbClr val="55A49C"/>
          </a:solidFill>
          <a:ln/>
        </p:spPr>
        <p:txBody>
          <a:bodyPr wrap="none" rtlCol="0" anchor="t"/>
          <a:lstStyle/>
          <a:p>
            <a:pPr marL="0" indent="0">
              <a:buNone/>
            </a:pPr>
            <a:endParaRPr lang="en-US" dirty="0"/>
          </a:p>
        </p:txBody>
      </p:sp>
      <p:sp>
        <p:nvSpPr>
          <p:cNvPr id="45" name="Text 39"/>
          <p:cNvSpPr/>
          <p:nvPr/>
        </p:nvSpPr>
        <p:spPr>
          <a:xfrm>
            <a:off x="4939903" y="1442889"/>
            <a:ext cx="157163" cy="165646"/>
          </a:xfrm>
          <a:prstGeom prst="rect">
            <a:avLst/>
          </a:prstGeom>
          <a:noFill/>
          <a:ln/>
        </p:spPr>
        <p:txBody>
          <a:bodyPr wrap="none" lIns="0" tIns="0" rIns="0" bIns="0" rtlCol="0" anchor="ctr"/>
          <a:lstStyle/>
          <a:p>
            <a:pPr marL="0" indent="0" algn="l">
              <a:lnSpc>
                <a:spcPts val="1305"/>
              </a:lnSpc>
              <a:buNone/>
            </a:pPr>
            <a:r>
              <a:rPr lang="en-US" sz="900" dirty="0">
                <a:solidFill>
                  <a:srgbClr val="1A2A35"/>
                </a:solidFill>
                <a:latin typeface="Calibri" pitchFamily="34" charset="0"/>
                <a:ea typeface="Calibri" pitchFamily="34" charset="-122"/>
                <a:cs typeface="Calibri" pitchFamily="34" charset="-120"/>
              </a:rPr>
              <a:t>📍</a:t>
            </a:r>
            <a:endParaRPr lang="en-US" sz="900" dirty="0"/>
          </a:p>
        </p:txBody>
      </p:sp>
      <p:sp>
        <p:nvSpPr>
          <p:cNvPr id="46" name="Text 40"/>
          <p:cNvSpPr/>
          <p:nvPr/>
        </p:nvSpPr>
        <p:spPr>
          <a:xfrm>
            <a:off x="5153769" y="1435298"/>
            <a:ext cx="3822159" cy="159990"/>
          </a:xfrm>
          <a:prstGeom prst="rect">
            <a:avLst/>
          </a:prstGeom>
          <a:noFill/>
          <a:ln/>
        </p:spPr>
        <p:txBody>
          <a:bodyPr wrap="none" lIns="0" tIns="0" rIns="0" bIns="0" rtlCol="0" anchor="ctr"/>
          <a:lstStyle/>
          <a:p>
            <a:pPr marL="0" indent="0" algn="l">
              <a:lnSpc>
                <a:spcPts val="1262"/>
              </a:lnSpc>
              <a:buNone/>
            </a:pPr>
            <a:r>
              <a:rPr lang="en-US" sz="870" dirty="0">
                <a:solidFill>
                  <a:srgbClr val="1A2A35"/>
                </a:solidFill>
                <a:latin typeface="Calibri" pitchFamily="34" charset="0"/>
                <a:ea typeface="Calibri" pitchFamily="34" charset="-122"/>
                <a:cs typeface="Calibri" pitchFamily="34" charset="-120"/>
              </a:rPr>
              <a:t>Location — private, consistent, accessible</a:t>
            </a:r>
            <a:endParaRPr lang="en-US" sz="870" dirty="0"/>
          </a:p>
        </p:txBody>
      </p:sp>
      <p:sp>
        <p:nvSpPr>
          <p:cNvPr id="47" name="Text 41"/>
          <p:cNvSpPr/>
          <p:nvPr/>
        </p:nvSpPr>
        <p:spPr>
          <a:xfrm>
            <a:off x="4834533" y="1722686"/>
            <a:ext cx="3880247" cy="272058"/>
          </a:xfrm>
          <a:prstGeom prst="roundRect">
            <a:avLst>
              <a:gd name="adj" fmla="val 18206"/>
            </a:avLst>
          </a:prstGeom>
          <a:solidFill>
            <a:srgbClr val="F2FAF9"/>
          </a:solidFill>
          <a:ln/>
        </p:spPr>
        <p:txBody>
          <a:bodyPr wrap="none" rtlCol="0" anchor="t"/>
          <a:lstStyle/>
          <a:p>
            <a:pPr marL="0" indent="0">
              <a:buNone/>
            </a:pPr>
            <a:endParaRPr lang="en-US" dirty="0"/>
          </a:p>
        </p:txBody>
      </p:sp>
      <p:sp>
        <p:nvSpPr>
          <p:cNvPr id="48" name="Text 42"/>
          <p:cNvSpPr/>
          <p:nvPr/>
        </p:nvSpPr>
        <p:spPr>
          <a:xfrm>
            <a:off x="4834533" y="1722686"/>
            <a:ext cx="19050" cy="272058"/>
          </a:xfrm>
          <a:custGeom>
            <a:avLst/>
            <a:gdLst/>
            <a:ahLst/>
            <a:cxnLst/>
            <a:rect l="l" t="t" r="r" b="b"/>
            <a:pathLst>
              <a:path w="19050" h="272058">
                <a:moveTo>
                  <a:pt x="0" y="49530"/>
                </a:moveTo>
                <a:lnTo>
                  <a:pt x="2381" y="34357"/>
                </a:lnTo>
                <a:lnTo>
                  <a:pt x="4763" y="28338"/>
                </a:lnTo>
                <a:lnTo>
                  <a:pt x="7144" y="23905"/>
                </a:lnTo>
                <a:lnTo>
                  <a:pt x="9525" y="20327"/>
                </a:lnTo>
                <a:lnTo>
                  <a:pt x="11906" y="17317"/>
                </a:lnTo>
                <a:lnTo>
                  <a:pt x="14288" y="14728"/>
                </a:lnTo>
                <a:lnTo>
                  <a:pt x="16669" y="12471"/>
                </a:lnTo>
                <a:lnTo>
                  <a:pt x="19050" y="10489"/>
                </a:lnTo>
                <a:lnTo>
                  <a:pt x="19050" y="261569"/>
                </a:lnTo>
                <a:lnTo>
                  <a:pt x="16669" y="259587"/>
                </a:lnTo>
                <a:lnTo>
                  <a:pt x="14288" y="257330"/>
                </a:lnTo>
                <a:lnTo>
                  <a:pt x="11906" y="254741"/>
                </a:lnTo>
                <a:lnTo>
                  <a:pt x="9525" y="251731"/>
                </a:lnTo>
                <a:lnTo>
                  <a:pt x="7144" y="248153"/>
                </a:lnTo>
                <a:lnTo>
                  <a:pt x="4763" y="243720"/>
                </a:lnTo>
                <a:lnTo>
                  <a:pt x="2381" y="237701"/>
                </a:lnTo>
                <a:lnTo>
                  <a:pt x="0" y="222528"/>
                </a:lnTo>
                <a:close/>
              </a:path>
            </a:pathLst>
          </a:custGeom>
          <a:solidFill>
            <a:srgbClr val="55A49C"/>
          </a:solidFill>
          <a:ln/>
        </p:spPr>
        <p:txBody>
          <a:bodyPr wrap="none" rtlCol="0" anchor="t"/>
          <a:lstStyle/>
          <a:p>
            <a:pPr marL="0" indent="0">
              <a:buNone/>
            </a:pPr>
            <a:endParaRPr lang="en-US" dirty="0"/>
          </a:p>
        </p:txBody>
      </p:sp>
      <p:sp>
        <p:nvSpPr>
          <p:cNvPr id="49" name="Text 43"/>
          <p:cNvSpPr/>
          <p:nvPr/>
        </p:nvSpPr>
        <p:spPr>
          <a:xfrm>
            <a:off x="4939903" y="1779687"/>
            <a:ext cx="157163" cy="165646"/>
          </a:xfrm>
          <a:prstGeom prst="rect">
            <a:avLst/>
          </a:prstGeom>
          <a:noFill/>
          <a:ln/>
        </p:spPr>
        <p:txBody>
          <a:bodyPr wrap="none" lIns="0" tIns="0" rIns="0" bIns="0" rtlCol="0" anchor="ctr"/>
          <a:lstStyle/>
          <a:p>
            <a:pPr marL="0" indent="0" algn="l">
              <a:lnSpc>
                <a:spcPts val="1305"/>
              </a:lnSpc>
              <a:buNone/>
            </a:pPr>
            <a:r>
              <a:rPr lang="en-US" sz="900" dirty="0">
                <a:solidFill>
                  <a:srgbClr val="1A2A35"/>
                </a:solidFill>
                <a:latin typeface="Calibri" pitchFamily="34" charset="0"/>
                <a:ea typeface="Calibri" pitchFamily="34" charset="-122"/>
                <a:cs typeface="Calibri" pitchFamily="34" charset="-120"/>
              </a:rPr>
              <a:t>🚶</a:t>
            </a:r>
            <a:endParaRPr lang="en-US" sz="900" dirty="0"/>
          </a:p>
        </p:txBody>
      </p:sp>
      <p:sp>
        <p:nvSpPr>
          <p:cNvPr id="50" name="Text 44"/>
          <p:cNvSpPr/>
          <p:nvPr/>
        </p:nvSpPr>
        <p:spPr>
          <a:xfrm>
            <a:off x="5153769" y="1772096"/>
            <a:ext cx="3822159" cy="159990"/>
          </a:xfrm>
          <a:prstGeom prst="rect">
            <a:avLst/>
          </a:prstGeom>
          <a:noFill/>
          <a:ln/>
        </p:spPr>
        <p:txBody>
          <a:bodyPr wrap="none" lIns="0" tIns="0" rIns="0" bIns="0" rtlCol="0" anchor="ctr"/>
          <a:lstStyle/>
          <a:p>
            <a:pPr marL="0" indent="0" algn="l">
              <a:lnSpc>
                <a:spcPts val="1262"/>
              </a:lnSpc>
              <a:buNone/>
            </a:pPr>
            <a:r>
              <a:rPr lang="en-US" sz="870" dirty="0">
                <a:solidFill>
                  <a:srgbClr val="1A2A35"/>
                </a:solidFill>
                <a:latin typeface="Calibri" pitchFamily="34" charset="0"/>
                <a:ea typeface="Calibri" pitchFamily="34" charset="-122"/>
                <a:cs typeface="Calibri" pitchFamily="34" charset="-120"/>
              </a:rPr>
              <a:t>Student pickup and return-to-class process</a:t>
            </a:r>
            <a:endParaRPr lang="en-US" sz="870" dirty="0"/>
          </a:p>
        </p:txBody>
      </p:sp>
      <p:sp>
        <p:nvSpPr>
          <p:cNvPr id="51" name="Text 45"/>
          <p:cNvSpPr/>
          <p:nvPr/>
        </p:nvSpPr>
        <p:spPr>
          <a:xfrm>
            <a:off x="4834533" y="2059484"/>
            <a:ext cx="3880247" cy="272058"/>
          </a:xfrm>
          <a:prstGeom prst="roundRect">
            <a:avLst>
              <a:gd name="adj" fmla="val 18206"/>
            </a:avLst>
          </a:prstGeom>
          <a:solidFill>
            <a:srgbClr val="F2FAF9"/>
          </a:solidFill>
          <a:ln/>
        </p:spPr>
        <p:txBody>
          <a:bodyPr wrap="none" rtlCol="0" anchor="t"/>
          <a:lstStyle/>
          <a:p>
            <a:pPr marL="0" indent="0">
              <a:buNone/>
            </a:pPr>
            <a:endParaRPr lang="en-US" dirty="0"/>
          </a:p>
        </p:txBody>
      </p:sp>
      <p:sp>
        <p:nvSpPr>
          <p:cNvPr id="52" name="Text 46"/>
          <p:cNvSpPr/>
          <p:nvPr/>
        </p:nvSpPr>
        <p:spPr>
          <a:xfrm>
            <a:off x="4834533" y="2059484"/>
            <a:ext cx="19050" cy="272058"/>
          </a:xfrm>
          <a:custGeom>
            <a:avLst/>
            <a:gdLst/>
            <a:ahLst/>
            <a:cxnLst/>
            <a:rect l="l" t="t" r="r" b="b"/>
            <a:pathLst>
              <a:path w="19050" h="272058">
                <a:moveTo>
                  <a:pt x="0" y="49530"/>
                </a:moveTo>
                <a:lnTo>
                  <a:pt x="2381" y="34357"/>
                </a:lnTo>
                <a:lnTo>
                  <a:pt x="4763" y="28338"/>
                </a:lnTo>
                <a:lnTo>
                  <a:pt x="7144" y="23905"/>
                </a:lnTo>
                <a:lnTo>
                  <a:pt x="9525" y="20327"/>
                </a:lnTo>
                <a:lnTo>
                  <a:pt x="11906" y="17317"/>
                </a:lnTo>
                <a:lnTo>
                  <a:pt x="14288" y="14728"/>
                </a:lnTo>
                <a:lnTo>
                  <a:pt x="16669" y="12471"/>
                </a:lnTo>
                <a:lnTo>
                  <a:pt x="19050" y="10489"/>
                </a:lnTo>
                <a:lnTo>
                  <a:pt x="19050" y="261569"/>
                </a:lnTo>
                <a:lnTo>
                  <a:pt x="16669" y="259587"/>
                </a:lnTo>
                <a:lnTo>
                  <a:pt x="14288" y="257330"/>
                </a:lnTo>
                <a:lnTo>
                  <a:pt x="11906" y="254741"/>
                </a:lnTo>
                <a:lnTo>
                  <a:pt x="9525" y="251731"/>
                </a:lnTo>
                <a:lnTo>
                  <a:pt x="7144" y="248153"/>
                </a:lnTo>
                <a:lnTo>
                  <a:pt x="4763" y="243720"/>
                </a:lnTo>
                <a:lnTo>
                  <a:pt x="2381" y="237701"/>
                </a:lnTo>
                <a:lnTo>
                  <a:pt x="0" y="222528"/>
                </a:lnTo>
                <a:close/>
              </a:path>
            </a:pathLst>
          </a:custGeom>
          <a:solidFill>
            <a:srgbClr val="55A49C"/>
          </a:solidFill>
          <a:ln/>
        </p:spPr>
        <p:txBody>
          <a:bodyPr wrap="none" rtlCol="0" anchor="t"/>
          <a:lstStyle/>
          <a:p>
            <a:pPr marL="0" indent="0">
              <a:buNone/>
            </a:pPr>
            <a:endParaRPr lang="en-US" dirty="0"/>
          </a:p>
        </p:txBody>
      </p:sp>
      <p:sp>
        <p:nvSpPr>
          <p:cNvPr id="53" name="Text 47"/>
          <p:cNvSpPr/>
          <p:nvPr/>
        </p:nvSpPr>
        <p:spPr>
          <a:xfrm>
            <a:off x="4939903" y="2116485"/>
            <a:ext cx="157163" cy="165646"/>
          </a:xfrm>
          <a:prstGeom prst="rect">
            <a:avLst/>
          </a:prstGeom>
          <a:noFill/>
          <a:ln/>
        </p:spPr>
        <p:txBody>
          <a:bodyPr wrap="none" lIns="0" tIns="0" rIns="0" bIns="0" rtlCol="0" anchor="ctr"/>
          <a:lstStyle/>
          <a:p>
            <a:pPr marL="0" indent="0" algn="l">
              <a:lnSpc>
                <a:spcPts val="1305"/>
              </a:lnSpc>
              <a:buNone/>
            </a:pPr>
            <a:r>
              <a:rPr lang="en-US" sz="900" dirty="0">
                <a:solidFill>
                  <a:srgbClr val="1A2A35"/>
                </a:solidFill>
                <a:latin typeface="Calibri" pitchFamily="34" charset="0"/>
                <a:ea typeface="Calibri" pitchFamily="34" charset="-122"/>
                <a:cs typeface="Calibri" pitchFamily="34" charset="-120"/>
              </a:rPr>
              <a:t>📋</a:t>
            </a:r>
            <a:endParaRPr lang="en-US" sz="900" dirty="0"/>
          </a:p>
        </p:txBody>
      </p:sp>
      <p:sp>
        <p:nvSpPr>
          <p:cNvPr id="54" name="Text 48"/>
          <p:cNvSpPr/>
          <p:nvPr/>
        </p:nvSpPr>
        <p:spPr>
          <a:xfrm>
            <a:off x="5153769" y="2108895"/>
            <a:ext cx="3822159" cy="159990"/>
          </a:xfrm>
          <a:prstGeom prst="rect">
            <a:avLst/>
          </a:prstGeom>
          <a:noFill/>
          <a:ln/>
        </p:spPr>
        <p:txBody>
          <a:bodyPr wrap="none" lIns="0" tIns="0" rIns="0" bIns="0" rtlCol="0" anchor="ctr"/>
          <a:lstStyle/>
          <a:p>
            <a:pPr marL="0" indent="0" algn="l">
              <a:lnSpc>
                <a:spcPts val="1262"/>
              </a:lnSpc>
              <a:buNone/>
            </a:pPr>
            <a:r>
              <a:rPr lang="en-US" sz="870" dirty="0">
                <a:solidFill>
                  <a:srgbClr val="1A2A35"/>
                </a:solidFill>
                <a:latin typeface="Calibri" pitchFamily="34" charset="0"/>
                <a:ea typeface="Calibri" pitchFamily="34" charset="-122"/>
                <a:cs typeface="Calibri" pitchFamily="34" charset="-120"/>
              </a:rPr>
              <a:t>Referral and consent process completed before session 1</a:t>
            </a:r>
            <a:endParaRPr lang="en-US" sz="870" dirty="0"/>
          </a:p>
        </p:txBody>
      </p:sp>
      <p:sp>
        <p:nvSpPr>
          <p:cNvPr id="55" name="Text 49"/>
          <p:cNvSpPr/>
          <p:nvPr/>
        </p:nvSpPr>
        <p:spPr>
          <a:xfrm>
            <a:off x="4834533" y="2396282"/>
            <a:ext cx="3880247" cy="272058"/>
          </a:xfrm>
          <a:prstGeom prst="roundRect">
            <a:avLst>
              <a:gd name="adj" fmla="val 18206"/>
            </a:avLst>
          </a:prstGeom>
          <a:solidFill>
            <a:srgbClr val="F2FAF9"/>
          </a:solidFill>
          <a:ln/>
        </p:spPr>
        <p:txBody>
          <a:bodyPr wrap="none" rtlCol="0" anchor="t"/>
          <a:lstStyle/>
          <a:p>
            <a:pPr marL="0" indent="0">
              <a:buNone/>
            </a:pPr>
            <a:endParaRPr lang="en-US" dirty="0"/>
          </a:p>
        </p:txBody>
      </p:sp>
      <p:sp>
        <p:nvSpPr>
          <p:cNvPr id="56" name="Text 50"/>
          <p:cNvSpPr/>
          <p:nvPr/>
        </p:nvSpPr>
        <p:spPr>
          <a:xfrm>
            <a:off x="4834533" y="2396282"/>
            <a:ext cx="19050" cy="272058"/>
          </a:xfrm>
          <a:custGeom>
            <a:avLst/>
            <a:gdLst/>
            <a:ahLst/>
            <a:cxnLst/>
            <a:rect l="l" t="t" r="r" b="b"/>
            <a:pathLst>
              <a:path w="19050" h="272058">
                <a:moveTo>
                  <a:pt x="0" y="49530"/>
                </a:moveTo>
                <a:lnTo>
                  <a:pt x="2381" y="34357"/>
                </a:lnTo>
                <a:lnTo>
                  <a:pt x="4763" y="28338"/>
                </a:lnTo>
                <a:lnTo>
                  <a:pt x="7144" y="23905"/>
                </a:lnTo>
                <a:lnTo>
                  <a:pt x="9525" y="20327"/>
                </a:lnTo>
                <a:lnTo>
                  <a:pt x="11906" y="17317"/>
                </a:lnTo>
                <a:lnTo>
                  <a:pt x="14288" y="14728"/>
                </a:lnTo>
                <a:lnTo>
                  <a:pt x="16669" y="12471"/>
                </a:lnTo>
                <a:lnTo>
                  <a:pt x="19050" y="10489"/>
                </a:lnTo>
                <a:lnTo>
                  <a:pt x="19050" y="261569"/>
                </a:lnTo>
                <a:lnTo>
                  <a:pt x="16669" y="259587"/>
                </a:lnTo>
                <a:lnTo>
                  <a:pt x="14288" y="257330"/>
                </a:lnTo>
                <a:lnTo>
                  <a:pt x="11906" y="254741"/>
                </a:lnTo>
                <a:lnTo>
                  <a:pt x="9525" y="251731"/>
                </a:lnTo>
                <a:lnTo>
                  <a:pt x="7144" y="248153"/>
                </a:lnTo>
                <a:lnTo>
                  <a:pt x="4763" y="243720"/>
                </a:lnTo>
                <a:lnTo>
                  <a:pt x="2381" y="237701"/>
                </a:lnTo>
                <a:lnTo>
                  <a:pt x="0" y="222528"/>
                </a:lnTo>
                <a:close/>
              </a:path>
            </a:pathLst>
          </a:custGeom>
          <a:solidFill>
            <a:srgbClr val="55A49C"/>
          </a:solidFill>
          <a:ln/>
        </p:spPr>
        <p:txBody>
          <a:bodyPr wrap="none" rtlCol="0" anchor="t"/>
          <a:lstStyle/>
          <a:p>
            <a:pPr marL="0" indent="0">
              <a:buNone/>
            </a:pPr>
            <a:endParaRPr lang="en-US" dirty="0"/>
          </a:p>
        </p:txBody>
      </p:sp>
      <p:sp>
        <p:nvSpPr>
          <p:cNvPr id="57" name="Text 51"/>
          <p:cNvSpPr/>
          <p:nvPr/>
        </p:nvSpPr>
        <p:spPr>
          <a:xfrm>
            <a:off x="4939903" y="2453283"/>
            <a:ext cx="157163" cy="165646"/>
          </a:xfrm>
          <a:prstGeom prst="rect">
            <a:avLst/>
          </a:prstGeom>
          <a:noFill/>
          <a:ln/>
        </p:spPr>
        <p:txBody>
          <a:bodyPr wrap="none" lIns="0" tIns="0" rIns="0" bIns="0" rtlCol="0" anchor="ctr"/>
          <a:lstStyle/>
          <a:p>
            <a:pPr marL="0" indent="0" algn="l">
              <a:lnSpc>
                <a:spcPts val="1305"/>
              </a:lnSpc>
              <a:buNone/>
            </a:pPr>
            <a:r>
              <a:rPr lang="en-US" sz="900" dirty="0">
                <a:solidFill>
                  <a:srgbClr val="1A2A35"/>
                </a:solidFill>
                <a:latin typeface="Calibri" pitchFamily="34" charset="0"/>
                <a:ea typeface="Calibri" pitchFamily="34" charset="-122"/>
                <a:cs typeface="Calibri" pitchFamily="34" charset="-120"/>
              </a:rPr>
              <a:t>🔒</a:t>
            </a:r>
            <a:endParaRPr lang="en-US" sz="900" dirty="0"/>
          </a:p>
        </p:txBody>
      </p:sp>
      <p:sp>
        <p:nvSpPr>
          <p:cNvPr id="58" name="Text 52"/>
          <p:cNvSpPr/>
          <p:nvPr/>
        </p:nvSpPr>
        <p:spPr>
          <a:xfrm>
            <a:off x="5153769" y="2445693"/>
            <a:ext cx="3822159" cy="159990"/>
          </a:xfrm>
          <a:prstGeom prst="rect">
            <a:avLst/>
          </a:prstGeom>
          <a:noFill/>
          <a:ln/>
        </p:spPr>
        <p:txBody>
          <a:bodyPr wrap="none" lIns="0" tIns="0" rIns="0" bIns="0" rtlCol="0" anchor="ctr"/>
          <a:lstStyle/>
          <a:p>
            <a:pPr marL="0" indent="0" algn="l">
              <a:lnSpc>
                <a:spcPts val="1262"/>
              </a:lnSpc>
              <a:buNone/>
            </a:pPr>
            <a:r>
              <a:rPr lang="en-US" sz="870" dirty="0">
                <a:solidFill>
                  <a:srgbClr val="1A2A35"/>
                </a:solidFill>
                <a:latin typeface="Calibri" pitchFamily="34" charset="0"/>
                <a:ea typeface="Calibri" pitchFamily="34" charset="-122"/>
                <a:cs typeface="Calibri" pitchFamily="34" charset="-120"/>
              </a:rPr>
              <a:t>Confidentiality explanation to students in session 1</a:t>
            </a:r>
            <a:endParaRPr lang="en-US" sz="870" dirty="0"/>
          </a:p>
        </p:txBody>
      </p:sp>
      <p:sp>
        <p:nvSpPr>
          <p:cNvPr id="59" name="Text 53"/>
          <p:cNvSpPr/>
          <p:nvPr/>
        </p:nvSpPr>
        <p:spPr>
          <a:xfrm>
            <a:off x="4834533" y="2733080"/>
            <a:ext cx="3880247" cy="272058"/>
          </a:xfrm>
          <a:prstGeom prst="roundRect">
            <a:avLst>
              <a:gd name="adj" fmla="val 18206"/>
            </a:avLst>
          </a:prstGeom>
          <a:solidFill>
            <a:srgbClr val="F2FAF9"/>
          </a:solidFill>
          <a:ln/>
        </p:spPr>
        <p:txBody>
          <a:bodyPr wrap="none" rtlCol="0" anchor="t"/>
          <a:lstStyle/>
          <a:p>
            <a:pPr marL="0" indent="0">
              <a:buNone/>
            </a:pPr>
            <a:endParaRPr lang="en-US" dirty="0"/>
          </a:p>
        </p:txBody>
      </p:sp>
      <p:sp>
        <p:nvSpPr>
          <p:cNvPr id="60" name="Text 54"/>
          <p:cNvSpPr/>
          <p:nvPr/>
        </p:nvSpPr>
        <p:spPr>
          <a:xfrm>
            <a:off x="4834533" y="2733080"/>
            <a:ext cx="19050" cy="272058"/>
          </a:xfrm>
          <a:custGeom>
            <a:avLst/>
            <a:gdLst/>
            <a:ahLst/>
            <a:cxnLst/>
            <a:rect l="l" t="t" r="r" b="b"/>
            <a:pathLst>
              <a:path w="19050" h="272058">
                <a:moveTo>
                  <a:pt x="0" y="49530"/>
                </a:moveTo>
                <a:lnTo>
                  <a:pt x="2381" y="34357"/>
                </a:lnTo>
                <a:lnTo>
                  <a:pt x="4763" y="28338"/>
                </a:lnTo>
                <a:lnTo>
                  <a:pt x="7144" y="23905"/>
                </a:lnTo>
                <a:lnTo>
                  <a:pt x="9525" y="20327"/>
                </a:lnTo>
                <a:lnTo>
                  <a:pt x="11906" y="17317"/>
                </a:lnTo>
                <a:lnTo>
                  <a:pt x="14288" y="14728"/>
                </a:lnTo>
                <a:lnTo>
                  <a:pt x="16669" y="12471"/>
                </a:lnTo>
                <a:lnTo>
                  <a:pt x="19050" y="10489"/>
                </a:lnTo>
                <a:lnTo>
                  <a:pt x="19050" y="261569"/>
                </a:lnTo>
                <a:lnTo>
                  <a:pt x="16669" y="259587"/>
                </a:lnTo>
                <a:lnTo>
                  <a:pt x="14288" y="257330"/>
                </a:lnTo>
                <a:lnTo>
                  <a:pt x="11906" y="254741"/>
                </a:lnTo>
                <a:lnTo>
                  <a:pt x="9525" y="251731"/>
                </a:lnTo>
                <a:lnTo>
                  <a:pt x="7144" y="248153"/>
                </a:lnTo>
                <a:lnTo>
                  <a:pt x="4763" y="243720"/>
                </a:lnTo>
                <a:lnTo>
                  <a:pt x="2381" y="237701"/>
                </a:lnTo>
                <a:lnTo>
                  <a:pt x="0" y="222528"/>
                </a:lnTo>
                <a:close/>
              </a:path>
            </a:pathLst>
          </a:custGeom>
          <a:solidFill>
            <a:srgbClr val="55A49C"/>
          </a:solidFill>
          <a:ln/>
        </p:spPr>
        <p:txBody>
          <a:bodyPr wrap="none" rtlCol="0" anchor="t"/>
          <a:lstStyle/>
          <a:p>
            <a:pPr marL="0" indent="0">
              <a:buNone/>
            </a:pPr>
            <a:endParaRPr lang="en-US" dirty="0"/>
          </a:p>
        </p:txBody>
      </p:sp>
      <p:sp>
        <p:nvSpPr>
          <p:cNvPr id="61" name="Text 55"/>
          <p:cNvSpPr/>
          <p:nvPr/>
        </p:nvSpPr>
        <p:spPr>
          <a:xfrm>
            <a:off x="4939903" y="2790081"/>
            <a:ext cx="157163" cy="165646"/>
          </a:xfrm>
          <a:prstGeom prst="rect">
            <a:avLst/>
          </a:prstGeom>
          <a:noFill/>
          <a:ln/>
        </p:spPr>
        <p:txBody>
          <a:bodyPr wrap="none" lIns="0" tIns="0" rIns="0" bIns="0" rtlCol="0" anchor="ctr"/>
          <a:lstStyle/>
          <a:p>
            <a:pPr marL="0" indent="0" algn="l">
              <a:lnSpc>
                <a:spcPts val="1305"/>
              </a:lnSpc>
              <a:buNone/>
            </a:pPr>
            <a:r>
              <a:rPr lang="en-US" sz="900" dirty="0">
                <a:solidFill>
                  <a:srgbClr val="1A2A35"/>
                </a:solidFill>
                <a:latin typeface="Calibri" pitchFamily="34" charset="0"/>
                <a:ea typeface="Calibri" pitchFamily="34" charset="-122"/>
                <a:cs typeface="Calibri" pitchFamily="34" charset="-120"/>
              </a:rPr>
              <a:t>📣</a:t>
            </a:r>
            <a:endParaRPr lang="en-US" sz="900" dirty="0"/>
          </a:p>
        </p:txBody>
      </p:sp>
      <p:sp>
        <p:nvSpPr>
          <p:cNvPr id="62" name="Text 56"/>
          <p:cNvSpPr/>
          <p:nvPr/>
        </p:nvSpPr>
        <p:spPr>
          <a:xfrm>
            <a:off x="5153769" y="2782491"/>
            <a:ext cx="3822159" cy="159990"/>
          </a:xfrm>
          <a:prstGeom prst="rect">
            <a:avLst/>
          </a:prstGeom>
          <a:noFill/>
          <a:ln/>
        </p:spPr>
        <p:txBody>
          <a:bodyPr wrap="none" lIns="0" tIns="0" rIns="0" bIns="0" rtlCol="0" anchor="ctr"/>
          <a:lstStyle/>
          <a:p>
            <a:pPr marL="0" indent="0" algn="l">
              <a:lnSpc>
                <a:spcPts val="1262"/>
              </a:lnSpc>
              <a:buNone/>
            </a:pPr>
            <a:r>
              <a:rPr lang="en-US" sz="870" dirty="0">
                <a:solidFill>
                  <a:srgbClr val="1A2A35"/>
                </a:solidFill>
                <a:latin typeface="Calibri" pitchFamily="34" charset="0"/>
                <a:ea typeface="Calibri" pitchFamily="34" charset="-122"/>
                <a:cs typeface="Calibri" pitchFamily="34" charset="-120"/>
              </a:rPr>
              <a:t>Communication plan for teachers and school staff</a:t>
            </a:r>
            <a:endParaRPr lang="en-US" sz="870" dirty="0"/>
          </a:p>
        </p:txBody>
      </p:sp>
      <p:sp>
        <p:nvSpPr>
          <p:cNvPr id="63" name="Text 57"/>
          <p:cNvSpPr/>
          <p:nvPr/>
        </p:nvSpPr>
        <p:spPr>
          <a:xfrm>
            <a:off x="0" y="4743152"/>
            <a:ext cx="9144000" cy="400348"/>
          </a:xfrm>
          <a:prstGeom prst="rect">
            <a:avLst/>
          </a:prstGeom>
          <a:solidFill>
            <a:srgbClr val="F4B753"/>
          </a:solidFill>
          <a:ln/>
        </p:spPr>
        <p:txBody>
          <a:bodyPr wrap="square" rtlCol="0" anchor="t"/>
          <a:lstStyle/>
          <a:p>
            <a:pPr marL="0" indent="0">
              <a:buNone/>
            </a:pPr>
            <a:endParaRPr lang="en-US" dirty="0"/>
          </a:p>
        </p:txBody>
      </p:sp>
      <p:sp>
        <p:nvSpPr>
          <p:cNvPr id="64" name="Text 58"/>
          <p:cNvSpPr/>
          <p:nvPr/>
        </p:nvSpPr>
        <p:spPr>
          <a:xfrm>
            <a:off x="342900" y="4835723"/>
            <a:ext cx="199073" cy="215205"/>
          </a:xfrm>
          <a:prstGeom prst="rect">
            <a:avLst/>
          </a:prstGeom>
          <a:noFill/>
          <a:ln/>
        </p:spPr>
        <p:txBody>
          <a:bodyPr wrap="none" lIns="0" tIns="0" rIns="0" bIns="0" rtlCol="0" anchor="ctr"/>
          <a:lstStyle/>
          <a:p>
            <a:pPr marL="0" indent="0" algn="l">
              <a:lnSpc>
                <a:spcPts val="1695"/>
              </a:lnSpc>
              <a:buNone/>
            </a:pPr>
            <a:r>
              <a:rPr lang="en-US" sz="1130" dirty="0">
                <a:solidFill>
                  <a:srgbClr val="1A2A35"/>
                </a:solidFill>
                <a:latin typeface="Calibri" pitchFamily="34" charset="0"/>
                <a:ea typeface="Calibri" pitchFamily="34" charset="-122"/>
                <a:cs typeface="Calibri" pitchFamily="34" charset="-120"/>
              </a:rPr>
              <a:t>💬</a:t>
            </a:r>
            <a:endParaRPr lang="en-US" sz="1130" dirty="0"/>
          </a:p>
        </p:txBody>
      </p:sp>
      <p:sp>
        <p:nvSpPr>
          <p:cNvPr id="65" name="Text 59"/>
          <p:cNvSpPr/>
          <p:nvPr/>
        </p:nvSpPr>
        <p:spPr>
          <a:xfrm>
            <a:off x="624185" y="4868614"/>
            <a:ext cx="5510183" cy="149275"/>
          </a:xfrm>
          <a:prstGeom prst="rect">
            <a:avLst/>
          </a:prstGeom>
          <a:noFill/>
          <a:ln/>
        </p:spPr>
        <p:txBody>
          <a:bodyPr wrap="none" lIns="0" tIns="0" rIns="0" bIns="0" rtlCol="0" anchor="ctr"/>
          <a:lstStyle/>
          <a:p>
            <a:pPr marL="0" indent="0" algn="l">
              <a:lnSpc>
                <a:spcPts val="1176"/>
              </a:lnSpc>
              <a:buNone/>
            </a:pPr>
            <a:r>
              <a:rPr lang="en-US" sz="840" b="1" dirty="0">
                <a:solidFill>
                  <a:srgbClr val="1A2A35"/>
                </a:solidFill>
                <a:latin typeface="Calibri" pitchFamily="34" charset="0"/>
                <a:ea typeface="Calibri" pitchFamily="34" charset="-122"/>
                <a:cs typeface="Calibri" pitchFamily="34" charset="-120"/>
              </a:rPr>
              <a:t>Discussion: What potential barriers do you already anticipate? How will you plan to address them?</a:t>
            </a:r>
            <a:endParaRPr lang="en-US" sz="84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418320" cy="557510"/>
          </a:xfrm>
          <a:prstGeom prst="rect">
            <a:avLst/>
          </a:prstGeom>
          <a:solidFill>
            <a:srgbClr val="367689"/>
          </a:solidFill>
          <a:ln/>
        </p:spPr>
        <p:txBody>
          <a:bodyPr wrap="none" lIns="342900" tIns="114300" rIns="342900" bIns="100330" rtlCol="0" anchor="t"/>
          <a:lstStyle/>
          <a:p>
            <a:pPr marL="0" indent="0" algn="l">
              <a:buNone/>
            </a:pPr>
            <a:r>
              <a:rPr lang="en-US" sz="1800" b="1" kern="0" spc="30" dirty="0">
                <a:solidFill>
                  <a:srgbClr val="FFFFFF"/>
                </a:solidFill>
                <a:latin typeface="Calibri Light" pitchFamily="34" charset="0"/>
                <a:ea typeface="Calibri Light" pitchFamily="34" charset="-122"/>
                <a:cs typeface="Calibri Light" pitchFamily="34" charset="-120"/>
              </a:rPr>
              <a:t>Open vs. Closed Groups</a:t>
            </a:r>
            <a:endParaRPr lang="en-US" sz="1800" dirty="0"/>
          </a:p>
        </p:txBody>
      </p:sp>
      <p:sp>
        <p:nvSpPr>
          <p:cNvPr id="3" name="Text 1"/>
          <p:cNvSpPr/>
          <p:nvPr/>
        </p:nvSpPr>
        <p:spPr>
          <a:xfrm>
            <a:off x="0" y="557510"/>
            <a:ext cx="9144000" cy="35421"/>
          </a:xfrm>
          <a:prstGeom prst="rect">
            <a:avLst/>
          </a:prstGeom>
          <a:solidFill>
            <a:srgbClr val="F4B753"/>
          </a:solidFill>
          <a:ln/>
        </p:spPr>
        <p:txBody>
          <a:bodyPr wrap="none" rtlCol="0" anchor="t"/>
          <a:lstStyle/>
          <a:p>
            <a:pPr marL="0" indent="0">
              <a:buNone/>
            </a:pPr>
            <a:endParaRPr lang="en-US" dirty="0"/>
          </a:p>
        </p:txBody>
      </p:sp>
      <p:sp>
        <p:nvSpPr>
          <p:cNvPr id="4" name="Text 2"/>
          <p:cNvSpPr/>
          <p:nvPr/>
        </p:nvSpPr>
        <p:spPr>
          <a:xfrm>
            <a:off x="216743" y="721072"/>
            <a:ext cx="4184800" cy="348555"/>
          </a:xfrm>
          <a:prstGeom prst="roundRect">
            <a:avLst>
              <a:gd name="adj" fmla="val 12388"/>
            </a:avLst>
          </a:prstGeom>
          <a:solidFill>
            <a:srgbClr val="FFF4EB"/>
          </a:solidFill>
          <a:ln/>
        </p:spPr>
        <p:txBody>
          <a:bodyPr wrap="none" lIns="114300" tIns="57150" rIns="114300" bIns="57150" rtlCol="0" anchor="t"/>
          <a:lstStyle/>
          <a:p>
            <a:pPr marL="0" indent="0" algn="ctr">
              <a:buNone/>
            </a:pPr>
            <a:r>
              <a:rPr lang="en-US" sz="1180" b="1" kern="0" spc="20" dirty="0">
                <a:solidFill>
                  <a:srgbClr val="E4923F"/>
                </a:solidFill>
                <a:latin typeface="Calibri" pitchFamily="34" charset="0"/>
                <a:ea typeface="Calibri" pitchFamily="34" charset="-122"/>
                <a:cs typeface="Calibri" pitchFamily="34" charset="-120"/>
              </a:rPr>
              <a:t>Open Group</a:t>
            </a:r>
            <a:endParaRPr lang="en-US" sz="1180" dirty="0"/>
          </a:p>
        </p:txBody>
      </p:sp>
      <p:sp>
        <p:nvSpPr>
          <p:cNvPr id="5" name="Text 3"/>
          <p:cNvSpPr/>
          <p:nvPr/>
        </p:nvSpPr>
        <p:spPr>
          <a:xfrm>
            <a:off x="257770" y="1069628"/>
            <a:ext cx="4102745" cy="21580"/>
          </a:xfrm>
          <a:prstGeom prst="rect">
            <a:avLst/>
          </a:prstGeom>
          <a:gradFill rotWithShape="1">
            <a:gsLst>
              <a:gs pos="0">
                <a:srgbClr val="E4923F"/>
              </a:gs>
              <a:gs pos="100000">
                <a:srgbClr val="F4B753"/>
              </a:gs>
            </a:gsLst>
            <a:lin ang="0" scaled="1"/>
          </a:gradFill>
          <a:ln/>
        </p:spPr>
        <p:txBody>
          <a:bodyPr wrap="none" rtlCol="0" anchor="t"/>
          <a:lstStyle/>
          <a:p>
            <a:pPr marL="0" indent="0">
              <a:buNone/>
            </a:pPr>
            <a:endParaRPr lang="en-US" dirty="0"/>
          </a:p>
        </p:txBody>
      </p:sp>
      <p:sp>
        <p:nvSpPr>
          <p:cNvPr id="6" name="Text 4"/>
          <p:cNvSpPr/>
          <p:nvPr/>
        </p:nvSpPr>
        <p:spPr>
          <a:xfrm>
            <a:off x="257770" y="1091208"/>
            <a:ext cx="4102745" cy="792659"/>
          </a:xfrm>
          <a:prstGeom prst="rect">
            <a:avLst/>
          </a:prstGeom>
          <a:solidFill>
            <a:srgbClr val="FFFAF5"/>
          </a:solidFill>
          <a:ln/>
        </p:spPr>
        <p:txBody>
          <a:bodyPr wrap="square" rtlCol="0" anchor="t"/>
          <a:lstStyle/>
          <a:p>
            <a:pPr marL="0" indent="0">
              <a:buNone/>
            </a:pPr>
            <a:endParaRPr lang="en-US" dirty="0"/>
          </a:p>
        </p:txBody>
      </p:sp>
      <p:sp>
        <p:nvSpPr>
          <p:cNvPr id="7" name="Text 5"/>
          <p:cNvSpPr/>
          <p:nvPr/>
        </p:nvSpPr>
        <p:spPr>
          <a:xfrm>
            <a:off x="490686" y="1162199"/>
            <a:ext cx="747340" cy="129480"/>
          </a:xfrm>
          <a:prstGeom prst="rect">
            <a:avLst/>
          </a:prstGeom>
          <a:noFill/>
          <a:ln/>
        </p:spPr>
        <p:txBody>
          <a:bodyPr wrap="none" lIns="0" tIns="0" rIns="0" bIns="0" rtlCol="0" anchor="ctr"/>
          <a:lstStyle/>
          <a:p>
            <a:pPr marL="0" indent="0" algn="l">
              <a:lnSpc>
                <a:spcPts val="1020"/>
              </a:lnSpc>
              <a:buNone/>
            </a:pPr>
            <a:r>
              <a:rPr lang="en-US" sz="680" b="1" kern="0" spc="70" dirty="0">
                <a:solidFill>
                  <a:srgbClr val="2E7D32"/>
                </a:solidFill>
                <a:latin typeface="Calibri" pitchFamily="34" charset="0"/>
                <a:ea typeface="Calibri" pitchFamily="34" charset="-122"/>
                <a:cs typeface="Calibri" pitchFamily="34" charset="-120"/>
              </a:rPr>
              <a:t>ADVANTAGES</a:t>
            </a:r>
            <a:endParaRPr lang="en-US" sz="680" dirty="0"/>
          </a:p>
        </p:txBody>
      </p:sp>
      <p:pic>
        <p:nvPicPr>
          <p:cNvPr id="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1272" y="1160571"/>
            <a:ext cx="132588" cy="132588"/>
          </a:xfrm>
          <a:prstGeom prst="rect">
            <a:avLst/>
          </a:prstGeom>
        </p:spPr>
      </p:pic>
      <p:sp>
        <p:nvSpPr>
          <p:cNvPr id="9" name="Text 6"/>
          <p:cNvSpPr/>
          <p:nvPr/>
        </p:nvSpPr>
        <p:spPr>
          <a:xfrm>
            <a:off x="545157" y="1344364"/>
            <a:ext cx="1479947" cy="104775"/>
          </a:xfrm>
          <a:prstGeom prst="rect">
            <a:avLst/>
          </a:prstGeom>
          <a:noFill/>
          <a:ln/>
        </p:spPr>
        <p:txBody>
          <a:bodyPr wrap="none" lIns="0" tIns="0" rIns="0" bIns="0" rtlCol="0" anchor="t"/>
          <a:lstStyle/>
          <a:p>
            <a:pPr marL="0" indent="0" algn="l">
              <a:lnSpc>
                <a:spcPts val="1049"/>
              </a:lnSpc>
              <a:buNone/>
            </a:pPr>
            <a:r>
              <a:rPr lang="en-US" sz="760" dirty="0">
                <a:solidFill>
                  <a:srgbClr val="222222"/>
                </a:solidFill>
                <a:latin typeface="Calibri" pitchFamily="34" charset="0"/>
                <a:ea typeface="Calibri" pitchFamily="34" charset="-122"/>
                <a:cs typeface="Calibri" pitchFamily="34" charset="-120"/>
              </a:rPr>
              <a:t>New members can join anytime</a:t>
            </a:r>
            <a:endParaRPr lang="en-US" sz="760" dirty="0"/>
          </a:p>
        </p:txBody>
      </p:sp>
      <p:sp>
        <p:nvSpPr>
          <p:cNvPr id="10" name="Text 7"/>
          <p:cNvSpPr/>
          <p:nvPr/>
        </p:nvSpPr>
        <p:spPr>
          <a:xfrm>
            <a:off x="367605" y="1342430"/>
            <a:ext cx="128141" cy="128141"/>
          </a:xfrm>
          <a:prstGeom prst="ellipse">
            <a:avLst/>
          </a:prstGeom>
          <a:solidFill>
            <a:srgbClr val="E8F5E9"/>
          </a:solidFill>
          <a:ln/>
        </p:spPr>
        <p:txBody>
          <a:bodyPr wrap="none" rtlCol="0" anchor="t"/>
          <a:lstStyle/>
          <a:p>
            <a:pPr marL="0" indent="0">
              <a:buNone/>
            </a:pPr>
            <a:endParaRPr lang="en-US" dirty="0"/>
          </a:p>
        </p:txBody>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5308" y="1340132"/>
            <a:ext cx="132588" cy="132588"/>
          </a:xfrm>
          <a:prstGeom prst="rect">
            <a:avLst/>
          </a:prstGeom>
        </p:spPr>
      </p:pic>
      <p:sp>
        <p:nvSpPr>
          <p:cNvPr id="12" name="Text 8"/>
          <p:cNvSpPr/>
          <p:nvPr/>
        </p:nvSpPr>
        <p:spPr>
          <a:xfrm>
            <a:off x="545157" y="1515517"/>
            <a:ext cx="2329279" cy="104775"/>
          </a:xfrm>
          <a:prstGeom prst="rect">
            <a:avLst/>
          </a:prstGeom>
          <a:noFill/>
          <a:ln/>
        </p:spPr>
        <p:txBody>
          <a:bodyPr wrap="none" lIns="0" tIns="0" rIns="0" bIns="0" rtlCol="0" anchor="t"/>
          <a:lstStyle/>
          <a:p>
            <a:pPr marL="0" indent="0" algn="l">
              <a:lnSpc>
                <a:spcPts val="1049"/>
              </a:lnSpc>
              <a:buNone/>
            </a:pPr>
            <a:r>
              <a:rPr lang="en-US" sz="760" dirty="0">
                <a:solidFill>
                  <a:srgbClr val="222222"/>
                </a:solidFill>
                <a:latin typeface="Calibri" pitchFamily="34" charset="0"/>
                <a:ea typeface="Calibri" pitchFamily="34" charset="-122"/>
                <a:cs typeface="Calibri" pitchFamily="34" charset="-120"/>
              </a:rPr>
              <a:t>Easier to manage in high-turnover school settings</a:t>
            </a:r>
            <a:endParaRPr lang="en-US" sz="760" dirty="0"/>
          </a:p>
        </p:txBody>
      </p:sp>
      <p:sp>
        <p:nvSpPr>
          <p:cNvPr id="13" name="Text 9"/>
          <p:cNvSpPr/>
          <p:nvPr/>
        </p:nvSpPr>
        <p:spPr>
          <a:xfrm>
            <a:off x="367605" y="1513582"/>
            <a:ext cx="128141" cy="128141"/>
          </a:xfrm>
          <a:prstGeom prst="ellipse">
            <a:avLst/>
          </a:prstGeom>
          <a:solidFill>
            <a:srgbClr val="E8F5E9"/>
          </a:solidFill>
          <a:ln/>
        </p:spPr>
        <p:txBody>
          <a:bodyPr wrap="none" rtlCol="0" anchor="t"/>
          <a:lstStyle/>
          <a:p>
            <a:pPr marL="0" indent="0">
              <a:buNone/>
            </a:pPr>
            <a:endParaRPr lang="en-US" dirty="0"/>
          </a:p>
        </p:txBody>
      </p:sp>
      <p:pic>
        <p:nvPicPr>
          <p:cNvPr id="14"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65308" y="1511284"/>
            <a:ext cx="132588" cy="132588"/>
          </a:xfrm>
          <a:prstGeom prst="rect">
            <a:avLst/>
          </a:prstGeom>
        </p:spPr>
      </p:pic>
      <p:sp>
        <p:nvSpPr>
          <p:cNvPr id="15" name="Text 10"/>
          <p:cNvSpPr/>
          <p:nvPr/>
        </p:nvSpPr>
        <p:spPr>
          <a:xfrm>
            <a:off x="545157" y="1686669"/>
            <a:ext cx="3016865" cy="104775"/>
          </a:xfrm>
          <a:prstGeom prst="rect">
            <a:avLst/>
          </a:prstGeom>
          <a:noFill/>
          <a:ln/>
        </p:spPr>
        <p:txBody>
          <a:bodyPr wrap="none" lIns="0" tIns="0" rIns="0" bIns="0" rtlCol="0" anchor="t"/>
          <a:lstStyle/>
          <a:p>
            <a:pPr marL="0" indent="0" algn="l">
              <a:lnSpc>
                <a:spcPts val="1049"/>
              </a:lnSpc>
              <a:buNone/>
            </a:pPr>
            <a:r>
              <a:rPr lang="en-US" sz="760" dirty="0">
                <a:solidFill>
                  <a:srgbClr val="222222"/>
                </a:solidFill>
                <a:latin typeface="Calibri" pitchFamily="34" charset="0"/>
                <a:ea typeface="Calibri" pitchFamily="34" charset="-122"/>
                <a:cs typeface="Calibri" pitchFamily="34" charset="-120"/>
              </a:rPr>
              <a:t>Members at different stages model progress for newer members</a:t>
            </a:r>
            <a:endParaRPr lang="en-US" sz="760" dirty="0"/>
          </a:p>
        </p:txBody>
      </p:sp>
      <p:sp>
        <p:nvSpPr>
          <p:cNvPr id="16" name="Text 11"/>
          <p:cNvSpPr/>
          <p:nvPr/>
        </p:nvSpPr>
        <p:spPr>
          <a:xfrm>
            <a:off x="367605" y="1684734"/>
            <a:ext cx="128141" cy="128141"/>
          </a:xfrm>
          <a:prstGeom prst="ellipse">
            <a:avLst/>
          </a:prstGeom>
          <a:solidFill>
            <a:srgbClr val="E8F5E9"/>
          </a:solidFill>
          <a:ln/>
        </p:spPr>
        <p:txBody>
          <a:bodyPr wrap="none" rtlCol="0" anchor="t"/>
          <a:lstStyle/>
          <a:p>
            <a:pPr marL="0" indent="0">
              <a:buNone/>
            </a:pPr>
            <a:endParaRPr lang="en-US" dirty="0"/>
          </a:p>
        </p:txBody>
      </p:sp>
      <p:pic>
        <p:nvPicPr>
          <p:cNvPr id="17"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65308" y="1682436"/>
            <a:ext cx="132588" cy="132588"/>
          </a:xfrm>
          <a:prstGeom prst="rect">
            <a:avLst/>
          </a:prstGeom>
        </p:spPr>
      </p:pic>
      <p:sp>
        <p:nvSpPr>
          <p:cNvPr id="18" name="Text 12"/>
          <p:cNvSpPr/>
          <p:nvPr/>
        </p:nvSpPr>
        <p:spPr>
          <a:xfrm>
            <a:off x="257770" y="1941016"/>
            <a:ext cx="4102745" cy="802184"/>
          </a:xfrm>
          <a:prstGeom prst="rect">
            <a:avLst/>
          </a:prstGeom>
          <a:solidFill>
            <a:srgbClr val="FFF8F3"/>
          </a:solidFill>
          <a:ln/>
        </p:spPr>
        <p:txBody>
          <a:bodyPr wrap="square" rtlCol="0" anchor="t"/>
          <a:lstStyle/>
          <a:p>
            <a:pPr marL="0" indent="0">
              <a:buNone/>
            </a:pPr>
            <a:endParaRPr lang="en-US" dirty="0"/>
          </a:p>
        </p:txBody>
      </p:sp>
      <p:sp>
        <p:nvSpPr>
          <p:cNvPr id="19" name="Text 13"/>
          <p:cNvSpPr/>
          <p:nvPr/>
        </p:nvSpPr>
        <p:spPr>
          <a:xfrm>
            <a:off x="490686" y="2012007"/>
            <a:ext cx="699046" cy="129480"/>
          </a:xfrm>
          <a:prstGeom prst="rect">
            <a:avLst/>
          </a:prstGeom>
          <a:noFill/>
          <a:ln/>
        </p:spPr>
        <p:txBody>
          <a:bodyPr wrap="none" lIns="0" tIns="0" rIns="0" bIns="0" rtlCol="0" anchor="ctr"/>
          <a:lstStyle/>
          <a:p>
            <a:pPr marL="0" indent="0" algn="l">
              <a:lnSpc>
                <a:spcPts val="1020"/>
              </a:lnSpc>
              <a:buNone/>
            </a:pPr>
            <a:r>
              <a:rPr lang="en-US" sz="680" b="1" kern="0" spc="70" dirty="0">
                <a:solidFill>
                  <a:srgbClr val="B71C1C"/>
                </a:solidFill>
                <a:latin typeface="Calibri" pitchFamily="34" charset="0"/>
                <a:ea typeface="Calibri" pitchFamily="34" charset="-122"/>
                <a:cs typeface="Calibri" pitchFamily="34" charset="-120"/>
              </a:rPr>
              <a:t>LIMITATIONS</a:t>
            </a:r>
            <a:endParaRPr lang="en-US" sz="680" dirty="0"/>
          </a:p>
        </p:txBody>
      </p:sp>
      <p:pic>
        <p:nvPicPr>
          <p:cNvPr id="20"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41272" y="2010379"/>
            <a:ext cx="132588" cy="132588"/>
          </a:xfrm>
          <a:prstGeom prst="rect">
            <a:avLst/>
          </a:prstGeom>
        </p:spPr>
      </p:pic>
      <p:sp>
        <p:nvSpPr>
          <p:cNvPr id="21" name="Text 14"/>
          <p:cNvSpPr/>
          <p:nvPr/>
        </p:nvSpPr>
        <p:spPr>
          <a:xfrm>
            <a:off x="545157" y="2194173"/>
            <a:ext cx="1727969" cy="104775"/>
          </a:xfrm>
          <a:prstGeom prst="rect">
            <a:avLst/>
          </a:prstGeom>
          <a:noFill/>
          <a:ln/>
        </p:spPr>
        <p:txBody>
          <a:bodyPr wrap="none" lIns="0" tIns="0" rIns="0" bIns="0" rtlCol="0" anchor="t"/>
          <a:lstStyle/>
          <a:p>
            <a:pPr marL="0" indent="0" algn="l">
              <a:lnSpc>
                <a:spcPts val="1049"/>
              </a:lnSpc>
              <a:buNone/>
            </a:pPr>
            <a:r>
              <a:rPr lang="en-US" sz="760" dirty="0">
                <a:solidFill>
                  <a:srgbClr val="222222"/>
                </a:solidFill>
                <a:latin typeface="Calibri" pitchFamily="34" charset="0"/>
                <a:ea typeface="Calibri" pitchFamily="34" charset="-122"/>
                <a:cs typeface="Calibri" pitchFamily="34" charset="-120"/>
              </a:rPr>
              <a:t>Group cohesion takes longer to build</a:t>
            </a:r>
            <a:endParaRPr lang="en-US" sz="760" dirty="0"/>
          </a:p>
        </p:txBody>
      </p:sp>
      <p:sp>
        <p:nvSpPr>
          <p:cNvPr id="22" name="Text 15"/>
          <p:cNvSpPr/>
          <p:nvPr/>
        </p:nvSpPr>
        <p:spPr>
          <a:xfrm>
            <a:off x="367605" y="2192238"/>
            <a:ext cx="128141" cy="128141"/>
          </a:xfrm>
          <a:prstGeom prst="ellipse">
            <a:avLst/>
          </a:prstGeom>
          <a:solidFill>
            <a:srgbClr val="FFEBEE"/>
          </a:solidFill>
          <a:ln/>
        </p:spPr>
        <p:txBody>
          <a:bodyPr wrap="none" rtlCol="0" anchor="t"/>
          <a:lstStyle/>
          <a:p>
            <a:pPr marL="0" indent="0">
              <a:buNone/>
            </a:pPr>
            <a:endParaRPr lang="en-US" dirty="0"/>
          </a:p>
        </p:txBody>
      </p:sp>
      <p:pic>
        <p:nvPicPr>
          <p:cNvPr id="23"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65308" y="2189940"/>
            <a:ext cx="132588" cy="132588"/>
          </a:xfrm>
          <a:prstGeom prst="rect">
            <a:avLst/>
          </a:prstGeom>
        </p:spPr>
      </p:pic>
      <p:sp>
        <p:nvSpPr>
          <p:cNvPr id="24" name="Text 16"/>
          <p:cNvSpPr/>
          <p:nvPr/>
        </p:nvSpPr>
        <p:spPr>
          <a:xfrm>
            <a:off x="545157" y="2365325"/>
            <a:ext cx="1922130" cy="104775"/>
          </a:xfrm>
          <a:prstGeom prst="rect">
            <a:avLst/>
          </a:prstGeom>
          <a:noFill/>
          <a:ln/>
        </p:spPr>
        <p:txBody>
          <a:bodyPr wrap="none" lIns="0" tIns="0" rIns="0" bIns="0" rtlCol="0" anchor="t"/>
          <a:lstStyle/>
          <a:p>
            <a:pPr marL="0" indent="0" algn="l">
              <a:lnSpc>
                <a:spcPts val="1049"/>
              </a:lnSpc>
              <a:buNone/>
            </a:pPr>
            <a:r>
              <a:rPr lang="en-US" sz="760" dirty="0">
                <a:solidFill>
                  <a:srgbClr val="222222"/>
                </a:solidFill>
                <a:latin typeface="Calibri" pitchFamily="34" charset="0"/>
                <a:ea typeface="Calibri" pitchFamily="34" charset="-122"/>
                <a:cs typeface="Calibri" pitchFamily="34" charset="-120"/>
              </a:rPr>
              <a:t>New members disrupt established norms</a:t>
            </a:r>
            <a:endParaRPr lang="en-US" sz="760" dirty="0"/>
          </a:p>
        </p:txBody>
      </p:sp>
      <p:sp>
        <p:nvSpPr>
          <p:cNvPr id="25" name="Text 17"/>
          <p:cNvSpPr/>
          <p:nvPr/>
        </p:nvSpPr>
        <p:spPr>
          <a:xfrm>
            <a:off x="367605" y="2363391"/>
            <a:ext cx="128141" cy="128141"/>
          </a:xfrm>
          <a:prstGeom prst="ellipse">
            <a:avLst/>
          </a:prstGeom>
          <a:solidFill>
            <a:srgbClr val="FFEBEE"/>
          </a:solidFill>
          <a:ln/>
        </p:spPr>
        <p:txBody>
          <a:bodyPr wrap="none" rtlCol="0" anchor="t"/>
          <a:lstStyle/>
          <a:p>
            <a:pPr marL="0" indent="0">
              <a:buNone/>
            </a:pPr>
            <a:endParaRPr lang="en-US" dirty="0"/>
          </a:p>
        </p:txBody>
      </p:sp>
      <p:pic>
        <p:nvPicPr>
          <p:cNvPr id="26"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65308" y="2361093"/>
            <a:ext cx="132588" cy="132588"/>
          </a:xfrm>
          <a:prstGeom prst="rect">
            <a:avLst/>
          </a:prstGeom>
        </p:spPr>
      </p:pic>
      <p:sp>
        <p:nvSpPr>
          <p:cNvPr id="27" name="Text 18"/>
          <p:cNvSpPr/>
          <p:nvPr/>
        </p:nvSpPr>
        <p:spPr>
          <a:xfrm>
            <a:off x="545157" y="2536478"/>
            <a:ext cx="1863358" cy="104775"/>
          </a:xfrm>
          <a:prstGeom prst="rect">
            <a:avLst/>
          </a:prstGeom>
          <a:noFill/>
          <a:ln/>
        </p:spPr>
        <p:txBody>
          <a:bodyPr wrap="none" lIns="0" tIns="0" rIns="0" bIns="0" rtlCol="0" anchor="t"/>
          <a:lstStyle/>
          <a:p>
            <a:pPr marL="0" indent="0" algn="l">
              <a:lnSpc>
                <a:spcPts val="1049"/>
              </a:lnSpc>
              <a:buNone/>
            </a:pPr>
            <a:r>
              <a:rPr lang="en-US" sz="760" dirty="0">
                <a:solidFill>
                  <a:srgbClr val="222222"/>
                </a:solidFill>
                <a:latin typeface="Calibri" pitchFamily="34" charset="0"/>
                <a:ea typeface="Calibri" pitchFamily="34" charset="-122"/>
                <a:cs typeface="Calibri" pitchFamily="34" charset="-120"/>
              </a:rPr>
              <a:t>Harder to follow a sequential curriculum</a:t>
            </a:r>
            <a:endParaRPr lang="en-US" sz="760" dirty="0"/>
          </a:p>
        </p:txBody>
      </p:sp>
      <p:sp>
        <p:nvSpPr>
          <p:cNvPr id="28" name="Text 19"/>
          <p:cNvSpPr/>
          <p:nvPr/>
        </p:nvSpPr>
        <p:spPr>
          <a:xfrm>
            <a:off x="367605" y="2534543"/>
            <a:ext cx="128141" cy="128141"/>
          </a:xfrm>
          <a:prstGeom prst="ellipse">
            <a:avLst/>
          </a:prstGeom>
          <a:solidFill>
            <a:srgbClr val="FFEBEE"/>
          </a:solidFill>
          <a:ln/>
        </p:spPr>
        <p:txBody>
          <a:bodyPr wrap="none" rtlCol="0" anchor="t"/>
          <a:lstStyle/>
          <a:p>
            <a:pPr marL="0" indent="0">
              <a:buNone/>
            </a:pPr>
            <a:endParaRPr lang="en-US" dirty="0"/>
          </a:p>
        </p:txBody>
      </p:sp>
      <p:pic>
        <p:nvPicPr>
          <p:cNvPr id="29" name="Image 7"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65308" y="2532245"/>
            <a:ext cx="132588" cy="132588"/>
          </a:xfrm>
          <a:prstGeom prst="rect">
            <a:avLst/>
          </a:prstGeom>
        </p:spPr>
      </p:pic>
      <p:sp>
        <p:nvSpPr>
          <p:cNvPr id="30" name="Text 20"/>
          <p:cNvSpPr/>
          <p:nvPr/>
        </p:nvSpPr>
        <p:spPr>
          <a:xfrm>
            <a:off x="4590306" y="721072"/>
            <a:ext cx="21580" cy="3271540"/>
          </a:xfrm>
          <a:prstGeom prst="roundRect">
            <a:avLst>
              <a:gd name="adj" fmla="val 64736"/>
            </a:avLst>
          </a:prstGeom>
          <a:gradFill rotWithShape="1">
            <a:gsLst>
              <a:gs pos="0">
                <a:srgbClr val="E0E0E0"/>
              </a:gs>
              <a:gs pos="50000">
                <a:srgbClr val="B0B0B0"/>
              </a:gs>
              <a:gs pos="100000">
                <a:srgbClr val="E0E0E0"/>
              </a:gs>
            </a:gsLst>
            <a:lin ang="5400000" scaled="1"/>
          </a:gradFill>
          <a:ln/>
        </p:spPr>
        <p:txBody>
          <a:bodyPr wrap="square" rtlCol="0" anchor="t"/>
          <a:lstStyle/>
          <a:p>
            <a:pPr marL="0" indent="0">
              <a:buNone/>
            </a:pPr>
            <a:endParaRPr lang="en-US" dirty="0"/>
          </a:p>
        </p:txBody>
      </p:sp>
      <p:sp>
        <p:nvSpPr>
          <p:cNvPr id="31" name="Text 21"/>
          <p:cNvSpPr/>
          <p:nvPr/>
        </p:nvSpPr>
        <p:spPr>
          <a:xfrm>
            <a:off x="4742307" y="721072"/>
            <a:ext cx="4184952" cy="348555"/>
          </a:xfrm>
          <a:prstGeom prst="roundRect">
            <a:avLst>
              <a:gd name="adj" fmla="val 12388"/>
            </a:avLst>
          </a:prstGeom>
          <a:solidFill>
            <a:srgbClr val="EAF4F7"/>
          </a:solidFill>
          <a:ln/>
        </p:spPr>
        <p:txBody>
          <a:bodyPr wrap="none" lIns="114300" tIns="57150" rIns="114300" bIns="57150" rtlCol="0" anchor="t"/>
          <a:lstStyle/>
          <a:p>
            <a:pPr marL="0" indent="0" algn="ctr">
              <a:buNone/>
            </a:pPr>
            <a:r>
              <a:rPr lang="en-US" sz="1180" b="1" kern="0" spc="20" dirty="0">
                <a:solidFill>
                  <a:srgbClr val="367689"/>
                </a:solidFill>
                <a:latin typeface="Calibri" pitchFamily="34" charset="0"/>
                <a:ea typeface="Calibri" pitchFamily="34" charset="-122"/>
                <a:cs typeface="Calibri" pitchFamily="34" charset="-120"/>
              </a:rPr>
              <a:t>Closed Group</a:t>
            </a:r>
            <a:endParaRPr lang="en-US" sz="1180" dirty="0"/>
          </a:p>
        </p:txBody>
      </p:sp>
      <p:sp>
        <p:nvSpPr>
          <p:cNvPr id="32" name="Text 22"/>
          <p:cNvSpPr/>
          <p:nvPr/>
        </p:nvSpPr>
        <p:spPr>
          <a:xfrm>
            <a:off x="4783336" y="1069628"/>
            <a:ext cx="4102894" cy="21580"/>
          </a:xfrm>
          <a:prstGeom prst="rect">
            <a:avLst/>
          </a:prstGeom>
          <a:gradFill rotWithShape="1">
            <a:gsLst>
              <a:gs pos="0">
                <a:srgbClr val="367689"/>
              </a:gs>
              <a:gs pos="100000">
                <a:srgbClr val="55A49C"/>
              </a:gs>
            </a:gsLst>
            <a:lin ang="0" scaled="1"/>
          </a:gradFill>
          <a:ln/>
        </p:spPr>
        <p:txBody>
          <a:bodyPr wrap="none" rtlCol="0" anchor="t"/>
          <a:lstStyle/>
          <a:p>
            <a:pPr marL="0" indent="0">
              <a:buNone/>
            </a:pPr>
            <a:endParaRPr lang="en-US" dirty="0"/>
          </a:p>
        </p:txBody>
      </p:sp>
      <p:sp>
        <p:nvSpPr>
          <p:cNvPr id="33" name="Text 23"/>
          <p:cNvSpPr/>
          <p:nvPr/>
        </p:nvSpPr>
        <p:spPr>
          <a:xfrm>
            <a:off x="4783336" y="1091208"/>
            <a:ext cx="4102894" cy="963811"/>
          </a:xfrm>
          <a:prstGeom prst="rect">
            <a:avLst/>
          </a:prstGeom>
          <a:solidFill>
            <a:srgbClr val="F0F8FB"/>
          </a:solidFill>
          <a:ln/>
        </p:spPr>
        <p:txBody>
          <a:bodyPr wrap="square" rtlCol="0" anchor="t"/>
          <a:lstStyle/>
          <a:p>
            <a:pPr marL="0" indent="0">
              <a:buNone/>
            </a:pPr>
            <a:endParaRPr lang="en-US" dirty="0"/>
          </a:p>
        </p:txBody>
      </p:sp>
      <p:sp>
        <p:nvSpPr>
          <p:cNvPr id="34" name="Text 24"/>
          <p:cNvSpPr/>
          <p:nvPr/>
        </p:nvSpPr>
        <p:spPr>
          <a:xfrm>
            <a:off x="5016252" y="1162199"/>
            <a:ext cx="747340" cy="129480"/>
          </a:xfrm>
          <a:prstGeom prst="rect">
            <a:avLst/>
          </a:prstGeom>
          <a:noFill/>
          <a:ln/>
        </p:spPr>
        <p:txBody>
          <a:bodyPr wrap="none" lIns="0" tIns="0" rIns="0" bIns="0" rtlCol="0" anchor="ctr"/>
          <a:lstStyle/>
          <a:p>
            <a:pPr marL="0" indent="0" algn="l">
              <a:lnSpc>
                <a:spcPts val="1020"/>
              </a:lnSpc>
              <a:buNone/>
            </a:pPr>
            <a:r>
              <a:rPr lang="en-US" sz="680" b="1" kern="0" spc="70" dirty="0">
                <a:solidFill>
                  <a:srgbClr val="2E7D32"/>
                </a:solidFill>
                <a:latin typeface="Calibri" pitchFamily="34" charset="0"/>
                <a:ea typeface="Calibri" pitchFamily="34" charset="-122"/>
                <a:cs typeface="Calibri" pitchFamily="34" charset="-120"/>
              </a:rPr>
              <a:t>ADVANTAGES</a:t>
            </a:r>
            <a:endParaRPr lang="en-US" sz="680" dirty="0"/>
          </a:p>
        </p:txBody>
      </p:sp>
      <p:pic>
        <p:nvPicPr>
          <p:cNvPr id="35" name="Image 8" descr="preencoded.png"/>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4866837" y="1160571"/>
            <a:ext cx="132588" cy="132588"/>
          </a:xfrm>
          <a:prstGeom prst="rect">
            <a:avLst/>
          </a:prstGeom>
        </p:spPr>
      </p:pic>
      <p:sp>
        <p:nvSpPr>
          <p:cNvPr id="36" name="Text 25"/>
          <p:cNvSpPr/>
          <p:nvPr/>
        </p:nvSpPr>
        <p:spPr>
          <a:xfrm>
            <a:off x="5070723" y="1344364"/>
            <a:ext cx="1244367" cy="104775"/>
          </a:xfrm>
          <a:prstGeom prst="rect">
            <a:avLst/>
          </a:prstGeom>
          <a:noFill/>
          <a:ln/>
        </p:spPr>
        <p:txBody>
          <a:bodyPr wrap="none" lIns="0" tIns="0" rIns="0" bIns="0" rtlCol="0" anchor="t"/>
          <a:lstStyle/>
          <a:p>
            <a:pPr marL="0" indent="0" algn="l">
              <a:lnSpc>
                <a:spcPts val="1049"/>
              </a:lnSpc>
              <a:buNone/>
            </a:pPr>
            <a:r>
              <a:rPr lang="en-US" sz="760" dirty="0">
                <a:solidFill>
                  <a:srgbClr val="222222"/>
                </a:solidFill>
                <a:latin typeface="Calibri" pitchFamily="34" charset="0"/>
                <a:ea typeface="Calibri" pitchFamily="34" charset="-122"/>
                <a:cs typeface="Calibri" pitchFamily="34" charset="-120"/>
              </a:rPr>
              <a:t>Deeper cohesion and trust </a:t>
            </a:r>
            <a:r>
              <a:rPr lang="en-US" sz="680" dirty="0">
                <a:solidFill>
                  <a:srgbClr val="555555"/>
                </a:solidFill>
                <a:latin typeface="Calibri" pitchFamily="34" charset="0"/>
                <a:ea typeface="Calibri" pitchFamily="34" charset="-122"/>
                <a:cs typeface="Calibri" pitchFamily="34" charset="-120"/>
              </a:rPr>
              <a:t>(Yalom &amp; Leszcz, 2005)</a:t>
            </a:r>
            <a:endParaRPr lang="en-US" sz="760" dirty="0"/>
          </a:p>
        </p:txBody>
      </p:sp>
      <p:sp>
        <p:nvSpPr>
          <p:cNvPr id="37" name="Text 26"/>
          <p:cNvSpPr/>
          <p:nvPr/>
        </p:nvSpPr>
        <p:spPr>
          <a:xfrm>
            <a:off x="4893171" y="1342430"/>
            <a:ext cx="128141" cy="128141"/>
          </a:xfrm>
          <a:prstGeom prst="ellipse">
            <a:avLst/>
          </a:prstGeom>
          <a:solidFill>
            <a:srgbClr val="E8F5E9"/>
          </a:solidFill>
          <a:ln/>
        </p:spPr>
        <p:txBody>
          <a:bodyPr wrap="none" rtlCol="0" anchor="t"/>
          <a:lstStyle/>
          <a:p>
            <a:pPr marL="0" indent="0">
              <a:buNone/>
            </a:pPr>
            <a:endParaRPr lang="en-US" dirty="0"/>
          </a:p>
        </p:txBody>
      </p:sp>
      <p:pic>
        <p:nvPicPr>
          <p:cNvPr id="38" name="Image 9" descr="preencoded.png"/>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4890873" y="1340132"/>
            <a:ext cx="132588" cy="132588"/>
          </a:xfrm>
          <a:prstGeom prst="rect">
            <a:avLst/>
          </a:prstGeom>
        </p:spPr>
      </p:pic>
      <p:sp>
        <p:nvSpPr>
          <p:cNvPr id="39" name="Text 27"/>
          <p:cNvSpPr/>
          <p:nvPr/>
        </p:nvSpPr>
        <p:spPr>
          <a:xfrm>
            <a:off x="5070723" y="1515517"/>
            <a:ext cx="2075691" cy="104775"/>
          </a:xfrm>
          <a:prstGeom prst="rect">
            <a:avLst/>
          </a:prstGeom>
          <a:noFill/>
          <a:ln/>
        </p:spPr>
        <p:txBody>
          <a:bodyPr wrap="none" lIns="0" tIns="0" rIns="0" bIns="0" rtlCol="0" anchor="t"/>
          <a:lstStyle/>
          <a:p>
            <a:pPr marL="0" indent="0" algn="l">
              <a:lnSpc>
                <a:spcPts val="1049"/>
              </a:lnSpc>
              <a:buNone/>
            </a:pPr>
            <a:r>
              <a:rPr lang="en-US" sz="760" dirty="0">
                <a:solidFill>
                  <a:srgbClr val="222222"/>
                </a:solidFill>
                <a:latin typeface="Calibri" pitchFamily="34" charset="0"/>
                <a:ea typeface="Calibri" pitchFamily="34" charset="-122"/>
                <a:cs typeface="Calibri" pitchFamily="34" charset="-120"/>
              </a:rPr>
              <a:t>Supports a structured 8–12 week curriculum</a:t>
            </a:r>
            <a:endParaRPr lang="en-US" sz="760" dirty="0"/>
          </a:p>
        </p:txBody>
      </p:sp>
      <p:sp>
        <p:nvSpPr>
          <p:cNvPr id="40" name="Text 28"/>
          <p:cNvSpPr/>
          <p:nvPr/>
        </p:nvSpPr>
        <p:spPr>
          <a:xfrm>
            <a:off x="4893171" y="1513582"/>
            <a:ext cx="128141" cy="128141"/>
          </a:xfrm>
          <a:prstGeom prst="ellipse">
            <a:avLst/>
          </a:prstGeom>
          <a:solidFill>
            <a:srgbClr val="E8F5E9"/>
          </a:solidFill>
          <a:ln/>
        </p:spPr>
        <p:txBody>
          <a:bodyPr wrap="none" rtlCol="0" anchor="t"/>
          <a:lstStyle/>
          <a:p>
            <a:pPr marL="0" indent="0">
              <a:buNone/>
            </a:pPr>
            <a:endParaRPr lang="en-US" dirty="0"/>
          </a:p>
        </p:txBody>
      </p:sp>
      <p:pic>
        <p:nvPicPr>
          <p:cNvPr id="41" name="Image 10" descr="preencoded.png"/>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4890873" y="1511284"/>
            <a:ext cx="132588" cy="132588"/>
          </a:xfrm>
          <a:prstGeom prst="rect">
            <a:avLst/>
          </a:prstGeom>
        </p:spPr>
      </p:pic>
      <p:sp>
        <p:nvSpPr>
          <p:cNvPr id="42" name="Text 29"/>
          <p:cNvSpPr/>
          <p:nvPr/>
        </p:nvSpPr>
        <p:spPr>
          <a:xfrm>
            <a:off x="5070723" y="1686669"/>
            <a:ext cx="2064068" cy="104775"/>
          </a:xfrm>
          <a:prstGeom prst="rect">
            <a:avLst/>
          </a:prstGeom>
          <a:noFill/>
          <a:ln/>
        </p:spPr>
        <p:txBody>
          <a:bodyPr wrap="none" lIns="0" tIns="0" rIns="0" bIns="0" rtlCol="0" anchor="t"/>
          <a:lstStyle/>
          <a:p>
            <a:pPr marL="0" indent="0" algn="l">
              <a:lnSpc>
                <a:spcPts val="1049"/>
              </a:lnSpc>
              <a:buNone/>
            </a:pPr>
            <a:r>
              <a:rPr lang="en-US" sz="760" dirty="0">
                <a:solidFill>
                  <a:srgbClr val="222222"/>
                </a:solidFill>
                <a:latin typeface="Calibri" pitchFamily="34" charset="0"/>
                <a:ea typeface="Calibri" pitchFamily="34" charset="-122"/>
                <a:cs typeface="Calibri" pitchFamily="34" charset="-120"/>
              </a:rPr>
              <a:t>Stronger therapeutic alliance and disclosure</a:t>
            </a:r>
            <a:endParaRPr lang="en-US" sz="760" dirty="0"/>
          </a:p>
        </p:txBody>
      </p:sp>
      <p:sp>
        <p:nvSpPr>
          <p:cNvPr id="43" name="Text 30"/>
          <p:cNvSpPr/>
          <p:nvPr/>
        </p:nvSpPr>
        <p:spPr>
          <a:xfrm>
            <a:off x="4893171" y="1684734"/>
            <a:ext cx="128141" cy="128141"/>
          </a:xfrm>
          <a:prstGeom prst="ellipse">
            <a:avLst/>
          </a:prstGeom>
          <a:solidFill>
            <a:srgbClr val="E8F5E9"/>
          </a:solidFill>
          <a:ln/>
        </p:spPr>
        <p:txBody>
          <a:bodyPr wrap="none" rtlCol="0" anchor="t"/>
          <a:lstStyle/>
          <a:p>
            <a:pPr marL="0" indent="0">
              <a:buNone/>
            </a:pPr>
            <a:endParaRPr lang="en-US" dirty="0"/>
          </a:p>
        </p:txBody>
      </p:sp>
      <p:pic>
        <p:nvPicPr>
          <p:cNvPr id="44" name="Image 11" descr="preencoded.png"/>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4890873" y="1682436"/>
            <a:ext cx="132588" cy="132588"/>
          </a:xfrm>
          <a:prstGeom prst="rect">
            <a:avLst/>
          </a:prstGeom>
        </p:spPr>
      </p:pic>
      <p:sp>
        <p:nvSpPr>
          <p:cNvPr id="45" name="Text 31"/>
          <p:cNvSpPr/>
          <p:nvPr/>
        </p:nvSpPr>
        <p:spPr>
          <a:xfrm>
            <a:off x="5070723" y="1857821"/>
            <a:ext cx="2194054" cy="104775"/>
          </a:xfrm>
          <a:prstGeom prst="rect">
            <a:avLst/>
          </a:prstGeom>
          <a:noFill/>
          <a:ln/>
        </p:spPr>
        <p:txBody>
          <a:bodyPr wrap="none" lIns="0" tIns="0" rIns="0" bIns="0" rtlCol="0" anchor="t"/>
          <a:lstStyle/>
          <a:p>
            <a:pPr marL="0" indent="0" algn="l">
              <a:lnSpc>
                <a:spcPts val="1049"/>
              </a:lnSpc>
              <a:buNone/>
            </a:pPr>
            <a:r>
              <a:rPr lang="en-US" sz="760" dirty="0">
                <a:solidFill>
                  <a:srgbClr val="222222"/>
                </a:solidFill>
                <a:latin typeface="Calibri" pitchFamily="34" charset="0"/>
                <a:ea typeface="Calibri" pitchFamily="34" charset="-122"/>
                <a:cs typeface="Calibri" pitchFamily="34" charset="-120"/>
              </a:rPr>
              <a:t>Yalom's group cohesiveness factor is amplified</a:t>
            </a:r>
            <a:endParaRPr lang="en-US" sz="760" dirty="0"/>
          </a:p>
        </p:txBody>
      </p:sp>
      <p:sp>
        <p:nvSpPr>
          <p:cNvPr id="46" name="Text 32"/>
          <p:cNvSpPr/>
          <p:nvPr/>
        </p:nvSpPr>
        <p:spPr>
          <a:xfrm>
            <a:off x="4893171" y="1855887"/>
            <a:ext cx="128141" cy="128141"/>
          </a:xfrm>
          <a:prstGeom prst="ellipse">
            <a:avLst/>
          </a:prstGeom>
          <a:solidFill>
            <a:srgbClr val="E8F5E9"/>
          </a:solidFill>
          <a:ln/>
        </p:spPr>
        <p:txBody>
          <a:bodyPr wrap="none" rtlCol="0" anchor="t"/>
          <a:lstStyle/>
          <a:p>
            <a:pPr marL="0" indent="0">
              <a:buNone/>
            </a:pPr>
            <a:endParaRPr lang="en-US" dirty="0"/>
          </a:p>
        </p:txBody>
      </p:sp>
      <p:pic>
        <p:nvPicPr>
          <p:cNvPr id="47" name="Image 12" descr="preencoded.png"/>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4890873" y="1853589"/>
            <a:ext cx="132588" cy="132588"/>
          </a:xfrm>
          <a:prstGeom prst="rect">
            <a:avLst/>
          </a:prstGeom>
        </p:spPr>
      </p:pic>
      <p:sp>
        <p:nvSpPr>
          <p:cNvPr id="48" name="Text 33"/>
          <p:cNvSpPr/>
          <p:nvPr/>
        </p:nvSpPr>
        <p:spPr>
          <a:xfrm>
            <a:off x="4783336" y="2112169"/>
            <a:ext cx="4102894" cy="802184"/>
          </a:xfrm>
          <a:prstGeom prst="rect">
            <a:avLst/>
          </a:prstGeom>
          <a:solidFill>
            <a:srgbClr val="EAF4F8"/>
          </a:solidFill>
          <a:ln/>
        </p:spPr>
        <p:txBody>
          <a:bodyPr wrap="square" rtlCol="0" anchor="t"/>
          <a:lstStyle/>
          <a:p>
            <a:pPr marL="0" indent="0">
              <a:buNone/>
            </a:pPr>
            <a:endParaRPr lang="en-US" dirty="0"/>
          </a:p>
        </p:txBody>
      </p:sp>
      <p:sp>
        <p:nvSpPr>
          <p:cNvPr id="49" name="Text 34"/>
          <p:cNvSpPr/>
          <p:nvPr/>
        </p:nvSpPr>
        <p:spPr>
          <a:xfrm>
            <a:off x="5016252" y="2183160"/>
            <a:ext cx="699046" cy="129480"/>
          </a:xfrm>
          <a:prstGeom prst="rect">
            <a:avLst/>
          </a:prstGeom>
          <a:noFill/>
          <a:ln/>
        </p:spPr>
        <p:txBody>
          <a:bodyPr wrap="none" lIns="0" tIns="0" rIns="0" bIns="0" rtlCol="0" anchor="ctr"/>
          <a:lstStyle/>
          <a:p>
            <a:pPr marL="0" indent="0" algn="l">
              <a:lnSpc>
                <a:spcPts val="1020"/>
              </a:lnSpc>
              <a:buNone/>
            </a:pPr>
            <a:r>
              <a:rPr lang="en-US" sz="680" b="1" kern="0" spc="70" dirty="0">
                <a:solidFill>
                  <a:srgbClr val="B71C1C"/>
                </a:solidFill>
                <a:latin typeface="Calibri" pitchFamily="34" charset="0"/>
                <a:ea typeface="Calibri" pitchFamily="34" charset="-122"/>
                <a:cs typeface="Calibri" pitchFamily="34" charset="-120"/>
              </a:rPr>
              <a:t>LIMITATIONS</a:t>
            </a:r>
            <a:endParaRPr lang="en-US" sz="680" dirty="0"/>
          </a:p>
        </p:txBody>
      </p:sp>
      <p:pic>
        <p:nvPicPr>
          <p:cNvPr id="50" name="Image 13" descr="preencoded.png"/>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4866837" y="2181532"/>
            <a:ext cx="132588" cy="132588"/>
          </a:xfrm>
          <a:prstGeom prst="rect">
            <a:avLst/>
          </a:prstGeom>
        </p:spPr>
      </p:pic>
      <p:sp>
        <p:nvSpPr>
          <p:cNvPr id="51" name="Text 35"/>
          <p:cNvSpPr/>
          <p:nvPr/>
        </p:nvSpPr>
        <p:spPr>
          <a:xfrm>
            <a:off x="5070723" y="2365325"/>
            <a:ext cx="1232416" cy="104775"/>
          </a:xfrm>
          <a:prstGeom prst="rect">
            <a:avLst/>
          </a:prstGeom>
          <a:noFill/>
          <a:ln/>
        </p:spPr>
        <p:txBody>
          <a:bodyPr wrap="none" lIns="0" tIns="0" rIns="0" bIns="0" rtlCol="0" anchor="t"/>
          <a:lstStyle/>
          <a:p>
            <a:pPr marL="0" indent="0" algn="l">
              <a:lnSpc>
                <a:spcPts val="1049"/>
              </a:lnSpc>
              <a:buNone/>
            </a:pPr>
            <a:r>
              <a:rPr lang="en-US" sz="760" dirty="0">
                <a:solidFill>
                  <a:srgbClr val="222222"/>
                </a:solidFill>
                <a:latin typeface="Calibri" pitchFamily="34" charset="0"/>
                <a:ea typeface="Calibri" pitchFamily="34" charset="-122"/>
                <a:cs typeface="Calibri" pitchFamily="34" charset="-120"/>
              </a:rPr>
              <a:t>No entry after group starts</a:t>
            </a:r>
            <a:endParaRPr lang="en-US" sz="760" dirty="0"/>
          </a:p>
        </p:txBody>
      </p:sp>
      <p:sp>
        <p:nvSpPr>
          <p:cNvPr id="52" name="Text 36"/>
          <p:cNvSpPr/>
          <p:nvPr/>
        </p:nvSpPr>
        <p:spPr>
          <a:xfrm>
            <a:off x="4893171" y="2363391"/>
            <a:ext cx="128141" cy="128141"/>
          </a:xfrm>
          <a:prstGeom prst="ellipse">
            <a:avLst/>
          </a:prstGeom>
          <a:solidFill>
            <a:srgbClr val="FFEBEE"/>
          </a:solidFill>
          <a:ln/>
        </p:spPr>
        <p:txBody>
          <a:bodyPr wrap="none" rtlCol="0" anchor="t"/>
          <a:lstStyle/>
          <a:p>
            <a:pPr marL="0" indent="0">
              <a:buNone/>
            </a:pPr>
            <a:endParaRPr lang="en-US" dirty="0"/>
          </a:p>
        </p:txBody>
      </p:sp>
      <p:pic>
        <p:nvPicPr>
          <p:cNvPr id="53" name="Image 14" descr="preencoded.png"/>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4890873" y="2361093"/>
            <a:ext cx="132588" cy="132588"/>
          </a:xfrm>
          <a:prstGeom prst="rect">
            <a:avLst/>
          </a:prstGeom>
        </p:spPr>
      </p:pic>
      <p:sp>
        <p:nvSpPr>
          <p:cNvPr id="54" name="Text 37"/>
          <p:cNvSpPr/>
          <p:nvPr/>
        </p:nvSpPr>
        <p:spPr>
          <a:xfrm>
            <a:off x="5070723" y="2536478"/>
            <a:ext cx="1827996" cy="104775"/>
          </a:xfrm>
          <a:prstGeom prst="rect">
            <a:avLst/>
          </a:prstGeom>
          <a:noFill/>
          <a:ln/>
        </p:spPr>
        <p:txBody>
          <a:bodyPr wrap="none" lIns="0" tIns="0" rIns="0" bIns="0" rtlCol="0" anchor="t"/>
          <a:lstStyle/>
          <a:p>
            <a:pPr marL="0" indent="0" algn="l">
              <a:lnSpc>
                <a:spcPts val="1049"/>
              </a:lnSpc>
              <a:buNone/>
            </a:pPr>
            <a:r>
              <a:rPr lang="en-US" sz="760" dirty="0">
                <a:solidFill>
                  <a:srgbClr val="222222"/>
                </a:solidFill>
                <a:latin typeface="Calibri" pitchFamily="34" charset="0"/>
                <a:ea typeface="Calibri" pitchFamily="34" charset="-122"/>
                <a:cs typeface="Calibri" pitchFamily="34" charset="-120"/>
              </a:rPr>
              <a:t>Member absences feel more disruptive</a:t>
            </a:r>
            <a:endParaRPr lang="en-US" sz="760" dirty="0"/>
          </a:p>
        </p:txBody>
      </p:sp>
      <p:sp>
        <p:nvSpPr>
          <p:cNvPr id="55" name="Text 38"/>
          <p:cNvSpPr/>
          <p:nvPr/>
        </p:nvSpPr>
        <p:spPr>
          <a:xfrm>
            <a:off x="4893171" y="2534543"/>
            <a:ext cx="128141" cy="128141"/>
          </a:xfrm>
          <a:prstGeom prst="ellipse">
            <a:avLst/>
          </a:prstGeom>
          <a:solidFill>
            <a:srgbClr val="FFEBEE"/>
          </a:solidFill>
          <a:ln/>
        </p:spPr>
        <p:txBody>
          <a:bodyPr wrap="none" rtlCol="0" anchor="t"/>
          <a:lstStyle/>
          <a:p>
            <a:pPr marL="0" indent="0">
              <a:buNone/>
            </a:pPr>
            <a:endParaRPr lang="en-US" dirty="0"/>
          </a:p>
        </p:txBody>
      </p:sp>
      <p:pic>
        <p:nvPicPr>
          <p:cNvPr id="56" name="Image 15" descr="preencoded.png"/>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4890873" y="2532245"/>
            <a:ext cx="132588" cy="132588"/>
          </a:xfrm>
          <a:prstGeom prst="rect">
            <a:avLst/>
          </a:prstGeom>
        </p:spPr>
      </p:pic>
      <p:sp>
        <p:nvSpPr>
          <p:cNvPr id="57" name="Text 39"/>
          <p:cNvSpPr/>
          <p:nvPr/>
        </p:nvSpPr>
        <p:spPr>
          <a:xfrm>
            <a:off x="5070723" y="2707630"/>
            <a:ext cx="2016591" cy="104775"/>
          </a:xfrm>
          <a:prstGeom prst="rect">
            <a:avLst/>
          </a:prstGeom>
          <a:noFill/>
          <a:ln/>
        </p:spPr>
        <p:txBody>
          <a:bodyPr wrap="none" lIns="0" tIns="0" rIns="0" bIns="0" rtlCol="0" anchor="t"/>
          <a:lstStyle/>
          <a:p>
            <a:pPr marL="0" indent="0" algn="l">
              <a:lnSpc>
                <a:spcPts val="1049"/>
              </a:lnSpc>
              <a:buNone/>
            </a:pPr>
            <a:r>
              <a:rPr lang="en-US" sz="760" dirty="0">
                <a:solidFill>
                  <a:srgbClr val="222222"/>
                </a:solidFill>
                <a:latin typeface="Calibri" pitchFamily="34" charset="0"/>
                <a:ea typeface="Calibri" pitchFamily="34" charset="-122"/>
                <a:cs typeface="Calibri" pitchFamily="34" charset="-120"/>
              </a:rPr>
              <a:t>Requires committed intake process upfront</a:t>
            </a:r>
            <a:endParaRPr lang="en-US" sz="760" dirty="0"/>
          </a:p>
        </p:txBody>
      </p:sp>
      <p:sp>
        <p:nvSpPr>
          <p:cNvPr id="58" name="Text 40"/>
          <p:cNvSpPr/>
          <p:nvPr/>
        </p:nvSpPr>
        <p:spPr>
          <a:xfrm>
            <a:off x="4893171" y="2705695"/>
            <a:ext cx="128141" cy="128141"/>
          </a:xfrm>
          <a:prstGeom prst="ellipse">
            <a:avLst/>
          </a:prstGeom>
          <a:solidFill>
            <a:srgbClr val="FFEBEE"/>
          </a:solidFill>
          <a:ln/>
        </p:spPr>
        <p:txBody>
          <a:bodyPr wrap="none" rtlCol="0" anchor="t"/>
          <a:lstStyle/>
          <a:p>
            <a:pPr marL="0" indent="0">
              <a:buNone/>
            </a:pPr>
            <a:endParaRPr lang="en-US" dirty="0"/>
          </a:p>
        </p:txBody>
      </p:sp>
      <p:pic>
        <p:nvPicPr>
          <p:cNvPr id="59" name="Image 16" descr="preencoded.png"/>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4890873" y="2703397"/>
            <a:ext cx="132588" cy="132588"/>
          </a:xfrm>
          <a:prstGeom prst="rect">
            <a:avLst/>
          </a:prstGeom>
        </p:spPr>
      </p:pic>
      <p:sp>
        <p:nvSpPr>
          <p:cNvPr id="60" name="Text 41"/>
          <p:cNvSpPr/>
          <p:nvPr/>
        </p:nvSpPr>
        <p:spPr>
          <a:xfrm>
            <a:off x="257770" y="4092922"/>
            <a:ext cx="8628459" cy="474762"/>
          </a:xfrm>
          <a:prstGeom prst="roundRect">
            <a:avLst>
              <a:gd name="adj" fmla="val 12038"/>
            </a:avLst>
          </a:prstGeom>
          <a:solidFill>
            <a:srgbClr val="55A49C"/>
          </a:solidFill>
          <a:ln/>
        </p:spPr>
        <p:txBody>
          <a:bodyPr wrap="square" rtlCol="0" anchor="t"/>
          <a:lstStyle/>
          <a:p>
            <a:pPr marL="0" indent="0">
              <a:buNone/>
            </a:pPr>
            <a:endParaRPr lang="en-US" dirty="0"/>
          </a:p>
        </p:txBody>
      </p:sp>
      <p:sp>
        <p:nvSpPr>
          <p:cNvPr id="61" name="Text 42"/>
          <p:cNvSpPr/>
          <p:nvPr/>
        </p:nvSpPr>
        <p:spPr>
          <a:xfrm>
            <a:off x="429220" y="4193084"/>
            <a:ext cx="220028" cy="236190"/>
          </a:xfrm>
          <a:prstGeom prst="rect">
            <a:avLst/>
          </a:prstGeom>
          <a:noFill/>
          <a:ln/>
        </p:spPr>
        <p:txBody>
          <a:bodyPr wrap="none" lIns="0" tIns="0" rIns="0" bIns="0" rtlCol="0" anchor="ctr"/>
          <a:lstStyle/>
          <a:p>
            <a:pPr marL="0" indent="0" algn="l">
              <a:lnSpc>
                <a:spcPts val="1860"/>
              </a:lnSpc>
              <a:buNone/>
            </a:pPr>
            <a:r>
              <a:rPr lang="en-US" sz="1240" dirty="0">
                <a:solidFill>
                  <a:srgbClr val="1A1A2E"/>
                </a:solidFill>
                <a:latin typeface="Calibri" pitchFamily="34" charset="0"/>
                <a:ea typeface="Calibri" pitchFamily="34" charset="-122"/>
                <a:cs typeface="Calibri" pitchFamily="34" charset="-120"/>
              </a:rPr>
              <a:t>✨</a:t>
            </a:r>
            <a:endParaRPr lang="en-US" sz="1240" dirty="0"/>
          </a:p>
        </p:txBody>
      </p:sp>
      <p:sp>
        <p:nvSpPr>
          <p:cNvPr id="62" name="Text 43"/>
          <p:cNvSpPr/>
          <p:nvPr/>
        </p:nvSpPr>
        <p:spPr>
          <a:xfrm>
            <a:off x="715566" y="4185493"/>
            <a:ext cx="8159198" cy="304101"/>
          </a:xfrm>
          <a:prstGeom prst="rect">
            <a:avLst/>
          </a:prstGeom>
          <a:noFill/>
          <a:ln/>
        </p:spPr>
        <p:txBody>
          <a:bodyPr wrap="square" lIns="0" tIns="0" rIns="0" bIns="0" rtlCol="0" anchor="t"/>
          <a:lstStyle/>
          <a:p>
            <a:pPr marL="0" indent="0" algn="l">
              <a:lnSpc>
                <a:spcPts val="1140"/>
              </a:lnSpc>
              <a:buNone/>
            </a:pPr>
            <a:r>
              <a:rPr lang="en-US" sz="760" b="1" dirty="0">
                <a:solidFill>
                  <a:srgbClr val="FFFFFF"/>
                </a:solidFill>
                <a:latin typeface="Calibri" pitchFamily="34" charset="0"/>
                <a:ea typeface="Calibri" pitchFamily="34" charset="-122"/>
                <a:cs typeface="Calibri" pitchFamily="34" charset="-120"/>
              </a:rPr>
              <a:t>Recommendation for new therapists:</a:t>
            </a:r>
            <a:r>
              <a:rPr lang="en-US" sz="760" dirty="0">
                <a:solidFill>
                  <a:srgbClr val="FFFFFF"/>
                </a:solidFill>
                <a:latin typeface="Calibri" pitchFamily="34" charset="0"/>
                <a:ea typeface="Calibri" pitchFamily="34" charset="-122"/>
                <a:cs typeface="Calibri" pitchFamily="34" charset="-120"/>
              </a:rPr>
              <a:t> Start with a closed group of 4–6 students with a clear 8-week curriculum. Easier to manage, easier to document, and more likely to generate the cohesion that makes groups actually work.</a:t>
            </a:r>
            <a:endParaRPr lang="en-US" sz="760" dirty="0"/>
          </a:p>
        </p:txBody>
      </p:sp>
      <p:sp>
        <p:nvSpPr>
          <p:cNvPr id="63" name="Text 44"/>
          <p:cNvSpPr/>
          <p:nvPr/>
        </p:nvSpPr>
        <p:spPr>
          <a:xfrm>
            <a:off x="0" y="4638675"/>
            <a:ext cx="9326880" cy="258961"/>
          </a:xfrm>
          <a:prstGeom prst="rect">
            <a:avLst/>
          </a:prstGeom>
          <a:solidFill>
            <a:srgbClr val="141A42"/>
          </a:solidFill>
          <a:ln/>
        </p:spPr>
        <p:txBody>
          <a:bodyPr wrap="none" lIns="342900" tIns="64770" rIns="342900" bIns="64770" rtlCol="0" anchor="t"/>
          <a:lstStyle/>
          <a:p>
            <a:pPr marL="0" indent="0" algn="l">
              <a:buNone/>
            </a:pPr>
            <a:r>
              <a:rPr lang="en-US" sz="680" kern="0" spc="30" dirty="0">
                <a:solidFill>
                  <a:srgbClr val="FFFFFF"/>
                </a:solidFill>
                <a:latin typeface="Calibri" pitchFamily="34" charset="0"/>
                <a:ea typeface="Calibri" pitchFamily="34" charset="-122"/>
                <a:cs typeface="Calibri" pitchFamily="34" charset="-120"/>
              </a:rPr>
              <a:t>Centerstone </a:t>
            </a:r>
            <a:r>
              <a:rPr lang="en-US" sz="680" kern="0" spc="30">
                <a:solidFill>
                  <a:srgbClr val="FFFFFF"/>
                </a:solidFill>
                <a:latin typeface="Calibri" pitchFamily="34" charset="0"/>
                <a:ea typeface="Calibri" pitchFamily="34" charset="-122"/>
                <a:cs typeface="Calibri" pitchFamily="34" charset="-120"/>
              </a:rPr>
              <a:t>Clinical</a:t>
            </a:r>
            <a:r>
              <a:rPr lang="en-US" sz="680" kern="0" spc="30" dirty="0">
                <a:solidFill>
                  <a:srgbClr val="FFFFFF"/>
                </a:solidFill>
                <a:latin typeface="Calibri" pitchFamily="34" charset="0"/>
                <a:ea typeface="Calibri" pitchFamily="34" charset="-122"/>
                <a:cs typeface="Calibri" pitchFamily="34" charset="-120"/>
              </a:rPr>
              <a:t> Training Series</a:t>
            </a:r>
            <a:endParaRPr lang="en-US" sz="680" dirty="0"/>
          </a:p>
        </p:txBody>
      </p:sp>
      <p:sp>
        <p:nvSpPr>
          <p:cNvPr id="64" name="Text 45"/>
          <p:cNvSpPr/>
          <p:nvPr/>
        </p:nvSpPr>
        <p:spPr>
          <a:xfrm>
            <a:off x="4442966" y="2227957"/>
            <a:ext cx="257770" cy="283547"/>
          </a:xfrm>
          <a:prstGeom prst="ellipse">
            <a:avLst/>
          </a:prstGeom>
          <a:solidFill>
            <a:srgbClr val="F4B753"/>
          </a:solidFill>
          <a:ln/>
          <a:effectLst>
            <a:outerShdw blurRad="57150" dist="13970" dir="5400000" algn="bl" rotWithShape="0">
              <a:srgbClr val="000000">
                <a:alpha val="18000"/>
              </a:srgbClr>
            </a:outerShdw>
          </a:effectLst>
        </p:spPr>
        <p:txBody>
          <a:bodyPr wrap="none" lIns="0" tIns="0" rIns="0" bIns="0" rtlCol="0" anchor="ctr"/>
          <a:lstStyle/>
          <a:p>
            <a:pPr marL="0" indent="0" algn="ctr">
              <a:buNone/>
            </a:pPr>
            <a:r>
              <a:rPr lang="en-US" sz="790" b="1" dirty="0">
                <a:solidFill>
                  <a:srgbClr val="141A42"/>
                </a:solidFill>
                <a:latin typeface="Calibri" pitchFamily="34" charset="0"/>
                <a:ea typeface="Calibri" pitchFamily="34" charset="-122"/>
                <a:cs typeface="Calibri" pitchFamily="34" charset="-120"/>
              </a:rPr>
              <a:t>VS</a:t>
            </a:r>
            <a:endParaRPr lang="en-US" sz="79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490686"/>
          </a:xfrm>
          <a:prstGeom prst="rect">
            <a:avLst/>
          </a:prstGeom>
          <a:solidFill>
            <a:srgbClr val="367689"/>
          </a:solidFill>
          <a:ln/>
        </p:spPr>
        <p:txBody>
          <a:bodyPr wrap="square" rtlCol="0" anchor="t"/>
          <a:lstStyle/>
          <a:p>
            <a:pPr marL="0" indent="0">
              <a:buNone/>
            </a:pPr>
            <a:endParaRPr lang="en-US" dirty="0"/>
          </a:p>
        </p:txBody>
      </p:sp>
      <p:sp>
        <p:nvSpPr>
          <p:cNvPr id="3" name="Text 1"/>
          <p:cNvSpPr/>
          <p:nvPr/>
        </p:nvSpPr>
        <p:spPr>
          <a:xfrm>
            <a:off x="285750" y="100310"/>
            <a:ext cx="9172575" cy="240655"/>
          </a:xfrm>
          <a:prstGeom prst="rect">
            <a:avLst/>
          </a:prstGeom>
          <a:noFill/>
          <a:ln/>
        </p:spPr>
        <p:txBody>
          <a:bodyPr wrap="none" lIns="0" tIns="0" rIns="0" bIns="0" rtlCol="0" anchor="t"/>
          <a:lstStyle/>
          <a:p>
            <a:pPr marL="0" indent="0" algn="l">
              <a:lnSpc>
                <a:spcPts val="1896"/>
              </a:lnSpc>
              <a:buNone/>
            </a:pPr>
            <a:r>
              <a:rPr lang="en-US" sz="1580" b="1" kern="0" spc="20" dirty="0">
                <a:solidFill>
                  <a:srgbClr val="FFFFFF"/>
                </a:solidFill>
                <a:latin typeface="Calibri Light" pitchFamily="34" charset="0"/>
                <a:ea typeface="Calibri Light" pitchFamily="34" charset="-122"/>
                <a:cs typeface="Calibri Light" pitchFamily="34" charset="-120"/>
              </a:rPr>
              <a:t>Assigning Clients &amp; Group Dynamics</a:t>
            </a:r>
            <a:endParaRPr lang="en-US" sz="1580" dirty="0"/>
          </a:p>
        </p:txBody>
      </p:sp>
      <p:sp>
        <p:nvSpPr>
          <p:cNvPr id="4" name="Text 2"/>
          <p:cNvSpPr/>
          <p:nvPr/>
        </p:nvSpPr>
        <p:spPr>
          <a:xfrm>
            <a:off x="285750" y="398115"/>
            <a:ext cx="8572500" cy="21580"/>
          </a:xfrm>
          <a:prstGeom prst="roundRect">
            <a:avLst>
              <a:gd name="adj" fmla="val 64736"/>
            </a:avLst>
          </a:prstGeom>
          <a:solidFill>
            <a:srgbClr val="F4B753"/>
          </a:solidFill>
          <a:ln/>
        </p:spPr>
        <p:txBody>
          <a:bodyPr wrap="none" rtlCol="0" anchor="t"/>
          <a:lstStyle/>
          <a:p>
            <a:pPr marL="0" indent="0">
              <a:buNone/>
            </a:pPr>
            <a:endParaRPr lang="en-US" dirty="0"/>
          </a:p>
        </p:txBody>
      </p:sp>
      <p:sp>
        <p:nvSpPr>
          <p:cNvPr id="5" name="Text 3"/>
          <p:cNvSpPr/>
          <p:nvPr/>
        </p:nvSpPr>
        <p:spPr>
          <a:xfrm>
            <a:off x="200620" y="590996"/>
            <a:ext cx="2856607" cy="2075557"/>
          </a:xfrm>
          <a:prstGeom prst="roundRect">
            <a:avLst>
              <a:gd name="adj" fmla="val 2386"/>
            </a:avLst>
          </a:prstGeom>
          <a:solidFill>
            <a:srgbClr val="FFFFFF"/>
          </a:solidFill>
          <a:ln/>
          <a:effectLst>
            <a:outerShdw blurRad="57150" dist="7620" dir="5400000" algn="bl" rotWithShape="0">
              <a:srgbClr val="141A42">
                <a:alpha val="9000"/>
              </a:srgbClr>
            </a:outerShdw>
          </a:effectLst>
        </p:spPr>
        <p:txBody>
          <a:bodyPr wrap="square" rtlCol="0" anchor="t"/>
          <a:lstStyle/>
          <a:p>
            <a:pPr marL="0" indent="0">
              <a:buNone/>
            </a:pPr>
            <a:endParaRPr lang="en-US" dirty="0"/>
          </a:p>
        </p:txBody>
      </p:sp>
      <p:sp>
        <p:nvSpPr>
          <p:cNvPr id="6" name="Text 4"/>
          <p:cNvSpPr/>
          <p:nvPr/>
        </p:nvSpPr>
        <p:spPr>
          <a:xfrm>
            <a:off x="200620" y="590996"/>
            <a:ext cx="28575" cy="2075557"/>
          </a:xfrm>
          <a:custGeom>
            <a:avLst/>
            <a:gdLst/>
            <a:ahLst/>
            <a:cxnLst/>
            <a:rect l="l" t="t" r="r" b="b"/>
            <a:pathLst>
              <a:path w="28575" h="2075557">
                <a:moveTo>
                  <a:pt x="0" y="49530"/>
                </a:moveTo>
                <a:lnTo>
                  <a:pt x="3572" y="31062"/>
                </a:lnTo>
                <a:lnTo>
                  <a:pt x="7144" y="23905"/>
                </a:lnTo>
                <a:lnTo>
                  <a:pt x="10716" y="18762"/>
                </a:lnTo>
                <a:lnTo>
                  <a:pt x="14288" y="14728"/>
                </a:lnTo>
                <a:lnTo>
                  <a:pt x="17859" y="11449"/>
                </a:lnTo>
                <a:lnTo>
                  <a:pt x="21431" y="8742"/>
                </a:lnTo>
                <a:lnTo>
                  <a:pt x="25003" y="6499"/>
                </a:lnTo>
                <a:lnTo>
                  <a:pt x="28575" y="4651"/>
                </a:lnTo>
                <a:lnTo>
                  <a:pt x="28575" y="2070906"/>
                </a:lnTo>
                <a:lnTo>
                  <a:pt x="25003" y="2069058"/>
                </a:lnTo>
                <a:lnTo>
                  <a:pt x="21431" y="2066815"/>
                </a:lnTo>
                <a:lnTo>
                  <a:pt x="17859" y="2064108"/>
                </a:lnTo>
                <a:lnTo>
                  <a:pt x="14288" y="2060829"/>
                </a:lnTo>
                <a:lnTo>
                  <a:pt x="10716" y="2056795"/>
                </a:lnTo>
                <a:lnTo>
                  <a:pt x="7144" y="2051652"/>
                </a:lnTo>
                <a:lnTo>
                  <a:pt x="3572" y="2044495"/>
                </a:lnTo>
                <a:lnTo>
                  <a:pt x="0" y="2026027"/>
                </a:lnTo>
                <a:close/>
              </a:path>
            </a:pathLst>
          </a:custGeom>
          <a:solidFill>
            <a:srgbClr val="367689"/>
          </a:solidFill>
          <a:ln/>
        </p:spPr>
        <p:txBody>
          <a:bodyPr wrap="square" rtlCol="0" anchor="t"/>
          <a:lstStyle/>
          <a:p>
            <a:pPr marL="0" indent="0">
              <a:buNone/>
            </a:pPr>
            <a:endParaRPr lang="en-US" dirty="0"/>
          </a:p>
        </p:txBody>
      </p:sp>
      <p:sp>
        <p:nvSpPr>
          <p:cNvPr id="7" name="Text 5"/>
          <p:cNvSpPr/>
          <p:nvPr/>
        </p:nvSpPr>
        <p:spPr>
          <a:xfrm>
            <a:off x="343495" y="683568"/>
            <a:ext cx="199073" cy="143470"/>
          </a:xfrm>
          <a:prstGeom prst="rect">
            <a:avLst/>
          </a:prstGeom>
          <a:noFill/>
          <a:ln/>
        </p:spPr>
        <p:txBody>
          <a:bodyPr wrap="none" lIns="0" tIns="0" rIns="0" bIns="0" rtlCol="0" anchor="ctr"/>
          <a:lstStyle/>
          <a:p>
            <a:pPr marL="0" indent="0" algn="l">
              <a:lnSpc>
                <a:spcPts val="1130"/>
              </a:lnSpc>
              <a:buNone/>
            </a:pPr>
            <a:r>
              <a:rPr lang="en-US" sz="1130" dirty="0">
                <a:solidFill>
                  <a:srgbClr val="1A1A2E"/>
                </a:solidFill>
                <a:latin typeface="Calibri" pitchFamily="34" charset="0"/>
                <a:ea typeface="Calibri" pitchFamily="34" charset="-122"/>
                <a:cs typeface="Calibri" pitchFamily="34" charset="-120"/>
              </a:rPr>
              <a:t>🧩</a:t>
            </a:r>
            <a:endParaRPr lang="en-US" sz="1130" dirty="0"/>
          </a:p>
        </p:txBody>
      </p:sp>
      <p:sp>
        <p:nvSpPr>
          <p:cNvPr id="8" name="Text 6"/>
          <p:cNvSpPr/>
          <p:nvPr/>
        </p:nvSpPr>
        <p:spPr>
          <a:xfrm>
            <a:off x="589211" y="692795"/>
            <a:ext cx="1411843" cy="125016"/>
          </a:xfrm>
          <a:prstGeom prst="rect">
            <a:avLst/>
          </a:prstGeom>
          <a:noFill/>
          <a:ln/>
        </p:spPr>
        <p:txBody>
          <a:bodyPr wrap="none" lIns="0" tIns="0" rIns="0" bIns="0" rtlCol="0" anchor="ctr"/>
          <a:lstStyle/>
          <a:p>
            <a:pPr marL="0" indent="0" algn="l">
              <a:lnSpc>
                <a:spcPts val="984"/>
              </a:lnSpc>
              <a:buNone/>
            </a:pPr>
            <a:r>
              <a:rPr lang="en-US" sz="820" b="1" dirty="0">
                <a:solidFill>
                  <a:srgbClr val="367689"/>
                </a:solidFill>
                <a:latin typeface="Calibri Light" pitchFamily="34" charset="0"/>
                <a:ea typeface="Calibri Light" pitchFamily="34" charset="-122"/>
                <a:cs typeface="Calibri Light" pitchFamily="34" charset="-120"/>
              </a:rPr>
              <a:t>Assess Functioning Level</a:t>
            </a:r>
            <a:endParaRPr lang="en-US" sz="820" dirty="0"/>
          </a:p>
        </p:txBody>
      </p:sp>
      <p:sp>
        <p:nvSpPr>
          <p:cNvPr id="9" name="Text 7"/>
          <p:cNvSpPr/>
          <p:nvPr/>
        </p:nvSpPr>
        <p:spPr>
          <a:xfrm>
            <a:off x="343495" y="862459"/>
            <a:ext cx="2651421" cy="417240"/>
          </a:xfrm>
          <a:prstGeom prst="rect">
            <a:avLst/>
          </a:prstGeom>
          <a:noFill/>
          <a:ln/>
        </p:spPr>
        <p:txBody>
          <a:bodyPr wrap="square" lIns="0" tIns="0" rIns="0" bIns="0" rtlCol="0" anchor="t"/>
          <a:lstStyle/>
          <a:p>
            <a:pPr marL="0" indent="0" algn="l">
              <a:lnSpc>
                <a:spcPts val="1044"/>
              </a:lnSpc>
              <a:buNone/>
            </a:pPr>
            <a:r>
              <a:rPr lang="en-US" sz="720" dirty="0">
                <a:solidFill>
                  <a:srgbClr val="3A4A55"/>
                </a:solidFill>
                <a:latin typeface="Calibri" pitchFamily="34" charset="0"/>
                <a:ea typeface="Calibri" pitchFamily="34" charset="-122"/>
                <a:cs typeface="Calibri" pitchFamily="34" charset="-120"/>
              </a:rPr>
              <a:t>Match students with similar communication and emotional regulation baselines. Wide gaps create friction that slows the group.</a:t>
            </a:r>
            <a:endParaRPr lang="en-US" sz="720" dirty="0"/>
          </a:p>
        </p:txBody>
      </p:sp>
      <p:sp>
        <p:nvSpPr>
          <p:cNvPr id="10" name="Text 8"/>
          <p:cNvSpPr/>
          <p:nvPr/>
        </p:nvSpPr>
        <p:spPr>
          <a:xfrm>
            <a:off x="3143548" y="590996"/>
            <a:ext cx="2856756" cy="2075557"/>
          </a:xfrm>
          <a:prstGeom prst="roundRect">
            <a:avLst>
              <a:gd name="adj" fmla="val 2386"/>
            </a:avLst>
          </a:prstGeom>
          <a:solidFill>
            <a:srgbClr val="FFFFFF"/>
          </a:solidFill>
          <a:ln/>
          <a:effectLst>
            <a:outerShdw blurRad="57150" dist="7620" dir="5400000" algn="bl" rotWithShape="0">
              <a:srgbClr val="141A42">
                <a:alpha val="9000"/>
              </a:srgbClr>
            </a:outerShdw>
          </a:effectLst>
        </p:spPr>
        <p:txBody>
          <a:bodyPr wrap="square" rtlCol="0" anchor="t"/>
          <a:lstStyle/>
          <a:p>
            <a:pPr marL="0" indent="0">
              <a:buNone/>
            </a:pPr>
            <a:endParaRPr lang="en-US" dirty="0"/>
          </a:p>
        </p:txBody>
      </p:sp>
      <p:sp>
        <p:nvSpPr>
          <p:cNvPr id="11" name="Text 9"/>
          <p:cNvSpPr/>
          <p:nvPr/>
        </p:nvSpPr>
        <p:spPr>
          <a:xfrm>
            <a:off x="3143548" y="590996"/>
            <a:ext cx="28575" cy="2075557"/>
          </a:xfrm>
          <a:custGeom>
            <a:avLst/>
            <a:gdLst/>
            <a:ahLst/>
            <a:cxnLst/>
            <a:rect l="l" t="t" r="r" b="b"/>
            <a:pathLst>
              <a:path w="28575" h="2075557">
                <a:moveTo>
                  <a:pt x="0" y="49530"/>
                </a:moveTo>
                <a:lnTo>
                  <a:pt x="3572" y="31062"/>
                </a:lnTo>
                <a:lnTo>
                  <a:pt x="7144" y="23905"/>
                </a:lnTo>
                <a:lnTo>
                  <a:pt x="10716" y="18762"/>
                </a:lnTo>
                <a:lnTo>
                  <a:pt x="14288" y="14728"/>
                </a:lnTo>
                <a:lnTo>
                  <a:pt x="17859" y="11449"/>
                </a:lnTo>
                <a:lnTo>
                  <a:pt x="21431" y="8742"/>
                </a:lnTo>
                <a:lnTo>
                  <a:pt x="25003" y="6499"/>
                </a:lnTo>
                <a:lnTo>
                  <a:pt x="28575" y="4651"/>
                </a:lnTo>
                <a:lnTo>
                  <a:pt x="28575" y="2070906"/>
                </a:lnTo>
                <a:lnTo>
                  <a:pt x="25003" y="2069058"/>
                </a:lnTo>
                <a:lnTo>
                  <a:pt x="21431" y="2066815"/>
                </a:lnTo>
                <a:lnTo>
                  <a:pt x="17859" y="2064108"/>
                </a:lnTo>
                <a:lnTo>
                  <a:pt x="14288" y="2060829"/>
                </a:lnTo>
                <a:lnTo>
                  <a:pt x="10716" y="2056795"/>
                </a:lnTo>
                <a:lnTo>
                  <a:pt x="7144" y="2051652"/>
                </a:lnTo>
                <a:lnTo>
                  <a:pt x="3572" y="2044495"/>
                </a:lnTo>
                <a:lnTo>
                  <a:pt x="0" y="2026027"/>
                </a:lnTo>
                <a:close/>
              </a:path>
            </a:pathLst>
          </a:custGeom>
          <a:solidFill>
            <a:srgbClr val="55A49C"/>
          </a:solidFill>
          <a:ln/>
        </p:spPr>
        <p:txBody>
          <a:bodyPr wrap="square" rtlCol="0" anchor="t"/>
          <a:lstStyle/>
          <a:p>
            <a:pPr marL="0" indent="0">
              <a:buNone/>
            </a:pPr>
            <a:endParaRPr lang="en-US" dirty="0"/>
          </a:p>
        </p:txBody>
      </p:sp>
      <p:sp>
        <p:nvSpPr>
          <p:cNvPr id="12" name="Text 10"/>
          <p:cNvSpPr/>
          <p:nvPr/>
        </p:nvSpPr>
        <p:spPr>
          <a:xfrm>
            <a:off x="3286423" y="683568"/>
            <a:ext cx="199073" cy="143470"/>
          </a:xfrm>
          <a:prstGeom prst="rect">
            <a:avLst/>
          </a:prstGeom>
          <a:noFill/>
          <a:ln/>
        </p:spPr>
        <p:txBody>
          <a:bodyPr wrap="none" lIns="0" tIns="0" rIns="0" bIns="0" rtlCol="0" anchor="ctr"/>
          <a:lstStyle/>
          <a:p>
            <a:pPr marL="0" indent="0" algn="l">
              <a:lnSpc>
                <a:spcPts val="1130"/>
              </a:lnSpc>
              <a:buNone/>
            </a:pPr>
            <a:r>
              <a:rPr lang="en-US" sz="1130" dirty="0">
                <a:solidFill>
                  <a:srgbClr val="1A1A2E"/>
                </a:solidFill>
                <a:latin typeface="Calibri" pitchFamily="34" charset="0"/>
                <a:ea typeface="Calibri" pitchFamily="34" charset="-122"/>
                <a:cs typeface="Calibri" pitchFamily="34" charset="-120"/>
              </a:rPr>
              <a:t>🏫</a:t>
            </a:r>
            <a:endParaRPr lang="en-US" sz="1130" dirty="0"/>
          </a:p>
        </p:txBody>
      </p:sp>
      <p:sp>
        <p:nvSpPr>
          <p:cNvPr id="13" name="Text 11"/>
          <p:cNvSpPr/>
          <p:nvPr/>
        </p:nvSpPr>
        <p:spPr>
          <a:xfrm>
            <a:off x="3532138" y="692795"/>
            <a:ext cx="1201966" cy="125016"/>
          </a:xfrm>
          <a:prstGeom prst="rect">
            <a:avLst/>
          </a:prstGeom>
          <a:noFill/>
          <a:ln/>
        </p:spPr>
        <p:txBody>
          <a:bodyPr wrap="none" lIns="0" tIns="0" rIns="0" bIns="0" rtlCol="0" anchor="ctr"/>
          <a:lstStyle/>
          <a:p>
            <a:pPr marL="0" indent="0" algn="l">
              <a:lnSpc>
                <a:spcPts val="984"/>
              </a:lnSpc>
              <a:buNone/>
            </a:pPr>
            <a:r>
              <a:rPr lang="en-US" sz="820" b="1" dirty="0">
                <a:solidFill>
                  <a:srgbClr val="55A49C"/>
                </a:solidFill>
                <a:latin typeface="Calibri Light" pitchFamily="34" charset="0"/>
                <a:ea typeface="Calibri Light" pitchFamily="34" charset="-122"/>
                <a:cs typeface="Calibri Light" pitchFamily="34" charset="-120"/>
              </a:rPr>
              <a:t>Consider Peer History</a:t>
            </a:r>
            <a:endParaRPr lang="en-US" sz="820" dirty="0"/>
          </a:p>
        </p:txBody>
      </p:sp>
      <p:sp>
        <p:nvSpPr>
          <p:cNvPr id="14" name="Text 12"/>
          <p:cNvSpPr/>
          <p:nvPr/>
        </p:nvSpPr>
        <p:spPr>
          <a:xfrm>
            <a:off x="3286423" y="862459"/>
            <a:ext cx="2651572" cy="278160"/>
          </a:xfrm>
          <a:prstGeom prst="rect">
            <a:avLst/>
          </a:prstGeom>
          <a:noFill/>
          <a:ln/>
        </p:spPr>
        <p:txBody>
          <a:bodyPr wrap="square" lIns="0" tIns="0" rIns="0" bIns="0" rtlCol="0" anchor="t"/>
          <a:lstStyle/>
          <a:p>
            <a:pPr marL="0" indent="0" algn="l">
              <a:lnSpc>
                <a:spcPts val="1044"/>
              </a:lnSpc>
              <a:buNone/>
            </a:pPr>
            <a:r>
              <a:rPr lang="en-US" sz="720" dirty="0">
                <a:solidFill>
                  <a:srgbClr val="3A4A55"/>
                </a:solidFill>
                <a:latin typeface="Calibri" pitchFamily="34" charset="0"/>
                <a:ea typeface="Calibri" pitchFamily="34" charset="-122"/>
                <a:cs typeface="Calibri" pitchFamily="34" charset="-120"/>
              </a:rPr>
              <a:t>Past conflicts between students can derail a group before it starts. Ask school counselors and teachers before you place.</a:t>
            </a:r>
            <a:endParaRPr lang="en-US" sz="720" dirty="0"/>
          </a:p>
        </p:txBody>
      </p:sp>
      <p:sp>
        <p:nvSpPr>
          <p:cNvPr id="15" name="Text 13"/>
          <p:cNvSpPr/>
          <p:nvPr/>
        </p:nvSpPr>
        <p:spPr>
          <a:xfrm>
            <a:off x="6086624" y="590996"/>
            <a:ext cx="2856607" cy="2075557"/>
          </a:xfrm>
          <a:prstGeom prst="roundRect">
            <a:avLst>
              <a:gd name="adj" fmla="val 2386"/>
            </a:avLst>
          </a:prstGeom>
          <a:solidFill>
            <a:srgbClr val="FFFFFF"/>
          </a:solidFill>
          <a:ln/>
          <a:effectLst>
            <a:outerShdw blurRad="57150" dist="7620" dir="5400000" algn="bl" rotWithShape="0">
              <a:srgbClr val="141A42">
                <a:alpha val="9000"/>
              </a:srgbClr>
            </a:outerShdw>
          </a:effectLst>
        </p:spPr>
        <p:txBody>
          <a:bodyPr wrap="square" rtlCol="0" anchor="t"/>
          <a:lstStyle/>
          <a:p>
            <a:pPr marL="0" indent="0">
              <a:buNone/>
            </a:pPr>
            <a:endParaRPr lang="en-US" dirty="0"/>
          </a:p>
        </p:txBody>
      </p:sp>
      <p:sp>
        <p:nvSpPr>
          <p:cNvPr id="16" name="Text 14"/>
          <p:cNvSpPr/>
          <p:nvPr/>
        </p:nvSpPr>
        <p:spPr>
          <a:xfrm>
            <a:off x="6086624" y="590996"/>
            <a:ext cx="28575" cy="2075557"/>
          </a:xfrm>
          <a:custGeom>
            <a:avLst/>
            <a:gdLst/>
            <a:ahLst/>
            <a:cxnLst/>
            <a:rect l="l" t="t" r="r" b="b"/>
            <a:pathLst>
              <a:path w="28575" h="2075557">
                <a:moveTo>
                  <a:pt x="0" y="49530"/>
                </a:moveTo>
                <a:lnTo>
                  <a:pt x="3572" y="31062"/>
                </a:lnTo>
                <a:lnTo>
                  <a:pt x="7144" y="23905"/>
                </a:lnTo>
                <a:lnTo>
                  <a:pt x="10716" y="18762"/>
                </a:lnTo>
                <a:lnTo>
                  <a:pt x="14288" y="14728"/>
                </a:lnTo>
                <a:lnTo>
                  <a:pt x="17859" y="11449"/>
                </a:lnTo>
                <a:lnTo>
                  <a:pt x="21431" y="8742"/>
                </a:lnTo>
                <a:lnTo>
                  <a:pt x="25003" y="6499"/>
                </a:lnTo>
                <a:lnTo>
                  <a:pt x="28575" y="4651"/>
                </a:lnTo>
                <a:lnTo>
                  <a:pt x="28575" y="2070906"/>
                </a:lnTo>
                <a:lnTo>
                  <a:pt x="25003" y="2069058"/>
                </a:lnTo>
                <a:lnTo>
                  <a:pt x="21431" y="2066815"/>
                </a:lnTo>
                <a:lnTo>
                  <a:pt x="17859" y="2064108"/>
                </a:lnTo>
                <a:lnTo>
                  <a:pt x="14288" y="2060829"/>
                </a:lnTo>
                <a:lnTo>
                  <a:pt x="10716" y="2056795"/>
                </a:lnTo>
                <a:lnTo>
                  <a:pt x="7144" y="2051652"/>
                </a:lnTo>
                <a:lnTo>
                  <a:pt x="3572" y="2044495"/>
                </a:lnTo>
                <a:lnTo>
                  <a:pt x="0" y="2026027"/>
                </a:lnTo>
                <a:close/>
              </a:path>
            </a:pathLst>
          </a:custGeom>
          <a:solidFill>
            <a:srgbClr val="F4B753"/>
          </a:solidFill>
          <a:ln/>
        </p:spPr>
        <p:txBody>
          <a:bodyPr wrap="square" rtlCol="0" anchor="t"/>
          <a:lstStyle/>
          <a:p>
            <a:pPr marL="0" indent="0">
              <a:buNone/>
            </a:pPr>
            <a:endParaRPr lang="en-US" dirty="0"/>
          </a:p>
        </p:txBody>
      </p:sp>
      <p:sp>
        <p:nvSpPr>
          <p:cNvPr id="17" name="Text 15"/>
          <p:cNvSpPr/>
          <p:nvPr/>
        </p:nvSpPr>
        <p:spPr>
          <a:xfrm>
            <a:off x="6229499" y="683568"/>
            <a:ext cx="199073" cy="143470"/>
          </a:xfrm>
          <a:prstGeom prst="rect">
            <a:avLst/>
          </a:prstGeom>
          <a:noFill/>
          <a:ln/>
        </p:spPr>
        <p:txBody>
          <a:bodyPr wrap="none" lIns="0" tIns="0" rIns="0" bIns="0" rtlCol="0" anchor="ctr"/>
          <a:lstStyle/>
          <a:p>
            <a:pPr marL="0" indent="0" algn="l">
              <a:lnSpc>
                <a:spcPts val="1130"/>
              </a:lnSpc>
              <a:buNone/>
            </a:pPr>
            <a:r>
              <a:rPr lang="en-US" sz="1130" dirty="0">
                <a:solidFill>
                  <a:srgbClr val="1A1A2E"/>
                </a:solidFill>
                <a:latin typeface="Calibri" pitchFamily="34" charset="0"/>
                <a:ea typeface="Calibri" pitchFamily="34" charset="-122"/>
                <a:cs typeface="Calibri" pitchFamily="34" charset="-120"/>
              </a:rPr>
              <a:t>📊</a:t>
            </a:r>
            <a:endParaRPr lang="en-US" sz="1130" dirty="0"/>
          </a:p>
        </p:txBody>
      </p:sp>
      <p:sp>
        <p:nvSpPr>
          <p:cNvPr id="18" name="Text 16"/>
          <p:cNvSpPr/>
          <p:nvPr/>
        </p:nvSpPr>
        <p:spPr>
          <a:xfrm>
            <a:off x="6475214" y="692795"/>
            <a:ext cx="1157436" cy="125016"/>
          </a:xfrm>
          <a:prstGeom prst="rect">
            <a:avLst/>
          </a:prstGeom>
          <a:noFill/>
          <a:ln/>
        </p:spPr>
        <p:txBody>
          <a:bodyPr wrap="none" lIns="0" tIns="0" rIns="0" bIns="0" rtlCol="0" anchor="ctr"/>
          <a:lstStyle/>
          <a:p>
            <a:pPr marL="0" indent="0" algn="l">
              <a:lnSpc>
                <a:spcPts val="984"/>
              </a:lnSpc>
              <a:buNone/>
            </a:pPr>
            <a:r>
              <a:rPr lang="en-US" sz="820" b="1" dirty="0">
                <a:solidFill>
                  <a:srgbClr val="C48B1F"/>
                </a:solidFill>
                <a:latin typeface="Calibri Light" pitchFamily="34" charset="0"/>
                <a:ea typeface="Calibri Light" pitchFamily="34" charset="-122"/>
                <a:cs typeface="Calibri Light" pitchFamily="34" charset="-120"/>
              </a:rPr>
              <a:t>Developmental Stage</a:t>
            </a:r>
            <a:endParaRPr lang="en-US" sz="820" dirty="0"/>
          </a:p>
        </p:txBody>
      </p:sp>
      <p:sp>
        <p:nvSpPr>
          <p:cNvPr id="19" name="Text 17"/>
          <p:cNvSpPr/>
          <p:nvPr/>
        </p:nvSpPr>
        <p:spPr>
          <a:xfrm>
            <a:off x="6229499" y="862459"/>
            <a:ext cx="2651421" cy="278160"/>
          </a:xfrm>
          <a:prstGeom prst="rect">
            <a:avLst/>
          </a:prstGeom>
          <a:noFill/>
          <a:ln/>
        </p:spPr>
        <p:txBody>
          <a:bodyPr wrap="square" lIns="0" tIns="0" rIns="0" bIns="0" rtlCol="0" anchor="t"/>
          <a:lstStyle/>
          <a:p>
            <a:pPr marL="0" indent="0" algn="l">
              <a:lnSpc>
                <a:spcPts val="1044"/>
              </a:lnSpc>
              <a:buNone/>
            </a:pPr>
            <a:r>
              <a:rPr lang="en-US" sz="720" dirty="0">
                <a:solidFill>
                  <a:srgbClr val="3A4A55"/>
                </a:solidFill>
                <a:latin typeface="Calibri" pitchFamily="34" charset="0"/>
                <a:ea typeface="Calibri" pitchFamily="34" charset="-122"/>
                <a:cs typeface="Calibri" pitchFamily="34" charset="-120"/>
              </a:rPr>
              <a:t>Grade proximity matters. An 8th grader and a 5th grader may share a diagnosis but not a social world.</a:t>
            </a:r>
            <a:endParaRPr lang="en-US" sz="720" dirty="0"/>
          </a:p>
        </p:txBody>
      </p:sp>
      <p:sp>
        <p:nvSpPr>
          <p:cNvPr id="20" name="Text 18"/>
          <p:cNvSpPr/>
          <p:nvPr/>
        </p:nvSpPr>
        <p:spPr>
          <a:xfrm>
            <a:off x="200620" y="2752874"/>
            <a:ext cx="2856607" cy="2075706"/>
          </a:xfrm>
          <a:prstGeom prst="roundRect">
            <a:avLst>
              <a:gd name="adj" fmla="val 2386"/>
            </a:avLst>
          </a:prstGeom>
          <a:solidFill>
            <a:srgbClr val="FFFFFF"/>
          </a:solidFill>
          <a:ln/>
          <a:effectLst>
            <a:outerShdw blurRad="57150" dist="7620" dir="5400000" algn="bl" rotWithShape="0">
              <a:srgbClr val="141A42">
                <a:alpha val="9000"/>
              </a:srgbClr>
            </a:outerShdw>
          </a:effectLst>
        </p:spPr>
        <p:txBody>
          <a:bodyPr wrap="square" rtlCol="0" anchor="t"/>
          <a:lstStyle/>
          <a:p>
            <a:pPr marL="0" indent="0">
              <a:buNone/>
            </a:pPr>
            <a:endParaRPr lang="en-US" dirty="0"/>
          </a:p>
        </p:txBody>
      </p:sp>
      <p:sp>
        <p:nvSpPr>
          <p:cNvPr id="21" name="Text 19"/>
          <p:cNvSpPr/>
          <p:nvPr/>
        </p:nvSpPr>
        <p:spPr>
          <a:xfrm>
            <a:off x="200620" y="2752874"/>
            <a:ext cx="28575" cy="2075706"/>
          </a:xfrm>
          <a:custGeom>
            <a:avLst/>
            <a:gdLst/>
            <a:ahLst/>
            <a:cxnLst/>
            <a:rect l="l" t="t" r="r" b="b"/>
            <a:pathLst>
              <a:path w="28575" h="2075706">
                <a:moveTo>
                  <a:pt x="0" y="49530"/>
                </a:moveTo>
                <a:lnTo>
                  <a:pt x="3572" y="31062"/>
                </a:lnTo>
                <a:lnTo>
                  <a:pt x="7144" y="23905"/>
                </a:lnTo>
                <a:lnTo>
                  <a:pt x="10716" y="18762"/>
                </a:lnTo>
                <a:lnTo>
                  <a:pt x="14288" y="14728"/>
                </a:lnTo>
                <a:lnTo>
                  <a:pt x="17859" y="11449"/>
                </a:lnTo>
                <a:lnTo>
                  <a:pt x="21431" y="8742"/>
                </a:lnTo>
                <a:lnTo>
                  <a:pt x="25003" y="6499"/>
                </a:lnTo>
                <a:lnTo>
                  <a:pt x="28575" y="4651"/>
                </a:lnTo>
                <a:lnTo>
                  <a:pt x="28575" y="2071055"/>
                </a:lnTo>
                <a:lnTo>
                  <a:pt x="25003" y="2069207"/>
                </a:lnTo>
                <a:lnTo>
                  <a:pt x="21431" y="2066964"/>
                </a:lnTo>
                <a:lnTo>
                  <a:pt x="17859" y="2064257"/>
                </a:lnTo>
                <a:lnTo>
                  <a:pt x="14288" y="2060978"/>
                </a:lnTo>
                <a:lnTo>
                  <a:pt x="10716" y="2056944"/>
                </a:lnTo>
                <a:lnTo>
                  <a:pt x="7144" y="2051801"/>
                </a:lnTo>
                <a:lnTo>
                  <a:pt x="3572" y="2044644"/>
                </a:lnTo>
                <a:lnTo>
                  <a:pt x="0" y="2026176"/>
                </a:lnTo>
                <a:close/>
              </a:path>
            </a:pathLst>
          </a:custGeom>
          <a:solidFill>
            <a:srgbClr val="E4923F"/>
          </a:solidFill>
          <a:ln/>
        </p:spPr>
        <p:txBody>
          <a:bodyPr wrap="square" rtlCol="0" anchor="t"/>
          <a:lstStyle/>
          <a:p>
            <a:pPr marL="0" indent="0">
              <a:buNone/>
            </a:pPr>
            <a:endParaRPr lang="en-US" dirty="0"/>
          </a:p>
        </p:txBody>
      </p:sp>
      <p:sp>
        <p:nvSpPr>
          <p:cNvPr id="22" name="Text 20"/>
          <p:cNvSpPr/>
          <p:nvPr/>
        </p:nvSpPr>
        <p:spPr>
          <a:xfrm>
            <a:off x="343495" y="2845445"/>
            <a:ext cx="199073" cy="143470"/>
          </a:xfrm>
          <a:prstGeom prst="rect">
            <a:avLst/>
          </a:prstGeom>
          <a:noFill/>
          <a:ln/>
        </p:spPr>
        <p:txBody>
          <a:bodyPr wrap="none" lIns="0" tIns="0" rIns="0" bIns="0" rtlCol="0" anchor="ctr"/>
          <a:lstStyle/>
          <a:p>
            <a:pPr marL="0" indent="0" algn="l">
              <a:lnSpc>
                <a:spcPts val="1130"/>
              </a:lnSpc>
              <a:buNone/>
            </a:pPr>
            <a:r>
              <a:rPr lang="en-US" sz="1130" dirty="0">
                <a:solidFill>
                  <a:srgbClr val="1A1A2E"/>
                </a:solidFill>
                <a:latin typeface="Calibri" pitchFamily="34" charset="0"/>
                <a:ea typeface="Calibri" pitchFamily="34" charset="-122"/>
                <a:cs typeface="Calibri" pitchFamily="34" charset="-120"/>
              </a:rPr>
              <a:t>⚖️</a:t>
            </a:r>
            <a:endParaRPr lang="en-US" sz="1130" dirty="0"/>
          </a:p>
        </p:txBody>
      </p:sp>
      <p:sp>
        <p:nvSpPr>
          <p:cNvPr id="23" name="Text 21"/>
          <p:cNvSpPr/>
          <p:nvPr/>
        </p:nvSpPr>
        <p:spPr>
          <a:xfrm>
            <a:off x="589211" y="2854672"/>
            <a:ext cx="998473" cy="125016"/>
          </a:xfrm>
          <a:prstGeom prst="rect">
            <a:avLst/>
          </a:prstGeom>
          <a:noFill/>
          <a:ln/>
        </p:spPr>
        <p:txBody>
          <a:bodyPr wrap="none" lIns="0" tIns="0" rIns="0" bIns="0" rtlCol="0" anchor="ctr"/>
          <a:lstStyle/>
          <a:p>
            <a:pPr marL="0" indent="0" algn="l">
              <a:lnSpc>
                <a:spcPts val="984"/>
              </a:lnSpc>
              <a:buNone/>
            </a:pPr>
            <a:r>
              <a:rPr lang="en-US" sz="820" b="1" dirty="0">
                <a:solidFill>
                  <a:srgbClr val="E4923F"/>
                </a:solidFill>
                <a:latin typeface="Calibri Light" pitchFamily="34" charset="0"/>
                <a:ea typeface="Calibri Light" pitchFamily="34" charset="-122"/>
                <a:cs typeface="Calibri Light" pitchFamily="34" charset="-120"/>
              </a:rPr>
              <a:t>Balance the Room</a:t>
            </a:r>
            <a:endParaRPr lang="en-US" sz="820" dirty="0"/>
          </a:p>
        </p:txBody>
      </p:sp>
      <p:sp>
        <p:nvSpPr>
          <p:cNvPr id="24" name="Text 22"/>
          <p:cNvSpPr/>
          <p:nvPr/>
        </p:nvSpPr>
        <p:spPr>
          <a:xfrm>
            <a:off x="343495" y="3024336"/>
            <a:ext cx="2651421" cy="278160"/>
          </a:xfrm>
          <a:prstGeom prst="rect">
            <a:avLst/>
          </a:prstGeom>
          <a:noFill/>
          <a:ln/>
        </p:spPr>
        <p:txBody>
          <a:bodyPr wrap="square" lIns="0" tIns="0" rIns="0" bIns="0" rtlCol="0" anchor="t"/>
          <a:lstStyle/>
          <a:p>
            <a:pPr marL="0" indent="0" algn="l">
              <a:lnSpc>
                <a:spcPts val="1044"/>
              </a:lnSpc>
              <a:buNone/>
            </a:pPr>
            <a:r>
              <a:rPr lang="en-US" sz="720" dirty="0">
                <a:solidFill>
                  <a:srgbClr val="3A4A55"/>
                </a:solidFill>
                <a:latin typeface="Calibri" pitchFamily="34" charset="0"/>
                <a:ea typeface="Calibri" pitchFamily="34" charset="-122"/>
                <a:cs typeface="Calibri" pitchFamily="34" charset="-120"/>
              </a:rPr>
              <a:t>Avoid all-externalizers or all-internalizers. Some contrast creates dynamic peer learning </a:t>
            </a:r>
            <a:r>
              <a:rPr lang="en-US" sz="650" dirty="0">
                <a:solidFill>
                  <a:srgbClr val="888888"/>
                </a:solidFill>
                <a:latin typeface="Calibri" pitchFamily="34" charset="0"/>
                <a:ea typeface="Calibri" pitchFamily="34" charset="-122"/>
                <a:cs typeface="Calibri" pitchFamily="34" charset="-120"/>
              </a:rPr>
              <a:t>(Yalom &amp; Leszcz, 2005).</a:t>
            </a:r>
            <a:endParaRPr lang="en-US" sz="720" dirty="0"/>
          </a:p>
        </p:txBody>
      </p:sp>
      <p:sp>
        <p:nvSpPr>
          <p:cNvPr id="25" name="Text 23"/>
          <p:cNvSpPr/>
          <p:nvPr/>
        </p:nvSpPr>
        <p:spPr>
          <a:xfrm>
            <a:off x="3143548" y="2752874"/>
            <a:ext cx="2856756" cy="2075706"/>
          </a:xfrm>
          <a:prstGeom prst="roundRect">
            <a:avLst>
              <a:gd name="adj" fmla="val 2386"/>
            </a:avLst>
          </a:prstGeom>
          <a:solidFill>
            <a:srgbClr val="FFFFFF"/>
          </a:solidFill>
          <a:ln/>
          <a:effectLst>
            <a:outerShdw blurRad="57150" dist="7620" dir="5400000" algn="bl" rotWithShape="0">
              <a:srgbClr val="141A42">
                <a:alpha val="9000"/>
              </a:srgbClr>
            </a:outerShdw>
          </a:effectLst>
        </p:spPr>
        <p:txBody>
          <a:bodyPr wrap="square" rtlCol="0" anchor="t"/>
          <a:lstStyle/>
          <a:p>
            <a:pPr marL="0" indent="0">
              <a:buNone/>
            </a:pPr>
            <a:endParaRPr lang="en-US" dirty="0"/>
          </a:p>
        </p:txBody>
      </p:sp>
      <p:sp>
        <p:nvSpPr>
          <p:cNvPr id="26" name="Text 24"/>
          <p:cNvSpPr/>
          <p:nvPr/>
        </p:nvSpPr>
        <p:spPr>
          <a:xfrm>
            <a:off x="3143548" y="2752874"/>
            <a:ext cx="28575" cy="2075706"/>
          </a:xfrm>
          <a:custGeom>
            <a:avLst/>
            <a:gdLst/>
            <a:ahLst/>
            <a:cxnLst/>
            <a:rect l="l" t="t" r="r" b="b"/>
            <a:pathLst>
              <a:path w="28575" h="2075706">
                <a:moveTo>
                  <a:pt x="0" y="49530"/>
                </a:moveTo>
                <a:lnTo>
                  <a:pt x="3572" y="31062"/>
                </a:lnTo>
                <a:lnTo>
                  <a:pt x="7144" y="23905"/>
                </a:lnTo>
                <a:lnTo>
                  <a:pt x="10716" y="18762"/>
                </a:lnTo>
                <a:lnTo>
                  <a:pt x="14288" y="14728"/>
                </a:lnTo>
                <a:lnTo>
                  <a:pt x="17859" y="11449"/>
                </a:lnTo>
                <a:lnTo>
                  <a:pt x="21431" y="8742"/>
                </a:lnTo>
                <a:lnTo>
                  <a:pt x="25003" y="6499"/>
                </a:lnTo>
                <a:lnTo>
                  <a:pt x="28575" y="4651"/>
                </a:lnTo>
                <a:lnTo>
                  <a:pt x="28575" y="2071055"/>
                </a:lnTo>
                <a:lnTo>
                  <a:pt x="25003" y="2069207"/>
                </a:lnTo>
                <a:lnTo>
                  <a:pt x="21431" y="2066964"/>
                </a:lnTo>
                <a:lnTo>
                  <a:pt x="17859" y="2064257"/>
                </a:lnTo>
                <a:lnTo>
                  <a:pt x="14288" y="2060978"/>
                </a:lnTo>
                <a:lnTo>
                  <a:pt x="10716" y="2056944"/>
                </a:lnTo>
                <a:lnTo>
                  <a:pt x="7144" y="2051801"/>
                </a:lnTo>
                <a:lnTo>
                  <a:pt x="3572" y="2044644"/>
                </a:lnTo>
                <a:lnTo>
                  <a:pt x="0" y="2026176"/>
                </a:lnTo>
                <a:close/>
              </a:path>
            </a:pathLst>
          </a:custGeom>
          <a:solidFill>
            <a:srgbClr val="141A42"/>
          </a:solidFill>
          <a:ln/>
        </p:spPr>
        <p:txBody>
          <a:bodyPr wrap="square" rtlCol="0" anchor="t"/>
          <a:lstStyle/>
          <a:p>
            <a:pPr marL="0" indent="0">
              <a:buNone/>
            </a:pPr>
            <a:endParaRPr lang="en-US" dirty="0"/>
          </a:p>
        </p:txBody>
      </p:sp>
      <p:sp>
        <p:nvSpPr>
          <p:cNvPr id="27" name="Text 25"/>
          <p:cNvSpPr/>
          <p:nvPr/>
        </p:nvSpPr>
        <p:spPr>
          <a:xfrm>
            <a:off x="3286423" y="2845445"/>
            <a:ext cx="199073" cy="143470"/>
          </a:xfrm>
          <a:prstGeom prst="rect">
            <a:avLst/>
          </a:prstGeom>
          <a:noFill/>
          <a:ln/>
        </p:spPr>
        <p:txBody>
          <a:bodyPr wrap="none" lIns="0" tIns="0" rIns="0" bIns="0" rtlCol="0" anchor="ctr"/>
          <a:lstStyle/>
          <a:p>
            <a:pPr marL="0" indent="0" algn="l">
              <a:lnSpc>
                <a:spcPts val="1130"/>
              </a:lnSpc>
              <a:buNone/>
            </a:pPr>
            <a:r>
              <a:rPr lang="en-US" sz="1130" dirty="0">
                <a:solidFill>
                  <a:srgbClr val="1A1A2E"/>
                </a:solidFill>
                <a:latin typeface="Calibri" pitchFamily="34" charset="0"/>
                <a:ea typeface="Calibri" pitchFamily="34" charset="-122"/>
                <a:cs typeface="Calibri" pitchFamily="34" charset="-120"/>
              </a:rPr>
              <a:t>🔒</a:t>
            </a:r>
            <a:endParaRPr lang="en-US" sz="1130" dirty="0"/>
          </a:p>
        </p:txBody>
      </p:sp>
      <p:sp>
        <p:nvSpPr>
          <p:cNvPr id="28" name="Text 26"/>
          <p:cNvSpPr/>
          <p:nvPr/>
        </p:nvSpPr>
        <p:spPr>
          <a:xfrm>
            <a:off x="3532138" y="2854672"/>
            <a:ext cx="941338" cy="125016"/>
          </a:xfrm>
          <a:prstGeom prst="rect">
            <a:avLst/>
          </a:prstGeom>
          <a:noFill/>
          <a:ln/>
        </p:spPr>
        <p:txBody>
          <a:bodyPr wrap="none" lIns="0" tIns="0" rIns="0" bIns="0" rtlCol="0" anchor="ctr"/>
          <a:lstStyle/>
          <a:p>
            <a:pPr marL="0" indent="0" algn="l">
              <a:lnSpc>
                <a:spcPts val="984"/>
              </a:lnSpc>
              <a:buNone/>
            </a:pPr>
            <a:r>
              <a:rPr lang="en-US" sz="820" b="1" dirty="0">
                <a:solidFill>
                  <a:srgbClr val="141A42"/>
                </a:solidFill>
                <a:latin typeface="Calibri Light" pitchFamily="34" charset="0"/>
                <a:ea typeface="Calibri Light" pitchFamily="34" charset="-122"/>
                <a:cs typeface="Calibri Light" pitchFamily="34" charset="-120"/>
              </a:rPr>
              <a:t>Screen for Safety</a:t>
            </a:r>
            <a:endParaRPr lang="en-US" sz="820" dirty="0"/>
          </a:p>
        </p:txBody>
      </p:sp>
      <p:sp>
        <p:nvSpPr>
          <p:cNvPr id="29" name="Text 27"/>
          <p:cNvSpPr/>
          <p:nvPr/>
        </p:nvSpPr>
        <p:spPr>
          <a:xfrm>
            <a:off x="3286423" y="3024336"/>
            <a:ext cx="2651572" cy="278160"/>
          </a:xfrm>
          <a:prstGeom prst="rect">
            <a:avLst/>
          </a:prstGeom>
          <a:noFill/>
          <a:ln/>
        </p:spPr>
        <p:txBody>
          <a:bodyPr wrap="square" lIns="0" tIns="0" rIns="0" bIns="0" rtlCol="0" anchor="t"/>
          <a:lstStyle/>
          <a:p>
            <a:pPr marL="0" indent="0" algn="l">
              <a:lnSpc>
                <a:spcPts val="1044"/>
              </a:lnSpc>
              <a:buNone/>
            </a:pPr>
            <a:r>
              <a:rPr lang="en-US" sz="720" dirty="0">
                <a:solidFill>
                  <a:srgbClr val="3A4A55"/>
                </a:solidFill>
                <a:latin typeface="Calibri" pitchFamily="34" charset="0"/>
                <a:ea typeface="Calibri" pitchFamily="34" charset="-122"/>
                <a:cs typeface="Calibri" pitchFamily="34" charset="-120"/>
              </a:rPr>
              <a:t>Students in active crisis or with severely disruptive behavior may need individual stabilization before joining group.</a:t>
            </a:r>
            <a:endParaRPr lang="en-US" sz="720" dirty="0"/>
          </a:p>
        </p:txBody>
      </p:sp>
      <p:sp>
        <p:nvSpPr>
          <p:cNvPr id="30" name="Text 28"/>
          <p:cNvSpPr/>
          <p:nvPr/>
        </p:nvSpPr>
        <p:spPr>
          <a:xfrm>
            <a:off x="6086624" y="2752874"/>
            <a:ext cx="2856607" cy="2075706"/>
          </a:xfrm>
          <a:prstGeom prst="roundRect">
            <a:avLst>
              <a:gd name="adj" fmla="val 2386"/>
            </a:avLst>
          </a:prstGeom>
          <a:solidFill>
            <a:srgbClr val="FFFFFF"/>
          </a:solidFill>
          <a:ln/>
          <a:effectLst>
            <a:outerShdw blurRad="57150" dist="7620" dir="5400000" algn="bl" rotWithShape="0">
              <a:srgbClr val="141A42">
                <a:alpha val="9000"/>
              </a:srgbClr>
            </a:outerShdw>
          </a:effectLst>
        </p:spPr>
        <p:txBody>
          <a:bodyPr wrap="square" rtlCol="0" anchor="t"/>
          <a:lstStyle/>
          <a:p>
            <a:pPr marL="0" indent="0">
              <a:buNone/>
            </a:pPr>
            <a:endParaRPr lang="en-US" dirty="0"/>
          </a:p>
        </p:txBody>
      </p:sp>
      <p:sp>
        <p:nvSpPr>
          <p:cNvPr id="31" name="Text 29"/>
          <p:cNvSpPr/>
          <p:nvPr/>
        </p:nvSpPr>
        <p:spPr>
          <a:xfrm>
            <a:off x="6086624" y="2752874"/>
            <a:ext cx="28575" cy="2075706"/>
          </a:xfrm>
          <a:custGeom>
            <a:avLst/>
            <a:gdLst/>
            <a:ahLst/>
            <a:cxnLst/>
            <a:rect l="l" t="t" r="r" b="b"/>
            <a:pathLst>
              <a:path w="28575" h="2075706">
                <a:moveTo>
                  <a:pt x="0" y="49530"/>
                </a:moveTo>
                <a:lnTo>
                  <a:pt x="3572" y="31062"/>
                </a:lnTo>
                <a:lnTo>
                  <a:pt x="7144" y="23905"/>
                </a:lnTo>
                <a:lnTo>
                  <a:pt x="10716" y="18762"/>
                </a:lnTo>
                <a:lnTo>
                  <a:pt x="14288" y="14728"/>
                </a:lnTo>
                <a:lnTo>
                  <a:pt x="17859" y="11449"/>
                </a:lnTo>
                <a:lnTo>
                  <a:pt x="21431" y="8742"/>
                </a:lnTo>
                <a:lnTo>
                  <a:pt x="25003" y="6499"/>
                </a:lnTo>
                <a:lnTo>
                  <a:pt x="28575" y="4651"/>
                </a:lnTo>
                <a:lnTo>
                  <a:pt x="28575" y="2071055"/>
                </a:lnTo>
                <a:lnTo>
                  <a:pt x="25003" y="2069207"/>
                </a:lnTo>
                <a:lnTo>
                  <a:pt x="21431" y="2066964"/>
                </a:lnTo>
                <a:lnTo>
                  <a:pt x="17859" y="2064257"/>
                </a:lnTo>
                <a:lnTo>
                  <a:pt x="14288" y="2060978"/>
                </a:lnTo>
                <a:lnTo>
                  <a:pt x="10716" y="2056944"/>
                </a:lnTo>
                <a:lnTo>
                  <a:pt x="7144" y="2051801"/>
                </a:lnTo>
                <a:lnTo>
                  <a:pt x="3572" y="2044644"/>
                </a:lnTo>
                <a:lnTo>
                  <a:pt x="0" y="2026176"/>
                </a:lnTo>
                <a:close/>
              </a:path>
            </a:pathLst>
          </a:custGeom>
          <a:solidFill>
            <a:srgbClr val="367689"/>
          </a:solidFill>
          <a:ln/>
        </p:spPr>
        <p:txBody>
          <a:bodyPr wrap="square" rtlCol="0" anchor="t"/>
          <a:lstStyle/>
          <a:p>
            <a:pPr marL="0" indent="0">
              <a:buNone/>
            </a:pPr>
            <a:endParaRPr lang="en-US" dirty="0"/>
          </a:p>
        </p:txBody>
      </p:sp>
      <p:sp>
        <p:nvSpPr>
          <p:cNvPr id="32" name="Text 30"/>
          <p:cNvSpPr/>
          <p:nvPr/>
        </p:nvSpPr>
        <p:spPr>
          <a:xfrm>
            <a:off x="6229499" y="2845445"/>
            <a:ext cx="199073" cy="143470"/>
          </a:xfrm>
          <a:prstGeom prst="rect">
            <a:avLst/>
          </a:prstGeom>
          <a:noFill/>
          <a:ln/>
        </p:spPr>
        <p:txBody>
          <a:bodyPr wrap="none" lIns="0" tIns="0" rIns="0" bIns="0" rtlCol="0" anchor="ctr"/>
          <a:lstStyle/>
          <a:p>
            <a:pPr marL="0" indent="0" algn="l">
              <a:lnSpc>
                <a:spcPts val="1130"/>
              </a:lnSpc>
              <a:buNone/>
            </a:pPr>
            <a:r>
              <a:rPr lang="en-US" sz="1130" dirty="0">
                <a:solidFill>
                  <a:srgbClr val="1A1A2E"/>
                </a:solidFill>
                <a:latin typeface="Calibri" pitchFamily="34" charset="0"/>
                <a:ea typeface="Calibri" pitchFamily="34" charset="-122"/>
                <a:cs typeface="Calibri" pitchFamily="34" charset="-120"/>
              </a:rPr>
              <a:t>📝</a:t>
            </a:r>
            <a:endParaRPr lang="en-US" sz="1130" dirty="0"/>
          </a:p>
        </p:txBody>
      </p:sp>
      <p:sp>
        <p:nvSpPr>
          <p:cNvPr id="33" name="Text 31"/>
          <p:cNvSpPr/>
          <p:nvPr/>
        </p:nvSpPr>
        <p:spPr>
          <a:xfrm>
            <a:off x="6475214" y="2854672"/>
            <a:ext cx="1080820" cy="125016"/>
          </a:xfrm>
          <a:prstGeom prst="rect">
            <a:avLst/>
          </a:prstGeom>
          <a:noFill/>
          <a:ln/>
        </p:spPr>
        <p:txBody>
          <a:bodyPr wrap="none" lIns="0" tIns="0" rIns="0" bIns="0" rtlCol="0" anchor="ctr"/>
          <a:lstStyle/>
          <a:p>
            <a:pPr marL="0" indent="0" algn="l">
              <a:lnSpc>
                <a:spcPts val="984"/>
              </a:lnSpc>
              <a:buNone/>
            </a:pPr>
            <a:r>
              <a:rPr lang="en-US" sz="820" b="1" dirty="0">
                <a:solidFill>
                  <a:srgbClr val="367689"/>
                </a:solidFill>
                <a:latin typeface="Calibri Light" pitchFamily="34" charset="0"/>
                <a:ea typeface="Calibri Light" pitchFamily="34" charset="-122"/>
                <a:cs typeface="Calibri Light" pitchFamily="34" charset="-120"/>
              </a:rPr>
              <a:t>Naming Convention</a:t>
            </a:r>
            <a:endParaRPr lang="en-US" sz="820" dirty="0"/>
          </a:p>
        </p:txBody>
      </p:sp>
      <p:sp>
        <p:nvSpPr>
          <p:cNvPr id="34" name="Text 32"/>
          <p:cNvSpPr/>
          <p:nvPr/>
        </p:nvSpPr>
        <p:spPr>
          <a:xfrm>
            <a:off x="6229499" y="3024336"/>
            <a:ext cx="2651421" cy="278160"/>
          </a:xfrm>
          <a:prstGeom prst="rect">
            <a:avLst/>
          </a:prstGeom>
          <a:noFill/>
          <a:ln/>
        </p:spPr>
        <p:txBody>
          <a:bodyPr wrap="square" lIns="0" tIns="0" rIns="0" bIns="0" rtlCol="0" anchor="t"/>
          <a:lstStyle/>
          <a:p>
            <a:pPr marL="0" indent="0" algn="l">
              <a:lnSpc>
                <a:spcPts val="1044"/>
              </a:lnSpc>
              <a:buNone/>
            </a:pPr>
            <a:r>
              <a:rPr lang="en-US" sz="720" dirty="0">
                <a:solidFill>
                  <a:srgbClr val="3A4A55"/>
                </a:solidFill>
                <a:latin typeface="Calibri" pitchFamily="34" charset="0"/>
                <a:ea typeface="Calibri" pitchFamily="34" charset="-122"/>
                <a:cs typeface="Calibri" pitchFamily="34" charset="-120"/>
              </a:rPr>
              <a:t>Group Name + City + School.</a:t>
            </a:r>
            <a:br/>
            <a:r>
              <a:rPr lang="en-US" sz="720" b="1" dirty="0">
                <a:solidFill>
                  <a:srgbClr val="367689"/>
                </a:solidFill>
                <a:latin typeface="Calibri" pitchFamily="34" charset="0"/>
                <a:ea typeface="Calibri" pitchFamily="34" charset="-122"/>
                <a:cs typeface="Calibri" pitchFamily="34" charset="-120"/>
              </a:rPr>
              <a:t>Example:</a:t>
            </a:r>
            <a:r>
              <a:rPr lang="en-US" sz="720" dirty="0">
                <a:solidFill>
                  <a:srgbClr val="3A4A55"/>
                </a:solidFill>
                <a:latin typeface="Calibri" pitchFamily="34" charset="0"/>
                <a:ea typeface="Calibri" pitchFamily="34" charset="-122"/>
                <a:cs typeface="Calibri" pitchFamily="34" charset="-120"/>
              </a:rPr>
              <a:t> </a:t>
            </a:r>
            <a:r>
              <a:rPr lang="en-US" sz="720" i="1" dirty="0">
                <a:solidFill>
                  <a:srgbClr val="3A4A55"/>
                </a:solidFill>
                <a:latin typeface="Calibri" pitchFamily="34" charset="0"/>
                <a:ea typeface="Calibri" pitchFamily="34" charset="-122"/>
                <a:cs typeface="Calibri" pitchFamily="34" charset="-120"/>
              </a:rPr>
              <a:t>Social Skills Murfreesboro Cason Lane 3–6.</a:t>
            </a:r>
            <a:endParaRPr lang="en-US" sz="720" dirty="0"/>
          </a:p>
        </p:txBody>
      </p:sp>
      <p:sp>
        <p:nvSpPr>
          <p:cNvPr id="35" name="Text 33"/>
          <p:cNvSpPr/>
          <p:nvPr/>
        </p:nvSpPr>
        <p:spPr>
          <a:xfrm>
            <a:off x="0" y="4928890"/>
            <a:ext cx="9144000" cy="221048"/>
          </a:xfrm>
          <a:prstGeom prst="rect">
            <a:avLst/>
          </a:prstGeom>
          <a:solidFill>
            <a:srgbClr val="141A42"/>
          </a:solidFill>
          <a:ln/>
        </p:spPr>
        <p:txBody>
          <a:bodyPr wrap="none" lIns="285750" tIns="0" rIns="285750" bIns="0" rtlCol="0" anchor="ctr"/>
          <a:lstStyle/>
          <a:p>
            <a:pPr marL="0" indent="0" algn="l">
              <a:buNone/>
            </a:pPr>
            <a:r>
              <a:rPr lang="en-US" sz="620" kern="0" spc="20" dirty="0">
                <a:solidFill>
                  <a:srgbClr val="FFFFFF"/>
                </a:solidFill>
                <a:latin typeface="Calibri" pitchFamily="34" charset="0"/>
                <a:ea typeface="Calibri" pitchFamily="34" charset="-122"/>
                <a:cs typeface="Calibri" pitchFamily="34" charset="-120"/>
              </a:rPr>
              <a:t>Centerstone School-Based Services  ·  Group Counseling Training</a:t>
            </a:r>
            <a:endParaRPr lang="en-US" sz="6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37160" y="0"/>
            <a:ext cx="9418320" cy="550366"/>
          </a:xfrm>
          <a:prstGeom prst="rect">
            <a:avLst/>
          </a:prstGeom>
          <a:solidFill>
            <a:srgbClr val="367689"/>
          </a:solidFill>
          <a:ln/>
        </p:spPr>
        <p:txBody>
          <a:bodyPr wrap="none" lIns="342900" tIns="128270" rIns="342900" bIns="100330" rtlCol="0" anchor="ctr"/>
          <a:lstStyle/>
          <a:p>
            <a:pPr marL="0" indent="0" algn="ctr">
              <a:buNone/>
            </a:pPr>
            <a:r>
              <a:rPr lang="en-US" sz="1690" b="1" kern="0" spc="34" dirty="0">
                <a:solidFill>
                  <a:srgbClr val="FFFFFF"/>
                </a:solidFill>
                <a:latin typeface="Calibri Light" pitchFamily="34" charset="0"/>
                <a:ea typeface="Calibri Light" pitchFamily="34" charset="-122"/>
                <a:cs typeface="Calibri Light" pitchFamily="34" charset="-120"/>
              </a:rPr>
              <a:t>Consent &amp; Care Plan Requirements</a:t>
            </a:r>
            <a:endParaRPr lang="en-US" sz="1690" dirty="0"/>
          </a:p>
        </p:txBody>
      </p:sp>
      <p:sp>
        <p:nvSpPr>
          <p:cNvPr id="3" name="Text 1"/>
          <p:cNvSpPr/>
          <p:nvPr/>
        </p:nvSpPr>
        <p:spPr>
          <a:xfrm>
            <a:off x="0" y="550366"/>
            <a:ext cx="9144000" cy="35421"/>
          </a:xfrm>
          <a:prstGeom prst="rect">
            <a:avLst/>
          </a:prstGeom>
          <a:solidFill>
            <a:srgbClr val="F4B753"/>
          </a:solidFill>
          <a:ln/>
        </p:spPr>
        <p:txBody>
          <a:bodyPr wrap="none" rtlCol="0" anchor="t"/>
          <a:lstStyle/>
          <a:p>
            <a:pPr marL="0" indent="0">
              <a:buNone/>
            </a:pPr>
            <a:endParaRPr lang="en-US" dirty="0"/>
          </a:p>
        </p:txBody>
      </p:sp>
      <p:sp>
        <p:nvSpPr>
          <p:cNvPr id="4" name="Text 2"/>
          <p:cNvSpPr/>
          <p:nvPr/>
        </p:nvSpPr>
        <p:spPr>
          <a:xfrm>
            <a:off x="4567238" y="757238"/>
            <a:ext cx="9525" cy="3725912"/>
          </a:xfrm>
          <a:prstGeom prst="rect">
            <a:avLst/>
          </a:prstGeom>
          <a:solidFill>
            <a:srgbClr val="E2ECF0"/>
          </a:solidFill>
          <a:ln/>
        </p:spPr>
        <p:txBody>
          <a:bodyPr wrap="square" rtlCol="0" anchor="t"/>
          <a:lstStyle/>
          <a:p>
            <a:pPr marL="0" indent="0">
              <a:buNone/>
            </a:pPr>
            <a:endParaRPr lang="en-US" dirty="0"/>
          </a:p>
        </p:txBody>
      </p:sp>
      <p:sp>
        <p:nvSpPr>
          <p:cNvPr id="5" name="Text 3"/>
          <p:cNvSpPr/>
          <p:nvPr/>
        </p:nvSpPr>
        <p:spPr>
          <a:xfrm>
            <a:off x="401241" y="757238"/>
            <a:ext cx="4102977" cy="281880"/>
          </a:xfrm>
          <a:prstGeom prst="rect">
            <a:avLst/>
          </a:prstGeom>
          <a:noFill/>
          <a:ln/>
        </p:spPr>
        <p:txBody>
          <a:bodyPr wrap="none" lIns="189141" tIns="0" rIns="0" bIns="57150" rtlCol="0" anchor="ctr"/>
          <a:lstStyle/>
          <a:p>
            <a:pPr marL="0" indent="0" algn="l">
              <a:buNone/>
            </a:pPr>
            <a:r>
              <a:rPr lang="en-US" sz="1130" b="1" dirty="0">
                <a:solidFill>
                  <a:srgbClr val="55A49C"/>
                </a:solidFill>
                <a:latin typeface="Calibri" pitchFamily="34" charset="0"/>
                <a:ea typeface="Calibri" pitchFamily="34" charset="-122"/>
                <a:cs typeface="Calibri" pitchFamily="34" charset="-120"/>
              </a:rPr>
              <a:t>Document Consent</a:t>
            </a:r>
            <a:endParaRPr lang="en-US" sz="1130" dirty="0"/>
          </a:p>
        </p:txBody>
      </p:sp>
      <p:sp>
        <p:nvSpPr>
          <p:cNvPr id="6" name="Text 4"/>
          <p:cNvSpPr/>
          <p:nvPr/>
        </p:nvSpPr>
        <p:spPr>
          <a:xfrm>
            <a:off x="401241" y="1029593"/>
            <a:ext cx="4022527" cy="9525"/>
          </a:xfrm>
          <a:prstGeom prst="rect">
            <a:avLst/>
          </a:prstGeom>
          <a:solidFill>
            <a:srgbClr val="55A49C"/>
          </a:solidFill>
          <a:ln/>
        </p:spPr>
        <p:txBody>
          <a:bodyPr wrap="none" rtlCol="0" anchor="t"/>
          <a:lstStyle/>
          <a:p>
            <a:pPr marL="0" indent="0">
              <a:buNone/>
            </a:pPr>
            <a:endParaRPr lang="en-US" dirty="0"/>
          </a:p>
        </p:txBody>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93957" y="798472"/>
            <a:ext cx="132588" cy="132588"/>
          </a:xfrm>
          <a:prstGeom prst="rect">
            <a:avLst/>
          </a:prstGeom>
        </p:spPr>
      </p:pic>
      <p:sp>
        <p:nvSpPr>
          <p:cNvPr id="8" name="Text 5"/>
          <p:cNvSpPr/>
          <p:nvPr/>
        </p:nvSpPr>
        <p:spPr>
          <a:xfrm>
            <a:off x="401241" y="1153418"/>
            <a:ext cx="4022527" cy="302716"/>
          </a:xfrm>
          <a:prstGeom prst="roundRect">
            <a:avLst>
              <a:gd name="adj" fmla="val 18879"/>
            </a:avLst>
          </a:prstGeom>
          <a:solidFill>
            <a:srgbClr val="F4F8FA"/>
          </a:solidFill>
          <a:ln/>
        </p:spPr>
        <p:txBody>
          <a:bodyPr wrap="square" rtlCol="0" anchor="t"/>
          <a:lstStyle/>
          <a:p>
            <a:pPr marL="0" indent="0">
              <a:buNone/>
            </a:pPr>
            <a:endParaRPr lang="en-US" dirty="0"/>
          </a:p>
        </p:txBody>
      </p:sp>
      <p:sp>
        <p:nvSpPr>
          <p:cNvPr id="9" name="Text 6"/>
          <p:cNvSpPr/>
          <p:nvPr/>
        </p:nvSpPr>
        <p:spPr>
          <a:xfrm>
            <a:off x="401241" y="1153418"/>
            <a:ext cx="28575" cy="302716"/>
          </a:xfrm>
          <a:custGeom>
            <a:avLst/>
            <a:gdLst/>
            <a:ahLst/>
            <a:cxnLst/>
            <a:rect l="l" t="t" r="r" b="b"/>
            <a:pathLst>
              <a:path w="28575" h="302716">
                <a:moveTo>
                  <a:pt x="0" y="57150"/>
                </a:moveTo>
                <a:lnTo>
                  <a:pt x="3572" y="37263"/>
                </a:lnTo>
                <a:lnTo>
                  <a:pt x="7144" y="29482"/>
                </a:lnTo>
                <a:lnTo>
                  <a:pt x="10716" y="23834"/>
                </a:lnTo>
                <a:lnTo>
                  <a:pt x="14288" y="19349"/>
                </a:lnTo>
                <a:lnTo>
                  <a:pt x="17859" y="15649"/>
                </a:lnTo>
                <a:lnTo>
                  <a:pt x="21431" y="12537"/>
                </a:lnTo>
                <a:lnTo>
                  <a:pt x="25003" y="9899"/>
                </a:lnTo>
                <a:lnTo>
                  <a:pt x="28575" y="7657"/>
                </a:lnTo>
                <a:lnTo>
                  <a:pt x="28575" y="295060"/>
                </a:lnTo>
                <a:lnTo>
                  <a:pt x="25003" y="292818"/>
                </a:lnTo>
                <a:lnTo>
                  <a:pt x="21431" y="290179"/>
                </a:lnTo>
                <a:lnTo>
                  <a:pt x="17859" y="287068"/>
                </a:lnTo>
                <a:lnTo>
                  <a:pt x="14288" y="283368"/>
                </a:lnTo>
                <a:lnTo>
                  <a:pt x="10716" y="278883"/>
                </a:lnTo>
                <a:lnTo>
                  <a:pt x="7144" y="273234"/>
                </a:lnTo>
                <a:lnTo>
                  <a:pt x="3572" y="265454"/>
                </a:lnTo>
                <a:lnTo>
                  <a:pt x="0" y="245566"/>
                </a:lnTo>
                <a:close/>
              </a:path>
            </a:pathLst>
          </a:custGeom>
          <a:solidFill>
            <a:srgbClr val="55A49C"/>
          </a:solidFill>
          <a:ln/>
        </p:spPr>
        <p:txBody>
          <a:bodyPr wrap="square" rtlCol="0" anchor="t"/>
          <a:lstStyle/>
          <a:p>
            <a:pPr marL="0" indent="0">
              <a:buNone/>
            </a:pPr>
            <a:endParaRPr lang="en-US" dirty="0"/>
          </a:p>
        </p:txBody>
      </p:sp>
      <p:sp>
        <p:nvSpPr>
          <p:cNvPr id="10" name="Text 7"/>
          <p:cNvSpPr/>
          <p:nvPr/>
        </p:nvSpPr>
        <p:spPr>
          <a:xfrm>
            <a:off x="514514" y="1225748"/>
            <a:ext cx="173206" cy="165646"/>
          </a:xfrm>
          <a:prstGeom prst="rect">
            <a:avLst/>
          </a:prstGeom>
          <a:noFill/>
          <a:ln/>
        </p:spPr>
        <p:txBody>
          <a:bodyPr wrap="none" lIns="0" tIns="0" rIns="0" bIns="0" rtlCol="0" anchor="ctr"/>
          <a:lstStyle/>
          <a:p>
            <a:pPr marL="0" indent="0" algn="ctr">
              <a:lnSpc>
                <a:spcPts val="1305"/>
              </a:lnSpc>
              <a:buNone/>
            </a:pPr>
            <a:r>
              <a:rPr lang="en-US" sz="900" dirty="0">
                <a:solidFill>
                  <a:srgbClr val="141A42"/>
                </a:solidFill>
                <a:latin typeface="Calibri" pitchFamily="34" charset="0"/>
                <a:ea typeface="Calibri" pitchFamily="34" charset="-122"/>
                <a:cs typeface="Calibri" pitchFamily="34" charset="-120"/>
              </a:rPr>
              <a:t>📝</a:t>
            </a:r>
            <a:endParaRPr lang="en-US" sz="900" dirty="0"/>
          </a:p>
        </p:txBody>
      </p:sp>
      <p:sp>
        <p:nvSpPr>
          <p:cNvPr id="11" name="Text 8"/>
          <p:cNvSpPr/>
          <p:nvPr/>
        </p:nvSpPr>
        <p:spPr>
          <a:xfrm>
            <a:off x="766167" y="1218158"/>
            <a:ext cx="2886879" cy="154632"/>
          </a:xfrm>
          <a:prstGeom prst="rect">
            <a:avLst/>
          </a:prstGeom>
          <a:noFill/>
          <a:ln/>
        </p:spPr>
        <p:txBody>
          <a:bodyPr wrap="none" lIns="0" tIns="0" rIns="0" bIns="0" rtlCol="0" anchor="ctr"/>
          <a:lstStyle/>
          <a:p>
            <a:pPr marL="0" indent="0" algn="l">
              <a:lnSpc>
                <a:spcPts val="1218"/>
              </a:lnSpc>
              <a:buNone/>
            </a:pPr>
            <a:r>
              <a:rPr lang="en-US" sz="840" dirty="0">
                <a:solidFill>
                  <a:srgbClr val="141A42"/>
                </a:solidFill>
                <a:latin typeface="Calibri" pitchFamily="34" charset="0"/>
                <a:ea typeface="Calibri" pitchFamily="34" charset="-122"/>
                <a:cs typeface="Calibri" pitchFamily="34" charset="-120"/>
              </a:rPr>
              <a:t>Required for every minor participating in group therapy</a:t>
            </a:r>
            <a:endParaRPr lang="en-US" sz="840" dirty="0"/>
          </a:p>
        </p:txBody>
      </p:sp>
      <p:sp>
        <p:nvSpPr>
          <p:cNvPr id="12" name="Text 9"/>
          <p:cNvSpPr/>
          <p:nvPr/>
        </p:nvSpPr>
        <p:spPr>
          <a:xfrm>
            <a:off x="401241" y="1527125"/>
            <a:ext cx="4022527" cy="302716"/>
          </a:xfrm>
          <a:prstGeom prst="roundRect">
            <a:avLst>
              <a:gd name="adj" fmla="val 18879"/>
            </a:avLst>
          </a:prstGeom>
          <a:solidFill>
            <a:srgbClr val="F4F8FA"/>
          </a:solidFill>
          <a:ln/>
        </p:spPr>
        <p:txBody>
          <a:bodyPr wrap="square" rtlCol="0" anchor="t"/>
          <a:lstStyle/>
          <a:p>
            <a:pPr marL="0" indent="0">
              <a:buNone/>
            </a:pPr>
            <a:endParaRPr lang="en-US" dirty="0"/>
          </a:p>
        </p:txBody>
      </p:sp>
      <p:sp>
        <p:nvSpPr>
          <p:cNvPr id="13" name="Text 10"/>
          <p:cNvSpPr/>
          <p:nvPr/>
        </p:nvSpPr>
        <p:spPr>
          <a:xfrm>
            <a:off x="401241" y="1527125"/>
            <a:ext cx="28575" cy="302716"/>
          </a:xfrm>
          <a:custGeom>
            <a:avLst/>
            <a:gdLst/>
            <a:ahLst/>
            <a:cxnLst/>
            <a:rect l="l" t="t" r="r" b="b"/>
            <a:pathLst>
              <a:path w="28575" h="302716">
                <a:moveTo>
                  <a:pt x="0" y="57150"/>
                </a:moveTo>
                <a:lnTo>
                  <a:pt x="3572" y="37263"/>
                </a:lnTo>
                <a:lnTo>
                  <a:pt x="7144" y="29482"/>
                </a:lnTo>
                <a:lnTo>
                  <a:pt x="10716" y="23834"/>
                </a:lnTo>
                <a:lnTo>
                  <a:pt x="14288" y="19349"/>
                </a:lnTo>
                <a:lnTo>
                  <a:pt x="17859" y="15649"/>
                </a:lnTo>
                <a:lnTo>
                  <a:pt x="21431" y="12537"/>
                </a:lnTo>
                <a:lnTo>
                  <a:pt x="25003" y="9899"/>
                </a:lnTo>
                <a:lnTo>
                  <a:pt x="28575" y="7657"/>
                </a:lnTo>
                <a:lnTo>
                  <a:pt x="28575" y="295060"/>
                </a:lnTo>
                <a:lnTo>
                  <a:pt x="25003" y="292818"/>
                </a:lnTo>
                <a:lnTo>
                  <a:pt x="21431" y="290179"/>
                </a:lnTo>
                <a:lnTo>
                  <a:pt x="17859" y="287068"/>
                </a:lnTo>
                <a:lnTo>
                  <a:pt x="14288" y="283368"/>
                </a:lnTo>
                <a:lnTo>
                  <a:pt x="10716" y="278883"/>
                </a:lnTo>
                <a:lnTo>
                  <a:pt x="7144" y="273234"/>
                </a:lnTo>
                <a:lnTo>
                  <a:pt x="3572" y="265454"/>
                </a:lnTo>
                <a:lnTo>
                  <a:pt x="0" y="245566"/>
                </a:lnTo>
                <a:close/>
              </a:path>
            </a:pathLst>
          </a:custGeom>
          <a:solidFill>
            <a:srgbClr val="55A49C"/>
          </a:solidFill>
          <a:ln/>
        </p:spPr>
        <p:txBody>
          <a:bodyPr wrap="square" rtlCol="0" anchor="t"/>
          <a:lstStyle/>
          <a:p>
            <a:pPr marL="0" indent="0">
              <a:buNone/>
            </a:pPr>
            <a:endParaRPr lang="en-US" dirty="0"/>
          </a:p>
        </p:txBody>
      </p:sp>
      <p:sp>
        <p:nvSpPr>
          <p:cNvPr id="14" name="Text 11"/>
          <p:cNvSpPr/>
          <p:nvPr/>
        </p:nvSpPr>
        <p:spPr>
          <a:xfrm>
            <a:off x="514514" y="1599456"/>
            <a:ext cx="173206" cy="165646"/>
          </a:xfrm>
          <a:prstGeom prst="rect">
            <a:avLst/>
          </a:prstGeom>
          <a:noFill/>
          <a:ln/>
        </p:spPr>
        <p:txBody>
          <a:bodyPr wrap="none" lIns="0" tIns="0" rIns="0" bIns="0" rtlCol="0" anchor="ctr"/>
          <a:lstStyle/>
          <a:p>
            <a:pPr marL="0" indent="0" algn="ctr">
              <a:lnSpc>
                <a:spcPts val="1305"/>
              </a:lnSpc>
              <a:buNone/>
            </a:pPr>
            <a:r>
              <a:rPr lang="en-US" sz="900" dirty="0">
                <a:solidFill>
                  <a:srgbClr val="141A42"/>
                </a:solidFill>
                <a:latin typeface="Calibri" pitchFamily="34" charset="0"/>
                <a:ea typeface="Calibri" pitchFamily="34" charset="-122"/>
                <a:cs typeface="Calibri" pitchFamily="34" charset="-120"/>
              </a:rPr>
              <a:t>✅</a:t>
            </a:r>
            <a:endParaRPr lang="en-US" sz="900" dirty="0"/>
          </a:p>
        </p:txBody>
      </p:sp>
      <p:sp>
        <p:nvSpPr>
          <p:cNvPr id="15" name="Text 12"/>
          <p:cNvSpPr/>
          <p:nvPr/>
        </p:nvSpPr>
        <p:spPr>
          <a:xfrm>
            <a:off x="766167" y="1591866"/>
            <a:ext cx="2638529" cy="154632"/>
          </a:xfrm>
          <a:prstGeom prst="rect">
            <a:avLst/>
          </a:prstGeom>
          <a:noFill/>
          <a:ln/>
        </p:spPr>
        <p:txBody>
          <a:bodyPr wrap="none" lIns="0" tIns="0" rIns="0" bIns="0" rtlCol="0" anchor="ctr"/>
          <a:lstStyle/>
          <a:p>
            <a:pPr marL="0" indent="0" algn="l">
              <a:lnSpc>
                <a:spcPts val="1218"/>
              </a:lnSpc>
              <a:buNone/>
            </a:pPr>
            <a:r>
              <a:rPr lang="en-US" sz="840" dirty="0">
                <a:solidFill>
                  <a:srgbClr val="141A42"/>
                </a:solidFill>
                <a:latin typeface="Calibri" pitchFamily="34" charset="0"/>
                <a:ea typeface="Calibri" pitchFamily="34" charset="-122"/>
                <a:cs typeface="Calibri" pitchFamily="34" charset="-120"/>
              </a:rPr>
              <a:t>Obtain parent/guardian consent before session 1</a:t>
            </a:r>
            <a:endParaRPr lang="en-US" sz="840" dirty="0"/>
          </a:p>
        </p:txBody>
      </p:sp>
      <p:sp>
        <p:nvSpPr>
          <p:cNvPr id="16" name="Text 13"/>
          <p:cNvSpPr/>
          <p:nvPr/>
        </p:nvSpPr>
        <p:spPr>
          <a:xfrm>
            <a:off x="401241" y="1900833"/>
            <a:ext cx="4022527" cy="302716"/>
          </a:xfrm>
          <a:prstGeom prst="roundRect">
            <a:avLst>
              <a:gd name="adj" fmla="val 18879"/>
            </a:avLst>
          </a:prstGeom>
          <a:solidFill>
            <a:srgbClr val="F4F8FA"/>
          </a:solidFill>
          <a:ln/>
        </p:spPr>
        <p:txBody>
          <a:bodyPr wrap="square" rtlCol="0" anchor="t"/>
          <a:lstStyle/>
          <a:p>
            <a:pPr marL="0" indent="0">
              <a:buNone/>
            </a:pPr>
            <a:endParaRPr lang="en-US" dirty="0"/>
          </a:p>
        </p:txBody>
      </p:sp>
      <p:sp>
        <p:nvSpPr>
          <p:cNvPr id="17" name="Text 14"/>
          <p:cNvSpPr/>
          <p:nvPr/>
        </p:nvSpPr>
        <p:spPr>
          <a:xfrm>
            <a:off x="401241" y="1900833"/>
            <a:ext cx="28575" cy="302716"/>
          </a:xfrm>
          <a:custGeom>
            <a:avLst/>
            <a:gdLst/>
            <a:ahLst/>
            <a:cxnLst/>
            <a:rect l="l" t="t" r="r" b="b"/>
            <a:pathLst>
              <a:path w="28575" h="302716">
                <a:moveTo>
                  <a:pt x="0" y="57150"/>
                </a:moveTo>
                <a:lnTo>
                  <a:pt x="3572" y="37263"/>
                </a:lnTo>
                <a:lnTo>
                  <a:pt x="7144" y="29482"/>
                </a:lnTo>
                <a:lnTo>
                  <a:pt x="10716" y="23834"/>
                </a:lnTo>
                <a:lnTo>
                  <a:pt x="14288" y="19349"/>
                </a:lnTo>
                <a:lnTo>
                  <a:pt x="17859" y="15649"/>
                </a:lnTo>
                <a:lnTo>
                  <a:pt x="21431" y="12537"/>
                </a:lnTo>
                <a:lnTo>
                  <a:pt x="25003" y="9899"/>
                </a:lnTo>
                <a:lnTo>
                  <a:pt x="28575" y="7657"/>
                </a:lnTo>
                <a:lnTo>
                  <a:pt x="28575" y="295060"/>
                </a:lnTo>
                <a:lnTo>
                  <a:pt x="25003" y="292818"/>
                </a:lnTo>
                <a:lnTo>
                  <a:pt x="21431" y="290179"/>
                </a:lnTo>
                <a:lnTo>
                  <a:pt x="17859" y="287068"/>
                </a:lnTo>
                <a:lnTo>
                  <a:pt x="14288" y="283368"/>
                </a:lnTo>
                <a:lnTo>
                  <a:pt x="10716" y="278883"/>
                </a:lnTo>
                <a:lnTo>
                  <a:pt x="7144" y="273234"/>
                </a:lnTo>
                <a:lnTo>
                  <a:pt x="3572" y="265454"/>
                </a:lnTo>
                <a:lnTo>
                  <a:pt x="0" y="245566"/>
                </a:lnTo>
                <a:close/>
              </a:path>
            </a:pathLst>
          </a:custGeom>
          <a:solidFill>
            <a:srgbClr val="55A49C"/>
          </a:solidFill>
          <a:ln/>
        </p:spPr>
        <p:txBody>
          <a:bodyPr wrap="square" rtlCol="0" anchor="t"/>
          <a:lstStyle/>
          <a:p>
            <a:pPr marL="0" indent="0">
              <a:buNone/>
            </a:pPr>
            <a:endParaRPr lang="en-US" dirty="0"/>
          </a:p>
        </p:txBody>
      </p:sp>
      <p:sp>
        <p:nvSpPr>
          <p:cNvPr id="18" name="Text 15"/>
          <p:cNvSpPr/>
          <p:nvPr/>
        </p:nvSpPr>
        <p:spPr>
          <a:xfrm>
            <a:off x="514514" y="1973163"/>
            <a:ext cx="173206" cy="165646"/>
          </a:xfrm>
          <a:prstGeom prst="rect">
            <a:avLst/>
          </a:prstGeom>
          <a:noFill/>
          <a:ln/>
        </p:spPr>
        <p:txBody>
          <a:bodyPr wrap="none" lIns="0" tIns="0" rIns="0" bIns="0" rtlCol="0" anchor="ctr"/>
          <a:lstStyle/>
          <a:p>
            <a:pPr marL="0" indent="0" algn="ctr">
              <a:lnSpc>
                <a:spcPts val="1305"/>
              </a:lnSpc>
              <a:buNone/>
            </a:pPr>
            <a:r>
              <a:rPr lang="en-US" sz="900" dirty="0">
                <a:solidFill>
                  <a:srgbClr val="141A42"/>
                </a:solidFill>
                <a:latin typeface="Calibri" pitchFamily="34" charset="0"/>
                <a:ea typeface="Calibri" pitchFamily="34" charset="-122"/>
                <a:cs typeface="Calibri" pitchFamily="34" charset="-120"/>
              </a:rPr>
              <a:t>✅</a:t>
            </a:r>
            <a:endParaRPr lang="en-US" sz="900" dirty="0"/>
          </a:p>
        </p:txBody>
      </p:sp>
      <p:sp>
        <p:nvSpPr>
          <p:cNvPr id="19" name="Text 16"/>
          <p:cNvSpPr/>
          <p:nvPr/>
        </p:nvSpPr>
        <p:spPr>
          <a:xfrm>
            <a:off x="766167" y="1965573"/>
            <a:ext cx="1205240" cy="154632"/>
          </a:xfrm>
          <a:prstGeom prst="rect">
            <a:avLst/>
          </a:prstGeom>
          <a:noFill/>
          <a:ln/>
        </p:spPr>
        <p:txBody>
          <a:bodyPr wrap="none" lIns="0" tIns="0" rIns="0" bIns="0" rtlCol="0" anchor="ctr"/>
          <a:lstStyle/>
          <a:p>
            <a:pPr marL="0" indent="0" algn="l">
              <a:lnSpc>
                <a:spcPts val="1218"/>
              </a:lnSpc>
              <a:buNone/>
            </a:pPr>
            <a:r>
              <a:rPr lang="en-US" sz="840" dirty="0">
                <a:solidFill>
                  <a:srgbClr val="141A42"/>
                </a:solidFill>
                <a:latin typeface="Calibri" pitchFamily="34" charset="0"/>
                <a:ea typeface="Calibri" pitchFamily="34" charset="-122"/>
                <a:cs typeface="Calibri" pitchFamily="34" charset="-120"/>
              </a:rPr>
              <a:t>Obtain student assent</a:t>
            </a:r>
            <a:endParaRPr lang="en-US" sz="840" dirty="0"/>
          </a:p>
        </p:txBody>
      </p:sp>
      <p:sp>
        <p:nvSpPr>
          <p:cNvPr id="20" name="Text 17"/>
          <p:cNvSpPr/>
          <p:nvPr/>
        </p:nvSpPr>
        <p:spPr>
          <a:xfrm>
            <a:off x="401241" y="2274540"/>
            <a:ext cx="4022527" cy="438745"/>
          </a:xfrm>
          <a:prstGeom prst="roundRect">
            <a:avLst>
              <a:gd name="adj" fmla="val 13026"/>
            </a:avLst>
          </a:prstGeom>
          <a:solidFill>
            <a:srgbClr val="F4F8FA"/>
          </a:solidFill>
          <a:ln/>
        </p:spPr>
        <p:txBody>
          <a:bodyPr wrap="square" rtlCol="0" anchor="t"/>
          <a:lstStyle/>
          <a:p>
            <a:pPr marL="0" indent="0">
              <a:buNone/>
            </a:pPr>
            <a:endParaRPr lang="en-US" dirty="0"/>
          </a:p>
        </p:txBody>
      </p:sp>
      <p:sp>
        <p:nvSpPr>
          <p:cNvPr id="21" name="Text 18"/>
          <p:cNvSpPr/>
          <p:nvPr/>
        </p:nvSpPr>
        <p:spPr>
          <a:xfrm>
            <a:off x="401241" y="2274540"/>
            <a:ext cx="28575" cy="438745"/>
          </a:xfrm>
          <a:custGeom>
            <a:avLst/>
            <a:gdLst/>
            <a:ahLst/>
            <a:cxnLst/>
            <a:rect l="l" t="t" r="r" b="b"/>
            <a:pathLst>
              <a:path w="28575" h="438745">
                <a:moveTo>
                  <a:pt x="0" y="57150"/>
                </a:moveTo>
                <a:lnTo>
                  <a:pt x="3572" y="37263"/>
                </a:lnTo>
                <a:lnTo>
                  <a:pt x="7144" y="29482"/>
                </a:lnTo>
                <a:lnTo>
                  <a:pt x="10716" y="23834"/>
                </a:lnTo>
                <a:lnTo>
                  <a:pt x="14288" y="19349"/>
                </a:lnTo>
                <a:lnTo>
                  <a:pt x="17859" y="15649"/>
                </a:lnTo>
                <a:lnTo>
                  <a:pt x="21431" y="12537"/>
                </a:lnTo>
                <a:lnTo>
                  <a:pt x="25003" y="9899"/>
                </a:lnTo>
                <a:lnTo>
                  <a:pt x="28575" y="7657"/>
                </a:lnTo>
                <a:lnTo>
                  <a:pt x="28575" y="431089"/>
                </a:lnTo>
                <a:lnTo>
                  <a:pt x="25003" y="428847"/>
                </a:lnTo>
                <a:lnTo>
                  <a:pt x="21431" y="426208"/>
                </a:lnTo>
                <a:lnTo>
                  <a:pt x="17859" y="423097"/>
                </a:lnTo>
                <a:lnTo>
                  <a:pt x="14288" y="419396"/>
                </a:lnTo>
                <a:lnTo>
                  <a:pt x="10716" y="414912"/>
                </a:lnTo>
                <a:lnTo>
                  <a:pt x="7144" y="409263"/>
                </a:lnTo>
                <a:lnTo>
                  <a:pt x="3572" y="401483"/>
                </a:lnTo>
                <a:lnTo>
                  <a:pt x="0" y="381595"/>
                </a:lnTo>
                <a:close/>
              </a:path>
            </a:pathLst>
          </a:custGeom>
          <a:solidFill>
            <a:srgbClr val="55A49C"/>
          </a:solidFill>
          <a:ln/>
        </p:spPr>
        <p:txBody>
          <a:bodyPr wrap="square" rtlCol="0" anchor="t"/>
          <a:lstStyle/>
          <a:p>
            <a:pPr marL="0" indent="0">
              <a:buNone/>
            </a:pPr>
            <a:endParaRPr lang="en-US" dirty="0"/>
          </a:p>
        </p:txBody>
      </p:sp>
      <p:sp>
        <p:nvSpPr>
          <p:cNvPr id="22" name="Text 19"/>
          <p:cNvSpPr/>
          <p:nvPr/>
        </p:nvSpPr>
        <p:spPr>
          <a:xfrm>
            <a:off x="514514" y="2346871"/>
            <a:ext cx="173206" cy="165646"/>
          </a:xfrm>
          <a:prstGeom prst="rect">
            <a:avLst/>
          </a:prstGeom>
          <a:noFill/>
          <a:ln/>
        </p:spPr>
        <p:txBody>
          <a:bodyPr wrap="none" lIns="0" tIns="0" rIns="0" bIns="0" rtlCol="0" anchor="ctr"/>
          <a:lstStyle/>
          <a:p>
            <a:pPr marL="0" indent="0" algn="ctr">
              <a:lnSpc>
                <a:spcPts val="1305"/>
              </a:lnSpc>
              <a:buNone/>
            </a:pPr>
            <a:r>
              <a:rPr lang="en-US" sz="900" dirty="0">
                <a:solidFill>
                  <a:srgbClr val="141A42"/>
                </a:solidFill>
                <a:latin typeface="Calibri" pitchFamily="34" charset="0"/>
                <a:ea typeface="Calibri" pitchFamily="34" charset="-122"/>
                <a:cs typeface="Calibri" pitchFamily="34" charset="-120"/>
              </a:rPr>
              <a:t>✅</a:t>
            </a:r>
            <a:endParaRPr lang="en-US" sz="900" dirty="0"/>
          </a:p>
        </p:txBody>
      </p:sp>
      <p:sp>
        <p:nvSpPr>
          <p:cNvPr id="23" name="Text 20"/>
          <p:cNvSpPr/>
          <p:nvPr/>
        </p:nvSpPr>
        <p:spPr>
          <a:xfrm>
            <a:off x="766167" y="2339280"/>
            <a:ext cx="3636329" cy="324728"/>
          </a:xfrm>
          <a:prstGeom prst="rect">
            <a:avLst/>
          </a:prstGeom>
          <a:noFill/>
          <a:ln/>
        </p:spPr>
        <p:txBody>
          <a:bodyPr wrap="square" lIns="0" tIns="0" rIns="0" bIns="0" rtlCol="0" anchor="ctr"/>
          <a:lstStyle/>
          <a:p>
            <a:pPr marL="0" indent="0" algn="l">
              <a:lnSpc>
                <a:spcPts val="1218"/>
              </a:lnSpc>
              <a:buNone/>
            </a:pPr>
            <a:r>
              <a:rPr lang="en-US" sz="840" dirty="0">
                <a:solidFill>
                  <a:srgbClr val="141A42"/>
                </a:solidFill>
                <a:latin typeface="Calibri" pitchFamily="34" charset="0"/>
                <a:ea typeface="Calibri" pitchFamily="34" charset="-122"/>
                <a:cs typeface="Calibri" pitchFamily="34" charset="-120"/>
              </a:rPr>
              <a:t>Write a memo to chart documenting verbal consent — include date and who provided it</a:t>
            </a:r>
            <a:endParaRPr lang="en-US" sz="840" dirty="0"/>
          </a:p>
        </p:txBody>
      </p:sp>
      <p:sp>
        <p:nvSpPr>
          <p:cNvPr id="24" name="Text 21"/>
          <p:cNvSpPr/>
          <p:nvPr/>
        </p:nvSpPr>
        <p:spPr>
          <a:xfrm>
            <a:off x="401241" y="2784277"/>
            <a:ext cx="4022527" cy="302716"/>
          </a:xfrm>
          <a:prstGeom prst="roundRect">
            <a:avLst>
              <a:gd name="adj" fmla="val 18879"/>
            </a:avLst>
          </a:prstGeom>
          <a:solidFill>
            <a:srgbClr val="F4F8FA"/>
          </a:solidFill>
          <a:ln/>
        </p:spPr>
        <p:txBody>
          <a:bodyPr wrap="square" rtlCol="0" anchor="t"/>
          <a:lstStyle/>
          <a:p>
            <a:pPr marL="0" indent="0">
              <a:buNone/>
            </a:pPr>
            <a:endParaRPr lang="en-US" dirty="0"/>
          </a:p>
        </p:txBody>
      </p:sp>
      <p:sp>
        <p:nvSpPr>
          <p:cNvPr id="25" name="Text 22"/>
          <p:cNvSpPr/>
          <p:nvPr/>
        </p:nvSpPr>
        <p:spPr>
          <a:xfrm>
            <a:off x="401241" y="2784277"/>
            <a:ext cx="28575" cy="302716"/>
          </a:xfrm>
          <a:custGeom>
            <a:avLst/>
            <a:gdLst/>
            <a:ahLst/>
            <a:cxnLst/>
            <a:rect l="l" t="t" r="r" b="b"/>
            <a:pathLst>
              <a:path w="28575" h="302716">
                <a:moveTo>
                  <a:pt x="0" y="57150"/>
                </a:moveTo>
                <a:lnTo>
                  <a:pt x="3572" y="37263"/>
                </a:lnTo>
                <a:lnTo>
                  <a:pt x="7144" y="29482"/>
                </a:lnTo>
                <a:lnTo>
                  <a:pt x="10716" y="23834"/>
                </a:lnTo>
                <a:lnTo>
                  <a:pt x="14288" y="19349"/>
                </a:lnTo>
                <a:lnTo>
                  <a:pt x="17859" y="15649"/>
                </a:lnTo>
                <a:lnTo>
                  <a:pt x="21431" y="12537"/>
                </a:lnTo>
                <a:lnTo>
                  <a:pt x="25003" y="9899"/>
                </a:lnTo>
                <a:lnTo>
                  <a:pt x="28575" y="7657"/>
                </a:lnTo>
                <a:lnTo>
                  <a:pt x="28575" y="295060"/>
                </a:lnTo>
                <a:lnTo>
                  <a:pt x="25003" y="292818"/>
                </a:lnTo>
                <a:lnTo>
                  <a:pt x="21431" y="290179"/>
                </a:lnTo>
                <a:lnTo>
                  <a:pt x="17859" y="287068"/>
                </a:lnTo>
                <a:lnTo>
                  <a:pt x="14288" y="283368"/>
                </a:lnTo>
                <a:lnTo>
                  <a:pt x="10716" y="278883"/>
                </a:lnTo>
                <a:lnTo>
                  <a:pt x="7144" y="273234"/>
                </a:lnTo>
                <a:lnTo>
                  <a:pt x="3572" y="265454"/>
                </a:lnTo>
                <a:lnTo>
                  <a:pt x="0" y="245566"/>
                </a:lnTo>
                <a:close/>
              </a:path>
            </a:pathLst>
          </a:custGeom>
          <a:solidFill>
            <a:srgbClr val="55A49C"/>
          </a:solidFill>
          <a:ln/>
        </p:spPr>
        <p:txBody>
          <a:bodyPr wrap="square" rtlCol="0" anchor="t"/>
          <a:lstStyle/>
          <a:p>
            <a:pPr marL="0" indent="0">
              <a:buNone/>
            </a:pPr>
            <a:endParaRPr lang="en-US" dirty="0"/>
          </a:p>
        </p:txBody>
      </p:sp>
      <p:sp>
        <p:nvSpPr>
          <p:cNvPr id="26" name="Text 23"/>
          <p:cNvSpPr/>
          <p:nvPr/>
        </p:nvSpPr>
        <p:spPr>
          <a:xfrm>
            <a:off x="514514" y="2856607"/>
            <a:ext cx="173206" cy="165646"/>
          </a:xfrm>
          <a:prstGeom prst="rect">
            <a:avLst/>
          </a:prstGeom>
          <a:noFill/>
          <a:ln/>
        </p:spPr>
        <p:txBody>
          <a:bodyPr wrap="none" lIns="0" tIns="0" rIns="0" bIns="0" rtlCol="0" anchor="ctr"/>
          <a:lstStyle/>
          <a:p>
            <a:pPr marL="0" indent="0" algn="ctr">
              <a:lnSpc>
                <a:spcPts val="1305"/>
              </a:lnSpc>
              <a:buNone/>
            </a:pPr>
            <a:r>
              <a:rPr lang="en-US" sz="900" dirty="0">
                <a:solidFill>
                  <a:srgbClr val="141A42"/>
                </a:solidFill>
                <a:latin typeface="Calibri" pitchFamily="34" charset="0"/>
                <a:ea typeface="Calibri" pitchFamily="34" charset="-122"/>
                <a:cs typeface="Calibri" pitchFamily="34" charset="-120"/>
              </a:rPr>
              <a:t>✅</a:t>
            </a:r>
            <a:endParaRPr lang="en-US" sz="900" dirty="0"/>
          </a:p>
        </p:txBody>
      </p:sp>
      <p:sp>
        <p:nvSpPr>
          <p:cNvPr id="27" name="Text 24"/>
          <p:cNvSpPr/>
          <p:nvPr/>
        </p:nvSpPr>
        <p:spPr>
          <a:xfrm>
            <a:off x="766167" y="2849017"/>
            <a:ext cx="3856539" cy="154632"/>
          </a:xfrm>
          <a:prstGeom prst="rect">
            <a:avLst/>
          </a:prstGeom>
          <a:noFill/>
          <a:ln/>
        </p:spPr>
        <p:txBody>
          <a:bodyPr wrap="none" lIns="0" tIns="0" rIns="0" bIns="0" rtlCol="0" anchor="ctr"/>
          <a:lstStyle/>
          <a:p>
            <a:pPr marL="0" indent="0" algn="l">
              <a:lnSpc>
                <a:spcPts val="1218"/>
              </a:lnSpc>
              <a:buNone/>
            </a:pPr>
            <a:r>
              <a:rPr lang="en-US" sz="840" dirty="0">
                <a:solidFill>
                  <a:srgbClr val="141A42"/>
                </a:solidFill>
                <a:latin typeface="Calibri" pitchFamily="34" charset="0"/>
                <a:ea typeface="Calibri" pitchFamily="34" charset="-122"/>
                <a:cs typeface="Calibri" pitchFamily="34" charset="-120"/>
              </a:rPr>
              <a:t>Consent must be completed before the client attends their first session</a:t>
            </a:r>
            <a:endParaRPr lang="en-US" sz="840" dirty="0"/>
          </a:p>
        </p:txBody>
      </p:sp>
      <p:sp>
        <p:nvSpPr>
          <p:cNvPr id="28" name="Text 25"/>
          <p:cNvSpPr/>
          <p:nvPr/>
        </p:nvSpPr>
        <p:spPr>
          <a:xfrm>
            <a:off x="4720233" y="757238"/>
            <a:ext cx="4102977" cy="281880"/>
          </a:xfrm>
          <a:prstGeom prst="rect">
            <a:avLst/>
          </a:prstGeom>
          <a:noFill/>
          <a:ln/>
        </p:spPr>
        <p:txBody>
          <a:bodyPr wrap="none" lIns="189141" tIns="0" rIns="0" bIns="57150" rtlCol="0" anchor="ctr"/>
          <a:lstStyle/>
          <a:p>
            <a:pPr marL="0" indent="0" algn="l">
              <a:buNone/>
            </a:pPr>
            <a:r>
              <a:rPr lang="en-US" sz="1130" b="1" dirty="0">
                <a:solidFill>
                  <a:srgbClr val="367689"/>
                </a:solidFill>
                <a:latin typeface="Calibri" pitchFamily="34" charset="0"/>
                <a:ea typeface="Calibri" pitchFamily="34" charset="-122"/>
                <a:cs typeface="Calibri" pitchFamily="34" charset="-120"/>
              </a:rPr>
              <a:t>Update the Care Plan</a:t>
            </a:r>
            <a:endParaRPr lang="en-US" sz="1130" dirty="0"/>
          </a:p>
        </p:txBody>
      </p:sp>
      <p:sp>
        <p:nvSpPr>
          <p:cNvPr id="29" name="Text 26"/>
          <p:cNvSpPr/>
          <p:nvPr/>
        </p:nvSpPr>
        <p:spPr>
          <a:xfrm>
            <a:off x="4720233" y="1029593"/>
            <a:ext cx="4022527" cy="9525"/>
          </a:xfrm>
          <a:prstGeom prst="rect">
            <a:avLst/>
          </a:prstGeom>
          <a:solidFill>
            <a:srgbClr val="367689"/>
          </a:solidFill>
          <a:ln/>
        </p:spPr>
        <p:txBody>
          <a:bodyPr wrap="none" rtlCol="0" anchor="t"/>
          <a:lstStyle/>
          <a:p>
            <a:pPr marL="0" indent="0">
              <a:buNone/>
            </a:pPr>
            <a:endParaRPr lang="en-US" dirty="0"/>
          </a:p>
        </p:txBody>
      </p:sp>
      <p:pic>
        <p:nvPicPr>
          <p:cNvPr id="30"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12949" y="798472"/>
            <a:ext cx="132588" cy="132588"/>
          </a:xfrm>
          <a:prstGeom prst="rect">
            <a:avLst/>
          </a:prstGeom>
        </p:spPr>
      </p:pic>
      <p:sp>
        <p:nvSpPr>
          <p:cNvPr id="31" name="Text 27"/>
          <p:cNvSpPr/>
          <p:nvPr/>
        </p:nvSpPr>
        <p:spPr>
          <a:xfrm>
            <a:off x="4720233" y="1153418"/>
            <a:ext cx="4022527" cy="302716"/>
          </a:xfrm>
          <a:prstGeom prst="roundRect">
            <a:avLst>
              <a:gd name="adj" fmla="val 18879"/>
            </a:avLst>
          </a:prstGeom>
          <a:solidFill>
            <a:srgbClr val="F4F8FA"/>
          </a:solidFill>
          <a:ln/>
        </p:spPr>
        <p:txBody>
          <a:bodyPr wrap="square" rtlCol="0" anchor="t"/>
          <a:lstStyle/>
          <a:p>
            <a:pPr marL="0" indent="0">
              <a:buNone/>
            </a:pPr>
            <a:endParaRPr lang="en-US" dirty="0"/>
          </a:p>
        </p:txBody>
      </p:sp>
      <p:sp>
        <p:nvSpPr>
          <p:cNvPr id="32" name="Text 28"/>
          <p:cNvSpPr/>
          <p:nvPr/>
        </p:nvSpPr>
        <p:spPr>
          <a:xfrm>
            <a:off x="4720233" y="1153418"/>
            <a:ext cx="28575" cy="302716"/>
          </a:xfrm>
          <a:custGeom>
            <a:avLst/>
            <a:gdLst/>
            <a:ahLst/>
            <a:cxnLst/>
            <a:rect l="l" t="t" r="r" b="b"/>
            <a:pathLst>
              <a:path w="28575" h="302716">
                <a:moveTo>
                  <a:pt x="0" y="57150"/>
                </a:moveTo>
                <a:lnTo>
                  <a:pt x="3572" y="37263"/>
                </a:lnTo>
                <a:lnTo>
                  <a:pt x="7144" y="29482"/>
                </a:lnTo>
                <a:lnTo>
                  <a:pt x="10716" y="23834"/>
                </a:lnTo>
                <a:lnTo>
                  <a:pt x="14288" y="19349"/>
                </a:lnTo>
                <a:lnTo>
                  <a:pt x="17859" y="15649"/>
                </a:lnTo>
                <a:lnTo>
                  <a:pt x="21431" y="12537"/>
                </a:lnTo>
                <a:lnTo>
                  <a:pt x="25003" y="9899"/>
                </a:lnTo>
                <a:lnTo>
                  <a:pt x="28575" y="7657"/>
                </a:lnTo>
                <a:lnTo>
                  <a:pt x="28575" y="295060"/>
                </a:lnTo>
                <a:lnTo>
                  <a:pt x="25003" y="292818"/>
                </a:lnTo>
                <a:lnTo>
                  <a:pt x="21431" y="290179"/>
                </a:lnTo>
                <a:lnTo>
                  <a:pt x="17859" y="287068"/>
                </a:lnTo>
                <a:lnTo>
                  <a:pt x="14288" y="283368"/>
                </a:lnTo>
                <a:lnTo>
                  <a:pt x="10716" y="278883"/>
                </a:lnTo>
                <a:lnTo>
                  <a:pt x="7144" y="273234"/>
                </a:lnTo>
                <a:lnTo>
                  <a:pt x="3572" y="265454"/>
                </a:lnTo>
                <a:lnTo>
                  <a:pt x="0" y="245566"/>
                </a:lnTo>
                <a:close/>
              </a:path>
            </a:pathLst>
          </a:custGeom>
          <a:solidFill>
            <a:srgbClr val="367689"/>
          </a:solidFill>
          <a:ln/>
        </p:spPr>
        <p:txBody>
          <a:bodyPr wrap="square" rtlCol="0" anchor="t"/>
          <a:lstStyle/>
          <a:p>
            <a:pPr marL="0" indent="0">
              <a:buNone/>
            </a:pPr>
            <a:endParaRPr lang="en-US" dirty="0"/>
          </a:p>
        </p:txBody>
      </p:sp>
      <p:sp>
        <p:nvSpPr>
          <p:cNvPr id="33" name="Text 29"/>
          <p:cNvSpPr/>
          <p:nvPr/>
        </p:nvSpPr>
        <p:spPr>
          <a:xfrm>
            <a:off x="4833506" y="1225748"/>
            <a:ext cx="173206" cy="165646"/>
          </a:xfrm>
          <a:prstGeom prst="rect">
            <a:avLst/>
          </a:prstGeom>
          <a:noFill/>
          <a:ln/>
        </p:spPr>
        <p:txBody>
          <a:bodyPr wrap="none" lIns="0" tIns="0" rIns="0" bIns="0" rtlCol="0" anchor="ctr"/>
          <a:lstStyle/>
          <a:p>
            <a:pPr marL="0" indent="0" algn="ctr">
              <a:lnSpc>
                <a:spcPts val="1305"/>
              </a:lnSpc>
              <a:buNone/>
            </a:pPr>
            <a:r>
              <a:rPr lang="en-US" sz="900" dirty="0">
                <a:solidFill>
                  <a:srgbClr val="141A42"/>
                </a:solidFill>
                <a:latin typeface="Calibri" pitchFamily="34" charset="0"/>
                <a:ea typeface="Calibri" pitchFamily="34" charset="-122"/>
                <a:cs typeface="Calibri" pitchFamily="34" charset="-120"/>
              </a:rPr>
              <a:t>🎯</a:t>
            </a:r>
            <a:endParaRPr lang="en-US" sz="900" dirty="0"/>
          </a:p>
        </p:txBody>
      </p:sp>
      <p:sp>
        <p:nvSpPr>
          <p:cNvPr id="34" name="Text 30"/>
          <p:cNvSpPr/>
          <p:nvPr/>
        </p:nvSpPr>
        <p:spPr>
          <a:xfrm>
            <a:off x="5085159" y="1218158"/>
            <a:ext cx="3127043" cy="154632"/>
          </a:xfrm>
          <a:prstGeom prst="rect">
            <a:avLst/>
          </a:prstGeom>
          <a:noFill/>
          <a:ln/>
        </p:spPr>
        <p:txBody>
          <a:bodyPr wrap="none" lIns="0" tIns="0" rIns="0" bIns="0" rtlCol="0" anchor="ctr"/>
          <a:lstStyle/>
          <a:p>
            <a:pPr marL="0" indent="0" algn="l">
              <a:lnSpc>
                <a:spcPts val="1218"/>
              </a:lnSpc>
              <a:buNone/>
            </a:pPr>
            <a:r>
              <a:rPr lang="en-US" sz="840" dirty="0">
                <a:solidFill>
                  <a:srgbClr val="141A42"/>
                </a:solidFill>
                <a:latin typeface="Calibri" pitchFamily="34" charset="0"/>
                <a:ea typeface="Calibri" pitchFamily="34" charset="-122"/>
                <a:cs typeface="Calibri" pitchFamily="34" charset="-120"/>
              </a:rPr>
              <a:t>Group therapy must be tied to active treatment plan goals</a:t>
            </a:r>
            <a:endParaRPr lang="en-US" sz="840" dirty="0"/>
          </a:p>
        </p:txBody>
      </p:sp>
      <p:sp>
        <p:nvSpPr>
          <p:cNvPr id="35" name="Text 31"/>
          <p:cNvSpPr/>
          <p:nvPr/>
        </p:nvSpPr>
        <p:spPr>
          <a:xfrm>
            <a:off x="4720233" y="1527125"/>
            <a:ext cx="4022527" cy="302716"/>
          </a:xfrm>
          <a:prstGeom prst="roundRect">
            <a:avLst>
              <a:gd name="adj" fmla="val 18879"/>
            </a:avLst>
          </a:prstGeom>
          <a:solidFill>
            <a:srgbClr val="F4F8FA"/>
          </a:solidFill>
          <a:ln/>
        </p:spPr>
        <p:txBody>
          <a:bodyPr wrap="square" rtlCol="0" anchor="t"/>
          <a:lstStyle/>
          <a:p>
            <a:pPr marL="0" indent="0">
              <a:buNone/>
            </a:pPr>
            <a:endParaRPr lang="en-US" dirty="0"/>
          </a:p>
        </p:txBody>
      </p:sp>
      <p:sp>
        <p:nvSpPr>
          <p:cNvPr id="36" name="Text 32"/>
          <p:cNvSpPr/>
          <p:nvPr/>
        </p:nvSpPr>
        <p:spPr>
          <a:xfrm>
            <a:off x="4720233" y="1527125"/>
            <a:ext cx="28575" cy="302716"/>
          </a:xfrm>
          <a:custGeom>
            <a:avLst/>
            <a:gdLst/>
            <a:ahLst/>
            <a:cxnLst/>
            <a:rect l="l" t="t" r="r" b="b"/>
            <a:pathLst>
              <a:path w="28575" h="302716">
                <a:moveTo>
                  <a:pt x="0" y="57150"/>
                </a:moveTo>
                <a:lnTo>
                  <a:pt x="3572" y="37263"/>
                </a:lnTo>
                <a:lnTo>
                  <a:pt x="7144" y="29482"/>
                </a:lnTo>
                <a:lnTo>
                  <a:pt x="10716" y="23834"/>
                </a:lnTo>
                <a:lnTo>
                  <a:pt x="14288" y="19349"/>
                </a:lnTo>
                <a:lnTo>
                  <a:pt x="17859" y="15649"/>
                </a:lnTo>
                <a:lnTo>
                  <a:pt x="21431" y="12537"/>
                </a:lnTo>
                <a:lnTo>
                  <a:pt x="25003" y="9899"/>
                </a:lnTo>
                <a:lnTo>
                  <a:pt x="28575" y="7657"/>
                </a:lnTo>
                <a:lnTo>
                  <a:pt x="28575" y="295060"/>
                </a:lnTo>
                <a:lnTo>
                  <a:pt x="25003" y="292818"/>
                </a:lnTo>
                <a:lnTo>
                  <a:pt x="21431" y="290179"/>
                </a:lnTo>
                <a:lnTo>
                  <a:pt x="17859" y="287068"/>
                </a:lnTo>
                <a:lnTo>
                  <a:pt x="14288" y="283368"/>
                </a:lnTo>
                <a:lnTo>
                  <a:pt x="10716" y="278883"/>
                </a:lnTo>
                <a:lnTo>
                  <a:pt x="7144" y="273234"/>
                </a:lnTo>
                <a:lnTo>
                  <a:pt x="3572" y="265454"/>
                </a:lnTo>
                <a:lnTo>
                  <a:pt x="0" y="245566"/>
                </a:lnTo>
                <a:close/>
              </a:path>
            </a:pathLst>
          </a:custGeom>
          <a:solidFill>
            <a:srgbClr val="367689"/>
          </a:solidFill>
          <a:ln/>
        </p:spPr>
        <p:txBody>
          <a:bodyPr wrap="square" rtlCol="0" anchor="t"/>
          <a:lstStyle/>
          <a:p>
            <a:pPr marL="0" indent="0">
              <a:buNone/>
            </a:pPr>
            <a:endParaRPr lang="en-US" dirty="0"/>
          </a:p>
        </p:txBody>
      </p:sp>
      <p:sp>
        <p:nvSpPr>
          <p:cNvPr id="37" name="Text 33"/>
          <p:cNvSpPr/>
          <p:nvPr/>
        </p:nvSpPr>
        <p:spPr>
          <a:xfrm>
            <a:off x="4833506" y="1599456"/>
            <a:ext cx="173206" cy="165646"/>
          </a:xfrm>
          <a:prstGeom prst="rect">
            <a:avLst/>
          </a:prstGeom>
          <a:noFill/>
          <a:ln/>
        </p:spPr>
        <p:txBody>
          <a:bodyPr wrap="none" lIns="0" tIns="0" rIns="0" bIns="0" rtlCol="0" anchor="ctr"/>
          <a:lstStyle/>
          <a:p>
            <a:pPr marL="0" indent="0" algn="ctr">
              <a:lnSpc>
                <a:spcPts val="1305"/>
              </a:lnSpc>
              <a:buNone/>
            </a:pPr>
            <a:r>
              <a:rPr lang="en-US" sz="900" dirty="0">
                <a:solidFill>
                  <a:srgbClr val="141A42"/>
                </a:solidFill>
                <a:latin typeface="Calibri" pitchFamily="34" charset="0"/>
                <a:ea typeface="Calibri" pitchFamily="34" charset="-122"/>
                <a:cs typeface="Calibri" pitchFamily="34" charset="-120"/>
              </a:rPr>
              <a:t>➕</a:t>
            </a:r>
            <a:endParaRPr lang="en-US" sz="900" dirty="0"/>
          </a:p>
        </p:txBody>
      </p:sp>
      <p:sp>
        <p:nvSpPr>
          <p:cNvPr id="38" name="Text 34"/>
          <p:cNvSpPr/>
          <p:nvPr/>
        </p:nvSpPr>
        <p:spPr>
          <a:xfrm>
            <a:off x="5085159" y="1591866"/>
            <a:ext cx="3303032" cy="154632"/>
          </a:xfrm>
          <a:prstGeom prst="rect">
            <a:avLst/>
          </a:prstGeom>
          <a:noFill/>
          <a:ln/>
        </p:spPr>
        <p:txBody>
          <a:bodyPr wrap="none" lIns="0" tIns="0" rIns="0" bIns="0" rtlCol="0" anchor="ctr"/>
          <a:lstStyle/>
          <a:p>
            <a:pPr marL="0" indent="0" algn="l">
              <a:lnSpc>
                <a:spcPts val="1218"/>
              </a:lnSpc>
              <a:buNone/>
            </a:pPr>
            <a:r>
              <a:rPr lang="en-US" sz="840" dirty="0">
                <a:solidFill>
                  <a:srgbClr val="141A42"/>
                </a:solidFill>
                <a:latin typeface="Calibri" pitchFamily="34" charset="0"/>
                <a:ea typeface="Calibri" pitchFamily="34" charset="-122"/>
                <a:cs typeface="Calibri" pitchFamily="34" charset="-120"/>
              </a:rPr>
              <a:t>Add a group-related goal/objective or update an existing goal</a:t>
            </a:r>
            <a:endParaRPr lang="en-US" sz="840" dirty="0"/>
          </a:p>
        </p:txBody>
      </p:sp>
      <p:sp>
        <p:nvSpPr>
          <p:cNvPr id="39" name="Text 35"/>
          <p:cNvSpPr/>
          <p:nvPr/>
        </p:nvSpPr>
        <p:spPr>
          <a:xfrm>
            <a:off x="4720233" y="1900833"/>
            <a:ext cx="4022527" cy="302716"/>
          </a:xfrm>
          <a:prstGeom prst="roundRect">
            <a:avLst>
              <a:gd name="adj" fmla="val 18879"/>
            </a:avLst>
          </a:prstGeom>
          <a:solidFill>
            <a:srgbClr val="F4F8FA"/>
          </a:solidFill>
          <a:ln/>
        </p:spPr>
        <p:txBody>
          <a:bodyPr wrap="square" rtlCol="0" anchor="t"/>
          <a:lstStyle/>
          <a:p>
            <a:pPr marL="0" indent="0">
              <a:buNone/>
            </a:pPr>
            <a:endParaRPr lang="en-US" dirty="0"/>
          </a:p>
        </p:txBody>
      </p:sp>
      <p:sp>
        <p:nvSpPr>
          <p:cNvPr id="40" name="Text 36"/>
          <p:cNvSpPr/>
          <p:nvPr/>
        </p:nvSpPr>
        <p:spPr>
          <a:xfrm>
            <a:off x="4720233" y="1900833"/>
            <a:ext cx="28575" cy="302716"/>
          </a:xfrm>
          <a:custGeom>
            <a:avLst/>
            <a:gdLst/>
            <a:ahLst/>
            <a:cxnLst/>
            <a:rect l="l" t="t" r="r" b="b"/>
            <a:pathLst>
              <a:path w="28575" h="302716">
                <a:moveTo>
                  <a:pt x="0" y="57150"/>
                </a:moveTo>
                <a:lnTo>
                  <a:pt x="3572" y="37263"/>
                </a:lnTo>
                <a:lnTo>
                  <a:pt x="7144" y="29482"/>
                </a:lnTo>
                <a:lnTo>
                  <a:pt x="10716" y="23834"/>
                </a:lnTo>
                <a:lnTo>
                  <a:pt x="14288" y="19349"/>
                </a:lnTo>
                <a:lnTo>
                  <a:pt x="17859" y="15649"/>
                </a:lnTo>
                <a:lnTo>
                  <a:pt x="21431" y="12537"/>
                </a:lnTo>
                <a:lnTo>
                  <a:pt x="25003" y="9899"/>
                </a:lnTo>
                <a:lnTo>
                  <a:pt x="28575" y="7657"/>
                </a:lnTo>
                <a:lnTo>
                  <a:pt x="28575" y="295060"/>
                </a:lnTo>
                <a:lnTo>
                  <a:pt x="25003" y="292818"/>
                </a:lnTo>
                <a:lnTo>
                  <a:pt x="21431" y="290179"/>
                </a:lnTo>
                <a:lnTo>
                  <a:pt x="17859" y="287068"/>
                </a:lnTo>
                <a:lnTo>
                  <a:pt x="14288" y="283368"/>
                </a:lnTo>
                <a:lnTo>
                  <a:pt x="10716" y="278883"/>
                </a:lnTo>
                <a:lnTo>
                  <a:pt x="7144" y="273234"/>
                </a:lnTo>
                <a:lnTo>
                  <a:pt x="3572" y="265454"/>
                </a:lnTo>
                <a:lnTo>
                  <a:pt x="0" y="245566"/>
                </a:lnTo>
                <a:close/>
              </a:path>
            </a:pathLst>
          </a:custGeom>
          <a:solidFill>
            <a:srgbClr val="367689"/>
          </a:solidFill>
          <a:ln/>
        </p:spPr>
        <p:txBody>
          <a:bodyPr wrap="square" rtlCol="0" anchor="t"/>
          <a:lstStyle/>
          <a:p>
            <a:pPr marL="0" indent="0">
              <a:buNone/>
            </a:pPr>
            <a:endParaRPr lang="en-US" dirty="0"/>
          </a:p>
        </p:txBody>
      </p:sp>
      <p:sp>
        <p:nvSpPr>
          <p:cNvPr id="41" name="Text 37"/>
          <p:cNvSpPr/>
          <p:nvPr/>
        </p:nvSpPr>
        <p:spPr>
          <a:xfrm>
            <a:off x="4833506" y="1973163"/>
            <a:ext cx="173206" cy="165646"/>
          </a:xfrm>
          <a:prstGeom prst="rect">
            <a:avLst/>
          </a:prstGeom>
          <a:noFill/>
          <a:ln/>
        </p:spPr>
        <p:txBody>
          <a:bodyPr wrap="none" lIns="0" tIns="0" rIns="0" bIns="0" rtlCol="0" anchor="ctr"/>
          <a:lstStyle/>
          <a:p>
            <a:pPr marL="0" indent="0" algn="ctr">
              <a:lnSpc>
                <a:spcPts val="1305"/>
              </a:lnSpc>
              <a:buNone/>
            </a:pPr>
            <a:r>
              <a:rPr lang="en-US" sz="900" dirty="0">
                <a:solidFill>
                  <a:srgbClr val="141A42"/>
                </a:solidFill>
                <a:latin typeface="Calibri" pitchFamily="34" charset="0"/>
                <a:ea typeface="Calibri" pitchFamily="34" charset="-122"/>
                <a:cs typeface="Calibri" pitchFamily="34" charset="-120"/>
              </a:rPr>
              <a:t>📐</a:t>
            </a:r>
            <a:endParaRPr lang="en-US" sz="900" dirty="0"/>
          </a:p>
        </p:txBody>
      </p:sp>
      <p:sp>
        <p:nvSpPr>
          <p:cNvPr id="42" name="Text 38"/>
          <p:cNvSpPr/>
          <p:nvPr/>
        </p:nvSpPr>
        <p:spPr>
          <a:xfrm>
            <a:off x="5085159" y="1965573"/>
            <a:ext cx="2866742" cy="154632"/>
          </a:xfrm>
          <a:prstGeom prst="rect">
            <a:avLst/>
          </a:prstGeom>
          <a:noFill/>
          <a:ln/>
        </p:spPr>
        <p:txBody>
          <a:bodyPr wrap="none" lIns="0" tIns="0" rIns="0" bIns="0" rtlCol="0" anchor="ctr"/>
          <a:lstStyle/>
          <a:p>
            <a:pPr marL="0" indent="0" algn="l">
              <a:lnSpc>
                <a:spcPts val="1218"/>
              </a:lnSpc>
              <a:buNone/>
            </a:pPr>
            <a:r>
              <a:rPr lang="en-US" sz="840" dirty="0">
                <a:solidFill>
                  <a:srgbClr val="141A42"/>
                </a:solidFill>
                <a:latin typeface="Calibri" pitchFamily="34" charset="0"/>
                <a:ea typeface="Calibri" pitchFamily="34" charset="-122"/>
                <a:cs typeface="Calibri" pitchFamily="34" charset="-120"/>
              </a:rPr>
              <a:t>Objectives must be SMART and reflect the group focus</a:t>
            </a:r>
            <a:endParaRPr lang="en-US" sz="840" dirty="0"/>
          </a:p>
        </p:txBody>
      </p:sp>
      <p:sp>
        <p:nvSpPr>
          <p:cNvPr id="43" name="Text 39"/>
          <p:cNvSpPr/>
          <p:nvPr/>
        </p:nvSpPr>
        <p:spPr>
          <a:xfrm>
            <a:off x="4720233" y="2274540"/>
            <a:ext cx="4022527" cy="302716"/>
          </a:xfrm>
          <a:prstGeom prst="roundRect">
            <a:avLst>
              <a:gd name="adj" fmla="val 18879"/>
            </a:avLst>
          </a:prstGeom>
          <a:solidFill>
            <a:srgbClr val="F4F8FA"/>
          </a:solidFill>
          <a:ln/>
        </p:spPr>
        <p:txBody>
          <a:bodyPr wrap="square" rtlCol="0" anchor="t"/>
          <a:lstStyle/>
          <a:p>
            <a:pPr marL="0" indent="0">
              <a:buNone/>
            </a:pPr>
            <a:endParaRPr lang="en-US" dirty="0"/>
          </a:p>
        </p:txBody>
      </p:sp>
      <p:sp>
        <p:nvSpPr>
          <p:cNvPr id="44" name="Text 40"/>
          <p:cNvSpPr/>
          <p:nvPr/>
        </p:nvSpPr>
        <p:spPr>
          <a:xfrm>
            <a:off x="4720233" y="2274540"/>
            <a:ext cx="28575" cy="302716"/>
          </a:xfrm>
          <a:custGeom>
            <a:avLst/>
            <a:gdLst/>
            <a:ahLst/>
            <a:cxnLst/>
            <a:rect l="l" t="t" r="r" b="b"/>
            <a:pathLst>
              <a:path w="28575" h="302716">
                <a:moveTo>
                  <a:pt x="0" y="57150"/>
                </a:moveTo>
                <a:lnTo>
                  <a:pt x="3572" y="37263"/>
                </a:lnTo>
                <a:lnTo>
                  <a:pt x="7144" y="29482"/>
                </a:lnTo>
                <a:lnTo>
                  <a:pt x="10716" y="23834"/>
                </a:lnTo>
                <a:lnTo>
                  <a:pt x="14288" y="19349"/>
                </a:lnTo>
                <a:lnTo>
                  <a:pt x="17859" y="15649"/>
                </a:lnTo>
                <a:lnTo>
                  <a:pt x="21431" y="12537"/>
                </a:lnTo>
                <a:lnTo>
                  <a:pt x="25003" y="9899"/>
                </a:lnTo>
                <a:lnTo>
                  <a:pt x="28575" y="7657"/>
                </a:lnTo>
                <a:lnTo>
                  <a:pt x="28575" y="295060"/>
                </a:lnTo>
                <a:lnTo>
                  <a:pt x="25003" y="292818"/>
                </a:lnTo>
                <a:lnTo>
                  <a:pt x="21431" y="290179"/>
                </a:lnTo>
                <a:lnTo>
                  <a:pt x="17859" y="287068"/>
                </a:lnTo>
                <a:lnTo>
                  <a:pt x="14288" y="283368"/>
                </a:lnTo>
                <a:lnTo>
                  <a:pt x="10716" y="278883"/>
                </a:lnTo>
                <a:lnTo>
                  <a:pt x="7144" y="273234"/>
                </a:lnTo>
                <a:lnTo>
                  <a:pt x="3572" y="265454"/>
                </a:lnTo>
                <a:lnTo>
                  <a:pt x="0" y="245566"/>
                </a:lnTo>
                <a:close/>
              </a:path>
            </a:pathLst>
          </a:custGeom>
          <a:solidFill>
            <a:srgbClr val="367689"/>
          </a:solidFill>
          <a:ln/>
        </p:spPr>
        <p:txBody>
          <a:bodyPr wrap="square" rtlCol="0" anchor="t"/>
          <a:lstStyle/>
          <a:p>
            <a:pPr marL="0" indent="0">
              <a:buNone/>
            </a:pPr>
            <a:endParaRPr lang="en-US" dirty="0"/>
          </a:p>
        </p:txBody>
      </p:sp>
      <p:sp>
        <p:nvSpPr>
          <p:cNvPr id="45" name="Text 41"/>
          <p:cNvSpPr/>
          <p:nvPr/>
        </p:nvSpPr>
        <p:spPr>
          <a:xfrm>
            <a:off x="4833506" y="2346871"/>
            <a:ext cx="173206" cy="165646"/>
          </a:xfrm>
          <a:prstGeom prst="rect">
            <a:avLst/>
          </a:prstGeom>
          <a:noFill/>
          <a:ln/>
        </p:spPr>
        <p:txBody>
          <a:bodyPr wrap="none" lIns="0" tIns="0" rIns="0" bIns="0" rtlCol="0" anchor="ctr"/>
          <a:lstStyle/>
          <a:p>
            <a:pPr marL="0" indent="0" algn="ctr">
              <a:lnSpc>
                <a:spcPts val="1305"/>
              </a:lnSpc>
              <a:buNone/>
            </a:pPr>
            <a:r>
              <a:rPr lang="en-US" sz="900" dirty="0">
                <a:solidFill>
                  <a:srgbClr val="141A42"/>
                </a:solidFill>
                <a:latin typeface="Calibri" pitchFamily="34" charset="0"/>
                <a:ea typeface="Calibri" pitchFamily="34" charset="-122"/>
                <a:cs typeface="Calibri" pitchFamily="34" charset="-120"/>
              </a:rPr>
              <a:t>🔄</a:t>
            </a:r>
            <a:endParaRPr lang="en-US" sz="900" dirty="0"/>
          </a:p>
        </p:txBody>
      </p:sp>
      <p:sp>
        <p:nvSpPr>
          <p:cNvPr id="46" name="Text 42"/>
          <p:cNvSpPr/>
          <p:nvPr/>
        </p:nvSpPr>
        <p:spPr>
          <a:xfrm>
            <a:off x="5085159" y="2339280"/>
            <a:ext cx="2501831" cy="154632"/>
          </a:xfrm>
          <a:prstGeom prst="rect">
            <a:avLst/>
          </a:prstGeom>
          <a:noFill/>
          <a:ln/>
        </p:spPr>
        <p:txBody>
          <a:bodyPr wrap="none" lIns="0" tIns="0" rIns="0" bIns="0" rtlCol="0" anchor="ctr"/>
          <a:lstStyle/>
          <a:p>
            <a:pPr marL="0" indent="0" algn="l">
              <a:lnSpc>
                <a:spcPts val="1218"/>
              </a:lnSpc>
              <a:buNone/>
            </a:pPr>
            <a:r>
              <a:rPr lang="en-US" sz="840" dirty="0">
                <a:solidFill>
                  <a:srgbClr val="141A42"/>
                </a:solidFill>
                <a:latin typeface="Calibri" pitchFamily="34" charset="0"/>
                <a:ea typeface="Calibri" pitchFamily="34" charset="-122"/>
                <a:cs typeface="Calibri" pitchFamily="34" charset="-120"/>
              </a:rPr>
              <a:t>Update progress during treatment plan reviews</a:t>
            </a:r>
            <a:endParaRPr lang="en-US" sz="840" dirty="0"/>
          </a:p>
        </p:txBody>
      </p:sp>
      <p:sp>
        <p:nvSpPr>
          <p:cNvPr id="47" name="Text 43"/>
          <p:cNvSpPr/>
          <p:nvPr/>
        </p:nvSpPr>
        <p:spPr>
          <a:xfrm>
            <a:off x="4720233" y="2648248"/>
            <a:ext cx="4022527" cy="302716"/>
          </a:xfrm>
          <a:prstGeom prst="roundRect">
            <a:avLst>
              <a:gd name="adj" fmla="val 18879"/>
            </a:avLst>
          </a:prstGeom>
          <a:solidFill>
            <a:srgbClr val="F4F8FA"/>
          </a:solidFill>
          <a:ln/>
        </p:spPr>
        <p:txBody>
          <a:bodyPr wrap="square" rtlCol="0" anchor="t"/>
          <a:lstStyle/>
          <a:p>
            <a:pPr marL="0" indent="0">
              <a:buNone/>
            </a:pPr>
            <a:endParaRPr lang="en-US" dirty="0"/>
          </a:p>
        </p:txBody>
      </p:sp>
      <p:sp>
        <p:nvSpPr>
          <p:cNvPr id="48" name="Text 44"/>
          <p:cNvSpPr/>
          <p:nvPr/>
        </p:nvSpPr>
        <p:spPr>
          <a:xfrm>
            <a:off x="4720233" y="2648248"/>
            <a:ext cx="28575" cy="302716"/>
          </a:xfrm>
          <a:custGeom>
            <a:avLst/>
            <a:gdLst/>
            <a:ahLst/>
            <a:cxnLst/>
            <a:rect l="l" t="t" r="r" b="b"/>
            <a:pathLst>
              <a:path w="28575" h="302716">
                <a:moveTo>
                  <a:pt x="0" y="57150"/>
                </a:moveTo>
                <a:lnTo>
                  <a:pt x="3572" y="37263"/>
                </a:lnTo>
                <a:lnTo>
                  <a:pt x="7144" y="29482"/>
                </a:lnTo>
                <a:lnTo>
                  <a:pt x="10716" y="23834"/>
                </a:lnTo>
                <a:lnTo>
                  <a:pt x="14288" y="19349"/>
                </a:lnTo>
                <a:lnTo>
                  <a:pt x="17859" y="15649"/>
                </a:lnTo>
                <a:lnTo>
                  <a:pt x="21431" y="12537"/>
                </a:lnTo>
                <a:lnTo>
                  <a:pt x="25003" y="9899"/>
                </a:lnTo>
                <a:lnTo>
                  <a:pt x="28575" y="7657"/>
                </a:lnTo>
                <a:lnTo>
                  <a:pt x="28575" y="295060"/>
                </a:lnTo>
                <a:lnTo>
                  <a:pt x="25003" y="292818"/>
                </a:lnTo>
                <a:lnTo>
                  <a:pt x="21431" y="290179"/>
                </a:lnTo>
                <a:lnTo>
                  <a:pt x="17859" y="287068"/>
                </a:lnTo>
                <a:lnTo>
                  <a:pt x="14288" y="283368"/>
                </a:lnTo>
                <a:lnTo>
                  <a:pt x="10716" y="278883"/>
                </a:lnTo>
                <a:lnTo>
                  <a:pt x="7144" y="273234"/>
                </a:lnTo>
                <a:lnTo>
                  <a:pt x="3572" y="265454"/>
                </a:lnTo>
                <a:lnTo>
                  <a:pt x="0" y="245566"/>
                </a:lnTo>
                <a:close/>
              </a:path>
            </a:pathLst>
          </a:custGeom>
          <a:solidFill>
            <a:srgbClr val="367689"/>
          </a:solidFill>
          <a:ln/>
        </p:spPr>
        <p:txBody>
          <a:bodyPr wrap="square" rtlCol="0" anchor="t"/>
          <a:lstStyle/>
          <a:p>
            <a:pPr marL="0" indent="0">
              <a:buNone/>
            </a:pPr>
            <a:endParaRPr lang="en-US" dirty="0"/>
          </a:p>
        </p:txBody>
      </p:sp>
      <p:sp>
        <p:nvSpPr>
          <p:cNvPr id="49" name="Text 45"/>
          <p:cNvSpPr/>
          <p:nvPr/>
        </p:nvSpPr>
        <p:spPr>
          <a:xfrm>
            <a:off x="4833506" y="2720578"/>
            <a:ext cx="173206" cy="165646"/>
          </a:xfrm>
          <a:prstGeom prst="rect">
            <a:avLst/>
          </a:prstGeom>
          <a:noFill/>
          <a:ln/>
        </p:spPr>
        <p:txBody>
          <a:bodyPr wrap="none" lIns="0" tIns="0" rIns="0" bIns="0" rtlCol="0" anchor="ctr"/>
          <a:lstStyle/>
          <a:p>
            <a:pPr marL="0" indent="0" algn="ctr">
              <a:lnSpc>
                <a:spcPts val="1305"/>
              </a:lnSpc>
              <a:buNone/>
            </a:pPr>
            <a:r>
              <a:rPr lang="en-US" sz="900" dirty="0">
                <a:solidFill>
                  <a:srgbClr val="141A42"/>
                </a:solidFill>
                <a:latin typeface="Calibri" pitchFamily="34" charset="0"/>
                <a:ea typeface="Calibri" pitchFamily="34" charset="-122"/>
                <a:cs typeface="Calibri" pitchFamily="34" charset="-120"/>
              </a:rPr>
              <a:t>📋</a:t>
            </a:r>
            <a:endParaRPr lang="en-US" sz="900" dirty="0"/>
          </a:p>
        </p:txBody>
      </p:sp>
      <p:sp>
        <p:nvSpPr>
          <p:cNvPr id="50" name="Text 46"/>
          <p:cNvSpPr/>
          <p:nvPr/>
        </p:nvSpPr>
        <p:spPr>
          <a:xfrm>
            <a:off x="5085159" y="2712988"/>
            <a:ext cx="3277329" cy="154632"/>
          </a:xfrm>
          <a:prstGeom prst="rect">
            <a:avLst/>
          </a:prstGeom>
          <a:noFill/>
          <a:ln/>
        </p:spPr>
        <p:txBody>
          <a:bodyPr wrap="none" lIns="0" tIns="0" rIns="0" bIns="0" rtlCol="0" anchor="ctr"/>
          <a:lstStyle/>
          <a:p>
            <a:pPr marL="0" indent="0" algn="l">
              <a:lnSpc>
                <a:spcPts val="1218"/>
              </a:lnSpc>
              <a:buNone/>
            </a:pPr>
            <a:r>
              <a:rPr lang="en-US" sz="840" dirty="0">
                <a:solidFill>
                  <a:srgbClr val="141A42"/>
                </a:solidFill>
                <a:latin typeface="Calibri" pitchFamily="34" charset="0"/>
                <a:ea typeface="Calibri" pitchFamily="34" charset="-122"/>
                <a:cs typeface="Calibri" pitchFamily="34" charset="-120"/>
              </a:rPr>
              <a:t>At group end, document progress and recommend next steps</a:t>
            </a:r>
            <a:endParaRPr lang="en-US" sz="840" dirty="0"/>
          </a:p>
        </p:txBody>
      </p:sp>
      <p:sp>
        <p:nvSpPr>
          <p:cNvPr id="51" name="Text 47"/>
          <p:cNvSpPr/>
          <p:nvPr/>
        </p:nvSpPr>
        <p:spPr>
          <a:xfrm>
            <a:off x="0" y="4583460"/>
            <a:ext cx="9144000" cy="306735"/>
          </a:xfrm>
          <a:prstGeom prst="rect">
            <a:avLst/>
          </a:prstGeom>
          <a:solidFill>
            <a:srgbClr val="F4B753"/>
          </a:solidFill>
          <a:ln/>
        </p:spPr>
        <p:txBody>
          <a:bodyPr wrap="square" rtlCol="0" anchor="t"/>
          <a:lstStyle/>
          <a:p>
            <a:pPr marL="0" indent="0">
              <a:buNone/>
            </a:pPr>
            <a:endParaRPr lang="en-US" dirty="0"/>
          </a:p>
        </p:txBody>
      </p:sp>
      <p:pic>
        <p:nvPicPr>
          <p:cNvPr id="52"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35616" y="4670533"/>
            <a:ext cx="132588" cy="132588"/>
          </a:xfrm>
          <a:prstGeom prst="rect">
            <a:avLst/>
          </a:prstGeom>
        </p:spPr>
      </p:pic>
      <p:sp>
        <p:nvSpPr>
          <p:cNvPr id="53" name="Text 48"/>
          <p:cNvSpPr/>
          <p:nvPr/>
        </p:nvSpPr>
        <p:spPr>
          <a:xfrm>
            <a:off x="547241" y="4662190"/>
            <a:ext cx="7133049" cy="149275"/>
          </a:xfrm>
          <a:prstGeom prst="rect">
            <a:avLst/>
          </a:prstGeom>
          <a:noFill/>
          <a:ln/>
        </p:spPr>
        <p:txBody>
          <a:bodyPr wrap="none" lIns="0" tIns="0" rIns="0" bIns="0" rtlCol="0" anchor="ctr"/>
          <a:lstStyle/>
          <a:p>
            <a:pPr marL="0" indent="0" algn="l">
              <a:lnSpc>
                <a:spcPts val="1176"/>
              </a:lnSpc>
              <a:buNone/>
            </a:pPr>
            <a:r>
              <a:rPr lang="en-US" sz="840" dirty="0">
                <a:solidFill>
                  <a:srgbClr val="141A42"/>
                </a:solidFill>
                <a:latin typeface="Calibri" pitchFamily="34" charset="0"/>
                <a:ea typeface="Calibri" pitchFamily="34" charset="-122"/>
                <a:cs typeface="Calibri" pitchFamily="34" charset="-120"/>
              </a:rPr>
              <a:t>⚠️ A client </a:t>
            </a:r>
            <a:r>
              <a:rPr lang="en-US" sz="840" b="1" dirty="0">
                <a:solidFill>
                  <a:srgbClr val="141A42"/>
                </a:solidFill>
                <a:latin typeface="Calibri" pitchFamily="34" charset="0"/>
                <a:ea typeface="Calibri" pitchFamily="34" charset="-122"/>
                <a:cs typeface="Calibri" pitchFamily="34" charset="-120"/>
              </a:rPr>
              <a:t>cannot attend group</a:t>
            </a:r>
            <a:r>
              <a:rPr lang="en-US" sz="840" dirty="0">
                <a:solidFill>
                  <a:srgbClr val="141A42"/>
                </a:solidFill>
                <a:latin typeface="Calibri" pitchFamily="34" charset="0"/>
                <a:ea typeface="Calibri" pitchFamily="34" charset="-122"/>
                <a:cs typeface="Calibri" pitchFamily="34" charset="-120"/>
              </a:rPr>
              <a:t> without documented consent and an updated care plan. Build this </a:t>
            </a:r>
            <a:r>
              <a:rPr lang="en-US" sz="840" b="1" dirty="0">
                <a:solidFill>
                  <a:srgbClr val="141A42"/>
                </a:solidFill>
                <a:latin typeface="Calibri" pitchFamily="34" charset="0"/>
                <a:ea typeface="Calibri" pitchFamily="34" charset="-122"/>
                <a:cs typeface="Calibri" pitchFamily="34" charset="-120"/>
              </a:rPr>
              <a:t>before session 1</a:t>
            </a:r>
            <a:r>
              <a:rPr lang="en-US" sz="840" dirty="0">
                <a:solidFill>
                  <a:srgbClr val="141A42"/>
                </a:solidFill>
                <a:latin typeface="Calibri" pitchFamily="34" charset="0"/>
                <a:ea typeface="Calibri" pitchFamily="34" charset="-122"/>
                <a:cs typeface="Calibri" pitchFamily="34" charset="-120"/>
              </a:rPr>
              <a:t> — not after.</a:t>
            </a:r>
            <a:endParaRPr lang="en-US" sz="840" dirty="0"/>
          </a:p>
        </p:txBody>
      </p:sp>
      <p:sp>
        <p:nvSpPr>
          <p:cNvPr id="54" name="Text 49"/>
          <p:cNvSpPr/>
          <p:nvPr/>
        </p:nvSpPr>
        <p:spPr>
          <a:xfrm>
            <a:off x="0" y="4890195"/>
            <a:ext cx="9144000" cy="253305"/>
          </a:xfrm>
          <a:prstGeom prst="rect">
            <a:avLst/>
          </a:prstGeom>
          <a:solidFill>
            <a:srgbClr val="141A42"/>
          </a:solidFill>
          <a:ln/>
        </p:spPr>
        <p:txBody>
          <a:bodyPr wrap="none" rtlCol="0" anchor="t"/>
          <a:lstStyle/>
          <a:p>
            <a:pPr marL="0" indent="0">
              <a:buNone/>
            </a:pPr>
            <a:endParaRPr lang="en-US" dirty="0"/>
          </a:p>
        </p:txBody>
      </p:sp>
      <p:sp>
        <p:nvSpPr>
          <p:cNvPr id="55" name="Text 50"/>
          <p:cNvSpPr/>
          <p:nvPr/>
        </p:nvSpPr>
        <p:spPr>
          <a:xfrm>
            <a:off x="342900" y="4947345"/>
            <a:ext cx="1736809" cy="139005"/>
          </a:xfrm>
          <a:prstGeom prst="rect">
            <a:avLst/>
          </a:prstGeom>
          <a:noFill/>
          <a:ln/>
        </p:spPr>
        <p:txBody>
          <a:bodyPr wrap="none" lIns="0" tIns="0" rIns="0" bIns="0" rtlCol="0" anchor="ctr"/>
          <a:lstStyle/>
          <a:p>
            <a:pPr marL="0" indent="0" algn="l">
              <a:lnSpc>
                <a:spcPts val="1095"/>
              </a:lnSpc>
              <a:buNone/>
            </a:pPr>
            <a:r>
              <a:rPr lang="en-US" sz="730" dirty="0">
                <a:solidFill>
                  <a:srgbClr val="98CDDD"/>
                </a:solidFill>
                <a:latin typeface="Calibri" pitchFamily="34" charset="0"/>
                <a:ea typeface="Calibri" pitchFamily="34" charset="-122"/>
                <a:cs typeface="Calibri" pitchFamily="34" charset="-120"/>
              </a:rPr>
              <a:t>Centerstone School-Based Services</a:t>
            </a:r>
            <a:endParaRPr lang="en-US" sz="730" dirty="0"/>
          </a:p>
        </p:txBody>
      </p:sp>
      <p:sp>
        <p:nvSpPr>
          <p:cNvPr id="56" name="Text 51"/>
          <p:cNvSpPr/>
          <p:nvPr/>
        </p:nvSpPr>
        <p:spPr>
          <a:xfrm>
            <a:off x="7319367" y="4947345"/>
            <a:ext cx="1629906" cy="139005"/>
          </a:xfrm>
          <a:prstGeom prst="rect">
            <a:avLst/>
          </a:prstGeom>
          <a:noFill/>
          <a:ln/>
        </p:spPr>
        <p:txBody>
          <a:bodyPr wrap="none" lIns="0" tIns="0" rIns="0" bIns="0" rtlCol="0" anchor="ctr"/>
          <a:lstStyle/>
          <a:p>
            <a:pPr marL="0" indent="0" algn="l">
              <a:lnSpc>
                <a:spcPts val="1095"/>
              </a:lnSpc>
              <a:buNone/>
            </a:pPr>
            <a:r>
              <a:rPr lang="en-US" sz="730" dirty="0">
                <a:solidFill>
                  <a:srgbClr val="98CDDD"/>
                </a:solidFill>
                <a:latin typeface="Calibri" pitchFamily="34" charset="0"/>
                <a:ea typeface="Calibri" pitchFamily="34" charset="-122"/>
                <a:cs typeface="Calibri" pitchFamily="34" charset="-120"/>
              </a:rPr>
              <a:t>Group Therapy Clinical Standards</a:t>
            </a:r>
            <a:endParaRPr lang="en-US" sz="73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544037"/>
          </a:xfrm>
          <a:prstGeom prst="rect">
            <a:avLst/>
          </a:prstGeom>
          <a:solidFill>
            <a:srgbClr val="367689"/>
          </a:solidFill>
          <a:ln/>
        </p:spPr>
        <p:txBody>
          <a:bodyPr wrap="square" lIns="342900" tIns="0" rIns="342900" bIns="0" rtlCol="0" anchor="ctr"/>
          <a:lstStyle/>
          <a:p>
            <a:pPr marL="0" indent="0" algn="l">
              <a:buNone/>
            </a:pPr>
            <a:r>
              <a:rPr lang="en-US" sz="1690" b="1" kern="0" spc="34" dirty="0">
                <a:solidFill>
                  <a:srgbClr val="FFFFFF"/>
                </a:solidFill>
                <a:latin typeface="Calibri Light" pitchFamily="34" charset="0"/>
                <a:ea typeface="Calibri Light" pitchFamily="34" charset="-122"/>
                <a:cs typeface="Calibri Light" pitchFamily="34" charset="-120"/>
              </a:rPr>
              <a:t>Outlining Your First Month</a:t>
            </a:r>
            <a:endParaRPr lang="en-US" sz="1690" dirty="0"/>
          </a:p>
        </p:txBody>
      </p:sp>
      <p:sp>
        <p:nvSpPr>
          <p:cNvPr id="3" name="Text 1"/>
          <p:cNvSpPr/>
          <p:nvPr/>
        </p:nvSpPr>
        <p:spPr>
          <a:xfrm>
            <a:off x="0" y="528191"/>
            <a:ext cx="9144000" cy="29170"/>
          </a:xfrm>
          <a:prstGeom prst="rect">
            <a:avLst/>
          </a:prstGeom>
          <a:solidFill>
            <a:srgbClr val="F4B753"/>
          </a:solidFill>
          <a:ln/>
        </p:spPr>
        <p:txBody>
          <a:bodyPr wrap="none" rtlCol="0" anchor="t"/>
          <a:lstStyle/>
          <a:p>
            <a:pPr marL="0" indent="0">
              <a:buNone/>
            </a:pPr>
            <a:endParaRPr lang="en-US" dirty="0"/>
          </a:p>
        </p:txBody>
      </p:sp>
      <p:sp>
        <p:nvSpPr>
          <p:cNvPr id="4" name="Text 2"/>
          <p:cNvSpPr/>
          <p:nvPr/>
        </p:nvSpPr>
        <p:spPr>
          <a:xfrm>
            <a:off x="342900" y="4545509"/>
            <a:ext cx="8458200" cy="312241"/>
          </a:xfrm>
          <a:prstGeom prst="roundRect">
            <a:avLst>
              <a:gd name="adj" fmla="val 18303"/>
            </a:avLst>
          </a:prstGeom>
          <a:solidFill>
            <a:srgbClr val="F0F4F7"/>
          </a:solidFill>
          <a:ln/>
        </p:spPr>
        <p:txBody>
          <a:bodyPr wrap="square" rtlCol="0" anchor="t"/>
          <a:lstStyle/>
          <a:p>
            <a:pPr marL="0" indent="0">
              <a:buNone/>
            </a:pPr>
            <a:endParaRPr lang="en-US" dirty="0"/>
          </a:p>
        </p:txBody>
      </p:sp>
      <p:sp>
        <p:nvSpPr>
          <p:cNvPr id="5" name="Text 3"/>
          <p:cNvSpPr/>
          <p:nvPr/>
        </p:nvSpPr>
        <p:spPr>
          <a:xfrm>
            <a:off x="342900" y="4545509"/>
            <a:ext cx="28575" cy="312241"/>
          </a:xfrm>
          <a:custGeom>
            <a:avLst/>
            <a:gdLst/>
            <a:ahLst/>
            <a:cxnLst/>
            <a:rect l="l" t="t" r="r" b="b"/>
            <a:pathLst>
              <a:path w="28575" h="312241">
                <a:moveTo>
                  <a:pt x="0" y="57150"/>
                </a:moveTo>
                <a:lnTo>
                  <a:pt x="3572" y="37263"/>
                </a:lnTo>
                <a:lnTo>
                  <a:pt x="7144" y="29482"/>
                </a:lnTo>
                <a:lnTo>
                  <a:pt x="10716" y="23834"/>
                </a:lnTo>
                <a:lnTo>
                  <a:pt x="14288" y="19349"/>
                </a:lnTo>
                <a:lnTo>
                  <a:pt x="17859" y="15649"/>
                </a:lnTo>
                <a:lnTo>
                  <a:pt x="21431" y="12537"/>
                </a:lnTo>
                <a:lnTo>
                  <a:pt x="25003" y="9899"/>
                </a:lnTo>
                <a:lnTo>
                  <a:pt x="28575" y="7657"/>
                </a:lnTo>
                <a:lnTo>
                  <a:pt x="28575" y="304585"/>
                </a:lnTo>
                <a:lnTo>
                  <a:pt x="25003" y="302343"/>
                </a:lnTo>
                <a:lnTo>
                  <a:pt x="21431" y="299704"/>
                </a:lnTo>
                <a:lnTo>
                  <a:pt x="17859" y="296593"/>
                </a:lnTo>
                <a:lnTo>
                  <a:pt x="14288" y="292893"/>
                </a:lnTo>
                <a:lnTo>
                  <a:pt x="10716" y="288408"/>
                </a:lnTo>
                <a:lnTo>
                  <a:pt x="7144" y="282759"/>
                </a:lnTo>
                <a:lnTo>
                  <a:pt x="3572" y="274979"/>
                </a:lnTo>
                <a:lnTo>
                  <a:pt x="0" y="255091"/>
                </a:lnTo>
                <a:close/>
              </a:path>
            </a:pathLst>
          </a:custGeom>
          <a:solidFill>
            <a:srgbClr val="F4B753"/>
          </a:solidFill>
          <a:ln/>
        </p:spPr>
        <p:txBody>
          <a:bodyPr wrap="square" rtlCol="0" anchor="t"/>
          <a:lstStyle/>
          <a:p>
            <a:pPr marL="0" indent="0">
              <a:buNone/>
            </a:pPr>
            <a:endParaRPr lang="en-US" dirty="0"/>
          </a:p>
        </p:txBody>
      </p:sp>
      <p:sp>
        <p:nvSpPr>
          <p:cNvPr id="6" name="Text 4"/>
          <p:cNvSpPr/>
          <p:nvPr/>
        </p:nvSpPr>
        <p:spPr>
          <a:xfrm>
            <a:off x="514945" y="4610249"/>
            <a:ext cx="167640" cy="182761"/>
          </a:xfrm>
          <a:prstGeom prst="rect">
            <a:avLst/>
          </a:prstGeom>
          <a:noFill/>
          <a:ln/>
        </p:spPr>
        <p:txBody>
          <a:bodyPr wrap="none" lIns="0" tIns="0" rIns="0" bIns="0" rtlCol="0" anchor="ctr"/>
          <a:lstStyle/>
          <a:p>
            <a:pPr marL="0" indent="0" algn="l">
              <a:lnSpc>
                <a:spcPts val="1440"/>
              </a:lnSpc>
              <a:buNone/>
            </a:pPr>
            <a:r>
              <a:rPr lang="en-US" sz="960" dirty="0">
                <a:solidFill>
                  <a:srgbClr val="1A2340"/>
                </a:solidFill>
                <a:latin typeface="Calibri" pitchFamily="34" charset="0"/>
                <a:ea typeface="Calibri" pitchFamily="34" charset="-122"/>
                <a:cs typeface="Calibri" pitchFamily="34" charset="-120"/>
              </a:rPr>
              <a:t>📌</a:t>
            </a:r>
            <a:endParaRPr lang="en-US" sz="960" dirty="0"/>
          </a:p>
        </p:txBody>
      </p:sp>
      <p:sp>
        <p:nvSpPr>
          <p:cNvPr id="7" name="Text 5"/>
          <p:cNvSpPr/>
          <p:nvPr/>
        </p:nvSpPr>
        <p:spPr>
          <a:xfrm>
            <a:off x="738336" y="4634061"/>
            <a:ext cx="4874002" cy="135136"/>
          </a:xfrm>
          <a:prstGeom prst="rect">
            <a:avLst/>
          </a:prstGeom>
          <a:noFill/>
          <a:ln/>
        </p:spPr>
        <p:txBody>
          <a:bodyPr wrap="none" lIns="0" tIns="0" rIns="0" bIns="0" rtlCol="0" anchor="ctr"/>
          <a:lstStyle/>
          <a:p>
            <a:pPr marL="0" indent="0" algn="l">
              <a:lnSpc>
                <a:spcPts val="1064"/>
              </a:lnSpc>
              <a:buNone/>
            </a:pPr>
            <a:r>
              <a:rPr lang="en-US" sz="760" dirty="0">
                <a:solidFill>
                  <a:srgbClr val="1A2340"/>
                </a:solidFill>
                <a:latin typeface="Calibri" pitchFamily="34" charset="0"/>
                <a:ea typeface="Calibri" pitchFamily="34" charset="-122"/>
                <a:cs typeface="Calibri" pitchFamily="34" charset="-120"/>
              </a:rPr>
              <a:t>Every session: Check-In → Skill/Topic → Activity → Reflection → Check-Out.  Predictability is safety.</a:t>
            </a:r>
            <a:endParaRPr lang="en-US" sz="760" dirty="0"/>
          </a:p>
        </p:txBody>
      </p:sp>
      <p:sp>
        <p:nvSpPr>
          <p:cNvPr id="8" name="Text 6"/>
          <p:cNvSpPr/>
          <p:nvPr/>
        </p:nvSpPr>
        <p:spPr>
          <a:xfrm>
            <a:off x="0" y="4942880"/>
            <a:ext cx="9144000" cy="200620"/>
          </a:xfrm>
          <a:prstGeom prst="rect">
            <a:avLst/>
          </a:prstGeom>
          <a:solidFill>
            <a:srgbClr val="1A2340"/>
          </a:solidFill>
          <a:ln/>
        </p:spPr>
        <p:txBody>
          <a:bodyPr wrap="none" rtlCol="0" anchor="t"/>
          <a:lstStyle/>
          <a:p>
            <a:pPr marL="0" indent="0">
              <a:buNone/>
            </a:pPr>
            <a:endParaRPr lang="en-US" dirty="0"/>
          </a:p>
        </p:txBody>
      </p:sp>
      <p:sp>
        <p:nvSpPr>
          <p:cNvPr id="9" name="Text 7"/>
          <p:cNvSpPr/>
          <p:nvPr/>
        </p:nvSpPr>
        <p:spPr>
          <a:xfrm>
            <a:off x="1057870" y="1158032"/>
            <a:ext cx="7028259" cy="21580"/>
          </a:xfrm>
          <a:prstGeom prst="rect">
            <a:avLst/>
          </a:prstGeom>
          <a:gradFill rotWithShape="1">
            <a:gsLst>
              <a:gs pos="0">
                <a:srgbClr val="367689"/>
              </a:gs>
              <a:gs pos="33333">
                <a:srgbClr val="55A49C"/>
              </a:gs>
              <a:gs pos="66667">
                <a:srgbClr val="F4B753"/>
              </a:gs>
              <a:gs pos="100000">
                <a:srgbClr val="E4923F"/>
              </a:gs>
            </a:gsLst>
            <a:lin ang="0" scaled="1"/>
          </a:gradFill>
          <a:ln/>
        </p:spPr>
        <p:txBody>
          <a:bodyPr wrap="none" rtlCol="0" anchor="t"/>
          <a:lstStyle/>
          <a:p>
            <a:pPr marL="0" indent="0">
              <a:buNone/>
            </a:pPr>
            <a:endParaRPr lang="en-US" dirty="0"/>
          </a:p>
        </p:txBody>
      </p:sp>
      <p:sp>
        <p:nvSpPr>
          <p:cNvPr id="10" name="Text 8"/>
          <p:cNvSpPr/>
          <p:nvPr/>
        </p:nvSpPr>
        <p:spPr>
          <a:xfrm>
            <a:off x="1379786" y="1244352"/>
            <a:ext cx="13841" cy="86320"/>
          </a:xfrm>
          <a:prstGeom prst="rect">
            <a:avLst/>
          </a:prstGeom>
          <a:solidFill>
            <a:srgbClr val="367689"/>
          </a:solidFill>
          <a:ln/>
        </p:spPr>
        <p:txBody>
          <a:bodyPr wrap="none" rtlCol="0" anchor="t"/>
          <a:lstStyle/>
          <a:p>
            <a:pPr marL="0" indent="0">
              <a:buNone/>
            </a:pPr>
            <a:endParaRPr lang="en-US" dirty="0"/>
          </a:p>
        </p:txBody>
      </p:sp>
      <p:sp>
        <p:nvSpPr>
          <p:cNvPr id="11" name="Text 9"/>
          <p:cNvSpPr/>
          <p:nvPr/>
        </p:nvSpPr>
        <p:spPr>
          <a:xfrm>
            <a:off x="764515" y="1330672"/>
            <a:ext cx="1244531" cy="159990"/>
          </a:xfrm>
          <a:prstGeom prst="rect">
            <a:avLst/>
          </a:prstGeom>
          <a:noFill/>
          <a:ln/>
        </p:spPr>
        <p:txBody>
          <a:bodyPr wrap="none" lIns="0" tIns="0" rIns="0" bIns="0" rtlCol="0" anchor="t"/>
          <a:lstStyle/>
          <a:p>
            <a:pPr marL="0" indent="0" algn="ctr">
              <a:lnSpc>
                <a:spcPts val="1260"/>
              </a:lnSpc>
              <a:buNone/>
            </a:pPr>
            <a:r>
              <a:rPr lang="en-US" sz="840" b="1" kern="0" spc="8" dirty="0">
                <a:solidFill>
                  <a:srgbClr val="367689"/>
                </a:solidFill>
                <a:latin typeface="Calibri Light" pitchFamily="34" charset="0"/>
                <a:ea typeface="Calibri Light" pitchFamily="34" charset="-122"/>
                <a:cs typeface="Calibri Light" pitchFamily="34" charset="-120"/>
              </a:rPr>
              <a:t>Week 1 — Foundation</a:t>
            </a:r>
            <a:endParaRPr lang="en-US" sz="840" dirty="0"/>
          </a:p>
        </p:txBody>
      </p:sp>
      <p:sp>
        <p:nvSpPr>
          <p:cNvPr id="12" name="Text 10"/>
          <p:cNvSpPr/>
          <p:nvPr/>
        </p:nvSpPr>
        <p:spPr>
          <a:xfrm>
            <a:off x="429220" y="1547813"/>
            <a:ext cx="1915120" cy="1120725"/>
          </a:xfrm>
          <a:prstGeom prst="roundRect">
            <a:avLst>
              <a:gd name="adj" fmla="val 6346"/>
            </a:avLst>
          </a:prstGeom>
          <a:solidFill>
            <a:srgbClr val="EAF2F5"/>
          </a:solidFill>
          <a:ln/>
        </p:spPr>
        <p:txBody>
          <a:bodyPr wrap="square" lIns="100330" tIns="92710" rIns="100330" bIns="92710" rtlCol="0" anchor="t"/>
          <a:lstStyle/>
          <a:p>
            <a:pPr marL="0" indent="0" algn="l">
              <a:lnSpc>
                <a:spcPts val="1095"/>
              </a:lnSpc>
              <a:buNone/>
            </a:pPr>
            <a:r>
              <a:rPr lang="en-US" sz="730" dirty="0">
                <a:solidFill>
                  <a:srgbClr val="1A2340"/>
                </a:solidFill>
                <a:latin typeface="Calibri" pitchFamily="34" charset="0"/>
                <a:ea typeface="Calibri" pitchFamily="34" charset="-122"/>
                <a:cs typeface="Calibri" pitchFamily="34" charset="-120"/>
              </a:rPr>
              <a:t>Introductions, group agreements, and establishing safety. Answer: </a:t>
            </a:r>
            <a:r>
              <a:rPr lang="en-US" sz="730" i="1" dirty="0">
                <a:solidFill>
                  <a:srgbClr val="1A2340"/>
                </a:solidFill>
                <a:latin typeface="Calibri" pitchFamily="34" charset="0"/>
                <a:ea typeface="Calibri" pitchFamily="34" charset="-122"/>
                <a:cs typeface="Calibri" pitchFamily="34" charset="-120"/>
              </a:rPr>
              <a:t>Why are we here? What are the rules? Can I trust this room?</a:t>
            </a:r>
            <a:r>
              <a:rPr lang="en-US" sz="730" dirty="0">
                <a:solidFill>
                  <a:srgbClr val="1A2340"/>
                </a:solidFill>
                <a:latin typeface="Calibri" pitchFamily="34" charset="0"/>
                <a:ea typeface="Calibri" pitchFamily="34" charset="-122"/>
                <a:cs typeface="Calibri" pitchFamily="34" charset="-120"/>
              </a:rPr>
              <a:t> Close with one shared hope from each member. </a:t>
            </a:r>
            <a:r>
              <a:rPr lang="en-US" sz="620" b="1" i="1" dirty="0">
                <a:solidFill>
                  <a:srgbClr val="FFFFFF"/>
                </a:solidFill>
                <a:highlight>
                  <a:srgbClr val="367689"/>
                </a:highlight>
                <a:latin typeface="Calibri" pitchFamily="34" charset="0"/>
                <a:ea typeface="Calibri" pitchFamily="34" charset="-122"/>
                <a:cs typeface="Calibri" pitchFamily="34" charset="-120"/>
              </a:rPr>
              <a:t>Yalom: Instillation of Hope</a:t>
            </a:r>
            <a:endParaRPr lang="en-US" sz="730" dirty="0"/>
          </a:p>
          <a:p>
            <a:pPr marL="0" indent="0" algn="l">
              <a:lnSpc>
                <a:spcPts val="1095"/>
              </a:lnSpc>
              <a:buNone/>
            </a:pPr>
            <a:endParaRPr lang="en-US" sz="730" dirty="0"/>
          </a:p>
        </p:txBody>
      </p:sp>
      <p:sp>
        <p:nvSpPr>
          <p:cNvPr id="13" name="Text 11"/>
          <p:cNvSpPr/>
          <p:nvPr/>
        </p:nvSpPr>
        <p:spPr>
          <a:xfrm>
            <a:off x="429220" y="1547813"/>
            <a:ext cx="1915120" cy="19050"/>
          </a:xfrm>
          <a:custGeom>
            <a:avLst/>
            <a:gdLst/>
            <a:ahLst/>
            <a:cxnLst/>
            <a:rect l="l" t="t" r="r" b="b"/>
            <a:pathLst>
              <a:path w="1915120" h="19050">
                <a:moveTo>
                  <a:pt x="71120" y="0"/>
                </a:moveTo>
                <a:lnTo>
                  <a:pt x="52871" y="2381"/>
                </a:lnTo>
                <a:lnTo>
                  <a:pt x="45532" y="4763"/>
                </a:lnTo>
                <a:lnTo>
                  <a:pt x="40054" y="7144"/>
                </a:lnTo>
                <a:lnTo>
                  <a:pt x="35566" y="9525"/>
                </a:lnTo>
                <a:lnTo>
                  <a:pt x="31727" y="11906"/>
                </a:lnTo>
                <a:lnTo>
                  <a:pt x="28363" y="14288"/>
                </a:lnTo>
                <a:lnTo>
                  <a:pt x="25369" y="16669"/>
                </a:lnTo>
                <a:lnTo>
                  <a:pt x="22677" y="19050"/>
                </a:lnTo>
                <a:lnTo>
                  <a:pt x="1892444" y="19050"/>
                </a:lnTo>
                <a:lnTo>
                  <a:pt x="1889751" y="16669"/>
                </a:lnTo>
                <a:lnTo>
                  <a:pt x="1886757" y="14288"/>
                </a:lnTo>
                <a:lnTo>
                  <a:pt x="1883393" y="11906"/>
                </a:lnTo>
                <a:lnTo>
                  <a:pt x="1879555" y="9525"/>
                </a:lnTo>
                <a:lnTo>
                  <a:pt x="1875066" y="7144"/>
                </a:lnTo>
                <a:lnTo>
                  <a:pt x="1869588" y="4763"/>
                </a:lnTo>
                <a:lnTo>
                  <a:pt x="1862250" y="2381"/>
                </a:lnTo>
                <a:lnTo>
                  <a:pt x="1844000" y="0"/>
                </a:lnTo>
                <a:close/>
              </a:path>
            </a:pathLst>
          </a:custGeom>
          <a:solidFill>
            <a:srgbClr val="367689"/>
          </a:solidFill>
          <a:ln/>
        </p:spPr>
        <p:txBody>
          <a:bodyPr wrap="none" rtlCol="0" anchor="t"/>
          <a:lstStyle/>
          <a:p>
            <a:pPr marL="0" indent="0">
              <a:buNone/>
            </a:pPr>
            <a:endParaRPr lang="en-US" dirty="0"/>
          </a:p>
        </p:txBody>
      </p:sp>
      <p:sp>
        <p:nvSpPr>
          <p:cNvPr id="14" name="Text 12"/>
          <p:cNvSpPr/>
          <p:nvPr/>
        </p:nvSpPr>
        <p:spPr>
          <a:xfrm>
            <a:off x="3503265" y="1244352"/>
            <a:ext cx="13841" cy="86320"/>
          </a:xfrm>
          <a:prstGeom prst="rect">
            <a:avLst/>
          </a:prstGeom>
          <a:solidFill>
            <a:srgbClr val="55A49C"/>
          </a:solidFill>
          <a:ln/>
        </p:spPr>
        <p:txBody>
          <a:bodyPr wrap="none" rtlCol="0" anchor="t"/>
          <a:lstStyle/>
          <a:p>
            <a:pPr marL="0" indent="0">
              <a:buNone/>
            </a:pPr>
            <a:endParaRPr lang="en-US" dirty="0"/>
          </a:p>
        </p:txBody>
      </p:sp>
      <p:sp>
        <p:nvSpPr>
          <p:cNvPr id="15" name="Text 13"/>
          <p:cNvSpPr/>
          <p:nvPr/>
        </p:nvSpPr>
        <p:spPr>
          <a:xfrm>
            <a:off x="2873432" y="1330672"/>
            <a:ext cx="1273507" cy="159990"/>
          </a:xfrm>
          <a:prstGeom prst="rect">
            <a:avLst/>
          </a:prstGeom>
          <a:noFill/>
          <a:ln/>
        </p:spPr>
        <p:txBody>
          <a:bodyPr wrap="none" lIns="0" tIns="0" rIns="0" bIns="0" rtlCol="0" anchor="t"/>
          <a:lstStyle/>
          <a:p>
            <a:pPr marL="0" indent="0" algn="ctr">
              <a:lnSpc>
                <a:spcPts val="1260"/>
              </a:lnSpc>
              <a:buNone/>
            </a:pPr>
            <a:r>
              <a:rPr lang="en-US" sz="840" b="1" kern="0" spc="8" dirty="0">
                <a:solidFill>
                  <a:srgbClr val="55A49C"/>
                </a:solidFill>
                <a:latin typeface="Calibri Light" pitchFamily="34" charset="0"/>
                <a:ea typeface="Calibri Light" pitchFamily="34" charset="-122"/>
                <a:cs typeface="Calibri Light" pitchFamily="34" charset="-120"/>
              </a:rPr>
              <a:t>Week 2 — Universality</a:t>
            </a:r>
            <a:endParaRPr lang="en-US" sz="840" dirty="0"/>
          </a:p>
        </p:txBody>
      </p:sp>
      <p:sp>
        <p:nvSpPr>
          <p:cNvPr id="16" name="Text 14"/>
          <p:cNvSpPr/>
          <p:nvPr/>
        </p:nvSpPr>
        <p:spPr>
          <a:xfrm>
            <a:off x="2552700" y="1547813"/>
            <a:ext cx="1915120" cy="1118426"/>
          </a:xfrm>
          <a:prstGeom prst="roundRect">
            <a:avLst>
              <a:gd name="adj" fmla="val 6359"/>
            </a:avLst>
          </a:prstGeom>
          <a:solidFill>
            <a:srgbClr val="E8F5F4"/>
          </a:solidFill>
          <a:ln/>
        </p:spPr>
        <p:txBody>
          <a:bodyPr wrap="square" lIns="100330" tIns="92710" rIns="100330" bIns="92710" rtlCol="0" anchor="t"/>
          <a:lstStyle/>
          <a:p>
            <a:pPr marL="0" indent="0" algn="l">
              <a:lnSpc>
                <a:spcPts val="1095"/>
              </a:lnSpc>
              <a:buNone/>
            </a:pPr>
            <a:r>
              <a:rPr lang="en-US" sz="730" dirty="0">
                <a:solidFill>
                  <a:srgbClr val="1A2340"/>
                </a:solidFill>
                <a:latin typeface="Calibri" pitchFamily="34" charset="0"/>
                <a:ea typeface="Calibri" pitchFamily="34" charset="-122"/>
                <a:cs typeface="Calibri" pitchFamily="34" charset="-120"/>
              </a:rPr>
              <a:t>Normalize. Share common struggles without overexposing. Finish-the-sentence prompts. Goal: no one leaves feeling alone. </a:t>
            </a:r>
            <a:r>
              <a:rPr lang="en-US" sz="620" b="1" i="1" dirty="0">
                <a:solidFill>
                  <a:srgbClr val="FFFFFF"/>
                </a:solidFill>
                <a:highlight>
                  <a:srgbClr val="55A49C"/>
                </a:highlight>
                <a:latin typeface="Calibri" pitchFamily="34" charset="0"/>
                <a:ea typeface="Calibri" pitchFamily="34" charset="-122"/>
                <a:cs typeface="Calibri" pitchFamily="34" charset="-120"/>
              </a:rPr>
              <a:t>Yalom: Universality</a:t>
            </a:r>
            <a:endParaRPr lang="en-US" sz="730" dirty="0"/>
          </a:p>
          <a:p>
            <a:pPr marL="0" indent="0" algn="l">
              <a:lnSpc>
                <a:spcPts val="1095"/>
              </a:lnSpc>
              <a:buNone/>
            </a:pPr>
            <a:endParaRPr lang="en-US" sz="730" dirty="0"/>
          </a:p>
        </p:txBody>
      </p:sp>
      <p:sp>
        <p:nvSpPr>
          <p:cNvPr id="17" name="Text 15"/>
          <p:cNvSpPr/>
          <p:nvPr/>
        </p:nvSpPr>
        <p:spPr>
          <a:xfrm>
            <a:off x="2552700" y="1547813"/>
            <a:ext cx="1915120" cy="19050"/>
          </a:xfrm>
          <a:custGeom>
            <a:avLst/>
            <a:gdLst/>
            <a:ahLst/>
            <a:cxnLst/>
            <a:rect l="l" t="t" r="r" b="b"/>
            <a:pathLst>
              <a:path w="1915120" h="19050">
                <a:moveTo>
                  <a:pt x="71120" y="0"/>
                </a:moveTo>
                <a:lnTo>
                  <a:pt x="52871" y="2381"/>
                </a:lnTo>
                <a:lnTo>
                  <a:pt x="45532" y="4763"/>
                </a:lnTo>
                <a:lnTo>
                  <a:pt x="40054" y="7144"/>
                </a:lnTo>
                <a:lnTo>
                  <a:pt x="35566" y="9525"/>
                </a:lnTo>
                <a:lnTo>
                  <a:pt x="31727" y="11906"/>
                </a:lnTo>
                <a:lnTo>
                  <a:pt x="28363" y="14288"/>
                </a:lnTo>
                <a:lnTo>
                  <a:pt x="25369" y="16669"/>
                </a:lnTo>
                <a:lnTo>
                  <a:pt x="22677" y="19050"/>
                </a:lnTo>
                <a:lnTo>
                  <a:pt x="1892444" y="19050"/>
                </a:lnTo>
                <a:lnTo>
                  <a:pt x="1889751" y="16669"/>
                </a:lnTo>
                <a:lnTo>
                  <a:pt x="1886757" y="14288"/>
                </a:lnTo>
                <a:lnTo>
                  <a:pt x="1883393" y="11906"/>
                </a:lnTo>
                <a:lnTo>
                  <a:pt x="1879555" y="9525"/>
                </a:lnTo>
                <a:lnTo>
                  <a:pt x="1875066" y="7144"/>
                </a:lnTo>
                <a:lnTo>
                  <a:pt x="1869588" y="4763"/>
                </a:lnTo>
                <a:lnTo>
                  <a:pt x="1862250" y="2381"/>
                </a:lnTo>
                <a:lnTo>
                  <a:pt x="1844000" y="0"/>
                </a:lnTo>
                <a:close/>
              </a:path>
            </a:pathLst>
          </a:custGeom>
          <a:solidFill>
            <a:srgbClr val="55A49C"/>
          </a:solidFill>
          <a:ln/>
        </p:spPr>
        <p:txBody>
          <a:bodyPr wrap="none" rtlCol="0" anchor="t"/>
          <a:lstStyle/>
          <a:p>
            <a:pPr marL="0" indent="0">
              <a:buNone/>
            </a:pPr>
            <a:endParaRPr lang="en-US" dirty="0"/>
          </a:p>
        </p:txBody>
      </p:sp>
      <p:sp>
        <p:nvSpPr>
          <p:cNvPr id="18" name="Text 16"/>
          <p:cNvSpPr/>
          <p:nvPr/>
        </p:nvSpPr>
        <p:spPr>
          <a:xfrm>
            <a:off x="5626745" y="1244352"/>
            <a:ext cx="13841" cy="86320"/>
          </a:xfrm>
          <a:prstGeom prst="rect">
            <a:avLst/>
          </a:prstGeom>
          <a:solidFill>
            <a:srgbClr val="F4B753"/>
          </a:solidFill>
          <a:ln/>
        </p:spPr>
        <p:txBody>
          <a:bodyPr wrap="none" rtlCol="0" anchor="t"/>
          <a:lstStyle/>
          <a:p>
            <a:pPr marL="0" indent="0">
              <a:buNone/>
            </a:pPr>
            <a:endParaRPr lang="en-US" dirty="0"/>
          </a:p>
        </p:txBody>
      </p:sp>
      <p:sp>
        <p:nvSpPr>
          <p:cNvPr id="19" name="Text 17"/>
          <p:cNvSpPr/>
          <p:nvPr/>
        </p:nvSpPr>
        <p:spPr>
          <a:xfrm>
            <a:off x="4847109" y="1330672"/>
            <a:ext cx="1573262" cy="159990"/>
          </a:xfrm>
          <a:prstGeom prst="rect">
            <a:avLst/>
          </a:prstGeom>
          <a:noFill/>
          <a:ln/>
        </p:spPr>
        <p:txBody>
          <a:bodyPr wrap="none" lIns="0" tIns="0" rIns="0" bIns="0" rtlCol="0" anchor="t"/>
          <a:lstStyle/>
          <a:p>
            <a:pPr marL="0" indent="0" algn="ctr">
              <a:lnSpc>
                <a:spcPts val="1260"/>
              </a:lnSpc>
              <a:buNone/>
            </a:pPr>
            <a:r>
              <a:rPr lang="en-US" sz="840" b="1" kern="0" spc="8" dirty="0">
                <a:solidFill>
                  <a:srgbClr val="C48A1A"/>
                </a:solidFill>
                <a:latin typeface="Calibri Light" pitchFamily="34" charset="0"/>
                <a:ea typeface="Calibri Light" pitchFamily="34" charset="-122"/>
                <a:cs typeface="Calibri Light" pitchFamily="34" charset="-120"/>
              </a:rPr>
              <a:t>Week 3 — Skill Introduction</a:t>
            </a:r>
            <a:endParaRPr lang="en-US" sz="840" dirty="0"/>
          </a:p>
        </p:txBody>
      </p:sp>
      <p:sp>
        <p:nvSpPr>
          <p:cNvPr id="20" name="Text 18"/>
          <p:cNvSpPr/>
          <p:nvPr/>
        </p:nvSpPr>
        <p:spPr>
          <a:xfrm>
            <a:off x="4676180" y="1547813"/>
            <a:ext cx="1915120" cy="1118426"/>
          </a:xfrm>
          <a:prstGeom prst="roundRect">
            <a:avLst>
              <a:gd name="adj" fmla="val 6359"/>
            </a:avLst>
          </a:prstGeom>
          <a:solidFill>
            <a:srgbClr val="FEF8EC"/>
          </a:solidFill>
          <a:ln/>
        </p:spPr>
        <p:txBody>
          <a:bodyPr wrap="square" lIns="100330" tIns="92710" rIns="100330" bIns="92710" rtlCol="0" anchor="t"/>
          <a:lstStyle/>
          <a:p>
            <a:pPr marL="0" indent="0" algn="l">
              <a:lnSpc>
                <a:spcPts val="1095"/>
              </a:lnSpc>
              <a:buNone/>
            </a:pPr>
            <a:r>
              <a:rPr lang="en-US" sz="730" dirty="0">
                <a:solidFill>
                  <a:srgbClr val="1A2340"/>
                </a:solidFill>
                <a:latin typeface="Calibri" pitchFamily="34" charset="0"/>
                <a:ea typeface="Calibri" pitchFamily="34" charset="-122"/>
                <a:cs typeface="Calibri" pitchFamily="34" charset="-120"/>
              </a:rPr>
              <a:t>Introduce your first core skill — emotion ID, grounding, CBT thought log, etc. Check-in ritual established. Students begin to hold the structure. </a:t>
            </a:r>
            <a:r>
              <a:rPr lang="en-US" sz="620" b="1" i="1" dirty="0">
                <a:solidFill>
                  <a:srgbClr val="FFFFFF"/>
                </a:solidFill>
                <a:highlight>
                  <a:srgbClr val="C48A1A"/>
                </a:highlight>
                <a:latin typeface="Calibri" pitchFamily="34" charset="0"/>
                <a:ea typeface="Calibri" pitchFamily="34" charset="-122"/>
                <a:cs typeface="Calibri" pitchFamily="34" charset="-120"/>
              </a:rPr>
              <a:t>First Core Skill</a:t>
            </a:r>
            <a:endParaRPr lang="en-US" sz="730" dirty="0"/>
          </a:p>
          <a:p>
            <a:pPr marL="0" indent="0" algn="l">
              <a:lnSpc>
                <a:spcPts val="1095"/>
              </a:lnSpc>
              <a:buNone/>
            </a:pPr>
            <a:endParaRPr lang="en-US" sz="730" dirty="0"/>
          </a:p>
        </p:txBody>
      </p:sp>
      <p:sp>
        <p:nvSpPr>
          <p:cNvPr id="21" name="Text 19"/>
          <p:cNvSpPr/>
          <p:nvPr/>
        </p:nvSpPr>
        <p:spPr>
          <a:xfrm>
            <a:off x="4676180" y="1547813"/>
            <a:ext cx="1915120" cy="19050"/>
          </a:xfrm>
          <a:custGeom>
            <a:avLst/>
            <a:gdLst/>
            <a:ahLst/>
            <a:cxnLst/>
            <a:rect l="l" t="t" r="r" b="b"/>
            <a:pathLst>
              <a:path w="1915120" h="19050">
                <a:moveTo>
                  <a:pt x="71120" y="0"/>
                </a:moveTo>
                <a:lnTo>
                  <a:pt x="52871" y="2381"/>
                </a:lnTo>
                <a:lnTo>
                  <a:pt x="45532" y="4763"/>
                </a:lnTo>
                <a:lnTo>
                  <a:pt x="40054" y="7144"/>
                </a:lnTo>
                <a:lnTo>
                  <a:pt x="35566" y="9525"/>
                </a:lnTo>
                <a:lnTo>
                  <a:pt x="31727" y="11906"/>
                </a:lnTo>
                <a:lnTo>
                  <a:pt x="28363" y="14288"/>
                </a:lnTo>
                <a:lnTo>
                  <a:pt x="25369" y="16669"/>
                </a:lnTo>
                <a:lnTo>
                  <a:pt x="22677" y="19050"/>
                </a:lnTo>
                <a:lnTo>
                  <a:pt x="1892444" y="19050"/>
                </a:lnTo>
                <a:lnTo>
                  <a:pt x="1889751" y="16669"/>
                </a:lnTo>
                <a:lnTo>
                  <a:pt x="1886757" y="14288"/>
                </a:lnTo>
                <a:lnTo>
                  <a:pt x="1883393" y="11906"/>
                </a:lnTo>
                <a:lnTo>
                  <a:pt x="1879555" y="9525"/>
                </a:lnTo>
                <a:lnTo>
                  <a:pt x="1875066" y="7144"/>
                </a:lnTo>
                <a:lnTo>
                  <a:pt x="1869588" y="4763"/>
                </a:lnTo>
                <a:lnTo>
                  <a:pt x="1862250" y="2381"/>
                </a:lnTo>
                <a:lnTo>
                  <a:pt x="1844000" y="0"/>
                </a:lnTo>
                <a:close/>
              </a:path>
            </a:pathLst>
          </a:custGeom>
          <a:solidFill>
            <a:srgbClr val="F4B753"/>
          </a:solidFill>
          <a:ln/>
        </p:spPr>
        <p:txBody>
          <a:bodyPr wrap="none" rtlCol="0" anchor="t"/>
          <a:lstStyle/>
          <a:p>
            <a:pPr marL="0" indent="0">
              <a:buNone/>
            </a:pPr>
            <a:endParaRPr lang="en-US" dirty="0"/>
          </a:p>
        </p:txBody>
      </p:sp>
      <p:sp>
        <p:nvSpPr>
          <p:cNvPr id="22" name="Text 20"/>
          <p:cNvSpPr/>
          <p:nvPr/>
        </p:nvSpPr>
        <p:spPr>
          <a:xfrm>
            <a:off x="7750225" y="1244352"/>
            <a:ext cx="13841" cy="86320"/>
          </a:xfrm>
          <a:prstGeom prst="rect">
            <a:avLst/>
          </a:prstGeom>
          <a:solidFill>
            <a:srgbClr val="E4923F"/>
          </a:solidFill>
          <a:ln/>
        </p:spPr>
        <p:txBody>
          <a:bodyPr wrap="none" rtlCol="0" anchor="t"/>
          <a:lstStyle/>
          <a:p>
            <a:pPr marL="0" indent="0">
              <a:buNone/>
            </a:pPr>
            <a:endParaRPr lang="en-US" dirty="0"/>
          </a:p>
        </p:txBody>
      </p:sp>
      <p:sp>
        <p:nvSpPr>
          <p:cNvPr id="23" name="Text 21"/>
          <p:cNvSpPr/>
          <p:nvPr/>
        </p:nvSpPr>
        <p:spPr>
          <a:xfrm>
            <a:off x="7154927" y="1330672"/>
            <a:ext cx="1204585" cy="159990"/>
          </a:xfrm>
          <a:prstGeom prst="rect">
            <a:avLst/>
          </a:prstGeom>
          <a:noFill/>
          <a:ln/>
        </p:spPr>
        <p:txBody>
          <a:bodyPr wrap="none" lIns="0" tIns="0" rIns="0" bIns="0" rtlCol="0" anchor="t"/>
          <a:lstStyle/>
          <a:p>
            <a:pPr marL="0" indent="0" algn="ctr">
              <a:lnSpc>
                <a:spcPts val="1260"/>
              </a:lnSpc>
              <a:buNone/>
            </a:pPr>
            <a:r>
              <a:rPr lang="en-US" sz="840" b="1" kern="0" spc="8" dirty="0">
                <a:solidFill>
                  <a:srgbClr val="E4923F"/>
                </a:solidFill>
                <a:latin typeface="Calibri Light" pitchFamily="34" charset="0"/>
                <a:ea typeface="Calibri Light" pitchFamily="34" charset="-122"/>
                <a:cs typeface="Calibri Light" pitchFamily="34" charset="-120"/>
              </a:rPr>
              <a:t>Week 4 — Deepening</a:t>
            </a:r>
            <a:endParaRPr lang="en-US" sz="840" dirty="0"/>
          </a:p>
        </p:txBody>
      </p:sp>
      <p:sp>
        <p:nvSpPr>
          <p:cNvPr id="24" name="Text 22"/>
          <p:cNvSpPr/>
          <p:nvPr/>
        </p:nvSpPr>
        <p:spPr>
          <a:xfrm>
            <a:off x="6799659" y="1547813"/>
            <a:ext cx="1915120" cy="1118426"/>
          </a:xfrm>
          <a:prstGeom prst="roundRect">
            <a:avLst>
              <a:gd name="adj" fmla="val 6359"/>
            </a:avLst>
          </a:prstGeom>
          <a:solidFill>
            <a:srgbClr val="FDF1E8"/>
          </a:solidFill>
          <a:ln/>
        </p:spPr>
        <p:txBody>
          <a:bodyPr wrap="square" lIns="100330" tIns="92710" rIns="100330" bIns="92710" rtlCol="0" anchor="t"/>
          <a:lstStyle/>
          <a:p>
            <a:pPr marL="0" indent="0" algn="l">
              <a:lnSpc>
                <a:spcPts val="1095"/>
              </a:lnSpc>
              <a:buNone/>
            </a:pPr>
            <a:r>
              <a:rPr lang="en-US" sz="730" dirty="0">
                <a:solidFill>
                  <a:srgbClr val="1A2340"/>
                </a:solidFill>
                <a:latin typeface="Calibri" pitchFamily="34" charset="0"/>
                <a:ea typeface="Calibri" pitchFamily="34" charset="-122"/>
                <a:cs typeface="Calibri" pitchFamily="34" charset="-120"/>
              </a:rPr>
              <a:t>Review and apply the skill. Peer coaching begins to emerge. Reflect on what the group has built together. Preview weeks 5–8. </a:t>
            </a:r>
            <a:r>
              <a:rPr lang="en-US" sz="620" b="1" i="1" dirty="0">
                <a:solidFill>
                  <a:srgbClr val="FFFFFF"/>
                </a:solidFill>
                <a:highlight>
                  <a:srgbClr val="E4923F"/>
                </a:highlight>
                <a:latin typeface="Calibri" pitchFamily="34" charset="0"/>
                <a:ea typeface="Calibri" pitchFamily="34" charset="-122"/>
                <a:cs typeface="Calibri" pitchFamily="34" charset="-120"/>
              </a:rPr>
              <a:t>Peer Coaching Emerges</a:t>
            </a:r>
            <a:endParaRPr lang="en-US" sz="730" dirty="0"/>
          </a:p>
          <a:p>
            <a:pPr marL="0" indent="0" algn="l">
              <a:lnSpc>
                <a:spcPts val="1095"/>
              </a:lnSpc>
              <a:buNone/>
            </a:pPr>
            <a:endParaRPr lang="en-US" sz="730" dirty="0"/>
          </a:p>
        </p:txBody>
      </p:sp>
      <p:sp>
        <p:nvSpPr>
          <p:cNvPr id="25" name="Text 23"/>
          <p:cNvSpPr/>
          <p:nvPr/>
        </p:nvSpPr>
        <p:spPr>
          <a:xfrm>
            <a:off x="6799659" y="1547813"/>
            <a:ext cx="1915120" cy="19050"/>
          </a:xfrm>
          <a:custGeom>
            <a:avLst/>
            <a:gdLst/>
            <a:ahLst/>
            <a:cxnLst/>
            <a:rect l="l" t="t" r="r" b="b"/>
            <a:pathLst>
              <a:path w="1915120" h="19050">
                <a:moveTo>
                  <a:pt x="71120" y="0"/>
                </a:moveTo>
                <a:lnTo>
                  <a:pt x="52871" y="2381"/>
                </a:lnTo>
                <a:lnTo>
                  <a:pt x="45532" y="4763"/>
                </a:lnTo>
                <a:lnTo>
                  <a:pt x="40054" y="7144"/>
                </a:lnTo>
                <a:lnTo>
                  <a:pt x="35566" y="9525"/>
                </a:lnTo>
                <a:lnTo>
                  <a:pt x="31727" y="11906"/>
                </a:lnTo>
                <a:lnTo>
                  <a:pt x="28363" y="14288"/>
                </a:lnTo>
                <a:lnTo>
                  <a:pt x="25369" y="16669"/>
                </a:lnTo>
                <a:lnTo>
                  <a:pt x="22677" y="19050"/>
                </a:lnTo>
                <a:lnTo>
                  <a:pt x="1892444" y="19050"/>
                </a:lnTo>
                <a:lnTo>
                  <a:pt x="1889751" y="16669"/>
                </a:lnTo>
                <a:lnTo>
                  <a:pt x="1886757" y="14288"/>
                </a:lnTo>
                <a:lnTo>
                  <a:pt x="1883393" y="11906"/>
                </a:lnTo>
                <a:lnTo>
                  <a:pt x="1879555" y="9525"/>
                </a:lnTo>
                <a:lnTo>
                  <a:pt x="1875066" y="7144"/>
                </a:lnTo>
                <a:lnTo>
                  <a:pt x="1869588" y="4763"/>
                </a:lnTo>
                <a:lnTo>
                  <a:pt x="1862250" y="2381"/>
                </a:lnTo>
                <a:lnTo>
                  <a:pt x="1844000" y="0"/>
                </a:lnTo>
                <a:close/>
              </a:path>
            </a:pathLst>
          </a:custGeom>
          <a:solidFill>
            <a:srgbClr val="E4923F"/>
          </a:solidFill>
          <a:ln/>
        </p:spPr>
        <p:txBody>
          <a:bodyPr wrap="none" rtlCol="0" anchor="t"/>
          <a:lstStyle/>
          <a:p>
            <a:pPr marL="0" indent="0">
              <a:buNone/>
            </a:pPr>
            <a:endParaRPr lang="en-US" dirty="0"/>
          </a:p>
        </p:txBody>
      </p:sp>
      <p:sp>
        <p:nvSpPr>
          <p:cNvPr id="26" name="Text 24"/>
          <p:cNvSpPr/>
          <p:nvPr/>
        </p:nvSpPr>
        <p:spPr>
          <a:xfrm>
            <a:off x="1200745" y="785961"/>
            <a:ext cx="372070" cy="372070"/>
          </a:xfrm>
          <a:prstGeom prst="ellipse">
            <a:avLst/>
          </a:prstGeom>
          <a:solidFill>
            <a:srgbClr val="367689"/>
          </a:solidFill>
          <a:ln/>
          <a:effectLst>
            <a:outerShdw blurRad="86360" dist="21590" dir="5400000" algn="bl" rotWithShape="0">
              <a:srgbClr val="000000">
                <a:alpha val="15000"/>
              </a:srgbClr>
            </a:outerShdw>
          </a:effectLst>
        </p:spPr>
        <p:txBody>
          <a:bodyPr wrap="square" rtlCol="0" anchor="t"/>
          <a:lstStyle/>
          <a:p>
            <a:pPr marL="0" indent="0">
              <a:buNone/>
            </a:pPr>
            <a:endParaRPr lang="en-US" dirty="0"/>
          </a:p>
        </p:txBody>
      </p:sp>
      <p:pic>
        <p:nvPicPr>
          <p:cNvPr id="2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20486" y="905702"/>
            <a:ext cx="132588" cy="132588"/>
          </a:xfrm>
          <a:prstGeom prst="rect">
            <a:avLst/>
          </a:prstGeom>
        </p:spPr>
      </p:pic>
      <p:sp>
        <p:nvSpPr>
          <p:cNvPr id="28" name="Text 25"/>
          <p:cNvSpPr/>
          <p:nvPr/>
        </p:nvSpPr>
        <p:spPr>
          <a:xfrm>
            <a:off x="3324225" y="785961"/>
            <a:ext cx="372070" cy="372070"/>
          </a:xfrm>
          <a:prstGeom prst="ellipse">
            <a:avLst/>
          </a:prstGeom>
          <a:solidFill>
            <a:srgbClr val="55A49C"/>
          </a:solidFill>
          <a:ln/>
          <a:effectLst>
            <a:outerShdw blurRad="86360" dist="21590" dir="5400000" algn="bl" rotWithShape="0">
              <a:srgbClr val="000000">
                <a:alpha val="15000"/>
              </a:srgbClr>
            </a:outerShdw>
          </a:effectLst>
        </p:spPr>
        <p:txBody>
          <a:bodyPr wrap="square" rtlCol="0" anchor="t"/>
          <a:lstStyle/>
          <a:p>
            <a:pPr marL="0" indent="0">
              <a:buNone/>
            </a:pPr>
            <a:endParaRPr lang="en-US" dirty="0"/>
          </a:p>
        </p:txBody>
      </p:sp>
      <p:pic>
        <p:nvPicPr>
          <p:cNvPr id="2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43966" y="905702"/>
            <a:ext cx="132588" cy="132588"/>
          </a:xfrm>
          <a:prstGeom prst="rect">
            <a:avLst/>
          </a:prstGeom>
        </p:spPr>
      </p:pic>
      <p:sp>
        <p:nvSpPr>
          <p:cNvPr id="30" name="Text 26"/>
          <p:cNvSpPr/>
          <p:nvPr/>
        </p:nvSpPr>
        <p:spPr>
          <a:xfrm>
            <a:off x="5447705" y="785961"/>
            <a:ext cx="372070" cy="372070"/>
          </a:xfrm>
          <a:prstGeom prst="ellipse">
            <a:avLst/>
          </a:prstGeom>
          <a:solidFill>
            <a:srgbClr val="F4B753"/>
          </a:solidFill>
          <a:ln/>
          <a:effectLst>
            <a:outerShdw blurRad="86360" dist="21590" dir="5400000" algn="bl" rotWithShape="0">
              <a:srgbClr val="000000">
                <a:alpha val="15000"/>
              </a:srgbClr>
            </a:outerShdw>
          </a:effectLst>
        </p:spPr>
        <p:txBody>
          <a:bodyPr wrap="square" rtlCol="0" anchor="t"/>
          <a:lstStyle/>
          <a:p>
            <a:pPr marL="0" indent="0">
              <a:buNone/>
            </a:pPr>
            <a:endParaRPr lang="en-US" dirty="0"/>
          </a:p>
        </p:txBody>
      </p:sp>
      <p:pic>
        <p:nvPicPr>
          <p:cNvPr id="3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567446" y="905702"/>
            <a:ext cx="132588" cy="132588"/>
          </a:xfrm>
          <a:prstGeom prst="rect">
            <a:avLst/>
          </a:prstGeom>
        </p:spPr>
      </p:pic>
      <p:sp>
        <p:nvSpPr>
          <p:cNvPr id="32" name="Text 27"/>
          <p:cNvSpPr/>
          <p:nvPr/>
        </p:nvSpPr>
        <p:spPr>
          <a:xfrm>
            <a:off x="7571184" y="785961"/>
            <a:ext cx="372070" cy="372070"/>
          </a:xfrm>
          <a:prstGeom prst="ellipse">
            <a:avLst/>
          </a:prstGeom>
          <a:solidFill>
            <a:srgbClr val="E4923F"/>
          </a:solidFill>
          <a:ln/>
          <a:effectLst>
            <a:outerShdw blurRad="86360" dist="21590" dir="5400000" algn="bl" rotWithShape="0">
              <a:srgbClr val="000000">
                <a:alpha val="15000"/>
              </a:srgbClr>
            </a:outerShdw>
          </a:effectLst>
        </p:spPr>
        <p:txBody>
          <a:bodyPr wrap="square" rtlCol="0" anchor="t"/>
          <a:lstStyle/>
          <a:p>
            <a:pPr marL="0" indent="0">
              <a:buNone/>
            </a:pPr>
            <a:endParaRPr lang="en-US" dirty="0"/>
          </a:p>
        </p:txBody>
      </p:sp>
      <p:pic>
        <p:nvPicPr>
          <p:cNvPr id="33"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690926" y="905702"/>
            <a:ext cx="132588" cy="13258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785664"/>
          </a:xfrm>
          <a:prstGeom prst="rect">
            <a:avLst/>
          </a:prstGeom>
          <a:solidFill>
            <a:srgbClr val="367689"/>
          </a:solidFill>
          <a:ln/>
        </p:spPr>
        <p:txBody>
          <a:bodyPr wrap="square" rtlCol="0" anchor="t"/>
          <a:lstStyle/>
          <a:p>
            <a:pPr marL="0" indent="0">
              <a:buNone/>
            </a:pPr>
            <a:endParaRPr lang="en-US" dirty="0"/>
          </a:p>
        </p:txBody>
      </p:sp>
      <p:sp>
        <p:nvSpPr>
          <p:cNvPr id="3" name="Text 1"/>
          <p:cNvSpPr/>
          <p:nvPr/>
        </p:nvSpPr>
        <p:spPr>
          <a:xfrm>
            <a:off x="372070" y="128141"/>
            <a:ext cx="8987850" cy="236041"/>
          </a:xfrm>
          <a:prstGeom prst="rect">
            <a:avLst/>
          </a:prstGeom>
          <a:noFill/>
          <a:ln/>
        </p:spPr>
        <p:txBody>
          <a:bodyPr wrap="none" lIns="0" tIns="0" rIns="0" bIns="0" rtlCol="0" anchor="t"/>
          <a:lstStyle/>
          <a:p>
            <a:pPr marL="0" indent="0" algn="l">
              <a:lnSpc>
                <a:spcPts val="1859"/>
              </a:lnSpc>
              <a:buNone/>
            </a:pPr>
            <a:r>
              <a:rPr lang="en-US" sz="1690" b="1" kern="0" spc="34" dirty="0">
                <a:solidFill>
                  <a:srgbClr val="FFFFFF"/>
                </a:solidFill>
                <a:latin typeface="Calibri Light" pitchFamily="34" charset="0"/>
                <a:ea typeface="Calibri Light" pitchFamily="34" charset="-122"/>
                <a:cs typeface="Calibri Light" pitchFamily="34" charset="-120"/>
              </a:rPr>
              <a:t>Every Session, Every Time</a:t>
            </a:r>
            <a:endParaRPr lang="en-US" sz="1690" dirty="0"/>
          </a:p>
        </p:txBody>
      </p:sp>
      <p:sp>
        <p:nvSpPr>
          <p:cNvPr id="4" name="Text 2"/>
          <p:cNvSpPr/>
          <p:nvPr/>
        </p:nvSpPr>
        <p:spPr>
          <a:xfrm>
            <a:off x="372070" y="435173"/>
            <a:ext cx="8399859" cy="21580"/>
          </a:xfrm>
          <a:prstGeom prst="roundRect">
            <a:avLst>
              <a:gd name="adj" fmla="val 64736"/>
            </a:avLst>
          </a:prstGeom>
          <a:solidFill>
            <a:srgbClr val="F4B753"/>
          </a:solidFill>
          <a:ln/>
        </p:spPr>
        <p:txBody>
          <a:bodyPr wrap="none" rtlCol="0" anchor="t"/>
          <a:lstStyle/>
          <a:p>
            <a:pPr marL="0" indent="0">
              <a:buNone/>
            </a:pPr>
            <a:endParaRPr lang="en-US" dirty="0"/>
          </a:p>
        </p:txBody>
      </p:sp>
      <p:sp>
        <p:nvSpPr>
          <p:cNvPr id="5" name="Text 3"/>
          <p:cNvSpPr/>
          <p:nvPr/>
        </p:nvSpPr>
        <p:spPr>
          <a:xfrm>
            <a:off x="372070" y="513904"/>
            <a:ext cx="9239845" cy="171450"/>
          </a:xfrm>
          <a:prstGeom prst="rect">
            <a:avLst/>
          </a:prstGeom>
          <a:noFill/>
          <a:ln/>
        </p:spPr>
        <p:txBody>
          <a:bodyPr wrap="none" lIns="0" tIns="0" rIns="0" bIns="0" rtlCol="0" anchor="t"/>
          <a:lstStyle/>
          <a:p>
            <a:pPr marL="0" indent="0" algn="l">
              <a:lnSpc>
                <a:spcPts val="1350"/>
              </a:lnSpc>
              <a:buNone/>
            </a:pPr>
            <a:r>
              <a:rPr lang="en-US" sz="900" i="1" kern="0" spc="9" dirty="0">
                <a:solidFill>
                  <a:srgbClr val="55A49C"/>
                </a:solidFill>
                <a:latin typeface="Calibri" pitchFamily="34" charset="0"/>
                <a:ea typeface="Calibri" pitchFamily="34" charset="-122"/>
                <a:cs typeface="Calibri" pitchFamily="34" charset="-120"/>
              </a:rPr>
              <a:t>Consistency is your most powerful clinical tool.</a:t>
            </a:r>
            <a:endParaRPr lang="en-US" sz="900" dirty="0"/>
          </a:p>
        </p:txBody>
      </p:sp>
      <p:sp>
        <p:nvSpPr>
          <p:cNvPr id="6" name="Text 4"/>
          <p:cNvSpPr/>
          <p:nvPr/>
        </p:nvSpPr>
        <p:spPr>
          <a:xfrm>
            <a:off x="1079479" y="1486495"/>
            <a:ext cx="482891" cy="254563"/>
          </a:xfrm>
          <a:prstGeom prst="rect">
            <a:avLst/>
          </a:prstGeom>
          <a:noFill/>
          <a:ln/>
        </p:spPr>
        <p:txBody>
          <a:bodyPr wrap="square" lIns="29210" tIns="0" rIns="29210" bIns="0" rtlCol="0" anchor="t"/>
          <a:lstStyle/>
          <a:p>
            <a:pPr marL="0" indent="0" algn="ctr">
              <a:lnSpc>
                <a:spcPts val="950"/>
              </a:lnSpc>
              <a:buNone/>
            </a:pPr>
            <a:r>
              <a:rPr lang="en-US" sz="760" b="1" kern="0" spc="8" dirty="0">
                <a:solidFill>
                  <a:srgbClr val="367689"/>
                </a:solidFill>
                <a:latin typeface="Calibri Light" pitchFamily="34" charset="0"/>
                <a:ea typeface="Calibri Light" pitchFamily="34" charset="-122"/>
                <a:cs typeface="Calibri Light" pitchFamily="34" charset="-120"/>
              </a:rPr>
              <a:t>Check-In</a:t>
            </a:r>
            <a:br/>
            <a:r>
              <a:rPr lang="en-US" sz="680" b="1" kern="0" spc="8" dirty="0">
                <a:solidFill>
                  <a:srgbClr val="888888"/>
                </a:solidFill>
                <a:latin typeface="Calibri Light" pitchFamily="34" charset="0"/>
                <a:ea typeface="Calibri Light" pitchFamily="34" charset="-122"/>
                <a:cs typeface="Calibri Light" pitchFamily="34" charset="-120"/>
              </a:rPr>
              <a:t>(5 min)</a:t>
            </a:r>
            <a:endParaRPr lang="en-US" sz="760" dirty="0"/>
          </a:p>
        </p:txBody>
      </p:sp>
      <p:sp>
        <p:nvSpPr>
          <p:cNvPr id="7" name="Text 5"/>
          <p:cNvSpPr/>
          <p:nvPr/>
        </p:nvSpPr>
        <p:spPr>
          <a:xfrm>
            <a:off x="706338" y="1793677"/>
            <a:ext cx="1229320" cy="867791"/>
          </a:xfrm>
          <a:prstGeom prst="roundRect">
            <a:avLst>
              <a:gd name="adj" fmla="val 8196"/>
            </a:avLst>
          </a:prstGeom>
          <a:solidFill>
            <a:srgbClr val="F4F7F9"/>
          </a:solidFill>
          <a:ln/>
          <a:effectLst>
            <a:outerShdw blurRad="57150" dist="13970" dir="5400000" algn="bl" rotWithShape="0">
              <a:srgbClr val="000000">
                <a:alpha val="7000"/>
              </a:srgbClr>
            </a:outerShdw>
          </a:effectLst>
        </p:spPr>
        <p:txBody>
          <a:bodyPr wrap="square" lIns="86360" tIns="78740" rIns="86360" bIns="78740" rtlCol="0" anchor="t"/>
          <a:lstStyle/>
          <a:p>
            <a:pPr marL="0" indent="0" algn="ctr">
              <a:buNone/>
            </a:pPr>
            <a:r>
              <a:rPr lang="en-US" sz="700" dirty="0">
                <a:solidFill>
                  <a:srgbClr val="2A2A3E"/>
                </a:solidFill>
                <a:latin typeface="Calibri" pitchFamily="34" charset="0"/>
                <a:ea typeface="Calibri" pitchFamily="34" charset="-122"/>
                <a:cs typeface="Calibri" pitchFamily="34" charset="-120"/>
              </a:rPr>
              <a:t>Feelings rating, word of the day, or brief round-robin. Sets the tone and gives you a read on the room before you begin.</a:t>
            </a:r>
            <a:endParaRPr lang="en-US" sz="700" dirty="0"/>
          </a:p>
        </p:txBody>
      </p:sp>
      <p:sp>
        <p:nvSpPr>
          <p:cNvPr id="8" name="Text 6"/>
          <p:cNvSpPr/>
          <p:nvPr/>
        </p:nvSpPr>
        <p:spPr>
          <a:xfrm>
            <a:off x="706338" y="1793677"/>
            <a:ext cx="1229320" cy="19050"/>
          </a:xfrm>
          <a:custGeom>
            <a:avLst/>
            <a:gdLst/>
            <a:ahLst/>
            <a:cxnLst/>
            <a:rect l="l" t="t" r="r" b="b"/>
            <a:pathLst>
              <a:path w="1229320" h="19050">
                <a:moveTo>
                  <a:pt x="71120" y="0"/>
                </a:moveTo>
                <a:lnTo>
                  <a:pt x="52871" y="2381"/>
                </a:lnTo>
                <a:lnTo>
                  <a:pt x="45532" y="4763"/>
                </a:lnTo>
                <a:lnTo>
                  <a:pt x="40054" y="7144"/>
                </a:lnTo>
                <a:lnTo>
                  <a:pt x="35566" y="9525"/>
                </a:lnTo>
                <a:lnTo>
                  <a:pt x="31727" y="11906"/>
                </a:lnTo>
                <a:lnTo>
                  <a:pt x="28363" y="14288"/>
                </a:lnTo>
                <a:lnTo>
                  <a:pt x="25369" y="16669"/>
                </a:lnTo>
                <a:lnTo>
                  <a:pt x="22677" y="19050"/>
                </a:lnTo>
                <a:lnTo>
                  <a:pt x="1206644" y="19050"/>
                </a:lnTo>
                <a:lnTo>
                  <a:pt x="1203951" y="16669"/>
                </a:lnTo>
                <a:lnTo>
                  <a:pt x="1200957" y="14288"/>
                </a:lnTo>
                <a:lnTo>
                  <a:pt x="1197593" y="11906"/>
                </a:lnTo>
                <a:lnTo>
                  <a:pt x="1193755" y="9525"/>
                </a:lnTo>
                <a:lnTo>
                  <a:pt x="1189266" y="7144"/>
                </a:lnTo>
                <a:lnTo>
                  <a:pt x="1183788" y="4763"/>
                </a:lnTo>
                <a:lnTo>
                  <a:pt x="1176450" y="2381"/>
                </a:lnTo>
                <a:lnTo>
                  <a:pt x="1158200" y="0"/>
                </a:lnTo>
                <a:close/>
              </a:path>
            </a:pathLst>
          </a:custGeom>
          <a:solidFill>
            <a:srgbClr val="367689"/>
          </a:solidFill>
          <a:ln/>
        </p:spPr>
        <p:txBody>
          <a:bodyPr wrap="none" rtlCol="0" anchor="t"/>
          <a:lstStyle/>
          <a:p>
            <a:pPr marL="0" indent="0">
              <a:buNone/>
            </a:pPr>
            <a:endParaRPr lang="en-US" dirty="0"/>
          </a:p>
        </p:txBody>
      </p:sp>
      <p:pic>
        <p:nvPicPr>
          <p:cNvPr id="9"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21384" y="1078855"/>
            <a:ext cx="224730" cy="139005"/>
          </a:xfrm>
          <a:prstGeom prst="rect">
            <a:avLst/>
          </a:prstGeom>
        </p:spPr>
      </p:pic>
      <p:sp>
        <p:nvSpPr>
          <p:cNvPr id="10" name="Text 7"/>
          <p:cNvSpPr/>
          <p:nvPr/>
        </p:nvSpPr>
        <p:spPr>
          <a:xfrm>
            <a:off x="2521144" y="1486495"/>
            <a:ext cx="850562" cy="254563"/>
          </a:xfrm>
          <a:prstGeom prst="rect">
            <a:avLst/>
          </a:prstGeom>
          <a:noFill/>
          <a:ln/>
        </p:spPr>
        <p:txBody>
          <a:bodyPr wrap="square" lIns="29210" tIns="0" rIns="29210" bIns="0" rtlCol="0" anchor="t"/>
          <a:lstStyle/>
          <a:p>
            <a:pPr marL="0" indent="0" algn="ctr">
              <a:lnSpc>
                <a:spcPts val="950"/>
              </a:lnSpc>
              <a:buNone/>
            </a:pPr>
            <a:r>
              <a:rPr lang="en-US" sz="760" b="1" kern="0" spc="8" dirty="0">
                <a:solidFill>
                  <a:srgbClr val="55A49C"/>
                </a:solidFill>
                <a:latin typeface="Calibri Light" pitchFamily="34" charset="0"/>
                <a:ea typeface="Calibri Light" pitchFamily="34" charset="-122"/>
                <a:cs typeface="Calibri Light" pitchFamily="34" charset="-120"/>
              </a:rPr>
              <a:t>Review &amp; Bridge</a:t>
            </a:r>
            <a:br/>
            <a:r>
              <a:rPr lang="en-US" sz="680" b="1" kern="0" spc="8" dirty="0">
                <a:solidFill>
                  <a:srgbClr val="888888"/>
                </a:solidFill>
                <a:latin typeface="Calibri Light" pitchFamily="34" charset="0"/>
                <a:ea typeface="Calibri Light" pitchFamily="34" charset="-122"/>
                <a:cs typeface="Calibri Light" pitchFamily="34" charset="-120"/>
              </a:rPr>
              <a:t>(5 min)</a:t>
            </a:r>
            <a:endParaRPr lang="en-US" sz="760" dirty="0"/>
          </a:p>
        </p:txBody>
      </p:sp>
      <p:sp>
        <p:nvSpPr>
          <p:cNvPr id="11" name="Text 8"/>
          <p:cNvSpPr/>
          <p:nvPr/>
        </p:nvSpPr>
        <p:spPr>
          <a:xfrm>
            <a:off x="2331839" y="1793677"/>
            <a:ext cx="1229320" cy="1004989"/>
          </a:xfrm>
          <a:prstGeom prst="roundRect">
            <a:avLst>
              <a:gd name="adj" fmla="val 7077"/>
            </a:avLst>
          </a:prstGeom>
          <a:solidFill>
            <a:srgbClr val="F4F7F9"/>
          </a:solidFill>
          <a:ln/>
          <a:effectLst>
            <a:outerShdw blurRad="57150" dist="13970" dir="5400000" algn="bl" rotWithShape="0">
              <a:srgbClr val="000000">
                <a:alpha val="7000"/>
              </a:srgbClr>
            </a:outerShdw>
          </a:effectLst>
        </p:spPr>
        <p:txBody>
          <a:bodyPr wrap="square" lIns="86360" tIns="78740" rIns="86360" bIns="78740" rtlCol="0" anchor="t"/>
          <a:lstStyle/>
          <a:p>
            <a:pPr marL="0" indent="0" algn="ctr">
              <a:buNone/>
            </a:pPr>
            <a:r>
              <a:rPr lang="en-US" sz="700" dirty="0">
                <a:solidFill>
                  <a:srgbClr val="2A2A3E"/>
                </a:solidFill>
                <a:latin typeface="Calibri" pitchFamily="34" charset="0"/>
                <a:ea typeface="Calibri" pitchFamily="34" charset="-122"/>
                <a:cs typeface="Calibri" pitchFamily="34" charset="-120"/>
              </a:rPr>
              <a:t>Recap last session. Did anyone try the skill? What happened? Builds continuity and accountability between sessions.</a:t>
            </a:r>
            <a:endParaRPr lang="en-US" sz="700" dirty="0"/>
          </a:p>
        </p:txBody>
      </p:sp>
      <p:sp>
        <p:nvSpPr>
          <p:cNvPr id="12" name="Text 9"/>
          <p:cNvSpPr/>
          <p:nvPr/>
        </p:nvSpPr>
        <p:spPr>
          <a:xfrm>
            <a:off x="2331839" y="1793677"/>
            <a:ext cx="1229320" cy="19050"/>
          </a:xfrm>
          <a:custGeom>
            <a:avLst/>
            <a:gdLst/>
            <a:ahLst/>
            <a:cxnLst/>
            <a:rect l="l" t="t" r="r" b="b"/>
            <a:pathLst>
              <a:path w="1229320" h="19050">
                <a:moveTo>
                  <a:pt x="71120" y="0"/>
                </a:moveTo>
                <a:lnTo>
                  <a:pt x="52871" y="2381"/>
                </a:lnTo>
                <a:lnTo>
                  <a:pt x="45532" y="4763"/>
                </a:lnTo>
                <a:lnTo>
                  <a:pt x="40054" y="7144"/>
                </a:lnTo>
                <a:lnTo>
                  <a:pt x="35566" y="9525"/>
                </a:lnTo>
                <a:lnTo>
                  <a:pt x="31727" y="11906"/>
                </a:lnTo>
                <a:lnTo>
                  <a:pt x="28363" y="14288"/>
                </a:lnTo>
                <a:lnTo>
                  <a:pt x="25369" y="16669"/>
                </a:lnTo>
                <a:lnTo>
                  <a:pt x="22677" y="19050"/>
                </a:lnTo>
                <a:lnTo>
                  <a:pt x="1206644" y="19050"/>
                </a:lnTo>
                <a:lnTo>
                  <a:pt x="1203951" y="16669"/>
                </a:lnTo>
                <a:lnTo>
                  <a:pt x="1200957" y="14288"/>
                </a:lnTo>
                <a:lnTo>
                  <a:pt x="1197593" y="11906"/>
                </a:lnTo>
                <a:lnTo>
                  <a:pt x="1193755" y="9525"/>
                </a:lnTo>
                <a:lnTo>
                  <a:pt x="1189266" y="7144"/>
                </a:lnTo>
                <a:lnTo>
                  <a:pt x="1183788" y="4763"/>
                </a:lnTo>
                <a:lnTo>
                  <a:pt x="1176450" y="2381"/>
                </a:lnTo>
                <a:lnTo>
                  <a:pt x="1158200" y="0"/>
                </a:lnTo>
                <a:close/>
              </a:path>
            </a:pathLst>
          </a:custGeom>
          <a:solidFill>
            <a:srgbClr val="55A49C"/>
          </a:solidFill>
          <a:ln/>
        </p:spPr>
        <p:txBody>
          <a:bodyPr wrap="none" rtlCol="0" anchor="t"/>
          <a:lstStyle/>
          <a:p>
            <a:pPr marL="0" indent="0">
              <a:buNone/>
            </a:pPr>
            <a:endParaRPr lang="en-US" dirty="0"/>
          </a:p>
        </p:txBody>
      </p:sp>
      <p:pic>
        <p:nvPicPr>
          <p:cNvPr id="13"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46884" y="1078855"/>
            <a:ext cx="224730" cy="139005"/>
          </a:xfrm>
          <a:prstGeom prst="rect">
            <a:avLst/>
          </a:prstGeom>
        </p:spPr>
      </p:pic>
      <p:sp>
        <p:nvSpPr>
          <p:cNvPr id="14" name="Text 10"/>
          <p:cNvSpPr/>
          <p:nvPr/>
        </p:nvSpPr>
        <p:spPr>
          <a:xfrm>
            <a:off x="4230136" y="1486495"/>
            <a:ext cx="683728" cy="254563"/>
          </a:xfrm>
          <a:prstGeom prst="rect">
            <a:avLst/>
          </a:prstGeom>
          <a:noFill/>
          <a:ln/>
        </p:spPr>
        <p:txBody>
          <a:bodyPr wrap="square" lIns="29210" tIns="0" rIns="29210" bIns="0" rtlCol="0" anchor="t"/>
          <a:lstStyle/>
          <a:p>
            <a:pPr marL="0" indent="0" algn="ctr">
              <a:lnSpc>
                <a:spcPts val="950"/>
              </a:lnSpc>
              <a:buNone/>
            </a:pPr>
            <a:r>
              <a:rPr lang="en-US" sz="760" b="1" kern="0" spc="8" dirty="0">
                <a:solidFill>
                  <a:srgbClr val="A07000"/>
                </a:solidFill>
                <a:latin typeface="Calibri Light" pitchFamily="34" charset="0"/>
                <a:ea typeface="Calibri Light" pitchFamily="34" charset="-122"/>
                <a:cs typeface="Calibri Light" pitchFamily="34" charset="-120"/>
              </a:rPr>
              <a:t>Skill or Topic</a:t>
            </a:r>
            <a:br/>
            <a:r>
              <a:rPr lang="en-US" sz="680" b="1" kern="0" spc="8" dirty="0">
                <a:solidFill>
                  <a:srgbClr val="888888"/>
                </a:solidFill>
                <a:latin typeface="Calibri Light" pitchFamily="34" charset="0"/>
                <a:ea typeface="Calibri Light" pitchFamily="34" charset="-122"/>
                <a:cs typeface="Calibri Light" pitchFamily="34" charset="-120"/>
              </a:rPr>
              <a:t>(15 min)</a:t>
            </a:r>
            <a:endParaRPr lang="en-US" sz="760" dirty="0"/>
          </a:p>
        </p:txBody>
      </p:sp>
      <p:sp>
        <p:nvSpPr>
          <p:cNvPr id="15" name="Text 11"/>
          <p:cNvSpPr/>
          <p:nvPr/>
        </p:nvSpPr>
        <p:spPr>
          <a:xfrm>
            <a:off x="3957340" y="1793677"/>
            <a:ext cx="1229320" cy="1004989"/>
          </a:xfrm>
          <a:prstGeom prst="roundRect">
            <a:avLst>
              <a:gd name="adj" fmla="val 7077"/>
            </a:avLst>
          </a:prstGeom>
          <a:solidFill>
            <a:srgbClr val="F4F7F9"/>
          </a:solidFill>
          <a:ln/>
          <a:effectLst>
            <a:outerShdw blurRad="57150" dist="13970" dir="5400000" algn="bl" rotWithShape="0">
              <a:srgbClr val="000000">
                <a:alpha val="7000"/>
              </a:srgbClr>
            </a:outerShdw>
          </a:effectLst>
        </p:spPr>
        <p:txBody>
          <a:bodyPr wrap="square" lIns="86360" tIns="78740" rIns="86360" bIns="78740" rtlCol="0" anchor="t"/>
          <a:lstStyle/>
          <a:p>
            <a:pPr marL="0" indent="0" algn="ctr">
              <a:buNone/>
            </a:pPr>
            <a:r>
              <a:rPr lang="en-US" sz="700" dirty="0">
                <a:solidFill>
                  <a:srgbClr val="2A2A3E"/>
                </a:solidFill>
                <a:latin typeface="Calibri" pitchFamily="34" charset="0"/>
                <a:ea typeface="Calibri" pitchFamily="34" charset="-122"/>
                <a:cs typeface="Calibri" pitchFamily="34" charset="-120"/>
              </a:rPr>
              <a:t>The clinical heart of the session. Keep it interactive — not a lecture. Psychoeducation, CBT activity, or structured exercise.</a:t>
            </a:r>
            <a:endParaRPr lang="en-US" sz="700" dirty="0"/>
          </a:p>
        </p:txBody>
      </p:sp>
      <p:sp>
        <p:nvSpPr>
          <p:cNvPr id="16" name="Text 12"/>
          <p:cNvSpPr/>
          <p:nvPr/>
        </p:nvSpPr>
        <p:spPr>
          <a:xfrm>
            <a:off x="3957340" y="1793677"/>
            <a:ext cx="1229320" cy="19050"/>
          </a:xfrm>
          <a:custGeom>
            <a:avLst/>
            <a:gdLst/>
            <a:ahLst/>
            <a:cxnLst/>
            <a:rect l="l" t="t" r="r" b="b"/>
            <a:pathLst>
              <a:path w="1229320" h="19050">
                <a:moveTo>
                  <a:pt x="71120" y="0"/>
                </a:moveTo>
                <a:lnTo>
                  <a:pt x="52871" y="2381"/>
                </a:lnTo>
                <a:lnTo>
                  <a:pt x="45532" y="4763"/>
                </a:lnTo>
                <a:lnTo>
                  <a:pt x="40054" y="7144"/>
                </a:lnTo>
                <a:lnTo>
                  <a:pt x="35566" y="9525"/>
                </a:lnTo>
                <a:lnTo>
                  <a:pt x="31727" y="11906"/>
                </a:lnTo>
                <a:lnTo>
                  <a:pt x="28363" y="14288"/>
                </a:lnTo>
                <a:lnTo>
                  <a:pt x="25369" y="16669"/>
                </a:lnTo>
                <a:lnTo>
                  <a:pt x="22677" y="19050"/>
                </a:lnTo>
                <a:lnTo>
                  <a:pt x="1206644" y="19050"/>
                </a:lnTo>
                <a:lnTo>
                  <a:pt x="1203951" y="16669"/>
                </a:lnTo>
                <a:lnTo>
                  <a:pt x="1200957" y="14288"/>
                </a:lnTo>
                <a:lnTo>
                  <a:pt x="1197593" y="11906"/>
                </a:lnTo>
                <a:lnTo>
                  <a:pt x="1193755" y="9525"/>
                </a:lnTo>
                <a:lnTo>
                  <a:pt x="1189266" y="7144"/>
                </a:lnTo>
                <a:lnTo>
                  <a:pt x="1183788" y="4763"/>
                </a:lnTo>
                <a:lnTo>
                  <a:pt x="1176450" y="2381"/>
                </a:lnTo>
                <a:lnTo>
                  <a:pt x="1158200" y="0"/>
                </a:lnTo>
                <a:close/>
              </a:path>
            </a:pathLst>
          </a:custGeom>
          <a:solidFill>
            <a:srgbClr val="F4B753"/>
          </a:solidFill>
          <a:ln/>
        </p:spPr>
        <p:txBody>
          <a:bodyPr wrap="none" rtlCol="0" anchor="t"/>
          <a:lstStyle/>
          <a:p>
            <a:pPr marL="0" indent="0">
              <a:buNone/>
            </a:pPr>
            <a:endParaRPr lang="en-US" dirty="0"/>
          </a:p>
        </p:txBody>
      </p:sp>
      <p:pic>
        <p:nvPicPr>
          <p:cNvPr id="17"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272385" y="1078855"/>
            <a:ext cx="224730" cy="139005"/>
          </a:xfrm>
          <a:prstGeom prst="rect">
            <a:avLst/>
          </a:prstGeom>
        </p:spPr>
      </p:pic>
      <p:sp>
        <p:nvSpPr>
          <p:cNvPr id="18" name="Text 13"/>
          <p:cNvSpPr/>
          <p:nvPr/>
        </p:nvSpPr>
        <p:spPr>
          <a:xfrm>
            <a:off x="5712183" y="1486495"/>
            <a:ext cx="970487" cy="254563"/>
          </a:xfrm>
          <a:prstGeom prst="rect">
            <a:avLst/>
          </a:prstGeom>
          <a:noFill/>
          <a:ln/>
        </p:spPr>
        <p:txBody>
          <a:bodyPr wrap="square" lIns="29210" tIns="0" rIns="29210" bIns="0" rtlCol="0" anchor="t"/>
          <a:lstStyle/>
          <a:p>
            <a:pPr marL="0" indent="0" algn="ctr">
              <a:lnSpc>
                <a:spcPts val="950"/>
              </a:lnSpc>
              <a:buNone/>
            </a:pPr>
            <a:r>
              <a:rPr lang="en-US" sz="760" b="1" kern="0" spc="8" dirty="0">
                <a:solidFill>
                  <a:srgbClr val="E4923F"/>
                </a:solidFill>
                <a:latin typeface="Calibri Light" pitchFamily="34" charset="0"/>
                <a:ea typeface="Calibri Light" pitchFamily="34" charset="-122"/>
                <a:cs typeface="Calibri Light" pitchFamily="34" charset="-120"/>
              </a:rPr>
              <a:t>Activity or Practice</a:t>
            </a:r>
            <a:br/>
            <a:r>
              <a:rPr lang="en-US" sz="680" b="1" kern="0" spc="8" dirty="0">
                <a:solidFill>
                  <a:srgbClr val="888888"/>
                </a:solidFill>
                <a:latin typeface="Calibri Light" pitchFamily="34" charset="0"/>
                <a:ea typeface="Calibri Light" pitchFamily="34" charset="-122"/>
                <a:cs typeface="Calibri Light" pitchFamily="34" charset="-120"/>
              </a:rPr>
              <a:t>(10 min)</a:t>
            </a:r>
            <a:endParaRPr lang="en-US" sz="760" dirty="0"/>
          </a:p>
        </p:txBody>
      </p:sp>
      <p:sp>
        <p:nvSpPr>
          <p:cNvPr id="19" name="Text 14"/>
          <p:cNvSpPr/>
          <p:nvPr/>
        </p:nvSpPr>
        <p:spPr>
          <a:xfrm>
            <a:off x="5582841" y="1793677"/>
            <a:ext cx="1229320" cy="1004989"/>
          </a:xfrm>
          <a:prstGeom prst="roundRect">
            <a:avLst>
              <a:gd name="adj" fmla="val 7077"/>
            </a:avLst>
          </a:prstGeom>
          <a:solidFill>
            <a:srgbClr val="F4F7F9"/>
          </a:solidFill>
          <a:ln/>
          <a:effectLst>
            <a:outerShdw blurRad="57150" dist="13970" dir="5400000" algn="bl" rotWithShape="0">
              <a:srgbClr val="000000">
                <a:alpha val="7000"/>
              </a:srgbClr>
            </a:outerShdw>
          </a:effectLst>
        </p:spPr>
        <p:txBody>
          <a:bodyPr wrap="square" lIns="86360" tIns="78740" rIns="86360" bIns="78740" rtlCol="0" anchor="t"/>
          <a:lstStyle/>
          <a:p>
            <a:pPr marL="0" indent="0" algn="ctr">
              <a:buNone/>
            </a:pPr>
            <a:r>
              <a:rPr lang="en-US" sz="700" dirty="0">
                <a:solidFill>
                  <a:srgbClr val="2A2A3E"/>
                </a:solidFill>
                <a:latin typeface="Calibri" pitchFamily="34" charset="0"/>
                <a:ea typeface="Calibri" pitchFamily="34" charset="-122"/>
                <a:cs typeface="Calibri" pitchFamily="34" charset="-120"/>
              </a:rPr>
              <a:t>Apply the skill. Role play, worksheet, partner exercise, or art-based activity. Yalom: imitative behavior and interpersonal learning activate here.</a:t>
            </a:r>
            <a:endParaRPr lang="en-US" sz="700" dirty="0"/>
          </a:p>
        </p:txBody>
      </p:sp>
      <p:sp>
        <p:nvSpPr>
          <p:cNvPr id="20" name="Text 15"/>
          <p:cNvSpPr/>
          <p:nvPr/>
        </p:nvSpPr>
        <p:spPr>
          <a:xfrm>
            <a:off x="5582841" y="1793677"/>
            <a:ext cx="1229320" cy="19050"/>
          </a:xfrm>
          <a:custGeom>
            <a:avLst/>
            <a:gdLst/>
            <a:ahLst/>
            <a:cxnLst/>
            <a:rect l="l" t="t" r="r" b="b"/>
            <a:pathLst>
              <a:path w="1229320" h="19050">
                <a:moveTo>
                  <a:pt x="71120" y="0"/>
                </a:moveTo>
                <a:lnTo>
                  <a:pt x="52871" y="2381"/>
                </a:lnTo>
                <a:lnTo>
                  <a:pt x="45532" y="4763"/>
                </a:lnTo>
                <a:lnTo>
                  <a:pt x="40054" y="7144"/>
                </a:lnTo>
                <a:lnTo>
                  <a:pt x="35566" y="9525"/>
                </a:lnTo>
                <a:lnTo>
                  <a:pt x="31727" y="11906"/>
                </a:lnTo>
                <a:lnTo>
                  <a:pt x="28363" y="14288"/>
                </a:lnTo>
                <a:lnTo>
                  <a:pt x="25369" y="16669"/>
                </a:lnTo>
                <a:lnTo>
                  <a:pt x="22677" y="19050"/>
                </a:lnTo>
                <a:lnTo>
                  <a:pt x="1206644" y="19050"/>
                </a:lnTo>
                <a:lnTo>
                  <a:pt x="1203951" y="16669"/>
                </a:lnTo>
                <a:lnTo>
                  <a:pt x="1200957" y="14288"/>
                </a:lnTo>
                <a:lnTo>
                  <a:pt x="1197593" y="11906"/>
                </a:lnTo>
                <a:lnTo>
                  <a:pt x="1193755" y="9525"/>
                </a:lnTo>
                <a:lnTo>
                  <a:pt x="1189266" y="7144"/>
                </a:lnTo>
                <a:lnTo>
                  <a:pt x="1183788" y="4763"/>
                </a:lnTo>
                <a:lnTo>
                  <a:pt x="1176450" y="2381"/>
                </a:lnTo>
                <a:lnTo>
                  <a:pt x="1158200" y="0"/>
                </a:lnTo>
                <a:close/>
              </a:path>
            </a:pathLst>
          </a:custGeom>
          <a:solidFill>
            <a:srgbClr val="E4923F"/>
          </a:solidFill>
          <a:ln/>
        </p:spPr>
        <p:txBody>
          <a:bodyPr wrap="none" rtlCol="0" anchor="t"/>
          <a:lstStyle/>
          <a:p>
            <a:pPr marL="0" indent="0">
              <a:buNone/>
            </a:pPr>
            <a:endParaRPr lang="en-US" dirty="0"/>
          </a:p>
        </p:txBody>
      </p:sp>
      <p:pic>
        <p:nvPicPr>
          <p:cNvPr id="2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897886" y="1078855"/>
            <a:ext cx="224730" cy="139005"/>
          </a:xfrm>
          <a:prstGeom prst="rect">
            <a:avLst/>
          </a:prstGeom>
        </p:spPr>
      </p:pic>
      <p:sp>
        <p:nvSpPr>
          <p:cNvPr id="22" name="Text 16"/>
          <p:cNvSpPr/>
          <p:nvPr/>
        </p:nvSpPr>
        <p:spPr>
          <a:xfrm>
            <a:off x="7540039" y="1486495"/>
            <a:ext cx="565776" cy="254563"/>
          </a:xfrm>
          <a:prstGeom prst="rect">
            <a:avLst/>
          </a:prstGeom>
          <a:noFill/>
          <a:ln/>
        </p:spPr>
        <p:txBody>
          <a:bodyPr wrap="square" lIns="29210" tIns="0" rIns="29210" bIns="0" rtlCol="0" anchor="t"/>
          <a:lstStyle/>
          <a:p>
            <a:pPr marL="0" indent="0" algn="ctr">
              <a:lnSpc>
                <a:spcPts val="950"/>
              </a:lnSpc>
              <a:buNone/>
            </a:pPr>
            <a:r>
              <a:rPr lang="en-US" sz="760" b="1" kern="0" spc="8" dirty="0">
                <a:solidFill>
                  <a:srgbClr val="141A42"/>
                </a:solidFill>
                <a:latin typeface="Calibri Light" pitchFamily="34" charset="0"/>
                <a:ea typeface="Calibri Light" pitchFamily="34" charset="-122"/>
                <a:cs typeface="Calibri Light" pitchFamily="34" charset="-120"/>
              </a:rPr>
              <a:t>Check-Out</a:t>
            </a:r>
            <a:br/>
            <a:r>
              <a:rPr lang="en-US" sz="680" b="1" kern="0" spc="8" dirty="0">
                <a:solidFill>
                  <a:srgbClr val="888888"/>
                </a:solidFill>
                <a:latin typeface="Calibri Light" pitchFamily="34" charset="0"/>
                <a:ea typeface="Calibri Light" pitchFamily="34" charset="-122"/>
                <a:cs typeface="Calibri Light" pitchFamily="34" charset="-120"/>
              </a:rPr>
              <a:t>(5 min)</a:t>
            </a:r>
            <a:endParaRPr lang="en-US" sz="760" dirty="0"/>
          </a:p>
        </p:txBody>
      </p:sp>
      <p:sp>
        <p:nvSpPr>
          <p:cNvPr id="23" name="Text 17"/>
          <p:cNvSpPr/>
          <p:nvPr/>
        </p:nvSpPr>
        <p:spPr>
          <a:xfrm>
            <a:off x="7208341" y="1793677"/>
            <a:ext cx="1229320" cy="1004989"/>
          </a:xfrm>
          <a:prstGeom prst="roundRect">
            <a:avLst>
              <a:gd name="adj" fmla="val 7077"/>
            </a:avLst>
          </a:prstGeom>
          <a:solidFill>
            <a:srgbClr val="F4F7F9"/>
          </a:solidFill>
          <a:ln/>
          <a:effectLst>
            <a:outerShdw blurRad="57150" dist="13970" dir="5400000" algn="bl" rotWithShape="0">
              <a:srgbClr val="000000">
                <a:alpha val="7000"/>
              </a:srgbClr>
            </a:outerShdw>
          </a:effectLst>
        </p:spPr>
        <p:txBody>
          <a:bodyPr wrap="square" lIns="86360" tIns="78740" rIns="86360" bIns="78740" rtlCol="0" anchor="t"/>
          <a:lstStyle/>
          <a:p>
            <a:pPr marL="0" indent="0" algn="ctr">
              <a:buNone/>
            </a:pPr>
            <a:r>
              <a:rPr lang="en-US" sz="700" dirty="0">
                <a:solidFill>
                  <a:srgbClr val="2A2A3E"/>
                </a:solidFill>
                <a:latin typeface="Calibri" pitchFamily="34" charset="0"/>
                <a:ea typeface="Calibri" pitchFamily="34" charset="-122"/>
                <a:cs typeface="Calibri" pitchFamily="34" charset="-120"/>
              </a:rPr>
              <a:t>One word or sentence: What are you leaving with? Closes the loop, provides documentation material, and honors the group.</a:t>
            </a:r>
            <a:endParaRPr lang="en-US" sz="700" dirty="0"/>
          </a:p>
        </p:txBody>
      </p:sp>
      <p:sp>
        <p:nvSpPr>
          <p:cNvPr id="24" name="Text 18"/>
          <p:cNvSpPr/>
          <p:nvPr/>
        </p:nvSpPr>
        <p:spPr>
          <a:xfrm>
            <a:off x="7208341" y="1793677"/>
            <a:ext cx="1229320" cy="19050"/>
          </a:xfrm>
          <a:custGeom>
            <a:avLst/>
            <a:gdLst/>
            <a:ahLst/>
            <a:cxnLst/>
            <a:rect l="l" t="t" r="r" b="b"/>
            <a:pathLst>
              <a:path w="1229320" h="19050">
                <a:moveTo>
                  <a:pt x="71120" y="0"/>
                </a:moveTo>
                <a:lnTo>
                  <a:pt x="52871" y="2381"/>
                </a:lnTo>
                <a:lnTo>
                  <a:pt x="45532" y="4763"/>
                </a:lnTo>
                <a:lnTo>
                  <a:pt x="40054" y="7144"/>
                </a:lnTo>
                <a:lnTo>
                  <a:pt x="35566" y="9525"/>
                </a:lnTo>
                <a:lnTo>
                  <a:pt x="31727" y="11906"/>
                </a:lnTo>
                <a:lnTo>
                  <a:pt x="28363" y="14288"/>
                </a:lnTo>
                <a:lnTo>
                  <a:pt x="25369" y="16669"/>
                </a:lnTo>
                <a:lnTo>
                  <a:pt x="22677" y="19050"/>
                </a:lnTo>
                <a:lnTo>
                  <a:pt x="1206644" y="19050"/>
                </a:lnTo>
                <a:lnTo>
                  <a:pt x="1203951" y="16669"/>
                </a:lnTo>
                <a:lnTo>
                  <a:pt x="1200957" y="14288"/>
                </a:lnTo>
                <a:lnTo>
                  <a:pt x="1197593" y="11906"/>
                </a:lnTo>
                <a:lnTo>
                  <a:pt x="1193755" y="9525"/>
                </a:lnTo>
                <a:lnTo>
                  <a:pt x="1189266" y="7144"/>
                </a:lnTo>
                <a:lnTo>
                  <a:pt x="1183788" y="4763"/>
                </a:lnTo>
                <a:lnTo>
                  <a:pt x="1176450" y="2381"/>
                </a:lnTo>
                <a:lnTo>
                  <a:pt x="1158200" y="0"/>
                </a:lnTo>
                <a:close/>
              </a:path>
            </a:pathLst>
          </a:custGeom>
          <a:solidFill>
            <a:srgbClr val="141A42"/>
          </a:solidFill>
          <a:ln/>
        </p:spPr>
        <p:txBody>
          <a:bodyPr wrap="none" rtlCol="0" anchor="t"/>
          <a:lstStyle/>
          <a:p>
            <a:pPr marL="0" indent="0">
              <a:buNone/>
            </a:pPr>
            <a:endParaRPr lang="en-US" dirty="0"/>
          </a:p>
        </p:txBody>
      </p:sp>
      <p:sp>
        <p:nvSpPr>
          <p:cNvPr id="25" name="Text 19"/>
          <p:cNvSpPr/>
          <p:nvPr/>
        </p:nvSpPr>
        <p:spPr>
          <a:xfrm>
            <a:off x="1803648" y="2963168"/>
            <a:ext cx="857250" cy="7590"/>
          </a:xfrm>
          <a:prstGeom prst="rect">
            <a:avLst/>
          </a:prstGeom>
          <a:gradFill rotWithShape="1">
            <a:gsLst>
              <a:gs pos="0">
                <a:srgbClr val="000000">
                  <a:alpha val="0"/>
                </a:srgbClr>
              </a:gs>
              <a:gs pos="100000">
                <a:srgbClr val="C8D8E0"/>
              </a:gs>
            </a:gsLst>
            <a:lin ang="0" scaled="1"/>
          </a:gradFill>
          <a:ln/>
        </p:spPr>
        <p:txBody>
          <a:bodyPr wrap="none" rtlCol="0" anchor="t"/>
          <a:lstStyle/>
          <a:p>
            <a:pPr marL="0" indent="0">
              <a:buNone/>
            </a:pPr>
            <a:endParaRPr lang="en-US" dirty="0"/>
          </a:p>
        </p:txBody>
      </p:sp>
      <p:sp>
        <p:nvSpPr>
          <p:cNvPr id="26" name="Text 20"/>
          <p:cNvSpPr/>
          <p:nvPr/>
        </p:nvSpPr>
        <p:spPr>
          <a:xfrm>
            <a:off x="2731889" y="2897535"/>
            <a:ext cx="4048080" cy="139005"/>
          </a:xfrm>
          <a:prstGeom prst="rect">
            <a:avLst/>
          </a:prstGeom>
          <a:noFill/>
          <a:ln/>
        </p:spPr>
        <p:txBody>
          <a:bodyPr wrap="none" lIns="0" tIns="0" rIns="0" bIns="0" rtlCol="0" anchor="ctr"/>
          <a:lstStyle/>
          <a:p>
            <a:pPr marL="0" indent="0" algn="l">
              <a:lnSpc>
                <a:spcPts val="1095"/>
              </a:lnSpc>
              <a:buNone/>
            </a:pPr>
            <a:r>
              <a:rPr lang="en-US" sz="730" b="1" kern="0" spc="58" dirty="0">
                <a:solidFill>
                  <a:srgbClr val="8A9AB0"/>
                </a:solidFill>
                <a:latin typeface="Calibri" pitchFamily="34" charset="0"/>
                <a:ea typeface="Calibri" pitchFamily="34" charset="-122"/>
                <a:cs typeface="Calibri" pitchFamily="34" charset="-120"/>
              </a:rPr>
              <a:t>TOTAL: 40 MINUTES  ·  ADAPTABLE TO 45, 60, OR 90-MINUTE FORMATS</a:t>
            </a:r>
            <a:endParaRPr lang="en-US" sz="730" dirty="0"/>
          </a:p>
        </p:txBody>
      </p:sp>
      <p:sp>
        <p:nvSpPr>
          <p:cNvPr id="27" name="Text 21"/>
          <p:cNvSpPr/>
          <p:nvPr/>
        </p:nvSpPr>
        <p:spPr>
          <a:xfrm>
            <a:off x="6482953" y="2963168"/>
            <a:ext cx="857250" cy="7590"/>
          </a:xfrm>
          <a:prstGeom prst="rect">
            <a:avLst/>
          </a:prstGeom>
          <a:gradFill rotWithShape="1">
            <a:gsLst>
              <a:gs pos="0">
                <a:srgbClr val="000000">
                  <a:alpha val="0"/>
                </a:srgbClr>
              </a:gs>
              <a:gs pos="100000">
                <a:srgbClr val="C8D8E0"/>
              </a:gs>
            </a:gsLst>
            <a:lin ang="10800000" scaled="1"/>
          </a:gradFill>
          <a:ln/>
        </p:spPr>
        <p:txBody>
          <a:bodyPr wrap="none" rtlCol="0" anchor="t"/>
          <a:lstStyle/>
          <a:p>
            <a:pPr marL="0" indent="0">
              <a:buNone/>
            </a:pPr>
            <a:endParaRPr lang="en-US" dirty="0"/>
          </a:p>
        </p:txBody>
      </p:sp>
      <p:sp>
        <p:nvSpPr>
          <p:cNvPr id="28" name="Text 22"/>
          <p:cNvSpPr/>
          <p:nvPr/>
        </p:nvSpPr>
        <p:spPr>
          <a:xfrm>
            <a:off x="0" y="4885730"/>
            <a:ext cx="9144000" cy="257770"/>
          </a:xfrm>
          <a:prstGeom prst="rect">
            <a:avLst/>
          </a:prstGeom>
          <a:solidFill>
            <a:srgbClr val="141A42"/>
          </a:solidFill>
          <a:ln/>
        </p:spPr>
        <p:txBody>
          <a:bodyPr wrap="none" rtlCol="0" anchor="t"/>
          <a:lstStyle/>
          <a:p>
            <a:pPr marL="0" indent="0">
              <a:buNone/>
            </a:pPr>
            <a:endParaRPr lang="en-US" dirty="0"/>
          </a:p>
        </p:txBody>
      </p:sp>
      <p:sp>
        <p:nvSpPr>
          <p:cNvPr id="29" name="Text 23"/>
          <p:cNvSpPr/>
          <p:nvPr/>
        </p:nvSpPr>
        <p:spPr>
          <a:xfrm>
            <a:off x="372070" y="4945112"/>
            <a:ext cx="2517383" cy="139005"/>
          </a:xfrm>
          <a:prstGeom prst="rect">
            <a:avLst/>
          </a:prstGeom>
          <a:noFill/>
          <a:ln/>
        </p:spPr>
        <p:txBody>
          <a:bodyPr wrap="none" lIns="0" tIns="0" rIns="0" bIns="0" rtlCol="0" anchor="ctr"/>
          <a:lstStyle/>
          <a:p>
            <a:pPr marL="0" indent="0" algn="l">
              <a:lnSpc>
                <a:spcPts val="1095"/>
              </a:lnSpc>
              <a:buNone/>
            </a:pPr>
            <a:r>
              <a:rPr lang="en-US" sz="730" dirty="0">
                <a:solidFill>
                  <a:srgbClr val="FFFFFF">
                    <a:alpha val="45000"/>
                  </a:srgbClr>
                </a:solidFill>
                <a:latin typeface="Calibri" pitchFamily="34" charset="0"/>
                <a:ea typeface="Calibri" pitchFamily="34" charset="-122"/>
                <a:cs typeface="Calibri" pitchFamily="34" charset="-120"/>
              </a:rPr>
              <a:t>CENTERSTONE GROUP THERAPY FRAMEWORK</a:t>
            </a:r>
            <a:endParaRPr lang="en-US" sz="730" dirty="0"/>
          </a:p>
        </p:txBody>
      </p:sp>
      <p:sp>
        <p:nvSpPr>
          <p:cNvPr id="30" name="Text 24"/>
          <p:cNvSpPr/>
          <p:nvPr/>
        </p:nvSpPr>
        <p:spPr>
          <a:xfrm>
            <a:off x="6394103" y="4945112"/>
            <a:ext cx="2615610" cy="139005"/>
          </a:xfrm>
          <a:prstGeom prst="rect">
            <a:avLst/>
          </a:prstGeom>
          <a:noFill/>
          <a:ln/>
        </p:spPr>
        <p:txBody>
          <a:bodyPr wrap="none" lIns="0" tIns="0" rIns="0" bIns="0" rtlCol="0" anchor="ctr"/>
          <a:lstStyle/>
          <a:p>
            <a:pPr marL="0" indent="0" algn="l">
              <a:lnSpc>
                <a:spcPts val="1095"/>
              </a:lnSpc>
              <a:buNone/>
            </a:pPr>
            <a:r>
              <a:rPr lang="en-US" sz="730" dirty="0">
                <a:solidFill>
                  <a:srgbClr val="FFFFFF">
                    <a:alpha val="45000"/>
                  </a:srgbClr>
                </a:solidFill>
                <a:latin typeface="Calibri" pitchFamily="34" charset="0"/>
                <a:ea typeface="Calibri" pitchFamily="34" charset="-122"/>
                <a:cs typeface="Calibri" pitchFamily="34" charset="-120"/>
              </a:rPr>
              <a:t>STRUCTURE &amp; CONSISTENCY  |  EVERY SESSION</a:t>
            </a:r>
            <a:endParaRPr lang="en-US" sz="730" dirty="0"/>
          </a:p>
        </p:txBody>
      </p:sp>
      <p:sp>
        <p:nvSpPr>
          <p:cNvPr id="31" name="Text 25"/>
          <p:cNvSpPr/>
          <p:nvPr/>
        </p:nvSpPr>
        <p:spPr>
          <a:xfrm>
            <a:off x="1077813" y="929134"/>
            <a:ext cx="486370" cy="486370"/>
          </a:xfrm>
          <a:prstGeom prst="ellipse">
            <a:avLst/>
          </a:prstGeom>
          <a:solidFill>
            <a:srgbClr val="367689"/>
          </a:solidFill>
          <a:ln/>
          <a:effectLst>
            <a:outerShdw blurRad="100330" dist="29210" dir="5400000" algn="bl" rotWithShape="0">
              <a:srgbClr val="000000">
                <a:alpha val="13000"/>
              </a:srgbClr>
            </a:outerShdw>
          </a:effectLst>
        </p:spPr>
        <p:txBody>
          <a:bodyPr wrap="square" rtlCol="0" anchor="t"/>
          <a:lstStyle/>
          <a:p>
            <a:pPr marL="0" indent="0">
              <a:buNone/>
            </a:pPr>
            <a:endParaRPr lang="en-US" dirty="0"/>
          </a:p>
        </p:txBody>
      </p:sp>
      <p:sp>
        <p:nvSpPr>
          <p:cNvPr id="32" name="Text 26"/>
          <p:cNvSpPr/>
          <p:nvPr/>
        </p:nvSpPr>
        <p:spPr>
          <a:xfrm>
            <a:off x="1206698" y="1086445"/>
            <a:ext cx="244602" cy="185440"/>
          </a:xfrm>
          <a:prstGeom prst="rect">
            <a:avLst/>
          </a:prstGeom>
          <a:noFill/>
          <a:ln/>
        </p:spPr>
        <p:txBody>
          <a:bodyPr wrap="none" lIns="0" tIns="0" rIns="0" bIns="0" rtlCol="0" anchor="ctr"/>
          <a:lstStyle/>
          <a:p>
            <a:pPr marL="0" indent="0" algn="l">
              <a:lnSpc>
                <a:spcPts val="1460"/>
              </a:lnSpc>
              <a:buNone/>
            </a:pPr>
            <a:r>
              <a:rPr lang="en-US" sz="1460" dirty="0">
                <a:solidFill>
                  <a:srgbClr val="1A1A2E"/>
                </a:solidFill>
                <a:latin typeface="Calibri" pitchFamily="34" charset="0"/>
                <a:ea typeface="Calibri" pitchFamily="34" charset="-122"/>
                <a:cs typeface="Calibri" pitchFamily="34" charset="-120"/>
              </a:rPr>
              <a:t>⏰</a:t>
            </a:r>
            <a:endParaRPr lang="en-US" sz="1460" dirty="0"/>
          </a:p>
        </p:txBody>
      </p:sp>
      <p:sp>
        <p:nvSpPr>
          <p:cNvPr id="33" name="Text 27"/>
          <p:cNvSpPr/>
          <p:nvPr/>
        </p:nvSpPr>
        <p:spPr>
          <a:xfrm>
            <a:off x="2703314" y="929134"/>
            <a:ext cx="486370" cy="486370"/>
          </a:xfrm>
          <a:prstGeom prst="ellipse">
            <a:avLst/>
          </a:prstGeom>
          <a:solidFill>
            <a:srgbClr val="55A49C"/>
          </a:solidFill>
          <a:ln/>
          <a:effectLst>
            <a:outerShdw blurRad="100330" dist="29210" dir="5400000" algn="bl" rotWithShape="0">
              <a:srgbClr val="000000">
                <a:alpha val="13000"/>
              </a:srgbClr>
            </a:outerShdw>
          </a:effectLst>
        </p:spPr>
        <p:txBody>
          <a:bodyPr wrap="square" rtlCol="0" anchor="t"/>
          <a:lstStyle/>
          <a:p>
            <a:pPr marL="0" indent="0">
              <a:buNone/>
            </a:pPr>
            <a:endParaRPr lang="en-US" dirty="0"/>
          </a:p>
        </p:txBody>
      </p:sp>
      <p:sp>
        <p:nvSpPr>
          <p:cNvPr id="34" name="Text 28"/>
          <p:cNvSpPr/>
          <p:nvPr/>
        </p:nvSpPr>
        <p:spPr>
          <a:xfrm>
            <a:off x="2832199" y="1086445"/>
            <a:ext cx="244602" cy="185440"/>
          </a:xfrm>
          <a:prstGeom prst="rect">
            <a:avLst/>
          </a:prstGeom>
          <a:noFill/>
          <a:ln/>
        </p:spPr>
        <p:txBody>
          <a:bodyPr wrap="none" lIns="0" tIns="0" rIns="0" bIns="0" rtlCol="0" anchor="ctr"/>
          <a:lstStyle/>
          <a:p>
            <a:pPr marL="0" indent="0" algn="l">
              <a:lnSpc>
                <a:spcPts val="1460"/>
              </a:lnSpc>
              <a:buNone/>
            </a:pPr>
            <a:r>
              <a:rPr lang="en-US" sz="1460" dirty="0">
                <a:solidFill>
                  <a:srgbClr val="1A1A2E"/>
                </a:solidFill>
                <a:latin typeface="Calibri" pitchFamily="34" charset="0"/>
                <a:ea typeface="Calibri" pitchFamily="34" charset="-122"/>
                <a:cs typeface="Calibri" pitchFamily="34" charset="-120"/>
              </a:rPr>
              <a:t>📖</a:t>
            </a:r>
            <a:endParaRPr lang="en-US" sz="1460" dirty="0"/>
          </a:p>
        </p:txBody>
      </p:sp>
      <p:sp>
        <p:nvSpPr>
          <p:cNvPr id="35" name="Text 29"/>
          <p:cNvSpPr/>
          <p:nvPr/>
        </p:nvSpPr>
        <p:spPr>
          <a:xfrm>
            <a:off x="4328815" y="929134"/>
            <a:ext cx="486370" cy="486370"/>
          </a:xfrm>
          <a:prstGeom prst="ellipse">
            <a:avLst/>
          </a:prstGeom>
          <a:solidFill>
            <a:srgbClr val="F4B753"/>
          </a:solidFill>
          <a:ln/>
          <a:effectLst>
            <a:outerShdw blurRad="100330" dist="29210" dir="5400000" algn="bl" rotWithShape="0">
              <a:srgbClr val="000000">
                <a:alpha val="13000"/>
              </a:srgbClr>
            </a:outerShdw>
          </a:effectLst>
        </p:spPr>
        <p:txBody>
          <a:bodyPr wrap="square" rtlCol="0" anchor="t"/>
          <a:lstStyle/>
          <a:p>
            <a:pPr marL="0" indent="0">
              <a:buNone/>
            </a:pPr>
            <a:endParaRPr lang="en-US" dirty="0"/>
          </a:p>
        </p:txBody>
      </p:sp>
      <p:sp>
        <p:nvSpPr>
          <p:cNvPr id="36" name="Text 30"/>
          <p:cNvSpPr/>
          <p:nvPr/>
        </p:nvSpPr>
        <p:spPr>
          <a:xfrm>
            <a:off x="4457700" y="1086445"/>
            <a:ext cx="244602" cy="185440"/>
          </a:xfrm>
          <a:prstGeom prst="rect">
            <a:avLst/>
          </a:prstGeom>
          <a:noFill/>
          <a:ln/>
        </p:spPr>
        <p:txBody>
          <a:bodyPr wrap="none" lIns="0" tIns="0" rIns="0" bIns="0" rtlCol="0" anchor="ctr"/>
          <a:lstStyle/>
          <a:p>
            <a:pPr marL="0" indent="0" algn="l">
              <a:lnSpc>
                <a:spcPts val="1460"/>
              </a:lnSpc>
              <a:buNone/>
            </a:pPr>
            <a:r>
              <a:rPr lang="en-US" sz="1460" dirty="0">
                <a:solidFill>
                  <a:srgbClr val="1A1A2E"/>
                </a:solidFill>
                <a:latin typeface="Calibri" pitchFamily="34" charset="0"/>
                <a:ea typeface="Calibri" pitchFamily="34" charset="-122"/>
                <a:cs typeface="Calibri" pitchFamily="34" charset="-120"/>
              </a:rPr>
              <a:t>🧠</a:t>
            </a:r>
            <a:endParaRPr lang="en-US" sz="1460" dirty="0"/>
          </a:p>
        </p:txBody>
      </p:sp>
      <p:sp>
        <p:nvSpPr>
          <p:cNvPr id="37" name="Text 31"/>
          <p:cNvSpPr/>
          <p:nvPr/>
        </p:nvSpPr>
        <p:spPr>
          <a:xfrm>
            <a:off x="5954316" y="929134"/>
            <a:ext cx="486370" cy="486370"/>
          </a:xfrm>
          <a:prstGeom prst="ellipse">
            <a:avLst/>
          </a:prstGeom>
          <a:solidFill>
            <a:srgbClr val="E4923F"/>
          </a:solidFill>
          <a:ln/>
          <a:effectLst>
            <a:outerShdw blurRad="100330" dist="29210" dir="5400000" algn="bl" rotWithShape="0">
              <a:srgbClr val="000000">
                <a:alpha val="13000"/>
              </a:srgbClr>
            </a:outerShdw>
          </a:effectLst>
        </p:spPr>
        <p:txBody>
          <a:bodyPr wrap="square" rtlCol="0" anchor="t"/>
          <a:lstStyle/>
          <a:p>
            <a:pPr marL="0" indent="0">
              <a:buNone/>
            </a:pPr>
            <a:endParaRPr lang="en-US" dirty="0"/>
          </a:p>
        </p:txBody>
      </p:sp>
      <p:sp>
        <p:nvSpPr>
          <p:cNvPr id="38" name="Text 32"/>
          <p:cNvSpPr/>
          <p:nvPr/>
        </p:nvSpPr>
        <p:spPr>
          <a:xfrm>
            <a:off x="6083201" y="1086445"/>
            <a:ext cx="244602" cy="185440"/>
          </a:xfrm>
          <a:prstGeom prst="rect">
            <a:avLst/>
          </a:prstGeom>
          <a:noFill/>
          <a:ln/>
        </p:spPr>
        <p:txBody>
          <a:bodyPr wrap="none" lIns="0" tIns="0" rIns="0" bIns="0" rtlCol="0" anchor="ctr"/>
          <a:lstStyle/>
          <a:p>
            <a:pPr marL="0" indent="0" algn="l">
              <a:lnSpc>
                <a:spcPts val="1460"/>
              </a:lnSpc>
              <a:buNone/>
            </a:pPr>
            <a:r>
              <a:rPr lang="en-US" sz="1460" dirty="0">
                <a:solidFill>
                  <a:srgbClr val="1A1A2E"/>
                </a:solidFill>
                <a:latin typeface="Calibri" pitchFamily="34" charset="0"/>
                <a:ea typeface="Calibri" pitchFamily="34" charset="-122"/>
                <a:cs typeface="Calibri" pitchFamily="34" charset="-120"/>
              </a:rPr>
              <a:t>🎯</a:t>
            </a:r>
            <a:endParaRPr lang="en-US" sz="1460" dirty="0"/>
          </a:p>
        </p:txBody>
      </p:sp>
      <p:sp>
        <p:nvSpPr>
          <p:cNvPr id="39" name="Text 33"/>
          <p:cNvSpPr/>
          <p:nvPr/>
        </p:nvSpPr>
        <p:spPr>
          <a:xfrm>
            <a:off x="7579816" y="929134"/>
            <a:ext cx="486370" cy="486370"/>
          </a:xfrm>
          <a:prstGeom prst="ellipse">
            <a:avLst/>
          </a:prstGeom>
          <a:solidFill>
            <a:srgbClr val="141A42"/>
          </a:solidFill>
          <a:ln/>
          <a:effectLst>
            <a:outerShdw blurRad="100330" dist="29210" dir="5400000" algn="bl" rotWithShape="0">
              <a:srgbClr val="000000">
                <a:alpha val="13000"/>
              </a:srgbClr>
            </a:outerShdw>
          </a:effectLst>
        </p:spPr>
        <p:txBody>
          <a:bodyPr wrap="square" rtlCol="0" anchor="t"/>
          <a:lstStyle/>
          <a:p>
            <a:pPr marL="0" indent="0">
              <a:buNone/>
            </a:pPr>
            <a:endParaRPr lang="en-US" dirty="0"/>
          </a:p>
        </p:txBody>
      </p:sp>
      <p:sp>
        <p:nvSpPr>
          <p:cNvPr id="40" name="Text 34"/>
          <p:cNvSpPr/>
          <p:nvPr/>
        </p:nvSpPr>
        <p:spPr>
          <a:xfrm>
            <a:off x="7708702" y="1086445"/>
            <a:ext cx="244602" cy="185440"/>
          </a:xfrm>
          <a:prstGeom prst="rect">
            <a:avLst/>
          </a:prstGeom>
          <a:noFill/>
          <a:ln/>
        </p:spPr>
        <p:txBody>
          <a:bodyPr wrap="none" lIns="0" tIns="0" rIns="0" bIns="0" rtlCol="0" anchor="ctr"/>
          <a:lstStyle/>
          <a:p>
            <a:pPr marL="0" indent="0" algn="l">
              <a:lnSpc>
                <a:spcPts val="1460"/>
              </a:lnSpc>
              <a:buNone/>
            </a:pPr>
            <a:r>
              <a:rPr lang="en-US" sz="1460" dirty="0">
                <a:solidFill>
                  <a:srgbClr val="1A1A2E"/>
                </a:solidFill>
                <a:latin typeface="Calibri" pitchFamily="34" charset="0"/>
                <a:ea typeface="Calibri" pitchFamily="34" charset="-122"/>
                <a:cs typeface="Calibri" pitchFamily="34" charset="-120"/>
              </a:rPr>
              <a:t>🪺</a:t>
            </a:r>
            <a:endParaRPr lang="en-US" sz="1460" dirty="0"/>
          </a:p>
        </p:txBody>
      </p:sp>
      <p:sp>
        <p:nvSpPr>
          <p:cNvPr id="41" name="Text 35"/>
          <p:cNvSpPr/>
          <p:nvPr/>
        </p:nvSpPr>
        <p:spPr>
          <a:xfrm>
            <a:off x="1463873" y="885974"/>
            <a:ext cx="143470" cy="157817"/>
          </a:xfrm>
          <a:prstGeom prst="ellipse">
            <a:avLst/>
          </a:prstGeom>
          <a:solidFill>
            <a:srgbClr val="FFFFFF"/>
          </a:solidFill>
          <a:ln/>
          <a:effectLst>
            <a:outerShdw blurRad="29210" dist="7620" dir="5400000" algn="bl" rotWithShape="0">
              <a:srgbClr val="000000">
                <a:alpha val="18000"/>
              </a:srgbClr>
            </a:outerShdw>
          </a:effectLst>
        </p:spPr>
        <p:txBody>
          <a:bodyPr wrap="none" lIns="0" tIns="0" rIns="0" bIns="0" rtlCol="0" anchor="ctr"/>
          <a:lstStyle/>
          <a:p>
            <a:pPr marL="0" indent="0" algn="ctr">
              <a:buNone/>
            </a:pPr>
            <a:r>
              <a:rPr lang="en-US" sz="620" b="1" dirty="0">
                <a:solidFill>
                  <a:srgbClr val="367689"/>
                </a:solidFill>
                <a:latin typeface="Calibri" pitchFamily="34" charset="0"/>
                <a:ea typeface="Calibri" pitchFamily="34" charset="-122"/>
                <a:cs typeface="Calibri" pitchFamily="34" charset="-120"/>
              </a:rPr>
              <a:t>1</a:t>
            </a:r>
            <a:endParaRPr lang="en-US" sz="620" dirty="0"/>
          </a:p>
        </p:txBody>
      </p:sp>
      <p:sp>
        <p:nvSpPr>
          <p:cNvPr id="42" name="Text 36"/>
          <p:cNvSpPr/>
          <p:nvPr/>
        </p:nvSpPr>
        <p:spPr>
          <a:xfrm>
            <a:off x="3089374" y="885974"/>
            <a:ext cx="143470" cy="157817"/>
          </a:xfrm>
          <a:prstGeom prst="ellipse">
            <a:avLst/>
          </a:prstGeom>
          <a:solidFill>
            <a:srgbClr val="FFFFFF"/>
          </a:solidFill>
          <a:ln/>
          <a:effectLst>
            <a:outerShdw blurRad="29210" dist="7620" dir="5400000" algn="bl" rotWithShape="0">
              <a:srgbClr val="000000">
                <a:alpha val="18000"/>
              </a:srgbClr>
            </a:outerShdw>
          </a:effectLst>
        </p:spPr>
        <p:txBody>
          <a:bodyPr wrap="none" lIns="0" tIns="0" rIns="0" bIns="0" rtlCol="0" anchor="ctr"/>
          <a:lstStyle/>
          <a:p>
            <a:pPr marL="0" indent="0" algn="ctr">
              <a:buNone/>
            </a:pPr>
            <a:r>
              <a:rPr lang="en-US" sz="620" b="1" dirty="0">
                <a:solidFill>
                  <a:srgbClr val="55A49C"/>
                </a:solidFill>
                <a:latin typeface="Calibri" pitchFamily="34" charset="0"/>
                <a:ea typeface="Calibri" pitchFamily="34" charset="-122"/>
                <a:cs typeface="Calibri" pitchFamily="34" charset="-120"/>
              </a:rPr>
              <a:t>2</a:t>
            </a:r>
            <a:endParaRPr lang="en-US" sz="620" dirty="0"/>
          </a:p>
        </p:txBody>
      </p:sp>
      <p:sp>
        <p:nvSpPr>
          <p:cNvPr id="43" name="Text 37"/>
          <p:cNvSpPr/>
          <p:nvPr/>
        </p:nvSpPr>
        <p:spPr>
          <a:xfrm>
            <a:off x="4714875" y="885974"/>
            <a:ext cx="143470" cy="157817"/>
          </a:xfrm>
          <a:prstGeom prst="ellipse">
            <a:avLst/>
          </a:prstGeom>
          <a:solidFill>
            <a:srgbClr val="FFFFFF"/>
          </a:solidFill>
          <a:ln/>
          <a:effectLst>
            <a:outerShdw blurRad="29210" dist="7620" dir="5400000" algn="bl" rotWithShape="0">
              <a:srgbClr val="000000">
                <a:alpha val="18000"/>
              </a:srgbClr>
            </a:outerShdw>
          </a:effectLst>
        </p:spPr>
        <p:txBody>
          <a:bodyPr wrap="none" lIns="0" tIns="0" rIns="0" bIns="0" rtlCol="0" anchor="ctr"/>
          <a:lstStyle/>
          <a:p>
            <a:pPr marL="0" indent="0" algn="ctr">
              <a:buNone/>
            </a:pPr>
            <a:r>
              <a:rPr lang="en-US" sz="620" b="1" dirty="0">
                <a:solidFill>
                  <a:srgbClr val="8A6300"/>
                </a:solidFill>
                <a:latin typeface="Calibri" pitchFamily="34" charset="0"/>
                <a:ea typeface="Calibri" pitchFamily="34" charset="-122"/>
                <a:cs typeface="Calibri" pitchFamily="34" charset="-120"/>
              </a:rPr>
              <a:t>3</a:t>
            </a:r>
            <a:endParaRPr lang="en-US" sz="620" dirty="0"/>
          </a:p>
        </p:txBody>
      </p:sp>
      <p:sp>
        <p:nvSpPr>
          <p:cNvPr id="44" name="Text 38"/>
          <p:cNvSpPr/>
          <p:nvPr/>
        </p:nvSpPr>
        <p:spPr>
          <a:xfrm>
            <a:off x="6340376" y="885974"/>
            <a:ext cx="143470" cy="157817"/>
          </a:xfrm>
          <a:prstGeom prst="ellipse">
            <a:avLst/>
          </a:prstGeom>
          <a:solidFill>
            <a:srgbClr val="FFFFFF"/>
          </a:solidFill>
          <a:ln/>
          <a:effectLst>
            <a:outerShdw blurRad="29210" dist="7620" dir="5400000" algn="bl" rotWithShape="0">
              <a:srgbClr val="000000">
                <a:alpha val="18000"/>
              </a:srgbClr>
            </a:outerShdw>
          </a:effectLst>
        </p:spPr>
        <p:txBody>
          <a:bodyPr wrap="none" lIns="0" tIns="0" rIns="0" bIns="0" rtlCol="0" anchor="ctr"/>
          <a:lstStyle/>
          <a:p>
            <a:pPr marL="0" indent="0" algn="ctr">
              <a:buNone/>
            </a:pPr>
            <a:r>
              <a:rPr lang="en-US" sz="620" b="1" dirty="0">
                <a:solidFill>
                  <a:srgbClr val="E4923F"/>
                </a:solidFill>
                <a:latin typeface="Calibri" pitchFamily="34" charset="0"/>
                <a:ea typeface="Calibri" pitchFamily="34" charset="-122"/>
                <a:cs typeface="Calibri" pitchFamily="34" charset="-120"/>
              </a:rPr>
              <a:t>4</a:t>
            </a:r>
            <a:endParaRPr lang="en-US" sz="620" dirty="0"/>
          </a:p>
        </p:txBody>
      </p:sp>
      <p:sp>
        <p:nvSpPr>
          <p:cNvPr id="45" name="Text 39"/>
          <p:cNvSpPr/>
          <p:nvPr/>
        </p:nvSpPr>
        <p:spPr>
          <a:xfrm>
            <a:off x="7965877" y="885974"/>
            <a:ext cx="143470" cy="157817"/>
          </a:xfrm>
          <a:prstGeom prst="ellipse">
            <a:avLst/>
          </a:prstGeom>
          <a:solidFill>
            <a:srgbClr val="FFFFFF"/>
          </a:solidFill>
          <a:ln/>
          <a:effectLst>
            <a:outerShdw blurRad="29210" dist="7620" dir="5400000" algn="bl" rotWithShape="0">
              <a:srgbClr val="000000">
                <a:alpha val="18000"/>
              </a:srgbClr>
            </a:outerShdw>
          </a:effectLst>
        </p:spPr>
        <p:txBody>
          <a:bodyPr wrap="none" lIns="0" tIns="0" rIns="0" bIns="0" rtlCol="0" anchor="ctr"/>
          <a:lstStyle/>
          <a:p>
            <a:pPr marL="0" indent="0" algn="ctr">
              <a:buNone/>
            </a:pPr>
            <a:r>
              <a:rPr lang="en-US" sz="620" b="1" dirty="0">
                <a:solidFill>
                  <a:srgbClr val="141A42"/>
                </a:solidFill>
                <a:latin typeface="Calibri" pitchFamily="34" charset="0"/>
                <a:ea typeface="Calibri" pitchFamily="34" charset="-122"/>
                <a:cs typeface="Calibri" pitchFamily="34" charset="-120"/>
              </a:rPr>
              <a:t>5</a:t>
            </a:r>
            <a:endParaRPr lang="en-US" sz="6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326880" cy="435471"/>
          </a:xfrm>
          <a:prstGeom prst="rect">
            <a:avLst/>
          </a:prstGeom>
          <a:solidFill>
            <a:srgbClr val="367689"/>
          </a:solidFill>
          <a:ln/>
        </p:spPr>
        <p:txBody>
          <a:bodyPr wrap="none" lIns="257810" tIns="86360" rIns="257810" bIns="71120" rtlCol="0" anchor="t"/>
          <a:lstStyle/>
          <a:p>
            <a:pPr marL="0" indent="0" algn="l">
              <a:buNone/>
            </a:pPr>
            <a:r>
              <a:rPr lang="en-US" sz="1460" b="1" kern="0" spc="29" dirty="0">
                <a:solidFill>
                  <a:srgbClr val="FFFFFF"/>
                </a:solidFill>
                <a:latin typeface="Calibri Light" pitchFamily="34" charset="0"/>
                <a:ea typeface="Calibri Light" pitchFamily="34" charset="-122"/>
                <a:cs typeface="Calibri Light" pitchFamily="34" charset="-120"/>
              </a:rPr>
              <a:t>Avatar NX: Creating Your Group</a:t>
            </a:r>
            <a:endParaRPr lang="en-US" sz="1460" dirty="0"/>
          </a:p>
        </p:txBody>
      </p:sp>
      <p:sp>
        <p:nvSpPr>
          <p:cNvPr id="3" name="Text 1"/>
          <p:cNvSpPr/>
          <p:nvPr/>
        </p:nvSpPr>
        <p:spPr>
          <a:xfrm>
            <a:off x="0" y="435471"/>
            <a:ext cx="9144000" cy="29170"/>
          </a:xfrm>
          <a:prstGeom prst="rect">
            <a:avLst/>
          </a:prstGeom>
          <a:solidFill>
            <a:srgbClr val="F4B753"/>
          </a:solidFill>
          <a:ln/>
        </p:spPr>
        <p:txBody>
          <a:bodyPr wrap="none" rtlCol="0" anchor="t"/>
          <a:lstStyle/>
          <a:p>
            <a:pPr marL="0" indent="0">
              <a:buNone/>
            </a:pPr>
            <a:endParaRPr lang="en-US" dirty="0"/>
          </a:p>
        </p:txBody>
      </p:sp>
      <p:sp>
        <p:nvSpPr>
          <p:cNvPr id="4" name="Text 2"/>
          <p:cNvSpPr/>
          <p:nvPr/>
        </p:nvSpPr>
        <p:spPr>
          <a:xfrm>
            <a:off x="0" y="464641"/>
            <a:ext cx="9326880" cy="217587"/>
          </a:xfrm>
          <a:prstGeom prst="rect">
            <a:avLst/>
          </a:prstGeom>
          <a:solidFill>
            <a:srgbClr val="FFFFFF"/>
          </a:solidFill>
          <a:ln/>
        </p:spPr>
        <p:txBody>
          <a:bodyPr wrap="none" lIns="257810" tIns="49530" rIns="257810" bIns="29210" rtlCol="0" anchor="t"/>
          <a:lstStyle/>
          <a:p>
            <a:pPr marL="0" indent="0" algn="l">
              <a:buNone/>
            </a:pPr>
            <a:r>
              <a:rPr lang="en-US" sz="730" b="1" dirty="0">
                <a:solidFill>
                  <a:srgbClr val="55A49C"/>
                </a:solidFill>
                <a:latin typeface="Calibri" pitchFamily="34" charset="0"/>
                <a:ea typeface="Calibri" pitchFamily="34" charset="-122"/>
                <a:cs typeface="Calibri" pitchFamily="34" charset="-120"/>
              </a:rPr>
              <a:t>Group Registration Form — This is where the group is built and members are initially assigned.</a:t>
            </a:r>
            <a:endParaRPr lang="en-US" sz="730" dirty="0"/>
          </a:p>
        </p:txBody>
      </p:sp>
      <p:sp>
        <p:nvSpPr>
          <p:cNvPr id="5" name="Text 3"/>
          <p:cNvSpPr/>
          <p:nvPr/>
        </p:nvSpPr>
        <p:spPr>
          <a:xfrm>
            <a:off x="200620" y="739378"/>
            <a:ext cx="1929110" cy="1914227"/>
          </a:xfrm>
          <a:prstGeom prst="roundRect">
            <a:avLst>
              <a:gd name="adj" fmla="val 2986"/>
            </a:avLst>
          </a:prstGeom>
          <a:solidFill>
            <a:srgbClr val="E8F4F7"/>
          </a:solidFill>
          <a:ln w="9525">
            <a:solidFill>
              <a:srgbClr val="367689"/>
            </a:solidFill>
            <a:prstDash val="dash"/>
          </a:ln>
        </p:spPr>
        <p:txBody>
          <a:bodyPr wrap="square" rtlCol="0" anchor="t"/>
          <a:lstStyle/>
          <a:p>
            <a:pPr marL="0" indent="0">
              <a:buNone/>
            </a:pPr>
            <a:endParaRPr lang="en-US" dirty="0"/>
          </a:p>
        </p:txBody>
      </p:sp>
      <p:sp>
        <p:nvSpPr>
          <p:cNvPr id="6" name="Text 4"/>
          <p:cNvSpPr/>
          <p:nvPr/>
        </p:nvSpPr>
        <p:spPr>
          <a:xfrm>
            <a:off x="991916" y="1301055"/>
            <a:ext cx="346520" cy="386655"/>
          </a:xfrm>
          <a:prstGeom prst="rect">
            <a:avLst/>
          </a:prstGeom>
          <a:noFill/>
          <a:ln/>
        </p:spPr>
        <p:txBody>
          <a:bodyPr wrap="none" lIns="0" tIns="0" rIns="0" bIns="0" rtlCol="0" anchor="t"/>
          <a:lstStyle/>
          <a:p>
            <a:pPr marL="0" indent="0" algn="ctr">
              <a:lnSpc>
                <a:spcPts val="3045"/>
              </a:lnSpc>
              <a:buNone/>
            </a:pPr>
            <a:r>
              <a:rPr lang="en-US" sz="2030" dirty="0">
                <a:solidFill>
                  <a:srgbClr val="141A42"/>
                </a:solidFill>
                <a:latin typeface="Calibri" pitchFamily="34" charset="0"/>
                <a:ea typeface="Calibri" pitchFamily="34" charset="-122"/>
                <a:cs typeface="Calibri" pitchFamily="34" charset="-120"/>
              </a:rPr>
              <a:t>📸</a:t>
            </a:r>
            <a:endParaRPr lang="en-US" sz="2030" dirty="0"/>
          </a:p>
        </p:txBody>
      </p:sp>
      <p:sp>
        <p:nvSpPr>
          <p:cNvPr id="7" name="Text 5"/>
          <p:cNvSpPr/>
          <p:nvPr/>
        </p:nvSpPr>
        <p:spPr>
          <a:xfrm>
            <a:off x="651165" y="1744861"/>
            <a:ext cx="1028021" cy="364264"/>
          </a:xfrm>
          <a:prstGeom prst="rect">
            <a:avLst/>
          </a:prstGeom>
          <a:noFill/>
          <a:ln/>
        </p:spPr>
        <p:txBody>
          <a:bodyPr wrap="square" lIns="0" tIns="0" rIns="0" bIns="0" rtlCol="0" anchor="ctr"/>
          <a:lstStyle/>
          <a:p>
            <a:pPr marL="0" indent="0" algn="ctr">
              <a:lnSpc>
                <a:spcPts val="910"/>
              </a:lnSpc>
              <a:buNone/>
            </a:pPr>
            <a:r>
              <a:rPr lang="en-US" sz="650" b="1" i="1" dirty="0">
                <a:solidFill>
                  <a:srgbClr val="367689"/>
                </a:solidFill>
                <a:latin typeface="Calibri" pitchFamily="34" charset="0"/>
                <a:ea typeface="Calibri" pitchFamily="34" charset="-122"/>
                <a:cs typeface="Calibri" pitchFamily="34" charset="-120"/>
              </a:rPr>
              <a:t>[INSERT SCREENSHOT:</a:t>
            </a:r>
            <a:br/>
            <a:r>
              <a:rPr lang="en-US" sz="650" b="1" i="1" dirty="0">
                <a:solidFill>
                  <a:srgbClr val="367689"/>
                </a:solidFill>
                <a:latin typeface="Calibri" pitchFamily="34" charset="0"/>
                <a:ea typeface="Calibri" pitchFamily="34" charset="-122"/>
                <a:cs typeface="Calibri" pitchFamily="34" charset="-120"/>
              </a:rPr>
              <a:t>Avatar NX —</a:t>
            </a:r>
            <a:br/>
            <a:r>
              <a:rPr lang="en-US" sz="650" b="1" i="1" dirty="0">
                <a:solidFill>
                  <a:srgbClr val="367689"/>
                </a:solidFill>
                <a:latin typeface="Calibri" pitchFamily="34" charset="0"/>
                <a:ea typeface="Calibri" pitchFamily="34" charset="-122"/>
                <a:cs typeface="Calibri" pitchFamily="34" charset="-120"/>
              </a:rPr>
              <a:t>Group Registration Form]</a:t>
            </a:r>
            <a:endParaRPr lang="en-US" sz="650" dirty="0"/>
          </a:p>
        </p:txBody>
      </p:sp>
      <p:sp>
        <p:nvSpPr>
          <p:cNvPr id="8" name="Text 6"/>
          <p:cNvSpPr/>
          <p:nvPr/>
        </p:nvSpPr>
        <p:spPr>
          <a:xfrm>
            <a:off x="2244030" y="739378"/>
            <a:ext cx="6699349" cy="277862"/>
          </a:xfrm>
          <a:prstGeom prst="roundRect">
            <a:avLst>
              <a:gd name="adj" fmla="val 12798"/>
            </a:avLst>
          </a:prstGeom>
          <a:solidFill>
            <a:srgbClr val="FFFFFF"/>
          </a:solidFill>
          <a:ln/>
          <a:effectLst>
            <a:outerShdw blurRad="29210" dist="7620" dir="5400000" algn="bl" rotWithShape="0">
              <a:srgbClr val="367689">
                <a:alpha val="10000"/>
              </a:srgbClr>
            </a:outerShdw>
          </a:effectLst>
        </p:spPr>
        <p:txBody>
          <a:bodyPr wrap="square" rtlCol="0" anchor="t"/>
          <a:lstStyle/>
          <a:p>
            <a:pPr marL="0" indent="0">
              <a:buNone/>
            </a:pPr>
            <a:endParaRPr lang="en-US" dirty="0"/>
          </a:p>
        </p:txBody>
      </p:sp>
      <p:sp>
        <p:nvSpPr>
          <p:cNvPr id="9" name="Text 7"/>
          <p:cNvSpPr/>
          <p:nvPr/>
        </p:nvSpPr>
        <p:spPr>
          <a:xfrm>
            <a:off x="2244030" y="739378"/>
            <a:ext cx="28575" cy="277862"/>
          </a:xfrm>
          <a:custGeom>
            <a:avLst/>
            <a:gdLst/>
            <a:ahLst/>
            <a:cxnLst/>
            <a:rect l="l" t="t" r="r" b="b"/>
            <a:pathLst>
              <a:path w="28575" h="277862">
                <a:moveTo>
                  <a:pt x="0" y="35560"/>
                </a:moveTo>
                <a:lnTo>
                  <a:pt x="3572" y="20027"/>
                </a:lnTo>
                <a:lnTo>
                  <a:pt x="7144" y="14182"/>
                </a:lnTo>
                <a:lnTo>
                  <a:pt x="10716" y="10118"/>
                </a:lnTo>
                <a:lnTo>
                  <a:pt x="14288" y="7064"/>
                </a:lnTo>
                <a:lnTo>
                  <a:pt x="17859" y="4718"/>
                </a:lnTo>
                <a:lnTo>
                  <a:pt x="21431" y="2927"/>
                </a:lnTo>
                <a:lnTo>
                  <a:pt x="25003" y="1603"/>
                </a:lnTo>
                <a:lnTo>
                  <a:pt x="28575" y="693"/>
                </a:lnTo>
                <a:lnTo>
                  <a:pt x="28575" y="277169"/>
                </a:lnTo>
                <a:lnTo>
                  <a:pt x="25003" y="276259"/>
                </a:lnTo>
                <a:lnTo>
                  <a:pt x="21431" y="274935"/>
                </a:lnTo>
                <a:lnTo>
                  <a:pt x="17859" y="273144"/>
                </a:lnTo>
                <a:lnTo>
                  <a:pt x="14288" y="270798"/>
                </a:lnTo>
                <a:lnTo>
                  <a:pt x="10716" y="267744"/>
                </a:lnTo>
                <a:lnTo>
                  <a:pt x="7144" y="263680"/>
                </a:lnTo>
                <a:lnTo>
                  <a:pt x="3572" y="257835"/>
                </a:lnTo>
                <a:lnTo>
                  <a:pt x="0" y="242302"/>
                </a:lnTo>
                <a:close/>
              </a:path>
            </a:pathLst>
          </a:custGeom>
          <a:solidFill>
            <a:srgbClr val="367689"/>
          </a:solidFill>
          <a:ln/>
        </p:spPr>
        <p:txBody>
          <a:bodyPr wrap="square" rtlCol="0" anchor="t"/>
          <a:lstStyle/>
          <a:p>
            <a:pPr marL="0" indent="0">
              <a:buNone/>
            </a:pPr>
            <a:endParaRPr lang="en-US" dirty="0"/>
          </a:p>
        </p:txBody>
      </p:sp>
      <p:sp>
        <p:nvSpPr>
          <p:cNvPr id="10" name="Text 8"/>
          <p:cNvSpPr/>
          <p:nvPr/>
        </p:nvSpPr>
        <p:spPr>
          <a:xfrm>
            <a:off x="2358926" y="796379"/>
            <a:ext cx="203820" cy="171450"/>
          </a:xfrm>
          <a:prstGeom prst="rect">
            <a:avLst/>
          </a:prstGeom>
          <a:noFill/>
          <a:ln/>
        </p:spPr>
        <p:txBody>
          <a:bodyPr wrap="none" lIns="0" tIns="0" rIns="0" bIns="0" rtlCol="0" anchor="t"/>
          <a:lstStyle/>
          <a:p>
            <a:pPr marL="0" indent="0" algn="l">
              <a:lnSpc>
                <a:spcPts val="1350"/>
              </a:lnSpc>
              <a:buNone/>
            </a:pPr>
            <a:r>
              <a:rPr lang="en-US" sz="900" b="1" dirty="0">
                <a:solidFill>
                  <a:srgbClr val="367689"/>
                </a:solidFill>
                <a:latin typeface="Calibri Light" pitchFamily="34" charset="0"/>
                <a:ea typeface="Calibri Light" pitchFamily="34" charset="-122"/>
                <a:cs typeface="Calibri Light" pitchFamily="34" charset="-120"/>
              </a:rPr>
              <a:t>1</a:t>
            </a:r>
            <a:endParaRPr lang="en-US" sz="900" dirty="0"/>
          </a:p>
        </p:txBody>
      </p:sp>
      <p:sp>
        <p:nvSpPr>
          <p:cNvPr id="11" name="Text 9"/>
          <p:cNvSpPr/>
          <p:nvPr/>
        </p:nvSpPr>
        <p:spPr>
          <a:xfrm>
            <a:off x="2615208" y="788789"/>
            <a:ext cx="2790289" cy="127843"/>
          </a:xfrm>
          <a:prstGeom prst="rect">
            <a:avLst/>
          </a:prstGeom>
          <a:noFill/>
          <a:ln/>
        </p:spPr>
        <p:txBody>
          <a:bodyPr wrap="none" lIns="0" tIns="0" rIns="0" bIns="0" rtlCol="0" anchor="ctr"/>
          <a:lstStyle/>
          <a:p>
            <a:pPr marL="0" indent="0" algn="l">
              <a:lnSpc>
                <a:spcPts val="1007"/>
              </a:lnSpc>
              <a:buNone/>
            </a:pPr>
            <a:r>
              <a:rPr lang="en-US" sz="730" dirty="0">
                <a:solidFill>
                  <a:srgbClr val="1A2340"/>
                </a:solidFill>
                <a:latin typeface="Calibri" pitchFamily="34" charset="0"/>
                <a:ea typeface="Calibri" pitchFamily="34" charset="-122"/>
                <a:cs typeface="Calibri" pitchFamily="34" charset="-120"/>
              </a:rPr>
              <a:t>Open the </a:t>
            </a:r>
            <a:r>
              <a:rPr lang="en-US" sz="730" b="1" dirty="0">
                <a:solidFill>
                  <a:srgbClr val="367689"/>
                </a:solidFill>
                <a:latin typeface="Calibri" pitchFamily="34" charset="0"/>
                <a:ea typeface="Calibri" pitchFamily="34" charset="-122"/>
                <a:cs typeface="Calibri" pitchFamily="34" charset="-120"/>
              </a:rPr>
              <a:t>Group Registration</a:t>
            </a:r>
            <a:r>
              <a:rPr lang="en-US" sz="730" dirty="0">
                <a:solidFill>
                  <a:srgbClr val="1A2340"/>
                </a:solidFill>
                <a:latin typeface="Calibri" pitchFamily="34" charset="0"/>
                <a:ea typeface="Calibri" pitchFamily="34" charset="-122"/>
                <a:cs typeface="Calibri" pitchFamily="34" charset="-120"/>
              </a:rPr>
              <a:t> form using the </a:t>
            </a:r>
            <a:r>
              <a:rPr lang="en-US" sz="730" b="1" dirty="0">
                <a:solidFill>
                  <a:srgbClr val="367689"/>
                </a:solidFill>
                <a:latin typeface="Calibri" pitchFamily="34" charset="0"/>
                <a:ea typeface="Calibri" pitchFamily="34" charset="-122"/>
                <a:cs typeface="Calibri" pitchFamily="34" charset="-120"/>
              </a:rPr>
              <a:t>NX search bar</a:t>
            </a:r>
            <a:r>
              <a:rPr lang="en-US" sz="730" dirty="0">
                <a:solidFill>
                  <a:srgbClr val="1A2340"/>
                </a:solidFill>
                <a:latin typeface="Calibri" pitchFamily="34" charset="0"/>
                <a:ea typeface="Calibri" pitchFamily="34" charset="-122"/>
                <a:cs typeface="Calibri" pitchFamily="34" charset="-120"/>
              </a:rPr>
              <a:t>.</a:t>
            </a:r>
            <a:endParaRPr lang="en-US" sz="730" dirty="0"/>
          </a:p>
        </p:txBody>
      </p:sp>
      <p:sp>
        <p:nvSpPr>
          <p:cNvPr id="12" name="Text 10"/>
          <p:cNvSpPr/>
          <p:nvPr/>
        </p:nvSpPr>
        <p:spPr>
          <a:xfrm>
            <a:off x="2244030" y="1066651"/>
            <a:ext cx="6699349" cy="277862"/>
          </a:xfrm>
          <a:prstGeom prst="roundRect">
            <a:avLst>
              <a:gd name="adj" fmla="val 12798"/>
            </a:avLst>
          </a:prstGeom>
          <a:solidFill>
            <a:srgbClr val="FFFFFF"/>
          </a:solidFill>
          <a:ln/>
          <a:effectLst>
            <a:outerShdw blurRad="29210" dist="7620" dir="5400000" algn="bl" rotWithShape="0">
              <a:srgbClr val="367689">
                <a:alpha val="10000"/>
              </a:srgbClr>
            </a:outerShdw>
          </a:effectLst>
        </p:spPr>
        <p:txBody>
          <a:bodyPr wrap="square" rtlCol="0" anchor="t"/>
          <a:lstStyle/>
          <a:p>
            <a:pPr marL="0" indent="0">
              <a:buNone/>
            </a:pPr>
            <a:endParaRPr lang="en-US" dirty="0"/>
          </a:p>
        </p:txBody>
      </p:sp>
      <p:sp>
        <p:nvSpPr>
          <p:cNvPr id="13" name="Text 11"/>
          <p:cNvSpPr/>
          <p:nvPr/>
        </p:nvSpPr>
        <p:spPr>
          <a:xfrm>
            <a:off x="2244030" y="1066651"/>
            <a:ext cx="28575" cy="277862"/>
          </a:xfrm>
          <a:custGeom>
            <a:avLst/>
            <a:gdLst/>
            <a:ahLst/>
            <a:cxnLst/>
            <a:rect l="l" t="t" r="r" b="b"/>
            <a:pathLst>
              <a:path w="28575" h="277862">
                <a:moveTo>
                  <a:pt x="0" y="35560"/>
                </a:moveTo>
                <a:lnTo>
                  <a:pt x="3572" y="20027"/>
                </a:lnTo>
                <a:lnTo>
                  <a:pt x="7144" y="14182"/>
                </a:lnTo>
                <a:lnTo>
                  <a:pt x="10716" y="10118"/>
                </a:lnTo>
                <a:lnTo>
                  <a:pt x="14288" y="7064"/>
                </a:lnTo>
                <a:lnTo>
                  <a:pt x="17859" y="4718"/>
                </a:lnTo>
                <a:lnTo>
                  <a:pt x="21431" y="2927"/>
                </a:lnTo>
                <a:lnTo>
                  <a:pt x="25003" y="1603"/>
                </a:lnTo>
                <a:lnTo>
                  <a:pt x="28575" y="693"/>
                </a:lnTo>
                <a:lnTo>
                  <a:pt x="28575" y="277169"/>
                </a:lnTo>
                <a:lnTo>
                  <a:pt x="25003" y="276259"/>
                </a:lnTo>
                <a:lnTo>
                  <a:pt x="21431" y="274935"/>
                </a:lnTo>
                <a:lnTo>
                  <a:pt x="17859" y="273144"/>
                </a:lnTo>
                <a:lnTo>
                  <a:pt x="14288" y="270798"/>
                </a:lnTo>
                <a:lnTo>
                  <a:pt x="10716" y="267744"/>
                </a:lnTo>
                <a:lnTo>
                  <a:pt x="7144" y="263680"/>
                </a:lnTo>
                <a:lnTo>
                  <a:pt x="3572" y="257835"/>
                </a:lnTo>
                <a:lnTo>
                  <a:pt x="0" y="242302"/>
                </a:lnTo>
                <a:close/>
              </a:path>
            </a:pathLst>
          </a:custGeom>
          <a:solidFill>
            <a:srgbClr val="367689"/>
          </a:solidFill>
          <a:ln/>
        </p:spPr>
        <p:txBody>
          <a:bodyPr wrap="square" rtlCol="0" anchor="t"/>
          <a:lstStyle/>
          <a:p>
            <a:pPr marL="0" indent="0">
              <a:buNone/>
            </a:pPr>
            <a:endParaRPr lang="en-US" dirty="0"/>
          </a:p>
        </p:txBody>
      </p:sp>
      <p:sp>
        <p:nvSpPr>
          <p:cNvPr id="14" name="Text 12"/>
          <p:cNvSpPr/>
          <p:nvPr/>
        </p:nvSpPr>
        <p:spPr>
          <a:xfrm>
            <a:off x="2358926" y="1123652"/>
            <a:ext cx="203820" cy="171450"/>
          </a:xfrm>
          <a:prstGeom prst="rect">
            <a:avLst/>
          </a:prstGeom>
          <a:noFill/>
          <a:ln/>
        </p:spPr>
        <p:txBody>
          <a:bodyPr wrap="none" lIns="0" tIns="0" rIns="0" bIns="0" rtlCol="0" anchor="t"/>
          <a:lstStyle/>
          <a:p>
            <a:pPr marL="0" indent="0" algn="l">
              <a:lnSpc>
                <a:spcPts val="1350"/>
              </a:lnSpc>
              <a:buNone/>
            </a:pPr>
            <a:r>
              <a:rPr lang="en-US" sz="900" b="1" dirty="0">
                <a:solidFill>
                  <a:srgbClr val="367689"/>
                </a:solidFill>
                <a:latin typeface="Calibri Light" pitchFamily="34" charset="0"/>
                <a:ea typeface="Calibri Light" pitchFamily="34" charset="-122"/>
                <a:cs typeface="Calibri Light" pitchFamily="34" charset="-120"/>
              </a:rPr>
              <a:t>2</a:t>
            </a:r>
            <a:endParaRPr lang="en-US" sz="900" dirty="0"/>
          </a:p>
        </p:txBody>
      </p:sp>
      <p:sp>
        <p:nvSpPr>
          <p:cNvPr id="15" name="Text 13"/>
          <p:cNvSpPr/>
          <p:nvPr/>
        </p:nvSpPr>
        <p:spPr>
          <a:xfrm>
            <a:off x="2615208" y="1116062"/>
            <a:ext cx="5428000" cy="127843"/>
          </a:xfrm>
          <a:prstGeom prst="rect">
            <a:avLst/>
          </a:prstGeom>
          <a:noFill/>
          <a:ln/>
        </p:spPr>
        <p:txBody>
          <a:bodyPr wrap="none" lIns="0" tIns="0" rIns="0" bIns="0" rtlCol="0" anchor="ctr"/>
          <a:lstStyle/>
          <a:p>
            <a:pPr marL="0" indent="0" algn="l">
              <a:lnSpc>
                <a:spcPts val="1007"/>
              </a:lnSpc>
              <a:buNone/>
            </a:pPr>
            <a:r>
              <a:rPr lang="en-US" sz="730" dirty="0">
                <a:solidFill>
                  <a:srgbClr val="1A2340"/>
                </a:solidFill>
                <a:latin typeface="Calibri" pitchFamily="34" charset="0"/>
                <a:ea typeface="Calibri" pitchFamily="34" charset="-122"/>
                <a:cs typeface="Calibri" pitchFamily="34" charset="-120"/>
              </a:rPr>
              <a:t>Create a new group. </a:t>
            </a:r>
            <a:r>
              <a:rPr lang="en-US" sz="730" b="1" dirty="0">
                <a:solidFill>
                  <a:srgbClr val="367689"/>
                </a:solidFill>
                <a:latin typeface="Calibri" pitchFamily="34" charset="0"/>
                <a:ea typeface="Calibri" pitchFamily="34" charset="-122"/>
                <a:cs typeface="Calibri" pitchFamily="34" charset="-120"/>
              </a:rPr>
              <a:t>Name format:</a:t>
            </a:r>
            <a:r>
              <a:rPr lang="en-US" sz="730" dirty="0">
                <a:solidFill>
                  <a:srgbClr val="1A2340"/>
                </a:solidFill>
                <a:latin typeface="Calibri" pitchFamily="34" charset="0"/>
                <a:ea typeface="Calibri" pitchFamily="34" charset="-122"/>
                <a:cs typeface="Calibri" pitchFamily="34" charset="-120"/>
              </a:rPr>
              <a:t> Group Name + City + School. </a:t>
            </a:r>
            <a:r>
              <a:rPr lang="en-US" sz="730" i="1" dirty="0">
                <a:solidFill>
                  <a:srgbClr val="888888"/>
                </a:solidFill>
                <a:latin typeface="Calibri" pitchFamily="34" charset="0"/>
                <a:ea typeface="Calibri" pitchFamily="34" charset="-122"/>
                <a:cs typeface="Calibri" pitchFamily="34" charset="-120"/>
              </a:rPr>
              <a:t>Example: Social Skills Murfreesboro Cason Lane 3–6</a:t>
            </a:r>
            <a:endParaRPr lang="en-US" sz="730" dirty="0"/>
          </a:p>
        </p:txBody>
      </p:sp>
      <p:sp>
        <p:nvSpPr>
          <p:cNvPr id="16" name="Text 14"/>
          <p:cNvSpPr/>
          <p:nvPr/>
        </p:nvSpPr>
        <p:spPr>
          <a:xfrm>
            <a:off x="2244030" y="1393924"/>
            <a:ext cx="6699349" cy="277862"/>
          </a:xfrm>
          <a:prstGeom prst="roundRect">
            <a:avLst>
              <a:gd name="adj" fmla="val 12798"/>
            </a:avLst>
          </a:prstGeom>
          <a:solidFill>
            <a:srgbClr val="FFFFFF"/>
          </a:solidFill>
          <a:ln/>
          <a:effectLst>
            <a:outerShdw blurRad="29210" dist="7620" dir="5400000" algn="bl" rotWithShape="0">
              <a:srgbClr val="367689">
                <a:alpha val="10000"/>
              </a:srgbClr>
            </a:outerShdw>
          </a:effectLst>
        </p:spPr>
        <p:txBody>
          <a:bodyPr wrap="square" rtlCol="0" anchor="t"/>
          <a:lstStyle/>
          <a:p>
            <a:pPr marL="0" indent="0">
              <a:buNone/>
            </a:pPr>
            <a:endParaRPr lang="en-US" dirty="0"/>
          </a:p>
        </p:txBody>
      </p:sp>
      <p:sp>
        <p:nvSpPr>
          <p:cNvPr id="17" name="Text 15"/>
          <p:cNvSpPr/>
          <p:nvPr/>
        </p:nvSpPr>
        <p:spPr>
          <a:xfrm>
            <a:off x="2244030" y="1393924"/>
            <a:ext cx="28575" cy="277862"/>
          </a:xfrm>
          <a:custGeom>
            <a:avLst/>
            <a:gdLst/>
            <a:ahLst/>
            <a:cxnLst/>
            <a:rect l="l" t="t" r="r" b="b"/>
            <a:pathLst>
              <a:path w="28575" h="277862">
                <a:moveTo>
                  <a:pt x="0" y="35560"/>
                </a:moveTo>
                <a:lnTo>
                  <a:pt x="3572" y="20027"/>
                </a:lnTo>
                <a:lnTo>
                  <a:pt x="7144" y="14182"/>
                </a:lnTo>
                <a:lnTo>
                  <a:pt x="10716" y="10118"/>
                </a:lnTo>
                <a:lnTo>
                  <a:pt x="14288" y="7064"/>
                </a:lnTo>
                <a:lnTo>
                  <a:pt x="17859" y="4718"/>
                </a:lnTo>
                <a:lnTo>
                  <a:pt x="21431" y="2927"/>
                </a:lnTo>
                <a:lnTo>
                  <a:pt x="25003" y="1603"/>
                </a:lnTo>
                <a:lnTo>
                  <a:pt x="28575" y="693"/>
                </a:lnTo>
                <a:lnTo>
                  <a:pt x="28575" y="277169"/>
                </a:lnTo>
                <a:lnTo>
                  <a:pt x="25003" y="276259"/>
                </a:lnTo>
                <a:lnTo>
                  <a:pt x="21431" y="274935"/>
                </a:lnTo>
                <a:lnTo>
                  <a:pt x="17859" y="273144"/>
                </a:lnTo>
                <a:lnTo>
                  <a:pt x="14288" y="270798"/>
                </a:lnTo>
                <a:lnTo>
                  <a:pt x="10716" y="267744"/>
                </a:lnTo>
                <a:lnTo>
                  <a:pt x="7144" y="263680"/>
                </a:lnTo>
                <a:lnTo>
                  <a:pt x="3572" y="257835"/>
                </a:lnTo>
                <a:lnTo>
                  <a:pt x="0" y="242302"/>
                </a:lnTo>
                <a:close/>
              </a:path>
            </a:pathLst>
          </a:custGeom>
          <a:solidFill>
            <a:srgbClr val="367689"/>
          </a:solidFill>
          <a:ln/>
        </p:spPr>
        <p:txBody>
          <a:bodyPr wrap="square" rtlCol="0" anchor="t"/>
          <a:lstStyle/>
          <a:p>
            <a:pPr marL="0" indent="0">
              <a:buNone/>
            </a:pPr>
            <a:endParaRPr lang="en-US" dirty="0"/>
          </a:p>
        </p:txBody>
      </p:sp>
      <p:sp>
        <p:nvSpPr>
          <p:cNvPr id="18" name="Text 16"/>
          <p:cNvSpPr/>
          <p:nvPr/>
        </p:nvSpPr>
        <p:spPr>
          <a:xfrm>
            <a:off x="2358926" y="1450925"/>
            <a:ext cx="203820" cy="171450"/>
          </a:xfrm>
          <a:prstGeom prst="rect">
            <a:avLst/>
          </a:prstGeom>
          <a:noFill/>
          <a:ln/>
        </p:spPr>
        <p:txBody>
          <a:bodyPr wrap="none" lIns="0" tIns="0" rIns="0" bIns="0" rtlCol="0" anchor="t"/>
          <a:lstStyle/>
          <a:p>
            <a:pPr marL="0" indent="0" algn="l">
              <a:lnSpc>
                <a:spcPts val="1350"/>
              </a:lnSpc>
              <a:buNone/>
            </a:pPr>
            <a:r>
              <a:rPr lang="en-US" sz="900" b="1" dirty="0">
                <a:solidFill>
                  <a:srgbClr val="367689"/>
                </a:solidFill>
                <a:latin typeface="Calibri Light" pitchFamily="34" charset="0"/>
                <a:ea typeface="Calibri Light" pitchFamily="34" charset="-122"/>
                <a:cs typeface="Calibri Light" pitchFamily="34" charset="-120"/>
              </a:rPr>
              <a:t>3</a:t>
            </a:r>
            <a:endParaRPr lang="en-US" sz="900" dirty="0"/>
          </a:p>
        </p:txBody>
      </p:sp>
      <p:sp>
        <p:nvSpPr>
          <p:cNvPr id="19" name="Text 17"/>
          <p:cNvSpPr/>
          <p:nvPr/>
        </p:nvSpPr>
        <p:spPr>
          <a:xfrm>
            <a:off x="2615208" y="1443335"/>
            <a:ext cx="3165678" cy="127843"/>
          </a:xfrm>
          <a:prstGeom prst="rect">
            <a:avLst/>
          </a:prstGeom>
          <a:noFill/>
          <a:ln/>
        </p:spPr>
        <p:txBody>
          <a:bodyPr wrap="none" lIns="0" tIns="0" rIns="0" bIns="0" rtlCol="0" anchor="ctr"/>
          <a:lstStyle/>
          <a:p>
            <a:pPr marL="0" indent="0" algn="l">
              <a:lnSpc>
                <a:spcPts val="1007"/>
              </a:lnSpc>
              <a:buNone/>
            </a:pPr>
            <a:r>
              <a:rPr lang="en-US" sz="730" dirty="0">
                <a:solidFill>
                  <a:srgbClr val="1A2340"/>
                </a:solidFill>
                <a:latin typeface="Calibri" pitchFamily="34" charset="0"/>
                <a:ea typeface="Calibri" pitchFamily="34" charset="-122"/>
                <a:cs typeface="Calibri" pitchFamily="34" charset="-120"/>
              </a:rPr>
              <a:t>Set the </a:t>
            </a:r>
            <a:r>
              <a:rPr lang="en-US" sz="730" b="1" dirty="0">
                <a:solidFill>
                  <a:srgbClr val="367689"/>
                </a:solidFill>
                <a:latin typeface="Calibri" pitchFamily="34" charset="0"/>
                <a:ea typeface="Calibri" pitchFamily="34" charset="-122"/>
                <a:cs typeface="Calibri" pitchFamily="34" charset="-120"/>
              </a:rPr>
              <a:t>start date</a:t>
            </a:r>
            <a:r>
              <a:rPr lang="en-US" sz="730" dirty="0">
                <a:solidFill>
                  <a:srgbClr val="1A2340"/>
                </a:solidFill>
                <a:latin typeface="Calibri" pitchFamily="34" charset="0"/>
                <a:ea typeface="Calibri" pitchFamily="34" charset="-122"/>
                <a:cs typeface="Calibri" pitchFamily="34" charset="-120"/>
              </a:rPr>
              <a:t>. Use </a:t>
            </a:r>
            <a:r>
              <a:rPr lang="en-US" sz="730" b="1" dirty="0">
                <a:solidFill>
                  <a:srgbClr val="367689"/>
                </a:solidFill>
                <a:latin typeface="Calibri" pitchFamily="34" charset="0"/>
                <a:ea typeface="Calibri" pitchFamily="34" charset="-122"/>
                <a:cs typeface="Calibri" pitchFamily="34" charset="-120"/>
              </a:rPr>
              <a:t>Auto Assign</a:t>
            </a:r>
            <a:r>
              <a:rPr lang="en-US" sz="730" dirty="0">
                <a:solidFill>
                  <a:srgbClr val="1A2340"/>
                </a:solidFill>
                <a:latin typeface="Calibri" pitchFamily="34" charset="0"/>
                <a:ea typeface="Calibri" pitchFamily="34" charset="-122"/>
                <a:cs typeface="Calibri" pitchFamily="34" charset="-120"/>
              </a:rPr>
              <a:t> for the next available ID number.</a:t>
            </a:r>
            <a:endParaRPr lang="en-US" sz="730" dirty="0"/>
          </a:p>
        </p:txBody>
      </p:sp>
      <p:sp>
        <p:nvSpPr>
          <p:cNvPr id="20" name="Text 18"/>
          <p:cNvSpPr/>
          <p:nvPr/>
        </p:nvSpPr>
        <p:spPr>
          <a:xfrm>
            <a:off x="2244030" y="1721197"/>
            <a:ext cx="6699349" cy="277862"/>
          </a:xfrm>
          <a:prstGeom prst="roundRect">
            <a:avLst>
              <a:gd name="adj" fmla="val 12798"/>
            </a:avLst>
          </a:prstGeom>
          <a:solidFill>
            <a:srgbClr val="FFFFFF"/>
          </a:solidFill>
          <a:ln/>
          <a:effectLst>
            <a:outerShdw blurRad="29210" dist="7620" dir="5400000" algn="bl" rotWithShape="0">
              <a:srgbClr val="367689">
                <a:alpha val="10000"/>
              </a:srgbClr>
            </a:outerShdw>
          </a:effectLst>
        </p:spPr>
        <p:txBody>
          <a:bodyPr wrap="square" rtlCol="0" anchor="t"/>
          <a:lstStyle/>
          <a:p>
            <a:pPr marL="0" indent="0">
              <a:buNone/>
            </a:pPr>
            <a:endParaRPr lang="en-US" dirty="0"/>
          </a:p>
        </p:txBody>
      </p:sp>
      <p:sp>
        <p:nvSpPr>
          <p:cNvPr id="21" name="Text 19"/>
          <p:cNvSpPr/>
          <p:nvPr/>
        </p:nvSpPr>
        <p:spPr>
          <a:xfrm>
            <a:off x="2244030" y="1721197"/>
            <a:ext cx="28575" cy="277862"/>
          </a:xfrm>
          <a:custGeom>
            <a:avLst/>
            <a:gdLst/>
            <a:ahLst/>
            <a:cxnLst/>
            <a:rect l="l" t="t" r="r" b="b"/>
            <a:pathLst>
              <a:path w="28575" h="277862">
                <a:moveTo>
                  <a:pt x="0" y="35560"/>
                </a:moveTo>
                <a:lnTo>
                  <a:pt x="3572" y="20027"/>
                </a:lnTo>
                <a:lnTo>
                  <a:pt x="7144" y="14182"/>
                </a:lnTo>
                <a:lnTo>
                  <a:pt x="10716" y="10118"/>
                </a:lnTo>
                <a:lnTo>
                  <a:pt x="14288" y="7064"/>
                </a:lnTo>
                <a:lnTo>
                  <a:pt x="17859" y="4718"/>
                </a:lnTo>
                <a:lnTo>
                  <a:pt x="21431" y="2927"/>
                </a:lnTo>
                <a:lnTo>
                  <a:pt x="25003" y="1603"/>
                </a:lnTo>
                <a:lnTo>
                  <a:pt x="28575" y="693"/>
                </a:lnTo>
                <a:lnTo>
                  <a:pt x="28575" y="277169"/>
                </a:lnTo>
                <a:lnTo>
                  <a:pt x="25003" y="276259"/>
                </a:lnTo>
                <a:lnTo>
                  <a:pt x="21431" y="274935"/>
                </a:lnTo>
                <a:lnTo>
                  <a:pt x="17859" y="273144"/>
                </a:lnTo>
                <a:lnTo>
                  <a:pt x="14288" y="270798"/>
                </a:lnTo>
                <a:lnTo>
                  <a:pt x="10716" y="267744"/>
                </a:lnTo>
                <a:lnTo>
                  <a:pt x="7144" y="263680"/>
                </a:lnTo>
                <a:lnTo>
                  <a:pt x="3572" y="257835"/>
                </a:lnTo>
                <a:lnTo>
                  <a:pt x="0" y="242302"/>
                </a:lnTo>
                <a:close/>
              </a:path>
            </a:pathLst>
          </a:custGeom>
          <a:solidFill>
            <a:srgbClr val="367689"/>
          </a:solidFill>
          <a:ln/>
        </p:spPr>
        <p:txBody>
          <a:bodyPr wrap="square" rtlCol="0" anchor="t"/>
          <a:lstStyle/>
          <a:p>
            <a:pPr marL="0" indent="0">
              <a:buNone/>
            </a:pPr>
            <a:endParaRPr lang="en-US" dirty="0"/>
          </a:p>
        </p:txBody>
      </p:sp>
      <p:sp>
        <p:nvSpPr>
          <p:cNvPr id="22" name="Text 20"/>
          <p:cNvSpPr/>
          <p:nvPr/>
        </p:nvSpPr>
        <p:spPr>
          <a:xfrm>
            <a:off x="2358926" y="1778198"/>
            <a:ext cx="203820" cy="171450"/>
          </a:xfrm>
          <a:prstGeom prst="rect">
            <a:avLst/>
          </a:prstGeom>
          <a:noFill/>
          <a:ln/>
        </p:spPr>
        <p:txBody>
          <a:bodyPr wrap="none" lIns="0" tIns="0" rIns="0" bIns="0" rtlCol="0" anchor="t"/>
          <a:lstStyle/>
          <a:p>
            <a:pPr marL="0" indent="0" algn="l">
              <a:lnSpc>
                <a:spcPts val="1350"/>
              </a:lnSpc>
              <a:buNone/>
            </a:pPr>
            <a:r>
              <a:rPr lang="en-US" sz="900" b="1" dirty="0">
                <a:solidFill>
                  <a:srgbClr val="367689"/>
                </a:solidFill>
                <a:latin typeface="Calibri Light" pitchFamily="34" charset="0"/>
                <a:ea typeface="Calibri Light" pitchFamily="34" charset="-122"/>
                <a:cs typeface="Calibri Light" pitchFamily="34" charset="-120"/>
              </a:rPr>
              <a:t>4</a:t>
            </a:r>
            <a:endParaRPr lang="en-US" sz="900" dirty="0"/>
          </a:p>
        </p:txBody>
      </p:sp>
      <p:sp>
        <p:nvSpPr>
          <p:cNvPr id="23" name="Text 21"/>
          <p:cNvSpPr/>
          <p:nvPr/>
        </p:nvSpPr>
        <p:spPr>
          <a:xfrm>
            <a:off x="2615208" y="1770608"/>
            <a:ext cx="6617360" cy="127843"/>
          </a:xfrm>
          <a:prstGeom prst="rect">
            <a:avLst/>
          </a:prstGeom>
          <a:noFill/>
          <a:ln/>
        </p:spPr>
        <p:txBody>
          <a:bodyPr wrap="none" lIns="0" tIns="0" rIns="0" bIns="0" rtlCol="0" anchor="ctr"/>
          <a:lstStyle/>
          <a:p>
            <a:pPr marL="0" indent="0" algn="l">
              <a:lnSpc>
                <a:spcPts val="1007"/>
              </a:lnSpc>
              <a:buNone/>
            </a:pPr>
            <a:r>
              <a:rPr lang="en-US" sz="730" dirty="0">
                <a:solidFill>
                  <a:srgbClr val="1A2340"/>
                </a:solidFill>
                <a:latin typeface="Calibri" pitchFamily="34" charset="0"/>
                <a:ea typeface="Calibri" pitchFamily="34" charset="-122"/>
                <a:cs typeface="Calibri" pitchFamily="34" charset="-120"/>
              </a:rPr>
              <a:t>Add members using </a:t>
            </a:r>
            <a:r>
              <a:rPr lang="en-US" sz="730" b="1" dirty="0">
                <a:solidFill>
                  <a:srgbClr val="367689"/>
                </a:solidFill>
                <a:latin typeface="Calibri" pitchFamily="34" charset="0"/>
                <a:ea typeface="Calibri" pitchFamily="34" charset="-122"/>
                <a:cs typeface="Calibri" pitchFamily="34" charset="-120"/>
              </a:rPr>
              <a:t>Group Member Assignment</a:t>
            </a:r>
            <a:r>
              <a:rPr lang="en-US" sz="730" dirty="0">
                <a:solidFill>
                  <a:srgbClr val="1A2340"/>
                </a:solidFill>
                <a:latin typeface="Calibri" pitchFamily="34" charset="0"/>
                <a:ea typeface="Calibri" pitchFamily="34" charset="-122"/>
                <a:cs typeface="Calibri" pitchFamily="34" charset="-120"/>
              </a:rPr>
              <a:t>. Select the correct </a:t>
            </a:r>
            <a:r>
              <a:rPr lang="en-US" sz="730" b="1" dirty="0">
                <a:solidFill>
                  <a:srgbClr val="367689"/>
                </a:solidFill>
                <a:latin typeface="Calibri" pitchFamily="34" charset="0"/>
                <a:ea typeface="Calibri" pitchFamily="34" charset="-122"/>
                <a:cs typeface="Calibri" pitchFamily="34" charset="-120"/>
              </a:rPr>
              <a:t>episode</a:t>
            </a:r>
            <a:r>
              <a:rPr lang="en-US" sz="730" dirty="0">
                <a:solidFill>
                  <a:srgbClr val="1A2340"/>
                </a:solidFill>
                <a:latin typeface="Calibri" pitchFamily="34" charset="0"/>
                <a:ea typeface="Calibri" pitchFamily="34" charset="-122"/>
                <a:cs typeface="Calibri" pitchFamily="34" charset="-120"/>
              </a:rPr>
              <a:t> for each client — </a:t>
            </a:r>
            <a:r>
              <a:rPr lang="en-US" sz="730" b="1" dirty="0">
                <a:solidFill>
                  <a:srgbClr val="C0392B"/>
                </a:solidFill>
                <a:latin typeface="Calibri" pitchFamily="34" charset="0"/>
                <a:ea typeface="Calibri" pitchFamily="34" charset="-122"/>
                <a:cs typeface="Calibri" pitchFamily="34" charset="-120"/>
              </a:rPr>
              <a:t>the wrong episode may block note completion.</a:t>
            </a:r>
            <a:endParaRPr lang="en-US" sz="730" dirty="0"/>
          </a:p>
        </p:txBody>
      </p:sp>
      <p:sp>
        <p:nvSpPr>
          <p:cNvPr id="24" name="Text 22"/>
          <p:cNvSpPr/>
          <p:nvPr/>
        </p:nvSpPr>
        <p:spPr>
          <a:xfrm>
            <a:off x="2244030" y="2048470"/>
            <a:ext cx="6699349" cy="277862"/>
          </a:xfrm>
          <a:prstGeom prst="roundRect">
            <a:avLst>
              <a:gd name="adj" fmla="val 12798"/>
            </a:avLst>
          </a:prstGeom>
          <a:solidFill>
            <a:srgbClr val="FFFFFF"/>
          </a:solidFill>
          <a:ln/>
          <a:effectLst>
            <a:outerShdw blurRad="29210" dist="7620" dir="5400000" algn="bl" rotWithShape="0">
              <a:srgbClr val="367689">
                <a:alpha val="10000"/>
              </a:srgbClr>
            </a:outerShdw>
          </a:effectLst>
        </p:spPr>
        <p:txBody>
          <a:bodyPr wrap="square" rtlCol="0" anchor="t"/>
          <a:lstStyle/>
          <a:p>
            <a:pPr marL="0" indent="0">
              <a:buNone/>
            </a:pPr>
            <a:endParaRPr lang="en-US" dirty="0"/>
          </a:p>
        </p:txBody>
      </p:sp>
      <p:sp>
        <p:nvSpPr>
          <p:cNvPr id="25" name="Text 23"/>
          <p:cNvSpPr/>
          <p:nvPr/>
        </p:nvSpPr>
        <p:spPr>
          <a:xfrm>
            <a:off x="2244030" y="2048470"/>
            <a:ext cx="28575" cy="277862"/>
          </a:xfrm>
          <a:custGeom>
            <a:avLst/>
            <a:gdLst/>
            <a:ahLst/>
            <a:cxnLst/>
            <a:rect l="l" t="t" r="r" b="b"/>
            <a:pathLst>
              <a:path w="28575" h="277862">
                <a:moveTo>
                  <a:pt x="0" y="35560"/>
                </a:moveTo>
                <a:lnTo>
                  <a:pt x="3572" y="20027"/>
                </a:lnTo>
                <a:lnTo>
                  <a:pt x="7144" y="14182"/>
                </a:lnTo>
                <a:lnTo>
                  <a:pt x="10716" y="10118"/>
                </a:lnTo>
                <a:lnTo>
                  <a:pt x="14288" y="7064"/>
                </a:lnTo>
                <a:lnTo>
                  <a:pt x="17859" y="4718"/>
                </a:lnTo>
                <a:lnTo>
                  <a:pt x="21431" y="2927"/>
                </a:lnTo>
                <a:lnTo>
                  <a:pt x="25003" y="1603"/>
                </a:lnTo>
                <a:lnTo>
                  <a:pt x="28575" y="693"/>
                </a:lnTo>
                <a:lnTo>
                  <a:pt x="28575" y="277169"/>
                </a:lnTo>
                <a:lnTo>
                  <a:pt x="25003" y="276259"/>
                </a:lnTo>
                <a:lnTo>
                  <a:pt x="21431" y="274935"/>
                </a:lnTo>
                <a:lnTo>
                  <a:pt x="17859" y="273144"/>
                </a:lnTo>
                <a:lnTo>
                  <a:pt x="14288" y="270798"/>
                </a:lnTo>
                <a:lnTo>
                  <a:pt x="10716" y="267744"/>
                </a:lnTo>
                <a:lnTo>
                  <a:pt x="7144" y="263680"/>
                </a:lnTo>
                <a:lnTo>
                  <a:pt x="3572" y="257835"/>
                </a:lnTo>
                <a:lnTo>
                  <a:pt x="0" y="242302"/>
                </a:lnTo>
                <a:close/>
              </a:path>
            </a:pathLst>
          </a:custGeom>
          <a:solidFill>
            <a:srgbClr val="367689"/>
          </a:solidFill>
          <a:ln/>
        </p:spPr>
        <p:txBody>
          <a:bodyPr wrap="square" rtlCol="0" anchor="t"/>
          <a:lstStyle/>
          <a:p>
            <a:pPr marL="0" indent="0">
              <a:buNone/>
            </a:pPr>
            <a:endParaRPr lang="en-US" dirty="0"/>
          </a:p>
        </p:txBody>
      </p:sp>
      <p:sp>
        <p:nvSpPr>
          <p:cNvPr id="26" name="Text 24"/>
          <p:cNvSpPr/>
          <p:nvPr/>
        </p:nvSpPr>
        <p:spPr>
          <a:xfrm>
            <a:off x="2358926" y="2105471"/>
            <a:ext cx="203820" cy="171450"/>
          </a:xfrm>
          <a:prstGeom prst="rect">
            <a:avLst/>
          </a:prstGeom>
          <a:noFill/>
          <a:ln/>
        </p:spPr>
        <p:txBody>
          <a:bodyPr wrap="none" lIns="0" tIns="0" rIns="0" bIns="0" rtlCol="0" anchor="t"/>
          <a:lstStyle/>
          <a:p>
            <a:pPr marL="0" indent="0" algn="l">
              <a:lnSpc>
                <a:spcPts val="1350"/>
              </a:lnSpc>
              <a:buNone/>
            </a:pPr>
            <a:r>
              <a:rPr lang="en-US" sz="900" b="1" dirty="0">
                <a:solidFill>
                  <a:srgbClr val="367689"/>
                </a:solidFill>
                <a:latin typeface="Calibri Light" pitchFamily="34" charset="0"/>
                <a:ea typeface="Calibri Light" pitchFamily="34" charset="-122"/>
                <a:cs typeface="Calibri Light" pitchFamily="34" charset="-120"/>
              </a:rPr>
              <a:t>5</a:t>
            </a:r>
            <a:endParaRPr lang="en-US" sz="900" dirty="0"/>
          </a:p>
        </p:txBody>
      </p:sp>
      <p:sp>
        <p:nvSpPr>
          <p:cNvPr id="27" name="Text 25"/>
          <p:cNvSpPr/>
          <p:nvPr/>
        </p:nvSpPr>
        <p:spPr>
          <a:xfrm>
            <a:off x="2615208" y="2097881"/>
            <a:ext cx="3398148" cy="127843"/>
          </a:xfrm>
          <a:prstGeom prst="rect">
            <a:avLst/>
          </a:prstGeom>
          <a:noFill/>
          <a:ln/>
        </p:spPr>
        <p:txBody>
          <a:bodyPr wrap="none" lIns="0" tIns="0" rIns="0" bIns="0" rtlCol="0" anchor="ctr"/>
          <a:lstStyle/>
          <a:p>
            <a:pPr marL="0" indent="0" algn="l">
              <a:lnSpc>
                <a:spcPts val="1007"/>
              </a:lnSpc>
              <a:buNone/>
            </a:pPr>
            <a:r>
              <a:rPr lang="en-US" sz="730" dirty="0">
                <a:solidFill>
                  <a:srgbClr val="1A2340"/>
                </a:solidFill>
                <a:latin typeface="Calibri" pitchFamily="34" charset="0"/>
                <a:ea typeface="Calibri" pitchFamily="34" charset="-122"/>
                <a:cs typeface="Calibri" pitchFamily="34" charset="-120"/>
              </a:rPr>
              <a:t>Set the </a:t>
            </a:r>
            <a:r>
              <a:rPr lang="en-US" sz="730" b="1" dirty="0">
                <a:solidFill>
                  <a:srgbClr val="367689"/>
                </a:solidFill>
                <a:latin typeface="Calibri" pitchFamily="34" charset="0"/>
                <a:ea typeface="Calibri" pitchFamily="34" charset="-122"/>
                <a:cs typeface="Calibri" pitchFamily="34" charset="-120"/>
              </a:rPr>
              <a:t>Client Assignment Date</a:t>
            </a:r>
            <a:r>
              <a:rPr lang="en-US" sz="730" dirty="0">
                <a:solidFill>
                  <a:srgbClr val="1A2340"/>
                </a:solidFill>
                <a:latin typeface="Calibri" pitchFamily="34" charset="0"/>
                <a:ea typeface="Calibri" pitchFamily="34" charset="-122"/>
                <a:cs typeface="Calibri" pitchFamily="34" charset="-120"/>
              </a:rPr>
              <a:t> to the date </a:t>
            </a:r>
            <a:r>
              <a:rPr lang="en-US" sz="730" i="1" dirty="0">
                <a:solidFill>
                  <a:srgbClr val="888888"/>
                </a:solidFill>
                <a:latin typeface="Calibri" pitchFamily="34" charset="0"/>
                <a:ea typeface="Calibri" pitchFamily="34" charset="-122"/>
                <a:cs typeface="Calibri" pitchFamily="34" charset="-120"/>
              </a:rPr>
              <a:t>on or before</a:t>
            </a:r>
            <a:r>
              <a:rPr lang="en-US" sz="730" dirty="0">
                <a:solidFill>
                  <a:srgbClr val="1A2340"/>
                </a:solidFill>
                <a:latin typeface="Calibri" pitchFamily="34" charset="0"/>
                <a:ea typeface="Calibri" pitchFamily="34" charset="-122"/>
                <a:cs typeface="Calibri" pitchFamily="34" charset="-120"/>
              </a:rPr>
              <a:t> their first session.</a:t>
            </a:r>
            <a:endParaRPr lang="en-US" sz="730" dirty="0"/>
          </a:p>
        </p:txBody>
      </p:sp>
      <p:sp>
        <p:nvSpPr>
          <p:cNvPr id="28" name="Text 26"/>
          <p:cNvSpPr/>
          <p:nvPr/>
        </p:nvSpPr>
        <p:spPr>
          <a:xfrm>
            <a:off x="2244030" y="2375743"/>
            <a:ext cx="6699349" cy="277862"/>
          </a:xfrm>
          <a:prstGeom prst="roundRect">
            <a:avLst>
              <a:gd name="adj" fmla="val 12798"/>
            </a:avLst>
          </a:prstGeom>
          <a:solidFill>
            <a:srgbClr val="FFFFFF"/>
          </a:solidFill>
          <a:ln/>
          <a:effectLst>
            <a:outerShdw blurRad="29210" dist="7620" dir="5400000" algn="bl" rotWithShape="0">
              <a:srgbClr val="367689">
                <a:alpha val="10000"/>
              </a:srgbClr>
            </a:outerShdw>
          </a:effectLst>
        </p:spPr>
        <p:txBody>
          <a:bodyPr wrap="square" rtlCol="0" anchor="t"/>
          <a:lstStyle/>
          <a:p>
            <a:pPr marL="0" indent="0">
              <a:buNone/>
            </a:pPr>
            <a:endParaRPr lang="en-US" dirty="0"/>
          </a:p>
        </p:txBody>
      </p:sp>
      <p:sp>
        <p:nvSpPr>
          <p:cNvPr id="29" name="Text 27"/>
          <p:cNvSpPr/>
          <p:nvPr/>
        </p:nvSpPr>
        <p:spPr>
          <a:xfrm>
            <a:off x="2244030" y="2375743"/>
            <a:ext cx="28575" cy="277862"/>
          </a:xfrm>
          <a:custGeom>
            <a:avLst/>
            <a:gdLst/>
            <a:ahLst/>
            <a:cxnLst/>
            <a:rect l="l" t="t" r="r" b="b"/>
            <a:pathLst>
              <a:path w="28575" h="277862">
                <a:moveTo>
                  <a:pt x="0" y="35560"/>
                </a:moveTo>
                <a:lnTo>
                  <a:pt x="3572" y="20027"/>
                </a:lnTo>
                <a:lnTo>
                  <a:pt x="7144" y="14182"/>
                </a:lnTo>
                <a:lnTo>
                  <a:pt x="10716" y="10118"/>
                </a:lnTo>
                <a:lnTo>
                  <a:pt x="14288" y="7064"/>
                </a:lnTo>
                <a:lnTo>
                  <a:pt x="17859" y="4718"/>
                </a:lnTo>
                <a:lnTo>
                  <a:pt x="21431" y="2927"/>
                </a:lnTo>
                <a:lnTo>
                  <a:pt x="25003" y="1603"/>
                </a:lnTo>
                <a:lnTo>
                  <a:pt x="28575" y="693"/>
                </a:lnTo>
                <a:lnTo>
                  <a:pt x="28575" y="277169"/>
                </a:lnTo>
                <a:lnTo>
                  <a:pt x="25003" y="276259"/>
                </a:lnTo>
                <a:lnTo>
                  <a:pt x="21431" y="274935"/>
                </a:lnTo>
                <a:lnTo>
                  <a:pt x="17859" y="273144"/>
                </a:lnTo>
                <a:lnTo>
                  <a:pt x="14288" y="270798"/>
                </a:lnTo>
                <a:lnTo>
                  <a:pt x="10716" y="267744"/>
                </a:lnTo>
                <a:lnTo>
                  <a:pt x="7144" y="263680"/>
                </a:lnTo>
                <a:lnTo>
                  <a:pt x="3572" y="257835"/>
                </a:lnTo>
                <a:lnTo>
                  <a:pt x="0" y="242302"/>
                </a:lnTo>
                <a:close/>
              </a:path>
            </a:pathLst>
          </a:custGeom>
          <a:solidFill>
            <a:srgbClr val="367689"/>
          </a:solidFill>
          <a:ln/>
        </p:spPr>
        <p:txBody>
          <a:bodyPr wrap="square" rtlCol="0" anchor="t"/>
          <a:lstStyle/>
          <a:p>
            <a:pPr marL="0" indent="0">
              <a:buNone/>
            </a:pPr>
            <a:endParaRPr lang="en-US" dirty="0"/>
          </a:p>
        </p:txBody>
      </p:sp>
      <p:sp>
        <p:nvSpPr>
          <p:cNvPr id="30" name="Text 28"/>
          <p:cNvSpPr/>
          <p:nvPr/>
        </p:nvSpPr>
        <p:spPr>
          <a:xfrm>
            <a:off x="2358926" y="2432745"/>
            <a:ext cx="203820" cy="171450"/>
          </a:xfrm>
          <a:prstGeom prst="rect">
            <a:avLst/>
          </a:prstGeom>
          <a:noFill/>
          <a:ln/>
        </p:spPr>
        <p:txBody>
          <a:bodyPr wrap="none" lIns="0" tIns="0" rIns="0" bIns="0" rtlCol="0" anchor="t"/>
          <a:lstStyle/>
          <a:p>
            <a:pPr marL="0" indent="0" algn="l">
              <a:lnSpc>
                <a:spcPts val="1350"/>
              </a:lnSpc>
              <a:buNone/>
            </a:pPr>
            <a:r>
              <a:rPr lang="en-US" sz="900" b="1" dirty="0">
                <a:solidFill>
                  <a:srgbClr val="367689"/>
                </a:solidFill>
                <a:latin typeface="Calibri Light" pitchFamily="34" charset="0"/>
                <a:ea typeface="Calibri Light" pitchFamily="34" charset="-122"/>
                <a:cs typeface="Calibri Light" pitchFamily="34" charset="-120"/>
              </a:rPr>
              <a:t>6</a:t>
            </a:r>
            <a:endParaRPr lang="en-US" sz="900" dirty="0"/>
          </a:p>
        </p:txBody>
      </p:sp>
      <p:sp>
        <p:nvSpPr>
          <p:cNvPr id="31" name="Text 29"/>
          <p:cNvSpPr/>
          <p:nvPr/>
        </p:nvSpPr>
        <p:spPr>
          <a:xfrm>
            <a:off x="2615208" y="2425154"/>
            <a:ext cx="3775338" cy="127843"/>
          </a:xfrm>
          <a:prstGeom prst="rect">
            <a:avLst/>
          </a:prstGeom>
          <a:noFill/>
          <a:ln/>
        </p:spPr>
        <p:txBody>
          <a:bodyPr wrap="none" lIns="0" tIns="0" rIns="0" bIns="0" rtlCol="0" anchor="ctr"/>
          <a:lstStyle/>
          <a:p>
            <a:pPr marL="0" indent="0" algn="l">
              <a:lnSpc>
                <a:spcPts val="1007"/>
              </a:lnSpc>
              <a:buNone/>
            </a:pPr>
            <a:r>
              <a:rPr lang="en-US" sz="730" i="1" dirty="0">
                <a:solidFill>
                  <a:srgbClr val="888888"/>
                </a:solidFill>
                <a:latin typeface="Calibri" pitchFamily="34" charset="0"/>
                <a:ea typeface="Calibri" pitchFamily="34" charset="-122"/>
                <a:cs typeface="Calibri" pitchFamily="34" charset="-120"/>
              </a:rPr>
              <a:t>Optional:</a:t>
            </a:r>
            <a:r>
              <a:rPr lang="en-US" sz="730" dirty="0">
                <a:solidFill>
                  <a:srgbClr val="1A2340"/>
                </a:solidFill>
                <a:latin typeface="Calibri" pitchFamily="34" charset="0"/>
                <a:ea typeface="Calibri" pitchFamily="34" charset="-122"/>
                <a:cs typeface="Calibri" pitchFamily="34" charset="-120"/>
              </a:rPr>
              <a:t> Schedule a </a:t>
            </a:r>
            <a:r>
              <a:rPr lang="en-US" sz="730" b="1" dirty="0">
                <a:solidFill>
                  <a:srgbClr val="367689"/>
                </a:solidFill>
                <a:latin typeface="Calibri" pitchFamily="34" charset="0"/>
                <a:ea typeface="Calibri" pitchFamily="34" charset="-122"/>
                <a:cs typeface="Calibri" pitchFamily="34" charset="-120"/>
              </a:rPr>
              <a:t>recurring group appointment</a:t>
            </a:r>
            <a:r>
              <a:rPr lang="en-US" sz="730" dirty="0">
                <a:solidFill>
                  <a:srgbClr val="1A2340"/>
                </a:solidFill>
                <a:latin typeface="Calibri" pitchFamily="34" charset="0"/>
                <a:ea typeface="Calibri" pitchFamily="34" charset="-122"/>
                <a:cs typeface="Calibri" pitchFamily="34" charset="-120"/>
              </a:rPr>
              <a:t> using the scheduling calendar.</a:t>
            </a:r>
            <a:endParaRPr lang="en-US" sz="730" dirty="0"/>
          </a:p>
        </p:txBody>
      </p:sp>
      <p:sp>
        <p:nvSpPr>
          <p:cNvPr id="32" name="Text 30"/>
          <p:cNvSpPr/>
          <p:nvPr/>
        </p:nvSpPr>
        <p:spPr>
          <a:xfrm>
            <a:off x="0" y="2696766"/>
            <a:ext cx="9144000" cy="232023"/>
          </a:xfrm>
          <a:prstGeom prst="rect">
            <a:avLst/>
          </a:prstGeom>
          <a:solidFill>
            <a:srgbClr val="F4B753"/>
          </a:solidFill>
          <a:ln/>
        </p:spPr>
        <p:txBody>
          <a:bodyPr wrap="none" rtlCol="0" anchor="t"/>
          <a:lstStyle/>
          <a:p>
            <a:pPr marL="0" indent="0">
              <a:buNone/>
            </a:pPr>
            <a:endParaRPr lang="en-US" dirty="0"/>
          </a:p>
        </p:txBody>
      </p:sp>
      <p:sp>
        <p:nvSpPr>
          <p:cNvPr id="33" name="Text 31"/>
          <p:cNvSpPr/>
          <p:nvPr/>
        </p:nvSpPr>
        <p:spPr>
          <a:xfrm>
            <a:off x="424904" y="2746177"/>
            <a:ext cx="4766280" cy="133201"/>
          </a:xfrm>
          <a:prstGeom prst="rect">
            <a:avLst/>
          </a:prstGeom>
          <a:noFill/>
          <a:ln/>
        </p:spPr>
        <p:txBody>
          <a:bodyPr wrap="none" lIns="0" tIns="0" rIns="0" bIns="0" rtlCol="0" anchor="ctr"/>
          <a:lstStyle/>
          <a:p>
            <a:pPr marL="0" indent="0" algn="l">
              <a:buNone/>
            </a:pPr>
            <a:r>
              <a:rPr lang="en-US" sz="700" b="1" kern="0" spc="7" dirty="0">
                <a:solidFill>
                  <a:srgbClr val="141A42"/>
                </a:solidFill>
                <a:latin typeface="Calibri" pitchFamily="34" charset="0"/>
                <a:ea typeface="Calibri" pitchFamily="34" charset="-122"/>
                <a:cs typeface="Calibri" pitchFamily="34" charset="-120"/>
              </a:rPr>
              <a:t>Follow along with presenter  OR  open  for hands-on practice.</a:t>
            </a:r>
            <a:endParaRPr lang="en-US" sz="700" dirty="0"/>
          </a:p>
        </p:txBody>
      </p:sp>
      <p:pic>
        <p:nvPicPr>
          <p:cNvPr id="3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9548" y="2750278"/>
            <a:ext cx="132588" cy="132588"/>
          </a:xfrm>
          <a:prstGeom prst="rect">
            <a:avLst/>
          </a:prstGeom>
        </p:spPr>
      </p:pic>
      <p:sp>
        <p:nvSpPr>
          <p:cNvPr id="35" name="Text 32"/>
          <p:cNvSpPr/>
          <p:nvPr/>
        </p:nvSpPr>
        <p:spPr>
          <a:xfrm>
            <a:off x="2148036" y="2746177"/>
            <a:ext cx="1744831" cy="133201"/>
          </a:xfrm>
          <a:prstGeom prst="rect">
            <a:avLst/>
          </a:prstGeom>
          <a:noFill/>
          <a:ln/>
        </p:spPr>
        <p:txBody>
          <a:bodyPr wrap="none" lIns="0" tIns="0" rIns="0" bIns="0" rtlCol="0" anchor="ctr"/>
          <a:lstStyle/>
          <a:p>
            <a:pPr marL="0" indent="0" algn="l">
              <a:lnSpc>
                <a:spcPts val="1050"/>
              </a:lnSpc>
              <a:buNone/>
            </a:pPr>
            <a:r>
              <a:rPr lang="en-US" sz="700" b="1" dirty="0">
                <a:solidFill>
                  <a:srgbClr val="141A42"/>
                </a:solidFill>
                <a:latin typeface="Calibri" pitchFamily="34" charset="0"/>
                <a:ea typeface="Calibri" pitchFamily="34" charset="-122"/>
                <a:cs typeface="Calibri" pitchFamily="34" charset="-120"/>
              </a:rPr>
              <a:t>Avatar NX UAT (testing environment)</a:t>
            </a:r>
            <a:endParaRPr lang="en-US" sz="700" dirty="0"/>
          </a:p>
        </p:txBody>
      </p:sp>
      <p:sp>
        <p:nvSpPr>
          <p:cNvPr id="36" name="Text 33"/>
          <p:cNvSpPr/>
          <p:nvPr/>
        </p:nvSpPr>
        <p:spPr>
          <a:xfrm>
            <a:off x="0" y="2928789"/>
            <a:ext cx="9144000" cy="70991"/>
          </a:xfrm>
          <a:prstGeom prst="rect">
            <a:avLst/>
          </a:prstGeom>
          <a:solidFill>
            <a:srgbClr val="141A42"/>
          </a:solidFill>
          <a:ln/>
        </p:spPr>
        <p:txBody>
          <a:bodyPr wrap="none" rtlCol="0" anchor="t"/>
          <a:lstStyle/>
          <a:p>
            <a:pPr marL="0" indent="0">
              <a:buNone/>
            </a:pP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449461"/>
          </a:xfrm>
          <a:prstGeom prst="rect">
            <a:avLst/>
          </a:prstGeom>
          <a:solidFill>
            <a:srgbClr val="367689"/>
          </a:solidFill>
          <a:ln/>
        </p:spPr>
        <p:txBody>
          <a:bodyPr wrap="square" rtlCol="0" anchor="t"/>
          <a:lstStyle/>
          <a:p>
            <a:pPr marL="0" indent="0">
              <a:buNone/>
            </a:pPr>
            <a:endParaRPr lang="en-US" dirty="0"/>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750" y="152846"/>
            <a:ext cx="157460" cy="157460"/>
          </a:xfrm>
          <a:prstGeom prst="rect">
            <a:avLst/>
          </a:prstGeom>
        </p:spPr>
      </p:pic>
      <p:sp>
        <p:nvSpPr>
          <p:cNvPr id="4" name="Text 1"/>
          <p:cNvSpPr/>
          <p:nvPr/>
        </p:nvSpPr>
        <p:spPr>
          <a:xfrm>
            <a:off x="529530" y="92571"/>
            <a:ext cx="3722696" cy="278160"/>
          </a:xfrm>
          <a:prstGeom prst="rect">
            <a:avLst/>
          </a:prstGeom>
          <a:noFill/>
          <a:ln/>
        </p:spPr>
        <p:txBody>
          <a:bodyPr wrap="none" lIns="0" tIns="0" rIns="0" bIns="0" rtlCol="0" anchor="ctr"/>
          <a:lstStyle/>
          <a:p>
            <a:pPr marL="0" indent="0" algn="l">
              <a:lnSpc>
                <a:spcPts val="2190"/>
              </a:lnSpc>
              <a:buNone/>
            </a:pPr>
            <a:r>
              <a:rPr lang="en-US" sz="1460" b="1" dirty="0">
                <a:solidFill>
                  <a:srgbClr val="FFFFFF"/>
                </a:solidFill>
                <a:latin typeface="Calibri Light" pitchFamily="34" charset="0"/>
                <a:ea typeface="Calibri Light" pitchFamily="34" charset="-122"/>
                <a:cs typeface="Calibri Light" pitchFamily="34" charset="-120"/>
              </a:rPr>
              <a:t>Avatar NX: Scheduling &amp; Group Notes</a:t>
            </a:r>
            <a:endParaRPr lang="en-US" sz="1460" dirty="0"/>
          </a:p>
        </p:txBody>
      </p:sp>
      <p:sp>
        <p:nvSpPr>
          <p:cNvPr id="5" name="Text 2"/>
          <p:cNvSpPr/>
          <p:nvPr/>
        </p:nvSpPr>
        <p:spPr>
          <a:xfrm>
            <a:off x="0" y="449461"/>
            <a:ext cx="9144000" cy="29170"/>
          </a:xfrm>
          <a:prstGeom prst="rect">
            <a:avLst/>
          </a:prstGeom>
          <a:solidFill>
            <a:srgbClr val="F4B753"/>
          </a:solidFill>
          <a:ln/>
        </p:spPr>
        <p:txBody>
          <a:bodyPr wrap="none" rtlCol="0" anchor="t"/>
          <a:lstStyle/>
          <a:p>
            <a:pPr marL="0" indent="0">
              <a:buNone/>
            </a:pPr>
            <a:endParaRPr lang="en-US" dirty="0"/>
          </a:p>
        </p:txBody>
      </p:sp>
      <p:sp>
        <p:nvSpPr>
          <p:cNvPr id="6" name="Text 3"/>
          <p:cNvSpPr/>
          <p:nvPr/>
        </p:nvSpPr>
        <p:spPr>
          <a:xfrm>
            <a:off x="415230" y="578941"/>
            <a:ext cx="980465" cy="182761"/>
          </a:xfrm>
          <a:prstGeom prst="rect">
            <a:avLst/>
          </a:prstGeom>
          <a:noFill/>
          <a:ln/>
        </p:spPr>
        <p:txBody>
          <a:bodyPr wrap="none" lIns="0" tIns="0" rIns="0" bIns="0" rtlCol="0" anchor="ctr"/>
          <a:lstStyle/>
          <a:p>
            <a:pPr marL="0" indent="0" algn="l">
              <a:lnSpc>
                <a:spcPts val="1440"/>
              </a:lnSpc>
              <a:buNone/>
            </a:pPr>
            <a:r>
              <a:rPr lang="en-US" sz="960" b="1" kern="0" spc="67" dirty="0">
                <a:solidFill>
                  <a:srgbClr val="55A49C"/>
                </a:solidFill>
                <a:latin typeface="Calibri" pitchFamily="34" charset="0"/>
                <a:ea typeface="Calibri" pitchFamily="34" charset="-122"/>
                <a:cs typeface="Calibri" pitchFamily="34" charset="-120"/>
              </a:rPr>
              <a:t>SCHEDULING</a:t>
            </a:r>
            <a:endParaRPr lang="en-US" sz="96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0620" y="591592"/>
            <a:ext cx="157460" cy="157460"/>
          </a:xfrm>
          <a:prstGeom prst="rect">
            <a:avLst/>
          </a:prstGeom>
        </p:spPr>
      </p:pic>
      <p:sp>
        <p:nvSpPr>
          <p:cNvPr id="8" name="Text 4"/>
          <p:cNvSpPr/>
          <p:nvPr/>
        </p:nvSpPr>
        <p:spPr>
          <a:xfrm>
            <a:off x="200620" y="832693"/>
            <a:ext cx="4085481" cy="261045"/>
          </a:xfrm>
          <a:prstGeom prst="roundRect">
            <a:avLst>
              <a:gd name="adj" fmla="val 13622"/>
            </a:avLst>
          </a:prstGeom>
          <a:solidFill>
            <a:srgbClr val="EEF8F7"/>
          </a:solidFill>
          <a:ln/>
        </p:spPr>
        <p:txBody>
          <a:bodyPr wrap="none" rtlCol="0" anchor="t"/>
          <a:lstStyle/>
          <a:p>
            <a:pPr marL="0" indent="0">
              <a:buNone/>
            </a:pPr>
            <a:endParaRPr lang="en-US" dirty="0"/>
          </a:p>
        </p:txBody>
      </p:sp>
      <p:sp>
        <p:nvSpPr>
          <p:cNvPr id="9" name="Text 5"/>
          <p:cNvSpPr/>
          <p:nvPr/>
        </p:nvSpPr>
        <p:spPr>
          <a:xfrm>
            <a:off x="200620" y="832693"/>
            <a:ext cx="28575" cy="261045"/>
          </a:xfrm>
          <a:custGeom>
            <a:avLst/>
            <a:gdLst/>
            <a:ahLst/>
            <a:cxnLst/>
            <a:rect l="l" t="t" r="r" b="b"/>
            <a:pathLst>
              <a:path w="28575" h="261045">
                <a:moveTo>
                  <a:pt x="0" y="35560"/>
                </a:moveTo>
                <a:lnTo>
                  <a:pt x="3572" y="20027"/>
                </a:lnTo>
                <a:lnTo>
                  <a:pt x="7144" y="14182"/>
                </a:lnTo>
                <a:lnTo>
                  <a:pt x="10716" y="10118"/>
                </a:lnTo>
                <a:lnTo>
                  <a:pt x="14288" y="7064"/>
                </a:lnTo>
                <a:lnTo>
                  <a:pt x="17859" y="4718"/>
                </a:lnTo>
                <a:lnTo>
                  <a:pt x="21431" y="2927"/>
                </a:lnTo>
                <a:lnTo>
                  <a:pt x="25003" y="1603"/>
                </a:lnTo>
                <a:lnTo>
                  <a:pt x="28575" y="693"/>
                </a:lnTo>
                <a:lnTo>
                  <a:pt x="28575" y="260352"/>
                </a:lnTo>
                <a:lnTo>
                  <a:pt x="25003" y="259441"/>
                </a:lnTo>
                <a:lnTo>
                  <a:pt x="21431" y="258117"/>
                </a:lnTo>
                <a:lnTo>
                  <a:pt x="17859" y="256326"/>
                </a:lnTo>
                <a:lnTo>
                  <a:pt x="14288" y="253980"/>
                </a:lnTo>
                <a:lnTo>
                  <a:pt x="10716" y="250926"/>
                </a:lnTo>
                <a:lnTo>
                  <a:pt x="7144" y="246863"/>
                </a:lnTo>
                <a:lnTo>
                  <a:pt x="3572" y="241018"/>
                </a:lnTo>
                <a:lnTo>
                  <a:pt x="0" y="225485"/>
                </a:lnTo>
                <a:close/>
              </a:path>
            </a:pathLst>
          </a:custGeom>
          <a:solidFill>
            <a:srgbClr val="55A49C"/>
          </a:solidFill>
          <a:ln/>
        </p:spPr>
        <p:txBody>
          <a:bodyPr wrap="none" rtlCol="0" anchor="t"/>
          <a:lstStyle/>
          <a:p>
            <a:pPr marL="0" indent="0">
              <a:buNone/>
            </a:pPr>
            <a:endParaRPr lang="en-US" dirty="0"/>
          </a:p>
        </p:txBody>
      </p:sp>
      <p:sp>
        <p:nvSpPr>
          <p:cNvPr id="10" name="Text 6"/>
          <p:cNvSpPr/>
          <p:nvPr/>
        </p:nvSpPr>
        <p:spPr>
          <a:xfrm>
            <a:off x="315516" y="889695"/>
            <a:ext cx="146685" cy="154632"/>
          </a:xfrm>
          <a:prstGeom prst="rect">
            <a:avLst/>
          </a:prstGeom>
          <a:noFill/>
          <a:ln/>
        </p:spPr>
        <p:txBody>
          <a:bodyPr wrap="none" lIns="0" tIns="0" rIns="0" bIns="0" rtlCol="0" anchor="ctr"/>
          <a:lstStyle/>
          <a:p>
            <a:pPr marL="0" indent="0" algn="l">
              <a:lnSpc>
                <a:spcPts val="1218"/>
              </a:lnSpc>
              <a:buNone/>
            </a:pPr>
            <a:r>
              <a:rPr lang="en-US" sz="840" dirty="0">
                <a:solidFill>
                  <a:srgbClr val="1A1A2E"/>
                </a:solidFill>
                <a:latin typeface="Calibri" pitchFamily="34" charset="0"/>
                <a:ea typeface="Calibri" pitchFamily="34" charset="-122"/>
                <a:cs typeface="Calibri" pitchFamily="34" charset="-120"/>
              </a:rPr>
              <a:t>📅</a:t>
            </a:r>
            <a:endParaRPr lang="en-US" sz="840" dirty="0"/>
          </a:p>
        </p:txBody>
      </p:sp>
      <p:sp>
        <p:nvSpPr>
          <p:cNvPr id="11" name="Text 7"/>
          <p:cNvSpPr/>
          <p:nvPr/>
        </p:nvSpPr>
        <p:spPr>
          <a:xfrm>
            <a:off x="506016" y="882104"/>
            <a:ext cx="3154710" cy="140047"/>
          </a:xfrm>
          <a:prstGeom prst="rect">
            <a:avLst/>
          </a:prstGeom>
          <a:noFill/>
          <a:ln/>
        </p:spPr>
        <p:txBody>
          <a:bodyPr wrap="none" lIns="0" tIns="0" rIns="0" bIns="0" rtlCol="0" anchor="ctr"/>
          <a:lstStyle/>
          <a:p>
            <a:pPr marL="0" indent="0" algn="l">
              <a:lnSpc>
                <a:spcPts val="1102"/>
              </a:lnSpc>
              <a:buNone/>
            </a:pPr>
            <a:r>
              <a:rPr lang="en-US" sz="760" dirty="0">
                <a:solidFill>
                  <a:srgbClr val="1A1A2E"/>
                </a:solidFill>
                <a:latin typeface="Calibri" pitchFamily="34" charset="0"/>
                <a:ea typeface="Calibri" pitchFamily="34" charset="-122"/>
                <a:cs typeface="Calibri" pitchFamily="34" charset="-120"/>
              </a:rPr>
              <a:t>Use the Scheduling Calendar to set recurring group appointments</a:t>
            </a:r>
            <a:endParaRPr lang="en-US" sz="760" dirty="0"/>
          </a:p>
        </p:txBody>
      </p:sp>
      <p:sp>
        <p:nvSpPr>
          <p:cNvPr id="12" name="Text 8"/>
          <p:cNvSpPr/>
          <p:nvPr/>
        </p:nvSpPr>
        <p:spPr>
          <a:xfrm>
            <a:off x="200620" y="1136898"/>
            <a:ext cx="4085481" cy="261045"/>
          </a:xfrm>
          <a:prstGeom prst="roundRect">
            <a:avLst>
              <a:gd name="adj" fmla="val 13622"/>
            </a:avLst>
          </a:prstGeom>
          <a:solidFill>
            <a:srgbClr val="EEF8F7"/>
          </a:solidFill>
          <a:ln/>
        </p:spPr>
        <p:txBody>
          <a:bodyPr wrap="none" rtlCol="0" anchor="t"/>
          <a:lstStyle/>
          <a:p>
            <a:pPr marL="0" indent="0">
              <a:buNone/>
            </a:pPr>
            <a:endParaRPr lang="en-US" dirty="0"/>
          </a:p>
        </p:txBody>
      </p:sp>
      <p:sp>
        <p:nvSpPr>
          <p:cNvPr id="13" name="Text 9"/>
          <p:cNvSpPr/>
          <p:nvPr/>
        </p:nvSpPr>
        <p:spPr>
          <a:xfrm>
            <a:off x="200620" y="1136898"/>
            <a:ext cx="28575" cy="261045"/>
          </a:xfrm>
          <a:custGeom>
            <a:avLst/>
            <a:gdLst/>
            <a:ahLst/>
            <a:cxnLst/>
            <a:rect l="l" t="t" r="r" b="b"/>
            <a:pathLst>
              <a:path w="28575" h="261045">
                <a:moveTo>
                  <a:pt x="0" y="35560"/>
                </a:moveTo>
                <a:lnTo>
                  <a:pt x="3572" y="20027"/>
                </a:lnTo>
                <a:lnTo>
                  <a:pt x="7144" y="14182"/>
                </a:lnTo>
                <a:lnTo>
                  <a:pt x="10716" y="10118"/>
                </a:lnTo>
                <a:lnTo>
                  <a:pt x="14288" y="7064"/>
                </a:lnTo>
                <a:lnTo>
                  <a:pt x="17859" y="4718"/>
                </a:lnTo>
                <a:lnTo>
                  <a:pt x="21431" y="2927"/>
                </a:lnTo>
                <a:lnTo>
                  <a:pt x="25003" y="1603"/>
                </a:lnTo>
                <a:lnTo>
                  <a:pt x="28575" y="693"/>
                </a:lnTo>
                <a:lnTo>
                  <a:pt x="28575" y="260352"/>
                </a:lnTo>
                <a:lnTo>
                  <a:pt x="25003" y="259441"/>
                </a:lnTo>
                <a:lnTo>
                  <a:pt x="21431" y="258117"/>
                </a:lnTo>
                <a:lnTo>
                  <a:pt x="17859" y="256326"/>
                </a:lnTo>
                <a:lnTo>
                  <a:pt x="14288" y="253980"/>
                </a:lnTo>
                <a:lnTo>
                  <a:pt x="10716" y="250926"/>
                </a:lnTo>
                <a:lnTo>
                  <a:pt x="7144" y="246863"/>
                </a:lnTo>
                <a:lnTo>
                  <a:pt x="3572" y="241018"/>
                </a:lnTo>
                <a:lnTo>
                  <a:pt x="0" y="225485"/>
                </a:lnTo>
                <a:close/>
              </a:path>
            </a:pathLst>
          </a:custGeom>
          <a:solidFill>
            <a:srgbClr val="55A49C"/>
          </a:solidFill>
          <a:ln/>
        </p:spPr>
        <p:txBody>
          <a:bodyPr wrap="none" rtlCol="0" anchor="t"/>
          <a:lstStyle/>
          <a:p>
            <a:pPr marL="0" indent="0">
              <a:buNone/>
            </a:pPr>
            <a:endParaRPr lang="en-US" dirty="0"/>
          </a:p>
        </p:txBody>
      </p:sp>
      <p:sp>
        <p:nvSpPr>
          <p:cNvPr id="14" name="Text 10"/>
          <p:cNvSpPr/>
          <p:nvPr/>
        </p:nvSpPr>
        <p:spPr>
          <a:xfrm>
            <a:off x="315516" y="1193899"/>
            <a:ext cx="146685" cy="154632"/>
          </a:xfrm>
          <a:prstGeom prst="rect">
            <a:avLst/>
          </a:prstGeom>
          <a:noFill/>
          <a:ln/>
        </p:spPr>
        <p:txBody>
          <a:bodyPr wrap="none" lIns="0" tIns="0" rIns="0" bIns="0" rtlCol="0" anchor="ctr"/>
          <a:lstStyle/>
          <a:p>
            <a:pPr marL="0" indent="0" algn="l">
              <a:lnSpc>
                <a:spcPts val="1218"/>
              </a:lnSpc>
              <a:buNone/>
            </a:pPr>
            <a:r>
              <a:rPr lang="en-US" sz="840" dirty="0">
                <a:solidFill>
                  <a:srgbClr val="1A1A2E"/>
                </a:solidFill>
                <a:latin typeface="Calibri" pitchFamily="34" charset="0"/>
                <a:ea typeface="Calibri" pitchFamily="34" charset="-122"/>
                <a:cs typeface="Calibri" pitchFamily="34" charset="-120"/>
              </a:rPr>
              <a:t>➕</a:t>
            </a:r>
            <a:endParaRPr lang="en-US" sz="840" dirty="0"/>
          </a:p>
        </p:txBody>
      </p:sp>
      <p:sp>
        <p:nvSpPr>
          <p:cNvPr id="15" name="Text 11"/>
          <p:cNvSpPr/>
          <p:nvPr/>
        </p:nvSpPr>
        <p:spPr>
          <a:xfrm>
            <a:off x="506016" y="1186309"/>
            <a:ext cx="3302050" cy="140047"/>
          </a:xfrm>
          <a:prstGeom prst="rect">
            <a:avLst/>
          </a:prstGeom>
          <a:noFill/>
          <a:ln/>
        </p:spPr>
        <p:txBody>
          <a:bodyPr wrap="none" lIns="0" tIns="0" rIns="0" bIns="0" rtlCol="0" anchor="ctr"/>
          <a:lstStyle/>
          <a:p>
            <a:pPr marL="0" indent="0" algn="l">
              <a:lnSpc>
                <a:spcPts val="1102"/>
              </a:lnSpc>
              <a:buNone/>
            </a:pPr>
            <a:r>
              <a:rPr lang="en-US" sz="760" dirty="0">
                <a:solidFill>
                  <a:srgbClr val="1A1A2E"/>
                </a:solidFill>
                <a:latin typeface="Calibri" pitchFamily="34" charset="0"/>
                <a:ea typeface="Calibri" pitchFamily="34" charset="-122"/>
                <a:cs typeface="Calibri" pitchFamily="34" charset="-120"/>
              </a:rPr>
              <a:t>Add members through the group registration form before scheduling</a:t>
            </a:r>
            <a:endParaRPr lang="en-US" sz="760" dirty="0"/>
          </a:p>
        </p:txBody>
      </p:sp>
      <p:sp>
        <p:nvSpPr>
          <p:cNvPr id="16" name="Text 12"/>
          <p:cNvSpPr/>
          <p:nvPr/>
        </p:nvSpPr>
        <p:spPr>
          <a:xfrm>
            <a:off x="200620" y="1441103"/>
            <a:ext cx="4085481" cy="261045"/>
          </a:xfrm>
          <a:prstGeom prst="roundRect">
            <a:avLst>
              <a:gd name="adj" fmla="val 13622"/>
            </a:avLst>
          </a:prstGeom>
          <a:solidFill>
            <a:srgbClr val="EEF8F7"/>
          </a:solidFill>
          <a:ln/>
        </p:spPr>
        <p:txBody>
          <a:bodyPr wrap="none" rtlCol="0" anchor="t"/>
          <a:lstStyle/>
          <a:p>
            <a:pPr marL="0" indent="0">
              <a:buNone/>
            </a:pPr>
            <a:endParaRPr lang="en-US" dirty="0"/>
          </a:p>
        </p:txBody>
      </p:sp>
      <p:sp>
        <p:nvSpPr>
          <p:cNvPr id="17" name="Text 13"/>
          <p:cNvSpPr/>
          <p:nvPr/>
        </p:nvSpPr>
        <p:spPr>
          <a:xfrm>
            <a:off x="200620" y="1441103"/>
            <a:ext cx="28575" cy="261045"/>
          </a:xfrm>
          <a:custGeom>
            <a:avLst/>
            <a:gdLst/>
            <a:ahLst/>
            <a:cxnLst/>
            <a:rect l="l" t="t" r="r" b="b"/>
            <a:pathLst>
              <a:path w="28575" h="261045">
                <a:moveTo>
                  <a:pt x="0" y="35560"/>
                </a:moveTo>
                <a:lnTo>
                  <a:pt x="3572" y="20027"/>
                </a:lnTo>
                <a:lnTo>
                  <a:pt x="7144" y="14182"/>
                </a:lnTo>
                <a:lnTo>
                  <a:pt x="10716" y="10118"/>
                </a:lnTo>
                <a:lnTo>
                  <a:pt x="14288" y="7064"/>
                </a:lnTo>
                <a:lnTo>
                  <a:pt x="17859" y="4718"/>
                </a:lnTo>
                <a:lnTo>
                  <a:pt x="21431" y="2927"/>
                </a:lnTo>
                <a:lnTo>
                  <a:pt x="25003" y="1603"/>
                </a:lnTo>
                <a:lnTo>
                  <a:pt x="28575" y="693"/>
                </a:lnTo>
                <a:lnTo>
                  <a:pt x="28575" y="260352"/>
                </a:lnTo>
                <a:lnTo>
                  <a:pt x="25003" y="259441"/>
                </a:lnTo>
                <a:lnTo>
                  <a:pt x="21431" y="258117"/>
                </a:lnTo>
                <a:lnTo>
                  <a:pt x="17859" y="256326"/>
                </a:lnTo>
                <a:lnTo>
                  <a:pt x="14288" y="253980"/>
                </a:lnTo>
                <a:lnTo>
                  <a:pt x="10716" y="250926"/>
                </a:lnTo>
                <a:lnTo>
                  <a:pt x="7144" y="246863"/>
                </a:lnTo>
                <a:lnTo>
                  <a:pt x="3572" y="241018"/>
                </a:lnTo>
                <a:lnTo>
                  <a:pt x="0" y="225485"/>
                </a:lnTo>
                <a:close/>
              </a:path>
            </a:pathLst>
          </a:custGeom>
          <a:solidFill>
            <a:srgbClr val="55A49C"/>
          </a:solidFill>
          <a:ln/>
        </p:spPr>
        <p:txBody>
          <a:bodyPr wrap="none" rtlCol="0" anchor="t"/>
          <a:lstStyle/>
          <a:p>
            <a:pPr marL="0" indent="0">
              <a:buNone/>
            </a:pPr>
            <a:endParaRPr lang="en-US" dirty="0"/>
          </a:p>
        </p:txBody>
      </p:sp>
      <p:sp>
        <p:nvSpPr>
          <p:cNvPr id="18" name="Text 14"/>
          <p:cNvSpPr/>
          <p:nvPr/>
        </p:nvSpPr>
        <p:spPr>
          <a:xfrm>
            <a:off x="315516" y="1498104"/>
            <a:ext cx="146685" cy="154632"/>
          </a:xfrm>
          <a:prstGeom prst="rect">
            <a:avLst/>
          </a:prstGeom>
          <a:noFill/>
          <a:ln/>
        </p:spPr>
        <p:txBody>
          <a:bodyPr wrap="none" lIns="0" tIns="0" rIns="0" bIns="0" rtlCol="0" anchor="ctr"/>
          <a:lstStyle/>
          <a:p>
            <a:pPr marL="0" indent="0" algn="l">
              <a:lnSpc>
                <a:spcPts val="1218"/>
              </a:lnSpc>
              <a:buNone/>
            </a:pPr>
            <a:r>
              <a:rPr lang="en-US" sz="840" dirty="0">
                <a:solidFill>
                  <a:srgbClr val="1A1A2E"/>
                </a:solidFill>
                <a:latin typeface="Calibri" pitchFamily="34" charset="0"/>
                <a:ea typeface="Calibri" pitchFamily="34" charset="-122"/>
                <a:cs typeface="Calibri" pitchFamily="34" charset="-120"/>
              </a:rPr>
              <a:t>➖</a:t>
            </a:r>
            <a:endParaRPr lang="en-US" sz="840" dirty="0"/>
          </a:p>
        </p:txBody>
      </p:sp>
      <p:sp>
        <p:nvSpPr>
          <p:cNvPr id="19" name="Text 15"/>
          <p:cNvSpPr/>
          <p:nvPr/>
        </p:nvSpPr>
        <p:spPr>
          <a:xfrm>
            <a:off x="506016" y="1490514"/>
            <a:ext cx="3272909" cy="140047"/>
          </a:xfrm>
          <a:prstGeom prst="rect">
            <a:avLst/>
          </a:prstGeom>
          <a:noFill/>
          <a:ln/>
        </p:spPr>
        <p:txBody>
          <a:bodyPr wrap="none" lIns="0" tIns="0" rIns="0" bIns="0" rtlCol="0" anchor="ctr"/>
          <a:lstStyle/>
          <a:p>
            <a:pPr marL="0" indent="0" algn="l">
              <a:lnSpc>
                <a:spcPts val="1102"/>
              </a:lnSpc>
              <a:buNone/>
            </a:pPr>
            <a:r>
              <a:rPr lang="en-US" sz="760" dirty="0">
                <a:solidFill>
                  <a:srgbClr val="1A1A2E"/>
                </a:solidFill>
                <a:latin typeface="Calibri" pitchFamily="34" charset="0"/>
                <a:ea typeface="Calibri" pitchFamily="34" charset="-122"/>
                <a:cs typeface="Calibri" pitchFamily="34" charset="-120"/>
              </a:rPr>
              <a:t>Remove members when they transition out — do not delete the group</a:t>
            </a:r>
            <a:endParaRPr lang="en-US" sz="760" dirty="0"/>
          </a:p>
        </p:txBody>
      </p:sp>
      <p:sp>
        <p:nvSpPr>
          <p:cNvPr id="20" name="Text 16"/>
          <p:cNvSpPr/>
          <p:nvPr/>
        </p:nvSpPr>
        <p:spPr>
          <a:xfrm>
            <a:off x="200620" y="1745307"/>
            <a:ext cx="4085481" cy="261045"/>
          </a:xfrm>
          <a:prstGeom prst="roundRect">
            <a:avLst>
              <a:gd name="adj" fmla="val 13622"/>
            </a:avLst>
          </a:prstGeom>
          <a:solidFill>
            <a:srgbClr val="EEF8F7"/>
          </a:solidFill>
          <a:ln/>
        </p:spPr>
        <p:txBody>
          <a:bodyPr wrap="none" rtlCol="0" anchor="t"/>
          <a:lstStyle/>
          <a:p>
            <a:pPr marL="0" indent="0">
              <a:buNone/>
            </a:pPr>
            <a:endParaRPr lang="en-US" dirty="0"/>
          </a:p>
        </p:txBody>
      </p:sp>
      <p:sp>
        <p:nvSpPr>
          <p:cNvPr id="21" name="Text 17"/>
          <p:cNvSpPr/>
          <p:nvPr/>
        </p:nvSpPr>
        <p:spPr>
          <a:xfrm>
            <a:off x="200620" y="1745307"/>
            <a:ext cx="28575" cy="261045"/>
          </a:xfrm>
          <a:custGeom>
            <a:avLst/>
            <a:gdLst/>
            <a:ahLst/>
            <a:cxnLst/>
            <a:rect l="l" t="t" r="r" b="b"/>
            <a:pathLst>
              <a:path w="28575" h="261045">
                <a:moveTo>
                  <a:pt x="0" y="35560"/>
                </a:moveTo>
                <a:lnTo>
                  <a:pt x="3572" y="20027"/>
                </a:lnTo>
                <a:lnTo>
                  <a:pt x="7144" y="14182"/>
                </a:lnTo>
                <a:lnTo>
                  <a:pt x="10716" y="10118"/>
                </a:lnTo>
                <a:lnTo>
                  <a:pt x="14288" y="7064"/>
                </a:lnTo>
                <a:lnTo>
                  <a:pt x="17859" y="4718"/>
                </a:lnTo>
                <a:lnTo>
                  <a:pt x="21431" y="2927"/>
                </a:lnTo>
                <a:lnTo>
                  <a:pt x="25003" y="1603"/>
                </a:lnTo>
                <a:lnTo>
                  <a:pt x="28575" y="693"/>
                </a:lnTo>
                <a:lnTo>
                  <a:pt x="28575" y="260352"/>
                </a:lnTo>
                <a:lnTo>
                  <a:pt x="25003" y="259441"/>
                </a:lnTo>
                <a:lnTo>
                  <a:pt x="21431" y="258117"/>
                </a:lnTo>
                <a:lnTo>
                  <a:pt x="17859" y="256326"/>
                </a:lnTo>
                <a:lnTo>
                  <a:pt x="14288" y="253980"/>
                </a:lnTo>
                <a:lnTo>
                  <a:pt x="10716" y="250926"/>
                </a:lnTo>
                <a:lnTo>
                  <a:pt x="7144" y="246863"/>
                </a:lnTo>
                <a:lnTo>
                  <a:pt x="3572" y="241018"/>
                </a:lnTo>
                <a:lnTo>
                  <a:pt x="0" y="225485"/>
                </a:lnTo>
                <a:close/>
              </a:path>
            </a:pathLst>
          </a:custGeom>
          <a:solidFill>
            <a:srgbClr val="55A49C"/>
          </a:solidFill>
          <a:ln/>
        </p:spPr>
        <p:txBody>
          <a:bodyPr wrap="none" rtlCol="0" anchor="t"/>
          <a:lstStyle/>
          <a:p>
            <a:pPr marL="0" indent="0">
              <a:buNone/>
            </a:pPr>
            <a:endParaRPr lang="en-US" dirty="0"/>
          </a:p>
        </p:txBody>
      </p:sp>
      <p:sp>
        <p:nvSpPr>
          <p:cNvPr id="22" name="Text 18"/>
          <p:cNvSpPr/>
          <p:nvPr/>
        </p:nvSpPr>
        <p:spPr>
          <a:xfrm>
            <a:off x="315516" y="1802309"/>
            <a:ext cx="146685" cy="154632"/>
          </a:xfrm>
          <a:prstGeom prst="rect">
            <a:avLst/>
          </a:prstGeom>
          <a:noFill/>
          <a:ln/>
        </p:spPr>
        <p:txBody>
          <a:bodyPr wrap="none" lIns="0" tIns="0" rIns="0" bIns="0" rtlCol="0" anchor="ctr"/>
          <a:lstStyle/>
          <a:p>
            <a:pPr marL="0" indent="0" algn="l">
              <a:lnSpc>
                <a:spcPts val="1218"/>
              </a:lnSpc>
              <a:buNone/>
            </a:pPr>
            <a:r>
              <a:rPr lang="en-US" sz="840" dirty="0">
                <a:solidFill>
                  <a:srgbClr val="1A1A2E"/>
                </a:solidFill>
                <a:latin typeface="Calibri" pitchFamily="34" charset="0"/>
                <a:ea typeface="Calibri" pitchFamily="34" charset="-122"/>
                <a:cs typeface="Calibri" pitchFamily="34" charset="-120"/>
              </a:rPr>
              <a:t>❌</a:t>
            </a:r>
            <a:endParaRPr lang="en-US" sz="840" dirty="0"/>
          </a:p>
        </p:txBody>
      </p:sp>
      <p:sp>
        <p:nvSpPr>
          <p:cNvPr id="23" name="Text 19"/>
          <p:cNvSpPr/>
          <p:nvPr/>
        </p:nvSpPr>
        <p:spPr>
          <a:xfrm>
            <a:off x="506016" y="1794718"/>
            <a:ext cx="2771626" cy="140047"/>
          </a:xfrm>
          <a:prstGeom prst="rect">
            <a:avLst/>
          </a:prstGeom>
          <a:noFill/>
          <a:ln/>
        </p:spPr>
        <p:txBody>
          <a:bodyPr wrap="none" lIns="0" tIns="0" rIns="0" bIns="0" rtlCol="0" anchor="ctr"/>
          <a:lstStyle/>
          <a:p>
            <a:pPr marL="0" indent="0" algn="l">
              <a:lnSpc>
                <a:spcPts val="1102"/>
              </a:lnSpc>
              <a:buNone/>
            </a:pPr>
            <a:r>
              <a:rPr lang="en-US" sz="760" dirty="0">
                <a:solidFill>
                  <a:srgbClr val="1A1A2E"/>
                </a:solidFill>
                <a:latin typeface="Calibri" pitchFamily="34" charset="0"/>
                <a:ea typeface="Calibri" pitchFamily="34" charset="-122"/>
                <a:cs typeface="Calibri" pitchFamily="34" charset="-120"/>
              </a:rPr>
              <a:t>Cancel sessions properly when a session does not occur</a:t>
            </a:r>
            <a:endParaRPr lang="en-US" sz="760" dirty="0"/>
          </a:p>
        </p:txBody>
      </p:sp>
      <p:sp>
        <p:nvSpPr>
          <p:cNvPr id="24" name="Text 20"/>
          <p:cNvSpPr/>
          <p:nvPr/>
        </p:nvSpPr>
        <p:spPr>
          <a:xfrm>
            <a:off x="200620" y="2049512"/>
            <a:ext cx="4085481" cy="261045"/>
          </a:xfrm>
          <a:prstGeom prst="roundRect">
            <a:avLst>
              <a:gd name="adj" fmla="val 13622"/>
            </a:avLst>
          </a:prstGeom>
          <a:solidFill>
            <a:srgbClr val="EEF8F7"/>
          </a:solidFill>
          <a:ln/>
        </p:spPr>
        <p:txBody>
          <a:bodyPr wrap="none" rtlCol="0" anchor="t"/>
          <a:lstStyle/>
          <a:p>
            <a:pPr marL="0" indent="0">
              <a:buNone/>
            </a:pPr>
            <a:endParaRPr lang="en-US" dirty="0"/>
          </a:p>
        </p:txBody>
      </p:sp>
      <p:sp>
        <p:nvSpPr>
          <p:cNvPr id="25" name="Text 21"/>
          <p:cNvSpPr/>
          <p:nvPr/>
        </p:nvSpPr>
        <p:spPr>
          <a:xfrm>
            <a:off x="200620" y="2049512"/>
            <a:ext cx="28575" cy="261045"/>
          </a:xfrm>
          <a:custGeom>
            <a:avLst/>
            <a:gdLst/>
            <a:ahLst/>
            <a:cxnLst/>
            <a:rect l="l" t="t" r="r" b="b"/>
            <a:pathLst>
              <a:path w="28575" h="261045">
                <a:moveTo>
                  <a:pt x="0" y="35560"/>
                </a:moveTo>
                <a:lnTo>
                  <a:pt x="3572" y="20027"/>
                </a:lnTo>
                <a:lnTo>
                  <a:pt x="7144" y="14182"/>
                </a:lnTo>
                <a:lnTo>
                  <a:pt x="10716" y="10118"/>
                </a:lnTo>
                <a:lnTo>
                  <a:pt x="14288" y="7064"/>
                </a:lnTo>
                <a:lnTo>
                  <a:pt x="17859" y="4718"/>
                </a:lnTo>
                <a:lnTo>
                  <a:pt x="21431" y="2927"/>
                </a:lnTo>
                <a:lnTo>
                  <a:pt x="25003" y="1603"/>
                </a:lnTo>
                <a:lnTo>
                  <a:pt x="28575" y="693"/>
                </a:lnTo>
                <a:lnTo>
                  <a:pt x="28575" y="260352"/>
                </a:lnTo>
                <a:lnTo>
                  <a:pt x="25003" y="259441"/>
                </a:lnTo>
                <a:lnTo>
                  <a:pt x="21431" y="258117"/>
                </a:lnTo>
                <a:lnTo>
                  <a:pt x="17859" y="256326"/>
                </a:lnTo>
                <a:lnTo>
                  <a:pt x="14288" y="253980"/>
                </a:lnTo>
                <a:lnTo>
                  <a:pt x="10716" y="250926"/>
                </a:lnTo>
                <a:lnTo>
                  <a:pt x="7144" y="246863"/>
                </a:lnTo>
                <a:lnTo>
                  <a:pt x="3572" y="241018"/>
                </a:lnTo>
                <a:lnTo>
                  <a:pt x="0" y="225485"/>
                </a:lnTo>
                <a:close/>
              </a:path>
            </a:pathLst>
          </a:custGeom>
          <a:solidFill>
            <a:srgbClr val="55A49C"/>
          </a:solidFill>
          <a:ln/>
        </p:spPr>
        <p:txBody>
          <a:bodyPr wrap="none" rtlCol="0" anchor="t"/>
          <a:lstStyle/>
          <a:p>
            <a:pPr marL="0" indent="0">
              <a:buNone/>
            </a:pPr>
            <a:endParaRPr lang="en-US" dirty="0"/>
          </a:p>
        </p:txBody>
      </p:sp>
      <p:sp>
        <p:nvSpPr>
          <p:cNvPr id="26" name="Text 22"/>
          <p:cNvSpPr/>
          <p:nvPr/>
        </p:nvSpPr>
        <p:spPr>
          <a:xfrm>
            <a:off x="315516" y="2106513"/>
            <a:ext cx="146685" cy="154632"/>
          </a:xfrm>
          <a:prstGeom prst="rect">
            <a:avLst/>
          </a:prstGeom>
          <a:noFill/>
          <a:ln/>
        </p:spPr>
        <p:txBody>
          <a:bodyPr wrap="none" lIns="0" tIns="0" rIns="0" bIns="0" rtlCol="0" anchor="ctr"/>
          <a:lstStyle/>
          <a:p>
            <a:pPr marL="0" indent="0" algn="l">
              <a:lnSpc>
                <a:spcPts val="1218"/>
              </a:lnSpc>
              <a:buNone/>
            </a:pPr>
            <a:r>
              <a:rPr lang="en-US" sz="840" dirty="0">
                <a:solidFill>
                  <a:srgbClr val="1A1A2E"/>
                </a:solidFill>
                <a:latin typeface="Calibri" pitchFamily="34" charset="0"/>
                <a:ea typeface="Calibri" pitchFamily="34" charset="-122"/>
                <a:cs typeface="Calibri" pitchFamily="34" charset="-120"/>
              </a:rPr>
              <a:t>✅</a:t>
            </a:r>
            <a:endParaRPr lang="en-US" sz="840" dirty="0"/>
          </a:p>
        </p:txBody>
      </p:sp>
      <p:sp>
        <p:nvSpPr>
          <p:cNvPr id="27" name="Text 23"/>
          <p:cNvSpPr/>
          <p:nvPr/>
        </p:nvSpPr>
        <p:spPr>
          <a:xfrm>
            <a:off x="506016" y="2098923"/>
            <a:ext cx="3325951" cy="140047"/>
          </a:xfrm>
          <a:prstGeom prst="rect">
            <a:avLst/>
          </a:prstGeom>
          <a:noFill/>
          <a:ln/>
        </p:spPr>
        <p:txBody>
          <a:bodyPr wrap="none" lIns="0" tIns="0" rIns="0" bIns="0" rtlCol="0" anchor="ctr"/>
          <a:lstStyle/>
          <a:p>
            <a:pPr marL="0" indent="0" algn="l">
              <a:lnSpc>
                <a:spcPts val="1102"/>
              </a:lnSpc>
              <a:buNone/>
            </a:pPr>
            <a:r>
              <a:rPr lang="en-US" sz="760" dirty="0">
                <a:solidFill>
                  <a:srgbClr val="1A1A2E"/>
                </a:solidFill>
                <a:latin typeface="Calibri" pitchFamily="34" charset="0"/>
                <a:ea typeface="Calibri" pitchFamily="34" charset="-122"/>
                <a:cs typeface="Calibri" pitchFamily="34" charset="-120"/>
              </a:rPr>
              <a:t>Check-In members at the start of each session before writing the note</a:t>
            </a:r>
            <a:endParaRPr lang="en-US" sz="760" dirty="0"/>
          </a:p>
        </p:txBody>
      </p:sp>
      <p:pic>
        <p:nvPicPr>
          <p:cNvPr id="2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173784" y="2537668"/>
            <a:ext cx="139005" cy="139005"/>
          </a:xfrm>
          <a:prstGeom prst="rect">
            <a:avLst/>
          </a:prstGeom>
        </p:spPr>
      </p:pic>
      <p:sp>
        <p:nvSpPr>
          <p:cNvPr id="29" name="Text 24"/>
          <p:cNvSpPr/>
          <p:nvPr/>
        </p:nvSpPr>
        <p:spPr>
          <a:xfrm>
            <a:off x="772991" y="2712095"/>
            <a:ext cx="2940740" cy="129480"/>
          </a:xfrm>
          <a:prstGeom prst="rect">
            <a:avLst/>
          </a:prstGeom>
          <a:noFill/>
          <a:ln/>
        </p:spPr>
        <p:txBody>
          <a:bodyPr wrap="none" lIns="0" tIns="0" rIns="0" bIns="0" rtlCol="0" anchor="ctr"/>
          <a:lstStyle/>
          <a:p>
            <a:pPr marL="0" indent="0" algn="ctr">
              <a:lnSpc>
                <a:spcPts val="1020"/>
              </a:lnSpc>
              <a:buNone/>
            </a:pPr>
            <a:r>
              <a:rPr lang="en-US" sz="680" i="1" dirty="0">
                <a:solidFill>
                  <a:srgbClr val="55A49C"/>
                </a:solidFill>
                <a:latin typeface="Calibri" pitchFamily="34" charset="0"/>
                <a:ea typeface="Calibri" pitchFamily="34" charset="-122"/>
                <a:cs typeface="Calibri" pitchFamily="34" charset="-120"/>
              </a:rPr>
              <a:t>📸 [INSERT SCREENSHOT: Avatar NX — Scheduling Calendar view]</a:t>
            </a:r>
            <a:endParaRPr lang="en-US" sz="680" dirty="0"/>
          </a:p>
        </p:txBody>
      </p:sp>
      <p:sp>
        <p:nvSpPr>
          <p:cNvPr id="30" name="Text 25"/>
          <p:cNvSpPr/>
          <p:nvPr/>
        </p:nvSpPr>
        <p:spPr>
          <a:xfrm>
            <a:off x="4401592" y="578941"/>
            <a:ext cx="13841" cy="4171950"/>
          </a:xfrm>
          <a:prstGeom prst="rect">
            <a:avLst/>
          </a:prstGeom>
          <a:gradFill rotWithShape="1">
            <a:gsLst>
              <a:gs pos="0">
                <a:srgbClr val="000000">
                  <a:alpha val="0"/>
                </a:srgbClr>
              </a:gs>
              <a:gs pos="15000">
                <a:srgbClr val="C8DDE3"/>
              </a:gs>
              <a:gs pos="85000">
                <a:srgbClr val="C8DDE3"/>
              </a:gs>
              <a:gs pos="100000">
                <a:srgbClr val="000000">
                  <a:alpha val="0"/>
                </a:srgbClr>
              </a:gs>
            </a:gsLst>
            <a:lin ang="5400000" scaled="1"/>
          </a:gradFill>
          <a:ln/>
        </p:spPr>
        <p:txBody>
          <a:bodyPr wrap="square" rtlCol="0" anchor="t"/>
          <a:lstStyle/>
          <a:p>
            <a:pPr marL="0" indent="0">
              <a:buNone/>
            </a:pPr>
            <a:endParaRPr lang="en-US" dirty="0"/>
          </a:p>
        </p:txBody>
      </p:sp>
      <p:sp>
        <p:nvSpPr>
          <p:cNvPr id="31" name="Text 26"/>
          <p:cNvSpPr/>
          <p:nvPr/>
        </p:nvSpPr>
        <p:spPr>
          <a:xfrm>
            <a:off x="4745534" y="578941"/>
            <a:ext cx="2029197" cy="182761"/>
          </a:xfrm>
          <a:prstGeom prst="rect">
            <a:avLst/>
          </a:prstGeom>
          <a:noFill/>
          <a:ln/>
        </p:spPr>
        <p:txBody>
          <a:bodyPr wrap="none" lIns="0" tIns="0" rIns="0" bIns="0" rtlCol="0" anchor="ctr"/>
          <a:lstStyle/>
          <a:p>
            <a:pPr marL="0" indent="0" algn="l">
              <a:lnSpc>
                <a:spcPts val="1440"/>
              </a:lnSpc>
              <a:buNone/>
            </a:pPr>
            <a:r>
              <a:rPr lang="en-US" sz="960" b="1" kern="0" spc="67" dirty="0">
                <a:solidFill>
                  <a:srgbClr val="367689"/>
                </a:solidFill>
                <a:latin typeface="Calibri" pitchFamily="34" charset="0"/>
                <a:ea typeface="Calibri" pitchFamily="34" charset="-122"/>
                <a:cs typeface="Calibri" pitchFamily="34" charset="-120"/>
              </a:rPr>
              <a:t>WRITING THE GROUP NOTE</a:t>
            </a:r>
            <a:endParaRPr lang="en-US" sz="960" dirty="0"/>
          </a:p>
        </p:txBody>
      </p:sp>
      <p:pic>
        <p:nvPicPr>
          <p:cNvPr id="3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530923" y="591592"/>
            <a:ext cx="157460" cy="157460"/>
          </a:xfrm>
          <a:prstGeom prst="rect">
            <a:avLst/>
          </a:prstGeom>
        </p:spPr>
      </p:pic>
      <p:sp>
        <p:nvSpPr>
          <p:cNvPr id="33" name="Text 27"/>
          <p:cNvSpPr/>
          <p:nvPr/>
        </p:nvSpPr>
        <p:spPr>
          <a:xfrm>
            <a:off x="4530923" y="832693"/>
            <a:ext cx="4412456" cy="970508"/>
          </a:xfrm>
          <a:prstGeom prst="roundRect">
            <a:avLst>
              <a:gd name="adj" fmla="val 3664"/>
            </a:avLst>
          </a:prstGeom>
          <a:solidFill>
            <a:srgbClr val="EDF4F7"/>
          </a:solidFill>
          <a:ln/>
        </p:spPr>
        <p:txBody>
          <a:bodyPr wrap="square" rtlCol="0" anchor="t"/>
          <a:lstStyle/>
          <a:p>
            <a:pPr marL="0" indent="0">
              <a:buNone/>
            </a:pPr>
            <a:endParaRPr lang="en-US" dirty="0"/>
          </a:p>
        </p:txBody>
      </p:sp>
      <p:sp>
        <p:nvSpPr>
          <p:cNvPr id="34" name="Text 28"/>
          <p:cNvSpPr/>
          <p:nvPr/>
        </p:nvSpPr>
        <p:spPr>
          <a:xfrm>
            <a:off x="4530923" y="832693"/>
            <a:ext cx="28575" cy="970508"/>
          </a:xfrm>
          <a:custGeom>
            <a:avLst/>
            <a:gdLst/>
            <a:ahLst/>
            <a:cxnLst/>
            <a:rect l="l" t="t" r="r" b="b"/>
            <a:pathLst>
              <a:path w="28575" h="970508">
                <a:moveTo>
                  <a:pt x="0" y="35560"/>
                </a:moveTo>
                <a:lnTo>
                  <a:pt x="3572" y="20027"/>
                </a:lnTo>
                <a:lnTo>
                  <a:pt x="7144" y="14182"/>
                </a:lnTo>
                <a:lnTo>
                  <a:pt x="10716" y="10118"/>
                </a:lnTo>
                <a:lnTo>
                  <a:pt x="14288" y="7064"/>
                </a:lnTo>
                <a:lnTo>
                  <a:pt x="17859" y="4718"/>
                </a:lnTo>
                <a:lnTo>
                  <a:pt x="21431" y="2927"/>
                </a:lnTo>
                <a:lnTo>
                  <a:pt x="25003" y="1603"/>
                </a:lnTo>
                <a:lnTo>
                  <a:pt x="28575" y="693"/>
                </a:lnTo>
                <a:lnTo>
                  <a:pt x="28575" y="969815"/>
                </a:lnTo>
                <a:lnTo>
                  <a:pt x="25003" y="968905"/>
                </a:lnTo>
                <a:lnTo>
                  <a:pt x="21431" y="967581"/>
                </a:lnTo>
                <a:lnTo>
                  <a:pt x="17859" y="965790"/>
                </a:lnTo>
                <a:lnTo>
                  <a:pt x="14288" y="963444"/>
                </a:lnTo>
                <a:lnTo>
                  <a:pt x="10716" y="960390"/>
                </a:lnTo>
                <a:lnTo>
                  <a:pt x="7144" y="956326"/>
                </a:lnTo>
                <a:lnTo>
                  <a:pt x="3572" y="950481"/>
                </a:lnTo>
                <a:lnTo>
                  <a:pt x="0" y="934948"/>
                </a:lnTo>
                <a:close/>
              </a:path>
            </a:pathLst>
          </a:custGeom>
          <a:solidFill>
            <a:srgbClr val="367689"/>
          </a:solidFill>
          <a:ln/>
        </p:spPr>
        <p:txBody>
          <a:bodyPr wrap="square" rtlCol="0" anchor="t"/>
          <a:lstStyle/>
          <a:p>
            <a:pPr marL="0" indent="0">
              <a:buNone/>
            </a:pPr>
            <a:endParaRPr lang="en-US" dirty="0"/>
          </a:p>
        </p:txBody>
      </p:sp>
      <p:sp>
        <p:nvSpPr>
          <p:cNvPr id="35" name="Text 29"/>
          <p:cNvSpPr/>
          <p:nvPr/>
        </p:nvSpPr>
        <p:spPr>
          <a:xfrm>
            <a:off x="4645819" y="889695"/>
            <a:ext cx="146685" cy="151507"/>
          </a:xfrm>
          <a:prstGeom prst="rect">
            <a:avLst/>
          </a:prstGeom>
          <a:noFill/>
          <a:ln/>
        </p:spPr>
        <p:txBody>
          <a:bodyPr wrap="none" lIns="0" tIns="0" rIns="0" bIns="0" rtlCol="0" anchor="ctr"/>
          <a:lstStyle/>
          <a:p>
            <a:pPr marL="0" indent="0" algn="l">
              <a:lnSpc>
                <a:spcPts val="1193"/>
              </a:lnSpc>
              <a:buNone/>
            </a:pPr>
            <a:r>
              <a:rPr lang="en-US" sz="840" dirty="0">
                <a:solidFill>
                  <a:srgbClr val="1A1A2E"/>
                </a:solidFill>
                <a:latin typeface="Calibri" pitchFamily="34" charset="0"/>
                <a:ea typeface="Calibri" pitchFamily="34" charset="-122"/>
                <a:cs typeface="Calibri" pitchFamily="34" charset="-120"/>
              </a:rPr>
              <a:t>📝</a:t>
            </a:r>
            <a:endParaRPr lang="en-US" sz="840" dirty="0"/>
          </a:p>
        </p:txBody>
      </p:sp>
      <p:sp>
        <p:nvSpPr>
          <p:cNvPr id="36" name="Text 30"/>
          <p:cNvSpPr/>
          <p:nvPr/>
        </p:nvSpPr>
        <p:spPr>
          <a:xfrm>
            <a:off x="4836319" y="882104"/>
            <a:ext cx="3514710" cy="131564"/>
          </a:xfrm>
          <a:prstGeom prst="rect">
            <a:avLst/>
          </a:prstGeom>
          <a:noFill/>
          <a:ln/>
        </p:spPr>
        <p:txBody>
          <a:bodyPr wrap="none" lIns="0" tIns="0" rIns="0" bIns="0" rtlCol="0" anchor="ctr"/>
          <a:lstStyle/>
          <a:p>
            <a:pPr marL="0" indent="0" algn="l">
              <a:lnSpc>
                <a:spcPts val="1037"/>
              </a:lnSpc>
              <a:buNone/>
            </a:pPr>
            <a:r>
              <a:rPr lang="en-US" sz="730" dirty="0">
                <a:solidFill>
                  <a:srgbClr val="1A1A2E"/>
                </a:solidFill>
                <a:latin typeface="Calibri" pitchFamily="34" charset="0"/>
                <a:ea typeface="Calibri" pitchFamily="34" charset="-122"/>
                <a:cs typeface="Calibri" pitchFamily="34" charset="-120"/>
              </a:rPr>
              <a:t>From Scheduling Calendar, right-click the group appointment → Group Note</a:t>
            </a:r>
            <a:endParaRPr lang="en-US" sz="730" dirty="0"/>
          </a:p>
        </p:txBody>
      </p:sp>
      <p:sp>
        <p:nvSpPr>
          <p:cNvPr id="37" name="Text 31"/>
          <p:cNvSpPr/>
          <p:nvPr/>
        </p:nvSpPr>
        <p:spPr>
          <a:xfrm>
            <a:off x="4645819" y="1070372"/>
            <a:ext cx="2778937" cy="179189"/>
          </a:xfrm>
          <a:prstGeom prst="roundRect">
            <a:avLst>
              <a:gd name="adj" fmla="val 16301"/>
            </a:avLst>
          </a:prstGeom>
          <a:solidFill>
            <a:srgbClr val="F4F9FB"/>
          </a:solidFill>
          <a:ln/>
        </p:spPr>
        <p:txBody>
          <a:bodyPr wrap="none" lIns="71120" tIns="29210" rIns="71120" bIns="29210" rtlCol="0" anchor="t"/>
          <a:lstStyle/>
          <a:p>
            <a:pPr marL="0" indent="0" algn="l">
              <a:lnSpc>
                <a:spcPts val="952"/>
              </a:lnSpc>
              <a:buNone/>
            </a:pPr>
            <a:r>
              <a:rPr lang="en-US" sz="690" dirty="0">
                <a:solidFill>
                  <a:srgbClr val="2A3A55"/>
                </a:solidFill>
                <a:latin typeface="Calibri" pitchFamily="34" charset="0"/>
                <a:ea typeface="Calibri" pitchFamily="34" charset="-122"/>
                <a:cs typeface="Calibri" pitchFamily="34" charset="-120"/>
              </a:rPr>
              <a:t>Select </a:t>
            </a:r>
            <a:r>
              <a:rPr lang="en-US" sz="690" b="1" dirty="0">
                <a:solidFill>
                  <a:srgbClr val="2A3A55"/>
                </a:solidFill>
                <a:latin typeface="Calibri" pitchFamily="34" charset="0"/>
                <a:ea typeface="Calibri" pitchFamily="34" charset="-122"/>
                <a:cs typeface="Calibri" pitchFamily="34" charset="-120"/>
              </a:rPr>
              <a:t>Step 1: Shared Content</a:t>
            </a:r>
            <a:r>
              <a:rPr lang="en-US" sz="690" dirty="0">
                <a:solidFill>
                  <a:srgbClr val="2A3A55"/>
                </a:solidFill>
                <a:latin typeface="Calibri" pitchFamily="34" charset="0"/>
                <a:ea typeface="Calibri" pitchFamily="34" charset="-122"/>
                <a:cs typeface="Calibri" pitchFamily="34" charset="-120"/>
              </a:rPr>
              <a:t>; click </a:t>
            </a:r>
            <a:r>
              <a:rPr lang="en-US" sz="690" i="1" dirty="0">
                <a:solidFill>
                  <a:srgbClr val="2A3A55"/>
                </a:solidFill>
                <a:latin typeface="Calibri" pitchFamily="34" charset="0"/>
                <a:ea typeface="Calibri" pitchFamily="34" charset="-122"/>
                <a:cs typeface="Calibri" pitchFamily="34" charset="-120"/>
              </a:rPr>
              <a:t>Yes</a:t>
            </a:r>
            <a:r>
              <a:rPr lang="en-US" sz="690" dirty="0">
                <a:solidFill>
                  <a:srgbClr val="2A3A55"/>
                </a:solidFill>
                <a:latin typeface="Calibri" pitchFamily="34" charset="0"/>
                <a:ea typeface="Calibri" pitchFamily="34" charset="-122"/>
                <a:cs typeface="Calibri" pitchFamily="34" charset="-120"/>
              </a:rPr>
              <a:t> on default-note warning</a:t>
            </a:r>
            <a:endParaRPr lang="en-US" sz="690" dirty="0"/>
          </a:p>
        </p:txBody>
      </p:sp>
      <p:sp>
        <p:nvSpPr>
          <p:cNvPr id="38" name="Text 32"/>
          <p:cNvSpPr/>
          <p:nvPr/>
        </p:nvSpPr>
        <p:spPr>
          <a:xfrm>
            <a:off x="4645819" y="1070372"/>
            <a:ext cx="19050" cy="179189"/>
          </a:xfrm>
          <a:custGeom>
            <a:avLst/>
            <a:gdLst/>
            <a:ahLst/>
            <a:cxnLst/>
            <a:rect l="l" t="t" r="r" b="b"/>
            <a:pathLst>
              <a:path w="19050" h="179189">
                <a:moveTo>
                  <a:pt x="0" y="29210"/>
                </a:moveTo>
                <a:lnTo>
                  <a:pt x="2381" y="17658"/>
                </a:lnTo>
                <a:lnTo>
                  <a:pt x="4763" y="13224"/>
                </a:lnTo>
                <a:lnTo>
                  <a:pt x="7144" y="10071"/>
                </a:lnTo>
                <a:lnTo>
                  <a:pt x="9525" y="7629"/>
                </a:lnTo>
                <a:lnTo>
                  <a:pt x="11906" y="5677"/>
                </a:lnTo>
                <a:lnTo>
                  <a:pt x="14288" y="4099"/>
                </a:lnTo>
                <a:lnTo>
                  <a:pt x="16669" y="2829"/>
                </a:lnTo>
                <a:lnTo>
                  <a:pt x="19050" y="1824"/>
                </a:lnTo>
                <a:lnTo>
                  <a:pt x="19050" y="177365"/>
                </a:lnTo>
                <a:lnTo>
                  <a:pt x="16669" y="176360"/>
                </a:lnTo>
                <a:lnTo>
                  <a:pt x="14288" y="175090"/>
                </a:lnTo>
                <a:lnTo>
                  <a:pt x="11906" y="173512"/>
                </a:lnTo>
                <a:lnTo>
                  <a:pt x="9525" y="171560"/>
                </a:lnTo>
                <a:lnTo>
                  <a:pt x="7144" y="169118"/>
                </a:lnTo>
                <a:lnTo>
                  <a:pt x="4763" y="165965"/>
                </a:lnTo>
                <a:lnTo>
                  <a:pt x="2381" y="161531"/>
                </a:lnTo>
                <a:lnTo>
                  <a:pt x="0" y="149979"/>
                </a:lnTo>
                <a:close/>
              </a:path>
            </a:pathLst>
          </a:custGeom>
          <a:solidFill>
            <a:srgbClr val="A8CFD8"/>
          </a:solidFill>
          <a:ln/>
        </p:spPr>
        <p:txBody>
          <a:bodyPr wrap="none" rtlCol="0" anchor="t"/>
          <a:lstStyle/>
          <a:p>
            <a:pPr marL="0" indent="0">
              <a:buNone/>
            </a:pPr>
            <a:endParaRPr lang="en-US" dirty="0"/>
          </a:p>
        </p:txBody>
      </p:sp>
      <p:sp>
        <p:nvSpPr>
          <p:cNvPr id="39" name="Text 33"/>
          <p:cNvSpPr/>
          <p:nvPr/>
        </p:nvSpPr>
        <p:spPr>
          <a:xfrm>
            <a:off x="4645819" y="1307902"/>
            <a:ext cx="2491419" cy="179189"/>
          </a:xfrm>
          <a:prstGeom prst="roundRect">
            <a:avLst>
              <a:gd name="adj" fmla="val 16301"/>
            </a:avLst>
          </a:prstGeom>
          <a:solidFill>
            <a:srgbClr val="F4F9FB"/>
          </a:solidFill>
          <a:ln/>
        </p:spPr>
        <p:txBody>
          <a:bodyPr wrap="none" lIns="71120" tIns="29210" rIns="71120" bIns="29210" rtlCol="0" anchor="t"/>
          <a:lstStyle/>
          <a:p>
            <a:pPr marL="0" indent="0" algn="l">
              <a:buNone/>
            </a:pPr>
            <a:r>
              <a:rPr lang="en-US" sz="690" dirty="0">
                <a:solidFill>
                  <a:srgbClr val="2A3A55"/>
                </a:solidFill>
                <a:latin typeface="Calibri" pitchFamily="34" charset="0"/>
                <a:ea typeface="Calibri" pitchFamily="34" charset="-122"/>
                <a:cs typeface="Calibri" pitchFamily="34" charset="-120"/>
              </a:rPr>
              <a:t>Confirm date, note type, location, and existing appointment</a:t>
            </a:r>
            <a:endParaRPr lang="en-US" sz="690" dirty="0"/>
          </a:p>
        </p:txBody>
      </p:sp>
      <p:sp>
        <p:nvSpPr>
          <p:cNvPr id="40" name="Text 34"/>
          <p:cNvSpPr/>
          <p:nvPr/>
        </p:nvSpPr>
        <p:spPr>
          <a:xfrm>
            <a:off x="4645819" y="1307902"/>
            <a:ext cx="19050" cy="179189"/>
          </a:xfrm>
          <a:custGeom>
            <a:avLst/>
            <a:gdLst/>
            <a:ahLst/>
            <a:cxnLst/>
            <a:rect l="l" t="t" r="r" b="b"/>
            <a:pathLst>
              <a:path w="19050" h="179189">
                <a:moveTo>
                  <a:pt x="0" y="29210"/>
                </a:moveTo>
                <a:lnTo>
                  <a:pt x="2381" y="17658"/>
                </a:lnTo>
                <a:lnTo>
                  <a:pt x="4763" y="13224"/>
                </a:lnTo>
                <a:lnTo>
                  <a:pt x="7144" y="10071"/>
                </a:lnTo>
                <a:lnTo>
                  <a:pt x="9525" y="7629"/>
                </a:lnTo>
                <a:lnTo>
                  <a:pt x="11906" y="5677"/>
                </a:lnTo>
                <a:lnTo>
                  <a:pt x="14288" y="4099"/>
                </a:lnTo>
                <a:lnTo>
                  <a:pt x="16669" y="2829"/>
                </a:lnTo>
                <a:lnTo>
                  <a:pt x="19050" y="1824"/>
                </a:lnTo>
                <a:lnTo>
                  <a:pt x="19050" y="177365"/>
                </a:lnTo>
                <a:lnTo>
                  <a:pt x="16669" y="176360"/>
                </a:lnTo>
                <a:lnTo>
                  <a:pt x="14288" y="175090"/>
                </a:lnTo>
                <a:lnTo>
                  <a:pt x="11906" y="173512"/>
                </a:lnTo>
                <a:lnTo>
                  <a:pt x="9525" y="171560"/>
                </a:lnTo>
                <a:lnTo>
                  <a:pt x="7144" y="169118"/>
                </a:lnTo>
                <a:lnTo>
                  <a:pt x="4763" y="165965"/>
                </a:lnTo>
                <a:lnTo>
                  <a:pt x="2381" y="161531"/>
                </a:lnTo>
                <a:lnTo>
                  <a:pt x="0" y="149979"/>
                </a:lnTo>
                <a:close/>
              </a:path>
            </a:pathLst>
          </a:custGeom>
          <a:solidFill>
            <a:srgbClr val="A8CFD8"/>
          </a:solidFill>
          <a:ln/>
        </p:spPr>
        <p:txBody>
          <a:bodyPr wrap="none" rtlCol="0" anchor="t"/>
          <a:lstStyle/>
          <a:p>
            <a:pPr marL="0" indent="0">
              <a:buNone/>
            </a:pPr>
            <a:endParaRPr lang="en-US" dirty="0"/>
          </a:p>
        </p:txBody>
      </p:sp>
      <p:sp>
        <p:nvSpPr>
          <p:cNvPr id="41" name="Text 35"/>
          <p:cNvSpPr/>
          <p:nvPr/>
        </p:nvSpPr>
        <p:spPr>
          <a:xfrm>
            <a:off x="4645819" y="1545431"/>
            <a:ext cx="3328166" cy="179189"/>
          </a:xfrm>
          <a:prstGeom prst="roundRect">
            <a:avLst>
              <a:gd name="adj" fmla="val 16301"/>
            </a:avLst>
          </a:prstGeom>
          <a:solidFill>
            <a:srgbClr val="F4F9FB"/>
          </a:solidFill>
          <a:ln/>
        </p:spPr>
        <p:txBody>
          <a:bodyPr wrap="none" lIns="71120" tIns="29210" rIns="71120" bIns="29210" rtlCol="0" anchor="t"/>
          <a:lstStyle/>
          <a:p>
            <a:pPr marL="0" indent="0" algn="l">
              <a:lnSpc>
                <a:spcPts val="952"/>
              </a:lnSpc>
              <a:buNone/>
            </a:pPr>
            <a:r>
              <a:rPr lang="en-US" sz="690" dirty="0">
                <a:solidFill>
                  <a:srgbClr val="2A3A55"/>
                </a:solidFill>
                <a:latin typeface="Calibri" pitchFamily="34" charset="0"/>
                <a:ea typeface="Calibri" pitchFamily="34" charset="-122"/>
                <a:cs typeface="Calibri" pitchFamily="34" charset="-120"/>
              </a:rPr>
              <a:t>Enter session topic and interventions; adjust end time; </a:t>
            </a:r>
            <a:r>
              <a:rPr lang="en-US" sz="690" b="1" dirty="0">
                <a:solidFill>
                  <a:srgbClr val="2A3A55"/>
                </a:solidFill>
                <a:latin typeface="Calibri" pitchFamily="34" charset="0"/>
                <a:ea typeface="Calibri" pitchFamily="34" charset="-122"/>
                <a:cs typeface="Calibri" pitchFamily="34" charset="-120"/>
              </a:rPr>
              <a:t>File Note</a:t>
            </a:r>
            <a:r>
              <a:rPr lang="en-US" sz="690" dirty="0">
                <a:solidFill>
                  <a:srgbClr val="2A3A55"/>
                </a:solidFill>
                <a:latin typeface="Calibri" pitchFamily="34" charset="0"/>
                <a:ea typeface="Calibri" pitchFamily="34" charset="-122"/>
                <a:cs typeface="Calibri" pitchFamily="34" charset="-120"/>
              </a:rPr>
              <a:t> to send To-Dos</a:t>
            </a:r>
            <a:endParaRPr lang="en-US" sz="690" dirty="0"/>
          </a:p>
        </p:txBody>
      </p:sp>
      <p:sp>
        <p:nvSpPr>
          <p:cNvPr id="42" name="Text 36"/>
          <p:cNvSpPr/>
          <p:nvPr/>
        </p:nvSpPr>
        <p:spPr>
          <a:xfrm>
            <a:off x="4645819" y="1545431"/>
            <a:ext cx="19050" cy="179189"/>
          </a:xfrm>
          <a:custGeom>
            <a:avLst/>
            <a:gdLst/>
            <a:ahLst/>
            <a:cxnLst/>
            <a:rect l="l" t="t" r="r" b="b"/>
            <a:pathLst>
              <a:path w="19050" h="179189">
                <a:moveTo>
                  <a:pt x="0" y="29210"/>
                </a:moveTo>
                <a:lnTo>
                  <a:pt x="2381" y="17658"/>
                </a:lnTo>
                <a:lnTo>
                  <a:pt x="4763" y="13224"/>
                </a:lnTo>
                <a:lnTo>
                  <a:pt x="7144" y="10071"/>
                </a:lnTo>
                <a:lnTo>
                  <a:pt x="9525" y="7629"/>
                </a:lnTo>
                <a:lnTo>
                  <a:pt x="11906" y="5677"/>
                </a:lnTo>
                <a:lnTo>
                  <a:pt x="14288" y="4099"/>
                </a:lnTo>
                <a:lnTo>
                  <a:pt x="16669" y="2829"/>
                </a:lnTo>
                <a:lnTo>
                  <a:pt x="19050" y="1824"/>
                </a:lnTo>
                <a:lnTo>
                  <a:pt x="19050" y="177365"/>
                </a:lnTo>
                <a:lnTo>
                  <a:pt x="16669" y="176360"/>
                </a:lnTo>
                <a:lnTo>
                  <a:pt x="14288" y="175090"/>
                </a:lnTo>
                <a:lnTo>
                  <a:pt x="11906" y="173512"/>
                </a:lnTo>
                <a:lnTo>
                  <a:pt x="9525" y="171560"/>
                </a:lnTo>
                <a:lnTo>
                  <a:pt x="7144" y="169118"/>
                </a:lnTo>
                <a:lnTo>
                  <a:pt x="4763" y="165965"/>
                </a:lnTo>
                <a:lnTo>
                  <a:pt x="2381" y="161531"/>
                </a:lnTo>
                <a:lnTo>
                  <a:pt x="0" y="149979"/>
                </a:lnTo>
                <a:close/>
              </a:path>
            </a:pathLst>
          </a:custGeom>
          <a:solidFill>
            <a:srgbClr val="A8CFD8"/>
          </a:solidFill>
          <a:ln/>
        </p:spPr>
        <p:txBody>
          <a:bodyPr wrap="none" rtlCol="0" anchor="t"/>
          <a:lstStyle/>
          <a:p>
            <a:pPr marL="0" indent="0">
              <a:buNone/>
            </a:pPr>
            <a:endParaRPr lang="en-US" dirty="0"/>
          </a:p>
        </p:txBody>
      </p:sp>
      <p:sp>
        <p:nvSpPr>
          <p:cNvPr id="43" name="Text 37"/>
          <p:cNvSpPr/>
          <p:nvPr/>
        </p:nvSpPr>
        <p:spPr>
          <a:xfrm>
            <a:off x="4530923" y="1860203"/>
            <a:ext cx="4412456" cy="970508"/>
          </a:xfrm>
          <a:prstGeom prst="roundRect">
            <a:avLst>
              <a:gd name="adj" fmla="val 3664"/>
            </a:avLst>
          </a:prstGeom>
          <a:solidFill>
            <a:srgbClr val="EDF4F7"/>
          </a:solidFill>
          <a:ln/>
        </p:spPr>
        <p:txBody>
          <a:bodyPr wrap="square" rtlCol="0" anchor="t"/>
          <a:lstStyle/>
          <a:p>
            <a:pPr marL="0" indent="0">
              <a:buNone/>
            </a:pPr>
            <a:endParaRPr lang="en-US" dirty="0"/>
          </a:p>
        </p:txBody>
      </p:sp>
      <p:sp>
        <p:nvSpPr>
          <p:cNvPr id="44" name="Text 38"/>
          <p:cNvSpPr/>
          <p:nvPr/>
        </p:nvSpPr>
        <p:spPr>
          <a:xfrm>
            <a:off x="4530923" y="1860203"/>
            <a:ext cx="28575" cy="970508"/>
          </a:xfrm>
          <a:custGeom>
            <a:avLst/>
            <a:gdLst/>
            <a:ahLst/>
            <a:cxnLst/>
            <a:rect l="l" t="t" r="r" b="b"/>
            <a:pathLst>
              <a:path w="28575" h="970508">
                <a:moveTo>
                  <a:pt x="0" y="35560"/>
                </a:moveTo>
                <a:lnTo>
                  <a:pt x="3572" y="20027"/>
                </a:lnTo>
                <a:lnTo>
                  <a:pt x="7144" y="14182"/>
                </a:lnTo>
                <a:lnTo>
                  <a:pt x="10716" y="10118"/>
                </a:lnTo>
                <a:lnTo>
                  <a:pt x="14288" y="7064"/>
                </a:lnTo>
                <a:lnTo>
                  <a:pt x="17859" y="4718"/>
                </a:lnTo>
                <a:lnTo>
                  <a:pt x="21431" y="2927"/>
                </a:lnTo>
                <a:lnTo>
                  <a:pt x="25003" y="1603"/>
                </a:lnTo>
                <a:lnTo>
                  <a:pt x="28575" y="693"/>
                </a:lnTo>
                <a:lnTo>
                  <a:pt x="28575" y="969815"/>
                </a:lnTo>
                <a:lnTo>
                  <a:pt x="25003" y="968905"/>
                </a:lnTo>
                <a:lnTo>
                  <a:pt x="21431" y="967581"/>
                </a:lnTo>
                <a:lnTo>
                  <a:pt x="17859" y="965790"/>
                </a:lnTo>
                <a:lnTo>
                  <a:pt x="14288" y="963444"/>
                </a:lnTo>
                <a:lnTo>
                  <a:pt x="10716" y="960390"/>
                </a:lnTo>
                <a:lnTo>
                  <a:pt x="7144" y="956326"/>
                </a:lnTo>
                <a:lnTo>
                  <a:pt x="3572" y="950481"/>
                </a:lnTo>
                <a:lnTo>
                  <a:pt x="0" y="934948"/>
                </a:lnTo>
                <a:close/>
              </a:path>
            </a:pathLst>
          </a:custGeom>
          <a:solidFill>
            <a:srgbClr val="367689"/>
          </a:solidFill>
          <a:ln/>
        </p:spPr>
        <p:txBody>
          <a:bodyPr wrap="square" rtlCol="0" anchor="t"/>
          <a:lstStyle/>
          <a:p>
            <a:pPr marL="0" indent="0">
              <a:buNone/>
            </a:pPr>
            <a:endParaRPr lang="en-US" dirty="0"/>
          </a:p>
        </p:txBody>
      </p:sp>
      <p:sp>
        <p:nvSpPr>
          <p:cNvPr id="45" name="Text 39"/>
          <p:cNvSpPr/>
          <p:nvPr/>
        </p:nvSpPr>
        <p:spPr>
          <a:xfrm>
            <a:off x="4645819" y="1917204"/>
            <a:ext cx="146685" cy="151507"/>
          </a:xfrm>
          <a:prstGeom prst="rect">
            <a:avLst/>
          </a:prstGeom>
          <a:noFill/>
          <a:ln/>
        </p:spPr>
        <p:txBody>
          <a:bodyPr wrap="none" lIns="0" tIns="0" rIns="0" bIns="0" rtlCol="0" anchor="ctr"/>
          <a:lstStyle/>
          <a:p>
            <a:pPr marL="0" indent="0" algn="l">
              <a:lnSpc>
                <a:spcPts val="1193"/>
              </a:lnSpc>
              <a:buNone/>
            </a:pPr>
            <a:r>
              <a:rPr lang="en-US" sz="840" dirty="0">
                <a:solidFill>
                  <a:srgbClr val="1A1A2E"/>
                </a:solidFill>
                <a:latin typeface="Calibri" pitchFamily="34" charset="0"/>
                <a:ea typeface="Calibri" pitchFamily="34" charset="-122"/>
                <a:cs typeface="Calibri" pitchFamily="34" charset="-120"/>
              </a:rPr>
              <a:t>📋</a:t>
            </a:r>
            <a:endParaRPr lang="en-US" sz="840" dirty="0"/>
          </a:p>
        </p:txBody>
      </p:sp>
      <p:sp>
        <p:nvSpPr>
          <p:cNvPr id="46" name="Text 40"/>
          <p:cNvSpPr/>
          <p:nvPr/>
        </p:nvSpPr>
        <p:spPr>
          <a:xfrm>
            <a:off x="4836319" y="1909614"/>
            <a:ext cx="2832690" cy="131564"/>
          </a:xfrm>
          <a:prstGeom prst="rect">
            <a:avLst/>
          </a:prstGeom>
          <a:noFill/>
          <a:ln/>
        </p:spPr>
        <p:txBody>
          <a:bodyPr wrap="none" lIns="0" tIns="0" rIns="0" bIns="0" rtlCol="0" anchor="ctr"/>
          <a:lstStyle/>
          <a:p>
            <a:pPr marL="0" indent="0" algn="l">
              <a:lnSpc>
                <a:spcPts val="1037"/>
              </a:lnSpc>
              <a:buNone/>
            </a:pPr>
            <a:r>
              <a:rPr lang="en-US" sz="730" dirty="0">
                <a:solidFill>
                  <a:srgbClr val="1A1A2E"/>
                </a:solidFill>
                <a:latin typeface="Calibri" pitchFamily="34" charset="0"/>
                <a:ea typeface="Calibri" pitchFamily="34" charset="-122"/>
                <a:cs typeface="Calibri" pitchFamily="34" charset="-120"/>
              </a:rPr>
              <a:t>Step 2: Open each individual Group Note in the To-Do Widget</a:t>
            </a:r>
            <a:endParaRPr lang="en-US" sz="730" dirty="0"/>
          </a:p>
        </p:txBody>
      </p:sp>
      <p:sp>
        <p:nvSpPr>
          <p:cNvPr id="47" name="Text 41"/>
          <p:cNvSpPr/>
          <p:nvPr/>
        </p:nvSpPr>
        <p:spPr>
          <a:xfrm>
            <a:off x="4645819" y="2097881"/>
            <a:ext cx="1747120" cy="179189"/>
          </a:xfrm>
          <a:prstGeom prst="roundRect">
            <a:avLst>
              <a:gd name="adj" fmla="val 16301"/>
            </a:avLst>
          </a:prstGeom>
          <a:solidFill>
            <a:srgbClr val="F4F9FB"/>
          </a:solidFill>
          <a:ln/>
        </p:spPr>
        <p:txBody>
          <a:bodyPr wrap="none" lIns="71120" tIns="29210" rIns="71120" bIns="29210" rtlCol="0" anchor="t"/>
          <a:lstStyle/>
          <a:p>
            <a:pPr marL="0" indent="0" algn="l">
              <a:buNone/>
            </a:pPr>
            <a:r>
              <a:rPr lang="en-US" sz="690" dirty="0">
                <a:solidFill>
                  <a:srgbClr val="2A3A55"/>
                </a:solidFill>
                <a:latin typeface="Calibri" pitchFamily="34" charset="0"/>
                <a:ea typeface="Calibri" pitchFamily="34" charset="-122"/>
                <a:cs typeface="Calibri" pitchFamily="34" charset="-120"/>
              </a:rPr>
              <a:t>Select objectives tied to session content</a:t>
            </a:r>
            <a:endParaRPr lang="en-US" sz="690" dirty="0"/>
          </a:p>
        </p:txBody>
      </p:sp>
      <p:sp>
        <p:nvSpPr>
          <p:cNvPr id="48" name="Text 42"/>
          <p:cNvSpPr/>
          <p:nvPr/>
        </p:nvSpPr>
        <p:spPr>
          <a:xfrm>
            <a:off x="4645819" y="2097881"/>
            <a:ext cx="19050" cy="179189"/>
          </a:xfrm>
          <a:custGeom>
            <a:avLst/>
            <a:gdLst/>
            <a:ahLst/>
            <a:cxnLst/>
            <a:rect l="l" t="t" r="r" b="b"/>
            <a:pathLst>
              <a:path w="19050" h="179189">
                <a:moveTo>
                  <a:pt x="0" y="29210"/>
                </a:moveTo>
                <a:lnTo>
                  <a:pt x="2381" y="17658"/>
                </a:lnTo>
                <a:lnTo>
                  <a:pt x="4763" y="13224"/>
                </a:lnTo>
                <a:lnTo>
                  <a:pt x="7144" y="10071"/>
                </a:lnTo>
                <a:lnTo>
                  <a:pt x="9525" y="7629"/>
                </a:lnTo>
                <a:lnTo>
                  <a:pt x="11906" y="5677"/>
                </a:lnTo>
                <a:lnTo>
                  <a:pt x="14288" y="4099"/>
                </a:lnTo>
                <a:lnTo>
                  <a:pt x="16669" y="2829"/>
                </a:lnTo>
                <a:lnTo>
                  <a:pt x="19050" y="1824"/>
                </a:lnTo>
                <a:lnTo>
                  <a:pt x="19050" y="177365"/>
                </a:lnTo>
                <a:lnTo>
                  <a:pt x="16669" y="176360"/>
                </a:lnTo>
                <a:lnTo>
                  <a:pt x="14288" y="175090"/>
                </a:lnTo>
                <a:lnTo>
                  <a:pt x="11906" y="173512"/>
                </a:lnTo>
                <a:lnTo>
                  <a:pt x="9525" y="171560"/>
                </a:lnTo>
                <a:lnTo>
                  <a:pt x="7144" y="169118"/>
                </a:lnTo>
                <a:lnTo>
                  <a:pt x="4763" y="165965"/>
                </a:lnTo>
                <a:lnTo>
                  <a:pt x="2381" y="161531"/>
                </a:lnTo>
                <a:lnTo>
                  <a:pt x="0" y="149979"/>
                </a:lnTo>
                <a:close/>
              </a:path>
            </a:pathLst>
          </a:custGeom>
          <a:solidFill>
            <a:srgbClr val="A8CFD8"/>
          </a:solidFill>
          <a:ln/>
        </p:spPr>
        <p:txBody>
          <a:bodyPr wrap="none" rtlCol="0" anchor="t"/>
          <a:lstStyle/>
          <a:p>
            <a:pPr marL="0" indent="0">
              <a:buNone/>
            </a:pPr>
            <a:endParaRPr lang="en-US" dirty="0"/>
          </a:p>
        </p:txBody>
      </p:sp>
      <p:sp>
        <p:nvSpPr>
          <p:cNvPr id="49" name="Text 43"/>
          <p:cNvSpPr/>
          <p:nvPr/>
        </p:nvSpPr>
        <p:spPr>
          <a:xfrm>
            <a:off x="4645819" y="2335411"/>
            <a:ext cx="2238208" cy="179189"/>
          </a:xfrm>
          <a:prstGeom prst="roundRect">
            <a:avLst>
              <a:gd name="adj" fmla="val 16301"/>
            </a:avLst>
          </a:prstGeom>
          <a:solidFill>
            <a:srgbClr val="F4F9FB"/>
          </a:solidFill>
          <a:ln/>
        </p:spPr>
        <p:txBody>
          <a:bodyPr wrap="none" lIns="71120" tIns="29210" rIns="71120" bIns="29210" rtlCol="0" anchor="t"/>
          <a:lstStyle/>
          <a:p>
            <a:pPr marL="0" indent="0" algn="l">
              <a:lnSpc>
                <a:spcPts val="952"/>
              </a:lnSpc>
              <a:buNone/>
            </a:pPr>
            <a:r>
              <a:rPr lang="en-US" sz="690" dirty="0">
                <a:solidFill>
                  <a:srgbClr val="2A3A55"/>
                </a:solidFill>
                <a:latin typeface="Calibri" pitchFamily="34" charset="0"/>
                <a:ea typeface="Calibri" pitchFamily="34" charset="-122"/>
                <a:cs typeface="Calibri" pitchFamily="34" charset="-120"/>
              </a:rPr>
              <a:t>Add </a:t>
            </a:r>
            <a:r>
              <a:rPr lang="en-US" sz="690" b="1" dirty="0">
                <a:solidFill>
                  <a:srgbClr val="2A3A55"/>
                </a:solidFill>
                <a:latin typeface="Calibri" pitchFamily="34" charset="0"/>
                <a:ea typeface="Calibri" pitchFamily="34" charset="-122"/>
                <a:cs typeface="Calibri" pitchFamily="34" charset="-120"/>
              </a:rPr>
              <a:t>individualized progress</a:t>
            </a:r>
            <a:r>
              <a:rPr lang="en-US" sz="690" dirty="0">
                <a:solidFill>
                  <a:srgbClr val="2A3A55"/>
                </a:solidFill>
                <a:latin typeface="Calibri" pitchFamily="34" charset="0"/>
                <a:ea typeface="Calibri" pitchFamily="34" charset="-122"/>
                <a:cs typeface="Calibri" pitchFamily="34" charset="-120"/>
              </a:rPr>
              <a:t> and interaction details</a:t>
            </a:r>
            <a:endParaRPr lang="en-US" sz="690" dirty="0"/>
          </a:p>
        </p:txBody>
      </p:sp>
      <p:sp>
        <p:nvSpPr>
          <p:cNvPr id="50" name="Text 44"/>
          <p:cNvSpPr/>
          <p:nvPr/>
        </p:nvSpPr>
        <p:spPr>
          <a:xfrm>
            <a:off x="4645819" y="2335411"/>
            <a:ext cx="19050" cy="179189"/>
          </a:xfrm>
          <a:custGeom>
            <a:avLst/>
            <a:gdLst/>
            <a:ahLst/>
            <a:cxnLst/>
            <a:rect l="l" t="t" r="r" b="b"/>
            <a:pathLst>
              <a:path w="19050" h="179189">
                <a:moveTo>
                  <a:pt x="0" y="29210"/>
                </a:moveTo>
                <a:lnTo>
                  <a:pt x="2381" y="17658"/>
                </a:lnTo>
                <a:lnTo>
                  <a:pt x="4763" y="13224"/>
                </a:lnTo>
                <a:lnTo>
                  <a:pt x="7144" y="10071"/>
                </a:lnTo>
                <a:lnTo>
                  <a:pt x="9525" y="7629"/>
                </a:lnTo>
                <a:lnTo>
                  <a:pt x="11906" y="5677"/>
                </a:lnTo>
                <a:lnTo>
                  <a:pt x="14288" y="4099"/>
                </a:lnTo>
                <a:lnTo>
                  <a:pt x="16669" y="2829"/>
                </a:lnTo>
                <a:lnTo>
                  <a:pt x="19050" y="1824"/>
                </a:lnTo>
                <a:lnTo>
                  <a:pt x="19050" y="177365"/>
                </a:lnTo>
                <a:lnTo>
                  <a:pt x="16669" y="176360"/>
                </a:lnTo>
                <a:lnTo>
                  <a:pt x="14288" y="175090"/>
                </a:lnTo>
                <a:lnTo>
                  <a:pt x="11906" y="173512"/>
                </a:lnTo>
                <a:lnTo>
                  <a:pt x="9525" y="171560"/>
                </a:lnTo>
                <a:lnTo>
                  <a:pt x="7144" y="169118"/>
                </a:lnTo>
                <a:lnTo>
                  <a:pt x="4763" y="165965"/>
                </a:lnTo>
                <a:lnTo>
                  <a:pt x="2381" y="161531"/>
                </a:lnTo>
                <a:lnTo>
                  <a:pt x="0" y="149979"/>
                </a:lnTo>
                <a:close/>
              </a:path>
            </a:pathLst>
          </a:custGeom>
          <a:solidFill>
            <a:srgbClr val="A8CFD8"/>
          </a:solidFill>
          <a:ln/>
        </p:spPr>
        <p:txBody>
          <a:bodyPr wrap="none" rtlCol="0" anchor="t"/>
          <a:lstStyle/>
          <a:p>
            <a:pPr marL="0" indent="0">
              <a:buNone/>
            </a:pPr>
            <a:endParaRPr lang="en-US" dirty="0"/>
          </a:p>
        </p:txBody>
      </p:sp>
      <p:sp>
        <p:nvSpPr>
          <p:cNvPr id="51" name="Text 45"/>
          <p:cNvSpPr/>
          <p:nvPr/>
        </p:nvSpPr>
        <p:spPr>
          <a:xfrm>
            <a:off x="4645819" y="2572941"/>
            <a:ext cx="3012109" cy="179189"/>
          </a:xfrm>
          <a:prstGeom prst="roundRect">
            <a:avLst>
              <a:gd name="adj" fmla="val 16301"/>
            </a:avLst>
          </a:prstGeom>
          <a:solidFill>
            <a:srgbClr val="F4F9FB"/>
          </a:solidFill>
          <a:ln/>
        </p:spPr>
        <p:txBody>
          <a:bodyPr wrap="none" lIns="71120" tIns="29210" rIns="71120" bIns="29210" rtlCol="0" anchor="t"/>
          <a:lstStyle/>
          <a:p>
            <a:pPr marL="0" indent="0" algn="l">
              <a:lnSpc>
                <a:spcPts val="952"/>
              </a:lnSpc>
              <a:buNone/>
            </a:pPr>
            <a:r>
              <a:rPr lang="en-US" sz="690" dirty="0">
                <a:solidFill>
                  <a:srgbClr val="2A3A55"/>
                </a:solidFill>
                <a:latin typeface="Calibri" pitchFamily="34" charset="0"/>
                <a:ea typeface="Calibri" pitchFamily="34" charset="-122"/>
                <a:cs typeface="Calibri" pitchFamily="34" charset="-120"/>
              </a:rPr>
              <a:t>Complete required fields → </a:t>
            </a:r>
            <a:r>
              <a:rPr lang="en-US" sz="690" b="1" dirty="0">
                <a:solidFill>
                  <a:srgbClr val="2A3A55"/>
                </a:solidFill>
                <a:latin typeface="Calibri" pitchFamily="34" charset="0"/>
                <a:ea typeface="Calibri" pitchFamily="34" charset="-122"/>
                <a:cs typeface="Calibri" pitchFamily="34" charset="-120"/>
              </a:rPr>
              <a:t>Final &amp; File</a:t>
            </a:r>
            <a:r>
              <a:rPr lang="en-US" sz="690" dirty="0">
                <a:solidFill>
                  <a:srgbClr val="2A3A55"/>
                </a:solidFill>
                <a:latin typeface="Calibri" pitchFamily="34" charset="0"/>
                <a:ea typeface="Calibri" pitchFamily="34" charset="-122"/>
                <a:cs typeface="Calibri" pitchFamily="34" charset="-120"/>
              </a:rPr>
              <a:t> (next note opens automatically)</a:t>
            </a:r>
            <a:endParaRPr lang="en-US" sz="690" dirty="0"/>
          </a:p>
        </p:txBody>
      </p:sp>
      <p:sp>
        <p:nvSpPr>
          <p:cNvPr id="52" name="Text 46"/>
          <p:cNvSpPr/>
          <p:nvPr/>
        </p:nvSpPr>
        <p:spPr>
          <a:xfrm>
            <a:off x="4645819" y="2572941"/>
            <a:ext cx="19050" cy="179189"/>
          </a:xfrm>
          <a:custGeom>
            <a:avLst/>
            <a:gdLst/>
            <a:ahLst/>
            <a:cxnLst/>
            <a:rect l="l" t="t" r="r" b="b"/>
            <a:pathLst>
              <a:path w="19050" h="179189">
                <a:moveTo>
                  <a:pt x="0" y="29210"/>
                </a:moveTo>
                <a:lnTo>
                  <a:pt x="2381" y="17658"/>
                </a:lnTo>
                <a:lnTo>
                  <a:pt x="4763" y="13224"/>
                </a:lnTo>
                <a:lnTo>
                  <a:pt x="7144" y="10071"/>
                </a:lnTo>
                <a:lnTo>
                  <a:pt x="9525" y="7629"/>
                </a:lnTo>
                <a:lnTo>
                  <a:pt x="11906" y="5677"/>
                </a:lnTo>
                <a:lnTo>
                  <a:pt x="14288" y="4099"/>
                </a:lnTo>
                <a:lnTo>
                  <a:pt x="16669" y="2829"/>
                </a:lnTo>
                <a:lnTo>
                  <a:pt x="19050" y="1824"/>
                </a:lnTo>
                <a:lnTo>
                  <a:pt x="19050" y="177365"/>
                </a:lnTo>
                <a:lnTo>
                  <a:pt x="16669" y="176360"/>
                </a:lnTo>
                <a:lnTo>
                  <a:pt x="14288" y="175090"/>
                </a:lnTo>
                <a:lnTo>
                  <a:pt x="11906" y="173512"/>
                </a:lnTo>
                <a:lnTo>
                  <a:pt x="9525" y="171560"/>
                </a:lnTo>
                <a:lnTo>
                  <a:pt x="7144" y="169118"/>
                </a:lnTo>
                <a:lnTo>
                  <a:pt x="4763" y="165965"/>
                </a:lnTo>
                <a:lnTo>
                  <a:pt x="2381" y="161531"/>
                </a:lnTo>
                <a:lnTo>
                  <a:pt x="0" y="149979"/>
                </a:lnTo>
                <a:close/>
              </a:path>
            </a:pathLst>
          </a:custGeom>
          <a:solidFill>
            <a:srgbClr val="A8CFD8"/>
          </a:solidFill>
          <a:ln/>
        </p:spPr>
        <p:txBody>
          <a:bodyPr wrap="none" rtlCol="0" anchor="t"/>
          <a:lstStyle/>
          <a:p>
            <a:pPr marL="0" indent="0">
              <a:buNone/>
            </a:pPr>
            <a:endParaRPr lang="en-US" dirty="0"/>
          </a:p>
        </p:txBody>
      </p:sp>
      <p:sp>
        <p:nvSpPr>
          <p:cNvPr id="53" name="Text 47"/>
          <p:cNvSpPr/>
          <p:nvPr/>
        </p:nvSpPr>
        <p:spPr>
          <a:xfrm>
            <a:off x="4530923" y="2931021"/>
            <a:ext cx="4412456" cy="356295"/>
          </a:xfrm>
          <a:prstGeom prst="roundRect">
            <a:avLst>
              <a:gd name="adj" fmla="val 9980"/>
            </a:avLst>
          </a:prstGeom>
          <a:solidFill>
            <a:srgbClr val="FFF8E8"/>
          </a:solidFill>
          <a:ln/>
        </p:spPr>
        <p:txBody>
          <a:bodyPr wrap="square" rtlCol="0" anchor="t"/>
          <a:lstStyle/>
          <a:p>
            <a:pPr marL="0" indent="0">
              <a:buNone/>
            </a:pPr>
            <a:endParaRPr lang="en-US" dirty="0"/>
          </a:p>
        </p:txBody>
      </p:sp>
      <p:sp>
        <p:nvSpPr>
          <p:cNvPr id="54" name="Text 48"/>
          <p:cNvSpPr/>
          <p:nvPr/>
        </p:nvSpPr>
        <p:spPr>
          <a:xfrm>
            <a:off x="4530923" y="2931021"/>
            <a:ext cx="28575" cy="356295"/>
          </a:xfrm>
          <a:custGeom>
            <a:avLst/>
            <a:gdLst/>
            <a:ahLst/>
            <a:cxnLst/>
            <a:rect l="l" t="t" r="r" b="b"/>
            <a:pathLst>
              <a:path w="28575" h="356295">
                <a:moveTo>
                  <a:pt x="0" y="35560"/>
                </a:moveTo>
                <a:lnTo>
                  <a:pt x="3572" y="20027"/>
                </a:lnTo>
                <a:lnTo>
                  <a:pt x="7144" y="14182"/>
                </a:lnTo>
                <a:lnTo>
                  <a:pt x="10716" y="10118"/>
                </a:lnTo>
                <a:lnTo>
                  <a:pt x="14288" y="7064"/>
                </a:lnTo>
                <a:lnTo>
                  <a:pt x="17859" y="4718"/>
                </a:lnTo>
                <a:lnTo>
                  <a:pt x="21431" y="2927"/>
                </a:lnTo>
                <a:lnTo>
                  <a:pt x="25003" y="1603"/>
                </a:lnTo>
                <a:lnTo>
                  <a:pt x="28575" y="693"/>
                </a:lnTo>
                <a:lnTo>
                  <a:pt x="28575" y="355602"/>
                </a:lnTo>
                <a:lnTo>
                  <a:pt x="25003" y="354691"/>
                </a:lnTo>
                <a:lnTo>
                  <a:pt x="21431" y="353367"/>
                </a:lnTo>
                <a:lnTo>
                  <a:pt x="17859" y="351576"/>
                </a:lnTo>
                <a:lnTo>
                  <a:pt x="14288" y="349230"/>
                </a:lnTo>
                <a:lnTo>
                  <a:pt x="10716" y="346176"/>
                </a:lnTo>
                <a:lnTo>
                  <a:pt x="7144" y="342113"/>
                </a:lnTo>
                <a:lnTo>
                  <a:pt x="3572" y="336268"/>
                </a:lnTo>
                <a:lnTo>
                  <a:pt x="0" y="320735"/>
                </a:lnTo>
                <a:close/>
              </a:path>
            </a:pathLst>
          </a:custGeom>
          <a:solidFill>
            <a:srgbClr val="F4B753"/>
          </a:solidFill>
          <a:ln/>
        </p:spPr>
        <p:txBody>
          <a:bodyPr wrap="square" rtlCol="0" anchor="t"/>
          <a:lstStyle/>
          <a:p>
            <a:pPr marL="0" indent="0">
              <a:buNone/>
            </a:pPr>
            <a:endParaRPr lang="en-US" dirty="0"/>
          </a:p>
        </p:txBody>
      </p:sp>
      <p:pic>
        <p:nvPicPr>
          <p:cNvPr id="55"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633847" y="2976051"/>
            <a:ext cx="132588" cy="132588"/>
          </a:xfrm>
          <a:prstGeom prst="rect">
            <a:avLst/>
          </a:prstGeom>
        </p:spPr>
      </p:pic>
      <p:sp>
        <p:nvSpPr>
          <p:cNvPr id="56" name="Text 49"/>
          <p:cNvSpPr/>
          <p:nvPr/>
        </p:nvSpPr>
        <p:spPr>
          <a:xfrm>
            <a:off x="4812953" y="2980432"/>
            <a:ext cx="4118613" cy="270346"/>
          </a:xfrm>
          <a:prstGeom prst="rect">
            <a:avLst/>
          </a:prstGeom>
          <a:noFill/>
          <a:ln/>
        </p:spPr>
        <p:txBody>
          <a:bodyPr wrap="square" lIns="0" tIns="0" rIns="0" bIns="0" rtlCol="0" anchor="ctr"/>
          <a:lstStyle/>
          <a:p>
            <a:pPr marL="0" indent="0" algn="l">
              <a:lnSpc>
                <a:spcPts val="1015"/>
              </a:lnSpc>
              <a:buNone/>
            </a:pPr>
            <a:r>
              <a:rPr lang="en-US" sz="700" dirty="0">
                <a:solidFill>
                  <a:srgbClr val="7A5800"/>
                </a:solidFill>
                <a:latin typeface="Calibri" pitchFamily="34" charset="0"/>
                <a:ea typeface="Calibri" pitchFamily="34" charset="-122"/>
                <a:cs typeface="Calibri" pitchFamily="34" charset="-120"/>
              </a:rPr>
              <a:t>Tip: Always Check-In members before writing the note — uncheckd members will not appear in To-Do group notes.</a:t>
            </a:r>
            <a:endParaRPr lang="en-US" sz="700" dirty="0"/>
          </a:p>
        </p:txBody>
      </p:sp>
      <p:sp>
        <p:nvSpPr>
          <p:cNvPr id="57" name="Text 50"/>
          <p:cNvSpPr/>
          <p:nvPr/>
        </p:nvSpPr>
        <p:spPr>
          <a:xfrm>
            <a:off x="-91440" y="4905673"/>
            <a:ext cx="9326880" cy="237827"/>
          </a:xfrm>
          <a:prstGeom prst="rect">
            <a:avLst/>
          </a:prstGeom>
          <a:solidFill>
            <a:srgbClr val="141A42"/>
          </a:solidFill>
          <a:ln/>
        </p:spPr>
        <p:txBody>
          <a:bodyPr wrap="none" lIns="285750" tIns="49530" rIns="285750" bIns="49530" rtlCol="0" anchor="ctr"/>
          <a:lstStyle/>
          <a:p>
            <a:pPr marL="0" indent="0" algn="ctr">
              <a:buNone/>
            </a:pPr>
            <a:r>
              <a:rPr lang="en-US" sz="730" b="1" kern="0" spc="44" dirty="0">
                <a:solidFill>
                  <a:srgbClr val="98CDDD"/>
                </a:solidFill>
                <a:latin typeface="Calibri" pitchFamily="34" charset="0"/>
                <a:ea typeface="Calibri" pitchFamily="34" charset="-122"/>
                <a:cs typeface="Calibri" pitchFamily="34" charset="-120"/>
              </a:rPr>
              <a:t>Centerstone </a:t>
            </a:r>
            <a:r>
              <a:rPr lang="en-US" sz="730" b="1" kern="0" spc="44">
                <a:solidFill>
                  <a:srgbClr val="98CDDD"/>
                </a:solidFill>
                <a:latin typeface="Calibri" pitchFamily="34" charset="0"/>
                <a:ea typeface="Calibri" pitchFamily="34" charset="-122"/>
                <a:cs typeface="Calibri" pitchFamily="34" charset="-120"/>
              </a:rPr>
              <a:t>Clinical</a:t>
            </a:r>
            <a:r>
              <a:rPr lang="en-US" sz="730" b="1" kern="0" spc="44" dirty="0">
                <a:solidFill>
                  <a:srgbClr val="98CDDD"/>
                </a:solidFill>
                <a:latin typeface="Calibri" pitchFamily="34" charset="0"/>
                <a:ea typeface="Calibri" pitchFamily="34" charset="-122"/>
                <a:cs typeface="Calibri" pitchFamily="34" charset="-120"/>
              </a:rPr>
              <a:t> Training Series</a:t>
            </a:r>
            <a:endParaRPr lang="en-US" sz="73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326880" cy="422970"/>
          </a:xfrm>
          <a:prstGeom prst="rect">
            <a:avLst/>
          </a:prstGeom>
          <a:solidFill>
            <a:srgbClr val="367689"/>
          </a:solidFill>
          <a:ln/>
        </p:spPr>
        <p:txBody>
          <a:bodyPr wrap="none" lIns="257810" tIns="100330" rIns="257810" bIns="0" rtlCol="0" anchor="t"/>
          <a:lstStyle/>
          <a:p>
            <a:pPr marL="0" indent="0" algn="l">
              <a:buNone/>
            </a:pPr>
            <a:r>
              <a:rPr lang="en-US" sz="1460" b="1" kern="0" spc="29" dirty="0">
                <a:solidFill>
                  <a:srgbClr val="FFFFFF"/>
                </a:solidFill>
                <a:latin typeface="Calibri Light" pitchFamily="34" charset="0"/>
                <a:ea typeface="Calibri Light" pitchFamily="34" charset="-122"/>
                <a:cs typeface="Calibri Light" pitchFamily="34" charset="-120"/>
              </a:rPr>
              <a:t>  </a:t>
            </a:r>
            <a:r>
              <a:rPr lang="en-US" sz="1460" b="1" kern="0" spc="29">
                <a:solidFill>
                  <a:srgbClr val="FFFFFF"/>
                </a:solidFill>
                <a:latin typeface="Calibri Light" pitchFamily="34" charset="0"/>
                <a:ea typeface="Calibri Light" pitchFamily="34" charset="-122"/>
                <a:cs typeface="Calibri Light" pitchFamily="34" charset="-120"/>
              </a:rPr>
              <a:t>When Things Don't Go As Planned</a:t>
            </a:r>
            <a:endParaRPr lang="en-US" sz="1460" dirty="0"/>
          </a:p>
        </p:txBody>
      </p:sp>
      <p:sp>
        <p:nvSpPr>
          <p:cNvPr id="3" name="Text 1"/>
          <p:cNvSpPr/>
          <p:nvPr/>
        </p:nvSpPr>
        <p:spPr>
          <a:xfrm>
            <a:off x="257770" y="393799"/>
            <a:ext cx="8628459" cy="29170"/>
          </a:xfrm>
          <a:prstGeom prst="rect">
            <a:avLst/>
          </a:prstGeom>
          <a:solidFill>
            <a:srgbClr val="F4B753"/>
          </a:solidFill>
          <a:ln/>
        </p:spPr>
        <p:txBody>
          <a:bodyPr wrap="none" rtlCol="0" anchor="t"/>
          <a:lstStyle/>
          <a:p>
            <a:pPr marL="0" indent="0">
              <a:buNone/>
            </a:pPr>
            <a:endParaRPr lang="en-US" dirty="0"/>
          </a:p>
        </p:txBody>
      </p:sp>
      <p:sp>
        <p:nvSpPr>
          <p:cNvPr id="4" name="Text 2"/>
          <p:cNvSpPr/>
          <p:nvPr/>
        </p:nvSpPr>
        <p:spPr>
          <a:xfrm>
            <a:off x="157460" y="523280"/>
            <a:ext cx="2153989" cy="1037034"/>
          </a:xfrm>
          <a:prstGeom prst="roundRect">
            <a:avLst>
              <a:gd name="adj" fmla="val 4164"/>
            </a:avLst>
          </a:prstGeom>
          <a:solidFill>
            <a:srgbClr val="FFFFFF"/>
          </a:solidFill>
          <a:ln/>
          <a:effectLst>
            <a:outerShdw blurRad="57150" dist="13970" dir="5400000" algn="bl" rotWithShape="0">
              <a:srgbClr val="000000">
                <a:alpha val="6000"/>
              </a:srgbClr>
            </a:outerShdw>
          </a:effectLst>
        </p:spPr>
        <p:txBody>
          <a:bodyPr wrap="square" rtlCol="0" anchor="t"/>
          <a:lstStyle/>
          <a:p>
            <a:pPr marL="0" indent="0">
              <a:buNone/>
            </a:pPr>
            <a:endParaRPr lang="en-US" dirty="0"/>
          </a:p>
        </p:txBody>
      </p:sp>
      <p:sp>
        <p:nvSpPr>
          <p:cNvPr id="5" name="Text 3"/>
          <p:cNvSpPr/>
          <p:nvPr/>
        </p:nvSpPr>
        <p:spPr>
          <a:xfrm>
            <a:off x="157460" y="523280"/>
            <a:ext cx="38100" cy="1037034"/>
          </a:xfrm>
          <a:custGeom>
            <a:avLst/>
            <a:gdLst/>
            <a:ahLst/>
            <a:cxnLst/>
            <a:rect l="l" t="t" r="r" b="b"/>
            <a:pathLst>
              <a:path w="38100" h="1037034">
                <a:moveTo>
                  <a:pt x="0" y="43180"/>
                </a:moveTo>
                <a:lnTo>
                  <a:pt x="4763" y="23467"/>
                </a:lnTo>
                <a:lnTo>
                  <a:pt x="9525" y="16127"/>
                </a:lnTo>
                <a:lnTo>
                  <a:pt x="14288" y="11090"/>
                </a:lnTo>
                <a:lnTo>
                  <a:pt x="19050" y="7371"/>
                </a:lnTo>
                <a:lnTo>
                  <a:pt x="23813" y="4587"/>
                </a:lnTo>
                <a:lnTo>
                  <a:pt x="28575" y="2545"/>
                </a:lnTo>
                <a:lnTo>
                  <a:pt x="33338" y="1137"/>
                </a:lnTo>
                <a:lnTo>
                  <a:pt x="38100" y="300"/>
                </a:lnTo>
                <a:lnTo>
                  <a:pt x="38100" y="1036735"/>
                </a:lnTo>
                <a:lnTo>
                  <a:pt x="33338" y="1035898"/>
                </a:lnTo>
                <a:lnTo>
                  <a:pt x="28575" y="1034489"/>
                </a:lnTo>
                <a:lnTo>
                  <a:pt x="23813" y="1032447"/>
                </a:lnTo>
                <a:lnTo>
                  <a:pt x="19050" y="1029663"/>
                </a:lnTo>
                <a:lnTo>
                  <a:pt x="14288" y="1025944"/>
                </a:lnTo>
                <a:lnTo>
                  <a:pt x="9525" y="1020907"/>
                </a:lnTo>
                <a:lnTo>
                  <a:pt x="4763" y="1013568"/>
                </a:lnTo>
                <a:lnTo>
                  <a:pt x="0" y="993854"/>
                </a:lnTo>
                <a:close/>
              </a:path>
            </a:pathLst>
          </a:custGeom>
          <a:solidFill>
            <a:srgbClr val="E4923F"/>
          </a:solidFill>
          <a:ln/>
        </p:spPr>
        <p:txBody>
          <a:bodyPr wrap="square" rtlCol="0" anchor="t"/>
          <a:lstStyle/>
          <a:p>
            <a:pPr marL="0" indent="0">
              <a:buNone/>
            </a:pPr>
            <a:endParaRPr lang="en-US" dirty="0"/>
          </a:p>
        </p:txBody>
      </p:sp>
      <p:sp>
        <p:nvSpPr>
          <p:cNvPr id="6" name="Text 4"/>
          <p:cNvSpPr/>
          <p:nvPr/>
        </p:nvSpPr>
        <p:spPr>
          <a:xfrm>
            <a:off x="288131" y="619125"/>
            <a:ext cx="2113344" cy="143470"/>
          </a:xfrm>
          <a:prstGeom prst="rect">
            <a:avLst/>
          </a:prstGeom>
          <a:noFill/>
          <a:ln/>
        </p:spPr>
        <p:txBody>
          <a:bodyPr wrap="none" lIns="0" tIns="0" rIns="0" bIns="0" rtlCol="0" anchor="t"/>
          <a:lstStyle/>
          <a:p>
            <a:pPr marL="0" indent="0" algn="l">
              <a:lnSpc>
                <a:spcPts val="1130"/>
              </a:lnSpc>
              <a:buNone/>
            </a:pPr>
            <a:r>
              <a:rPr lang="en-US" sz="1130" dirty="0">
                <a:solidFill>
                  <a:srgbClr val="1A1A2E"/>
                </a:solidFill>
                <a:latin typeface="Calibri" pitchFamily="34" charset="0"/>
                <a:ea typeface="Calibri" pitchFamily="34" charset="-122"/>
                <a:cs typeface="Calibri" pitchFamily="34" charset="-120"/>
              </a:rPr>
              <a:t>⚠️</a:t>
            </a:r>
            <a:endParaRPr lang="en-US" sz="1130" dirty="0"/>
          </a:p>
        </p:txBody>
      </p:sp>
      <p:sp>
        <p:nvSpPr>
          <p:cNvPr id="7" name="Text 5"/>
          <p:cNvSpPr/>
          <p:nvPr/>
        </p:nvSpPr>
        <p:spPr>
          <a:xfrm>
            <a:off x="288131" y="798016"/>
            <a:ext cx="2113344" cy="120700"/>
          </a:xfrm>
          <a:prstGeom prst="rect">
            <a:avLst/>
          </a:prstGeom>
          <a:noFill/>
          <a:ln/>
        </p:spPr>
        <p:txBody>
          <a:bodyPr wrap="none" lIns="0" tIns="0" rIns="0" bIns="0" rtlCol="0" anchor="t"/>
          <a:lstStyle/>
          <a:p>
            <a:pPr marL="0" indent="0" algn="l">
              <a:lnSpc>
                <a:spcPts val="950"/>
              </a:lnSpc>
              <a:buNone/>
            </a:pPr>
            <a:r>
              <a:rPr lang="en-US" sz="760" b="1" dirty="0">
                <a:solidFill>
                  <a:srgbClr val="B05A10"/>
                </a:solidFill>
                <a:latin typeface="Calibri Light" pitchFamily="34" charset="0"/>
                <a:ea typeface="Calibri Light" pitchFamily="34" charset="-122"/>
                <a:cs typeface="Calibri Light" pitchFamily="34" charset="-120"/>
              </a:rPr>
              <a:t>Teacher Resistance</a:t>
            </a:r>
            <a:endParaRPr lang="en-US" sz="760" dirty="0"/>
          </a:p>
        </p:txBody>
      </p:sp>
      <p:sp>
        <p:nvSpPr>
          <p:cNvPr id="8" name="Text 6"/>
          <p:cNvSpPr/>
          <p:nvPr/>
        </p:nvSpPr>
        <p:spPr>
          <a:xfrm>
            <a:off x="288131" y="954137"/>
            <a:ext cx="1959647" cy="543818"/>
          </a:xfrm>
          <a:prstGeom prst="rect">
            <a:avLst/>
          </a:prstGeom>
          <a:noFill/>
          <a:ln/>
        </p:spPr>
        <p:txBody>
          <a:bodyPr wrap="square" lIns="0" tIns="0" rIns="0" bIns="0" rtlCol="0" anchor="t"/>
          <a:lstStyle/>
          <a:p>
            <a:pPr marL="0" indent="0" algn="l">
              <a:lnSpc>
                <a:spcPts val="1020"/>
              </a:lnSpc>
              <a:buNone/>
            </a:pPr>
            <a:r>
              <a:rPr lang="en-US" sz="680" dirty="0">
                <a:solidFill>
                  <a:srgbClr val="3A3A5A"/>
                </a:solidFill>
                <a:latin typeface="Calibri" pitchFamily="34" charset="0"/>
                <a:ea typeface="Calibri" pitchFamily="34" charset="-122"/>
                <a:cs typeface="Calibri" pitchFamily="34" charset="-120"/>
              </a:rPr>
              <a:t>Communicate early, in writing, and consistently. Offer a predictable schedule so teachers can plan. Your relationship with the teacher is part of the intervention.</a:t>
            </a:r>
            <a:endParaRPr lang="en-US" sz="680" dirty="0"/>
          </a:p>
        </p:txBody>
      </p:sp>
      <p:sp>
        <p:nvSpPr>
          <p:cNvPr id="9" name="Text 7"/>
          <p:cNvSpPr/>
          <p:nvPr/>
        </p:nvSpPr>
        <p:spPr>
          <a:xfrm>
            <a:off x="2382441" y="523280"/>
            <a:ext cx="2154138" cy="1037034"/>
          </a:xfrm>
          <a:prstGeom prst="roundRect">
            <a:avLst>
              <a:gd name="adj" fmla="val 4164"/>
            </a:avLst>
          </a:prstGeom>
          <a:solidFill>
            <a:srgbClr val="FFFFFF"/>
          </a:solidFill>
          <a:ln/>
          <a:effectLst>
            <a:outerShdw blurRad="57150" dist="13970" dir="5400000" algn="bl" rotWithShape="0">
              <a:srgbClr val="000000">
                <a:alpha val="6000"/>
              </a:srgbClr>
            </a:outerShdw>
          </a:effectLst>
        </p:spPr>
        <p:txBody>
          <a:bodyPr wrap="square" rtlCol="0" anchor="t"/>
          <a:lstStyle/>
          <a:p>
            <a:pPr marL="0" indent="0">
              <a:buNone/>
            </a:pPr>
            <a:endParaRPr lang="en-US" dirty="0"/>
          </a:p>
        </p:txBody>
      </p:sp>
      <p:sp>
        <p:nvSpPr>
          <p:cNvPr id="10" name="Text 8"/>
          <p:cNvSpPr/>
          <p:nvPr/>
        </p:nvSpPr>
        <p:spPr>
          <a:xfrm>
            <a:off x="2382441" y="523280"/>
            <a:ext cx="38100" cy="1037034"/>
          </a:xfrm>
          <a:custGeom>
            <a:avLst/>
            <a:gdLst/>
            <a:ahLst/>
            <a:cxnLst/>
            <a:rect l="l" t="t" r="r" b="b"/>
            <a:pathLst>
              <a:path w="38100" h="1037034">
                <a:moveTo>
                  <a:pt x="0" y="43180"/>
                </a:moveTo>
                <a:lnTo>
                  <a:pt x="4763" y="23467"/>
                </a:lnTo>
                <a:lnTo>
                  <a:pt x="9525" y="16127"/>
                </a:lnTo>
                <a:lnTo>
                  <a:pt x="14288" y="11090"/>
                </a:lnTo>
                <a:lnTo>
                  <a:pt x="19050" y="7371"/>
                </a:lnTo>
                <a:lnTo>
                  <a:pt x="23813" y="4587"/>
                </a:lnTo>
                <a:lnTo>
                  <a:pt x="28575" y="2545"/>
                </a:lnTo>
                <a:lnTo>
                  <a:pt x="33338" y="1137"/>
                </a:lnTo>
                <a:lnTo>
                  <a:pt x="38100" y="300"/>
                </a:lnTo>
                <a:lnTo>
                  <a:pt x="38100" y="1036735"/>
                </a:lnTo>
                <a:lnTo>
                  <a:pt x="33338" y="1035898"/>
                </a:lnTo>
                <a:lnTo>
                  <a:pt x="28575" y="1034489"/>
                </a:lnTo>
                <a:lnTo>
                  <a:pt x="23813" y="1032447"/>
                </a:lnTo>
                <a:lnTo>
                  <a:pt x="19050" y="1029663"/>
                </a:lnTo>
                <a:lnTo>
                  <a:pt x="14288" y="1025944"/>
                </a:lnTo>
                <a:lnTo>
                  <a:pt x="9525" y="1020907"/>
                </a:lnTo>
                <a:lnTo>
                  <a:pt x="4763" y="1013568"/>
                </a:lnTo>
                <a:lnTo>
                  <a:pt x="0" y="993854"/>
                </a:lnTo>
                <a:close/>
              </a:path>
            </a:pathLst>
          </a:custGeom>
          <a:solidFill>
            <a:srgbClr val="55A49C"/>
          </a:solidFill>
          <a:ln/>
        </p:spPr>
        <p:txBody>
          <a:bodyPr wrap="square" rtlCol="0" anchor="t"/>
          <a:lstStyle/>
          <a:p>
            <a:pPr marL="0" indent="0">
              <a:buNone/>
            </a:pPr>
            <a:endParaRPr lang="en-US" dirty="0"/>
          </a:p>
        </p:txBody>
      </p:sp>
      <p:sp>
        <p:nvSpPr>
          <p:cNvPr id="11" name="Text 9"/>
          <p:cNvSpPr/>
          <p:nvPr/>
        </p:nvSpPr>
        <p:spPr>
          <a:xfrm>
            <a:off x="2513112" y="619125"/>
            <a:ext cx="2113508" cy="143470"/>
          </a:xfrm>
          <a:prstGeom prst="rect">
            <a:avLst/>
          </a:prstGeom>
          <a:noFill/>
          <a:ln/>
        </p:spPr>
        <p:txBody>
          <a:bodyPr wrap="none" lIns="0" tIns="0" rIns="0" bIns="0" rtlCol="0" anchor="t"/>
          <a:lstStyle/>
          <a:p>
            <a:pPr marL="0" indent="0" algn="l">
              <a:lnSpc>
                <a:spcPts val="1130"/>
              </a:lnSpc>
              <a:buNone/>
            </a:pPr>
            <a:r>
              <a:rPr lang="en-US" sz="1130" dirty="0">
                <a:solidFill>
                  <a:srgbClr val="1A1A2E"/>
                </a:solidFill>
                <a:latin typeface="Calibri" pitchFamily="34" charset="0"/>
                <a:ea typeface="Calibri" pitchFamily="34" charset="-122"/>
                <a:cs typeface="Calibri" pitchFamily="34" charset="-120"/>
              </a:rPr>
              <a:t>📉</a:t>
            </a:r>
            <a:endParaRPr lang="en-US" sz="1130" dirty="0"/>
          </a:p>
        </p:txBody>
      </p:sp>
      <p:sp>
        <p:nvSpPr>
          <p:cNvPr id="12" name="Text 10"/>
          <p:cNvSpPr/>
          <p:nvPr/>
        </p:nvSpPr>
        <p:spPr>
          <a:xfrm>
            <a:off x="2513112" y="798016"/>
            <a:ext cx="2113508" cy="120700"/>
          </a:xfrm>
          <a:prstGeom prst="rect">
            <a:avLst/>
          </a:prstGeom>
          <a:noFill/>
          <a:ln/>
        </p:spPr>
        <p:txBody>
          <a:bodyPr wrap="none" lIns="0" tIns="0" rIns="0" bIns="0" rtlCol="0" anchor="t"/>
          <a:lstStyle/>
          <a:p>
            <a:pPr marL="0" indent="0" algn="l">
              <a:lnSpc>
                <a:spcPts val="950"/>
              </a:lnSpc>
              <a:buNone/>
            </a:pPr>
            <a:r>
              <a:rPr lang="en-US" sz="760" b="1" dirty="0">
                <a:solidFill>
                  <a:srgbClr val="2D6E68"/>
                </a:solidFill>
                <a:latin typeface="Calibri Light" pitchFamily="34" charset="0"/>
                <a:ea typeface="Calibri Light" pitchFamily="34" charset="-122"/>
                <a:cs typeface="Calibri Light" pitchFamily="34" charset="-120"/>
              </a:rPr>
              <a:t>Low Attendance</a:t>
            </a:r>
            <a:endParaRPr lang="en-US" sz="760" dirty="0"/>
          </a:p>
        </p:txBody>
      </p:sp>
      <p:sp>
        <p:nvSpPr>
          <p:cNvPr id="13" name="Text 11"/>
          <p:cNvSpPr/>
          <p:nvPr/>
        </p:nvSpPr>
        <p:spPr>
          <a:xfrm>
            <a:off x="2513112" y="954137"/>
            <a:ext cx="1959799" cy="543818"/>
          </a:xfrm>
          <a:prstGeom prst="rect">
            <a:avLst/>
          </a:prstGeom>
          <a:noFill/>
          <a:ln/>
        </p:spPr>
        <p:txBody>
          <a:bodyPr wrap="square" lIns="0" tIns="0" rIns="0" bIns="0" rtlCol="0" anchor="t"/>
          <a:lstStyle/>
          <a:p>
            <a:pPr marL="0" indent="0" algn="l">
              <a:lnSpc>
                <a:spcPts val="1020"/>
              </a:lnSpc>
              <a:buNone/>
            </a:pPr>
            <a:r>
              <a:rPr lang="en-US" sz="680" dirty="0">
                <a:solidFill>
                  <a:srgbClr val="3A3A5A"/>
                </a:solidFill>
                <a:latin typeface="Calibri" pitchFamily="34" charset="0"/>
                <a:ea typeface="Calibri" pitchFamily="34" charset="-122"/>
                <a:cs typeface="Calibri" pitchFamily="34" charset="-120"/>
              </a:rPr>
              <a:t>Build accountability into group norms. Identify pull factors — is the group time competing with something students value? Adjust logistics before assuming clinical resistance.</a:t>
            </a:r>
            <a:endParaRPr lang="en-US" sz="680" dirty="0"/>
          </a:p>
        </p:txBody>
      </p:sp>
      <p:sp>
        <p:nvSpPr>
          <p:cNvPr id="14" name="Text 12"/>
          <p:cNvSpPr/>
          <p:nvPr/>
        </p:nvSpPr>
        <p:spPr>
          <a:xfrm>
            <a:off x="4607570" y="523280"/>
            <a:ext cx="2153989" cy="1037034"/>
          </a:xfrm>
          <a:prstGeom prst="roundRect">
            <a:avLst>
              <a:gd name="adj" fmla="val 4164"/>
            </a:avLst>
          </a:prstGeom>
          <a:solidFill>
            <a:srgbClr val="FFFFFF"/>
          </a:solidFill>
          <a:ln/>
          <a:effectLst>
            <a:outerShdw blurRad="57150" dist="13970" dir="5400000" algn="bl" rotWithShape="0">
              <a:srgbClr val="000000">
                <a:alpha val="6000"/>
              </a:srgbClr>
            </a:outerShdw>
          </a:effectLst>
        </p:spPr>
        <p:txBody>
          <a:bodyPr wrap="square" rtlCol="0" anchor="t"/>
          <a:lstStyle/>
          <a:p>
            <a:pPr marL="0" indent="0">
              <a:buNone/>
            </a:pPr>
            <a:endParaRPr lang="en-US" dirty="0"/>
          </a:p>
        </p:txBody>
      </p:sp>
      <p:sp>
        <p:nvSpPr>
          <p:cNvPr id="15" name="Text 13"/>
          <p:cNvSpPr/>
          <p:nvPr/>
        </p:nvSpPr>
        <p:spPr>
          <a:xfrm>
            <a:off x="4607570" y="523280"/>
            <a:ext cx="38100" cy="1037034"/>
          </a:xfrm>
          <a:custGeom>
            <a:avLst/>
            <a:gdLst/>
            <a:ahLst/>
            <a:cxnLst/>
            <a:rect l="l" t="t" r="r" b="b"/>
            <a:pathLst>
              <a:path w="38100" h="1037034">
                <a:moveTo>
                  <a:pt x="0" y="43180"/>
                </a:moveTo>
                <a:lnTo>
                  <a:pt x="4763" y="23467"/>
                </a:lnTo>
                <a:lnTo>
                  <a:pt x="9525" y="16127"/>
                </a:lnTo>
                <a:lnTo>
                  <a:pt x="14288" y="11090"/>
                </a:lnTo>
                <a:lnTo>
                  <a:pt x="19050" y="7371"/>
                </a:lnTo>
                <a:lnTo>
                  <a:pt x="23813" y="4587"/>
                </a:lnTo>
                <a:lnTo>
                  <a:pt x="28575" y="2545"/>
                </a:lnTo>
                <a:lnTo>
                  <a:pt x="33338" y="1137"/>
                </a:lnTo>
                <a:lnTo>
                  <a:pt x="38100" y="300"/>
                </a:lnTo>
                <a:lnTo>
                  <a:pt x="38100" y="1036735"/>
                </a:lnTo>
                <a:lnTo>
                  <a:pt x="33338" y="1035898"/>
                </a:lnTo>
                <a:lnTo>
                  <a:pt x="28575" y="1034489"/>
                </a:lnTo>
                <a:lnTo>
                  <a:pt x="23813" y="1032447"/>
                </a:lnTo>
                <a:lnTo>
                  <a:pt x="19050" y="1029663"/>
                </a:lnTo>
                <a:lnTo>
                  <a:pt x="14288" y="1025944"/>
                </a:lnTo>
                <a:lnTo>
                  <a:pt x="9525" y="1020907"/>
                </a:lnTo>
                <a:lnTo>
                  <a:pt x="4763" y="1013568"/>
                </a:lnTo>
                <a:lnTo>
                  <a:pt x="0" y="993854"/>
                </a:lnTo>
                <a:close/>
              </a:path>
            </a:pathLst>
          </a:custGeom>
          <a:solidFill>
            <a:srgbClr val="367689"/>
          </a:solidFill>
          <a:ln/>
        </p:spPr>
        <p:txBody>
          <a:bodyPr wrap="square" rtlCol="0" anchor="t"/>
          <a:lstStyle/>
          <a:p>
            <a:pPr marL="0" indent="0">
              <a:buNone/>
            </a:pPr>
            <a:endParaRPr lang="en-US" dirty="0"/>
          </a:p>
        </p:txBody>
      </p:sp>
      <p:sp>
        <p:nvSpPr>
          <p:cNvPr id="16" name="Text 14"/>
          <p:cNvSpPr/>
          <p:nvPr/>
        </p:nvSpPr>
        <p:spPr>
          <a:xfrm>
            <a:off x="4738241" y="619125"/>
            <a:ext cx="2113344" cy="143470"/>
          </a:xfrm>
          <a:prstGeom prst="rect">
            <a:avLst/>
          </a:prstGeom>
          <a:noFill/>
          <a:ln/>
        </p:spPr>
        <p:txBody>
          <a:bodyPr wrap="none" lIns="0" tIns="0" rIns="0" bIns="0" rtlCol="0" anchor="t"/>
          <a:lstStyle/>
          <a:p>
            <a:pPr marL="0" indent="0" algn="l">
              <a:lnSpc>
                <a:spcPts val="1130"/>
              </a:lnSpc>
              <a:buNone/>
            </a:pPr>
            <a:r>
              <a:rPr lang="en-US" sz="1130" dirty="0">
                <a:solidFill>
                  <a:srgbClr val="1A1A2E"/>
                </a:solidFill>
                <a:latin typeface="Calibri" pitchFamily="34" charset="0"/>
                <a:ea typeface="Calibri" pitchFamily="34" charset="-122"/>
                <a:cs typeface="Calibri" pitchFamily="34" charset="-120"/>
              </a:rPr>
              <a:t>🔒</a:t>
            </a:r>
            <a:endParaRPr lang="en-US" sz="1130" dirty="0"/>
          </a:p>
        </p:txBody>
      </p:sp>
      <p:sp>
        <p:nvSpPr>
          <p:cNvPr id="17" name="Text 15"/>
          <p:cNvSpPr/>
          <p:nvPr/>
        </p:nvSpPr>
        <p:spPr>
          <a:xfrm>
            <a:off x="4738241" y="798016"/>
            <a:ext cx="2113344" cy="120700"/>
          </a:xfrm>
          <a:prstGeom prst="rect">
            <a:avLst/>
          </a:prstGeom>
          <a:noFill/>
          <a:ln/>
        </p:spPr>
        <p:txBody>
          <a:bodyPr wrap="none" lIns="0" tIns="0" rIns="0" bIns="0" rtlCol="0" anchor="t"/>
          <a:lstStyle/>
          <a:p>
            <a:pPr marL="0" indent="0" algn="l">
              <a:lnSpc>
                <a:spcPts val="950"/>
              </a:lnSpc>
              <a:buNone/>
            </a:pPr>
            <a:r>
              <a:rPr lang="en-US" sz="760" b="1" dirty="0">
                <a:solidFill>
                  <a:srgbClr val="1F4D5C"/>
                </a:solidFill>
                <a:latin typeface="Calibri Light" pitchFamily="34" charset="0"/>
                <a:ea typeface="Calibri Light" pitchFamily="34" charset="-122"/>
                <a:cs typeface="Calibri Light" pitchFamily="34" charset="-120"/>
              </a:rPr>
              <a:t>Confidentiality Breakdowns</a:t>
            </a:r>
            <a:endParaRPr lang="en-US" sz="760" dirty="0"/>
          </a:p>
        </p:txBody>
      </p:sp>
      <p:sp>
        <p:nvSpPr>
          <p:cNvPr id="18" name="Text 16"/>
          <p:cNvSpPr/>
          <p:nvPr/>
        </p:nvSpPr>
        <p:spPr>
          <a:xfrm>
            <a:off x="4738241" y="954137"/>
            <a:ext cx="1959647" cy="407863"/>
          </a:xfrm>
          <a:prstGeom prst="rect">
            <a:avLst/>
          </a:prstGeom>
          <a:noFill/>
          <a:ln/>
        </p:spPr>
        <p:txBody>
          <a:bodyPr wrap="square" lIns="0" tIns="0" rIns="0" bIns="0" rtlCol="0" anchor="t"/>
          <a:lstStyle/>
          <a:p>
            <a:pPr marL="0" indent="0" algn="l">
              <a:lnSpc>
                <a:spcPts val="1020"/>
              </a:lnSpc>
              <a:buNone/>
            </a:pPr>
            <a:r>
              <a:rPr lang="en-US" sz="680" dirty="0">
                <a:solidFill>
                  <a:srgbClr val="3A3A5A"/>
                </a:solidFill>
                <a:latin typeface="Calibri" pitchFamily="34" charset="0"/>
                <a:ea typeface="Calibri" pitchFamily="34" charset="-122"/>
                <a:cs typeface="Calibri" pitchFamily="34" charset="-120"/>
              </a:rPr>
              <a:t>Address in session 1 with a group agreement. Return to it when it happens — it is a clinical opportunity, not just a rule violation.</a:t>
            </a:r>
            <a:endParaRPr lang="en-US" sz="680" dirty="0"/>
          </a:p>
        </p:txBody>
      </p:sp>
      <p:sp>
        <p:nvSpPr>
          <p:cNvPr id="19" name="Text 17"/>
          <p:cNvSpPr/>
          <p:nvPr/>
        </p:nvSpPr>
        <p:spPr>
          <a:xfrm>
            <a:off x="6832550" y="523280"/>
            <a:ext cx="2153989" cy="1037034"/>
          </a:xfrm>
          <a:prstGeom prst="roundRect">
            <a:avLst>
              <a:gd name="adj" fmla="val 4164"/>
            </a:avLst>
          </a:prstGeom>
          <a:solidFill>
            <a:srgbClr val="FFFFFF"/>
          </a:solidFill>
          <a:ln/>
          <a:effectLst>
            <a:outerShdw blurRad="57150" dist="13970" dir="5400000" algn="bl" rotWithShape="0">
              <a:srgbClr val="000000">
                <a:alpha val="6000"/>
              </a:srgbClr>
            </a:outerShdw>
          </a:effectLst>
        </p:spPr>
        <p:txBody>
          <a:bodyPr wrap="square" rtlCol="0" anchor="t"/>
          <a:lstStyle/>
          <a:p>
            <a:pPr marL="0" indent="0">
              <a:buNone/>
            </a:pPr>
            <a:endParaRPr lang="en-US" dirty="0"/>
          </a:p>
        </p:txBody>
      </p:sp>
      <p:sp>
        <p:nvSpPr>
          <p:cNvPr id="20" name="Text 18"/>
          <p:cNvSpPr/>
          <p:nvPr/>
        </p:nvSpPr>
        <p:spPr>
          <a:xfrm>
            <a:off x="6832550" y="523280"/>
            <a:ext cx="38100" cy="1037034"/>
          </a:xfrm>
          <a:custGeom>
            <a:avLst/>
            <a:gdLst/>
            <a:ahLst/>
            <a:cxnLst/>
            <a:rect l="l" t="t" r="r" b="b"/>
            <a:pathLst>
              <a:path w="38100" h="1037034">
                <a:moveTo>
                  <a:pt x="0" y="43180"/>
                </a:moveTo>
                <a:lnTo>
                  <a:pt x="4763" y="23467"/>
                </a:lnTo>
                <a:lnTo>
                  <a:pt x="9525" y="16127"/>
                </a:lnTo>
                <a:lnTo>
                  <a:pt x="14288" y="11090"/>
                </a:lnTo>
                <a:lnTo>
                  <a:pt x="19050" y="7371"/>
                </a:lnTo>
                <a:lnTo>
                  <a:pt x="23813" y="4587"/>
                </a:lnTo>
                <a:lnTo>
                  <a:pt x="28575" y="2545"/>
                </a:lnTo>
                <a:lnTo>
                  <a:pt x="33338" y="1137"/>
                </a:lnTo>
                <a:lnTo>
                  <a:pt x="38100" y="300"/>
                </a:lnTo>
                <a:lnTo>
                  <a:pt x="38100" y="1036735"/>
                </a:lnTo>
                <a:lnTo>
                  <a:pt x="33338" y="1035898"/>
                </a:lnTo>
                <a:lnTo>
                  <a:pt x="28575" y="1034489"/>
                </a:lnTo>
                <a:lnTo>
                  <a:pt x="23813" y="1032447"/>
                </a:lnTo>
                <a:lnTo>
                  <a:pt x="19050" y="1029663"/>
                </a:lnTo>
                <a:lnTo>
                  <a:pt x="14288" y="1025944"/>
                </a:lnTo>
                <a:lnTo>
                  <a:pt x="9525" y="1020907"/>
                </a:lnTo>
                <a:lnTo>
                  <a:pt x="4763" y="1013568"/>
                </a:lnTo>
                <a:lnTo>
                  <a:pt x="0" y="993854"/>
                </a:lnTo>
                <a:close/>
              </a:path>
            </a:pathLst>
          </a:custGeom>
          <a:solidFill>
            <a:srgbClr val="F4B753"/>
          </a:solidFill>
          <a:ln/>
        </p:spPr>
        <p:txBody>
          <a:bodyPr wrap="square" rtlCol="0" anchor="t"/>
          <a:lstStyle/>
          <a:p>
            <a:pPr marL="0" indent="0">
              <a:buNone/>
            </a:pPr>
            <a:endParaRPr lang="en-US" dirty="0"/>
          </a:p>
        </p:txBody>
      </p:sp>
      <p:sp>
        <p:nvSpPr>
          <p:cNvPr id="21" name="Text 19"/>
          <p:cNvSpPr/>
          <p:nvPr/>
        </p:nvSpPr>
        <p:spPr>
          <a:xfrm>
            <a:off x="6963221" y="619125"/>
            <a:ext cx="2113344" cy="143470"/>
          </a:xfrm>
          <a:prstGeom prst="rect">
            <a:avLst/>
          </a:prstGeom>
          <a:noFill/>
          <a:ln/>
        </p:spPr>
        <p:txBody>
          <a:bodyPr wrap="none" lIns="0" tIns="0" rIns="0" bIns="0" rtlCol="0" anchor="t"/>
          <a:lstStyle/>
          <a:p>
            <a:pPr marL="0" indent="0" algn="l">
              <a:lnSpc>
                <a:spcPts val="1130"/>
              </a:lnSpc>
              <a:buNone/>
            </a:pPr>
            <a:r>
              <a:rPr lang="en-US" sz="1130" dirty="0">
                <a:solidFill>
                  <a:srgbClr val="1A1A2E"/>
                </a:solidFill>
                <a:latin typeface="Calibri" pitchFamily="34" charset="0"/>
                <a:ea typeface="Calibri" pitchFamily="34" charset="-122"/>
                <a:cs typeface="Calibri" pitchFamily="34" charset="-120"/>
              </a:rPr>
              <a:t>🗣️</a:t>
            </a:r>
            <a:endParaRPr lang="en-US" sz="1130" dirty="0"/>
          </a:p>
        </p:txBody>
      </p:sp>
      <p:sp>
        <p:nvSpPr>
          <p:cNvPr id="22" name="Text 20"/>
          <p:cNvSpPr/>
          <p:nvPr/>
        </p:nvSpPr>
        <p:spPr>
          <a:xfrm>
            <a:off x="6963221" y="798016"/>
            <a:ext cx="2113344" cy="120700"/>
          </a:xfrm>
          <a:prstGeom prst="rect">
            <a:avLst/>
          </a:prstGeom>
          <a:noFill/>
          <a:ln/>
        </p:spPr>
        <p:txBody>
          <a:bodyPr wrap="none" lIns="0" tIns="0" rIns="0" bIns="0" rtlCol="0" anchor="t"/>
          <a:lstStyle/>
          <a:p>
            <a:pPr marL="0" indent="0" algn="l">
              <a:lnSpc>
                <a:spcPts val="950"/>
              </a:lnSpc>
              <a:buNone/>
            </a:pPr>
            <a:r>
              <a:rPr lang="en-US" sz="760" b="1" dirty="0">
                <a:solidFill>
                  <a:srgbClr val="A06B00"/>
                </a:solidFill>
                <a:latin typeface="Calibri Light" pitchFamily="34" charset="0"/>
                <a:ea typeface="Calibri Light" pitchFamily="34" charset="-122"/>
                <a:cs typeface="Calibri Light" pitchFamily="34" charset="-120"/>
              </a:rPr>
              <a:t>One Student Dominating</a:t>
            </a:r>
            <a:endParaRPr lang="en-US" sz="760" dirty="0"/>
          </a:p>
        </p:txBody>
      </p:sp>
      <p:sp>
        <p:nvSpPr>
          <p:cNvPr id="23" name="Text 21"/>
          <p:cNvSpPr/>
          <p:nvPr/>
        </p:nvSpPr>
        <p:spPr>
          <a:xfrm>
            <a:off x="6963221" y="954137"/>
            <a:ext cx="1959647" cy="407863"/>
          </a:xfrm>
          <a:prstGeom prst="rect">
            <a:avLst/>
          </a:prstGeom>
          <a:noFill/>
          <a:ln/>
        </p:spPr>
        <p:txBody>
          <a:bodyPr wrap="square" lIns="0" tIns="0" rIns="0" bIns="0" rtlCol="0" anchor="ctr"/>
          <a:lstStyle/>
          <a:p>
            <a:pPr marL="0" indent="0" algn="l">
              <a:lnSpc>
                <a:spcPts val="1020"/>
              </a:lnSpc>
              <a:buNone/>
            </a:pPr>
            <a:r>
              <a:rPr lang="en-US" sz="680" dirty="0">
                <a:solidFill>
                  <a:srgbClr val="3A3A5A"/>
                </a:solidFill>
                <a:latin typeface="Calibri" pitchFamily="34" charset="0"/>
                <a:ea typeface="Calibri" pitchFamily="34" charset="-122"/>
                <a:cs typeface="Calibri" pitchFamily="34" charset="-120"/>
              </a:rPr>
              <a:t>Use structured turn-taking and group roles. Redirect in-session with warmth: </a:t>
            </a:r>
            <a:r>
              <a:rPr lang="en-US" sz="680" i="1" dirty="0">
                <a:solidFill>
                  <a:srgbClr val="3A3A5A"/>
                </a:solidFill>
                <a:latin typeface="Calibri" pitchFamily="34" charset="0"/>
                <a:ea typeface="Calibri" pitchFamily="34" charset="-122"/>
                <a:cs typeface="Calibri" pitchFamily="34" charset="-120"/>
              </a:rPr>
              <a:t>"Let us hear from someone who has not shared yet."</a:t>
            </a:r>
            <a:endParaRPr lang="en-US" sz="680" dirty="0"/>
          </a:p>
        </p:txBody>
      </p:sp>
      <p:sp>
        <p:nvSpPr>
          <p:cNvPr id="24" name="Text 22"/>
          <p:cNvSpPr/>
          <p:nvPr/>
        </p:nvSpPr>
        <p:spPr>
          <a:xfrm>
            <a:off x="157460" y="1702296"/>
            <a:ext cx="8829080" cy="668685"/>
          </a:xfrm>
          <a:prstGeom prst="roundRect">
            <a:avLst>
              <a:gd name="adj" fmla="val 6457"/>
            </a:avLst>
          </a:prstGeom>
          <a:solidFill>
            <a:srgbClr val="FFF4F4"/>
          </a:solidFill>
          <a:ln/>
          <a:effectLst>
            <a:outerShdw blurRad="71120" dist="13970" dir="5400000" algn="bl" rotWithShape="0">
              <a:srgbClr val="C6001A">
                <a:alpha val="8000"/>
              </a:srgbClr>
            </a:outerShdw>
          </a:effectLst>
        </p:spPr>
        <p:txBody>
          <a:bodyPr wrap="square" rtlCol="0" anchor="t"/>
          <a:lstStyle/>
          <a:p>
            <a:pPr marL="0" indent="0">
              <a:buNone/>
            </a:pPr>
            <a:endParaRPr lang="en-US" dirty="0"/>
          </a:p>
        </p:txBody>
      </p:sp>
      <p:sp>
        <p:nvSpPr>
          <p:cNvPr id="25" name="Text 23"/>
          <p:cNvSpPr/>
          <p:nvPr/>
        </p:nvSpPr>
        <p:spPr>
          <a:xfrm>
            <a:off x="157460" y="1702296"/>
            <a:ext cx="38100" cy="668685"/>
          </a:xfrm>
          <a:custGeom>
            <a:avLst/>
            <a:gdLst/>
            <a:ahLst/>
            <a:cxnLst/>
            <a:rect l="l" t="t" r="r" b="b"/>
            <a:pathLst>
              <a:path w="38100" h="668685">
                <a:moveTo>
                  <a:pt x="0" y="43180"/>
                </a:moveTo>
                <a:lnTo>
                  <a:pt x="4763" y="23467"/>
                </a:lnTo>
                <a:lnTo>
                  <a:pt x="9525" y="16127"/>
                </a:lnTo>
                <a:lnTo>
                  <a:pt x="14288" y="11090"/>
                </a:lnTo>
                <a:lnTo>
                  <a:pt x="19050" y="7371"/>
                </a:lnTo>
                <a:lnTo>
                  <a:pt x="23813" y="4587"/>
                </a:lnTo>
                <a:lnTo>
                  <a:pt x="28575" y="2545"/>
                </a:lnTo>
                <a:lnTo>
                  <a:pt x="33338" y="1137"/>
                </a:lnTo>
                <a:lnTo>
                  <a:pt x="38100" y="300"/>
                </a:lnTo>
                <a:lnTo>
                  <a:pt x="38100" y="668385"/>
                </a:lnTo>
                <a:lnTo>
                  <a:pt x="33338" y="667548"/>
                </a:lnTo>
                <a:lnTo>
                  <a:pt x="28575" y="666140"/>
                </a:lnTo>
                <a:lnTo>
                  <a:pt x="23813" y="664098"/>
                </a:lnTo>
                <a:lnTo>
                  <a:pt x="19050" y="661313"/>
                </a:lnTo>
                <a:lnTo>
                  <a:pt x="14288" y="657594"/>
                </a:lnTo>
                <a:lnTo>
                  <a:pt x="9525" y="652558"/>
                </a:lnTo>
                <a:lnTo>
                  <a:pt x="4763" y="645218"/>
                </a:lnTo>
                <a:lnTo>
                  <a:pt x="0" y="625505"/>
                </a:lnTo>
                <a:close/>
              </a:path>
            </a:pathLst>
          </a:custGeom>
          <a:solidFill>
            <a:srgbClr val="141A42"/>
          </a:solidFill>
          <a:ln/>
        </p:spPr>
        <p:txBody>
          <a:bodyPr wrap="square" rtlCol="0" anchor="t"/>
          <a:lstStyle/>
          <a:p>
            <a:pPr marL="0" indent="0">
              <a:buNone/>
            </a:pPr>
            <a:endParaRPr lang="en-US" dirty="0"/>
          </a:p>
        </p:txBody>
      </p:sp>
      <p:sp>
        <p:nvSpPr>
          <p:cNvPr id="26" name="Text 24"/>
          <p:cNvSpPr/>
          <p:nvPr/>
        </p:nvSpPr>
        <p:spPr>
          <a:xfrm>
            <a:off x="309860" y="1799332"/>
            <a:ext cx="220028" cy="157460"/>
          </a:xfrm>
          <a:prstGeom prst="rect">
            <a:avLst/>
          </a:prstGeom>
          <a:noFill/>
          <a:ln/>
        </p:spPr>
        <p:txBody>
          <a:bodyPr wrap="none" lIns="0" tIns="0" rIns="0" bIns="0" rtlCol="0" anchor="ctr"/>
          <a:lstStyle/>
          <a:p>
            <a:pPr marL="0" indent="0" algn="l">
              <a:lnSpc>
                <a:spcPts val="1240"/>
              </a:lnSpc>
              <a:buNone/>
            </a:pPr>
            <a:r>
              <a:rPr lang="en-US" sz="1240" dirty="0">
                <a:solidFill>
                  <a:srgbClr val="1A1A2E"/>
                </a:solidFill>
                <a:latin typeface="Calibri" pitchFamily="34" charset="0"/>
                <a:ea typeface="Calibri" pitchFamily="34" charset="-122"/>
                <a:cs typeface="Calibri" pitchFamily="34" charset="-120"/>
              </a:rPr>
              <a:t>🛑</a:t>
            </a:r>
            <a:endParaRPr lang="en-US" sz="1240" dirty="0"/>
          </a:p>
        </p:txBody>
      </p:sp>
      <p:sp>
        <p:nvSpPr>
          <p:cNvPr id="27" name="Text 25"/>
          <p:cNvSpPr/>
          <p:nvPr/>
        </p:nvSpPr>
        <p:spPr>
          <a:xfrm>
            <a:off x="580876" y="1798141"/>
            <a:ext cx="2383468" cy="159990"/>
          </a:xfrm>
          <a:prstGeom prst="rect">
            <a:avLst/>
          </a:prstGeom>
          <a:noFill/>
          <a:ln/>
        </p:spPr>
        <p:txBody>
          <a:bodyPr wrap="none" lIns="0" tIns="0" rIns="0" bIns="0" rtlCol="0" anchor="ctr"/>
          <a:lstStyle/>
          <a:p>
            <a:pPr marL="0" indent="0" algn="l">
              <a:lnSpc>
                <a:spcPts val="1260"/>
              </a:lnSpc>
              <a:buNone/>
            </a:pPr>
            <a:r>
              <a:rPr lang="en-US" sz="840" b="1" dirty="0">
                <a:solidFill>
                  <a:srgbClr val="C0001A"/>
                </a:solidFill>
                <a:latin typeface="Calibri Light" pitchFamily="34" charset="0"/>
                <a:ea typeface="Calibri Light" pitchFamily="34" charset="-122"/>
                <a:cs typeface="Calibri Light" pitchFamily="34" charset="-120"/>
              </a:rPr>
              <a:t>ENDING GROUPS — READ CAREFULLY</a:t>
            </a:r>
            <a:endParaRPr lang="en-US" sz="840" dirty="0"/>
          </a:p>
        </p:txBody>
      </p:sp>
      <p:sp>
        <p:nvSpPr>
          <p:cNvPr id="28" name="Text 26"/>
          <p:cNvSpPr/>
          <p:nvPr/>
        </p:nvSpPr>
        <p:spPr>
          <a:xfrm>
            <a:off x="309860" y="2007543"/>
            <a:ext cx="8709794" cy="280973"/>
          </a:xfrm>
          <a:prstGeom prst="rect">
            <a:avLst/>
          </a:prstGeom>
          <a:noFill/>
          <a:ln/>
        </p:spPr>
        <p:txBody>
          <a:bodyPr wrap="square" lIns="0" tIns="0" rIns="0" bIns="0" rtlCol="0" anchor="ctr"/>
          <a:lstStyle/>
          <a:p>
            <a:pPr marL="0" indent="0" algn="l">
              <a:lnSpc>
                <a:spcPts val="1054"/>
              </a:lnSpc>
              <a:buNone/>
            </a:pPr>
            <a:r>
              <a:rPr lang="en-US" sz="680" b="1" dirty="0">
                <a:solidFill>
                  <a:srgbClr val="C0001A"/>
                </a:solidFill>
                <a:latin typeface="Calibri" pitchFamily="34" charset="0"/>
                <a:ea typeface="Calibri" pitchFamily="34" charset="-122"/>
                <a:cs typeface="Calibri" pitchFamily="34" charset="-120"/>
              </a:rPr>
              <a:t>Do NOT terminate a group just because it is no longer actively meeting</a:t>
            </a:r>
            <a:r>
              <a:rPr lang="en-US" sz="680" dirty="0">
                <a:solidFill>
                  <a:srgbClr val="3A0010"/>
                </a:solidFill>
                <a:latin typeface="Calibri" pitchFamily="34" charset="0"/>
                <a:ea typeface="Calibri" pitchFamily="34" charset="-122"/>
                <a:cs typeface="Calibri" pitchFamily="34" charset="-120"/>
              </a:rPr>
              <a:t> — unless you plan to never run that group again. If the group may run again with new members in the future, </a:t>
            </a:r>
            <a:r>
              <a:rPr lang="en-US" sz="680" b="1" dirty="0">
                <a:solidFill>
                  <a:srgbClr val="C0001A"/>
                </a:solidFill>
                <a:latin typeface="Calibri" pitchFamily="34" charset="0"/>
                <a:ea typeface="Calibri" pitchFamily="34" charset="-122"/>
                <a:cs typeface="Calibri" pitchFamily="34" charset="-120"/>
              </a:rPr>
              <a:t>leave it open and remove the members instead.</a:t>
            </a:r>
            <a:r>
              <a:rPr lang="en-US" sz="680" dirty="0">
                <a:solidFill>
                  <a:srgbClr val="3A0010"/>
                </a:solidFill>
                <a:latin typeface="Calibri" pitchFamily="34" charset="0"/>
                <a:ea typeface="Calibri" pitchFamily="34" charset="-122"/>
                <a:cs typeface="Calibri" pitchFamily="34" charset="-120"/>
              </a:rPr>
              <a:t> Ending a group permanently in Avatar </a:t>
            </a:r>
            <a:r>
              <a:rPr lang="en-US" sz="680" b="1" dirty="0">
                <a:solidFill>
                  <a:srgbClr val="C0001A"/>
                </a:solidFill>
                <a:latin typeface="Calibri" pitchFamily="34" charset="0"/>
                <a:ea typeface="Calibri" pitchFamily="34" charset="-122"/>
                <a:cs typeface="Calibri" pitchFamily="34" charset="-120"/>
              </a:rPr>
              <a:t>cannot be undone.</a:t>
            </a:r>
            <a:endParaRPr lang="en-US" sz="680" dirty="0"/>
          </a:p>
        </p:txBody>
      </p:sp>
      <p:sp>
        <p:nvSpPr>
          <p:cNvPr id="29" name="Text 27"/>
          <p:cNvSpPr/>
          <p:nvPr/>
        </p:nvSpPr>
        <p:spPr>
          <a:xfrm>
            <a:off x="0" y="4879330"/>
            <a:ext cx="9144000" cy="200620"/>
          </a:xfrm>
          <a:prstGeom prst="rect">
            <a:avLst/>
          </a:prstGeom>
          <a:solidFill>
            <a:srgbClr val="141A42"/>
          </a:solidFill>
          <a:ln/>
        </p:spPr>
        <p:txBody>
          <a:bodyPr wrap="none" rtlCol="0" anchor="t"/>
          <a:lstStyle/>
          <a:p>
            <a:pPr marL="0" indent="0">
              <a:buNone/>
            </a:pP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418320" cy="541139"/>
          </a:xfrm>
          <a:prstGeom prst="rect">
            <a:avLst/>
          </a:prstGeom>
          <a:solidFill>
            <a:srgbClr val="367689"/>
          </a:solidFill>
          <a:ln/>
        </p:spPr>
        <p:txBody>
          <a:bodyPr wrap="none" lIns="372110" tIns="128270" rIns="372110" bIns="0" rtlCol="0" anchor="t"/>
          <a:lstStyle/>
          <a:p>
            <a:pPr marL="0" indent="0" algn="l">
              <a:buNone/>
            </a:pPr>
            <a:r>
              <a:rPr lang="en-US" sz="2030" b="1" kern="0" spc="20" dirty="0">
                <a:solidFill>
                  <a:srgbClr val="FFFFFF"/>
                </a:solidFill>
                <a:latin typeface="Calibri Light" pitchFamily="34" charset="0"/>
                <a:ea typeface="Calibri Light" pitchFamily="34" charset="-122"/>
                <a:cs typeface="Calibri Light" pitchFamily="34" charset="-120"/>
              </a:rPr>
              <a:t>You Are Ready.</a:t>
            </a:r>
            <a:endParaRPr lang="en-US" sz="2030" dirty="0"/>
          </a:p>
        </p:txBody>
      </p:sp>
      <p:sp>
        <p:nvSpPr>
          <p:cNvPr id="3" name="Text 1"/>
          <p:cNvSpPr/>
          <p:nvPr/>
        </p:nvSpPr>
        <p:spPr>
          <a:xfrm>
            <a:off x="372070" y="511969"/>
            <a:ext cx="8399859" cy="29170"/>
          </a:xfrm>
          <a:prstGeom prst="roundRect">
            <a:avLst>
              <a:gd name="adj" fmla="val 47892"/>
            </a:avLst>
          </a:prstGeom>
          <a:solidFill>
            <a:srgbClr val="F4B753"/>
          </a:solidFill>
          <a:ln/>
        </p:spPr>
        <p:txBody>
          <a:bodyPr wrap="none" rtlCol="0" anchor="t"/>
          <a:lstStyle/>
          <a:p>
            <a:pPr marL="0" indent="0">
              <a:buNone/>
            </a:pPr>
            <a:endParaRPr lang="en-US" dirty="0"/>
          </a:p>
        </p:txBody>
      </p:sp>
      <p:sp>
        <p:nvSpPr>
          <p:cNvPr id="4" name="Text 2"/>
          <p:cNvSpPr/>
          <p:nvPr/>
        </p:nvSpPr>
        <p:spPr>
          <a:xfrm>
            <a:off x="709785" y="655439"/>
            <a:ext cx="7724430" cy="383798"/>
          </a:xfrm>
          <a:prstGeom prst="rect">
            <a:avLst/>
          </a:prstGeom>
          <a:noFill/>
          <a:ln/>
        </p:spPr>
        <p:txBody>
          <a:bodyPr wrap="square" lIns="0" tIns="0" rIns="0" bIns="0" rtlCol="0" anchor="t"/>
          <a:lstStyle/>
          <a:p>
            <a:pPr marL="0" indent="0" algn="ctr">
              <a:lnSpc>
                <a:spcPts val="1440"/>
              </a:lnSpc>
              <a:buNone/>
            </a:pPr>
            <a:r>
              <a:rPr lang="en-US" sz="960" dirty="0">
                <a:solidFill>
                  <a:srgbClr val="141A42"/>
                </a:solidFill>
                <a:latin typeface="Calibri Light" pitchFamily="34" charset="0"/>
                <a:ea typeface="Calibri Light" pitchFamily="34" charset="-122"/>
                <a:cs typeface="Calibri Light" pitchFamily="34" charset="-120"/>
              </a:rPr>
              <a:t>Before the end of your first week of school, you will have </a:t>
            </a:r>
            <a:r>
              <a:rPr lang="en-US" sz="960" b="1" dirty="0">
                <a:solidFill>
                  <a:srgbClr val="367689"/>
                </a:solidFill>
                <a:latin typeface="Calibri Light" pitchFamily="34" charset="0"/>
                <a:ea typeface="Calibri Light" pitchFamily="34" charset="-122"/>
                <a:cs typeface="Calibri Light" pitchFamily="34" charset="-120"/>
              </a:rPr>
              <a:t>identified your group</a:t>
            </a:r>
            <a:r>
              <a:rPr lang="en-US" sz="960" dirty="0">
                <a:solidFill>
                  <a:srgbClr val="141A42"/>
                </a:solidFill>
                <a:latin typeface="Calibri Light" pitchFamily="34" charset="0"/>
                <a:ea typeface="Calibri Light" pitchFamily="34" charset="-122"/>
                <a:cs typeface="Calibri Light" pitchFamily="34" charset="-120"/>
              </a:rPr>
              <a:t>, </a:t>
            </a:r>
            <a:r>
              <a:rPr lang="en-US" sz="960" b="1" dirty="0">
                <a:solidFill>
                  <a:srgbClr val="367689"/>
                </a:solidFill>
                <a:latin typeface="Calibri Light" pitchFamily="34" charset="0"/>
                <a:ea typeface="Calibri Light" pitchFamily="34" charset="-122"/>
                <a:cs typeface="Calibri Light" pitchFamily="34" charset="-120"/>
              </a:rPr>
              <a:t>recruited your members</a:t>
            </a:r>
            <a:r>
              <a:rPr lang="en-US" sz="960" dirty="0">
                <a:solidFill>
                  <a:srgbClr val="141A42"/>
                </a:solidFill>
                <a:latin typeface="Calibri Light" pitchFamily="34" charset="0"/>
                <a:ea typeface="Calibri Light" pitchFamily="34" charset="-122"/>
                <a:cs typeface="Calibri Light" pitchFamily="34" charset="-120"/>
              </a:rPr>
              <a:t>, </a:t>
            </a:r>
            <a:r>
              <a:rPr lang="en-US" sz="960" b="1" dirty="0">
                <a:solidFill>
                  <a:srgbClr val="367689"/>
                </a:solidFill>
                <a:latin typeface="Calibri Light" pitchFamily="34" charset="0"/>
                <a:ea typeface="Calibri Light" pitchFamily="34" charset="-122"/>
                <a:cs typeface="Calibri Light" pitchFamily="34" charset="-120"/>
              </a:rPr>
              <a:t>secured consent</a:t>
            </a:r>
            <a:r>
              <a:rPr lang="en-US" sz="960" dirty="0">
                <a:solidFill>
                  <a:srgbClr val="141A42"/>
                </a:solidFill>
                <a:latin typeface="Calibri Light" pitchFamily="34" charset="0"/>
                <a:ea typeface="Calibri Light" pitchFamily="34" charset="-122"/>
                <a:cs typeface="Calibri Light" pitchFamily="34" charset="-120"/>
              </a:rPr>
              <a:t>, </a:t>
            </a:r>
            <a:r>
              <a:rPr lang="en-US" sz="960" b="1" dirty="0">
                <a:solidFill>
                  <a:srgbClr val="367689"/>
                </a:solidFill>
                <a:latin typeface="Calibri Light" pitchFamily="34" charset="0"/>
                <a:ea typeface="Calibri Light" pitchFamily="34" charset="-122"/>
                <a:cs typeface="Calibri Light" pitchFamily="34" charset="-120"/>
              </a:rPr>
              <a:t>updated care plans</a:t>
            </a:r>
            <a:r>
              <a:rPr lang="en-US" sz="960" dirty="0">
                <a:solidFill>
                  <a:srgbClr val="141A42"/>
                </a:solidFill>
                <a:latin typeface="Calibri Light" pitchFamily="34" charset="0"/>
                <a:ea typeface="Calibri Light" pitchFamily="34" charset="-122"/>
                <a:cs typeface="Calibri Light" pitchFamily="34" charset="-120"/>
              </a:rPr>
              <a:t>, </a:t>
            </a:r>
            <a:r>
              <a:rPr lang="en-US" sz="960" b="1" dirty="0">
                <a:solidFill>
                  <a:srgbClr val="367689"/>
                </a:solidFill>
                <a:latin typeface="Calibri Light" pitchFamily="34" charset="0"/>
                <a:ea typeface="Calibri Light" pitchFamily="34" charset="-122"/>
                <a:cs typeface="Calibri Light" pitchFamily="34" charset="-120"/>
              </a:rPr>
              <a:t>set up your group in Avatar NX</a:t>
            </a:r>
            <a:r>
              <a:rPr lang="en-US" sz="960" dirty="0">
                <a:solidFill>
                  <a:srgbClr val="141A42"/>
                </a:solidFill>
                <a:latin typeface="Calibri Light" pitchFamily="34" charset="0"/>
                <a:ea typeface="Calibri Light" pitchFamily="34" charset="-122"/>
                <a:cs typeface="Calibri Light" pitchFamily="34" charset="-120"/>
              </a:rPr>
              <a:t>, and </a:t>
            </a:r>
            <a:r>
              <a:rPr lang="en-US" sz="960" b="1" dirty="0">
                <a:solidFill>
                  <a:srgbClr val="367689"/>
                </a:solidFill>
                <a:latin typeface="Calibri Light" pitchFamily="34" charset="0"/>
                <a:ea typeface="Calibri Light" pitchFamily="34" charset="-122"/>
                <a:cs typeface="Calibri Light" pitchFamily="34" charset="-120"/>
              </a:rPr>
              <a:t>shown up for session 1</a:t>
            </a:r>
            <a:r>
              <a:rPr lang="en-US" sz="960" dirty="0">
                <a:solidFill>
                  <a:srgbClr val="141A42"/>
                </a:solidFill>
                <a:latin typeface="Calibri Light" pitchFamily="34" charset="0"/>
                <a:ea typeface="Calibri Light" pitchFamily="34" charset="-122"/>
                <a:cs typeface="Calibri Light" pitchFamily="34" charset="-120"/>
              </a:rPr>
              <a:t>. That is not small. That is </a:t>
            </a:r>
            <a:r>
              <a:rPr lang="en-US" sz="960" b="1" dirty="0">
                <a:solidFill>
                  <a:srgbClr val="367689"/>
                </a:solidFill>
                <a:latin typeface="Calibri Light" pitchFamily="34" charset="0"/>
                <a:ea typeface="Calibri Light" pitchFamily="34" charset="-122"/>
                <a:cs typeface="Calibri Light" pitchFamily="34" charset="-120"/>
              </a:rPr>
              <a:t>clinical leadership</a:t>
            </a:r>
            <a:r>
              <a:rPr lang="en-US" sz="960" dirty="0">
                <a:solidFill>
                  <a:srgbClr val="141A42"/>
                </a:solidFill>
                <a:latin typeface="Calibri Light" pitchFamily="34" charset="0"/>
                <a:ea typeface="Calibri Light" pitchFamily="34" charset="-122"/>
                <a:cs typeface="Calibri Light" pitchFamily="34" charset="-120"/>
              </a:rPr>
              <a:t>.</a:t>
            </a:r>
            <a:endParaRPr lang="en-US" sz="960" dirty="0"/>
          </a:p>
        </p:txBody>
      </p:sp>
      <p:sp>
        <p:nvSpPr>
          <p:cNvPr id="5" name="Text 3"/>
          <p:cNvSpPr/>
          <p:nvPr/>
        </p:nvSpPr>
        <p:spPr>
          <a:xfrm>
            <a:off x="372070" y="1121271"/>
            <a:ext cx="4164360" cy="459432"/>
          </a:xfrm>
          <a:prstGeom prst="roundRect">
            <a:avLst>
              <a:gd name="adj" fmla="val 15480"/>
            </a:avLst>
          </a:prstGeom>
          <a:solidFill>
            <a:srgbClr val="FFFFFF"/>
          </a:solidFill>
          <a:ln w="9525">
            <a:solidFill>
              <a:srgbClr val="367689"/>
            </a:solidFill>
          </a:ln>
        </p:spPr>
        <p:txBody>
          <a:bodyPr wrap="square" rtlCol="0" anchor="t"/>
          <a:lstStyle/>
          <a:p>
            <a:pPr marL="0" indent="0">
              <a:buNone/>
            </a:pPr>
            <a:endParaRPr lang="en-US" dirty="0"/>
          </a:p>
        </p:txBody>
      </p:sp>
      <p:sp>
        <p:nvSpPr>
          <p:cNvPr id="6" name="Text 4"/>
          <p:cNvSpPr/>
          <p:nvPr/>
        </p:nvSpPr>
        <p:spPr>
          <a:xfrm>
            <a:off x="481905" y="1209377"/>
            <a:ext cx="214610" cy="214610"/>
          </a:xfrm>
          <a:prstGeom prst="ellipse">
            <a:avLst/>
          </a:prstGeom>
          <a:solidFill>
            <a:srgbClr val="55A49C"/>
          </a:solidFill>
          <a:ln/>
        </p:spPr>
        <p:txBody>
          <a:bodyPr wrap="none" rtlCol="0" anchor="t"/>
          <a:lstStyle/>
          <a:p>
            <a:pPr marL="0" indent="0">
              <a:buNone/>
            </a:pPr>
            <a:endParaRPr lang="en-US" dirty="0"/>
          </a:p>
        </p:txBody>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22917" y="1250388"/>
            <a:ext cx="132588" cy="132588"/>
          </a:xfrm>
          <a:prstGeom prst="rect">
            <a:avLst/>
          </a:prstGeom>
        </p:spPr>
      </p:pic>
      <p:sp>
        <p:nvSpPr>
          <p:cNvPr id="8" name="Text 5"/>
          <p:cNvSpPr/>
          <p:nvPr/>
        </p:nvSpPr>
        <p:spPr>
          <a:xfrm>
            <a:off x="782836" y="1201787"/>
            <a:ext cx="1391442" cy="313320"/>
          </a:xfrm>
          <a:prstGeom prst="rect">
            <a:avLst/>
          </a:prstGeom>
          <a:noFill/>
          <a:ln/>
        </p:spPr>
        <p:txBody>
          <a:bodyPr wrap="square" lIns="0" tIns="0" rIns="0" bIns="0" rtlCol="0" anchor="ctr"/>
          <a:lstStyle/>
          <a:p>
            <a:pPr marL="0" indent="0" algn="l">
              <a:lnSpc>
                <a:spcPts val="1145"/>
              </a:lnSpc>
              <a:buNone/>
            </a:pPr>
            <a:r>
              <a:rPr lang="en-US" sz="790" b="1" dirty="0">
                <a:solidFill>
                  <a:srgbClr val="367689"/>
                </a:solidFill>
                <a:latin typeface="Calibri" pitchFamily="34" charset="0"/>
                <a:ea typeface="Calibri" pitchFamily="34" charset="-122"/>
                <a:cs typeface="Calibri" pitchFamily="34" charset="-120"/>
              </a:rPr>
              <a:t>Decide your group structure</a:t>
            </a:r>
            <a:r>
              <a:rPr lang="en-US" sz="790" dirty="0">
                <a:solidFill>
                  <a:srgbClr val="141A42"/>
                </a:solidFill>
                <a:latin typeface="Calibri" pitchFamily="34" charset="0"/>
                <a:ea typeface="Calibri" pitchFamily="34" charset="-122"/>
                <a:cs typeface="Calibri" pitchFamily="34" charset="-120"/>
              </a:rPr>
              <a:t> Closed, 4–6 students, 8 weeks</a:t>
            </a:r>
            <a:endParaRPr lang="en-US" sz="790" dirty="0"/>
          </a:p>
        </p:txBody>
      </p:sp>
      <p:sp>
        <p:nvSpPr>
          <p:cNvPr id="9" name="Text 6"/>
          <p:cNvSpPr/>
          <p:nvPr/>
        </p:nvSpPr>
        <p:spPr>
          <a:xfrm>
            <a:off x="4607421" y="1121271"/>
            <a:ext cx="4164509" cy="459432"/>
          </a:xfrm>
          <a:prstGeom prst="roundRect">
            <a:avLst>
              <a:gd name="adj" fmla="val 15480"/>
            </a:avLst>
          </a:prstGeom>
          <a:solidFill>
            <a:srgbClr val="FFFFFF"/>
          </a:solidFill>
          <a:ln w="9525">
            <a:solidFill>
              <a:srgbClr val="367689"/>
            </a:solidFill>
          </a:ln>
        </p:spPr>
        <p:txBody>
          <a:bodyPr wrap="square" rtlCol="0" anchor="t"/>
          <a:lstStyle/>
          <a:p>
            <a:pPr marL="0" indent="0">
              <a:buNone/>
            </a:pPr>
            <a:endParaRPr lang="en-US" dirty="0"/>
          </a:p>
        </p:txBody>
      </p:sp>
      <p:sp>
        <p:nvSpPr>
          <p:cNvPr id="10" name="Text 7"/>
          <p:cNvSpPr/>
          <p:nvPr/>
        </p:nvSpPr>
        <p:spPr>
          <a:xfrm>
            <a:off x="4717256" y="1209377"/>
            <a:ext cx="214610" cy="214610"/>
          </a:xfrm>
          <a:prstGeom prst="ellipse">
            <a:avLst/>
          </a:prstGeom>
          <a:solidFill>
            <a:srgbClr val="55A49C"/>
          </a:solidFill>
          <a:ln/>
        </p:spPr>
        <p:txBody>
          <a:bodyPr wrap="none" rtlCol="0" anchor="t"/>
          <a:lstStyle/>
          <a:p>
            <a:pPr marL="0" indent="0">
              <a:buNone/>
            </a:pPr>
            <a:endParaRPr lang="en-US" dirty="0"/>
          </a:p>
        </p:txBody>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58267" y="1250388"/>
            <a:ext cx="132588" cy="132588"/>
          </a:xfrm>
          <a:prstGeom prst="rect">
            <a:avLst/>
          </a:prstGeom>
        </p:spPr>
      </p:pic>
      <p:sp>
        <p:nvSpPr>
          <p:cNvPr id="12" name="Text 8"/>
          <p:cNvSpPr/>
          <p:nvPr/>
        </p:nvSpPr>
        <p:spPr>
          <a:xfrm>
            <a:off x="5018187" y="1201787"/>
            <a:ext cx="1884959" cy="313320"/>
          </a:xfrm>
          <a:prstGeom prst="rect">
            <a:avLst/>
          </a:prstGeom>
          <a:noFill/>
          <a:ln/>
        </p:spPr>
        <p:txBody>
          <a:bodyPr wrap="square" lIns="0" tIns="0" rIns="0" bIns="0" rtlCol="0" anchor="ctr"/>
          <a:lstStyle/>
          <a:p>
            <a:pPr marL="0" indent="0" algn="l">
              <a:lnSpc>
                <a:spcPts val="1145"/>
              </a:lnSpc>
              <a:buNone/>
            </a:pPr>
            <a:r>
              <a:rPr lang="en-US" sz="790" b="1" dirty="0">
                <a:solidFill>
                  <a:srgbClr val="367689"/>
                </a:solidFill>
                <a:latin typeface="Calibri" pitchFamily="34" charset="0"/>
                <a:ea typeface="Calibri" pitchFamily="34" charset="-122"/>
                <a:cs typeface="Calibri" pitchFamily="34" charset="-120"/>
              </a:rPr>
              <a:t>Complete consent &amp; care plan updates</a:t>
            </a:r>
            <a:r>
              <a:rPr lang="en-US" sz="790" dirty="0">
                <a:solidFill>
                  <a:srgbClr val="141A42"/>
                </a:solidFill>
                <a:latin typeface="Calibri" pitchFamily="34" charset="0"/>
                <a:ea typeface="Calibri" pitchFamily="34" charset="-122"/>
                <a:cs typeface="Calibri" pitchFamily="34" charset="-120"/>
              </a:rPr>
              <a:t> Before session 1</a:t>
            </a:r>
            <a:endParaRPr lang="en-US" sz="790" dirty="0"/>
          </a:p>
        </p:txBody>
      </p:sp>
      <p:sp>
        <p:nvSpPr>
          <p:cNvPr id="13" name="Text 9"/>
          <p:cNvSpPr/>
          <p:nvPr/>
        </p:nvSpPr>
        <p:spPr>
          <a:xfrm>
            <a:off x="372070" y="1651695"/>
            <a:ext cx="4164360" cy="459432"/>
          </a:xfrm>
          <a:prstGeom prst="roundRect">
            <a:avLst>
              <a:gd name="adj" fmla="val 15480"/>
            </a:avLst>
          </a:prstGeom>
          <a:solidFill>
            <a:srgbClr val="FFFFFF"/>
          </a:solidFill>
          <a:ln w="9525">
            <a:solidFill>
              <a:srgbClr val="367689"/>
            </a:solidFill>
          </a:ln>
        </p:spPr>
        <p:txBody>
          <a:bodyPr wrap="square" rtlCol="0" anchor="t"/>
          <a:lstStyle/>
          <a:p>
            <a:pPr marL="0" indent="0">
              <a:buNone/>
            </a:pPr>
            <a:endParaRPr lang="en-US" dirty="0"/>
          </a:p>
        </p:txBody>
      </p:sp>
      <p:sp>
        <p:nvSpPr>
          <p:cNvPr id="14" name="Text 10"/>
          <p:cNvSpPr/>
          <p:nvPr/>
        </p:nvSpPr>
        <p:spPr>
          <a:xfrm>
            <a:off x="481905" y="1739801"/>
            <a:ext cx="214610" cy="214610"/>
          </a:xfrm>
          <a:prstGeom prst="ellipse">
            <a:avLst/>
          </a:prstGeom>
          <a:solidFill>
            <a:srgbClr val="55A49C"/>
          </a:solidFill>
          <a:ln/>
        </p:spPr>
        <p:txBody>
          <a:bodyPr wrap="none" rtlCol="0" anchor="t"/>
          <a:lstStyle/>
          <a:p>
            <a:pPr marL="0" indent="0">
              <a:buNone/>
            </a:pPr>
            <a:endParaRPr lang="en-US" dirty="0"/>
          </a:p>
        </p:txBody>
      </p:sp>
      <p:pic>
        <p:nvPicPr>
          <p:cNvPr id="15"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22917" y="1780812"/>
            <a:ext cx="132588" cy="132588"/>
          </a:xfrm>
          <a:prstGeom prst="rect">
            <a:avLst/>
          </a:prstGeom>
        </p:spPr>
      </p:pic>
      <p:sp>
        <p:nvSpPr>
          <p:cNvPr id="16" name="Text 11"/>
          <p:cNvSpPr/>
          <p:nvPr/>
        </p:nvSpPr>
        <p:spPr>
          <a:xfrm>
            <a:off x="782836" y="1732211"/>
            <a:ext cx="1658314" cy="313320"/>
          </a:xfrm>
          <a:prstGeom prst="rect">
            <a:avLst/>
          </a:prstGeom>
          <a:noFill/>
          <a:ln/>
        </p:spPr>
        <p:txBody>
          <a:bodyPr wrap="square" lIns="0" tIns="0" rIns="0" bIns="0" rtlCol="0" anchor="ctr"/>
          <a:lstStyle/>
          <a:p>
            <a:pPr marL="0" indent="0" algn="l">
              <a:lnSpc>
                <a:spcPts val="1145"/>
              </a:lnSpc>
              <a:buNone/>
            </a:pPr>
            <a:r>
              <a:rPr lang="en-US" sz="790" b="1" dirty="0">
                <a:solidFill>
                  <a:srgbClr val="367689"/>
                </a:solidFill>
                <a:latin typeface="Calibri" pitchFamily="34" charset="0"/>
                <a:ea typeface="Calibri" pitchFamily="34" charset="-122"/>
                <a:cs typeface="Calibri" pitchFamily="34" charset="-120"/>
              </a:rPr>
              <a:t>Set up your group in Avatar NX</a:t>
            </a:r>
            <a:r>
              <a:rPr lang="en-US" sz="790" dirty="0">
                <a:solidFill>
                  <a:srgbClr val="141A42"/>
                </a:solidFill>
                <a:latin typeface="Calibri" pitchFamily="34" charset="0"/>
                <a:ea typeface="Calibri" pitchFamily="34" charset="-122"/>
                <a:cs typeface="Calibri" pitchFamily="34" charset="-120"/>
              </a:rPr>
              <a:t> Using the correct naming convention</a:t>
            </a:r>
            <a:endParaRPr lang="en-US" sz="790" dirty="0"/>
          </a:p>
        </p:txBody>
      </p:sp>
      <p:sp>
        <p:nvSpPr>
          <p:cNvPr id="17" name="Text 12"/>
          <p:cNvSpPr/>
          <p:nvPr/>
        </p:nvSpPr>
        <p:spPr>
          <a:xfrm>
            <a:off x="4607421" y="1651695"/>
            <a:ext cx="4164509" cy="459432"/>
          </a:xfrm>
          <a:prstGeom prst="roundRect">
            <a:avLst>
              <a:gd name="adj" fmla="val 15480"/>
            </a:avLst>
          </a:prstGeom>
          <a:solidFill>
            <a:srgbClr val="FFFFFF"/>
          </a:solidFill>
          <a:ln w="9525">
            <a:solidFill>
              <a:srgbClr val="367689"/>
            </a:solidFill>
          </a:ln>
        </p:spPr>
        <p:txBody>
          <a:bodyPr wrap="square" rtlCol="0" anchor="t"/>
          <a:lstStyle/>
          <a:p>
            <a:pPr marL="0" indent="0">
              <a:buNone/>
            </a:pPr>
            <a:endParaRPr lang="en-US" dirty="0"/>
          </a:p>
        </p:txBody>
      </p:sp>
      <p:sp>
        <p:nvSpPr>
          <p:cNvPr id="18" name="Text 13"/>
          <p:cNvSpPr/>
          <p:nvPr/>
        </p:nvSpPr>
        <p:spPr>
          <a:xfrm>
            <a:off x="4717256" y="1739801"/>
            <a:ext cx="214610" cy="214610"/>
          </a:xfrm>
          <a:prstGeom prst="ellipse">
            <a:avLst/>
          </a:prstGeom>
          <a:solidFill>
            <a:srgbClr val="55A49C"/>
          </a:solidFill>
          <a:ln/>
        </p:spPr>
        <p:txBody>
          <a:bodyPr wrap="none" rtlCol="0" anchor="t"/>
          <a:lstStyle/>
          <a:p>
            <a:pPr marL="0" indent="0">
              <a:buNone/>
            </a:pPr>
            <a:endParaRPr lang="en-US" dirty="0"/>
          </a:p>
        </p:txBody>
      </p:sp>
      <p:pic>
        <p:nvPicPr>
          <p:cNvPr id="19"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758267" y="1780812"/>
            <a:ext cx="132588" cy="132588"/>
          </a:xfrm>
          <a:prstGeom prst="rect">
            <a:avLst/>
          </a:prstGeom>
        </p:spPr>
      </p:pic>
      <p:sp>
        <p:nvSpPr>
          <p:cNvPr id="20" name="Text 14"/>
          <p:cNvSpPr/>
          <p:nvPr/>
        </p:nvSpPr>
        <p:spPr>
          <a:xfrm>
            <a:off x="5018187" y="1732211"/>
            <a:ext cx="1850803" cy="313320"/>
          </a:xfrm>
          <a:prstGeom prst="rect">
            <a:avLst/>
          </a:prstGeom>
          <a:noFill/>
          <a:ln/>
        </p:spPr>
        <p:txBody>
          <a:bodyPr wrap="square" lIns="0" tIns="0" rIns="0" bIns="0" rtlCol="0" anchor="ctr"/>
          <a:lstStyle/>
          <a:p>
            <a:pPr marL="0" indent="0" algn="l">
              <a:lnSpc>
                <a:spcPts val="1145"/>
              </a:lnSpc>
              <a:buNone/>
            </a:pPr>
            <a:r>
              <a:rPr lang="en-US" sz="790" b="1" dirty="0">
                <a:solidFill>
                  <a:srgbClr val="367689"/>
                </a:solidFill>
                <a:latin typeface="Calibri" pitchFamily="34" charset="0"/>
                <a:ea typeface="Calibri" pitchFamily="34" charset="-122"/>
                <a:cs typeface="Calibri" pitchFamily="34" charset="-120"/>
              </a:rPr>
              <a:t>Draft your Session 1 plan</a:t>
            </a:r>
            <a:r>
              <a:rPr lang="en-US" sz="790" dirty="0">
                <a:solidFill>
                  <a:srgbClr val="141A42"/>
                </a:solidFill>
                <a:latin typeface="Calibri" pitchFamily="34" charset="0"/>
                <a:ea typeface="Calibri" pitchFamily="34" charset="-122"/>
                <a:cs typeface="Calibri" pitchFamily="34" charset="-120"/>
              </a:rPr>
              <a:t> Check-in → Skill → Activity → Check-out</a:t>
            </a:r>
            <a:endParaRPr lang="en-US" sz="790" dirty="0"/>
          </a:p>
        </p:txBody>
      </p:sp>
      <p:sp>
        <p:nvSpPr>
          <p:cNvPr id="21" name="Text 15"/>
          <p:cNvSpPr/>
          <p:nvPr/>
        </p:nvSpPr>
        <p:spPr>
          <a:xfrm>
            <a:off x="0" y="4382691"/>
            <a:ext cx="9144000" cy="498128"/>
          </a:xfrm>
          <a:prstGeom prst="rect">
            <a:avLst/>
          </a:prstGeom>
          <a:solidFill>
            <a:srgbClr val="367689"/>
          </a:solidFill>
          <a:ln/>
        </p:spPr>
        <p:txBody>
          <a:bodyPr wrap="square" rtlCol="0" anchor="t"/>
          <a:lstStyle/>
          <a:p>
            <a:pPr marL="0" indent="0">
              <a:buNone/>
            </a:pPr>
            <a:endParaRPr lang="en-US" dirty="0"/>
          </a:p>
        </p:txBody>
      </p:sp>
      <p:sp>
        <p:nvSpPr>
          <p:cNvPr id="22" name="Text 16"/>
          <p:cNvSpPr/>
          <p:nvPr/>
        </p:nvSpPr>
        <p:spPr>
          <a:xfrm>
            <a:off x="-47923" y="4475262"/>
            <a:ext cx="9239845" cy="144810"/>
          </a:xfrm>
          <a:prstGeom prst="rect">
            <a:avLst/>
          </a:prstGeom>
          <a:noFill/>
          <a:ln/>
        </p:spPr>
        <p:txBody>
          <a:bodyPr wrap="none" lIns="0" tIns="0" rIns="0" bIns="0" rtlCol="0" anchor="ctr"/>
          <a:lstStyle/>
          <a:p>
            <a:pPr marL="0" indent="0" algn="ctr">
              <a:lnSpc>
                <a:spcPts val="1140"/>
              </a:lnSpc>
              <a:buNone/>
            </a:pPr>
            <a:r>
              <a:rPr lang="en-US" sz="760" i="1" dirty="0">
                <a:solidFill>
                  <a:srgbClr val="FFFFFF"/>
                </a:solidFill>
                <a:latin typeface="Calibri Light" pitchFamily="34" charset="0"/>
                <a:ea typeface="Calibri Light" pitchFamily="34" charset="-122"/>
                <a:cs typeface="Calibri Light" pitchFamily="34" charset="-120"/>
              </a:rPr>
              <a:t>"Therapeutic change is an enormously complex process that occurs through an intricate interplay of human experiences." — Yalom &amp; Leszcz, 2005</a:t>
            </a:r>
            <a:endParaRPr lang="en-US" sz="760" dirty="0"/>
          </a:p>
        </p:txBody>
      </p:sp>
      <p:sp>
        <p:nvSpPr>
          <p:cNvPr id="23" name="Text 17"/>
          <p:cNvSpPr/>
          <p:nvPr/>
        </p:nvSpPr>
        <p:spPr>
          <a:xfrm>
            <a:off x="-47923" y="4649242"/>
            <a:ext cx="9239845" cy="139005"/>
          </a:xfrm>
          <a:prstGeom prst="rect">
            <a:avLst/>
          </a:prstGeom>
          <a:noFill/>
          <a:ln/>
        </p:spPr>
        <p:txBody>
          <a:bodyPr wrap="none" lIns="0" tIns="0" rIns="0" bIns="0" rtlCol="0" anchor="t"/>
          <a:lstStyle/>
          <a:p>
            <a:pPr marL="0" indent="0" algn="ctr">
              <a:lnSpc>
                <a:spcPts val="1095"/>
              </a:lnSpc>
              <a:buNone/>
            </a:pPr>
            <a:r>
              <a:rPr lang="en-US" sz="730" b="1" kern="0" spc="7" dirty="0">
                <a:solidFill>
                  <a:srgbClr val="FFFFFF">
                    <a:alpha val="88000"/>
                  </a:srgbClr>
                </a:solidFill>
                <a:latin typeface="Calibri" pitchFamily="34" charset="0"/>
                <a:ea typeface="Calibri" pitchFamily="34" charset="-122"/>
                <a:cs typeface="Calibri" pitchFamily="34" charset="-120"/>
              </a:rPr>
              <a:t>You are now one of those human experiences for your students.</a:t>
            </a:r>
            <a:endParaRPr lang="en-US" sz="730" dirty="0"/>
          </a:p>
        </p:txBody>
      </p:sp>
      <p:sp>
        <p:nvSpPr>
          <p:cNvPr id="24" name="Text 18"/>
          <p:cNvSpPr/>
          <p:nvPr/>
        </p:nvSpPr>
        <p:spPr>
          <a:xfrm>
            <a:off x="0" y="4880818"/>
            <a:ext cx="9144000" cy="262682"/>
          </a:xfrm>
          <a:prstGeom prst="rect">
            <a:avLst/>
          </a:prstGeom>
          <a:solidFill>
            <a:srgbClr val="141A42"/>
          </a:solidFill>
          <a:ln/>
        </p:spPr>
        <p:txBody>
          <a:bodyPr wrap="none" rtlCol="0" anchor="t"/>
          <a:lstStyle/>
          <a:p>
            <a:pPr marL="0" indent="0">
              <a:buNone/>
            </a:pPr>
            <a:endParaRPr lang="en-US" dirty="0"/>
          </a:p>
        </p:txBody>
      </p:sp>
      <p:sp>
        <p:nvSpPr>
          <p:cNvPr id="25" name="Text 19"/>
          <p:cNvSpPr/>
          <p:nvPr/>
        </p:nvSpPr>
        <p:spPr>
          <a:xfrm>
            <a:off x="2068287" y="4945559"/>
            <a:ext cx="3031435" cy="133201"/>
          </a:xfrm>
          <a:prstGeom prst="rect">
            <a:avLst/>
          </a:prstGeom>
          <a:noFill/>
          <a:ln/>
        </p:spPr>
        <p:txBody>
          <a:bodyPr wrap="none" lIns="0" tIns="0" rIns="0" bIns="0" rtlCol="0" anchor="ctr"/>
          <a:lstStyle/>
          <a:p>
            <a:pPr marL="0" indent="0" algn="ctr">
              <a:lnSpc>
                <a:spcPts val="1050"/>
              </a:lnSpc>
              <a:buNone/>
            </a:pPr>
            <a:r>
              <a:rPr lang="en-US" sz="700" dirty="0">
                <a:solidFill>
                  <a:srgbClr val="FFFFFF">
                    <a:alpha val="80000"/>
                  </a:srgbClr>
                </a:solidFill>
                <a:latin typeface="Calibri" pitchFamily="34" charset="0"/>
                <a:ea typeface="Calibri" pitchFamily="34" charset="-122"/>
                <a:cs typeface="Calibri" pitchFamily="34" charset="-120"/>
              </a:rPr>
              <a:t>Questions? Reach out to Topher Fuqua to schedule a one-on-one.</a:t>
            </a:r>
            <a:endParaRPr lang="en-US" sz="700" dirty="0"/>
          </a:p>
        </p:txBody>
      </p:sp>
      <p:sp>
        <p:nvSpPr>
          <p:cNvPr id="26" name="Text 20"/>
          <p:cNvSpPr/>
          <p:nvPr/>
        </p:nvSpPr>
        <p:spPr>
          <a:xfrm>
            <a:off x="5048250" y="4954935"/>
            <a:ext cx="41910" cy="114300"/>
          </a:xfrm>
          <a:prstGeom prst="rect">
            <a:avLst/>
          </a:prstGeom>
          <a:noFill/>
          <a:ln/>
        </p:spPr>
        <p:txBody>
          <a:bodyPr wrap="none" lIns="0" tIns="0" rIns="0" bIns="0" rtlCol="0" anchor="ctr"/>
          <a:lstStyle/>
          <a:p>
            <a:pPr marL="0" indent="0" algn="l">
              <a:lnSpc>
                <a:spcPts val="900"/>
              </a:lnSpc>
              <a:buNone/>
            </a:pPr>
            <a:r>
              <a:rPr lang="en-US" sz="900" dirty="0">
                <a:solidFill>
                  <a:srgbClr val="F4B753"/>
                </a:solidFill>
                <a:latin typeface="Calibri" pitchFamily="34" charset="0"/>
                <a:ea typeface="Calibri" pitchFamily="34" charset="-122"/>
                <a:cs typeface="Calibri" pitchFamily="34" charset="-120"/>
              </a:rPr>
              <a:t>·</a:t>
            </a:r>
            <a:endParaRPr lang="en-US" sz="900" dirty="0"/>
          </a:p>
        </p:txBody>
      </p:sp>
      <p:sp>
        <p:nvSpPr>
          <p:cNvPr id="27" name="Text 21"/>
          <p:cNvSpPr/>
          <p:nvPr/>
        </p:nvSpPr>
        <p:spPr>
          <a:xfrm>
            <a:off x="5084415" y="4945559"/>
            <a:ext cx="1941612" cy="133201"/>
          </a:xfrm>
          <a:prstGeom prst="rect">
            <a:avLst/>
          </a:prstGeom>
          <a:noFill/>
          <a:ln/>
        </p:spPr>
        <p:txBody>
          <a:bodyPr wrap="none" lIns="0" tIns="0" rIns="0" bIns="0" rtlCol="0" anchor="ctr"/>
          <a:lstStyle/>
          <a:p>
            <a:pPr marL="0" indent="0" algn="ctr">
              <a:lnSpc>
                <a:spcPts val="1050"/>
              </a:lnSpc>
              <a:buNone/>
            </a:pPr>
            <a:r>
              <a:rPr lang="en-US" sz="700" dirty="0">
                <a:solidFill>
                  <a:srgbClr val="FFFFFF">
                    <a:alpha val="80000"/>
                  </a:srgbClr>
                </a:solidFill>
                <a:latin typeface="Calibri" pitchFamily="34" charset="0"/>
                <a:ea typeface="Calibri" pitchFamily="34" charset="-122"/>
                <a:cs typeface="Calibri" pitchFamily="34" charset="-120"/>
              </a:rPr>
              <a:t>Centerstone </a:t>
            </a:r>
            <a:r>
              <a:rPr lang="en-US" sz="700">
                <a:solidFill>
                  <a:srgbClr val="FFFFFF">
                    <a:alpha val="80000"/>
                  </a:srgbClr>
                </a:solidFill>
                <a:latin typeface="Calibri" pitchFamily="34" charset="0"/>
                <a:ea typeface="Calibri" pitchFamily="34" charset="-122"/>
                <a:cs typeface="Calibri" pitchFamily="34" charset="-120"/>
              </a:rPr>
              <a:t>Clinical</a:t>
            </a:r>
            <a:r>
              <a:rPr lang="en-US" sz="700" dirty="0">
                <a:solidFill>
                  <a:srgbClr val="FFFFFF">
                    <a:alpha val="80000"/>
                  </a:srgbClr>
                </a:solidFill>
                <a:latin typeface="Calibri" pitchFamily="34" charset="0"/>
                <a:ea typeface="Calibri" pitchFamily="34" charset="-122"/>
                <a:cs typeface="Calibri" pitchFamily="34" charset="-120"/>
              </a:rPr>
              <a:t> Training Series</a:t>
            </a:r>
            <a:endParaRPr lang="en-US" sz="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A5E72"/>
        </a:solidFill>
        <a:effectLst/>
      </p:bgPr>
    </p:bg>
    <p:spTree>
      <p:nvGrpSpPr>
        <p:cNvPr id="1" name=""/>
        <p:cNvGrpSpPr/>
        <p:nvPr/>
      </p:nvGrpSpPr>
      <p:grpSpPr>
        <a:xfrm>
          <a:off x="0" y="0"/>
          <a:ext cx="0" cy="0"/>
          <a:chOff x="0" y="0"/>
          <a:chExt cx="0" cy="0"/>
        </a:xfrm>
      </p:grpSpPr>
      <p:sp>
        <p:nvSpPr>
          <p:cNvPr id="2" name="Text 0"/>
          <p:cNvSpPr/>
          <p:nvPr/>
        </p:nvSpPr>
        <p:spPr>
          <a:xfrm>
            <a:off x="6144220" y="0"/>
            <a:ext cx="2999780" cy="2857500"/>
          </a:xfrm>
          <a:prstGeom prst="ellipse">
            <a:avLst/>
          </a:prstGeom>
          <a:solidFill>
            <a:srgbClr val="FFFFFF">
              <a:alpha val="3000"/>
            </a:srgbClr>
          </a:solidFill>
          <a:ln/>
        </p:spPr>
        <p:txBody>
          <a:bodyPr wrap="square" rtlCol="0" anchor="t"/>
          <a:lstStyle/>
          <a:p>
            <a:pPr marL="0" indent="0">
              <a:buNone/>
            </a:pPr>
            <a:endParaRPr lang="en-US"/>
          </a:p>
        </p:txBody>
      </p:sp>
      <p:sp>
        <p:nvSpPr>
          <p:cNvPr id="3" name="Text 1"/>
          <p:cNvSpPr/>
          <p:nvPr/>
        </p:nvSpPr>
        <p:spPr>
          <a:xfrm>
            <a:off x="0" y="3572470"/>
            <a:ext cx="2000250" cy="1571030"/>
          </a:xfrm>
          <a:prstGeom prst="ellipse">
            <a:avLst/>
          </a:prstGeom>
          <a:solidFill>
            <a:srgbClr val="FFFFFF">
              <a:alpha val="3000"/>
            </a:srgbClr>
          </a:solidFill>
          <a:ln/>
        </p:spPr>
        <p:txBody>
          <a:bodyPr wrap="square" rtlCol="0" anchor="t"/>
          <a:lstStyle/>
          <a:p>
            <a:pPr marL="0" indent="0">
              <a:buNone/>
            </a:pPr>
            <a:endParaRPr lang="en-US"/>
          </a:p>
        </p:txBody>
      </p:sp>
      <p:sp>
        <p:nvSpPr>
          <p:cNvPr id="4" name="Text 2"/>
          <p:cNvSpPr/>
          <p:nvPr/>
        </p:nvSpPr>
        <p:spPr>
          <a:xfrm>
            <a:off x="5429250" y="0"/>
            <a:ext cx="3714750" cy="3571280"/>
          </a:xfrm>
          <a:prstGeom prst="ellipse">
            <a:avLst/>
          </a:prstGeom>
          <a:noFill/>
          <a:ln w="9525">
            <a:solidFill>
              <a:srgbClr val="FFFFFF">
                <a:alpha val="5000"/>
              </a:srgbClr>
            </a:solidFill>
          </a:ln>
        </p:spPr>
        <p:txBody>
          <a:bodyPr wrap="square" rtlCol="0" anchor="t"/>
          <a:lstStyle/>
          <a:p>
            <a:pPr marL="0" indent="0">
              <a:buNone/>
            </a:pPr>
            <a:endParaRPr lang="en-US"/>
          </a:p>
        </p:txBody>
      </p:sp>
      <p:sp>
        <p:nvSpPr>
          <p:cNvPr id="5" name="Text 3"/>
          <p:cNvSpPr/>
          <p:nvPr/>
        </p:nvSpPr>
        <p:spPr>
          <a:xfrm>
            <a:off x="0" y="3356521"/>
            <a:ext cx="2358479" cy="1786979"/>
          </a:xfrm>
          <a:prstGeom prst="ellipse">
            <a:avLst/>
          </a:prstGeom>
          <a:noFill/>
          <a:ln w="9525">
            <a:solidFill>
              <a:srgbClr val="FFFFFF">
                <a:alpha val="5000"/>
              </a:srgbClr>
            </a:solidFill>
          </a:ln>
        </p:spPr>
        <p:txBody>
          <a:bodyPr wrap="square" rtlCol="0" anchor="t"/>
          <a:lstStyle/>
          <a:p>
            <a:pPr marL="0" indent="0">
              <a:buNone/>
            </a:pPr>
            <a:endParaRPr lang="en-US"/>
          </a:p>
        </p:txBody>
      </p:sp>
      <p:sp>
        <p:nvSpPr>
          <p:cNvPr id="6" name="Text 4"/>
          <p:cNvSpPr/>
          <p:nvPr/>
        </p:nvSpPr>
        <p:spPr>
          <a:xfrm>
            <a:off x="429220" y="429220"/>
            <a:ext cx="2143720" cy="2143720"/>
          </a:xfrm>
          <a:prstGeom prst="ellipse">
            <a:avLst/>
          </a:prstGeom>
          <a:noFill/>
          <a:ln w="9525">
            <a:solidFill>
              <a:srgbClr val="FFFFFF">
                <a:alpha val="5000"/>
              </a:srgbClr>
            </a:solidFill>
          </a:ln>
        </p:spPr>
        <p:txBody>
          <a:bodyPr wrap="square" rtlCol="0" anchor="t"/>
          <a:lstStyle/>
          <a:p>
            <a:pPr marL="0" indent="0">
              <a:buNone/>
            </a:pPr>
            <a:endParaRPr lang="en-US"/>
          </a:p>
        </p:txBody>
      </p:sp>
      <p:sp>
        <p:nvSpPr>
          <p:cNvPr id="7" name="Text 5"/>
          <p:cNvSpPr/>
          <p:nvPr/>
        </p:nvSpPr>
        <p:spPr>
          <a:xfrm>
            <a:off x="0" y="0"/>
            <a:ext cx="29170" cy="5143500"/>
          </a:xfrm>
          <a:prstGeom prst="rect">
            <a:avLst/>
          </a:prstGeom>
          <a:gradFill rotWithShape="1">
            <a:gsLst>
              <a:gs pos="0">
                <a:srgbClr val="000000">
                  <a:alpha val="0"/>
                </a:srgbClr>
              </a:gs>
              <a:gs pos="30000">
                <a:srgbClr val="FAB753">
                  <a:alpha val="40000"/>
                </a:srgbClr>
              </a:gs>
              <a:gs pos="70000">
                <a:srgbClr val="FAB753">
                  <a:alpha val="40000"/>
                </a:srgbClr>
              </a:gs>
              <a:gs pos="100000">
                <a:srgbClr val="000000">
                  <a:alpha val="0"/>
                </a:srgbClr>
              </a:gs>
            </a:gsLst>
            <a:lin ang="5400000" scaled="1"/>
          </a:gradFill>
          <a:ln/>
        </p:spPr>
        <p:txBody>
          <a:bodyPr wrap="square" rtlCol="0" anchor="t"/>
          <a:lstStyle/>
          <a:p>
            <a:pPr marL="0" indent="0">
              <a:buNone/>
            </a:pPr>
            <a:endParaRPr lang="en-US"/>
          </a:p>
        </p:txBody>
      </p:sp>
      <p:sp>
        <p:nvSpPr>
          <p:cNvPr id="8" name="Eyebrow"/>
          <p:cNvSpPr/>
          <p:nvPr/>
        </p:nvSpPr>
        <p:spPr>
          <a:xfrm>
            <a:off x="3144441" y="627387"/>
            <a:ext cx="2999779" cy="99725"/>
          </a:xfrm>
          <a:prstGeom prst="rect">
            <a:avLst/>
          </a:prstGeom>
          <a:noFill/>
          <a:ln/>
        </p:spPr>
        <p:txBody>
          <a:bodyPr wrap="square" lIns="0" tIns="0" rIns="0" bIns="0" rtlCol="0" anchor="t"/>
          <a:lstStyle/>
          <a:p>
            <a:pPr marL="0" indent="0" algn="ctr">
              <a:lnSpc>
                <a:spcPts val="930"/>
              </a:lnSpc>
              <a:buNone/>
            </a:pPr>
            <a:r>
              <a:rPr lang="en-US" sz="620" b="1" kern="0" spc="155" dirty="0">
                <a:solidFill>
                  <a:srgbClr val="FAB753"/>
                </a:solidFill>
                <a:latin typeface="Calibri" pitchFamily="34" charset="0"/>
                <a:ea typeface="Calibri" pitchFamily="34" charset="-122"/>
                <a:cs typeface="Calibri" pitchFamily="34" charset="-120"/>
              </a:rPr>
              <a:t>CENTERSTONE SCHOOL-BASED CLINICAL TRAINING SERIES</a:t>
            </a:r>
            <a:endParaRPr lang="en-US" sz="620" dirty="0"/>
          </a:p>
        </p:txBody>
      </p:sp>
      <p:sp>
        <p:nvSpPr>
          <p:cNvPr id="9" name="Accent Line Top"/>
          <p:cNvSpPr/>
          <p:nvPr/>
        </p:nvSpPr>
        <p:spPr>
          <a:xfrm>
            <a:off x="4357390" y="931416"/>
            <a:ext cx="429220" cy="13841"/>
          </a:xfrm>
          <a:prstGeom prst="rect">
            <a:avLst/>
          </a:prstGeom>
          <a:solidFill>
            <a:srgbClr val="FAB753"/>
          </a:solidFill>
          <a:ln/>
        </p:spPr>
        <p:txBody>
          <a:bodyPr wrap="none" rtlCol="0" anchor="t"/>
          <a:lstStyle/>
          <a:p>
            <a:pPr marL="0" indent="0">
              <a:buNone/>
            </a:pPr>
            <a:endParaRPr lang="en-US"/>
          </a:p>
        </p:txBody>
      </p:sp>
      <p:sp>
        <p:nvSpPr>
          <p:cNvPr id="10" name="Title"/>
          <p:cNvSpPr/>
          <p:nvPr/>
        </p:nvSpPr>
        <p:spPr>
          <a:xfrm>
            <a:off x="1772197" y="1177458"/>
            <a:ext cx="5599606" cy="565696"/>
          </a:xfrm>
          <a:prstGeom prst="rect">
            <a:avLst/>
          </a:prstGeom>
          <a:noFill/>
          <a:ln/>
        </p:spPr>
        <p:txBody>
          <a:bodyPr wrap="square" lIns="0" tIns="0" rIns="0" bIns="0" rtlCol="0" anchor="t"/>
          <a:lstStyle/>
          <a:p>
            <a:pPr marL="0" indent="0" algn="ctr">
              <a:lnSpc>
                <a:spcPts val="4455"/>
              </a:lnSpc>
              <a:spcAft>
                <a:spcPts val="1580"/>
              </a:spcAft>
              <a:buNone/>
            </a:pPr>
            <a:r>
              <a:rPr lang="en-US" sz="4050" kern="0" spc="-40" dirty="0">
                <a:solidFill>
                  <a:srgbClr val="FFFFFF"/>
                </a:solidFill>
                <a:latin typeface="Calibri Light" pitchFamily="34" charset="0"/>
                <a:ea typeface="Calibri Light" pitchFamily="34" charset="-122"/>
                <a:cs typeface="Calibri Light" pitchFamily="34" charset="-120"/>
              </a:rPr>
              <a:t>School-Based Groups</a:t>
            </a:r>
            <a:endParaRPr lang="en-US" sz="4050" dirty="0"/>
          </a:p>
        </p:txBody>
      </p:sp>
      <p:sp>
        <p:nvSpPr>
          <p:cNvPr id="11" name="Accent Line Bottom"/>
          <p:cNvSpPr/>
          <p:nvPr/>
        </p:nvSpPr>
        <p:spPr>
          <a:xfrm>
            <a:off x="4143375" y="1900000"/>
            <a:ext cx="857250" cy="7590"/>
          </a:xfrm>
          <a:prstGeom prst="rect">
            <a:avLst/>
          </a:prstGeom>
          <a:solidFill>
            <a:srgbClr val="FAB753">
              <a:alpha val="35000"/>
            </a:srgbClr>
          </a:solidFill>
          <a:ln/>
        </p:spPr>
        <p:txBody>
          <a:bodyPr wrap="none" rtlCol="0" anchor="t"/>
          <a:lstStyle/>
          <a:p>
            <a:pPr marL="0" indent="0">
              <a:buNone/>
            </a:pPr>
            <a:endParaRPr lang="en-US"/>
          </a:p>
        </p:txBody>
      </p:sp>
      <p:sp>
        <p:nvSpPr>
          <p:cNvPr id="12" name="Message"/>
          <p:cNvSpPr/>
          <p:nvPr/>
        </p:nvSpPr>
        <p:spPr>
          <a:xfrm>
            <a:off x="2072123" y="2040000"/>
            <a:ext cx="4999754" cy="400000"/>
          </a:xfrm>
          <a:prstGeom prst="rect">
            <a:avLst/>
          </a:prstGeom>
          <a:noFill/>
          <a:ln/>
        </p:spPr>
        <p:txBody>
          <a:bodyPr wrap="square" lIns="0" tIns="0" rIns="0" bIns="0" rtlCol="0" anchor="t"/>
          <a:lstStyle/>
          <a:p>
            <a:pPr marL="0" indent="0" algn="ctr">
              <a:lnSpc>
                <a:spcPts val="1860"/>
              </a:lnSpc>
              <a:buNone/>
            </a:pPr>
            <a:r>
              <a:rPr lang="en-US" sz="1240" kern="0" spc="50" dirty="0">
                <a:solidFill>
                  <a:srgbClr val="55A49C"/>
                </a:solidFill>
                <a:latin typeface="Calibri Light" pitchFamily="34" charset="0"/>
                <a:ea typeface="Calibri Light" pitchFamily="34" charset="-122"/>
                <a:cs typeface="Calibri Light" pitchFamily="34" charset="-120"/>
              </a:rPr>
              <a:t>Completion of this survey is required for attendance verification for today’s training.</a:t>
            </a:r>
            <a:endParaRPr lang="en-US" sz="1240" dirty="0"/>
          </a:p>
        </p:txBody>
      </p:sp>
      <p:sp>
        <p:nvSpPr>
          <p:cNvPr id="17" name="Survey Link Placeholder"/>
          <p:cNvSpPr/>
          <p:nvPr/>
        </p:nvSpPr>
        <p:spPr>
          <a:xfrm>
            <a:off x="2000250" y="4192872"/>
            <a:ext cx="4999754" cy="330000"/>
          </a:xfrm>
          <a:prstGeom prst="rect">
            <a:avLst/>
          </a:prstGeom>
          <a:noFill/>
          <a:ln/>
        </p:spPr>
        <p:txBody>
          <a:bodyPr wrap="square" lIns="0" tIns="0" rIns="0" bIns="0" rtlCol="0" anchor="t"/>
          <a:lstStyle/>
          <a:p>
            <a:pPr algn="ctr">
              <a:lnSpc>
                <a:spcPts val="1440"/>
              </a:lnSpc>
            </a:pPr>
            <a:r>
              <a:rPr lang="en-US" sz="1060" u="sng" dirty="0">
                <a:solidFill>
                  <a:srgbClr val="FBB753"/>
                </a:solidFill>
                <a:hlinkClick r:id="rId2">
                  <a:extLst>
                    <a:ext uri="{A12FA001-AC4F-418D-AE19-62706E023703}">
                      <ahyp:hlinkClr xmlns:ahyp="http://schemas.microsoft.com/office/drawing/2018/hyperlinkcolor" val="tx"/>
                    </a:ext>
                  </a:extLst>
                </a:hlinkClick>
              </a:rPr>
              <a:t>https://forms.office.com/r/EXVCQtPbti</a:t>
            </a:r>
            <a:endParaRPr lang="en-US" sz="1060" dirty="0">
              <a:solidFill>
                <a:srgbClr val="FBB753"/>
              </a:solidFill>
            </a:endParaRPr>
          </a:p>
          <a:p>
            <a:pPr marL="0" indent="0" algn="ctr">
              <a:lnSpc>
                <a:spcPts val="1440"/>
              </a:lnSpc>
              <a:buNone/>
            </a:pPr>
            <a:endParaRPr lang="en-US" sz="1050" dirty="0"/>
          </a:p>
        </p:txBody>
      </p:sp>
      <p:sp>
        <p:nvSpPr>
          <p:cNvPr id="15" name="Bottom Accent"/>
          <p:cNvSpPr/>
          <p:nvPr/>
        </p:nvSpPr>
        <p:spPr>
          <a:xfrm>
            <a:off x="0" y="5114330"/>
            <a:ext cx="9144000" cy="29170"/>
          </a:xfrm>
          <a:prstGeom prst="rect">
            <a:avLst/>
          </a:prstGeom>
          <a:gradFill rotWithShape="1">
            <a:gsLst>
              <a:gs pos="0">
                <a:srgbClr val="000000">
                  <a:alpha val="0"/>
                </a:srgbClr>
              </a:gs>
              <a:gs pos="30000">
                <a:srgbClr val="FAB753">
                  <a:alpha val="60000"/>
                </a:srgbClr>
              </a:gs>
              <a:gs pos="70000">
                <a:srgbClr val="FAB753">
                  <a:alpha val="60000"/>
                </a:srgbClr>
              </a:gs>
              <a:gs pos="100000">
                <a:srgbClr val="000000">
                  <a:alpha val="0"/>
                </a:srgbClr>
              </a:gs>
            </a:gsLst>
            <a:lin ang="0" scaled="1"/>
          </a:gradFill>
          <a:ln/>
        </p:spPr>
        <p:txBody>
          <a:bodyPr wrap="none" rtlCol="0" anchor="t"/>
          <a:lstStyle/>
          <a:p>
            <a:pPr marL="0" indent="0">
              <a:buNone/>
            </a:pPr>
            <a:endParaRPr lang="en-US"/>
          </a:p>
        </p:txBody>
      </p:sp>
      <p:pic>
        <p:nvPicPr>
          <p:cNvPr id="14" name="Picture 13">
            <a:extLst>
              <a:ext uri="{FF2B5EF4-FFF2-40B4-BE49-F238E27FC236}">
                <a16:creationId xmlns:a16="http://schemas.microsoft.com/office/drawing/2014/main" id="{E3F00BDF-A22A-92E6-20D7-10B4478873EF}"/>
              </a:ext>
            </a:extLst>
          </p:cNvPr>
          <p:cNvPicPr>
            <a:picLocks noChangeAspect="1"/>
          </p:cNvPicPr>
          <p:nvPr/>
        </p:nvPicPr>
        <p:blipFill>
          <a:blip r:embed="rId3"/>
          <a:stretch>
            <a:fillRect/>
          </a:stretch>
        </p:blipFill>
        <p:spPr>
          <a:xfrm>
            <a:off x="3820429" y="2676823"/>
            <a:ext cx="1359395" cy="135939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63</TotalTime>
  <Words>2493</Words>
  <Application>Microsoft Macintosh PowerPoint</Application>
  <PresentationFormat>On-screen Show (16:9)</PresentationFormat>
  <Paragraphs>324</Paragraphs>
  <Slides>18</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subject>PptxGenJS Presentation</dc:subject>
  <dc:creator>docgen</dc:creator>
  <cp:lastModifiedBy>Topher Fuqua</cp:lastModifiedBy>
  <cp:revision>3</cp:revision>
  <dcterms:created xsi:type="dcterms:W3CDTF">2026-06-16T18:58:44Z</dcterms:created>
  <dcterms:modified xsi:type="dcterms:W3CDTF">2026-07-08T01:12:16Z</dcterms:modified>
</cp:coreProperties>
</file>