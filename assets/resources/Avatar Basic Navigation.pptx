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B753"/>
    <a:srgbClr val="195E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07"/>
    <p:restoredTop sz="94610"/>
  </p:normalViewPr>
  <p:slideViewPr>
    <p:cSldViewPr snapToGrid="0" snapToObjects="1">
      <p:cViewPr varScale="1">
        <p:scale>
          <a:sx n="93" d="100"/>
          <a:sy n="93" d="100"/>
        </p:scale>
        <p:origin x="216" y="1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134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 Id="rId9"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3.svg"/><Relationship Id="rId4" Type="http://schemas.openxmlformats.org/officeDocument/2006/relationships/image" Target="../media/image42.svg"/></Relationships>
</file>

<file path=ppt/slides/_rels/slide14.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1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1.svg"/><Relationship Id="rId4" Type="http://schemas.openxmlformats.org/officeDocument/2006/relationships/image" Target="../media/image50.svg"/></Relationships>
</file>

<file path=ppt/slides/_rels/slide16.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5.svg"/><Relationship Id="rId5" Type="http://schemas.openxmlformats.org/officeDocument/2006/relationships/image" Target="../media/image54.sv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svg"/></Relationships>
</file>

<file path=ppt/slides/_rels/slide17.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62.svg"/><Relationship Id="rId4" Type="http://schemas.openxmlformats.org/officeDocument/2006/relationships/image" Target="../media/image61.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hyperlink" Target="https://forms.office.com/r/EXVCQtPbti"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6144220" y="0"/>
            <a:ext cx="2999780" cy="2857500"/>
          </a:xfrm>
          <a:prstGeom prst="ellipse">
            <a:avLst/>
          </a:prstGeom>
          <a:solidFill>
            <a:srgbClr val="FFFFFF">
              <a:alpha val="3000"/>
            </a:srgbClr>
          </a:solidFill>
          <a:ln/>
        </p:spPr>
        <p:txBody>
          <a:bodyPr wrap="square" rtlCol="0" anchor="t"/>
          <a:lstStyle/>
          <a:p>
            <a:pPr marL="0" indent="0">
              <a:buNone/>
            </a:pPr>
            <a:endParaRPr lang="en-US" dirty="0"/>
          </a:p>
        </p:txBody>
      </p:sp>
      <p:sp>
        <p:nvSpPr>
          <p:cNvPr id="3" name="Text 1"/>
          <p:cNvSpPr/>
          <p:nvPr/>
        </p:nvSpPr>
        <p:spPr>
          <a:xfrm>
            <a:off x="0" y="3572470"/>
            <a:ext cx="2000250" cy="1571030"/>
          </a:xfrm>
          <a:prstGeom prst="ellipse">
            <a:avLst/>
          </a:prstGeom>
          <a:solidFill>
            <a:srgbClr val="FFFFFF">
              <a:alpha val="3000"/>
            </a:srgbClr>
          </a:solidFill>
          <a:ln/>
        </p:spPr>
        <p:txBody>
          <a:bodyPr wrap="square" rtlCol="0" anchor="t"/>
          <a:lstStyle/>
          <a:p>
            <a:pPr marL="0" indent="0">
              <a:buNone/>
            </a:pPr>
            <a:endParaRPr lang="en-US" dirty="0"/>
          </a:p>
        </p:txBody>
      </p:sp>
      <p:sp>
        <p:nvSpPr>
          <p:cNvPr id="4" name="Text 2"/>
          <p:cNvSpPr/>
          <p:nvPr/>
        </p:nvSpPr>
        <p:spPr>
          <a:xfrm>
            <a:off x="5429250" y="0"/>
            <a:ext cx="3714750" cy="3571280"/>
          </a:xfrm>
          <a:prstGeom prst="ellipse">
            <a:avLst/>
          </a:prstGeom>
          <a:noFill/>
          <a:ln w="9525">
            <a:solidFill>
              <a:srgbClr val="FFFFFF">
                <a:alpha val="5000"/>
              </a:srgbClr>
            </a:solidFill>
          </a:ln>
        </p:spPr>
        <p:txBody>
          <a:bodyPr wrap="square" rtlCol="0" anchor="t"/>
          <a:lstStyle/>
          <a:p>
            <a:pPr marL="0" indent="0">
              <a:buNone/>
            </a:pPr>
            <a:endParaRPr lang="en-US" dirty="0"/>
          </a:p>
        </p:txBody>
      </p:sp>
      <p:sp>
        <p:nvSpPr>
          <p:cNvPr id="5" name="Text 3"/>
          <p:cNvSpPr/>
          <p:nvPr/>
        </p:nvSpPr>
        <p:spPr>
          <a:xfrm>
            <a:off x="0" y="3356521"/>
            <a:ext cx="2358479" cy="1786979"/>
          </a:xfrm>
          <a:prstGeom prst="ellipse">
            <a:avLst/>
          </a:prstGeom>
          <a:noFill/>
          <a:ln w="9525">
            <a:solidFill>
              <a:srgbClr val="FFFFFF">
                <a:alpha val="5000"/>
              </a:srgbClr>
            </a:solidFill>
          </a:ln>
        </p:spPr>
        <p:txBody>
          <a:bodyPr wrap="square" rtlCol="0" anchor="t"/>
          <a:lstStyle/>
          <a:p>
            <a:pPr marL="0" indent="0">
              <a:buNone/>
            </a:pPr>
            <a:endParaRPr lang="en-US" dirty="0"/>
          </a:p>
        </p:txBody>
      </p:sp>
      <p:sp>
        <p:nvSpPr>
          <p:cNvPr id="6" name="Text 4"/>
          <p:cNvSpPr/>
          <p:nvPr/>
        </p:nvSpPr>
        <p:spPr>
          <a:xfrm>
            <a:off x="429220" y="429220"/>
            <a:ext cx="2143720" cy="2143720"/>
          </a:xfrm>
          <a:prstGeom prst="ellipse">
            <a:avLst/>
          </a:prstGeom>
          <a:noFill/>
          <a:ln w="9525">
            <a:solidFill>
              <a:srgbClr val="FFFFFF">
                <a:alpha val="5000"/>
              </a:srgbClr>
            </a:solidFill>
          </a:ln>
        </p:spPr>
        <p:txBody>
          <a:bodyPr wrap="square" rtlCol="0" anchor="t"/>
          <a:lstStyle/>
          <a:p>
            <a:pPr marL="0" indent="0">
              <a:buNone/>
            </a:pPr>
            <a:endParaRPr lang="en-US" dirty="0"/>
          </a:p>
        </p:txBody>
      </p:sp>
      <p:sp>
        <p:nvSpPr>
          <p:cNvPr id="7" name="Text 5"/>
          <p:cNvSpPr/>
          <p:nvPr/>
        </p:nvSpPr>
        <p:spPr>
          <a:xfrm>
            <a:off x="0" y="0"/>
            <a:ext cx="29170" cy="514350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dirty="0"/>
          </a:p>
        </p:txBody>
      </p:sp>
      <p:sp>
        <p:nvSpPr>
          <p:cNvPr id="8" name="Text 6"/>
          <p:cNvSpPr/>
          <p:nvPr/>
        </p:nvSpPr>
        <p:spPr>
          <a:xfrm>
            <a:off x="3215580" y="1558826"/>
            <a:ext cx="2639839" cy="118021"/>
          </a:xfrm>
          <a:prstGeom prst="rect">
            <a:avLst/>
          </a:prstGeom>
          <a:noFill/>
          <a:ln/>
        </p:spPr>
        <p:txBody>
          <a:bodyPr wrap="none" lIns="0" tIns="0" rIns="0" bIns="0" rtlCol="0" anchor="t"/>
          <a:lstStyle/>
          <a:p>
            <a:pPr marL="0" indent="0" algn="l">
              <a:lnSpc>
                <a:spcPts val="930"/>
              </a:lnSpc>
              <a:buNone/>
            </a:pPr>
            <a:r>
              <a:rPr lang="en-US" sz="620" b="1" kern="0" spc="155" dirty="0">
                <a:solidFill>
                  <a:srgbClr val="FAB753"/>
                </a:solidFill>
                <a:latin typeface="Calibri" pitchFamily="34" charset="0"/>
                <a:ea typeface="Calibri" pitchFamily="34" charset="-122"/>
                <a:cs typeface="Calibri" pitchFamily="34" charset="-120"/>
              </a:rPr>
              <a:t>CENTERSTONE SCHOOL-BASED CLINICAL TRAINING SERIES</a:t>
            </a:r>
            <a:endParaRPr lang="en-US" sz="620" dirty="0"/>
          </a:p>
        </p:txBody>
      </p:sp>
      <p:sp>
        <p:nvSpPr>
          <p:cNvPr id="9" name="Text 7"/>
          <p:cNvSpPr/>
          <p:nvPr/>
        </p:nvSpPr>
        <p:spPr>
          <a:xfrm>
            <a:off x="4357390" y="1877467"/>
            <a:ext cx="429220" cy="13841"/>
          </a:xfrm>
          <a:prstGeom prst="rect">
            <a:avLst/>
          </a:prstGeom>
          <a:solidFill>
            <a:srgbClr val="FAB753"/>
          </a:solidFill>
          <a:ln/>
        </p:spPr>
        <p:txBody>
          <a:bodyPr wrap="none" rtlCol="0" anchor="t"/>
          <a:lstStyle/>
          <a:p>
            <a:pPr marL="0" indent="0">
              <a:buNone/>
            </a:pPr>
            <a:endParaRPr lang="en-US" dirty="0"/>
          </a:p>
        </p:txBody>
      </p:sp>
      <p:sp>
        <p:nvSpPr>
          <p:cNvPr id="10" name="Text 8"/>
          <p:cNvSpPr/>
          <p:nvPr/>
        </p:nvSpPr>
        <p:spPr>
          <a:xfrm>
            <a:off x="1772123" y="2119908"/>
            <a:ext cx="5599606" cy="565696"/>
          </a:xfrm>
          <a:prstGeom prst="rect">
            <a:avLst/>
          </a:prstGeom>
          <a:noFill/>
          <a:ln/>
        </p:spPr>
        <p:txBody>
          <a:bodyPr wrap="none" lIns="0" tIns="0" rIns="0" bIns="0" rtlCol="0" anchor="t"/>
          <a:lstStyle/>
          <a:p>
            <a:pPr marL="0" indent="0" algn="ctr">
              <a:lnSpc>
                <a:spcPts val="4455"/>
              </a:lnSpc>
              <a:spcAft>
                <a:spcPts val="1580"/>
              </a:spcAft>
              <a:buNone/>
            </a:pPr>
            <a:r>
              <a:rPr lang="en-US" sz="4050" kern="0" spc="-40" dirty="0">
                <a:solidFill>
                  <a:srgbClr val="FFFFFF"/>
                </a:solidFill>
                <a:latin typeface="Calibri Light" pitchFamily="34" charset="0"/>
                <a:ea typeface="Calibri Light" pitchFamily="34" charset="-122"/>
                <a:cs typeface="Calibri Light" pitchFamily="34" charset="-120"/>
              </a:rPr>
              <a:t>Avatar Basic Navigation</a:t>
            </a:r>
            <a:endParaRPr lang="en-US" sz="4050" dirty="0"/>
          </a:p>
        </p:txBody>
      </p:sp>
      <p:sp>
        <p:nvSpPr>
          <p:cNvPr id="11" name="Text 9"/>
          <p:cNvSpPr/>
          <p:nvPr/>
        </p:nvSpPr>
        <p:spPr>
          <a:xfrm>
            <a:off x="4143375" y="2886224"/>
            <a:ext cx="857250" cy="7590"/>
          </a:xfrm>
          <a:prstGeom prst="rect">
            <a:avLst/>
          </a:prstGeom>
          <a:solidFill>
            <a:srgbClr val="FAB753">
              <a:alpha val="35000"/>
            </a:srgbClr>
          </a:solidFill>
          <a:ln/>
        </p:spPr>
        <p:txBody>
          <a:bodyPr wrap="none" rtlCol="0" anchor="t"/>
          <a:lstStyle/>
          <a:p>
            <a:pPr marL="0" indent="0">
              <a:buNone/>
            </a:pPr>
            <a:endParaRPr lang="en-US" dirty="0"/>
          </a:p>
        </p:txBody>
      </p:sp>
      <p:sp>
        <p:nvSpPr>
          <p:cNvPr id="12" name="Text 10"/>
          <p:cNvSpPr/>
          <p:nvPr/>
        </p:nvSpPr>
        <p:spPr>
          <a:xfrm>
            <a:off x="2531671" y="3065264"/>
            <a:ext cx="4080659" cy="236190"/>
          </a:xfrm>
          <a:prstGeom prst="rect">
            <a:avLst/>
          </a:prstGeom>
          <a:noFill/>
          <a:ln/>
        </p:spPr>
        <p:txBody>
          <a:bodyPr wrap="none" lIns="0" tIns="0" rIns="0" bIns="0" rtlCol="0" anchor="t"/>
          <a:lstStyle/>
          <a:p>
            <a:pPr marL="0" indent="0" algn="ctr">
              <a:lnSpc>
                <a:spcPts val="1860"/>
              </a:lnSpc>
              <a:spcAft>
                <a:spcPts val="790"/>
              </a:spcAft>
              <a:buNone/>
            </a:pPr>
            <a:r>
              <a:rPr lang="en-US" sz="1240" kern="0" spc="50" dirty="0">
                <a:solidFill>
                  <a:srgbClr val="55A49C"/>
                </a:solidFill>
                <a:latin typeface="Calibri Light" pitchFamily="34" charset="0"/>
                <a:ea typeface="Calibri Light" pitchFamily="34" charset="-122"/>
                <a:cs typeface="Calibri Light" pitchFamily="34" charset="-120"/>
              </a:rPr>
              <a:t>Admissions  ·  Client Paperwork  ·  Cancellations</a:t>
            </a:r>
            <a:endParaRPr lang="en-US" sz="1240" dirty="0"/>
          </a:p>
        </p:txBody>
      </p:sp>
      <p:sp>
        <p:nvSpPr>
          <p:cNvPr id="13" name="Text 11"/>
          <p:cNvSpPr/>
          <p:nvPr/>
        </p:nvSpPr>
        <p:spPr>
          <a:xfrm>
            <a:off x="3475799" y="3401764"/>
            <a:ext cx="2192253" cy="182761"/>
          </a:xfrm>
          <a:prstGeom prst="rect">
            <a:avLst/>
          </a:prstGeom>
          <a:noFill/>
          <a:ln/>
        </p:spPr>
        <p:txBody>
          <a:bodyPr wrap="none" lIns="0" tIns="0" rIns="0" bIns="0" rtlCol="0" anchor="t"/>
          <a:lstStyle/>
          <a:p>
            <a:pPr marL="0" indent="0" algn="ctr">
              <a:lnSpc>
                <a:spcPts val="1440"/>
              </a:lnSpc>
              <a:buNone/>
            </a:pPr>
            <a:r>
              <a:rPr lang="en-US" sz="960" kern="0" spc="58" dirty="0">
                <a:solidFill>
                  <a:srgbClr val="FFFFFF">
                    <a:alpha val="70000"/>
                  </a:srgbClr>
                </a:solidFill>
                <a:latin typeface="Calibri Light" pitchFamily="34" charset="0"/>
                <a:ea typeface="Calibri Light" pitchFamily="34" charset="-122"/>
                <a:cs typeface="Calibri Light" pitchFamily="34" charset="-120"/>
              </a:rPr>
              <a:t>School-Based Therapist Training</a:t>
            </a:r>
            <a:endParaRPr lang="en-US" sz="960" dirty="0"/>
          </a:p>
        </p:txBody>
      </p:sp>
      <p:sp>
        <p:nvSpPr>
          <p:cNvPr id="14" name="Text 12"/>
          <p:cNvSpPr/>
          <p:nvPr/>
        </p:nvSpPr>
        <p:spPr>
          <a:xfrm>
            <a:off x="8421439" y="4842570"/>
            <a:ext cx="511269" cy="129480"/>
          </a:xfrm>
          <a:prstGeom prst="rect">
            <a:avLst/>
          </a:prstGeom>
          <a:noFill/>
          <a:ln/>
        </p:spPr>
        <p:txBody>
          <a:bodyPr wrap="none" lIns="0" tIns="0" rIns="0" bIns="0" rtlCol="0" anchor="t"/>
          <a:lstStyle/>
          <a:p>
            <a:pPr marL="0" indent="0" algn="l">
              <a:lnSpc>
                <a:spcPts val="1020"/>
              </a:lnSpc>
              <a:buNone/>
            </a:pPr>
            <a:r>
              <a:rPr lang="en-US" sz="680" kern="0" spc="54" dirty="0">
                <a:solidFill>
                  <a:srgbClr val="FFFFFF">
                    <a:alpha val="45000"/>
                  </a:srgbClr>
                </a:solidFill>
                <a:latin typeface="Calibri" pitchFamily="34" charset="0"/>
                <a:ea typeface="Calibri" pitchFamily="34" charset="-122"/>
                <a:cs typeface="Calibri" pitchFamily="34" charset="-120"/>
              </a:rPr>
              <a:t>June 2026</a:t>
            </a:r>
            <a:endParaRPr lang="en-US" sz="680" dirty="0"/>
          </a:p>
        </p:txBody>
      </p:sp>
      <p:sp>
        <p:nvSpPr>
          <p:cNvPr id="15" name="Text 13"/>
          <p:cNvSpPr/>
          <p:nvPr/>
        </p:nvSpPr>
        <p:spPr>
          <a:xfrm>
            <a:off x="0" y="5114330"/>
            <a:ext cx="9144000" cy="29170"/>
          </a:xfrm>
          <a:prstGeom prst="rect">
            <a:avLst/>
          </a:prstGeom>
          <a:gradFill rotWithShape="1">
            <a:gsLst>
              <a:gs pos="0">
                <a:srgbClr val="000000">
                  <a:alpha val="0"/>
                </a:srgbClr>
              </a:gs>
              <a:gs pos="30000">
                <a:srgbClr val="FAB753">
                  <a:alpha val="60000"/>
                </a:srgbClr>
              </a:gs>
              <a:gs pos="70000">
                <a:srgbClr val="FAB753">
                  <a:alpha val="60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grpSp>
        <p:nvGrpSpPr>
          <p:cNvPr id="31" name="Group 30">
            <a:extLst>
              <a:ext uri="{FF2B5EF4-FFF2-40B4-BE49-F238E27FC236}">
                <a16:creationId xmlns:a16="http://schemas.microsoft.com/office/drawing/2014/main" id="{66629BFA-15E9-3174-E8F0-59796C1BBAF4}"/>
              </a:ext>
            </a:extLst>
          </p:cNvPr>
          <p:cNvGrpSpPr/>
          <p:nvPr/>
        </p:nvGrpSpPr>
        <p:grpSpPr>
          <a:xfrm>
            <a:off x="296698" y="807243"/>
            <a:ext cx="1883598" cy="2651373"/>
            <a:chOff x="296698" y="1369070"/>
            <a:chExt cx="1883598" cy="2651373"/>
          </a:xfrm>
        </p:grpSpPr>
        <p:sp>
          <p:nvSpPr>
            <p:cNvPr id="4" name="Text 2"/>
            <p:cNvSpPr/>
            <p:nvPr/>
          </p:nvSpPr>
          <p:spPr>
            <a:xfrm>
              <a:off x="314920" y="1369070"/>
              <a:ext cx="1865376" cy="540693"/>
            </a:xfrm>
            <a:prstGeom prst="rect">
              <a:avLst/>
            </a:prstGeom>
            <a:noFill/>
            <a:ln/>
          </p:spPr>
          <p:txBody>
            <a:bodyPr wrap="square" lIns="0" tIns="0" rIns="0" bIns="0" rtlCol="0" anchor="t"/>
            <a:lstStyle/>
            <a:p>
              <a:pPr marL="0" indent="0" algn="l">
                <a:lnSpc>
                  <a:spcPts val="2028"/>
                </a:lnSpc>
                <a:buNone/>
              </a:pPr>
              <a:r>
                <a:rPr lang="en-US" sz="1690" b="1" dirty="0">
                  <a:solidFill>
                    <a:srgbClr val="FFFFFF"/>
                  </a:solidFill>
                  <a:latin typeface="Calibri Light" pitchFamily="34" charset="0"/>
                  <a:ea typeface="Calibri Light" pitchFamily="34" charset="-122"/>
                  <a:cs typeface="Calibri Light" pitchFamily="34" charset="-120"/>
                </a:rPr>
                <a:t>Avatar Basic Navigation</a:t>
              </a:r>
              <a:endParaRPr lang="en-US" sz="1690" dirty="0"/>
            </a:p>
          </p:txBody>
        </p:sp>
        <p:sp>
          <p:nvSpPr>
            <p:cNvPr id="5" name="Text 3"/>
            <p:cNvSpPr/>
            <p:nvPr/>
          </p:nvSpPr>
          <p:spPr>
            <a:xfrm>
              <a:off x="314920" y="2055465"/>
              <a:ext cx="28575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6" name="Text 4"/>
            <p:cNvSpPr/>
            <p:nvPr/>
          </p:nvSpPr>
          <p:spPr>
            <a:xfrm>
              <a:off x="314920" y="2248495"/>
              <a:ext cx="1865376" cy="924334"/>
            </a:xfrm>
            <a:prstGeom prst="rect">
              <a:avLst/>
            </a:prstGeom>
            <a:noFill/>
            <a:ln/>
          </p:spPr>
          <p:txBody>
            <a:bodyPr wrap="square" lIns="0" tIns="0" rIns="0" bIns="0" rtlCol="0" anchor="t"/>
            <a:lstStyle/>
            <a:p>
              <a:pPr marL="0" indent="0" algn="l">
                <a:lnSpc>
                  <a:spcPts val="1386"/>
                </a:lnSpc>
                <a:buNone/>
              </a:pPr>
              <a:r>
                <a:rPr lang="en-US" sz="840" dirty="0">
                  <a:solidFill>
                    <a:srgbClr val="FFFFFF">
                      <a:alpha val="82000"/>
                    </a:srgbClr>
                  </a:solidFill>
                  <a:latin typeface="Calibri" pitchFamily="34" charset="0"/>
                  <a:ea typeface="Calibri" pitchFamily="34" charset="-122"/>
                  <a:cs typeface="Calibri" pitchFamily="34" charset="-120"/>
                </a:rPr>
                <a:t>This training includes a live walkthrough of Avatar NX, hands-on UAT practice time, and a homework assignment you will complete before your next session.</a:t>
              </a:r>
              <a:endParaRPr lang="en-US" sz="84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698" y="3353032"/>
              <a:ext cx="132588" cy="132588"/>
            </a:xfrm>
            <a:prstGeom prst="rect">
              <a:avLst/>
            </a:prstGeom>
          </p:spPr>
        </p:pic>
        <p:sp>
          <p:nvSpPr>
            <p:cNvPr id="8" name="Text 5"/>
            <p:cNvSpPr/>
            <p:nvPr/>
          </p:nvSpPr>
          <p:spPr>
            <a:xfrm>
              <a:off x="497384" y="3357414"/>
              <a:ext cx="1419210" cy="144810"/>
            </a:xfrm>
            <a:prstGeom prst="rect">
              <a:avLst/>
            </a:prstGeom>
            <a:noFill/>
            <a:ln/>
          </p:spPr>
          <p:txBody>
            <a:bodyPr wrap="none" lIns="0" tIns="0" rIns="0" bIns="0" rtlCol="0" anchor="t"/>
            <a:lstStyle/>
            <a:p>
              <a:pPr marL="0" indent="0" algn="l">
                <a:lnSpc>
                  <a:spcPts val="1140"/>
                </a:lnSpc>
                <a:buNone/>
              </a:pPr>
              <a:r>
                <a:rPr lang="en-US" sz="760" dirty="0">
                  <a:solidFill>
                    <a:srgbClr val="FFFFFF">
                      <a:alpha val="78000"/>
                    </a:srgbClr>
                  </a:solidFill>
                  <a:latin typeface="Calibri" pitchFamily="34" charset="0"/>
                  <a:ea typeface="Calibri" pitchFamily="34" charset="-122"/>
                  <a:cs typeface="Calibri" pitchFamily="34" charset="-120"/>
                </a:rPr>
                <a:t>Live walkthrough of Avatar NX</a:t>
              </a:r>
              <a:endParaRPr lang="en-US" sz="76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6698" y="3612142"/>
              <a:ext cx="132588" cy="132588"/>
            </a:xfrm>
            <a:prstGeom prst="rect">
              <a:avLst/>
            </a:prstGeom>
          </p:spPr>
        </p:pic>
        <p:sp>
          <p:nvSpPr>
            <p:cNvPr id="10" name="Text 6"/>
            <p:cNvSpPr/>
            <p:nvPr/>
          </p:nvSpPr>
          <p:spPr>
            <a:xfrm>
              <a:off x="497384" y="3616523"/>
              <a:ext cx="1206713" cy="144810"/>
            </a:xfrm>
            <a:prstGeom prst="rect">
              <a:avLst/>
            </a:prstGeom>
            <a:noFill/>
            <a:ln/>
          </p:spPr>
          <p:txBody>
            <a:bodyPr wrap="none" lIns="0" tIns="0" rIns="0" bIns="0" rtlCol="0" anchor="t"/>
            <a:lstStyle/>
            <a:p>
              <a:pPr marL="0" indent="0" algn="l">
                <a:lnSpc>
                  <a:spcPts val="1140"/>
                </a:lnSpc>
                <a:buNone/>
              </a:pPr>
              <a:r>
                <a:rPr lang="en-US" sz="760" dirty="0">
                  <a:solidFill>
                    <a:srgbClr val="FFFFFF">
                      <a:alpha val="78000"/>
                    </a:srgbClr>
                  </a:solidFill>
                  <a:latin typeface="Calibri" pitchFamily="34" charset="0"/>
                  <a:ea typeface="Calibri" pitchFamily="34" charset="-122"/>
                  <a:cs typeface="Calibri" pitchFamily="34" charset="-120"/>
                </a:rPr>
                <a:t>Hands-on practice in UAT</a:t>
              </a:r>
              <a:endParaRPr lang="en-US" sz="76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6698" y="3871252"/>
              <a:ext cx="132588" cy="132588"/>
            </a:xfrm>
            <a:prstGeom prst="rect">
              <a:avLst/>
            </a:prstGeom>
          </p:spPr>
        </p:pic>
        <p:sp>
          <p:nvSpPr>
            <p:cNvPr id="12" name="Text 7"/>
            <p:cNvSpPr/>
            <p:nvPr/>
          </p:nvSpPr>
          <p:spPr>
            <a:xfrm>
              <a:off x="497384" y="3875633"/>
              <a:ext cx="1456536" cy="144810"/>
            </a:xfrm>
            <a:prstGeom prst="rect">
              <a:avLst/>
            </a:prstGeom>
            <a:noFill/>
            <a:ln/>
          </p:spPr>
          <p:txBody>
            <a:bodyPr wrap="none" lIns="0" tIns="0" rIns="0" bIns="0" rtlCol="0" anchor="t"/>
            <a:lstStyle/>
            <a:p>
              <a:pPr marL="0" indent="0" algn="l">
                <a:lnSpc>
                  <a:spcPts val="1140"/>
                </a:lnSpc>
                <a:buNone/>
              </a:pPr>
              <a:r>
                <a:rPr lang="en-US" sz="760" dirty="0">
                  <a:solidFill>
                    <a:srgbClr val="FFFFFF">
                      <a:alpha val="78000"/>
                    </a:srgbClr>
                  </a:solidFill>
                  <a:latin typeface="Calibri" pitchFamily="34" charset="0"/>
                  <a:ea typeface="Calibri" pitchFamily="34" charset="-122"/>
                  <a:cs typeface="Calibri" pitchFamily="34" charset="-120"/>
                </a:rPr>
                <a:t>Homework before next session</a:t>
              </a:r>
              <a:endParaRPr lang="en-US" sz="760" dirty="0"/>
            </a:p>
          </p:txBody>
        </p:sp>
      </p:grpSp>
      <p:sp>
        <p:nvSpPr>
          <p:cNvPr id="13" name="Text 8"/>
          <p:cNvSpPr/>
          <p:nvPr/>
        </p:nvSpPr>
        <p:spPr>
          <a:xfrm>
            <a:off x="2429470" y="0"/>
            <a:ext cx="6714530" cy="5143500"/>
          </a:xfrm>
          <a:prstGeom prst="rect">
            <a:avLst/>
          </a:prstGeom>
          <a:solidFill>
            <a:srgbClr val="FFFFFF"/>
          </a:solidFill>
          <a:ln/>
        </p:spPr>
        <p:txBody>
          <a:bodyPr wrap="square" rtlCol="0" anchor="t"/>
          <a:lstStyle/>
          <a:p>
            <a:pPr marL="0" indent="0">
              <a:buNone/>
            </a:pPr>
            <a:endParaRPr lang="en-US" dirty="0"/>
          </a:p>
        </p:txBody>
      </p:sp>
      <p:sp>
        <p:nvSpPr>
          <p:cNvPr id="29" name="Text 24"/>
          <p:cNvSpPr/>
          <p:nvPr/>
        </p:nvSpPr>
        <p:spPr>
          <a:xfrm>
            <a:off x="1428750" y="0"/>
            <a:ext cx="1572216" cy="1286466"/>
          </a:xfrm>
          <a:prstGeom prst="ellipse">
            <a:avLst/>
          </a:prstGeom>
          <a:solidFill>
            <a:srgbClr val="FFFFFF">
              <a:alpha val="4000"/>
            </a:srgbClr>
          </a:solidFill>
          <a:ln/>
        </p:spPr>
        <p:txBody>
          <a:bodyPr wrap="square" rtlCol="0" anchor="t"/>
          <a:lstStyle/>
          <a:p>
            <a:pPr marL="0" indent="0">
              <a:buNone/>
            </a:pPr>
            <a:endParaRPr lang="en-US" dirty="0"/>
          </a:p>
        </p:txBody>
      </p:sp>
      <p:sp>
        <p:nvSpPr>
          <p:cNvPr id="28" name="Text 23"/>
          <p:cNvSpPr/>
          <p:nvPr/>
        </p:nvSpPr>
        <p:spPr>
          <a:xfrm>
            <a:off x="0" y="3572466"/>
            <a:ext cx="1570990" cy="1571034"/>
          </a:xfrm>
          <a:prstGeom prst="ellipse">
            <a:avLst/>
          </a:prstGeom>
          <a:solidFill>
            <a:srgbClr val="FFFFFF">
              <a:alpha val="4000"/>
            </a:srgbClr>
          </a:solidFill>
          <a:ln/>
        </p:spPr>
        <p:txBody>
          <a:bodyPr wrap="square" rtlCol="0" anchor="t"/>
          <a:lstStyle/>
          <a:p>
            <a:pPr marL="0" indent="0">
              <a:buNone/>
            </a:pPr>
            <a:endParaRPr lang="en-US" dirty="0"/>
          </a:p>
        </p:txBody>
      </p:sp>
      <p:sp>
        <p:nvSpPr>
          <p:cNvPr id="14" name="Text 9"/>
          <p:cNvSpPr/>
          <p:nvPr/>
        </p:nvSpPr>
        <p:spPr>
          <a:xfrm>
            <a:off x="2801541" y="729670"/>
            <a:ext cx="5970389" cy="21580"/>
          </a:xfrm>
          <a:prstGeom prst="roundRect">
            <a:avLst>
              <a:gd name="adj" fmla="val 64736"/>
            </a:avLst>
          </a:prstGeom>
          <a:gradFill rotWithShape="1">
            <a:gsLst>
              <a:gs pos="0">
                <a:srgbClr val="FAB753"/>
              </a:gs>
              <a:gs pos="100000">
                <a:srgbClr val="EAF4F4"/>
              </a:gs>
            </a:gsLst>
            <a:lin ang="0" scaled="1"/>
          </a:gradFill>
          <a:ln/>
        </p:spPr>
        <p:txBody>
          <a:bodyPr wrap="none" rtlCol="0" anchor="t"/>
          <a:lstStyle/>
          <a:p>
            <a:pPr marL="0" indent="0">
              <a:buNone/>
            </a:pPr>
            <a:endParaRPr lang="en-US" dirty="0"/>
          </a:p>
        </p:txBody>
      </p:sp>
      <p:sp>
        <p:nvSpPr>
          <p:cNvPr id="15" name="Text 10"/>
          <p:cNvSpPr/>
          <p:nvPr/>
        </p:nvSpPr>
        <p:spPr>
          <a:xfrm>
            <a:off x="2801541" y="894721"/>
            <a:ext cx="6388316" cy="278160"/>
          </a:xfrm>
          <a:prstGeom prst="rect">
            <a:avLst/>
          </a:prstGeom>
          <a:noFill/>
          <a:ln/>
        </p:spPr>
        <p:txBody>
          <a:bodyPr wrap="none" lIns="0" tIns="0" rIns="0" bIns="0" rtlCol="0" anchor="t"/>
          <a:lstStyle/>
          <a:p>
            <a:pPr marL="0" indent="0" algn="l">
              <a:lnSpc>
                <a:spcPts val="2190"/>
              </a:lnSpc>
              <a:buNone/>
            </a:pPr>
            <a:r>
              <a:rPr lang="en-US" sz="1460" b="1" dirty="0">
                <a:solidFill>
                  <a:srgbClr val="1B5E72"/>
                </a:solidFill>
                <a:latin typeface="Calibri Light" pitchFamily="34" charset="0"/>
                <a:ea typeface="Calibri Light" pitchFamily="34" charset="-122"/>
                <a:cs typeface="Calibri Light" pitchFamily="34" charset="-120"/>
              </a:rPr>
              <a:t>Welcome to Today's Training</a:t>
            </a:r>
            <a:endParaRPr lang="en-US" sz="1460" dirty="0"/>
          </a:p>
        </p:txBody>
      </p:sp>
      <p:sp>
        <p:nvSpPr>
          <p:cNvPr id="16" name="Text 11"/>
          <p:cNvSpPr/>
          <p:nvPr/>
        </p:nvSpPr>
        <p:spPr>
          <a:xfrm>
            <a:off x="2801541" y="1243871"/>
            <a:ext cx="5246370" cy="537723"/>
          </a:xfrm>
          <a:prstGeom prst="rect">
            <a:avLst/>
          </a:prstGeom>
          <a:noFill/>
          <a:ln/>
        </p:spPr>
        <p:txBody>
          <a:bodyPr wrap="square" lIns="0" tIns="0" rIns="0" bIns="0" rtlCol="0" anchor="t"/>
          <a:lstStyle/>
          <a:p>
            <a:pPr marL="0" indent="0" algn="l">
              <a:lnSpc>
                <a:spcPts val="1344"/>
              </a:lnSpc>
              <a:buNone/>
            </a:pPr>
            <a:r>
              <a:rPr lang="en-US" sz="840" dirty="0">
                <a:solidFill>
                  <a:srgbClr val="2C2C2C"/>
                </a:solidFill>
                <a:latin typeface="Calibri" pitchFamily="34" charset="0"/>
                <a:ea typeface="Calibri" pitchFamily="34" charset="-122"/>
                <a:cs typeface="Calibri" pitchFamily="34" charset="-120"/>
              </a:rPr>
              <a:t>Before this training, you were asked to complete foundational Avatar videos on Relias. Today we build on that foundation — walking through the three core workflows every school-based therapist uses from day one: opening a new client chart, understanding the required paperwork, and managing cancellations correctly.</a:t>
            </a:r>
            <a:endParaRPr lang="en-US" sz="840" dirty="0"/>
          </a:p>
        </p:txBody>
      </p:sp>
      <p:sp>
        <p:nvSpPr>
          <p:cNvPr id="17" name="Text 12"/>
          <p:cNvSpPr/>
          <p:nvPr/>
        </p:nvSpPr>
        <p:spPr>
          <a:xfrm>
            <a:off x="2801541" y="1899459"/>
            <a:ext cx="6567428" cy="156270"/>
          </a:xfrm>
          <a:prstGeom prst="rect">
            <a:avLst/>
          </a:prstGeom>
          <a:noFill/>
          <a:ln/>
        </p:spPr>
        <p:txBody>
          <a:bodyPr wrap="none" lIns="0" tIns="0" rIns="0" bIns="0" rtlCol="0" anchor="t"/>
          <a:lstStyle/>
          <a:p>
            <a:pPr marL="0" indent="0" algn="l">
              <a:lnSpc>
                <a:spcPts val="1230"/>
              </a:lnSpc>
              <a:buNone/>
            </a:pPr>
            <a:r>
              <a:rPr lang="en-US" sz="820" b="1" kern="0" spc="8" dirty="0">
                <a:solidFill>
                  <a:srgbClr val="1B5E72"/>
                </a:solidFill>
                <a:latin typeface="Calibri" pitchFamily="34" charset="0"/>
                <a:ea typeface="Calibri" pitchFamily="34" charset="-122"/>
                <a:cs typeface="Calibri" pitchFamily="34" charset="-120"/>
              </a:rPr>
              <a:t>Objectives — By the end of this training you will be able to:</a:t>
            </a:r>
            <a:endParaRPr lang="en-US" sz="820" dirty="0"/>
          </a:p>
        </p:txBody>
      </p:sp>
      <p:sp>
        <p:nvSpPr>
          <p:cNvPr id="18" name="Text 13"/>
          <p:cNvSpPr/>
          <p:nvPr/>
        </p:nvSpPr>
        <p:spPr>
          <a:xfrm>
            <a:off x="2801541" y="2163629"/>
            <a:ext cx="214610" cy="236071"/>
          </a:xfrm>
          <a:prstGeom prst="ellipse">
            <a:avLst/>
          </a:prstGeom>
          <a:solidFill>
            <a:srgbClr val="FAB753"/>
          </a:solidFill>
          <a:ln/>
        </p:spPr>
        <p:txBody>
          <a:bodyPr wrap="none" lIns="0" tIns="0" rIns="0" bIns="0" rtlCol="0" anchor="ctr"/>
          <a:lstStyle/>
          <a:p>
            <a:pPr marL="0" indent="0" algn="ctr">
              <a:buNone/>
            </a:pPr>
            <a:r>
              <a:rPr lang="en-US" sz="650" b="1" kern="0" spc="20" dirty="0">
                <a:solidFill>
                  <a:srgbClr val="1B1B1B"/>
                </a:solidFill>
                <a:latin typeface="Calibri" pitchFamily="34" charset="0"/>
                <a:ea typeface="Calibri" pitchFamily="34" charset="-122"/>
                <a:cs typeface="Calibri" pitchFamily="34" charset="-120"/>
              </a:rPr>
              <a:t>01</a:t>
            </a:r>
            <a:endParaRPr lang="en-US" sz="650" dirty="0"/>
          </a:p>
        </p:txBody>
      </p:sp>
      <p:sp>
        <p:nvSpPr>
          <p:cNvPr id="19" name="Text 14"/>
          <p:cNvSpPr/>
          <p:nvPr/>
        </p:nvSpPr>
        <p:spPr>
          <a:xfrm>
            <a:off x="3116461" y="2156039"/>
            <a:ext cx="4140741" cy="196900"/>
          </a:xfrm>
          <a:prstGeom prst="rect">
            <a:avLst/>
          </a:prstGeom>
          <a:noFill/>
          <a:ln/>
        </p:spPr>
        <p:txBody>
          <a:bodyPr wrap="none" lIns="0" tIns="35560" rIns="0" bIns="0" rtlCol="0" anchor="t"/>
          <a:lstStyle/>
          <a:p>
            <a:pPr marL="0" indent="0" algn="l">
              <a:lnSpc>
                <a:spcPts val="1271"/>
              </a:lnSpc>
              <a:buNone/>
            </a:pPr>
            <a:r>
              <a:rPr lang="en-US" sz="820" b="1" dirty="0">
                <a:solidFill>
                  <a:srgbClr val="1B5E72"/>
                </a:solidFill>
                <a:latin typeface="Calibri" pitchFamily="34" charset="0"/>
                <a:ea typeface="Calibri" pitchFamily="34" charset="-122"/>
                <a:cs typeface="Calibri" pitchFamily="34" charset="-120"/>
              </a:rPr>
              <a:t>Use the Admission Bundle correctly</a:t>
            </a:r>
            <a:r>
              <a:rPr lang="en-US" sz="820" dirty="0">
                <a:solidFill>
                  <a:srgbClr val="2C2C2C"/>
                </a:solidFill>
                <a:latin typeface="Calibri" pitchFamily="34" charset="0"/>
                <a:ea typeface="Calibri" pitchFamily="34" charset="-122"/>
                <a:cs typeface="Calibri" pitchFamily="34" charset="-120"/>
              </a:rPr>
              <a:t> to open a new client episode in Avatar NX.</a:t>
            </a:r>
            <a:endParaRPr lang="en-US" sz="820" dirty="0"/>
          </a:p>
        </p:txBody>
      </p:sp>
      <p:sp>
        <p:nvSpPr>
          <p:cNvPr id="20" name="Text 15"/>
          <p:cNvSpPr/>
          <p:nvPr/>
        </p:nvSpPr>
        <p:spPr>
          <a:xfrm>
            <a:off x="2801541" y="2456821"/>
            <a:ext cx="214610" cy="236071"/>
          </a:xfrm>
          <a:prstGeom prst="ellipse">
            <a:avLst/>
          </a:prstGeom>
          <a:solidFill>
            <a:srgbClr val="FAB753"/>
          </a:solidFill>
          <a:ln/>
        </p:spPr>
        <p:txBody>
          <a:bodyPr wrap="none" lIns="0" tIns="0" rIns="0" bIns="0" rtlCol="0" anchor="ctr"/>
          <a:lstStyle/>
          <a:p>
            <a:pPr marL="0" indent="0" algn="ctr">
              <a:buNone/>
            </a:pPr>
            <a:r>
              <a:rPr lang="en-US" sz="650" b="1" kern="0" spc="20" dirty="0">
                <a:solidFill>
                  <a:srgbClr val="1B1B1B"/>
                </a:solidFill>
                <a:latin typeface="Calibri" pitchFamily="34" charset="0"/>
                <a:ea typeface="Calibri" pitchFamily="34" charset="-122"/>
                <a:cs typeface="Calibri" pitchFamily="34" charset="-120"/>
              </a:rPr>
              <a:t>02</a:t>
            </a:r>
            <a:endParaRPr lang="en-US" sz="650" dirty="0"/>
          </a:p>
        </p:txBody>
      </p:sp>
      <p:sp>
        <p:nvSpPr>
          <p:cNvPr id="21" name="Text 16"/>
          <p:cNvSpPr/>
          <p:nvPr/>
        </p:nvSpPr>
        <p:spPr>
          <a:xfrm>
            <a:off x="3116461" y="2449230"/>
            <a:ext cx="4687863" cy="196900"/>
          </a:xfrm>
          <a:prstGeom prst="rect">
            <a:avLst/>
          </a:prstGeom>
          <a:noFill/>
          <a:ln/>
        </p:spPr>
        <p:txBody>
          <a:bodyPr wrap="none" lIns="0" tIns="35560" rIns="0" bIns="0" rtlCol="0" anchor="t"/>
          <a:lstStyle/>
          <a:p>
            <a:pPr marL="0" indent="0" algn="l">
              <a:lnSpc>
                <a:spcPts val="1271"/>
              </a:lnSpc>
              <a:buNone/>
            </a:pPr>
            <a:r>
              <a:rPr lang="en-US" sz="820" b="1" dirty="0">
                <a:solidFill>
                  <a:srgbClr val="1B5E72"/>
                </a:solidFill>
                <a:latin typeface="Calibri" pitchFamily="34" charset="0"/>
                <a:ea typeface="Calibri" pitchFamily="34" charset="-122"/>
                <a:cs typeface="Calibri" pitchFamily="34" charset="-120"/>
              </a:rPr>
              <a:t>Identify each required client form,</a:t>
            </a:r>
            <a:r>
              <a:rPr lang="en-US" sz="820" dirty="0">
                <a:solidFill>
                  <a:srgbClr val="2C2C2C"/>
                </a:solidFill>
                <a:latin typeface="Calibri" pitchFamily="34" charset="0"/>
                <a:ea typeface="Calibri" pitchFamily="34" charset="-122"/>
                <a:cs typeface="Calibri" pitchFamily="34" charset="-120"/>
              </a:rPr>
              <a:t> explain its purpose, and know when it must be updated.</a:t>
            </a:r>
            <a:endParaRPr lang="en-US" sz="820" dirty="0"/>
          </a:p>
        </p:txBody>
      </p:sp>
      <p:sp>
        <p:nvSpPr>
          <p:cNvPr id="22" name="Text 17"/>
          <p:cNvSpPr/>
          <p:nvPr/>
        </p:nvSpPr>
        <p:spPr>
          <a:xfrm>
            <a:off x="2801541" y="2750012"/>
            <a:ext cx="214610" cy="236071"/>
          </a:xfrm>
          <a:prstGeom prst="ellipse">
            <a:avLst/>
          </a:prstGeom>
          <a:solidFill>
            <a:srgbClr val="FAB753"/>
          </a:solidFill>
          <a:ln/>
        </p:spPr>
        <p:txBody>
          <a:bodyPr wrap="none" lIns="0" tIns="0" rIns="0" bIns="0" rtlCol="0" anchor="ctr"/>
          <a:lstStyle/>
          <a:p>
            <a:pPr marL="0" indent="0" algn="ctr">
              <a:buNone/>
            </a:pPr>
            <a:r>
              <a:rPr lang="en-US" sz="650" b="1" kern="0" spc="20" dirty="0">
                <a:solidFill>
                  <a:srgbClr val="1B1B1B"/>
                </a:solidFill>
                <a:latin typeface="Calibri" pitchFamily="34" charset="0"/>
                <a:ea typeface="Calibri" pitchFamily="34" charset="-122"/>
                <a:cs typeface="Calibri" pitchFamily="34" charset="-120"/>
              </a:rPr>
              <a:t>03</a:t>
            </a:r>
            <a:endParaRPr lang="en-US" sz="650" dirty="0"/>
          </a:p>
        </p:txBody>
      </p:sp>
      <p:sp>
        <p:nvSpPr>
          <p:cNvPr id="23" name="Text 18"/>
          <p:cNvSpPr/>
          <p:nvPr/>
        </p:nvSpPr>
        <p:spPr>
          <a:xfrm>
            <a:off x="3116461" y="2742422"/>
            <a:ext cx="5100905" cy="196900"/>
          </a:xfrm>
          <a:prstGeom prst="rect">
            <a:avLst/>
          </a:prstGeom>
          <a:noFill/>
          <a:ln/>
        </p:spPr>
        <p:txBody>
          <a:bodyPr wrap="none" lIns="0" tIns="35560" rIns="0" bIns="0" rtlCol="0" anchor="t"/>
          <a:lstStyle/>
          <a:p>
            <a:pPr marL="0" indent="0" algn="l">
              <a:lnSpc>
                <a:spcPts val="1271"/>
              </a:lnSpc>
              <a:buNone/>
            </a:pPr>
            <a:r>
              <a:rPr lang="en-US" sz="820" b="1" dirty="0">
                <a:solidFill>
                  <a:srgbClr val="1B5E72"/>
                </a:solidFill>
                <a:latin typeface="Calibri" pitchFamily="34" charset="0"/>
                <a:ea typeface="Calibri" pitchFamily="34" charset="-122"/>
                <a:cs typeface="Calibri" pitchFamily="34" charset="-120"/>
              </a:rPr>
              <a:t>Complete all three types of cancellations</a:t>
            </a:r>
            <a:r>
              <a:rPr lang="en-US" sz="820" dirty="0">
                <a:solidFill>
                  <a:srgbClr val="2C2C2C"/>
                </a:solidFill>
                <a:latin typeface="Calibri" pitchFamily="34" charset="0"/>
                <a:ea typeface="Calibri" pitchFamily="34" charset="-122"/>
                <a:cs typeface="Calibri" pitchFamily="34" charset="-120"/>
              </a:rPr>
              <a:t> accurately and understand why each distinction matters.</a:t>
            </a:r>
            <a:endParaRPr lang="en-US" sz="820" dirty="0"/>
          </a:p>
        </p:txBody>
      </p:sp>
      <p:sp>
        <p:nvSpPr>
          <p:cNvPr id="24" name="Text 19"/>
          <p:cNvSpPr/>
          <p:nvPr/>
        </p:nvSpPr>
        <p:spPr>
          <a:xfrm>
            <a:off x="2801541" y="3043204"/>
            <a:ext cx="214610" cy="236071"/>
          </a:xfrm>
          <a:prstGeom prst="ellipse">
            <a:avLst/>
          </a:prstGeom>
          <a:solidFill>
            <a:srgbClr val="FAB753"/>
          </a:solidFill>
          <a:ln/>
        </p:spPr>
        <p:txBody>
          <a:bodyPr wrap="none" lIns="0" tIns="0" rIns="0" bIns="0" rtlCol="0" anchor="ctr"/>
          <a:lstStyle/>
          <a:p>
            <a:pPr marL="0" indent="0" algn="ctr">
              <a:buNone/>
            </a:pPr>
            <a:r>
              <a:rPr lang="en-US" sz="650" b="1" kern="0" spc="20" dirty="0">
                <a:solidFill>
                  <a:srgbClr val="1B1B1B"/>
                </a:solidFill>
                <a:latin typeface="Calibri" pitchFamily="34" charset="0"/>
                <a:ea typeface="Calibri" pitchFamily="34" charset="-122"/>
                <a:cs typeface="Calibri" pitchFamily="34" charset="-120"/>
              </a:rPr>
              <a:t>04</a:t>
            </a:r>
            <a:endParaRPr lang="en-US" sz="650" dirty="0"/>
          </a:p>
        </p:txBody>
      </p:sp>
      <p:sp>
        <p:nvSpPr>
          <p:cNvPr id="25" name="Text 20"/>
          <p:cNvSpPr/>
          <p:nvPr/>
        </p:nvSpPr>
        <p:spPr>
          <a:xfrm>
            <a:off x="3116461" y="3035613"/>
            <a:ext cx="4665434" cy="196900"/>
          </a:xfrm>
          <a:prstGeom prst="rect">
            <a:avLst/>
          </a:prstGeom>
          <a:noFill/>
          <a:ln/>
        </p:spPr>
        <p:txBody>
          <a:bodyPr wrap="none" lIns="0" tIns="35560" rIns="0" bIns="0" rtlCol="0" anchor="t"/>
          <a:lstStyle/>
          <a:p>
            <a:pPr marL="0" indent="0" algn="l">
              <a:lnSpc>
                <a:spcPts val="1271"/>
              </a:lnSpc>
              <a:buNone/>
            </a:pPr>
            <a:r>
              <a:rPr lang="en-US" sz="820" b="1" dirty="0">
                <a:solidFill>
                  <a:srgbClr val="1B5E72"/>
                </a:solidFill>
                <a:latin typeface="Calibri" pitchFamily="34" charset="0"/>
                <a:ea typeface="Calibri" pitchFamily="34" charset="-122"/>
                <a:cs typeface="Calibri" pitchFamily="34" charset="-120"/>
              </a:rPr>
              <a:t>Navigate between Avatar: TN NX Live and Avatar: TN NX UAT (Testing)</a:t>
            </a:r>
            <a:r>
              <a:rPr lang="en-US" sz="820" dirty="0">
                <a:solidFill>
                  <a:srgbClr val="2C2C2C"/>
                </a:solidFill>
                <a:latin typeface="Calibri" pitchFamily="34" charset="0"/>
                <a:ea typeface="Calibri" pitchFamily="34" charset="-122"/>
                <a:cs typeface="Calibri" pitchFamily="34" charset="-120"/>
              </a:rPr>
              <a:t> with confidence.</a:t>
            </a:r>
            <a:endParaRPr lang="en-US" sz="820" dirty="0"/>
          </a:p>
        </p:txBody>
      </p:sp>
      <p:sp>
        <p:nvSpPr>
          <p:cNvPr id="26" name="Text 21"/>
          <p:cNvSpPr/>
          <p:nvPr/>
        </p:nvSpPr>
        <p:spPr>
          <a:xfrm>
            <a:off x="2801541" y="3336395"/>
            <a:ext cx="214610" cy="236071"/>
          </a:xfrm>
          <a:prstGeom prst="ellipse">
            <a:avLst/>
          </a:prstGeom>
          <a:solidFill>
            <a:srgbClr val="FAB753"/>
          </a:solidFill>
          <a:ln/>
        </p:spPr>
        <p:txBody>
          <a:bodyPr wrap="none" lIns="0" tIns="0" rIns="0" bIns="0" rtlCol="0" anchor="ctr"/>
          <a:lstStyle/>
          <a:p>
            <a:pPr marL="0" indent="0" algn="ctr">
              <a:buNone/>
            </a:pPr>
            <a:r>
              <a:rPr lang="en-US" sz="650" b="1" kern="0" spc="20" dirty="0">
                <a:solidFill>
                  <a:srgbClr val="1B1B1B"/>
                </a:solidFill>
                <a:latin typeface="Calibri" pitchFamily="34" charset="0"/>
                <a:ea typeface="Calibri" pitchFamily="34" charset="-122"/>
                <a:cs typeface="Calibri" pitchFamily="34" charset="-120"/>
              </a:rPr>
              <a:t>05</a:t>
            </a:r>
            <a:endParaRPr lang="en-US" sz="650" dirty="0"/>
          </a:p>
        </p:txBody>
      </p:sp>
      <p:sp>
        <p:nvSpPr>
          <p:cNvPr id="27" name="Text 22"/>
          <p:cNvSpPr/>
          <p:nvPr/>
        </p:nvSpPr>
        <p:spPr>
          <a:xfrm>
            <a:off x="3116461" y="3328805"/>
            <a:ext cx="4948327" cy="196900"/>
          </a:xfrm>
          <a:prstGeom prst="rect">
            <a:avLst/>
          </a:prstGeom>
          <a:noFill/>
          <a:ln/>
        </p:spPr>
        <p:txBody>
          <a:bodyPr wrap="none" lIns="0" tIns="35560" rIns="0" bIns="0" rtlCol="0" anchor="t"/>
          <a:lstStyle/>
          <a:p>
            <a:pPr marL="0" indent="0" algn="l">
              <a:lnSpc>
                <a:spcPts val="1271"/>
              </a:lnSpc>
              <a:buNone/>
            </a:pPr>
            <a:r>
              <a:rPr lang="en-US" sz="820" b="1" dirty="0">
                <a:solidFill>
                  <a:srgbClr val="1B5E72"/>
                </a:solidFill>
                <a:latin typeface="Calibri" pitchFamily="34" charset="0"/>
                <a:ea typeface="Calibri" pitchFamily="34" charset="-122"/>
                <a:cs typeface="Calibri" pitchFamily="34" charset="-120"/>
              </a:rPr>
              <a:t>Schedule an intake assessment</a:t>
            </a:r>
            <a:r>
              <a:rPr lang="en-US" sz="820" dirty="0">
                <a:solidFill>
                  <a:srgbClr val="2C2C2C"/>
                </a:solidFill>
                <a:latin typeface="Calibri" pitchFamily="34" charset="0"/>
                <a:ea typeface="Calibri" pitchFamily="34" charset="-122"/>
                <a:cs typeface="Calibri" pitchFamily="34" charset="-120"/>
              </a:rPr>
              <a:t> and apply Eleos from the very first session to protect your time.</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43160"/>
          </a:xfrm>
          <a:prstGeom prst="rect">
            <a:avLst/>
          </a:prstGeom>
          <a:solidFill>
            <a:srgbClr val="1B5E72"/>
          </a:solidFill>
          <a:ln/>
        </p:spPr>
        <p:txBody>
          <a:bodyPr wrap="none" rtlCol="0" anchor="t"/>
          <a:lstStyle/>
          <a:p>
            <a:pPr marL="0" indent="0">
              <a:buNone/>
            </a:pPr>
            <a:endParaRPr lang="en-US" dirty="0"/>
          </a:p>
        </p:txBody>
      </p:sp>
      <p:sp>
        <p:nvSpPr>
          <p:cNvPr id="3" name="Text 1"/>
          <p:cNvSpPr/>
          <p:nvPr/>
        </p:nvSpPr>
        <p:spPr>
          <a:xfrm>
            <a:off x="7287220" y="0"/>
            <a:ext cx="1856780" cy="1899940"/>
          </a:xfrm>
          <a:prstGeom prst="ellipse">
            <a:avLst/>
          </a:prstGeom>
          <a:gradFill rotWithShape="1">
            <a:gsLst>
              <a:gs pos="0">
                <a:srgbClr val="1B5E72">
                  <a:alpha val="5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0" y="2960787"/>
            <a:ext cx="1286470" cy="1572220"/>
          </a:xfrm>
          <a:prstGeom prst="ellipse">
            <a:avLst/>
          </a:prstGeom>
          <a:gradFill rotWithShape="1">
            <a:gsLst>
              <a:gs pos="0">
                <a:srgbClr val="FAB753">
                  <a:alpha val="7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3289816" y="1190179"/>
            <a:ext cx="2564368" cy="118021"/>
          </a:xfrm>
          <a:prstGeom prst="rect">
            <a:avLst/>
          </a:prstGeom>
          <a:noFill/>
          <a:ln/>
        </p:spPr>
        <p:txBody>
          <a:bodyPr wrap="none" lIns="0" tIns="0" rIns="0" bIns="0" rtlCol="0" anchor="t"/>
          <a:lstStyle/>
          <a:p>
            <a:pPr marL="0" indent="0" algn="ctr">
              <a:lnSpc>
                <a:spcPts val="930"/>
              </a:lnSpc>
              <a:buNone/>
            </a:pPr>
            <a:r>
              <a:rPr lang="en-US" sz="620" b="1" kern="0" spc="140" dirty="0">
                <a:solidFill>
                  <a:srgbClr val="FAB753"/>
                </a:solidFill>
                <a:latin typeface="Calibri" pitchFamily="34" charset="0"/>
                <a:ea typeface="Calibri" pitchFamily="34" charset="-122"/>
                <a:cs typeface="Calibri" pitchFamily="34" charset="-120"/>
              </a:rPr>
              <a:t>CENTERSTONE SCHOOL-BASED  CLINICAL TRAINING SERIES</a:t>
            </a:r>
            <a:endParaRPr lang="en-US" sz="620" dirty="0"/>
          </a:p>
        </p:txBody>
      </p:sp>
      <p:sp>
        <p:nvSpPr>
          <p:cNvPr id="6" name="Text 4"/>
          <p:cNvSpPr/>
          <p:nvPr/>
        </p:nvSpPr>
        <p:spPr>
          <a:xfrm>
            <a:off x="2797367" y="1379190"/>
            <a:ext cx="3549118" cy="312390"/>
          </a:xfrm>
          <a:prstGeom prst="rect">
            <a:avLst/>
          </a:prstGeom>
          <a:noFill/>
          <a:ln/>
        </p:spPr>
        <p:txBody>
          <a:bodyPr wrap="none" lIns="0" tIns="0" rIns="0" bIns="0" rtlCol="0" anchor="t"/>
          <a:lstStyle/>
          <a:p>
            <a:pPr marL="0" indent="0" algn="ctr">
              <a:lnSpc>
                <a:spcPts val="2461"/>
              </a:lnSpc>
              <a:spcAft>
                <a:spcPts val="1800"/>
              </a:spcAft>
              <a:buNone/>
            </a:pPr>
            <a:r>
              <a:rPr lang="en-US" sz="2140" b="1" kern="0" spc="-20" dirty="0">
                <a:solidFill>
                  <a:srgbClr val="1B5E72"/>
                </a:solidFill>
                <a:latin typeface="Calibri Light" pitchFamily="34" charset="0"/>
                <a:ea typeface="Calibri Light" pitchFamily="34" charset="-122"/>
                <a:cs typeface="Calibri Light" pitchFamily="34" charset="-120"/>
              </a:rPr>
              <a:t>Why This Training Matters</a:t>
            </a:r>
            <a:endParaRPr lang="en-US" sz="2140" dirty="0"/>
          </a:p>
        </p:txBody>
      </p:sp>
      <p:sp>
        <p:nvSpPr>
          <p:cNvPr id="7" name="Text 5"/>
          <p:cNvSpPr/>
          <p:nvPr/>
        </p:nvSpPr>
        <p:spPr>
          <a:xfrm>
            <a:off x="1071265" y="1920180"/>
            <a:ext cx="35421" cy="1938189"/>
          </a:xfrm>
          <a:prstGeom prst="roundRect">
            <a:avLst>
              <a:gd name="adj" fmla="val 60953"/>
            </a:avLst>
          </a:prstGeom>
          <a:solidFill>
            <a:srgbClr val="FAB753"/>
          </a:solidFill>
          <a:ln/>
        </p:spPr>
        <p:txBody>
          <a:bodyPr wrap="square" rtlCol="0" anchor="t"/>
          <a:lstStyle/>
          <a:p>
            <a:pPr marL="0" indent="0">
              <a:buNone/>
            </a:pPr>
            <a:endParaRPr lang="en-US" dirty="0"/>
          </a:p>
        </p:txBody>
      </p:sp>
      <p:sp>
        <p:nvSpPr>
          <p:cNvPr id="8" name="Text 6"/>
          <p:cNvSpPr/>
          <p:nvPr/>
        </p:nvSpPr>
        <p:spPr>
          <a:xfrm>
            <a:off x="1335286" y="1920180"/>
            <a:ext cx="6872198" cy="632423"/>
          </a:xfrm>
          <a:prstGeom prst="rect">
            <a:avLst/>
          </a:prstGeom>
          <a:noFill/>
          <a:ln/>
        </p:spPr>
        <p:txBody>
          <a:bodyPr wrap="square" lIns="0" tIns="0" rIns="0" bIns="0" rtlCol="0" anchor="t"/>
          <a:lstStyle/>
          <a:p>
            <a:pPr marL="0" indent="0" algn="l">
              <a:lnSpc>
                <a:spcPts val="1581"/>
              </a:lnSpc>
              <a:buNone/>
            </a:pPr>
            <a:r>
              <a:rPr lang="en-US" sz="930" dirty="0">
                <a:solidFill>
                  <a:srgbClr val="2C2C2C"/>
                </a:solidFill>
                <a:latin typeface="Calibri" pitchFamily="34" charset="0"/>
                <a:ea typeface="Calibri" pitchFamily="34" charset="-122"/>
                <a:cs typeface="Calibri" pitchFamily="34" charset="-120"/>
              </a:rPr>
              <a:t>Avatar is the engine that runs behind every clinical interaction. When it is used correctly from the very first contact, it protects clients, supports accurate reporting, and keeps the team running smoothly. When it is skipped or rushed, it creates downstream problems that are much harder to fix.</a:t>
            </a:r>
            <a:endParaRPr lang="en-US" sz="930" dirty="0"/>
          </a:p>
        </p:txBody>
      </p:sp>
      <p:sp>
        <p:nvSpPr>
          <p:cNvPr id="9" name="Text 7"/>
          <p:cNvSpPr/>
          <p:nvPr/>
        </p:nvSpPr>
        <p:spPr>
          <a:xfrm>
            <a:off x="1335286" y="2650629"/>
            <a:ext cx="285750" cy="10120"/>
          </a:xfrm>
          <a:prstGeom prst="roundRect">
            <a:avLst>
              <a:gd name="adj" fmla="val 138044"/>
            </a:avLst>
          </a:prstGeom>
          <a:solidFill>
            <a:srgbClr val="EAF4F4"/>
          </a:solidFill>
          <a:ln/>
        </p:spPr>
        <p:txBody>
          <a:bodyPr wrap="none" rtlCol="0" anchor="t"/>
          <a:lstStyle/>
          <a:p>
            <a:pPr marL="0" indent="0">
              <a:buNone/>
            </a:pPr>
            <a:endParaRPr lang="en-US" dirty="0"/>
          </a:p>
        </p:txBody>
      </p:sp>
      <p:sp>
        <p:nvSpPr>
          <p:cNvPr id="10" name="Text 8"/>
          <p:cNvSpPr/>
          <p:nvPr/>
        </p:nvSpPr>
        <p:spPr>
          <a:xfrm>
            <a:off x="1335286" y="2788890"/>
            <a:ext cx="6872198" cy="421615"/>
          </a:xfrm>
          <a:prstGeom prst="rect">
            <a:avLst/>
          </a:prstGeom>
          <a:noFill/>
          <a:ln/>
        </p:spPr>
        <p:txBody>
          <a:bodyPr wrap="square" lIns="0" tIns="0" rIns="0" bIns="0" rtlCol="0" anchor="t"/>
          <a:lstStyle/>
          <a:p>
            <a:pPr marL="0" indent="0" algn="l">
              <a:lnSpc>
                <a:spcPts val="1581"/>
              </a:lnSpc>
              <a:buNone/>
            </a:pPr>
            <a:r>
              <a:rPr lang="en-US" sz="930" dirty="0">
                <a:solidFill>
                  <a:srgbClr val="2C2C2C"/>
                </a:solidFill>
                <a:latin typeface="Calibri" pitchFamily="34" charset="0"/>
                <a:ea typeface="Calibri" pitchFamily="34" charset="-122"/>
                <a:cs typeface="Calibri" pitchFamily="34" charset="-120"/>
              </a:rPr>
              <a:t>This training is not about memorizing a system. It is about understanding </a:t>
            </a:r>
            <a:r>
              <a:rPr lang="en-US" sz="930" b="1" dirty="0">
                <a:solidFill>
                  <a:srgbClr val="1B5E72"/>
                </a:solidFill>
                <a:latin typeface="Calibri" pitchFamily="34" charset="0"/>
                <a:ea typeface="Calibri" pitchFamily="34" charset="-122"/>
                <a:cs typeface="Calibri" pitchFamily="34" charset="-120"/>
              </a:rPr>
              <a:t>why each step exists</a:t>
            </a:r>
            <a:r>
              <a:rPr lang="en-US" sz="930" dirty="0">
                <a:solidFill>
                  <a:srgbClr val="2C2C2C"/>
                </a:solidFill>
                <a:latin typeface="Calibri" pitchFamily="34" charset="0"/>
                <a:ea typeface="Calibri" pitchFamily="34" charset="-122"/>
                <a:cs typeface="Calibri" pitchFamily="34" charset="-120"/>
              </a:rPr>
              <a:t> — so that when something unexpected happens in the field, you know how to think through it.</a:t>
            </a:r>
            <a:endParaRPr lang="en-US" sz="930" dirty="0"/>
          </a:p>
        </p:txBody>
      </p:sp>
      <p:sp>
        <p:nvSpPr>
          <p:cNvPr id="11" name="Text 9"/>
          <p:cNvSpPr/>
          <p:nvPr/>
        </p:nvSpPr>
        <p:spPr>
          <a:xfrm>
            <a:off x="1335286" y="3318570"/>
            <a:ext cx="285750" cy="10120"/>
          </a:xfrm>
          <a:prstGeom prst="roundRect">
            <a:avLst>
              <a:gd name="adj" fmla="val 138044"/>
            </a:avLst>
          </a:prstGeom>
          <a:solidFill>
            <a:srgbClr val="EAF4F4"/>
          </a:solidFill>
          <a:ln/>
        </p:spPr>
        <p:txBody>
          <a:bodyPr wrap="none" rtlCol="0" anchor="t"/>
          <a:lstStyle/>
          <a:p>
            <a:pPr marL="0" indent="0">
              <a:buNone/>
            </a:pPr>
            <a:endParaRPr lang="en-US" dirty="0"/>
          </a:p>
        </p:txBody>
      </p:sp>
      <p:sp>
        <p:nvSpPr>
          <p:cNvPr id="12" name="Text 10"/>
          <p:cNvSpPr/>
          <p:nvPr/>
        </p:nvSpPr>
        <p:spPr>
          <a:xfrm>
            <a:off x="1335286" y="3456831"/>
            <a:ext cx="6872198" cy="421615"/>
          </a:xfrm>
          <a:prstGeom prst="rect">
            <a:avLst/>
          </a:prstGeom>
          <a:noFill/>
          <a:ln/>
        </p:spPr>
        <p:txBody>
          <a:bodyPr wrap="square" lIns="0" tIns="0" rIns="0" bIns="0" rtlCol="0" anchor="t"/>
          <a:lstStyle/>
          <a:p>
            <a:pPr marL="0" indent="0" algn="l">
              <a:lnSpc>
                <a:spcPts val="1581"/>
              </a:lnSpc>
              <a:buNone/>
            </a:pPr>
            <a:r>
              <a:rPr lang="en-US" sz="930" dirty="0">
                <a:solidFill>
                  <a:srgbClr val="2C2C2C"/>
                </a:solidFill>
                <a:latin typeface="Calibri" pitchFamily="34" charset="0"/>
                <a:ea typeface="Calibri" pitchFamily="34" charset="-122"/>
                <a:cs typeface="Calibri" pitchFamily="34" charset="-120"/>
              </a:rPr>
              <a:t>The habits you build now — </a:t>
            </a:r>
            <a:r>
              <a:rPr lang="en-US" sz="930" b="1" dirty="0">
                <a:solidFill>
                  <a:srgbClr val="1B5E72"/>
                </a:solidFill>
                <a:latin typeface="Calibri" pitchFamily="34" charset="0"/>
                <a:ea typeface="Calibri" pitchFamily="34" charset="-122"/>
                <a:cs typeface="Calibri" pitchFamily="34" charset="-120"/>
              </a:rPr>
              <a:t>searching before creating, completing the bundle not just the form, cancelling correctly, documenting on time</a:t>
            </a:r>
            <a:r>
              <a:rPr lang="en-US" sz="930" dirty="0">
                <a:solidFill>
                  <a:srgbClr val="2C2C2C"/>
                </a:solidFill>
                <a:latin typeface="Calibri" pitchFamily="34" charset="0"/>
                <a:ea typeface="Calibri" pitchFamily="34" charset="-122"/>
                <a:cs typeface="Calibri" pitchFamily="34" charset="-120"/>
              </a:rPr>
              <a:t> — are the habits that will protect you, your clients, and your program throughout your career here.</a:t>
            </a:r>
            <a:endParaRPr lang="en-US" sz="930" dirty="0"/>
          </a:p>
        </p:txBody>
      </p:sp>
      <p:sp>
        <p:nvSpPr>
          <p:cNvPr id="13" name="Text 11"/>
          <p:cNvSpPr/>
          <p:nvPr/>
        </p:nvSpPr>
        <p:spPr>
          <a:xfrm>
            <a:off x="-91440" y="4747617"/>
            <a:ext cx="9326880" cy="395883"/>
          </a:xfrm>
          <a:prstGeom prst="rect">
            <a:avLst/>
          </a:prstGeom>
          <a:solidFill>
            <a:srgbClr val="FAB753"/>
          </a:solidFill>
          <a:ln/>
        </p:spPr>
        <p:txBody>
          <a:bodyPr wrap="none" lIns="429260" tIns="106680" rIns="429260" bIns="106680" rtlCol="0" anchor="ctr"/>
          <a:lstStyle/>
          <a:p>
            <a:pPr marL="0" indent="0" algn="ctr">
              <a:buNone/>
            </a:pPr>
            <a:r>
              <a:rPr lang="en-US" sz="960" b="1" kern="0" spc="10" dirty="0">
                <a:solidFill>
                  <a:srgbClr val="1B3A2A"/>
                </a:solidFill>
                <a:latin typeface="Calibri" pitchFamily="34" charset="0"/>
                <a:ea typeface="Calibri" pitchFamily="34" charset="-122"/>
                <a:cs typeface="Calibri" pitchFamily="34" charset="-120"/>
              </a:rPr>
              <a:t>Accurate documentation is an act of client care. Treat it that way.</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71524"/>
          </a:xfrm>
          <a:prstGeom prst="rect">
            <a:avLst/>
          </a:prstGeom>
          <a:solidFill>
            <a:srgbClr val="1B5E72"/>
          </a:solidFill>
          <a:ln/>
        </p:spPr>
        <p:txBody>
          <a:bodyPr wrap="square" lIns="400050" tIns="157480" rIns="400050" bIns="128270" rtlCol="0" anchor="t"/>
          <a:lstStyle/>
          <a:p>
            <a:pPr marL="0" indent="0" algn="l">
              <a:buNone/>
            </a:pPr>
            <a:r>
              <a:rPr lang="en-US" sz="1800" b="1" kern="0" spc="18" dirty="0">
                <a:solidFill>
                  <a:srgbClr val="FFFFFF"/>
                </a:solidFill>
                <a:latin typeface="Calibri Light" pitchFamily="34" charset="0"/>
                <a:ea typeface="Calibri Light" pitchFamily="34" charset="-122"/>
                <a:cs typeface="Calibri Light" pitchFamily="34" charset="-120"/>
              </a:rPr>
              <a:t>Before This Training</a:t>
            </a:r>
            <a:endParaRPr lang="en-US" sz="1800" dirty="0"/>
          </a:p>
          <a:p>
            <a:pPr marL="0" indent="0" algn="l">
              <a:buNone/>
            </a:pPr>
            <a:r>
              <a:rPr lang="en-US" sz="900" b="1" kern="0" spc="18" dirty="0">
                <a:solidFill>
                  <a:srgbClr val="FAB753"/>
                </a:solidFill>
                <a:latin typeface="Calibri" pitchFamily="34" charset="0"/>
                <a:ea typeface="Calibri" pitchFamily="34" charset="-122"/>
                <a:cs typeface="Calibri" pitchFamily="34" charset="-120"/>
              </a:rPr>
              <a:t>You were asked to complete the following on Relias prior to today.</a:t>
            </a:r>
            <a:endParaRPr lang="en-US" sz="1800" dirty="0"/>
          </a:p>
        </p:txBody>
      </p:sp>
      <p:sp>
        <p:nvSpPr>
          <p:cNvPr id="3" name="Text 1"/>
          <p:cNvSpPr/>
          <p:nvPr/>
        </p:nvSpPr>
        <p:spPr>
          <a:xfrm>
            <a:off x="400050" y="949672"/>
            <a:ext cx="2647504" cy="3422600"/>
          </a:xfrm>
          <a:prstGeom prst="roundRect">
            <a:avLst>
              <a:gd name="adj" fmla="val 2686"/>
            </a:avLst>
          </a:prstGeom>
          <a:solidFill>
            <a:srgbClr val="EAF4F4"/>
          </a:solidFill>
          <a:ln/>
        </p:spPr>
        <p:txBody>
          <a:bodyPr wrap="square" rtlCol="0" anchor="t"/>
          <a:lstStyle/>
          <a:p>
            <a:pPr marL="0" indent="0">
              <a:buNone/>
            </a:pPr>
            <a:endParaRPr lang="en-US" dirty="0"/>
          </a:p>
        </p:txBody>
      </p:sp>
      <p:sp>
        <p:nvSpPr>
          <p:cNvPr id="4" name="Text 2"/>
          <p:cNvSpPr/>
          <p:nvPr/>
        </p:nvSpPr>
        <p:spPr>
          <a:xfrm>
            <a:off x="400050" y="949672"/>
            <a:ext cx="2647504" cy="28575"/>
          </a:xfrm>
          <a:custGeom>
            <a:avLst/>
            <a:gdLst/>
            <a:ahLst/>
            <a:cxnLst/>
            <a:rect l="l" t="t" r="r" b="b"/>
            <a:pathLst>
              <a:path w="2647504"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33375" y="28575"/>
                </a:lnTo>
                <a:lnTo>
                  <a:pt x="2630525" y="25003"/>
                </a:lnTo>
                <a:lnTo>
                  <a:pt x="2627267" y="21431"/>
                </a:lnTo>
                <a:lnTo>
                  <a:pt x="2623515" y="17859"/>
                </a:lnTo>
                <a:lnTo>
                  <a:pt x="2619140" y="14288"/>
                </a:lnTo>
                <a:lnTo>
                  <a:pt x="2613925" y="10716"/>
                </a:lnTo>
                <a:lnTo>
                  <a:pt x="2607449" y="7144"/>
                </a:lnTo>
                <a:lnTo>
                  <a:pt x="2598639" y="3572"/>
                </a:lnTo>
                <a:lnTo>
                  <a:pt x="2576383" y="0"/>
                </a:lnTo>
                <a:close/>
              </a:path>
            </a:pathLst>
          </a:custGeom>
          <a:solidFill>
            <a:srgbClr val="FAB753"/>
          </a:solidFill>
          <a:ln/>
        </p:spPr>
        <p:txBody>
          <a:bodyPr wrap="none" rtlCol="0" anchor="t"/>
          <a:lstStyle/>
          <a:p>
            <a:pPr marL="0" indent="0">
              <a:buNone/>
            </a:pPr>
            <a:endParaRPr lang="en-US" dirty="0"/>
          </a:p>
        </p:txBody>
      </p:sp>
      <p:sp>
        <p:nvSpPr>
          <p:cNvPr id="5" name="Text 3"/>
          <p:cNvSpPr/>
          <p:nvPr/>
        </p:nvSpPr>
        <p:spPr>
          <a:xfrm>
            <a:off x="600670" y="1192857"/>
            <a:ext cx="372070" cy="372070"/>
          </a:xfrm>
          <a:prstGeom prst="ellipse">
            <a:avLst/>
          </a:prstGeom>
          <a:solidFill>
            <a:srgbClr val="1B5E72"/>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7203" y="1309390"/>
            <a:ext cx="139005" cy="139005"/>
          </a:xfrm>
          <a:prstGeom prst="rect">
            <a:avLst/>
          </a:prstGeom>
        </p:spPr>
      </p:pic>
      <p:sp>
        <p:nvSpPr>
          <p:cNvPr id="7" name="Text 4"/>
          <p:cNvSpPr/>
          <p:nvPr/>
        </p:nvSpPr>
        <p:spPr>
          <a:xfrm>
            <a:off x="600670" y="1665238"/>
            <a:ext cx="2470889" cy="179338"/>
          </a:xfrm>
          <a:prstGeom prst="rect">
            <a:avLst/>
          </a:prstGeom>
          <a:noFill/>
          <a:ln/>
        </p:spPr>
        <p:txBody>
          <a:bodyPr wrap="none" lIns="0" tIns="0" rIns="0" bIns="0" rtlCol="0" anchor="t"/>
          <a:lstStyle/>
          <a:p>
            <a:pPr marL="0" indent="0" algn="l">
              <a:lnSpc>
                <a:spcPts val="1412"/>
              </a:lnSpc>
              <a:buNone/>
            </a:pPr>
            <a:r>
              <a:rPr lang="en-US" sz="1130" b="1" dirty="0">
                <a:solidFill>
                  <a:srgbClr val="1B5E72"/>
                </a:solidFill>
                <a:latin typeface="Calibri Light" pitchFamily="34" charset="0"/>
                <a:ea typeface="Calibri Light" pitchFamily="34" charset="-122"/>
                <a:cs typeface="Calibri Light" pitchFamily="34" charset="-120"/>
              </a:rPr>
              <a:t>Avatar NX Orientation Videos</a:t>
            </a:r>
            <a:endParaRPr lang="en-US" sz="1130" dirty="0"/>
          </a:p>
        </p:txBody>
      </p:sp>
      <p:sp>
        <p:nvSpPr>
          <p:cNvPr id="8" name="Text 5"/>
          <p:cNvSpPr/>
          <p:nvPr/>
        </p:nvSpPr>
        <p:spPr>
          <a:xfrm>
            <a:off x="600670" y="1944886"/>
            <a:ext cx="2291188" cy="959495"/>
          </a:xfrm>
          <a:prstGeom prst="rect">
            <a:avLst/>
          </a:prstGeom>
          <a:noFill/>
          <a:ln/>
        </p:spPr>
        <p:txBody>
          <a:bodyPr wrap="square" lIns="0" tIns="0" rIns="0" bIns="0" rtlCol="0" anchor="t"/>
          <a:lstStyle/>
          <a:p>
            <a:pPr marL="0" indent="0" algn="l">
              <a:lnSpc>
                <a:spcPts val="1440"/>
              </a:lnSpc>
              <a:buNone/>
            </a:pPr>
            <a:r>
              <a:rPr lang="en-US" sz="900" dirty="0">
                <a:solidFill>
                  <a:srgbClr val="2C2C2C"/>
                </a:solidFill>
                <a:latin typeface="Calibri" pitchFamily="34" charset="0"/>
                <a:ea typeface="Calibri" pitchFamily="34" charset="-122"/>
                <a:cs typeface="Calibri" pitchFamily="34" charset="-120"/>
              </a:rPr>
              <a:t>Watch the assigned Avatar NX foundational videos on Relias before attending this training. These cover the basic interface, navigation, and terminology we will build on today.</a:t>
            </a:r>
            <a:endParaRPr lang="en-US" sz="900" dirty="0"/>
          </a:p>
        </p:txBody>
      </p:sp>
      <p:sp>
        <p:nvSpPr>
          <p:cNvPr id="9" name="Text 6"/>
          <p:cNvSpPr/>
          <p:nvPr/>
        </p:nvSpPr>
        <p:spPr>
          <a:xfrm>
            <a:off x="3248174" y="949672"/>
            <a:ext cx="2647652" cy="3422600"/>
          </a:xfrm>
          <a:prstGeom prst="roundRect">
            <a:avLst>
              <a:gd name="adj" fmla="val 2686"/>
            </a:avLst>
          </a:prstGeom>
          <a:solidFill>
            <a:srgbClr val="EAF4F4"/>
          </a:solidFill>
          <a:ln/>
        </p:spPr>
        <p:txBody>
          <a:bodyPr wrap="square" rtlCol="0" anchor="t"/>
          <a:lstStyle/>
          <a:p>
            <a:pPr marL="0" indent="0">
              <a:buNone/>
            </a:pPr>
            <a:endParaRPr lang="en-US" dirty="0"/>
          </a:p>
        </p:txBody>
      </p:sp>
      <p:sp>
        <p:nvSpPr>
          <p:cNvPr id="10" name="Text 7"/>
          <p:cNvSpPr/>
          <p:nvPr/>
        </p:nvSpPr>
        <p:spPr>
          <a:xfrm>
            <a:off x="3248174" y="949672"/>
            <a:ext cx="2647652" cy="28575"/>
          </a:xfrm>
          <a:custGeom>
            <a:avLst/>
            <a:gdLst/>
            <a:ahLst/>
            <a:cxnLst/>
            <a:rect l="l" t="t" r="r" b="b"/>
            <a:pathLst>
              <a:path w="2647652"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33523" y="28575"/>
                </a:lnTo>
                <a:lnTo>
                  <a:pt x="2630674" y="25003"/>
                </a:lnTo>
                <a:lnTo>
                  <a:pt x="2627415" y="21431"/>
                </a:lnTo>
                <a:lnTo>
                  <a:pt x="2623664" y="17859"/>
                </a:lnTo>
                <a:lnTo>
                  <a:pt x="2619289" y="14288"/>
                </a:lnTo>
                <a:lnTo>
                  <a:pt x="2614074" y="10716"/>
                </a:lnTo>
                <a:lnTo>
                  <a:pt x="2607598" y="7144"/>
                </a:lnTo>
                <a:lnTo>
                  <a:pt x="2598788" y="3572"/>
                </a:lnTo>
                <a:lnTo>
                  <a:pt x="2576532" y="0"/>
                </a:lnTo>
                <a:close/>
              </a:path>
            </a:pathLst>
          </a:custGeom>
          <a:solidFill>
            <a:srgbClr val="FAB753"/>
          </a:solidFill>
          <a:ln/>
        </p:spPr>
        <p:txBody>
          <a:bodyPr wrap="none" rtlCol="0" anchor="t"/>
          <a:lstStyle/>
          <a:p>
            <a:pPr marL="0" indent="0">
              <a:buNone/>
            </a:pPr>
            <a:endParaRPr lang="en-US" dirty="0"/>
          </a:p>
        </p:txBody>
      </p:sp>
      <p:sp>
        <p:nvSpPr>
          <p:cNvPr id="11" name="Text 8"/>
          <p:cNvSpPr/>
          <p:nvPr/>
        </p:nvSpPr>
        <p:spPr>
          <a:xfrm>
            <a:off x="3448794" y="1192857"/>
            <a:ext cx="372070" cy="372070"/>
          </a:xfrm>
          <a:prstGeom prst="ellipse">
            <a:avLst/>
          </a:prstGeom>
          <a:solidFill>
            <a:srgbClr val="1B5E72"/>
          </a:solidFill>
          <a:ln/>
        </p:spPr>
        <p:txBody>
          <a:bodyPr wrap="squar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65327" y="1309390"/>
            <a:ext cx="139005" cy="139005"/>
          </a:xfrm>
          <a:prstGeom prst="rect">
            <a:avLst/>
          </a:prstGeom>
        </p:spPr>
      </p:pic>
      <p:sp>
        <p:nvSpPr>
          <p:cNvPr id="13" name="Text 9"/>
          <p:cNvSpPr/>
          <p:nvPr/>
        </p:nvSpPr>
        <p:spPr>
          <a:xfrm>
            <a:off x="3448794" y="1665238"/>
            <a:ext cx="2471053" cy="179338"/>
          </a:xfrm>
          <a:prstGeom prst="rect">
            <a:avLst/>
          </a:prstGeom>
          <a:noFill/>
          <a:ln/>
        </p:spPr>
        <p:txBody>
          <a:bodyPr wrap="none" lIns="0" tIns="0" rIns="0" bIns="0" rtlCol="0" anchor="t"/>
          <a:lstStyle/>
          <a:p>
            <a:pPr marL="0" indent="0" algn="l">
              <a:lnSpc>
                <a:spcPts val="1412"/>
              </a:lnSpc>
              <a:buNone/>
            </a:pPr>
            <a:r>
              <a:rPr lang="en-US" sz="1130" b="1" dirty="0">
                <a:solidFill>
                  <a:srgbClr val="1B5E72"/>
                </a:solidFill>
                <a:latin typeface="Calibri Light" pitchFamily="34" charset="0"/>
                <a:ea typeface="Calibri Light" pitchFamily="34" charset="-122"/>
                <a:cs typeface="Calibri Light" pitchFamily="34" charset="-120"/>
              </a:rPr>
              <a:t>Come Ready to Practice</a:t>
            </a:r>
            <a:endParaRPr lang="en-US" sz="1130" dirty="0"/>
          </a:p>
        </p:txBody>
      </p:sp>
      <p:sp>
        <p:nvSpPr>
          <p:cNvPr id="14" name="Text 10"/>
          <p:cNvSpPr/>
          <p:nvPr/>
        </p:nvSpPr>
        <p:spPr>
          <a:xfrm>
            <a:off x="3448794" y="1944886"/>
            <a:ext cx="2291340" cy="767596"/>
          </a:xfrm>
          <a:prstGeom prst="rect">
            <a:avLst/>
          </a:prstGeom>
          <a:noFill/>
          <a:ln/>
        </p:spPr>
        <p:txBody>
          <a:bodyPr wrap="square" lIns="0" tIns="0" rIns="0" bIns="0" rtlCol="0" anchor="t"/>
          <a:lstStyle/>
          <a:p>
            <a:pPr marL="0" indent="0" algn="l">
              <a:lnSpc>
                <a:spcPts val="1440"/>
              </a:lnSpc>
              <a:buNone/>
            </a:pPr>
            <a:r>
              <a:rPr lang="en-US" sz="900" dirty="0">
                <a:solidFill>
                  <a:srgbClr val="2C2C2C"/>
                </a:solidFill>
                <a:latin typeface="Calibri" pitchFamily="34" charset="0"/>
                <a:ea typeface="Calibri" pitchFamily="34" charset="-122"/>
                <a:cs typeface="Calibri" pitchFamily="34" charset="-120"/>
              </a:rPr>
              <a:t>Today is hands-on. You will work in Avatar: TN NX UAT — the testing environment — so you can practice every step without affecting any live client records.</a:t>
            </a:r>
            <a:endParaRPr lang="en-US" sz="900" dirty="0"/>
          </a:p>
        </p:txBody>
      </p:sp>
      <p:sp>
        <p:nvSpPr>
          <p:cNvPr id="15" name="Text 11"/>
          <p:cNvSpPr/>
          <p:nvPr/>
        </p:nvSpPr>
        <p:spPr>
          <a:xfrm>
            <a:off x="6096446" y="949672"/>
            <a:ext cx="2647504" cy="3422600"/>
          </a:xfrm>
          <a:prstGeom prst="roundRect">
            <a:avLst>
              <a:gd name="adj" fmla="val 2686"/>
            </a:avLst>
          </a:prstGeom>
          <a:solidFill>
            <a:srgbClr val="EAF4F4"/>
          </a:solidFill>
          <a:ln/>
        </p:spPr>
        <p:txBody>
          <a:bodyPr wrap="square" rtlCol="0" anchor="t"/>
          <a:lstStyle/>
          <a:p>
            <a:pPr marL="0" indent="0">
              <a:buNone/>
            </a:pPr>
            <a:endParaRPr lang="en-US" dirty="0"/>
          </a:p>
        </p:txBody>
      </p:sp>
      <p:sp>
        <p:nvSpPr>
          <p:cNvPr id="16" name="Text 12"/>
          <p:cNvSpPr/>
          <p:nvPr/>
        </p:nvSpPr>
        <p:spPr>
          <a:xfrm>
            <a:off x="6096446" y="949672"/>
            <a:ext cx="2647504" cy="28575"/>
          </a:xfrm>
          <a:custGeom>
            <a:avLst/>
            <a:gdLst/>
            <a:ahLst/>
            <a:cxnLst/>
            <a:rect l="l" t="t" r="r" b="b"/>
            <a:pathLst>
              <a:path w="2647504"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33375" y="28575"/>
                </a:lnTo>
                <a:lnTo>
                  <a:pt x="2630525" y="25003"/>
                </a:lnTo>
                <a:lnTo>
                  <a:pt x="2627267" y="21431"/>
                </a:lnTo>
                <a:lnTo>
                  <a:pt x="2623515" y="17859"/>
                </a:lnTo>
                <a:lnTo>
                  <a:pt x="2619140" y="14288"/>
                </a:lnTo>
                <a:lnTo>
                  <a:pt x="2613925" y="10716"/>
                </a:lnTo>
                <a:lnTo>
                  <a:pt x="2607449" y="7144"/>
                </a:lnTo>
                <a:lnTo>
                  <a:pt x="2598639" y="3572"/>
                </a:lnTo>
                <a:lnTo>
                  <a:pt x="2576383" y="0"/>
                </a:lnTo>
                <a:close/>
              </a:path>
            </a:pathLst>
          </a:custGeom>
          <a:solidFill>
            <a:srgbClr val="FAB753"/>
          </a:solidFill>
          <a:ln/>
        </p:spPr>
        <p:txBody>
          <a:bodyPr wrap="none" rtlCol="0" anchor="t"/>
          <a:lstStyle/>
          <a:p>
            <a:pPr marL="0" indent="0">
              <a:buNone/>
            </a:pPr>
            <a:endParaRPr lang="en-US" dirty="0"/>
          </a:p>
        </p:txBody>
      </p:sp>
      <p:sp>
        <p:nvSpPr>
          <p:cNvPr id="17" name="Text 13"/>
          <p:cNvSpPr/>
          <p:nvPr/>
        </p:nvSpPr>
        <p:spPr>
          <a:xfrm>
            <a:off x="6297067" y="1192857"/>
            <a:ext cx="372070" cy="372070"/>
          </a:xfrm>
          <a:prstGeom prst="ellipse">
            <a:avLst/>
          </a:prstGeom>
          <a:solidFill>
            <a:srgbClr val="1B5E72"/>
          </a:solidFill>
          <a:ln/>
        </p:spPr>
        <p:txBody>
          <a:bodyPr wrap="squar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3599" y="1309390"/>
            <a:ext cx="139005" cy="139005"/>
          </a:xfrm>
          <a:prstGeom prst="rect">
            <a:avLst/>
          </a:prstGeom>
        </p:spPr>
      </p:pic>
      <p:sp>
        <p:nvSpPr>
          <p:cNvPr id="19" name="Text 14"/>
          <p:cNvSpPr/>
          <p:nvPr/>
        </p:nvSpPr>
        <p:spPr>
          <a:xfrm>
            <a:off x="6297067" y="1665238"/>
            <a:ext cx="2470889" cy="179338"/>
          </a:xfrm>
          <a:prstGeom prst="rect">
            <a:avLst/>
          </a:prstGeom>
          <a:noFill/>
          <a:ln/>
        </p:spPr>
        <p:txBody>
          <a:bodyPr wrap="none" lIns="0" tIns="0" rIns="0" bIns="0" rtlCol="0" anchor="t"/>
          <a:lstStyle/>
          <a:p>
            <a:pPr marL="0" indent="0" algn="l">
              <a:lnSpc>
                <a:spcPts val="1412"/>
              </a:lnSpc>
              <a:buNone/>
            </a:pPr>
            <a:r>
              <a:rPr lang="en-US" sz="1130" b="1" dirty="0">
                <a:solidFill>
                  <a:srgbClr val="1B5E72"/>
                </a:solidFill>
                <a:latin typeface="Calibri Light" pitchFamily="34" charset="0"/>
                <a:ea typeface="Calibri Light" pitchFamily="34" charset="-122"/>
                <a:cs typeface="Calibri Light" pitchFamily="34" charset="-120"/>
              </a:rPr>
              <a:t>Two Environments to Know</a:t>
            </a:r>
            <a:endParaRPr lang="en-US" sz="1130" dirty="0"/>
          </a:p>
        </p:txBody>
      </p:sp>
      <p:sp>
        <p:nvSpPr>
          <p:cNvPr id="20" name="Text 15"/>
          <p:cNvSpPr/>
          <p:nvPr/>
        </p:nvSpPr>
        <p:spPr>
          <a:xfrm>
            <a:off x="6297067" y="1944886"/>
            <a:ext cx="2291188" cy="959495"/>
          </a:xfrm>
          <a:prstGeom prst="rect">
            <a:avLst/>
          </a:prstGeom>
          <a:noFill/>
          <a:ln/>
        </p:spPr>
        <p:txBody>
          <a:bodyPr wrap="square" lIns="0" tIns="0" rIns="0" bIns="0" rtlCol="0" anchor="t"/>
          <a:lstStyle/>
          <a:p>
            <a:pPr marL="0" indent="0" algn="l">
              <a:lnSpc>
                <a:spcPts val="1440"/>
              </a:lnSpc>
              <a:buNone/>
            </a:pPr>
            <a:r>
              <a:rPr lang="en-US" sz="730" b="1" dirty="0">
                <a:solidFill>
                  <a:srgbClr val="FFFFFF"/>
                </a:solidFill>
                <a:highlight>
                  <a:srgbClr val="1B5E72"/>
                </a:highlight>
                <a:latin typeface="Calibri" pitchFamily="34" charset="0"/>
                <a:ea typeface="Calibri" pitchFamily="34" charset="-122"/>
                <a:cs typeface="Calibri" pitchFamily="34" charset="-120"/>
              </a:rPr>
              <a:t>LIVE</a:t>
            </a:r>
            <a:r>
              <a:rPr lang="en-US" sz="900" dirty="0">
                <a:solidFill>
                  <a:srgbClr val="2C2C2C"/>
                </a:solidFill>
                <a:latin typeface="Calibri" pitchFamily="34" charset="0"/>
                <a:ea typeface="Calibri" pitchFamily="34" charset="-122"/>
                <a:cs typeface="Calibri" pitchFamily="34" charset="-120"/>
              </a:rPr>
              <a:t> your real clinical workspace. </a:t>
            </a:r>
            <a:r>
              <a:rPr lang="en-US" sz="730" b="1" dirty="0">
                <a:solidFill>
                  <a:srgbClr val="2C2C2C"/>
                </a:solidFill>
                <a:highlight>
                  <a:srgbClr val="FAB753"/>
                </a:highlight>
                <a:latin typeface="Calibri" pitchFamily="34" charset="0"/>
                <a:ea typeface="Calibri" pitchFamily="34" charset="-122"/>
                <a:cs typeface="Calibri" pitchFamily="34" charset="-120"/>
              </a:rPr>
              <a:t>UAT</a:t>
            </a:r>
            <a:r>
              <a:rPr lang="en-US" sz="900" dirty="0">
                <a:solidFill>
                  <a:srgbClr val="2C2C2C"/>
                </a:solidFill>
                <a:latin typeface="Calibri" pitchFamily="34" charset="0"/>
                <a:ea typeface="Calibri" pitchFamily="34" charset="-122"/>
                <a:cs typeface="Calibri" pitchFamily="34" charset="-120"/>
              </a:rPr>
              <a:t> your practice and training sandbox.</a:t>
            </a:r>
            <a:br/>
            <a:r>
              <a:rPr lang="en-US" sz="900" dirty="0">
                <a:solidFill>
                  <a:srgbClr val="2C2C2C"/>
                </a:solidFill>
                <a:latin typeface="Calibri" pitchFamily="34" charset="0"/>
                <a:ea typeface="Calibri" pitchFamily="34" charset="-122"/>
                <a:cs typeface="Calibri" pitchFamily="34" charset="-120"/>
              </a:rPr>
              <a:t> </a:t>
            </a:r>
            <a:r>
              <a:rPr lang="en-US" sz="900" b="1" dirty="0">
                <a:solidFill>
                  <a:srgbClr val="2C2C2C"/>
                </a:solidFill>
                <a:latin typeface="Calibri" pitchFamily="34" charset="0"/>
                <a:ea typeface="Calibri" pitchFamily="34" charset="-122"/>
                <a:cs typeface="Calibri" pitchFamily="34" charset="-120"/>
              </a:rPr>
              <a:t>Never</a:t>
            </a:r>
            <a:r>
              <a:rPr lang="en-US" sz="900" dirty="0">
                <a:solidFill>
                  <a:srgbClr val="2C2C2C"/>
                </a:solidFill>
                <a:latin typeface="Calibri" pitchFamily="34" charset="0"/>
                <a:ea typeface="Calibri" pitchFamily="34" charset="-122"/>
                <a:cs typeface="Calibri" pitchFamily="34" charset="-120"/>
              </a:rPr>
              <a:t> practice in Live. </a:t>
            </a:r>
            <a:r>
              <a:rPr lang="en-US" sz="900" b="1" dirty="0">
                <a:solidFill>
                  <a:srgbClr val="2C2C2C"/>
                </a:solidFill>
                <a:latin typeface="Calibri" pitchFamily="34" charset="0"/>
                <a:ea typeface="Calibri" pitchFamily="34" charset="-122"/>
                <a:cs typeface="Calibri" pitchFamily="34" charset="-120"/>
              </a:rPr>
              <a:t>Never</a:t>
            </a:r>
            <a:r>
              <a:rPr lang="en-US" sz="900" dirty="0">
                <a:solidFill>
                  <a:srgbClr val="2C2C2C"/>
                </a:solidFill>
                <a:latin typeface="Calibri" pitchFamily="34" charset="0"/>
                <a:ea typeface="Calibri" pitchFamily="34" charset="-122"/>
                <a:cs typeface="Calibri" pitchFamily="34" charset="-120"/>
              </a:rPr>
              <a:t> document real sessions in UAT.</a:t>
            </a:r>
            <a:endParaRPr lang="en-US" sz="900" dirty="0"/>
          </a:p>
        </p:txBody>
      </p:sp>
      <p:sp>
        <p:nvSpPr>
          <p:cNvPr id="21" name="Text 16"/>
          <p:cNvSpPr/>
          <p:nvPr/>
        </p:nvSpPr>
        <p:spPr>
          <a:xfrm>
            <a:off x="400050" y="4543723"/>
            <a:ext cx="8343900" cy="399157"/>
          </a:xfrm>
          <a:prstGeom prst="roundRect">
            <a:avLst>
              <a:gd name="adj" fmla="val 14318"/>
            </a:avLst>
          </a:prstGeom>
          <a:solidFill>
            <a:srgbClr val="EAF4F4"/>
          </a:solidFill>
          <a:ln/>
        </p:spPr>
        <p:txBody>
          <a:bodyPr wrap="square" rtlCol="0" anchor="t"/>
          <a:lstStyle/>
          <a:p>
            <a:pPr marL="0" indent="0">
              <a:buNone/>
            </a:pPr>
            <a:endParaRPr lang="en-US" dirty="0"/>
          </a:p>
        </p:txBody>
      </p:sp>
      <p:sp>
        <p:nvSpPr>
          <p:cNvPr id="22" name="Text 17"/>
          <p:cNvSpPr/>
          <p:nvPr/>
        </p:nvSpPr>
        <p:spPr>
          <a:xfrm>
            <a:off x="400050" y="4543723"/>
            <a:ext cx="38100" cy="399157"/>
          </a:xfrm>
          <a:custGeom>
            <a:avLst/>
            <a:gdLst/>
            <a:ahLst/>
            <a:cxnLst/>
            <a:rect l="l" t="t" r="r" b="b"/>
            <a:pathLst>
              <a:path w="38100" h="399157">
                <a:moveTo>
                  <a:pt x="0" y="57150"/>
                </a:moveTo>
                <a:lnTo>
                  <a:pt x="4763" y="34310"/>
                </a:lnTo>
                <a:lnTo>
                  <a:pt x="9525" y="25559"/>
                </a:lnTo>
                <a:lnTo>
                  <a:pt x="14288" y="19349"/>
                </a:lnTo>
                <a:lnTo>
                  <a:pt x="19050" y="14553"/>
                </a:lnTo>
                <a:lnTo>
                  <a:pt x="23813" y="10731"/>
                </a:lnTo>
                <a:lnTo>
                  <a:pt x="28575" y="7657"/>
                </a:lnTo>
                <a:lnTo>
                  <a:pt x="33338" y="5197"/>
                </a:lnTo>
                <a:lnTo>
                  <a:pt x="38100" y="3268"/>
                </a:lnTo>
                <a:lnTo>
                  <a:pt x="38100" y="395889"/>
                </a:lnTo>
                <a:lnTo>
                  <a:pt x="33338" y="393960"/>
                </a:lnTo>
                <a:lnTo>
                  <a:pt x="28575" y="391500"/>
                </a:lnTo>
                <a:lnTo>
                  <a:pt x="23813" y="388426"/>
                </a:lnTo>
                <a:lnTo>
                  <a:pt x="19050" y="384604"/>
                </a:lnTo>
                <a:lnTo>
                  <a:pt x="14288" y="379808"/>
                </a:lnTo>
                <a:lnTo>
                  <a:pt x="9525" y="373598"/>
                </a:lnTo>
                <a:lnTo>
                  <a:pt x="4763" y="364847"/>
                </a:lnTo>
                <a:lnTo>
                  <a:pt x="0" y="342007"/>
                </a:lnTo>
                <a:close/>
              </a:path>
            </a:pathLst>
          </a:custGeom>
          <a:solidFill>
            <a:srgbClr val="FAB753"/>
          </a:solidFill>
          <a:ln/>
        </p:spPr>
        <p:txBody>
          <a:bodyPr wrap="squar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44886" y="4673798"/>
            <a:ext cx="139005" cy="139005"/>
          </a:xfrm>
          <a:prstGeom prst="rect">
            <a:avLst/>
          </a:prstGeom>
        </p:spPr>
      </p:pic>
      <p:sp>
        <p:nvSpPr>
          <p:cNvPr id="24" name="Text 18"/>
          <p:cNvSpPr/>
          <p:nvPr/>
        </p:nvSpPr>
        <p:spPr>
          <a:xfrm>
            <a:off x="1931558" y="4658023"/>
            <a:ext cx="5558150" cy="170557"/>
          </a:xfrm>
          <a:prstGeom prst="rect">
            <a:avLst/>
          </a:prstGeom>
          <a:noFill/>
          <a:ln/>
        </p:spPr>
        <p:txBody>
          <a:bodyPr wrap="none" lIns="0" tIns="0" rIns="0" bIns="0" rtlCol="0" anchor="ctr"/>
          <a:lstStyle/>
          <a:p>
            <a:pPr marL="0" indent="0" algn="ctr">
              <a:lnSpc>
                <a:spcPts val="1344"/>
              </a:lnSpc>
              <a:buNone/>
            </a:pPr>
            <a:r>
              <a:rPr lang="en-US" sz="960" b="1" dirty="0">
                <a:solidFill>
                  <a:srgbClr val="2C2C2C"/>
                </a:solidFill>
                <a:latin typeface="Calibri" pitchFamily="34" charset="0"/>
                <a:ea typeface="Calibri" pitchFamily="34" charset="-122"/>
                <a:cs typeface="Calibri" pitchFamily="34" charset="-120"/>
              </a:rPr>
              <a:t>UAT is your safety net. Use it often — especially when you are learning something new.</a:t>
            </a:r>
            <a:endParaRPr lang="en-US" sz="9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55A49C">
                  <a:alpha val="18000"/>
                </a:srgbClr>
              </a:gs>
              <a:gs pos="55000">
                <a:srgbClr val="000000">
                  <a:alpha val="0"/>
                </a:srgbClr>
              </a:gs>
            </a:gsLst>
            <a:path path="circle">
              <a:fillToRect l="90000" t="80000" r="10000" b="2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FAB753">
                  <a:alpha val="7000"/>
                </a:srgbClr>
              </a:gs>
              <a:gs pos="50000">
                <a:srgbClr val="000000">
                  <a:alpha val="0"/>
                </a:srgbClr>
              </a:gs>
            </a:gsLst>
            <a:path path="circle">
              <a:fillToRect l="10000" t="20000" r="90000" b="80000"/>
            </a:path>
          </a:gradFill>
          <a:ln/>
        </p:spPr>
        <p:txBody>
          <a:bodyPr wrap="square" rtlCol="0" anchor="t"/>
          <a:lstStyle/>
          <a:p>
            <a:pPr marL="0" indent="0">
              <a:buNone/>
            </a:pPr>
            <a:endParaRPr lang="en-US" dirty="0"/>
          </a:p>
        </p:txBody>
      </p:sp>
      <p:sp>
        <p:nvSpPr>
          <p:cNvPr id="4" name="Text 2"/>
          <p:cNvSpPr/>
          <p:nvPr/>
        </p:nvSpPr>
        <p:spPr>
          <a:xfrm>
            <a:off x="0" y="0"/>
            <a:ext cx="9144000" cy="5143500"/>
          </a:xfrm>
          <a:prstGeom prst="rect">
            <a:avLst/>
          </a:prstGeom>
          <a:gradFill rotWithShape="1">
            <a:gsLst>
              <a:gs pos="0">
                <a:srgbClr val="FFFFFF">
                  <a:alpha val="4000"/>
                </a:srgbClr>
              </a:gs>
              <a:gs pos="40000">
                <a:srgbClr val="000000">
                  <a:alpha val="0"/>
                </a:srgbClr>
              </a:gs>
            </a:gsLst>
            <a:path path="circle">
              <a:fillToRect l="20000" t="90000" r="80000" b="10000"/>
            </a:path>
          </a:gradFill>
          <a:ln/>
        </p:spPr>
        <p:txBody>
          <a:bodyPr wrap="square" rtlCol="0" anchor="t"/>
          <a:lstStyle/>
          <a:p>
            <a:pPr marL="0" indent="0">
              <a:buNone/>
            </a:pPr>
            <a:endParaRPr lang="en-US" dirty="0"/>
          </a:p>
        </p:txBody>
      </p:sp>
      <p:sp>
        <p:nvSpPr>
          <p:cNvPr id="5" name="Text 3"/>
          <p:cNvSpPr/>
          <p:nvPr/>
        </p:nvSpPr>
        <p:spPr>
          <a:xfrm>
            <a:off x="0" y="0"/>
            <a:ext cx="9144000" cy="29170"/>
          </a:xfrm>
          <a:prstGeom prst="rect">
            <a:avLst/>
          </a:prstGeom>
          <a:gradFill rotWithShape="1">
            <a:gsLst>
              <a:gs pos="0">
                <a:srgbClr val="FAB753"/>
              </a:gs>
              <a:gs pos="60000">
                <a:srgbClr val="F7C96A"/>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0" y="5121920"/>
            <a:ext cx="9144000" cy="21580"/>
          </a:xfrm>
          <a:prstGeom prst="rect">
            <a:avLst/>
          </a:prstGeom>
          <a:gradFill rotWithShape="1">
            <a:gsLst>
              <a:gs pos="0">
                <a:srgbClr val="000000">
                  <a:alpha val="0"/>
                </a:srgbClr>
              </a:gs>
              <a:gs pos="50000">
                <a:srgbClr val="FAB753">
                  <a:alpha val="40000"/>
                </a:srgbClr>
              </a:gs>
              <a:gs pos="100000">
                <a:srgbClr val="000000">
                  <a:alpha val="0"/>
                </a:srgbClr>
              </a:gs>
            </a:gsLst>
            <a:lin ang="0" scaled="1"/>
          </a:gradFill>
          <a:ln/>
        </p:spPr>
        <p:txBody>
          <a:bodyPr wrap="none" rtlCol="0" anchor="t"/>
          <a:lstStyle/>
          <a:p>
            <a:pPr marL="0" indent="0">
              <a:buNone/>
            </a:pPr>
            <a:endParaRPr lang="en-US" dirty="0"/>
          </a:p>
        </p:txBody>
      </p:sp>
      <p:pic>
        <p:nvPicPr>
          <p:cNvPr id="7" name="Image 0" descr="preencoded.png"/>
          <p:cNvPicPr>
            <a:picLocks noChangeAspect="1"/>
          </p:cNvPicPr>
          <p:nvPr/>
        </p:nvPicPr>
        <p:blipFill>
          <a:blip>
            <a:alphaModFix amt="5000"/>
            <a:extLst>
              <a:ext uri="{96DAC541-7B7A-43D3-8B79-37D633B846F1}">
                <asvg:svgBlip xmlns:asvg="http://schemas.microsoft.com/office/drawing/2016/SVG/main" r:embed="rId3"/>
              </a:ext>
            </a:extLst>
          </a:blip>
          <a:stretch>
            <a:fillRect/>
          </a:stretch>
        </p:blipFill>
        <p:spPr>
          <a:xfrm>
            <a:off x="7571780" y="0"/>
            <a:ext cx="1179165" cy="1179165"/>
          </a:xfrm>
          <a:prstGeom prst="rect">
            <a:avLst/>
          </a:prstGeom>
        </p:spPr>
      </p:pic>
      <p:pic>
        <p:nvPicPr>
          <p:cNvPr id="8" name="Image 1" descr="preencoded.png"/>
          <p:cNvPicPr>
            <a:picLocks noChangeAspect="1"/>
          </p:cNvPicPr>
          <p:nvPr/>
        </p:nvPicPr>
        <p:blipFill>
          <a:blip>
            <a:alphaModFix amt="5000"/>
            <a:extLst>
              <a:ext uri="{96DAC541-7B7A-43D3-8B79-37D633B846F1}">
                <asvg:svgBlip xmlns:asvg="http://schemas.microsoft.com/office/drawing/2016/SVG/main" r:embed="rId4"/>
              </a:ext>
            </a:extLst>
          </a:blip>
          <a:stretch>
            <a:fillRect/>
          </a:stretch>
        </p:blipFill>
        <p:spPr>
          <a:xfrm>
            <a:off x="0" y="4000500"/>
            <a:ext cx="857250" cy="857250"/>
          </a:xfrm>
          <a:prstGeom prst="rect">
            <a:avLst/>
          </a:prstGeom>
        </p:spPr>
      </p:pic>
      <p:sp>
        <p:nvSpPr>
          <p:cNvPr id="9" name="Text 5"/>
          <p:cNvSpPr/>
          <p:nvPr/>
        </p:nvSpPr>
        <p:spPr>
          <a:xfrm>
            <a:off x="1567180" y="2984599"/>
            <a:ext cx="35421" cy="720180"/>
          </a:xfrm>
          <a:custGeom>
            <a:avLst/>
            <a:gdLst/>
            <a:ahLst/>
            <a:cxnLst/>
            <a:rect l="l" t="t" r="r" b="b"/>
            <a:pathLst>
              <a:path w="35421" h="720180">
                <a:moveTo>
                  <a:pt x="0" y="0"/>
                </a:moveTo>
                <a:lnTo>
                  <a:pt x="13831" y="0"/>
                </a:lnTo>
                <a:lnTo>
                  <a:pt x="13831" y="0"/>
                </a:lnTo>
                <a:lnTo>
                  <a:pt x="18043" y="415"/>
                </a:lnTo>
                <a:lnTo>
                  <a:pt x="22093" y="1643"/>
                </a:lnTo>
                <a:lnTo>
                  <a:pt x="25826" y="3639"/>
                </a:lnTo>
                <a:lnTo>
                  <a:pt x="29098" y="6324"/>
                </a:lnTo>
                <a:lnTo>
                  <a:pt x="31783" y="9595"/>
                </a:lnTo>
                <a:lnTo>
                  <a:pt x="33778" y="13328"/>
                </a:lnTo>
                <a:lnTo>
                  <a:pt x="35006" y="17378"/>
                </a:lnTo>
                <a:lnTo>
                  <a:pt x="35421" y="21590"/>
                </a:lnTo>
                <a:lnTo>
                  <a:pt x="35421" y="698590"/>
                </a:lnTo>
                <a:lnTo>
                  <a:pt x="35421" y="698590"/>
                </a:lnTo>
                <a:lnTo>
                  <a:pt x="35006" y="702802"/>
                </a:lnTo>
                <a:lnTo>
                  <a:pt x="33778" y="706852"/>
                </a:lnTo>
                <a:lnTo>
                  <a:pt x="31783" y="710584"/>
                </a:lnTo>
                <a:lnTo>
                  <a:pt x="29098" y="713856"/>
                </a:lnTo>
                <a:lnTo>
                  <a:pt x="25826" y="716541"/>
                </a:lnTo>
                <a:lnTo>
                  <a:pt x="22093" y="718536"/>
                </a:lnTo>
                <a:lnTo>
                  <a:pt x="18043" y="719765"/>
                </a:lnTo>
                <a:lnTo>
                  <a:pt x="13831" y="720180"/>
                </a:lnTo>
                <a:lnTo>
                  <a:pt x="0" y="720180"/>
                </a:lnTo>
                <a:close/>
              </a:path>
            </a:pathLst>
          </a:custGeom>
          <a:solidFill>
            <a:srgbClr val="FAB753"/>
          </a:solidFill>
          <a:ln/>
        </p:spPr>
        <p:txBody>
          <a:bodyPr wrap="square" rtlCol="0" anchor="t"/>
          <a:lstStyle/>
          <a:p>
            <a:pPr marL="0" indent="0">
              <a:buNone/>
            </a:pPr>
            <a:endParaRPr lang="en-US" dirty="0"/>
          </a:p>
        </p:txBody>
      </p:sp>
      <p:sp>
        <p:nvSpPr>
          <p:cNvPr id="10" name="Text 6"/>
          <p:cNvSpPr/>
          <p:nvPr/>
        </p:nvSpPr>
        <p:spPr>
          <a:xfrm>
            <a:off x="3815953" y="997297"/>
            <a:ext cx="1511945" cy="228898"/>
          </a:xfrm>
          <a:prstGeom prst="roundRect">
            <a:avLst>
              <a:gd name="adj" fmla="val 62696"/>
            </a:avLst>
          </a:prstGeom>
          <a:solidFill>
            <a:srgbClr val="FAB753">
              <a:alpha val="15000"/>
            </a:srgbClr>
          </a:solidFill>
          <a:ln w="9525">
            <a:solidFill>
              <a:srgbClr val="FAB753">
                <a:alpha val="50000"/>
              </a:srgbClr>
            </a:solidFill>
          </a:ln>
        </p:spPr>
        <p:txBody>
          <a:bodyPr wrap="none" rtlCol="0" anchor="t"/>
          <a:lstStyle/>
          <a:p>
            <a:pPr marL="0" indent="0">
              <a:buNone/>
            </a:pPr>
            <a:endParaRPr lang="en-US" dirty="0"/>
          </a:p>
        </p:txBody>
      </p:sp>
      <p:sp>
        <p:nvSpPr>
          <p:cNvPr id="11" name="Text 7"/>
          <p:cNvSpPr/>
          <p:nvPr/>
        </p:nvSpPr>
        <p:spPr>
          <a:xfrm>
            <a:off x="3953619" y="1042243"/>
            <a:ext cx="428104"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pitchFamily="34" charset="0"/>
                <a:ea typeface="Calibri" pitchFamily="34" charset="-122"/>
                <a:cs typeface="Calibri" pitchFamily="34" charset="-120"/>
              </a:rPr>
              <a:t>PART 1</a:t>
            </a:r>
            <a:endParaRPr lang="en-US" sz="730" dirty="0"/>
          </a:p>
        </p:txBody>
      </p:sp>
      <p:sp>
        <p:nvSpPr>
          <p:cNvPr id="12" name="Text 8"/>
          <p:cNvSpPr/>
          <p:nvPr/>
        </p:nvSpPr>
        <p:spPr>
          <a:xfrm>
            <a:off x="4399955" y="1094036"/>
            <a:ext cx="35421" cy="35421"/>
          </a:xfrm>
          <a:prstGeom prst="ellipse">
            <a:avLst/>
          </a:prstGeom>
          <a:solidFill>
            <a:srgbClr val="FAB753">
              <a:alpha val="70000"/>
            </a:srgbClr>
          </a:solidFill>
          <a:ln/>
        </p:spPr>
        <p:txBody>
          <a:bodyPr wrap="none" rtlCol="0" anchor="t"/>
          <a:lstStyle/>
          <a:p>
            <a:pPr marL="0" indent="0">
              <a:buNone/>
            </a:pPr>
            <a:endParaRPr lang="en-US" dirty="0"/>
          </a:p>
        </p:txBody>
      </p:sp>
      <p:sp>
        <p:nvSpPr>
          <p:cNvPr id="13" name="Text 9"/>
          <p:cNvSpPr/>
          <p:nvPr/>
        </p:nvSpPr>
        <p:spPr>
          <a:xfrm>
            <a:off x="4492526" y="1042243"/>
            <a:ext cx="767477"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pitchFamily="34" charset="0"/>
                <a:ea typeface="Calibri" pitchFamily="34" charset="-122"/>
                <a:cs typeface="Calibri" pitchFamily="34" charset="-120"/>
              </a:rPr>
              <a:t>ADMISSIONS</a:t>
            </a:r>
            <a:endParaRPr lang="en-US" sz="730" dirty="0"/>
          </a:p>
        </p:txBody>
      </p:sp>
      <p:sp>
        <p:nvSpPr>
          <p:cNvPr id="14" name="Text 10"/>
          <p:cNvSpPr/>
          <p:nvPr/>
        </p:nvSpPr>
        <p:spPr>
          <a:xfrm>
            <a:off x="1023904" y="1426815"/>
            <a:ext cx="7096043" cy="455414"/>
          </a:xfrm>
          <a:prstGeom prst="rect">
            <a:avLst/>
          </a:prstGeom>
          <a:noFill/>
          <a:ln/>
        </p:spPr>
        <p:txBody>
          <a:bodyPr wrap="none" lIns="0" tIns="0" rIns="0" bIns="0" rtlCol="0" anchor="t"/>
          <a:lstStyle/>
          <a:p>
            <a:pPr marL="0" indent="0" algn="ctr">
              <a:lnSpc>
                <a:spcPts val="3586"/>
              </a:lnSpc>
              <a:spcAft>
                <a:spcPts val="1240"/>
              </a:spcAft>
              <a:buNone/>
            </a:pPr>
            <a:r>
              <a:rPr lang="en-US" sz="3260" kern="0" spc="-33" dirty="0">
                <a:solidFill>
                  <a:srgbClr val="FFFFFF"/>
                </a:solidFill>
                <a:latin typeface="Calibri Light" pitchFamily="34" charset="0"/>
                <a:ea typeface="Calibri Light" pitchFamily="34" charset="-122"/>
                <a:cs typeface="Calibri Light" pitchFamily="34" charset="-120"/>
              </a:rPr>
              <a:t>Use the </a:t>
            </a:r>
            <a:r>
              <a:rPr lang="en-US" sz="3260" b="1" kern="0" spc="-33" dirty="0">
                <a:solidFill>
                  <a:srgbClr val="FAB753"/>
                </a:solidFill>
                <a:latin typeface="Calibri Light" pitchFamily="34" charset="0"/>
                <a:ea typeface="Calibri Light" pitchFamily="34" charset="-122"/>
                <a:cs typeface="Calibri Light" pitchFamily="34" charset="-120"/>
              </a:rPr>
              <a:t>Bundle.</a:t>
            </a:r>
            <a:r>
              <a:rPr lang="en-US" sz="3260" kern="0" spc="-33" dirty="0">
                <a:solidFill>
                  <a:srgbClr val="FFFFFF"/>
                </a:solidFill>
                <a:latin typeface="Calibri Light" pitchFamily="34" charset="0"/>
                <a:ea typeface="Calibri Light" pitchFamily="34" charset="-122"/>
                <a:cs typeface="Calibri Light" pitchFamily="34" charset="-120"/>
              </a:rPr>
              <a:t> Not Just the Form.</a:t>
            </a:r>
            <a:endParaRPr lang="en-US" sz="3260" dirty="0"/>
          </a:p>
        </p:txBody>
      </p:sp>
      <p:sp>
        <p:nvSpPr>
          <p:cNvPr id="15" name="Text 11"/>
          <p:cNvSpPr/>
          <p:nvPr/>
        </p:nvSpPr>
        <p:spPr>
          <a:xfrm>
            <a:off x="4357390" y="2039689"/>
            <a:ext cx="429220" cy="13841"/>
          </a:xfrm>
          <a:prstGeom prst="rect">
            <a:avLst/>
          </a:prstGeom>
          <a:gradFill rotWithShape="1">
            <a:gsLst>
              <a:gs pos="0">
                <a:srgbClr val="FAB753"/>
              </a:gs>
              <a:gs pos="100000">
                <a:srgbClr val="000000">
                  <a:alpha val="0"/>
                </a:srgbClr>
              </a:gs>
            </a:gsLst>
            <a:lin ang="0" scaled="1"/>
          </a:gradFill>
          <a:ln/>
        </p:spPr>
        <p:txBody>
          <a:bodyPr wrap="none" rtlCol="0" anchor="t"/>
          <a:lstStyle/>
          <a:p>
            <a:pPr marL="0" indent="0">
              <a:buNone/>
            </a:pPr>
            <a:endParaRPr lang="en-US" dirty="0"/>
          </a:p>
        </p:txBody>
      </p:sp>
      <p:sp>
        <p:nvSpPr>
          <p:cNvPr id="16" name="Text 12"/>
          <p:cNvSpPr/>
          <p:nvPr/>
        </p:nvSpPr>
        <p:spPr>
          <a:xfrm>
            <a:off x="1584180" y="2210991"/>
            <a:ext cx="5975640" cy="442243"/>
          </a:xfrm>
          <a:prstGeom prst="rect">
            <a:avLst/>
          </a:prstGeom>
          <a:noFill/>
          <a:ln/>
        </p:spPr>
        <p:txBody>
          <a:bodyPr wrap="square" lIns="0" tIns="0" rIns="0" bIns="0" rtlCol="0" anchor="t"/>
          <a:lstStyle/>
          <a:p>
            <a:pPr marL="0" indent="0" algn="ctr">
              <a:lnSpc>
                <a:spcPts val="1658"/>
              </a:lnSpc>
              <a:spcAft>
                <a:spcPts val="1800"/>
              </a:spcAft>
              <a:buNone/>
            </a:pPr>
            <a:r>
              <a:rPr lang="en-US" sz="1070" dirty="0">
                <a:solidFill>
                  <a:srgbClr val="FFFFFF">
                    <a:alpha val="88000"/>
                  </a:srgbClr>
                </a:solidFill>
                <a:latin typeface="Calibri" pitchFamily="34" charset="0"/>
                <a:ea typeface="Calibri" pitchFamily="34" charset="-122"/>
                <a:cs typeface="Calibri" pitchFamily="34" charset="-120"/>
              </a:rPr>
              <a:t>The Admission Bundle is a collection of forms used when opening a new client episode in Avatar. It includes everything needed to open the episode correctly — not just the Admission form alone.</a:t>
            </a:r>
            <a:endParaRPr lang="en-US" sz="1070" dirty="0"/>
          </a:p>
        </p:txBody>
      </p:sp>
      <p:sp>
        <p:nvSpPr>
          <p:cNvPr id="17" name="Text 13"/>
          <p:cNvSpPr/>
          <p:nvPr/>
        </p:nvSpPr>
        <p:spPr>
          <a:xfrm>
            <a:off x="1571625" y="2860774"/>
            <a:ext cx="6000750" cy="967829"/>
          </a:xfrm>
          <a:prstGeom prst="roundRect">
            <a:avLst>
              <a:gd name="adj" fmla="val 8923"/>
            </a:avLst>
          </a:prstGeom>
          <a:solidFill>
            <a:srgbClr val="EAF4F4"/>
          </a:solidFill>
          <a:ln w="9525">
            <a:solidFill>
              <a:srgbClr val="55A49C"/>
            </a:solidFill>
          </a:ln>
        </p:spPr>
        <p:txBody>
          <a:bodyPr wrap="square" rtlCol="0" anchor="t"/>
          <a:lstStyle/>
          <a:p>
            <a:pPr marL="0" indent="0">
              <a:buNone/>
            </a:pPr>
            <a:endParaRPr lang="en-US" dirty="0"/>
          </a:p>
        </p:txBody>
      </p:sp>
      <p:sp>
        <p:nvSpPr>
          <p:cNvPr id="18" name="Text 14"/>
          <p:cNvSpPr/>
          <p:nvPr/>
        </p:nvSpPr>
        <p:spPr>
          <a:xfrm>
            <a:off x="1866900" y="3069431"/>
            <a:ext cx="271760" cy="271760"/>
          </a:xfrm>
          <a:prstGeom prst="roundRect">
            <a:avLst>
              <a:gd name="adj" fmla="val 21030"/>
            </a:avLst>
          </a:prstGeom>
          <a:solidFill>
            <a:srgbClr val="FAB753">
              <a:alpha val="15000"/>
            </a:srgbClr>
          </a:solidFill>
          <a:ln/>
        </p:spPr>
        <p:txBody>
          <a:bodyPr wrap="none" rtlCol="0" anchor="t"/>
          <a:lstStyle/>
          <a:p>
            <a:pPr marL="0" indent="0">
              <a:buNone/>
            </a:pPr>
            <a:endParaRPr lang="en-US"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36412" y="3138943"/>
            <a:ext cx="132588" cy="132588"/>
          </a:xfrm>
          <a:prstGeom prst="rect">
            <a:avLst/>
          </a:prstGeom>
        </p:spPr>
      </p:pic>
      <p:sp>
        <p:nvSpPr>
          <p:cNvPr id="20" name="Text 15"/>
          <p:cNvSpPr/>
          <p:nvPr/>
        </p:nvSpPr>
        <p:spPr>
          <a:xfrm>
            <a:off x="2266801" y="3055590"/>
            <a:ext cx="5110505" cy="607107"/>
          </a:xfrm>
          <a:prstGeom prst="rect">
            <a:avLst/>
          </a:prstGeom>
          <a:noFill/>
          <a:ln/>
        </p:spPr>
        <p:txBody>
          <a:bodyPr wrap="square" lIns="0" tIns="0" rIns="0" bIns="0" rtlCol="0" anchor="t"/>
          <a:lstStyle/>
          <a:p>
            <a:pPr marL="0" indent="0" algn="l">
              <a:lnSpc>
                <a:spcPts val="1519"/>
              </a:lnSpc>
              <a:buNone/>
            </a:pPr>
            <a:r>
              <a:rPr lang="en-US" sz="980" b="1" dirty="0">
                <a:solidFill>
                  <a:srgbClr val="2C2C2C"/>
                </a:solidFill>
                <a:latin typeface="Calibri" pitchFamily="34" charset="0"/>
                <a:ea typeface="Calibri" pitchFamily="34" charset="-122"/>
                <a:cs typeface="Calibri" pitchFamily="34" charset="-120"/>
              </a:rPr>
              <a:t>If you accidentally choose only the Admission form instead of the Admission Bundle, you will need to open each remaining form separately. This creates extra steps and increases the chance of missing something required.</a:t>
            </a:r>
            <a:endParaRPr lang="en-US" sz="980" dirty="0"/>
          </a:p>
        </p:txBody>
      </p:sp>
      <p:sp>
        <p:nvSpPr>
          <p:cNvPr id="21" name="Text 16"/>
          <p:cNvSpPr/>
          <p:nvPr/>
        </p:nvSpPr>
        <p:spPr>
          <a:xfrm>
            <a:off x="3227606" y="4043214"/>
            <a:ext cx="2688788" cy="159990"/>
          </a:xfrm>
          <a:prstGeom prst="rect">
            <a:avLst/>
          </a:prstGeom>
          <a:noFill/>
          <a:ln/>
        </p:spPr>
        <p:txBody>
          <a:bodyPr wrap="none" lIns="0" tIns="0" rIns="0" bIns="0" rtlCol="0" anchor="t"/>
          <a:lstStyle/>
          <a:p>
            <a:pPr marL="0" indent="0" algn="ctr">
              <a:lnSpc>
                <a:spcPts val="1260"/>
              </a:lnSpc>
              <a:buNone/>
            </a:pPr>
            <a:r>
              <a:rPr lang="en-US" sz="840" i="1" kern="0" spc="17" dirty="0">
                <a:solidFill>
                  <a:srgbClr val="FAB753">
                    <a:alpha val="90000"/>
                  </a:srgbClr>
                </a:solidFill>
                <a:latin typeface="Calibri" pitchFamily="34" charset="0"/>
                <a:ea typeface="Calibri" pitchFamily="34" charset="-122"/>
                <a:cs typeface="Calibri" pitchFamily="34" charset="-120"/>
              </a:rPr>
              <a:t>The bundle exists for a reason. Trust the process.</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214858" cy="487174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28600" y="1255812"/>
            <a:ext cx="1933426"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PART 1 · ADMISSIONS</a:t>
            </a:r>
            <a:endParaRPr lang="en-US" sz="620" dirty="0"/>
          </a:p>
        </p:txBody>
      </p:sp>
      <p:sp>
        <p:nvSpPr>
          <p:cNvPr id="4" name="Text 2"/>
          <p:cNvSpPr/>
          <p:nvPr/>
        </p:nvSpPr>
        <p:spPr>
          <a:xfrm>
            <a:off x="228600" y="1501973"/>
            <a:ext cx="1792813" cy="540693"/>
          </a:xfrm>
          <a:prstGeom prst="rect">
            <a:avLst/>
          </a:prstGeom>
          <a:noFill/>
          <a:ln/>
        </p:spPr>
        <p:txBody>
          <a:bodyPr wrap="square" lIns="0" tIns="0" rIns="0" bIns="0" rtlCol="0" anchor="t"/>
          <a:lstStyle/>
          <a:p>
            <a:pPr marL="0" indent="0" algn="l">
              <a:lnSpc>
                <a:spcPts val="2028"/>
              </a:lnSpc>
              <a:buNone/>
            </a:pPr>
            <a:r>
              <a:rPr lang="en-US" sz="1690" b="1" dirty="0">
                <a:solidFill>
                  <a:srgbClr val="FFFFFF"/>
                </a:solidFill>
                <a:latin typeface="Calibri Light" pitchFamily="34" charset="0"/>
                <a:ea typeface="Calibri Light" pitchFamily="34" charset="-122"/>
                <a:cs typeface="Calibri Light" pitchFamily="34" charset="-120"/>
              </a:rPr>
              <a:t>What the Bundle Includes</a:t>
            </a:r>
            <a:endParaRPr lang="en-US" sz="1690" dirty="0"/>
          </a:p>
        </p:txBody>
      </p:sp>
      <p:sp>
        <p:nvSpPr>
          <p:cNvPr id="5" name="Text 3"/>
          <p:cNvSpPr/>
          <p:nvPr/>
        </p:nvSpPr>
        <p:spPr>
          <a:xfrm>
            <a:off x="228600" y="2131219"/>
            <a:ext cx="1792813" cy="315977"/>
          </a:xfrm>
          <a:prstGeom prst="rect">
            <a:avLst/>
          </a:prstGeom>
          <a:noFill/>
          <a:ln/>
        </p:spPr>
        <p:txBody>
          <a:bodyPr wrap="square" lIns="0" tIns="0" rIns="0" bIns="0" rtlCol="0" anchor="t"/>
          <a:lstStyle/>
          <a:p>
            <a:pPr marL="0" indent="0" algn="l">
              <a:lnSpc>
                <a:spcPts val="1185"/>
              </a:lnSpc>
              <a:buNone/>
            </a:pPr>
            <a:r>
              <a:rPr lang="en-US" sz="790" dirty="0">
                <a:solidFill>
                  <a:srgbClr val="FFFFFF">
                    <a:alpha val="72000"/>
                  </a:srgbClr>
                </a:solidFill>
                <a:latin typeface="Calibri" pitchFamily="34" charset="0"/>
                <a:ea typeface="Calibri" pitchFamily="34" charset="-122"/>
                <a:cs typeface="Calibri" pitchFamily="34" charset="-120"/>
              </a:rPr>
              <a:t>Complete every form in order. Do not skip steps.</a:t>
            </a:r>
            <a:endParaRPr lang="en-US" sz="790" dirty="0"/>
          </a:p>
        </p:txBody>
      </p:sp>
      <p:sp>
        <p:nvSpPr>
          <p:cNvPr id="6" name="Text 4"/>
          <p:cNvSpPr/>
          <p:nvPr/>
        </p:nvSpPr>
        <p:spPr>
          <a:xfrm>
            <a:off x="228600" y="2684264"/>
            <a:ext cx="70991" cy="70991"/>
          </a:xfrm>
          <a:prstGeom prst="ellipse">
            <a:avLst/>
          </a:prstGeom>
          <a:solidFill>
            <a:srgbClr val="FAB753"/>
          </a:solidFill>
          <a:ln/>
        </p:spPr>
        <p:txBody>
          <a:bodyPr wrap="none" rtlCol="0" anchor="t"/>
          <a:lstStyle/>
          <a:p>
            <a:pPr marL="0" indent="0">
              <a:buNone/>
            </a:pPr>
            <a:endParaRPr lang="en-US" dirty="0"/>
          </a:p>
        </p:txBody>
      </p:sp>
      <p:sp>
        <p:nvSpPr>
          <p:cNvPr id="7" name="Text 5"/>
          <p:cNvSpPr/>
          <p:nvPr/>
        </p:nvSpPr>
        <p:spPr>
          <a:xfrm>
            <a:off x="356741" y="2660749"/>
            <a:ext cx="442020" cy="118021"/>
          </a:xfrm>
          <a:prstGeom prst="rect">
            <a:avLst/>
          </a:prstGeom>
          <a:noFill/>
          <a:ln/>
        </p:spPr>
        <p:txBody>
          <a:bodyPr wrap="none" lIns="0" tIns="0" rIns="0" bIns="0" rtlCol="0" anchor="ctr"/>
          <a:lstStyle/>
          <a:p>
            <a:pPr marL="0" indent="0" algn="l">
              <a:lnSpc>
                <a:spcPts val="930"/>
              </a:lnSpc>
              <a:buNone/>
            </a:pPr>
            <a:r>
              <a:rPr lang="en-US" sz="620" b="1" dirty="0">
                <a:solidFill>
                  <a:srgbClr val="FFFFFF">
                    <a:alpha val="85000"/>
                  </a:srgbClr>
                </a:solidFill>
                <a:latin typeface="Calibri" pitchFamily="34" charset="0"/>
                <a:ea typeface="Calibri" pitchFamily="34" charset="-122"/>
                <a:cs typeface="Calibri" pitchFamily="34" charset="-120"/>
              </a:rPr>
              <a:t>Admission</a:t>
            </a:r>
            <a:endParaRPr lang="en-US" sz="620" dirty="0"/>
          </a:p>
        </p:txBody>
      </p:sp>
      <p:sp>
        <p:nvSpPr>
          <p:cNvPr id="8" name="Text 6"/>
          <p:cNvSpPr/>
          <p:nvPr/>
        </p:nvSpPr>
        <p:spPr>
          <a:xfrm>
            <a:off x="228600" y="2851696"/>
            <a:ext cx="70991" cy="70991"/>
          </a:xfrm>
          <a:prstGeom prst="ellipse">
            <a:avLst/>
          </a:prstGeom>
          <a:solidFill>
            <a:srgbClr val="FAB753"/>
          </a:solidFill>
          <a:ln/>
        </p:spPr>
        <p:txBody>
          <a:bodyPr wrap="none" rtlCol="0" anchor="t"/>
          <a:lstStyle/>
          <a:p>
            <a:pPr marL="0" indent="0">
              <a:buNone/>
            </a:pPr>
            <a:endParaRPr lang="en-US" dirty="0"/>
          </a:p>
        </p:txBody>
      </p:sp>
      <p:sp>
        <p:nvSpPr>
          <p:cNvPr id="9" name="Text 7"/>
          <p:cNvSpPr/>
          <p:nvPr/>
        </p:nvSpPr>
        <p:spPr>
          <a:xfrm>
            <a:off x="356741" y="2828181"/>
            <a:ext cx="854899" cy="118021"/>
          </a:xfrm>
          <a:prstGeom prst="rect">
            <a:avLst/>
          </a:prstGeom>
          <a:noFill/>
          <a:ln/>
        </p:spPr>
        <p:txBody>
          <a:bodyPr wrap="none" lIns="0" tIns="0" rIns="0" bIns="0" rtlCol="0" anchor="ctr"/>
          <a:lstStyle/>
          <a:p>
            <a:pPr marL="0" indent="0" algn="l">
              <a:lnSpc>
                <a:spcPts val="930"/>
              </a:lnSpc>
              <a:buNone/>
            </a:pPr>
            <a:r>
              <a:rPr lang="en-US" sz="620" b="1" dirty="0">
                <a:solidFill>
                  <a:srgbClr val="FFFFFF">
                    <a:alpha val="85000"/>
                  </a:srgbClr>
                </a:solidFill>
                <a:latin typeface="Calibri" pitchFamily="34" charset="0"/>
                <a:ea typeface="Calibri" pitchFamily="34" charset="-122"/>
                <a:cs typeface="Calibri" pitchFamily="34" charset="-120"/>
              </a:rPr>
              <a:t>Parent/Guardian Info</a:t>
            </a:r>
            <a:endParaRPr lang="en-US" sz="620" dirty="0"/>
          </a:p>
        </p:txBody>
      </p:sp>
      <p:sp>
        <p:nvSpPr>
          <p:cNvPr id="10" name="Text 8"/>
          <p:cNvSpPr/>
          <p:nvPr/>
        </p:nvSpPr>
        <p:spPr>
          <a:xfrm>
            <a:off x="228600" y="3019127"/>
            <a:ext cx="70991" cy="70991"/>
          </a:xfrm>
          <a:prstGeom prst="ellipse">
            <a:avLst/>
          </a:prstGeom>
          <a:solidFill>
            <a:srgbClr val="FAB753"/>
          </a:solidFill>
          <a:ln/>
        </p:spPr>
        <p:txBody>
          <a:bodyPr wrap="none" rtlCol="0" anchor="t"/>
          <a:lstStyle/>
          <a:p>
            <a:pPr marL="0" indent="0">
              <a:buNone/>
            </a:pPr>
            <a:endParaRPr lang="en-US" dirty="0"/>
          </a:p>
        </p:txBody>
      </p:sp>
      <p:sp>
        <p:nvSpPr>
          <p:cNvPr id="11" name="Text 9"/>
          <p:cNvSpPr/>
          <p:nvPr/>
        </p:nvSpPr>
        <p:spPr>
          <a:xfrm>
            <a:off x="356741" y="2995613"/>
            <a:ext cx="811843" cy="118021"/>
          </a:xfrm>
          <a:prstGeom prst="rect">
            <a:avLst/>
          </a:prstGeom>
          <a:noFill/>
          <a:ln/>
        </p:spPr>
        <p:txBody>
          <a:bodyPr wrap="none" lIns="0" tIns="0" rIns="0" bIns="0" rtlCol="0" anchor="ctr"/>
          <a:lstStyle/>
          <a:p>
            <a:pPr marL="0" indent="0" algn="l">
              <a:lnSpc>
                <a:spcPts val="930"/>
              </a:lnSpc>
              <a:buNone/>
            </a:pPr>
            <a:r>
              <a:rPr lang="en-US" sz="620" b="1" dirty="0">
                <a:solidFill>
                  <a:srgbClr val="FFFFFF">
                    <a:alpha val="85000"/>
                  </a:srgbClr>
                </a:solidFill>
                <a:latin typeface="Calibri" pitchFamily="34" charset="0"/>
                <a:ea typeface="Calibri" pitchFamily="34" charset="-122"/>
                <a:cs typeface="Calibri" pitchFamily="34" charset="-120"/>
              </a:rPr>
              <a:t>Emergency Contact</a:t>
            </a:r>
            <a:endParaRPr lang="en-US" sz="620" dirty="0"/>
          </a:p>
        </p:txBody>
      </p:sp>
      <p:sp>
        <p:nvSpPr>
          <p:cNvPr id="12" name="Text 10"/>
          <p:cNvSpPr/>
          <p:nvPr/>
        </p:nvSpPr>
        <p:spPr>
          <a:xfrm>
            <a:off x="228600" y="3193405"/>
            <a:ext cx="57150" cy="57150"/>
          </a:xfrm>
          <a:prstGeom prst="ellipse">
            <a:avLst/>
          </a:prstGeom>
          <a:solidFill>
            <a:srgbClr val="888888">
              <a:alpha val="45000"/>
            </a:srgbClr>
          </a:solidFill>
          <a:ln/>
        </p:spPr>
        <p:txBody>
          <a:bodyPr wrap="none" rtlCol="0" anchor="t"/>
          <a:lstStyle/>
          <a:p>
            <a:pPr marL="0" indent="0">
              <a:buNone/>
            </a:pPr>
            <a:endParaRPr lang="en-US" dirty="0"/>
          </a:p>
        </p:txBody>
      </p:sp>
      <p:sp>
        <p:nvSpPr>
          <p:cNvPr id="13" name="Text 11"/>
          <p:cNvSpPr/>
          <p:nvPr/>
        </p:nvSpPr>
        <p:spPr>
          <a:xfrm>
            <a:off x="342900" y="3163044"/>
            <a:ext cx="855390" cy="118021"/>
          </a:xfrm>
          <a:prstGeom prst="rect">
            <a:avLst/>
          </a:prstGeom>
          <a:noFill/>
          <a:ln/>
        </p:spPr>
        <p:txBody>
          <a:bodyPr wrap="none" lIns="0" tIns="0" rIns="0" bIns="0" rtlCol="0" anchor="ctr"/>
          <a:lstStyle/>
          <a:p>
            <a:pPr marL="0" indent="0" algn="l">
              <a:lnSpc>
                <a:spcPts val="930"/>
              </a:lnSpc>
              <a:buNone/>
            </a:pPr>
            <a:r>
              <a:rPr lang="en-US" sz="620" i="1" dirty="0">
                <a:solidFill>
                  <a:srgbClr val="FFFFFF">
                    <a:alpha val="35000"/>
                  </a:srgbClr>
                </a:solidFill>
                <a:latin typeface="Calibri" pitchFamily="34" charset="0"/>
                <a:ea typeface="Calibri" pitchFamily="34" charset="-122"/>
                <a:cs typeface="Calibri" pitchFamily="34" charset="-120"/>
              </a:rPr>
              <a:t>Financial Investigation</a:t>
            </a:r>
            <a:endParaRPr lang="en-US" sz="620" dirty="0"/>
          </a:p>
        </p:txBody>
      </p:sp>
      <p:sp>
        <p:nvSpPr>
          <p:cNvPr id="14" name="Text 12"/>
          <p:cNvSpPr/>
          <p:nvPr/>
        </p:nvSpPr>
        <p:spPr>
          <a:xfrm>
            <a:off x="228600" y="3353991"/>
            <a:ext cx="70991" cy="70991"/>
          </a:xfrm>
          <a:prstGeom prst="ellipse">
            <a:avLst/>
          </a:prstGeom>
          <a:solidFill>
            <a:srgbClr val="FAB753"/>
          </a:solidFill>
          <a:ln/>
        </p:spPr>
        <p:txBody>
          <a:bodyPr wrap="none" rtlCol="0" anchor="t"/>
          <a:lstStyle/>
          <a:p>
            <a:pPr marL="0" indent="0">
              <a:buNone/>
            </a:pPr>
            <a:endParaRPr lang="en-US" dirty="0"/>
          </a:p>
        </p:txBody>
      </p:sp>
      <p:sp>
        <p:nvSpPr>
          <p:cNvPr id="15" name="Text 13"/>
          <p:cNvSpPr/>
          <p:nvPr/>
        </p:nvSpPr>
        <p:spPr>
          <a:xfrm>
            <a:off x="356741" y="3330476"/>
            <a:ext cx="643875" cy="118021"/>
          </a:xfrm>
          <a:prstGeom prst="rect">
            <a:avLst/>
          </a:prstGeom>
          <a:noFill/>
          <a:ln/>
        </p:spPr>
        <p:txBody>
          <a:bodyPr wrap="none" lIns="0" tIns="0" rIns="0" bIns="0" rtlCol="0" anchor="ctr"/>
          <a:lstStyle/>
          <a:p>
            <a:pPr marL="0" indent="0" algn="l">
              <a:lnSpc>
                <a:spcPts val="930"/>
              </a:lnSpc>
              <a:buNone/>
            </a:pPr>
            <a:r>
              <a:rPr lang="en-US" sz="620" b="1" dirty="0">
                <a:solidFill>
                  <a:srgbClr val="FFFFFF">
                    <a:alpha val="85000"/>
                  </a:srgbClr>
                </a:solidFill>
                <a:latin typeface="Calibri" pitchFamily="34" charset="0"/>
                <a:ea typeface="Calibri" pitchFamily="34" charset="-122"/>
                <a:cs typeface="Calibri" pitchFamily="34" charset="-120"/>
              </a:rPr>
              <a:t>Referral Source</a:t>
            </a:r>
            <a:endParaRPr lang="en-US" sz="620" dirty="0"/>
          </a:p>
        </p:txBody>
      </p:sp>
      <p:sp>
        <p:nvSpPr>
          <p:cNvPr id="16" name="Text 14"/>
          <p:cNvSpPr/>
          <p:nvPr/>
        </p:nvSpPr>
        <p:spPr>
          <a:xfrm>
            <a:off x="228600" y="3521422"/>
            <a:ext cx="70991" cy="70991"/>
          </a:xfrm>
          <a:prstGeom prst="ellipse">
            <a:avLst/>
          </a:prstGeom>
          <a:solidFill>
            <a:srgbClr val="FAB753"/>
          </a:solidFill>
          <a:ln/>
        </p:spPr>
        <p:txBody>
          <a:bodyPr wrap="none" rtlCol="0" anchor="t"/>
          <a:lstStyle/>
          <a:p>
            <a:pPr marL="0" indent="0">
              <a:buNone/>
            </a:pPr>
            <a:endParaRPr lang="en-US" dirty="0"/>
          </a:p>
        </p:txBody>
      </p:sp>
      <p:sp>
        <p:nvSpPr>
          <p:cNvPr id="17" name="Text 15"/>
          <p:cNvSpPr/>
          <p:nvPr/>
        </p:nvSpPr>
        <p:spPr>
          <a:xfrm>
            <a:off x="356741" y="3497907"/>
            <a:ext cx="686931" cy="118021"/>
          </a:xfrm>
          <a:prstGeom prst="rect">
            <a:avLst/>
          </a:prstGeom>
          <a:noFill/>
          <a:ln/>
        </p:spPr>
        <p:txBody>
          <a:bodyPr wrap="none" lIns="0" tIns="0" rIns="0" bIns="0" rtlCol="0" anchor="ctr"/>
          <a:lstStyle/>
          <a:p>
            <a:pPr marL="0" indent="0" algn="l">
              <a:lnSpc>
                <a:spcPts val="930"/>
              </a:lnSpc>
              <a:buNone/>
            </a:pPr>
            <a:r>
              <a:rPr lang="en-US" sz="620" b="1" dirty="0">
                <a:solidFill>
                  <a:srgbClr val="FFFFFF">
                    <a:alpha val="85000"/>
                  </a:srgbClr>
                </a:solidFill>
                <a:latin typeface="Calibri" pitchFamily="34" charset="0"/>
                <a:ea typeface="Calibri" pitchFamily="34" charset="-122"/>
                <a:cs typeface="Calibri" pitchFamily="34" charset="-120"/>
              </a:rPr>
              <a:t>Signature Forms</a:t>
            </a:r>
            <a:endParaRPr lang="en-US" sz="620" dirty="0"/>
          </a:p>
        </p:txBody>
      </p:sp>
      <p:sp>
        <p:nvSpPr>
          <p:cNvPr id="18" name="Text 16"/>
          <p:cNvSpPr/>
          <p:nvPr/>
        </p:nvSpPr>
        <p:spPr>
          <a:xfrm>
            <a:off x="2472630" y="200620"/>
            <a:ext cx="6541871" cy="316706"/>
          </a:xfrm>
          <a:prstGeom prst="rect">
            <a:avLst/>
          </a:prstGeom>
          <a:noFill/>
          <a:ln/>
        </p:spPr>
        <p:txBody>
          <a:bodyPr wrap="none" lIns="0" tIns="0" rIns="0" bIns="71120" rtlCol="0" anchor="t"/>
          <a:lstStyle/>
          <a:p>
            <a:pPr marL="0" indent="0" algn="l">
              <a:buNone/>
            </a:pPr>
            <a:r>
              <a:rPr lang="en-US" sz="1240" b="1" dirty="0">
                <a:solidFill>
                  <a:srgbClr val="1B5E72"/>
                </a:solidFill>
                <a:latin typeface="Calibri Light" pitchFamily="34" charset="0"/>
                <a:ea typeface="Calibri Light" pitchFamily="34" charset="-122"/>
                <a:cs typeface="Calibri Light" pitchFamily="34" charset="-120"/>
              </a:rPr>
              <a:t>Forms in the Admission Bundle</a:t>
            </a:r>
            <a:endParaRPr lang="en-US" sz="1240" dirty="0"/>
          </a:p>
        </p:txBody>
      </p:sp>
      <p:sp>
        <p:nvSpPr>
          <p:cNvPr id="19" name="Text 17"/>
          <p:cNvSpPr/>
          <p:nvPr/>
        </p:nvSpPr>
        <p:spPr>
          <a:xfrm>
            <a:off x="2472630" y="507802"/>
            <a:ext cx="6413599" cy="9525"/>
          </a:xfrm>
          <a:prstGeom prst="rect">
            <a:avLst/>
          </a:prstGeom>
          <a:solidFill>
            <a:srgbClr val="EAF4F4"/>
          </a:solidFill>
          <a:ln/>
        </p:spPr>
        <p:txBody>
          <a:bodyPr wrap="none" rtlCol="0" anchor="t"/>
          <a:lstStyle/>
          <a:p>
            <a:pPr marL="0" indent="0">
              <a:buNone/>
            </a:pPr>
            <a:endParaRPr lang="en-US" dirty="0"/>
          </a:p>
        </p:txBody>
      </p:sp>
      <p:sp>
        <p:nvSpPr>
          <p:cNvPr id="20" name="Text 18"/>
          <p:cNvSpPr/>
          <p:nvPr/>
        </p:nvSpPr>
        <p:spPr>
          <a:xfrm>
            <a:off x="2543621" y="674638"/>
            <a:ext cx="200620" cy="200620"/>
          </a:xfrm>
          <a:prstGeom prst="ellipse">
            <a:avLst/>
          </a:prstGeom>
          <a:solidFill>
            <a:srgbClr val="FAB753"/>
          </a:solidFill>
          <a:ln/>
        </p:spPr>
        <p:txBody>
          <a:bodyPr wrap="none" rtlCol="0" anchor="t"/>
          <a:lstStyle/>
          <a:p>
            <a:pPr marL="0" indent="0">
              <a:buNone/>
            </a:pPr>
            <a:endParaRPr lang="en-US" dirty="0"/>
          </a:p>
        </p:txBody>
      </p:sp>
      <p:pic>
        <p:nvPicPr>
          <p:cNvPr id="2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77563" y="708580"/>
            <a:ext cx="132588" cy="132588"/>
          </a:xfrm>
          <a:prstGeom prst="rect">
            <a:avLst/>
          </a:prstGeom>
        </p:spPr>
      </p:pic>
      <p:sp>
        <p:nvSpPr>
          <p:cNvPr id="22" name="Text 19"/>
          <p:cNvSpPr/>
          <p:nvPr/>
        </p:nvSpPr>
        <p:spPr>
          <a:xfrm>
            <a:off x="2815233" y="667048"/>
            <a:ext cx="6600006" cy="130373"/>
          </a:xfrm>
          <a:prstGeom prst="rect">
            <a:avLst/>
          </a:prstGeom>
          <a:noFill/>
          <a:ln/>
        </p:spPr>
        <p:txBody>
          <a:bodyPr wrap="none" lIns="0" tIns="0" rIns="0" bIns="0" rtlCol="0" anchor="t"/>
          <a:lstStyle/>
          <a:p>
            <a:pPr marL="0" indent="0" algn="l">
              <a:lnSpc>
                <a:spcPts val="1027"/>
              </a:lnSpc>
              <a:buNone/>
            </a:pPr>
            <a:r>
              <a:rPr lang="en-US" sz="790" b="1" dirty="0">
                <a:solidFill>
                  <a:srgbClr val="1B5E72"/>
                </a:solidFill>
                <a:latin typeface="Calibri" pitchFamily="34" charset="0"/>
                <a:ea typeface="Calibri" pitchFamily="34" charset="-122"/>
                <a:cs typeface="Calibri" pitchFamily="34" charset="-120"/>
              </a:rPr>
              <a:t>Admission</a:t>
            </a:r>
            <a:endParaRPr lang="en-US" sz="790" dirty="0"/>
          </a:p>
        </p:txBody>
      </p:sp>
      <p:sp>
        <p:nvSpPr>
          <p:cNvPr id="23" name="Text 20"/>
          <p:cNvSpPr/>
          <p:nvPr/>
        </p:nvSpPr>
        <p:spPr>
          <a:xfrm>
            <a:off x="2815233" y="805011"/>
            <a:ext cx="6120006" cy="270346"/>
          </a:xfrm>
          <a:prstGeom prst="rect">
            <a:avLst/>
          </a:prstGeom>
          <a:noFill/>
          <a:ln/>
        </p:spPr>
        <p:txBody>
          <a:bodyPr wrap="square" lIns="0" tIns="0" rIns="0" bIns="0" rtlCol="0" anchor="t"/>
          <a:lstStyle/>
          <a:p>
            <a:pPr marL="0" indent="0" algn="l">
              <a:lnSpc>
                <a:spcPts val="1015"/>
              </a:lnSpc>
              <a:buNone/>
            </a:pPr>
            <a:r>
              <a:rPr lang="en-US" sz="700" dirty="0">
                <a:solidFill>
                  <a:srgbClr val="444444"/>
                </a:solidFill>
                <a:latin typeface="Calibri" pitchFamily="34" charset="0"/>
                <a:ea typeface="Calibri" pitchFamily="34" charset="-122"/>
                <a:cs typeface="Calibri" pitchFamily="34" charset="-120"/>
              </a:rPr>
              <a:t>Opens the episode. Search by name and sex first — Avatar requires at least 3 matching pieces of information. Always verify against existing records to prevent duplicate charts. Check DOB or SSN.</a:t>
            </a:r>
            <a:endParaRPr lang="en-US" sz="700" dirty="0"/>
          </a:p>
        </p:txBody>
      </p:sp>
      <p:sp>
        <p:nvSpPr>
          <p:cNvPr id="24" name="Text 21"/>
          <p:cNvSpPr/>
          <p:nvPr/>
        </p:nvSpPr>
        <p:spPr>
          <a:xfrm>
            <a:off x="2543621" y="1226046"/>
            <a:ext cx="200620" cy="200620"/>
          </a:xfrm>
          <a:prstGeom prst="ellipse">
            <a:avLst/>
          </a:prstGeom>
          <a:solidFill>
            <a:srgbClr val="FAB753"/>
          </a:solidFill>
          <a:ln/>
        </p:spPr>
        <p:txBody>
          <a:bodyPr wrap="none" rtlCol="0" anchor="t"/>
          <a:lstStyle/>
          <a:p>
            <a:pPr marL="0" indent="0">
              <a:buNone/>
            </a:pPr>
            <a:endParaRPr lang="en-US" dirty="0"/>
          </a:p>
        </p:txBody>
      </p:sp>
      <p:pic>
        <p:nvPicPr>
          <p:cNvPr id="2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7563" y="1259988"/>
            <a:ext cx="132588" cy="132588"/>
          </a:xfrm>
          <a:prstGeom prst="rect">
            <a:avLst/>
          </a:prstGeom>
        </p:spPr>
      </p:pic>
      <p:sp>
        <p:nvSpPr>
          <p:cNvPr id="26" name="Text 22"/>
          <p:cNvSpPr/>
          <p:nvPr/>
        </p:nvSpPr>
        <p:spPr>
          <a:xfrm>
            <a:off x="2815233" y="1218456"/>
            <a:ext cx="6600006" cy="130373"/>
          </a:xfrm>
          <a:prstGeom prst="rect">
            <a:avLst/>
          </a:prstGeom>
          <a:noFill/>
          <a:ln/>
        </p:spPr>
        <p:txBody>
          <a:bodyPr wrap="none" lIns="0" tIns="0" rIns="0" bIns="0" rtlCol="0" anchor="t"/>
          <a:lstStyle/>
          <a:p>
            <a:pPr marL="0" indent="0" algn="l">
              <a:lnSpc>
                <a:spcPts val="1027"/>
              </a:lnSpc>
              <a:buNone/>
            </a:pPr>
            <a:r>
              <a:rPr lang="en-US" sz="790" b="1" dirty="0">
                <a:solidFill>
                  <a:srgbClr val="1B5E72"/>
                </a:solidFill>
                <a:latin typeface="Calibri" pitchFamily="34" charset="0"/>
                <a:ea typeface="Calibri" pitchFamily="34" charset="-122"/>
                <a:cs typeface="Calibri" pitchFamily="34" charset="-120"/>
              </a:rPr>
              <a:t>Parent/Guardian Info</a:t>
            </a:r>
            <a:endParaRPr lang="en-US" sz="790" dirty="0"/>
          </a:p>
        </p:txBody>
      </p:sp>
      <p:sp>
        <p:nvSpPr>
          <p:cNvPr id="27" name="Text 23"/>
          <p:cNvSpPr/>
          <p:nvPr/>
        </p:nvSpPr>
        <p:spPr>
          <a:xfrm>
            <a:off x="2815233" y="1356420"/>
            <a:ext cx="6600006" cy="128736"/>
          </a:xfrm>
          <a:prstGeom prst="rect">
            <a:avLst/>
          </a:prstGeom>
          <a:noFill/>
          <a:ln/>
        </p:spPr>
        <p:txBody>
          <a:bodyPr wrap="none" lIns="0" tIns="0" rIns="0" bIns="0" rtlCol="0" anchor="t"/>
          <a:lstStyle/>
          <a:p>
            <a:pPr marL="0" indent="0" algn="l">
              <a:lnSpc>
                <a:spcPts val="1015"/>
              </a:lnSpc>
              <a:buNone/>
            </a:pPr>
            <a:r>
              <a:rPr lang="en-US" sz="700" dirty="0">
                <a:solidFill>
                  <a:srgbClr val="444444"/>
                </a:solidFill>
                <a:latin typeface="Calibri" pitchFamily="34" charset="0"/>
                <a:ea typeface="Calibri" pitchFamily="34" charset="-122"/>
                <a:cs typeface="Calibri" pitchFamily="34" charset="-120"/>
              </a:rPr>
              <a:t>Enter all guardians individually. The last one entered displays on the banner — enter dad first, then return and enter mom if she is the primary contact.</a:t>
            </a:r>
            <a:endParaRPr lang="en-US" sz="700" dirty="0"/>
          </a:p>
        </p:txBody>
      </p:sp>
      <p:sp>
        <p:nvSpPr>
          <p:cNvPr id="28" name="Text 24"/>
          <p:cNvSpPr/>
          <p:nvPr/>
        </p:nvSpPr>
        <p:spPr>
          <a:xfrm>
            <a:off x="2543621" y="1648718"/>
            <a:ext cx="200620" cy="200620"/>
          </a:xfrm>
          <a:prstGeom prst="ellipse">
            <a:avLst/>
          </a:prstGeom>
          <a:solidFill>
            <a:srgbClr val="FAB753"/>
          </a:solidFill>
          <a:ln/>
        </p:spPr>
        <p:txBody>
          <a:bodyPr wrap="none" rtlCol="0" anchor="t"/>
          <a:lstStyle/>
          <a:p>
            <a:pPr marL="0" indent="0">
              <a:buNone/>
            </a:pPr>
            <a:endParaRPr lang="en-US" dirty="0"/>
          </a:p>
        </p:txBody>
      </p:sp>
      <p:pic>
        <p:nvPicPr>
          <p:cNvPr id="2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77563" y="1682660"/>
            <a:ext cx="132588" cy="132588"/>
          </a:xfrm>
          <a:prstGeom prst="rect">
            <a:avLst/>
          </a:prstGeom>
        </p:spPr>
      </p:pic>
      <p:sp>
        <p:nvSpPr>
          <p:cNvPr id="30" name="Text 25"/>
          <p:cNvSpPr/>
          <p:nvPr/>
        </p:nvSpPr>
        <p:spPr>
          <a:xfrm>
            <a:off x="2815233" y="1641128"/>
            <a:ext cx="6600006" cy="130373"/>
          </a:xfrm>
          <a:prstGeom prst="rect">
            <a:avLst/>
          </a:prstGeom>
          <a:noFill/>
          <a:ln/>
        </p:spPr>
        <p:txBody>
          <a:bodyPr wrap="none" lIns="0" tIns="0" rIns="0" bIns="0" rtlCol="0" anchor="t"/>
          <a:lstStyle/>
          <a:p>
            <a:pPr marL="0" indent="0" algn="l">
              <a:lnSpc>
                <a:spcPts val="1027"/>
              </a:lnSpc>
              <a:buNone/>
            </a:pPr>
            <a:r>
              <a:rPr lang="en-US" sz="790" b="1" dirty="0">
                <a:solidFill>
                  <a:srgbClr val="1B5E72"/>
                </a:solidFill>
                <a:latin typeface="Calibri" pitchFamily="34" charset="0"/>
                <a:ea typeface="Calibri" pitchFamily="34" charset="-122"/>
                <a:cs typeface="Calibri" pitchFamily="34" charset="-120"/>
              </a:rPr>
              <a:t>Emergency Contact Information</a:t>
            </a:r>
            <a:endParaRPr lang="en-US" sz="790" dirty="0"/>
          </a:p>
        </p:txBody>
      </p:sp>
      <p:sp>
        <p:nvSpPr>
          <p:cNvPr id="31" name="Text 26"/>
          <p:cNvSpPr/>
          <p:nvPr/>
        </p:nvSpPr>
        <p:spPr>
          <a:xfrm>
            <a:off x="2815233" y="1779091"/>
            <a:ext cx="6600006" cy="128736"/>
          </a:xfrm>
          <a:prstGeom prst="rect">
            <a:avLst/>
          </a:prstGeom>
          <a:noFill/>
          <a:ln/>
        </p:spPr>
        <p:txBody>
          <a:bodyPr wrap="none" lIns="0" tIns="0" rIns="0" bIns="0" rtlCol="0" anchor="t"/>
          <a:lstStyle/>
          <a:p>
            <a:pPr marL="0" indent="0" algn="l">
              <a:lnSpc>
                <a:spcPts val="1015"/>
              </a:lnSpc>
              <a:buNone/>
            </a:pPr>
            <a:r>
              <a:rPr lang="en-US" sz="700" dirty="0">
                <a:solidFill>
                  <a:srgbClr val="444444"/>
                </a:solidFill>
                <a:latin typeface="Calibri" pitchFamily="34" charset="0"/>
                <a:ea typeface="Calibri" pitchFamily="34" charset="-122"/>
                <a:cs typeface="Calibri" pitchFamily="34" charset="-120"/>
              </a:rPr>
              <a:t>Parents are the primary emergency contact. An additional individual may also be listed — make sure a release is signed for them as well.</a:t>
            </a:r>
            <a:endParaRPr lang="en-US" sz="700" dirty="0"/>
          </a:p>
        </p:txBody>
      </p:sp>
      <p:sp>
        <p:nvSpPr>
          <p:cNvPr id="32" name="Text 27"/>
          <p:cNvSpPr/>
          <p:nvPr/>
        </p:nvSpPr>
        <p:spPr>
          <a:xfrm>
            <a:off x="2472630" y="2014389"/>
            <a:ext cx="6413599" cy="365522"/>
          </a:xfrm>
          <a:prstGeom prst="roundRect">
            <a:avLst>
              <a:gd name="adj" fmla="val 11813"/>
            </a:avLst>
          </a:prstGeom>
          <a:solidFill>
            <a:srgbClr val="FFF9ED"/>
          </a:solidFill>
          <a:ln/>
        </p:spPr>
        <p:txBody>
          <a:bodyPr wrap="square" rtlCol="0" anchor="t"/>
          <a:lstStyle/>
          <a:p>
            <a:pPr marL="0" indent="0">
              <a:buNone/>
            </a:pPr>
            <a:endParaRPr lang="en-US" dirty="0"/>
          </a:p>
        </p:txBody>
      </p:sp>
      <p:sp>
        <p:nvSpPr>
          <p:cNvPr id="33" name="Text 28"/>
          <p:cNvSpPr/>
          <p:nvPr/>
        </p:nvSpPr>
        <p:spPr>
          <a:xfrm>
            <a:off x="2472630" y="2014389"/>
            <a:ext cx="19050" cy="365522"/>
          </a:xfrm>
          <a:custGeom>
            <a:avLst/>
            <a:gdLst/>
            <a:ahLst/>
            <a:cxnLst/>
            <a:rect l="l" t="t" r="r" b="b"/>
            <a:pathLst>
              <a:path w="19050" h="365522">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358150"/>
                </a:lnTo>
                <a:lnTo>
                  <a:pt x="16669" y="356425"/>
                </a:lnTo>
                <a:lnTo>
                  <a:pt x="14288" y="354431"/>
                </a:lnTo>
                <a:lnTo>
                  <a:pt x="11906" y="352115"/>
                </a:lnTo>
                <a:lnTo>
                  <a:pt x="9525" y="349395"/>
                </a:lnTo>
                <a:lnTo>
                  <a:pt x="7144" y="346131"/>
                </a:lnTo>
                <a:lnTo>
                  <a:pt x="4763" y="342055"/>
                </a:lnTo>
                <a:lnTo>
                  <a:pt x="2381" y="336483"/>
                </a:lnTo>
                <a:lnTo>
                  <a:pt x="0" y="322342"/>
                </a:lnTo>
                <a:close/>
              </a:path>
            </a:pathLst>
          </a:custGeom>
          <a:solidFill>
            <a:srgbClr val="FAB753"/>
          </a:solidFill>
          <a:ln/>
        </p:spPr>
        <p:txBody>
          <a:bodyPr wrap="square" rtlCol="0" anchor="t"/>
          <a:lstStyle/>
          <a:p>
            <a:pPr marL="0" indent="0">
              <a:buNone/>
            </a:pPr>
            <a:endParaRPr lang="en-US" dirty="0"/>
          </a:p>
        </p:txBody>
      </p:sp>
      <p:sp>
        <p:nvSpPr>
          <p:cNvPr id="34" name="Text 29"/>
          <p:cNvSpPr/>
          <p:nvPr/>
        </p:nvSpPr>
        <p:spPr>
          <a:xfrm>
            <a:off x="2562671" y="2071390"/>
            <a:ext cx="200620" cy="200620"/>
          </a:xfrm>
          <a:prstGeom prst="ellipse">
            <a:avLst/>
          </a:prstGeom>
          <a:solidFill>
            <a:srgbClr val="E0E0E0"/>
          </a:solidFill>
          <a:ln/>
        </p:spPr>
        <p:txBody>
          <a:bodyPr wrap="none" rtlCol="0" anchor="t"/>
          <a:lstStyle/>
          <a:p>
            <a:pPr marL="0" indent="0">
              <a:buNone/>
            </a:pPr>
            <a:endParaRPr lang="en-US" dirty="0"/>
          </a:p>
        </p:txBody>
      </p:sp>
      <p:pic>
        <p:nvPicPr>
          <p:cNvPr id="3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96613" y="2105332"/>
            <a:ext cx="132588" cy="132588"/>
          </a:xfrm>
          <a:prstGeom prst="rect">
            <a:avLst/>
          </a:prstGeom>
        </p:spPr>
      </p:pic>
      <p:sp>
        <p:nvSpPr>
          <p:cNvPr id="36" name="Text 30"/>
          <p:cNvSpPr/>
          <p:nvPr/>
        </p:nvSpPr>
        <p:spPr>
          <a:xfrm>
            <a:off x="2834283" y="2063800"/>
            <a:ext cx="6579051" cy="130373"/>
          </a:xfrm>
          <a:prstGeom prst="rect">
            <a:avLst/>
          </a:prstGeom>
          <a:noFill/>
          <a:ln/>
        </p:spPr>
        <p:txBody>
          <a:bodyPr wrap="none" lIns="0" tIns="0" rIns="0" bIns="0" rtlCol="0" anchor="t"/>
          <a:lstStyle/>
          <a:p>
            <a:pPr marL="0" indent="0" algn="l">
              <a:lnSpc>
                <a:spcPts val="1027"/>
              </a:lnSpc>
              <a:buNone/>
            </a:pPr>
            <a:r>
              <a:rPr lang="en-US" sz="790" b="1" dirty="0">
                <a:solidFill>
                  <a:srgbClr val="888888"/>
                </a:solidFill>
                <a:latin typeface="Calibri" pitchFamily="34" charset="0"/>
                <a:ea typeface="Calibri" pitchFamily="34" charset="-122"/>
                <a:cs typeface="Calibri" pitchFamily="34" charset="-120"/>
              </a:rPr>
              <a:t>Financial Investigation</a:t>
            </a:r>
            <a:endParaRPr lang="en-US" sz="790" dirty="0"/>
          </a:p>
        </p:txBody>
      </p:sp>
      <p:sp>
        <p:nvSpPr>
          <p:cNvPr id="37" name="Text 31"/>
          <p:cNvSpPr/>
          <p:nvPr/>
        </p:nvSpPr>
        <p:spPr>
          <a:xfrm>
            <a:off x="2834283" y="2201763"/>
            <a:ext cx="6579051" cy="128736"/>
          </a:xfrm>
          <a:prstGeom prst="rect">
            <a:avLst/>
          </a:prstGeom>
          <a:noFill/>
          <a:ln/>
        </p:spPr>
        <p:txBody>
          <a:bodyPr wrap="none" lIns="0" tIns="0" rIns="0" bIns="0" rtlCol="0" anchor="t"/>
          <a:lstStyle/>
          <a:p>
            <a:pPr marL="0" indent="0" algn="l">
              <a:lnSpc>
                <a:spcPts val="1015"/>
              </a:lnSpc>
              <a:buNone/>
            </a:pPr>
            <a:r>
              <a:rPr lang="en-US" sz="700" dirty="0">
                <a:solidFill>
                  <a:srgbClr val="888888"/>
                </a:solidFill>
                <a:latin typeface="Calibri" pitchFamily="34" charset="0"/>
                <a:ea typeface="Calibri" pitchFamily="34" charset="-122"/>
                <a:cs typeface="Calibri" pitchFamily="34" charset="-120"/>
              </a:rPr>
              <a:t>SKIP — this is completed by support staff.</a:t>
            </a:r>
            <a:endParaRPr lang="en-US" sz="700" dirty="0"/>
          </a:p>
        </p:txBody>
      </p:sp>
      <p:sp>
        <p:nvSpPr>
          <p:cNvPr id="38" name="Text 32"/>
          <p:cNvSpPr/>
          <p:nvPr/>
        </p:nvSpPr>
        <p:spPr>
          <a:xfrm>
            <a:off x="2543621" y="2494062"/>
            <a:ext cx="200620" cy="200620"/>
          </a:xfrm>
          <a:prstGeom prst="ellipse">
            <a:avLst/>
          </a:prstGeom>
          <a:solidFill>
            <a:srgbClr val="FAB753"/>
          </a:solidFill>
          <a:ln/>
        </p:spPr>
        <p:txBody>
          <a:bodyPr wrap="none" rtlCol="0" anchor="t"/>
          <a:lstStyle/>
          <a:p>
            <a:pPr marL="0" indent="0">
              <a:buNone/>
            </a:pPr>
            <a:endParaRPr lang="en-US" dirty="0"/>
          </a:p>
        </p:txBody>
      </p:sp>
      <p:pic>
        <p:nvPicPr>
          <p:cNvPr id="3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77563" y="2528003"/>
            <a:ext cx="132588" cy="132588"/>
          </a:xfrm>
          <a:prstGeom prst="rect">
            <a:avLst/>
          </a:prstGeom>
        </p:spPr>
      </p:pic>
      <p:sp>
        <p:nvSpPr>
          <p:cNvPr id="40" name="Text 33"/>
          <p:cNvSpPr/>
          <p:nvPr/>
        </p:nvSpPr>
        <p:spPr>
          <a:xfrm>
            <a:off x="2815233" y="2486471"/>
            <a:ext cx="6600006" cy="130373"/>
          </a:xfrm>
          <a:prstGeom prst="rect">
            <a:avLst/>
          </a:prstGeom>
          <a:noFill/>
          <a:ln/>
        </p:spPr>
        <p:txBody>
          <a:bodyPr wrap="none" lIns="0" tIns="0" rIns="0" bIns="0" rtlCol="0" anchor="t"/>
          <a:lstStyle/>
          <a:p>
            <a:pPr marL="0" indent="0" algn="l">
              <a:lnSpc>
                <a:spcPts val="1027"/>
              </a:lnSpc>
              <a:buNone/>
            </a:pPr>
            <a:r>
              <a:rPr lang="en-US" sz="790" b="1" dirty="0">
                <a:solidFill>
                  <a:srgbClr val="1B5E72"/>
                </a:solidFill>
                <a:latin typeface="Calibri" pitchFamily="34" charset="0"/>
                <a:ea typeface="Calibri" pitchFamily="34" charset="-122"/>
                <a:cs typeface="Calibri" pitchFamily="34" charset="-120"/>
              </a:rPr>
              <a:t>Referral Source and Military Detail</a:t>
            </a:r>
            <a:endParaRPr lang="en-US" sz="790" dirty="0"/>
          </a:p>
        </p:txBody>
      </p:sp>
      <p:sp>
        <p:nvSpPr>
          <p:cNvPr id="41" name="Text 34"/>
          <p:cNvSpPr/>
          <p:nvPr/>
        </p:nvSpPr>
        <p:spPr>
          <a:xfrm>
            <a:off x="2815233" y="2624435"/>
            <a:ext cx="6600006" cy="128736"/>
          </a:xfrm>
          <a:prstGeom prst="rect">
            <a:avLst/>
          </a:prstGeom>
          <a:noFill/>
          <a:ln/>
        </p:spPr>
        <p:txBody>
          <a:bodyPr wrap="none" lIns="0" tIns="0" rIns="0" bIns="0" rtlCol="0" anchor="ctr"/>
          <a:lstStyle/>
          <a:p>
            <a:pPr marL="0" indent="0" algn="l">
              <a:lnSpc>
                <a:spcPts val="1015"/>
              </a:lnSpc>
              <a:buNone/>
            </a:pPr>
            <a:r>
              <a:rPr lang="en-US" sz="700" dirty="0">
                <a:solidFill>
                  <a:srgbClr val="444444"/>
                </a:solidFill>
                <a:latin typeface="Calibri" pitchFamily="34" charset="0"/>
                <a:ea typeface="Calibri" pitchFamily="34" charset="-122"/>
                <a:cs typeface="Calibri" pitchFamily="34" charset="-120"/>
              </a:rPr>
              <a:t>Do not skip this form. Required for timeliness reporting data. </a:t>
            </a:r>
            <a:r>
              <a:rPr lang="en-US" sz="700" b="1" dirty="0">
                <a:solidFill>
                  <a:srgbClr val="1B5E72"/>
                </a:solidFill>
                <a:latin typeface="Calibri" pitchFamily="34" charset="0"/>
                <a:ea typeface="Calibri" pitchFamily="34" charset="-122"/>
                <a:cs typeface="Calibri" pitchFamily="34" charset="-120"/>
              </a:rPr>
              <a:t>Dates matter</a:t>
            </a:r>
            <a:r>
              <a:rPr lang="en-US" sz="700" dirty="0">
                <a:solidFill>
                  <a:srgbClr val="444444"/>
                </a:solidFill>
                <a:latin typeface="Calibri" pitchFamily="34" charset="0"/>
                <a:ea typeface="Calibri" pitchFamily="34" charset="-122"/>
                <a:cs typeface="Calibri" pitchFamily="34" charset="-120"/>
              </a:rPr>
              <a:t> — enter them accurately.</a:t>
            </a:r>
            <a:endParaRPr lang="en-US" sz="700" dirty="0"/>
          </a:p>
        </p:txBody>
      </p:sp>
      <p:sp>
        <p:nvSpPr>
          <p:cNvPr id="42" name="Text 35"/>
          <p:cNvSpPr/>
          <p:nvPr/>
        </p:nvSpPr>
        <p:spPr>
          <a:xfrm>
            <a:off x="2543621" y="2916734"/>
            <a:ext cx="200620" cy="200620"/>
          </a:xfrm>
          <a:prstGeom prst="ellipse">
            <a:avLst/>
          </a:prstGeom>
          <a:solidFill>
            <a:srgbClr val="FAB753"/>
          </a:solidFill>
          <a:ln/>
        </p:spPr>
        <p:txBody>
          <a:bodyPr wrap="none" rtlCol="0" anchor="t"/>
          <a:lstStyle/>
          <a:p>
            <a:pPr marL="0" indent="0">
              <a:buNone/>
            </a:pPr>
            <a:endParaRPr lang="en-US" dirty="0"/>
          </a:p>
        </p:txBody>
      </p:sp>
      <p:pic>
        <p:nvPicPr>
          <p:cNvPr id="4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77563" y="2950675"/>
            <a:ext cx="132588" cy="132588"/>
          </a:xfrm>
          <a:prstGeom prst="rect">
            <a:avLst/>
          </a:prstGeom>
        </p:spPr>
      </p:pic>
      <p:sp>
        <p:nvSpPr>
          <p:cNvPr id="44" name="Text 36"/>
          <p:cNvSpPr/>
          <p:nvPr/>
        </p:nvSpPr>
        <p:spPr>
          <a:xfrm>
            <a:off x="2815233" y="2909143"/>
            <a:ext cx="6600006" cy="131266"/>
          </a:xfrm>
          <a:prstGeom prst="rect">
            <a:avLst/>
          </a:prstGeom>
          <a:noFill/>
          <a:ln/>
        </p:spPr>
        <p:txBody>
          <a:bodyPr wrap="none" lIns="0" tIns="0" rIns="0" bIns="0" rtlCol="0" anchor="t"/>
          <a:lstStyle/>
          <a:p>
            <a:pPr marL="0" indent="0" algn="l">
              <a:lnSpc>
                <a:spcPts val="1027"/>
              </a:lnSpc>
              <a:buNone/>
            </a:pPr>
            <a:r>
              <a:rPr lang="en-US" sz="790" dirty="0">
                <a:solidFill>
                  <a:srgbClr val="1B5E72"/>
                </a:solidFill>
                <a:latin typeface="Calibri" pitchFamily="34" charset="0"/>
                <a:ea typeface="Calibri" pitchFamily="34" charset="-122"/>
                <a:cs typeface="Calibri" pitchFamily="34" charset="-120"/>
              </a:rPr>
              <a:t>Signature Forms </a:t>
            </a:r>
            <a:r>
              <a:rPr lang="en-US" sz="680" dirty="0">
                <a:solidFill>
                  <a:srgbClr val="777777"/>
                </a:solidFill>
                <a:latin typeface="Calibri" pitchFamily="34" charset="0"/>
                <a:ea typeface="Calibri" pitchFamily="34" charset="-122"/>
                <a:cs typeface="Calibri" pitchFamily="34" charset="-120"/>
              </a:rPr>
              <a:t>(if client/guardian is present)</a:t>
            </a:r>
            <a:endParaRPr lang="en-US" sz="790" dirty="0"/>
          </a:p>
        </p:txBody>
      </p:sp>
      <p:sp>
        <p:nvSpPr>
          <p:cNvPr id="45" name="Text 37"/>
          <p:cNvSpPr/>
          <p:nvPr/>
        </p:nvSpPr>
        <p:spPr>
          <a:xfrm>
            <a:off x="2815233" y="3069580"/>
            <a:ext cx="755600" cy="163220"/>
          </a:xfrm>
          <a:prstGeom prst="roundRect">
            <a:avLst>
              <a:gd name="adj" fmla="val 87924"/>
            </a:avLst>
          </a:prstGeom>
          <a:solidFill>
            <a:srgbClr val="EAF4F4"/>
          </a:solidFill>
          <a:ln w="9525">
            <a:solidFill>
              <a:srgbClr val="B2D8D8"/>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Notice of Privacy</a:t>
            </a:r>
            <a:endParaRPr lang="en-US" sz="620" dirty="0"/>
          </a:p>
        </p:txBody>
      </p:sp>
      <p:sp>
        <p:nvSpPr>
          <p:cNvPr id="46" name="Text 38"/>
          <p:cNvSpPr/>
          <p:nvPr/>
        </p:nvSpPr>
        <p:spPr>
          <a:xfrm>
            <a:off x="3600004" y="3069580"/>
            <a:ext cx="925711" cy="163220"/>
          </a:xfrm>
          <a:prstGeom prst="roundRect">
            <a:avLst>
              <a:gd name="adj" fmla="val 87924"/>
            </a:avLst>
          </a:prstGeom>
          <a:solidFill>
            <a:srgbClr val="EAF4F4"/>
          </a:solidFill>
          <a:ln w="9525">
            <a:solidFill>
              <a:srgbClr val="B2D8D8"/>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Consent to Treatment</a:t>
            </a:r>
            <a:endParaRPr lang="en-US" sz="620" dirty="0"/>
          </a:p>
        </p:txBody>
      </p:sp>
      <p:sp>
        <p:nvSpPr>
          <p:cNvPr id="47" name="Text 39"/>
          <p:cNvSpPr/>
          <p:nvPr/>
        </p:nvSpPr>
        <p:spPr>
          <a:xfrm>
            <a:off x="4554885" y="3069580"/>
            <a:ext cx="668238" cy="163220"/>
          </a:xfrm>
          <a:prstGeom prst="roundRect">
            <a:avLst>
              <a:gd name="adj" fmla="val 87924"/>
            </a:avLst>
          </a:prstGeom>
          <a:solidFill>
            <a:srgbClr val="EAF4F4"/>
          </a:solidFill>
          <a:ln w="9525">
            <a:solidFill>
              <a:srgbClr val="B2D8D8"/>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ROI Enterprise</a:t>
            </a:r>
            <a:endParaRPr lang="en-US" sz="620" dirty="0"/>
          </a:p>
        </p:txBody>
      </p:sp>
      <p:sp>
        <p:nvSpPr>
          <p:cNvPr id="48" name="Text 40"/>
          <p:cNvSpPr/>
          <p:nvPr/>
        </p:nvSpPr>
        <p:spPr>
          <a:xfrm>
            <a:off x="5252293" y="3069580"/>
            <a:ext cx="1263253" cy="163220"/>
          </a:xfrm>
          <a:prstGeom prst="roundRect">
            <a:avLst>
              <a:gd name="adj" fmla="val 87924"/>
            </a:avLst>
          </a:prstGeom>
          <a:solidFill>
            <a:srgbClr val="EAF4F4"/>
          </a:solidFill>
          <a:ln w="9525">
            <a:solidFill>
              <a:srgbClr val="B2D8D8"/>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Communication Request Auth.</a:t>
            </a:r>
            <a:endParaRPr lang="en-US" sz="620" dirty="0"/>
          </a:p>
        </p:txBody>
      </p:sp>
      <p:sp>
        <p:nvSpPr>
          <p:cNvPr id="49" name="Text 41"/>
          <p:cNvSpPr/>
          <p:nvPr/>
        </p:nvSpPr>
        <p:spPr>
          <a:xfrm>
            <a:off x="2815233" y="3239542"/>
            <a:ext cx="6600006" cy="128736"/>
          </a:xfrm>
          <a:prstGeom prst="rect">
            <a:avLst/>
          </a:prstGeom>
          <a:noFill/>
          <a:ln/>
        </p:spPr>
        <p:txBody>
          <a:bodyPr wrap="none" lIns="0" tIns="0" rIns="0" bIns="0" rtlCol="0" anchor="t"/>
          <a:lstStyle/>
          <a:p>
            <a:pPr marL="0" indent="0" algn="l">
              <a:lnSpc>
                <a:spcPts val="1015"/>
              </a:lnSpc>
              <a:buNone/>
            </a:pPr>
            <a:r>
              <a:rPr lang="en-US" sz="700" dirty="0">
                <a:solidFill>
                  <a:srgbClr val="666666"/>
                </a:solidFill>
                <a:latin typeface="Calibri" pitchFamily="34" charset="0"/>
                <a:ea typeface="Calibri" pitchFamily="34" charset="-122"/>
                <a:cs typeface="Calibri" pitchFamily="34" charset="-120"/>
              </a:rPr>
              <a:t>If not present, skip and complete at intake using the Front Desk Bundle process.</a:t>
            </a:r>
            <a:endParaRPr lang="en-US" sz="700" dirty="0"/>
          </a:p>
        </p:txBody>
      </p:sp>
      <p:sp>
        <p:nvSpPr>
          <p:cNvPr id="50" name="Text 42"/>
          <p:cNvSpPr/>
          <p:nvPr/>
        </p:nvSpPr>
        <p:spPr>
          <a:xfrm>
            <a:off x="0" y="4871740"/>
            <a:ext cx="9144000" cy="271760"/>
          </a:xfrm>
          <a:prstGeom prst="rect">
            <a:avLst/>
          </a:prstGeom>
          <a:solidFill>
            <a:srgbClr val="FAB753"/>
          </a:solidFill>
          <a:ln/>
        </p:spPr>
        <p:txBody>
          <a:bodyPr wrap="none" rtlCol="0" anchor="t"/>
          <a:lstStyle/>
          <a:p>
            <a:pPr marL="0" indent="0">
              <a:buNone/>
            </a:pPr>
            <a:endParaRPr lang="en-US" dirty="0"/>
          </a:p>
        </p:txBody>
      </p:sp>
      <p:pic>
        <p:nvPicPr>
          <p:cNvPr id="5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4339" y="4941326"/>
            <a:ext cx="132588" cy="132588"/>
          </a:xfrm>
          <a:prstGeom prst="rect">
            <a:avLst/>
          </a:prstGeom>
        </p:spPr>
      </p:pic>
      <p:sp>
        <p:nvSpPr>
          <p:cNvPr id="52" name="Text 43"/>
          <p:cNvSpPr/>
          <p:nvPr/>
        </p:nvSpPr>
        <p:spPr>
          <a:xfrm>
            <a:off x="414486" y="4942731"/>
            <a:ext cx="8109749" cy="129778"/>
          </a:xfrm>
          <a:prstGeom prst="rect">
            <a:avLst/>
          </a:prstGeom>
          <a:noFill/>
          <a:ln/>
        </p:spPr>
        <p:txBody>
          <a:bodyPr wrap="none" lIns="0" tIns="0" rIns="0" bIns="0" rtlCol="0" anchor="ctr"/>
          <a:lstStyle/>
          <a:p>
            <a:pPr marL="0" indent="0" algn="l">
              <a:lnSpc>
                <a:spcPts val="1022"/>
              </a:lnSpc>
              <a:buNone/>
            </a:pPr>
            <a:r>
              <a:rPr lang="en-US" sz="730" b="1" dirty="0">
                <a:solidFill>
                  <a:srgbClr val="2C2C2C"/>
                </a:solidFill>
                <a:latin typeface="Calibri" pitchFamily="34" charset="0"/>
                <a:ea typeface="Calibri" pitchFamily="34" charset="-122"/>
                <a:cs typeface="Calibri" pitchFamily="34" charset="-120"/>
              </a:rPr>
              <a:t>Dates matter in both the Admission form and Referral Source form. Do not wait until the intake date to open the chart — enter the client when you first speak with them.</a:t>
            </a:r>
            <a:endParaRPr lang="en-US" sz="730" dirty="0"/>
          </a:p>
        </p:txBody>
      </p:sp>
      <p:sp>
        <p:nvSpPr>
          <p:cNvPr id="53" name="Text 44"/>
          <p:cNvSpPr/>
          <p:nvPr/>
        </p:nvSpPr>
        <p:spPr>
          <a:xfrm>
            <a:off x="2185692" y="0"/>
            <a:ext cx="29170" cy="4871742"/>
          </a:xfrm>
          <a:prstGeom prst="rect">
            <a:avLst/>
          </a:prstGeom>
          <a:solidFill>
            <a:srgbClr val="FAB753">
              <a:alpha val="60000"/>
            </a:srgbClr>
          </a:solidFill>
          <a:ln/>
        </p:spPr>
        <p:txBody>
          <a:bodyPr wrap="squar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38005"/>
          </a:xfrm>
          <a:prstGeom prst="rect">
            <a:avLst/>
          </a:prstGeom>
          <a:solidFill>
            <a:srgbClr val="1B5E72"/>
          </a:solidFill>
          <a:ln/>
        </p:spPr>
        <p:txBody>
          <a:bodyPr wrap="square" lIns="372110" tIns="128270" rIns="372110" bIns="100330" rtlCol="0" anchor="t"/>
          <a:lstStyle/>
          <a:p>
            <a:pPr marL="0" indent="0" algn="l">
              <a:buNone/>
            </a:pPr>
            <a:r>
              <a:rPr lang="en-US" sz="1580" b="1" kern="0" spc="-20" dirty="0">
                <a:solidFill>
                  <a:srgbClr val="FFFFFF"/>
                </a:solidFill>
                <a:latin typeface="Calibri Light" pitchFamily="34" charset="0"/>
                <a:ea typeface="Calibri Light" pitchFamily="34" charset="-122"/>
                <a:cs typeface="Calibri Light" pitchFamily="34" charset="-120"/>
              </a:rPr>
              <a:t>Before You Create — Always Search First</a:t>
            </a:r>
            <a:endParaRPr lang="en-US" sz="1580" dirty="0"/>
          </a:p>
          <a:p>
            <a:pPr marL="0" indent="0" algn="l">
              <a:buNone/>
            </a:pPr>
            <a:r>
              <a:rPr lang="en-US" sz="840" dirty="0">
                <a:solidFill>
                  <a:srgbClr val="EAF4F4"/>
                </a:solidFill>
                <a:latin typeface="Calibri" pitchFamily="34" charset="0"/>
                <a:ea typeface="Calibri" pitchFamily="34" charset="-122"/>
                <a:cs typeface="Calibri" pitchFamily="34" charset="-120"/>
              </a:rPr>
              <a:t>Duplicate charts create real problems for clients. This step is not optional.</a:t>
            </a:r>
            <a:endParaRPr lang="en-US" sz="1580" dirty="0"/>
          </a:p>
        </p:txBody>
      </p:sp>
      <p:sp>
        <p:nvSpPr>
          <p:cNvPr id="3" name="Text 1"/>
          <p:cNvSpPr/>
          <p:nvPr/>
        </p:nvSpPr>
        <p:spPr>
          <a:xfrm>
            <a:off x="342900" y="762893"/>
            <a:ext cx="4114800" cy="340221"/>
          </a:xfrm>
          <a:prstGeom prst="roundRect">
            <a:avLst>
              <a:gd name="adj" fmla="val 16798"/>
            </a:avLst>
          </a:prstGeom>
          <a:solidFill>
            <a:srgbClr val="1B5E72"/>
          </a:solidFill>
          <a:ln/>
        </p:spPr>
        <p:txBody>
          <a:bodyPr wrap="square" rtlCol="0" anchor="t"/>
          <a:lstStyle/>
          <a:p>
            <a:pPr marL="0" indent="0">
              <a:buNone/>
            </a:pPr>
            <a:endParaRPr lang="en-US"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7868" y="866635"/>
            <a:ext cx="132588" cy="132588"/>
          </a:xfrm>
          <a:prstGeom prst="rect">
            <a:avLst/>
          </a:prstGeom>
        </p:spPr>
      </p:pic>
      <p:sp>
        <p:nvSpPr>
          <p:cNvPr id="5" name="Text 2"/>
          <p:cNvSpPr/>
          <p:nvPr/>
        </p:nvSpPr>
        <p:spPr>
          <a:xfrm>
            <a:off x="678954" y="841623"/>
            <a:ext cx="952307" cy="182761"/>
          </a:xfrm>
          <a:prstGeom prst="rect">
            <a:avLst/>
          </a:prstGeom>
          <a:noFill/>
          <a:ln/>
        </p:spPr>
        <p:txBody>
          <a:bodyPr wrap="none" lIns="0" tIns="0" rIns="0" bIns="0" rtlCol="0" anchor="ctr"/>
          <a:lstStyle/>
          <a:p>
            <a:pPr marL="0" indent="0" algn="l">
              <a:lnSpc>
                <a:spcPts val="1440"/>
              </a:lnSpc>
              <a:buNone/>
            </a:pPr>
            <a:r>
              <a:rPr lang="en-US" sz="960" b="1" dirty="0">
                <a:solidFill>
                  <a:srgbClr val="FFFFFF"/>
                </a:solidFill>
                <a:latin typeface="Calibri Light" pitchFamily="34" charset="0"/>
                <a:ea typeface="Calibri Light" pitchFamily="34" charset="-122"/>
                <a:cs typeface="Calibri Light" pitchFamily="34" charset="-120"/>
              </a:rPr>
              <a:t>Existing Client</a:t>
            </a:r>
            <a:endParaRPr lang="en-US" sz="960" dirty="0"/>
          </a:p>
        </p:txBody>
      </p:sp>
      <p:sp>
        <p:nvSpPr>
          <p:cNvPr id="6" name="Text 3"/>
          <p:cNvSpPr/>
          <p:nvPr/>
        </p:nvSpPr>
        <p:spPr>
          <a:xfrm>
            <a:off x="342900" y="1103114"/>
            <a:ext cx="4114800" cy="3260229"/>
          </a:xfrm>
          <a:prstGeom prst="rect">
            <a:avLst/>
          </a:prstGeom>
          <a:solidFill>
            <a:srgbClr val="EAF4F4"/>
          </a:solidFill>
          <a:ln/>
        </p:spPr>
        <p:txBody>
          <a:bodyPr wrap="square" rtlCol="0" anchor="t"/>
          <a:lstStyle/>
          <a:p>
            <a:pPr marL="0" indent="0">
              <a:buNone/>
            </a:pPr>
            <a:endParaRPr lang="en-US" dirty="0"/>
          </a:p>
        </p:txBody>
      </p:sp>
      <p:sp>
        <p:nvSpPr>
          <p:cNvPr id="7" name="Text 4"/>
          <p:cNvSpPr/>
          <p:nvPr/>
        </p:nvSpPr>
        <p:spPr>
          <a:xfrm>
            <a:off x="342900" y="1103114"/>
            <a:ext cx="9525" cy="3260229"/>
          </a:xfrm>
          <a:prstGeom prst="rect">
            <a:avLst/>
          </a:prstGeom>
          <a:solidFill>
            <a:srgbClr val="BFD9D9"/>
          </a:solidFill>
          <a:ln/>
        </p:spPr>
        <p:txBody>
          <a:bodyPr wrap="square" rtlCol="0" anchor="t"/>
          <a:lstStyle/>
          <a:p>
            <a:pPr marL="0" indent="0">
              <a:buNone/>
            </a:pPr>
            <a:endParaRPr lang="en-US" dirty="0"/>
          </a:p>
        </p:txBody>
      </p:sp>
      <p:sp>
        <p:nvSpPr>
          <p:cNvPr id="8" name="Text 5"/>
          <p:cNvSpPr/>
          <p:nvPr/>
        </p:nvSpPr>
        <p:spPr>
          <a:xfrm>
            <a:off x="4448175" y="1103114"/>
            <a:ext cx="9525" cy="3260229"/>
          </a:xfrm>
          <a:prstGeom prst="rect">
            <a:avLst/>
          </a:prstGeom>
          <a:solidFill>
            <a:srgbClr val="BFD9D9"/>
          </a:solidFill>
          <a:ln/>
        </p:spPr>
        <p:txBody>
          <a:bodyPr wrap="square" rtlCol="0" anchor="t"/>
          <a:lstStyle/>
          <a:p>
            <a:pPr marL="0" indent="0">
              <a:buNone/>
            </a:pPr>
            <a:endParaRPr lang="en-US" dirty="0"/>
          </a:p>
        </p:txBody>
      </p:sp>
      <p:sp>
        <p:nvSpPr>
          <p:cNvPr id="9" name="Text 6"/>
          <p:cNvSpPr/>
          <p:nvPr/>
        </p:nvSpPr>
        <p:spPr>
          <a:xfrm>
            <a:off x="509885" y="1231255"/>
            <a:ext cx="4158913" cy="129480"/>
          </a:xfrm>
          <a:prstGeom prst="rect">
            <a:avLst/>
          </a:prstGeom>
          <a:noFill/>
          <a:ln/>
        </p:spPr>
        <p:txBody>
          <a:bodyPr wrap="none" lIns="0" tIns="0" rIns="0" bIns="0" rtlCol="0" anchor="t"/>
          <a:lstStyle/>
          <a:p>
            <a:pPr marL="0" indent="0" algn="l">
              <a:lnSpc>
                <a:spcPts val="1020"/>
              </a:lnSpc>
              <a:buNone/>
            </a:pPr>
            <a:r>
              <a:rPr lang="en-US" sz="680" b="1" kern="0" spc="50" dirty="0">
                <a:solidFill>
                  <a:srgbClr val="55A49C"/>
                </a:solidFill>
                <a:latin typeface="Calibri Light" pitchFamily="34" charset="0"/>
                <a:ea typeface="Calibri Light" pitchFamily="34" charset="-122"/>
                <a:cs typeface="Calibri Light" pitchFamily="34" charset="-120"/>
              </a:rPr>
              <a:t>IF THE CLIENT IS ALREADY IN AVATAR</a:t>
            </a:r>
            <a:endParaRPr lang="en-US" sz="680" dirty="0"/>
          </a:p>
        </p:txBody>
      </p:sp>
      <p:sp>
        <p:nvSpPr>
          <p:cNvPr id="10" name="Text 7"/>
          <p:cNvSpPr/>
          <p:nvPr/>
        </p:nvSpPr>
        <p:spPr>
          <a:xfrm>
            <a:off x="509885" y="1417737"/>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FAB753"/>
                </a:solidFill>
                <a:latin typeface="Calibri" pitchFamily="34" charset="0"/>
                <a:ea typeface="Calibri" pitchFamily="34" charset="-122"/>
                <a:cs typeface="Calibri" pitchFamily="34" charset="-120"/>
              </a:rPr>
              <a:t>—</a:t>
            </a:r>
            <a:endParaRPr lang="en-US" sz="960" dirty="0"/>
          </a:p>
        </p:txBody>
      </p:sp>
      <p:sp>
        <p:nvSpPr>
          <p:cNvPr id="11" name="Text 8"/>
          <p:cNvSpPr/>
          <p:nvPr/>
        </p:nvSpPr>
        <p:spPr>
          <a:xfrm>
            <a:off x="702766" y="1410146"/>
            <a:ext cx="3659707" cy="317227"/>
          </a:xfrm>
          <a:prstGeom prst="rect">
            <a:avLst/>
          </a:prstGeom>
          <a:noFill/>
          <a:ln/>
        </p:spPr>
        <p:txBody>
          <a:bodyPr wrap="squar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Search by name and sex (minimum 3 data points — use SSN or DOB if needed).</a:t>
            </a:r>
            <a:endParaRPr lang="en-US" sz="820" dirty="0"/>
          </a:p>
        </p:txBody>
      </p:sp>
      <p:sp>
        <p:nvSpPr>
          <p:cNvPr id="12" name="Text 9"/>
          <p:cNvSpPr/>
          <p:nvPr/>
        </p:nvSpPr>
        <p:spPr>
          <a:xfrm>
            <a:off x="509885" y="1790849"/>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FAB753"/>
                </a:solidFill>
                <a:latin typeface="Calibri" pitchFamily="34" charset="0"/>
                <a:ea typeface="Calibri" pitchFamily="34" charset="-122"/>
                <a:cs typeface="Calibri" pitchFamily="34" charset="-120"/>
              </a:rPr>
              <a:t>—</a:t>
            </a:r>
            <a:endParaRPr lang="en-US" sz="960" dirty="0"/>
          </a:p>
        </p:txBody>
      </p:sp>
      <p:sp>
        <p:nvSpPr>
          <p:cNvPr id="13" name="Text 10"/>
          <p:cNvSpPr/>
          <p:nvPr/>
        </p:nvSpPr>
        <p:spPr>
          <a:xfrm>
            <a:off x="702766" y="1783259"/>
            <a:ext cx="3750618"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Avatar returns clients with similar names or birthdates — check carefully.</a:t>
            </a:r>
            <a:endParaRPr lang="en-US" sz="820" dirty="0"/>
          </a:p>
        </p:txBody>
      </p:sp>
      <p:sp>
        <p:nvSpPr>
          <p:cNvPr id="14" name="Text 11"/>
          <p:cNvSpPr/>
          <p:nvPr/>
        </p:nvSpPr>
        <p:spPr>
          <a:xfrm>
            <a:off x="509885" y="2046089"/>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FAB753"/>
                </a:solidFill>
                <a:latin typeface="Calibri" pitchFamily="34" charset="0"/>
                <a:ea typeface="Calibri" pitchFamily="34" charset="-122"/>
                <a:cs typeface="Calibri" pitchFamily="34" charset="-120"/>
              </a:rPr>
              <a:t>—</a:t>
            </a:r>
            <a:endParaRPr lang="en-US" sz="960" dirty="0"/>
          </a:p>
        </p:txBody>
      </p:sp>
      <p:sp>
        <p:nvSpPr>
          <p:cNvPr id="15" name="Text 12"/>
          <p:cNvSpPr/>
          <p:nvPr/>
        </p:nvSpPr>
        <p:spPr>
          <a:xfrm>
            <a:off x="702766" y="2038499"/>
            <a:ext cx="2506414"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If your client appears on the list, click that client.</a:t>
            </a:r>
            <a:endParaRPr lang="en-US" sz="820" dirty="0"/>
          </a:p>
        </p:txBody>
      </p:sp>
      <p:sp>
        <p:nvSpPr>
          <p:cNvPr id="16" name="Text 13"/>
          <p:cNvSpPr/>
          <p:nvPr/>
        </p:nvSpPr>
        <p:spPr>
          <a:xfrm>
            <a:off x="509885" y="2432745"/>
            <a:ext cx="4158913" cy="129480"/>
          </a:xfrm>
          <a:prstGeom prst="rect">
            <a:avLst/>
          </a:prstGeom>
          <a:noFill/>
          <a:ln/>
        </p:spPr>
        <p:txBody>
          <a:bodyPr wrap="none" lIns="0" tIns="0" rIns="0" bIns="0" rtlCol="0" anchor="t"/>
          <a:lstStyle/>
          <a:p>
            <a:pPr marL="0" indent="0" algn="l">
              <a:lnSpc>
                <a:spcPts val="1020"/>
              </a:lnSpc>
              <a:buNone/>
            </a:pPr>
            <a:r>
              <a:rPr lang="en-US" sz="680" b="1" kern="0" spc="50" dirty="0">
                <a:solidFill>
                  <a:srgbClr val="55A49C"/>
                </a:solidFill>
                <a:latin typeface="Calibri Light" pitchFamily="34" charset="0"/>
                <a:ea typeface="Calibri Light" pitchFamily="34" charset="-122"/>
                <a:cs typeface="Calibri Light" pitchFamily="34" charset="-120"/>
              </a:rPr>
              <a:t>OPEN EPISODE EXISTS</a:t>
            </a:r>
            <a:endParaRPr lang="en-US" sz="680" dirty="0"/>
          </a:p>
        </p:txBody>
      </p:sp>
      <p:sp>
        <p:nvSpPr>
          <p:cNvPr id="17" name="Text 14"/>
          <p:cNvSpPr/>
          <p:nvPr/>
        </p:nvSpPr>
        <p:spPr>
          <a:xfrm>
            <a:off x="509885" y="2619226"/>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FAB753"/>
                </a:solidFill>
                <a:latin typeface="Calibri" pitchFamily="34" charset="0"/>
                <a:ea typeface="Calibri" pitchFamily="34" charset="-122"/>
                <a:cs typeface="Calibri" pitchFamily="34" charset="-120"/>
              </a:rPr>
              <a:t>—</a:t>
            </a:r>
            <a:endParaRPr lang="en-US" sz="960" dirty="0"/>
          </a:p>
        </p:txBody>
      </p:sp>
      <p:sp>
        <p:nvSpPr>
          <p:cNvPr id="18" name="Text 15"/>
          <p:cNvSpPr/>
          <p:nvPr/>
        </p:nvSpPr>
        <p:spPr>
          <a:xfrm>
            <a:off x="702766" y="2611636"/>
            <a:ext cx="3943960"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Click the episode line without a Discharge Date and choose EDIT — not ADD.</a:t>
            </a:r>
            <a:endParaRPr lang="en-US" sz="820" dirty="0"/>
          </a:p>
        </p:txBody>
      </p:sp>
      <p:sp>
        <p:nvSpPr>
          <p:cNvPr id="19" name="Text 16"/>
          <p:cNvSpPr/>
          <p:nvPr/>
        </p:nvSpPr>
        <p:spPr>
          <a:xfrm>
            <a:off x="509885" y="2924026"/>
            <a:ext cx="4158913" cy="129480"/>
          </a:xfrm>
          <a:prstGeom prst="rect">
            <a:avLst/>
          </a:prstGeom>
          <a:noFill/>
          <a:ln/>
        </p:spPr>
        <p:txBody>
          <a:bodyPr wrap="none" lIns="0" tIns="0" rIns="0" bIns="0" rtlCol="0" anchor="t"/>
          <a:lstStyle/>
          <a:p>
            <a:pPr marL="0" indent="0" algn="l">
              <a:lnSpc>
                <a:spcPts val="1020"/>
              </a:lnSpc>
              <a:buNone/>
            </a:pPr>
            <a:r>
              <a:rPr lang="en-US" sz="680" b="1" kern="0" spc="50" dirty="0">
                <a:solidFill>
                  <a:srgbClr val="55A49C"/>
                </a:solidFill>
                <a:latin typeface="Calibri Light" pitchFamily="34" charset="0"/>
                <a:ea typeface="Calibri Light" pitchFamily="34" charset="-122"/>
                <a:cs typeface="Calibri Light" pitchFamily="34" charset="-120"/>
              </a:rPr>
              <a:t>NO OPEN EPISODE</a:t>
            </a:r>
            <a:endParaRPr lang="en-US" sz="680" dirty="0"/>
          </a:p>
        </p:txBody>
      </p:sp>
      <p:sp>
        <p:nvSpPr>
          <p:cNvPr id="20" name="Text 17"/>
          <p:cNvSpPr/>
          <p:nvPr/>
        </p:nvSpPr>
        <p:spPr>
          <a:xfrm>
            <a:off x="509885" y="3110508"/>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FAB753"/>
                </a:solidFill>
                <a:latin typeface="Calibri" pitchFamily="34" charset="0"/>
                <a:ea typeface="Calibri" pitchFamily="34" charset="-122"/>
                <a:cs typeface="Calibri" pitchFamily="34" charset="-120"/>
              </a:rPr>
              <a:t>—</a:t>
            </a:r>
            <a:endParaRPr lang="en-US" sz="960" dirty="0"/>
          </a:p>
        </p:txBody>
      </p:sp>
      <p:sp>
        <p:nvSpPr>
          <p:cNvPr id="21" name="Text 18"/>
          <p:cNvSpPr/>
          <p:nvPr/>
        </p:nvSpPr>
        <p:spPr>
          <a:xfrm>
            <a:off x="702766" y="3102918"/>
            <a:ext cx="3167970"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Click ADD to open a new episode on the existing client record.</a:t>
            </a:r>
            <a:endParaRPr lang="en-US" sz="820" dirty="0"/>
          </a:p>
        </p:txBody>
      </p:sp>
      <p:sp>
        <p:nvSpPr>
          <p:cNvPr id="22" name="Text 19"/>
          <p:cNvSpPr/>
          <p:nvPr/>
        </p:nvSpPr>
        <p:spPr>
          <a:xfrm>
            <a:off x="4686300" y="762893"/>
            <a:ext cx="4114800" cy="340221"/>
          </a:xfrm>
          <a:prstGeom prst="roundRect">
            <a:avLst>
              <a:gd name="adj" fmla="val 16798"/>
            </a:avLst>
          </a:prstGeom>
          <a:solidFill>
            <a:srgbClr val="FAB753"/>
          </a:solidFill>
          <a:ln/>
        </p:spPr>
        <p:txBody>
          <a:bodyPr wrap="square" rtlCol="0" anchor="t"/>
          <a:lstStyle/>
          <a:p>
            <a:pPr marL="0" indent="0">
              <a:buNone/>
            </a:pPr>
            <a:endParaRPr lang="en-US" dirty="0"/>
          </a:p>
        </p:txBody>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31268" y="866635"/>
            <a:ext cx="132588" cy="132588"/>
          </a:xfrm>
          <a:prstGeom prst="rect">
            <a:avLst/>
          </a:prstGeom>
        </p:spPr>
      </p:pic>
      <p:sp>
        <p:nvSpPr>
          <p:cNvPr id="24" name="Text 20"/>
          <p:cNvSpPr/>
          <p:nvPr/>
        </p:nvSpPr>
        <p:spPr>
          <a:xfrm>
            <a:off x="5022354" y="841623"/>
            <a:ext cx="699373" cy="182761"/>
          </a:xfrm>
          <a:prstGeom prst="rect">
            <a:avLst/>
          </a:prstGeom>
          <a:noFill/>
          <a:ln/>
        </p:spPr>
        <p:txBody>
          <a:bodyPr wrap="none" lIns="0" tIns="0" rIns="0" bIns="0" rtlCol="0" anchor="ctr"/>
          <a:lstStyle/>
          <a:p>
            <a:pPr marL="0" indent="0" algn="l">
              <a:lnSpc>
                <a:spcPts val="1440"/>
              </a:lnSpc>
              <a:buNone/>
            </a:pPr>
            <a:r>
              <a:rPr lang="en-US" sz="960" b="1" dirty="0">
                <a:solidFill>
                  <a:srgbClr val="1B3A20"/>
                </a:solidFill>
                <a:latin typeface="Calibri Light" pitchFamily="34" charset="0"/>
                <a:ea typeface="Calibri Light" pitchFamily="34" charset="-122"/>
                <a:cs typeface="Calibri Light" pitchFamily="34" charset="-120"/>
              </a:rPr>
              <a:t>New Client</a:t>
            </a:r>
            <a:endParaRPr lang="en-US" sz="960" dirty="0"/>
          </a:p>
        </p:txBody>
      </p:sp>
      <p:sp>
        <p:nvSpPr>
          <p:cNvPr id="25" name="Text 21"/>
          <p:cNvSpPr/>
          <p:nvPr/>
        </p:nvSpPr>
        <p:spPr>
          <a:xfrm>
            <a:off x="4686300" y="1103114"/>
            <a:ext cx="4114800" cy="3260229"/>
          </a:xfrm>
          <a:prstGeom prst="rect">
            <a:avLst/>
          </a:prstGeom>
          <a:solidFill>
            <a:srgbClr val="FFFFFF"/>
          </a:solidFill>
          <a:ln/>
        </p:spPr>
        <p:txBody>
          <a:bodyPr wrap="square" rtlCol="0" anchor="t"/>
          <a:lstStyle/>
          <a:p>
            <a:pPr marL="0" indent="0">
              <a:buNone/>
            </a:pPr>
            <a:endParaRPr lang="en-US" dirty="0"/>
          </a:p>
        </p:txBody>
      </p:sp>
      <p:sp>
        <p:nvSpPr>
          <p:cNvPr id="26" name="Text 22"/>
          <p:cNvSpPr/>
          <p:nvPr/>
        </p:nvSpPr>
        <p:spPr>
          <a:xfrm>
            <a:off x="4686300" y="1103114"/>
            <a:ext cx="9525" cy="3260229"/>
          </a:xfrm>
          <a:prstGeom prst="rect">
            <a:avLst/>
          </a:prstGeom>
          <a:solidFill>
            <a:srgbClr val="BDBDBD"/>
          </a:solidFill>
          <a:ln/>
        </p:spPr>
        <p:txBody>
          <a:bodyPr wrap="square" rtlCol="0" anchor="t"/>
          <a:lstStyle/>
          <a:p>
            <a:pPr marL="0" indent="0">
              <a:buNone/>
            </a:pPr>
            <a:endParaRPr lang="en-US" dirty="0"/>
          </a:p>
        </p:txBody>
      </p:sp>
      <p:sp>
        <p:nvSpPr>
          <p:cNvPr id="27" name="Text 23"/>
          <p:cNvSpPr/>
          <p:nvPr/>
        </p:nvSpPr>
        <p:spPr>
          <a:xfrm>
            <a:off x="8791575" y="1103114"/>
            <a:ext cx="9525" cy="3260229"/>
          </a:xfrm>
          <a:prstGeom prst="rect">
            <a:avLst/>
          </a:prstGeom>
          <a:solidFill>
            <a:srgbClr val="BDBDBD"/>
          </a:solidFill>
          <a:ln/>
        </p:spPr>
        <p:txBody>
          <a:bodyPr wrap="square" rtlCol="0" anchor="t"/>
          <a:lstStyle/>
          <a:p>
            <a:pPr marL="0" indent="0">
              <a:buNone/>
            </a:pPr>
            <a:endParaRPr lang="en-US" dirty="0"/>
          </a:p>
        </p:txBody>
      </p:sp>
      <p:sp>
        <p:nvSpPr>
          <p:cNvPr id="28" name="Text 24"/>
          <p:cNvSpPr/>
          <p:nvPr/>
        </p:nvSpPr>
        <p:spPr>
          <a:xfrm>
            <a:off x="4853285" y="1231255"/>
            <a:ext cx="4158913" cy="129480"/>
          </a:xfrm>
          <a:prstGeom prst="rect">
            <a:avLst/>
          </a:prstGeom>
          <a:noFill/>
          <a:ln/>
        </p:spPr>
        <p:txBody>
          <a:bodyPr wrap="none" lIns="0" tIns="0" rIns="0" bIns="0" rtlCol="0" anchor="t"/>
          <a:lstStyle/>
          <a:p>
            <a:pPr marL="0" indent="0" algn="l">
              <a:lnSpc>
                <a:spcPts val="1020"/>
              </a:lnSpc>
              <a:buNone/>
            </a:pPr>
            <a:r>
              <a:rPr lang="en-US" sz="680" b="1" kern="0" spc="50" dirty="0">
                <a:solidFill>
                  <a:srgbClr val="55A49C"/>
                </a:solidFill>
                <a:latin typeface="Calibri Light" pitchFamily="34" charset="0"/>
                <a:ea typeface="Calibri Light" pitchFamily="34" charset="-122"/>
                <a:cs typeface="Calibri Light" pitchFamily="34" charset="-120"/>
              </a:rPr>
              <a:t>IF THE CLIENT IS NOT IN AVATAR AT ALL</a:t>
            </a:r>
            <a:endParaRPr lang="en-US" sz="680" dirty="0"/>
          </a:p>
        </p:txBody>
      </p:sp>
      <p:sp>
        <p:nvSpPr>
          <p:cNvPr id="29" name="Text 25"/>
          <p:cNvSpPr/>
          <p:nvPr/>
        </p:nvSpPr>
        <p:spPr>
          <a:xfrm>
            <a:off x="4853285" y="1417737"/>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55A49C"/>
                </a:solidFill>
                <a:latin typeface="Calibri" pitchFamily="34" charset="0"/>
                <a:ea typeface="Calibri" pitchFamily="34" charset="-122"/>
                <a:cs typeface="Calibri" pitchFamily="34" charset="-120"/>
              </a:rPr>
              <a:t>—</a:t>
            </a:r>
            <a:endParaRPr lang="en-US" sz="960" dirty="0"/>
          </a:p>
        </p:txBody>
      </p:sp>
      <p:sp>
        <p:nvSpPr>
          <p:cNvPr id="30" name="Text 26"/>
          <p:cNvSpPr/>
          <p:nvPr/>
        </p:nvSpPr>
        <p:spPr>
          <a:xfrm>
            <a:off x="5046166" y="1410146"/>
            <a:ext cx="3282241"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Client does not appear in any search results — click New Client.</a:t>
            </a:r>
            <a:endParaRPr lang="en-US" sz="820" dirty="0"/>
          </a:p>
        </p:txBody>
      </p:sp>
      <p:sp>
        <p:nvSpPr>
          <p:cNvPr id="31" name="Text 27"/>
          <p:cNvSpPr/>
          <p:nvPr/>
        </p:nvSpPr>
        <p:spPr>
          <a:xfrm>
            <a:off x="4853285" y="1672977"/>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55A49C"/>
                </a:solidFill>
                <a:latin typeface="Calibri" pitchFamily="34" charset="0"/>
                <a:ea typeface="Calibri" pitchFamily="34" charset="-122"/>
                <a:cs typeface="Calibri" pitchFamily="34" charset="-120"/>
              </a:rPr>
              <a:t>—</a:t>
            </a:r>
            <a:endParaRPr lang="en-US" sz="960" dirty="0"/>
          </a:p>
        </p:txBody>
      </p:sp>
      <p:sp>
        <p:nvSpPr>
          <p:cNvPr id="32" name="Text 28"/>
          <p:cNvSpPr/>
          <p:nvPr/>
        </p:nvSpPr>
        <p:spPr>
          <a:xfrm>
            <a:off x="5046166" y="1665387"/>
            <a:ext cx="3671054"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When prompted "Auto Assign Next ID Number?" — always choose YES.</a:t>
            </a:r>
            <a:endParaRPr lang="en-US" sz="820" dirty="0"/>
          </a:p>
        </p:txBody>
      </p:sp>
      <p:sp>
        <p:nvSpPr>
          <p:cNvPr id="33" name="Text 29"/>
          <p:cNvSpPr/>
          <p:nvPr/>
        </p:nvSpPr>
        <p:spPr>
          <a:xfrm>
            <a:off x="4853285" y="1934468"/>
            <a:ext cx="3780830" cy="410292"/>
          </a:xfrm>
          <a:prstGeom prst="roundRect">
            <a:avLst>
              <a:gd name="adj" fmla="val 11107"/>
            </a:avLst>
          </a:prstGeom>
          <a:solidFill>
            <a:srgbClr val="FFF8EC"/>
          </a:solidFill>
          <a:ln w="9525">
            <a:solidFill>
              <a:srgbClr val="FAB753"/>
            </a:solidFill>
          </a:ln>
        </p:spPr>
        <p:txBody>
          <a:bodyPr wrap="square" lIns="86360" tIns="49530" rIns="86360" bIns="49530" rtlCol="0" anchor="t"/>
          <a:lstStyle/>
          <a:p>
            <a:pPr marL="0" indent="0" algn="l">
              <a:buNone/>
            </a:pPr>
            <a:r>
              <a:rPr lang="en-US" sz="730" b="1" dirty="0">
                <a:solidFill>
                  <a:srgbClr val="6B4800"/>
                </a:solidFill>
                <a:latin typeface="Calibri" pitchFamily="34" charset="0"/>
                <a:ea typeface="Calibri" pitchFamily="34" charset="-122"/>
                <a:cs typeface="Calibri" pitchFamily="34" charset="-120"/>
              </a:rPr>
              <a:t>UAT Exception:</a:t>
            </a:r>
            <a:r>
              <a:rPr lang="en-US" sz="730" dirty="0">
                <a:solidFill>
                  <a:srgbClr val="6B4800"/>
                </a:solidFill>
                <a:latin typeface="Calibri" pitchFamily="34" charset="0"/>
                <a:ea typeface="Calibri" pitchFamily="34" charset="-122"/>
                <a:cs typeface="Calibri" pitchFamily="34" charset="-120"/>
              </a:rPr>
              <a:t> If you are working in UAT for training purposes and have been assigned a specific number to use, use that number instead of auto-assigning.</a:t>
            </a:r>
            <a:endParaRPr lang="en-US" sz="730" dirty="0"/>
          </a:p>
        </p:txBody>
      </p:sp>
      <p:sp>
        <p:nvSpPr>
          <p:cNvPr id="34" name="Text 30"/>
          <p:cNvSpPr/>
          <p:nvPr/>
        </p:nvSpPr>
        <p:spPr>
          <a:xfrm>
            <a:off x="4853285" y="2600000"/>
            <a:ext cx="134079" cy="176659"/>
          </a:xfrm>
          <a:prstGeom prst="rect">
            <a:avLst/>
          </a:prstGeom>
          <a:noFill/>
          <a:ln/>
        </p:spPr>
        <p:txBody>
          <a:bodyPr wrap="none" lIns="0" tIns="0" rIns="0" bIns="0" rtlCol="0" anchor="ctr"/>
          <a:lstStyle/>
          <a:p>
            <a:pPr marL="0" indent="0" algn="l">
              <a:lnSpc>
                <a:spcPts val="1392"/>
              </a:lnSpc>
              <a:buNone/>
            </a:pPr>
            <a:r>
              <a:rPr lang="en-US" sz="960" b="1" dirty="0">
                <a:solidFill>
                  <a:srgbClr val="55A49C"/>
                </a:solidFill>
                <a:latin typeface="Calibri" pitchFamily="34" charset="0"/>
                <a:ea typeface="Calibri" pitchFamily="34" charset="-122"/>
                <a:cs typeface="Calibri" pitchFamily="34" charset="-120"/>
              </a:rPr>
              <a:t>—</a:t>
            </a:r>
            <a:endParaRPr lang="en-US" sz="960" dirty="0"/>
          </a:p>
        </p:txBody>
      </p:sp>
      <p:sp>
        <p:nvSpPr>
          <p:cNvPr id="35" name="Text 31"/>
          <p:cNvSpPr/>
          <p:nvPr/>
        </p:nvSpPr>
        <p:spPr>
          <a:xfrm>
            <a:off x="5046166" y="2592410"/>
            <a:ext cx="3116401" cy="151061"/>
          </a:xfrm>
          <a:prstGeom prst="rect">
            <a:avLst/>
          </a:prstGeom>
          <a:noFill/>
          <a:ln/>
        </p:spPr>
        <p:txBody>
          <a:bodyPr wrap="none" lIns="0" tIns="0" rIns="0" bIns="0" rtlCol="0" anchor="ctr"/>
          <a:lstStyle/>
          <a:p>
            <a:pPr marL="0" indent="0" algn="l">
              <a:lnSpc>
                <a:spcPts val="1189"/>
              </a:lnSpc>
              <a:buNone/>
            </a:pPr>
            <a:r>
              <a:rPr lang="en-US" sz="820" dirty="0">
                <a:solidFill>
                  <a:srgbClr val="2C2C2C"/>
                </a:solidFill>
                <a:latin typeface="Calibri" pitchFamily="34" charset="0"/>
                <a:ea typeface="Calibri" pitchFamily="34" charset="-122"/>
                <a:cs typeface="Calibri" pitchFamily="34" charset="-120"/>
              </a:rPr>
              <a:t>Complete all bundle forms in order before closing the chart.</a:t>
            </a:r>
            <a:endParaRPr lang="en-US" sz="820" dirty="0"/>
          </a:p>
        </p:txBody>
      </p:sp>
      <p:sp>
        <p:nvSpPr>
          <p:cNvPr id="36" name="Text 32"/>
          <p:cNvSpPr/>
          <p:nvPr/>
        </p:nvSpPr>
        <p:spPr>
          <a:xfrm>
            <a:off x="4853285" y="3839766"/>
            <a:ext cx="3856446" cy="399752"/>
          </a:xfrm>
          <a:prstGeom prst="roundRect">
            <a:avLst>
              <a:gd name="adj" fmla="val 10802"/>
            </a:avLst>
          </a:prstGeom>
          <a:solidFill>
            <a:srgbClr val="EAF4F4"/>
          </a:solidFill>
          <a:ln/>
        </p:spPr>
        <p:txBody>
          <a:bodyPr wrap="square" lIns="100330" tIns="64770" rIns="100330" bIns="64770" rtlCol="0" anchor="t"/>
          <a:lstStyle/>
          <a:p>
            <a:pPr marL="0" indent="0" algn="l">
              <a:buNone/>
            </a:pPr>
            <a:r>
              <a:rPr lang="en-US" sz="760" b="1" dirty="0">
                <a:solidFill>
                  <a:srgbClr val="1B5E72"/>
                </a:solidFill>
                <a:latin typeface="Calibri" pitchFamily="34" charset="0"/>
                <a:ea typeface="Calibri" pitchFamily="34" charset="-122"/>
                <a:cs typeface="Calibri" pitchFamily="34" charset="-120"/>
              </a:rPr>
              <a:t>Remember: even in UAT, always practice the search step before creating a new client. Build the habit now.</a:t>
            </a:r>
            <a:endParaRPr lang="en-US" sz="760" dirty="0"/>
          </a:p>
        </p:txBody>
      </p:sp>
      <p:sp>
        <p:nvSpPr>
          <p:cNvPr id="37" name="Text 33"/>
          <p:cNvSpPr/>
          <p:nvPr/>
        </p:nvSpPr>
        <p:spPr>
          <a:xfrm>
            <a:off x="4853285" y="3839766"/>
            <a:ext cx="28575" cy="399752"/>
          </a:xfrm>
          <a:custGeom>
            <a:avLst/>
            <a:gdLst/>
            <a:ahLst/>
            <a:cxnLst/>
            <a:rect l="l" t="t" r="r" b="b"/>
            <a:pathLst>
              <a:path w="28575" h="399752">
                <a:moveTo>
                  <a:pt x="0" y="43180"/>
                </a:moveTo>
                <a:lnTo>
                  <a:pt x="3572" y="25984"/>
                </a:lnTo>
                <a:lnTo>
                  <a:pt x="7144" y="19391"/>
                </a:lnTo>
                <a:lnTo>
                  <a:pt x="10716" y="14709"/>
                </a:lnTo>
                <a:lnTo>
                  <a:pt x="14288" y="11090"/>
                </a:lnTo>
                <a:lnTo>
                  <a:pt x="17859" y="8203"/>
                </a:lnTo>
                <a:lnTo>
                  <a:pt x="21431" y="5877"/>
                </a:lnTo>
                <a:lnTo>
                  <a:pt x="25003" y="4012"/>
                </a:lnTo>
                <a:lnTo>
                  <a:pt x="28575" y="2545"/>
                </a:lnTo>
                <a:lnTo>
                  <a:pt x="28575" y="397207"/>
                </a:lnTo>
                <a:lnTo>
                  <a:pt x="25003" y="395740"/>
                </a:lnTo>
                <a:lnTo>
                  <a:pt x="21431" y="393875"/>
                </a:lnTo>
                <a:lnTo>
                  <a:pt x="17859" y="391549"/>
                </a:lnTo>
                <a:lnTo>
                  <a:pt x="14288" y="388662"/>
                </a:lnTo>
                <a:lnTo>
                  <a:pt x="10716" y="385043"/>
                </a:lnTo>
                <a:lnTo>
                  <a:pt x="7144" y="380361"/>
                </a:lnTo>
                <a:lnTo>
                  <a:pt x="3572" y="373769"/>
                </a:lnTo>
                <a:lnTo>
                  <a:pt x="0" y="356572"/>
                </a:lnTo>
                <a:close/>
              </a:path>
            </a:pathLst>
          </a:custGeom>
          <a:solidFill>
            <a:srgbClr val="55A49C"/>
          </a:solidFill>
          <a:ln/>
        </p:spPr>
        <p:txBody>
          <a:bodyPr wrap="square" rtlCol="0" anchor="t"/>
          <a:lstStyle/>
          <a:p>
            <a:pPr marL="0" indent="0">
              <a:buNone/>
            </a:pPr>
            <a:endParaRPr lang="en-US" dirty="0"/>
          </a:p>
        </p:txBody>
      </p:sp>
      <p:sp>
        <p:nvSpPr>
          <p:cNvPr id="38" name="Text 34"/>
          <p:cNvSpPr/>
          <p:nvPr/>
        </p:nvSpPr>
        <p:spPr>
          <a:xfrm>
            <a:off x="0" y="4807893"/>
            <a:ext cx="9144000" cy="335607"/>
          </a:xfrm>
          <a:prstGeom prst="rect">
            <a:avLst/>
          </a:prstGeom>
          <a:solidFill>
            <a:srgbClr val="EAF4F4"/>
          </a:solidFill>
          <a:ln/>
        </p:spPr>
        <p:txBody>
          <a:bodyPr wrap="square" rtlCol="0" anchor="t"/>
          <a:lstStyle/>
          <a:p>
            <a:pPr marL="0" indent="0">
              <a:buNone/>
            </a:pPr>
            <a:endParaRPr lang="en-US" dirty="0"/>
          </a:p>
        </p:txBody>
      </p:sp>
      <p:sp>
        <p:nvSpPr>
          <p:cNvPr id="39" name="Text 35"/>
          <p:cNvSpPr/>
          <p:nvPr/>
        </p:nvSpPr>
        <p:spPr>
          <a:xfrm>
            <a:off x="0" y="4807893"/>
            <a:ext cx="9144000" cy="19050"/>
          </a:xfrm>
          <a:prstGeom prst="rect">
            <a:avLst/>
          </a:prstGeom>
          <a:solidFill>
            <a:srgbClr val="FAB753"/>
          </a:solidFill>
          <a:ln/>
        </p:spPr>
        <p:txBody>
          <a:bodyPr wrap="none" rtlCol="0" anchor="t"/>
          <a:lstStyle/>
          <a:p>
            <a:pPr marL="0" indent="0">
              <a:buNone/>
            </a:pPr>
            <a:endParaRPr lang="en-US" dirty="0"/>
          </a:p>
        </p:txBody>
      </p:sp>
      <p:pic>
        <p:nvPicPr>
          <p:cNvPr id="4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973" y="4918927"/>
            <a:ext cx="132588" cy="132588"/>
          </a:xfrm>
          <a:prstGeom prst="rect">
            <a:avLst/>
          </a:prstGeom>
        </p:spPr>
      </p:pic>
      <p:sp>
        <p:nvSpPr>
          <p:cNvPr id="41" name="Text 36"/>
          <p:cNvSpPr/>
          <p:nvPr/>
        </p:nvSpPr>
        <p:spPr>
          <a:xfrm>
            <a:off x="1774016" y="4913263"/>
            <a:ext cx="5595967" cy="143917"/>
          </a:xfrm>
          <a:prstGeom prst="rect">
            <a:avLst/>
          </a:prstGeom>
          <a:noFill/>
          <a:ln/>
        </p:spPr>
        <p:txBody>
          <a:bodyPr wrap="none" lIns="0" tIns="0" rIns="0" bIns="0" rtlCol="0" anchor="ctr"/>
          <a:lstStyle/>
          <a:p>
            <a:pPr marL="0" indent="0" algn="ctr">
              <a:lnSpc>
                <a:spcPts val="1134"/>
              </a:lnSpc>
              <a:buNone/>
            </a:pPr>
            <a:r>
              <a:rPr lang="en-US" sz="840" b="1" dirty="0">
                <a:solidFill>
                  <a:srgbClr val="2C2C2C"/>
                </a:solidFill>
                <a:latin typeface="Calibri" pitchFamily="34" charset="0"/>
                <a:ea typeface="Calibri" pitchFamily="34" charset="-122"/>
                <a:cs typeface="Calibri" pitchFamily="34" charset="-120"/>
              </a:rPr>
              <a:t>One duplicate chart can follow a client for years. The search step takes 30 seconds. Do it every time.</a:t>
            </a:r>
            <a:endParaRPr lang="en-US" sz="840" dirty="0"/>
          </a:p>
        </p:txBody>
      </p:sp>
      <p:pic>
        <p:nvPicPr>
          <p:cNvPr id="4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03439" y="4918927"/>
            <a:ext cx="132588" cy="1325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832381"/>
          </a:xfrm>
          <a:prstGeom prst="rect">
            <a:avLst/>
          </a:prstGeom>
          <a:solidFill>
            <a:srgbClr val="1B5E72"/>
          </a:solidFill>
          <a:ln/>
        </p:spPr>
        <p:txBody>
          <a:bodyPr wrap="square" lIns="457200" tIns="157480" rIns="457200" bIns="128270" rtlCol="0" anchor="t"/>
          <a:lstStyle/>
          <a:p>
            <a:pPr marL="0" indent="0" algn="l">
              <a:buNone/>
            </a:pPr>
            <a:r>
              <a:rPr lang="en-US" sz="1690" b="1" kern="0" spc="17" dirty="0">
                <a:solidFill>
                  <a:srgbClr val="FFFFFF"/>
                </a:solidFill>
                <a:latin typeface="Calibri Light" pitchFamily="34" charset="0"/>
                <a:ea typeface="Calibri Light" pitchFamily="34" charset="-122"/>
                <a:cs typeface="Calibri Light" pitchFamily="34" charset="-120"/>
              </a:rPr>
              <a:t>Type of Admission — Choosing Correctly</a:t>
            </a:r>
            <a:endParaRPr lang="en-US" sz="1690" dirty="0"/>
          </a:p>
          <a:p>
            <a:pPr marL="0" indent="0" algn="l">
              <a:buNone/>
            </a:pPr>
            <a:r>
              <a:rPr lang="en-US" sz="900" b="1" kern="0" spc="18" dirty="0">
                <a:solidFill>
                  <a:srgbClr val="FAB753"/>
                </a:solidFill>
                <a:latin typeface="Calibri" pitchFamily="34" charset="0"/>
                <a:ea typeface="Calibri" pitchFamily="34" charset="-122"/>
                <a:cs typeface="Calibri" pitchFamily="34" charset="-120"/>
              </a:rPr>
              <a:t>The type of admission you select affects reporting data and the client record. Choose carefully.</a:t>
            </a:r>
            <a:endParaRPr lang="en-US" sz="1690" dirty="0"/>
          </a:p>
        </p:txBody>
      </p:sp>
      <p:sp>
        <p:nvSpPr>
          <p:cNvPr id="3" name="Text 1"/>
          <p:cNvSpPr/>
          <p:nvPr/>
        </p:nvSpPr>
        <p:spPr>
          <a:xfrm>
            <a:off x="457200" y="936278"/>
            <a:ext cx="1227832" cy="129480"/>
          </a:xfrm>
          <a:prstGeom prst="rect">
            <a:avLst/>
          </a:prstGeom>
          <a:noFill/>
          <a:ln/>
        </p:spPr>
        <p:txBody>
          <a:bodyPr wrap="none" lIns="0" tIns="0" rIns="0" bIns="0" rtlCol="0" anchor="ctr"/>
          <a:lstStyle/>
          <a:p>
            <a:pPr marL="0" indent="0" algn="l">
              <a:lnSpc>
                <a:spcPts val="1020"/>
              </a:lnSpc>
              <a:buNone/>
            </a:pPr>
            <a:r>
              <a:rPr lang="en-US" sz="680" b="1" dirty="0">
                <a:solidFill>
                  <a:srgbClr val="55A49C"/>
                </a:solidFill>
                <a:latin typeface="Calibri" pitchFamily="34" charset="0"/>
                <a:ea typeface="Calibri" pitchFamily="34" charset="-122"/>
                <a:cs typeface="Calibri" pitchFamily="34" charset="-120"/>
              </a:rPr>
              <a:t>PART 1 · ADMISSIONS</a:t>
            </a:r>
            <a:endParaRPr lang="en-US" sz="680" dirty="0"/>
          </a:p>
        </p:txBody>
      </p:sp>
      <p:sp>
        <p:nvSpPr>
          <p:cNvPr id="4" name="Text 2"/>
          <p:cNvSpPr/>
          <p:nvPr/>
        </p:nvSpPr>
        <p:spPr>
          <a:xfrm>
            <a:off x="1644402" y="997148"/>
            <a:ext cx="7042398" cy="7590"/>
          </a:xfrm>
          <a:prstGeom prst="rect">
            <a:avLst/>
          </a:prstGeom>
          <a:solidFill>
            <a:srgbClr val="D0E8E8"/>
          </a:solidFill>
          <a:ln/>
        </p:spPr>
        <p:txBody>
          <a:bodyPr wrap="none" rtlCol="0" anchor="t"/>
          <a:lstStyle/>
          <a:p>
            <a:pPr marL="0" indent="0">
              <a:buNone/>
            </a:pPr>
            <a:endParaRPr lang="en-US" dirty="0"/>
          </a:p>
        </p:txBody>
      </p:sp>
      <p:sp>
        <p:nvSpPr>
          <p:cNvPr id="5" name="Text 3"/>
          <p:cNvSpPr/>
          <p:nvPr/>
        </p:nvSpPr>
        <p:spPr>
          <a:xfrm>
            <a:off x="457200" y="1280368"/>
            <a:ext cx="2609404" cy="2414141"/>
          </a:xfrm>
          <a:prstGeom prst="roundRect">
            <a:avLst>
              <a:gd name="adj" fmla="val 2946"/>
            </a:avLst>
          </a:prstGeom>
          <a:solidFill>
            <a:srgbClr val="EAF4F4"/>
          </a:solidFill>
          <a:ln w="9525">
            <a:solidFill>
              <a:srgbClr val="C8E3E3"/>
            </a:solidFill>
          </a:ln>
        </p:spPr>
        <p:txBody>
          <a:bodyPr wrap="square" rtlCol="0" anchor="t"/>
          <a:lstStyle/>
          <a:p>
            <a:pPr marL="0" indent="0">
              <a:buNone/>
            </a:pPr>
            <a:endParaRPr lang="en-US" dirty="0"/>
          </a:p>
        </p:txBody>
      </p:sp>
      <p:sp>
        <p:nvSpPr>
          <p:cNvPr id="6" name="Text 4"/>
          <p:cNvSpPr/>
          <p:nvPr/>
        </p:nvSpPr>
        <p:spPr>
          <a:xfrm>
            <a:off x="681335" y="1518493"/>
            <a:ext cx="372070" cy="372070"/>
          </a:xfrm>
          <a:prstGeom prst="ellipse">
            <a:avLst/>
          </a:prstGeom>
          <a:solidFill>
            <a:srgbClr val="1B5E72"/>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7868" y="1635026"/>
            <a:ext cx="139005" cy="139005"/>
          </a:xfrm>
          <a:prstGeom prst="rect">
            <a:avLst/>
          </a:prstGeom>
        </p:spPr>
      </p:pic>
      <p:sp>
        <p:nvSpPr>
          <p:cNvPr id="8" name="Text 5"/>
          <p:cNvSpPr/>
          <p:nvPr/>
        </p:nvSpPr>
        <p:spPr>
          <a:xfrm>
            <a:off x="681335" y="2018705"/>
            <a:ext cx="511671" cy="177299"/>
          </a:xfrm>
          <a:prstGeom prst="roundRect">
            <a:avLst>
              <a:gd name="adj" fmla="val 80943"/>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TYPE 01</a:t>
            </a:r>
            <a:endParaRPr lang="en-US" sz="620" dirty="0"/>
          </a:p>
        </p:txBody>
      </p:sp>
      <p:sp>
        <p:nvSpPr>
          <p:cNvPr id="9" name="Text 6"/>
          <p:cNvSpPr/>
          <p:nvPr/>
        </p:nvSpPr>
        <p:spPr>
          <a:xfrm>
            <a:off x="681335" y="2250877"/>
            <a:ext cx="1301338" cy="188863"/>
          </a:xfrm>
          <a:prstGeom prst="rect">
            <a:avLst/>
          </a:prstGeom>
          <a:noFill/>
          <a:ln/>
        </p:spPr>
        <p:txBody>
          <a:bodyPr wrap="none" lIns="0" tIns="0" rIns="0" bIns="0" rtlCol="0" anchor="t"/>
          <a:lstStyle/>
          <a:p>
            <a:pPr marL="0" indent="0" algn="l">
              <a:lnSpc>
                <a:spcPts val="1488"/>
              </a:lnSpc>
              <a:spcAft>
                <a:spcPts val="680"/>
              </a:spcAft>
              <a:buNone/>
            </a:pPr>
            <a:r>
              <a:rPr lang="en-US" sz="1240" b="1" dirty="0">
                <a:solidFill>
                  <a:srgbClr val="1B5E72"/>
                </a:solidFill>
                <a:latin typeface="Calibri Light" pitchFamily="34" charset="0"/>
                <a:ea typeface="Calibri Light" pitchFamily="34" charset="-122"/>
                <a:cs typeface="Calibri Light" pitchFamily="34" charset="-120"/>
              </a:rPr>
              <a:t>First Admission</a:t>
            </a:r>
            <a:endParaRPr lang="en-US" sz="1240" dirty="0"/>
          </a:p>
        </p:txBody>
      </p:sp>
      <p:sp>
        <p:nvSpPr>
          <p:cNvPr id="10" name="Text 7"/>
          <p:cNvSpPr/>
          <p:nvPr/>
        </p:nvSpPr>
        <p:spPr>
          <a:xfrm>
            <a:off x="681335" y="2526060"/>
            <a:ext cx="2204356" cy="991530"/>
          </a:xfrm>
          <a:prstGeom prst="rect">
            <a:avLst/>
          </a:prstGeom>
          <a:noFill/>
          <a:ln/>
        </p:spPr>
        <p:txBody>
          <a:bodyPr wrap="square" lIns="0" tIns="0" rIns="0" bIns="0" rtlCol="0" anchor="t"/>
          <a:lstStyle/>
          <a:p>
            <a:pPr marL="0" indent="0" algn="l">
              <a:lnSpc>
                <a:spcPts val="1488"/>
              </a:lnSpc>
              <a:buNone/>
            </a:pPr>
            <a:r>
              <a:rPr lang="en-US" sz="960" dirty="0">
                <a:solidFill>
                  <a:srgbClr val="2C2C2C"/>
                </a:solidFill>
                <a:latin typeface="Calibri" pitchFamily="34" charset="0"/>
                <a:ea typeface="Calibri" pitchFamily="34" charset="-122"/>
                <a:cs typeface="Calibri" pitchFamily="34" charset="-120"/>
              </a:rPr>
              <a:t>Use for clients who have never received services at Centerstone before. This opens a brand new episode and client history.</a:t>
            </a:r>
            <a:endParaRPr lang="en-US" sz="960" dirty="0"/>
          </a:p>
        </p:txBody>
      </p:sp>
      <p:sp>
        <p:nvSpPr>
          <p:cNvPr id="11" name="Text 8"/>
          <p:cNvSpPr/>
          <p:nvPr/>
        </p:nvSpPr>
        <p:spPr>
          <a:xfrm>
            <a:off x="2627412" y="3070324"/>
            <a:ext cx="300506" cy="514350"/>
          </a:xfrm>
          <a:prstGeom prst="rect">
            <a:avLst/>
          </a:prstGeom>
          <a:noFill/>
          <a:ln/>
        </p:spPr>
        <p:txBody>
          <a:bodyPr wrap="none" lIns="0" tIns="0" rIns="0" bIns="0" rtlCol="0" anchor="t"/>
          <a:lstStyle/>
          <a:p>
            <a:pPr marL="0" indent="0" algn="l">
              <a:lnSpc>
                <a:spcPts val="4050"/>
              </a:lnSpc>
              <a:buNone/>
            </a:pPr>
            <a:r>
              <a:rPr lang="en-US" sz="4050" b="1" dirty="0">
                <a:solidFill>
                  <a:srgbClr val="1B5E72">
                    <a:alpha val="7000"/>
                  </a:srgbClr>
                </a:solidFill>
                <a:latin typeface="Calibri Light" pitchFamily="34" charset="0"/>
                <a:ea typeface="Calibri Light" pitchFamily="34" charset="-122"/>
                <a:cs typeface="Calibri Light" pitchFamily="34" charset="-120"/>
              </a:rPr>
              <a:t>1</a:t>
            </a:r>
            <a:endParaRPr lang="en-US" sz="4050" dirty="0"/>
          </a:p>
        </p:txBody>
      </p:sp>
      <p:sp>
        <p:nvSpPr>
          <p:cNvPr id="12" name="Text 9"/>
          <p:cNvSpPr/>
          <p:nvPr/>
        </p:nvSpPr>
        <p:spPr>
          <a:xfrm>
            <a:off x="3267224" y="1280368"/>
            <a:ext cx="2609552" cy="2414141"/>
          </a:xfrm>
          <a:prstGeom prst="roundRect">
            <a:avLst>
              <a:gd name="adj" fmla="val 2946"/>
            </a:avLst>
          </a:prstGeom>
          <a:solidFill>
            <a:srgbClr val="EAF4F4"/>
          </a:solidFill>
          <a:ln w="9525">
            <a:solidFill>
              <a:srgbClr val="C8E3E3"/>
            </a:solidFill>
          </a:ln>
        </p:spPr>
        <p:txBody>
          <a:bodyPr wrap="square" rtlCol="0" anchor="t"/>
          <a:lstStyle/>
          <a:p>
            <a:pPr marL="0" indent="0">
              <a:buNone/>
            </a:pPr>
            <a:endParaRPr lang="en-US" dirty="0"/>
          </a:p>
        </p:txBody>
      </p:sp>
      <p:sp>
        <p:nvSpPr>
          <p:cNvPr id="13" name="Text 10"/>
          <p:cNvSpPr/>
          <p:nvPr/>
        </p:nvSpPr>
        <p:spPr>
          <a:xfrm>
            <a:off x="3491359" y="1518493"/>
            <a:ext cx="372070" cy="372070"/>
          </a:xfrm>
          <a:prstGeom prst="ellipse">
            <a:avLst/>
          </a:prstGeom>
          <a:solidFill>
            <a:srgbClr val="1B5E72"/>
          </a:solidFill>
          <a:ln/>
        </p:spPr>
        <p:txBody>
          <a:bodyPr wrap="squar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7891" y="1635026"/>
            <a:ext cx="139005" cy="139005"/>
          </a:xfrm>
          <a:prstGeom prst="rect">
            <a:avLst/>
          </a:prstGeom>
        </p:spPr>
      </p:pic>
      <p:sp>
        <p:nvSpPr>
          <p:cNvPr id="15" name="Text 11"/>
          <p:cNvSpPr/>
          <p:nvPr/>
        </p:nvSpPr>
        <p:spPr>
          <a:xfrm>
            <a:off x="3491359" y="2018705"/>
            <a:ext cx="511671" cy="177299"/>
          </a:xfrm>
          <a:prstGeom prst="roundRect">
            <a:avLst>
              <a:gd name="adj" fmla="val 80943"/>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TYPE 02</a:t>
            </a:r>
            <a:endParaRPr lang="en-US" sz="620" dirty="0"/>
          </a:p>
        </p:txBody>
      </p:sp>
      <p:sp>
        <p:nvSpPr>
          <p:cNvPr id="16" name="Text 12"/>
          <p:cNvSpPr/>
          <p:nvPr/>
        </p:nvSpPr>
        <p:spPr>
          <a:xfrm>
            <a:off x="3491359" y="2250877"/>
            <a:ext cx="1163494" cy="188863"/>
          </a:xfrm>
          <a:prstGeom prst="rect">
            <a:avLst/>
          </a:prstGeom>
          <a:noFill/>
          <a:ln/>
        </p:spPr>
        <p:txBody>
          <a:bodyPr wrap="none" lIns="0" tIns="0" rIns="0" bIns="0" rtlCol="0" anchor="t"/>
          <a:lstStyle/>
          <a:p>
            <a:pPr marL="0" indent="0" algn="l">
              <a:lnSpc>
                <a:spcPts val="1488"/>
              </a:lnSpc>
              <a:spcAft>
                <a:spcPts val="680"/>
              </a:spcAft>
              <a:buNone/>
            </a:pPr>
            <a:r>
              <a:rPr lang="en-US" sz="1240" b="1" dirty="0">
                <a:solidFill>
                  <a:srgbClr val="1B5E72"/>
                </a:solidFill>
                <a:latin typeface="Calibri Light" pitchFamily="34" charset="0"/>
                <a:ea typeface="Calibri Light" pitchFamily="34" charset="-122"/>
                <a:cs typeface="Calibri Light" pitchFamily="34" charset="-120"/>
              </a:rPr>
              <a:t>Re-Admission</a:t>
            </a:r>
            <a:endParaRPr lang="en-US" sz="1240" dirty="0"/>
          </a:p>
        </p:txBody>
      </p:sp>
      <p:sp>
        <p:nvSpPr>
          <p:cNvPr id="17" name="Text 13"/>
          <p:cNvSpPr/>
          <p:nvPr/>
        </p:nvSpPr>
        <p:spPr>
          <a:xfrm>
            <a:off x="3491359" y="2526060"/>
            <a:ext cx="2204508" cy="991530"/>
          </a:xfrm>
          <a:prstGeom prst="rect">
            <a:avLst/>
          </a:prstGeom>
          <a:noFill/>
          <a:ln/>
        </p:spPr>
        <p:txBody>
          <a:bodyPr wrap="square" lIns="0" tIns="0" rIns="0" bIns="0" rtlCol="0" anchor="t"/>
          <a:lstStyle/>
          <a:p>
            <a:pPr marL="0" indent="0" algn="l">
              <a:lnSpc>
                <a:spcPts val="1488"/>
              </a:lnSpc>
              <a:buNone/>
            </a:pPr>
            <a:r>
              <a:rPr lang="en-US" sz="960" dirty="0">
                <a:solidFill>
                  <a:srgbClr val="2C2C2C"/>
                </a:solidFill>
                <a:latin typeface="Calibri" pitchFamily="34" charset="0"/>
                <a:ea typeface="Calibri" pitchFamily="34" charset="-122"/>
                <a:cs typeface="Calibri" pitchFamily="34" charset="-120"/>
              </a:rPr>
              <a:t>Use for clients who have received Centerstone services before and have a prior discharged episode. Do not open a new chart — connect to the existing client record.</a:t>
            </a:r>
            <a:endParaRPr lang="en-US" sz="960" dirty="0"/>
          </a:p>
        </p:txBody>
      </p:sp>
      <p:sp>
        <p:nvSpPr>
          <p:cNvPr id="18" name="Text 14"/>
          <p:cNvSpPr/>
          <p:nvPr/>
        </p:nvSpPr>
        <p:spPr>
          <a:xfrm>
            <a:off x="5437584" y="3070324"/>
            <a:ext cx="300506" cy="514350"/>
          </a:xfrm>
          <a:prstGeom prst="rect">
            <a:avLst/>
          </a:prstGeom>
          <a:noFill/>
          <a:ln/>
        </p:spPr>
        <p:txBody>
          <a:bodyPr wrap="none" lIns="0" tIns="0" rIns="0" bIns="0" rtlCol="0" anchor="t"/>
          <a:lstStyle/>
          <a:p>
            <a:pPr marL="0" indent="0" algn="l">
              <a:lnSpc>
                <a:spcPts val="4050"/>
              </a:lnSpc>
              <a:buNone/>
            </a:pPr>
            <a:r>
              <a:rPr lang="en-US" sz="4050" b="1" dirty="0">
                <a:solidFill>
                  <a:srgbClr val="1B5E72">
                    <a:alpha val="7000"/>
                  </a:srgbClr>
                </a:solidFill>
                <a:latin typeface="Calibri Light" pitchFamily="34" charset="0"/>
                <a:ea typeface="Calibri Light" pitchFamily="34" charset="-122"/>
                <a:cs typeface="Calibri Light" pitchFamily="34" charset="-120"/>
              </a:rPr>
              <a:t>2</a:t>
            </a:r>
            <a:endParaRPr lang="en-US" sz="4050" dirty="0"/>
          </a:p>
        </p:txBody>
      </p:sp>
      <p:sp>
        <p:nvSpPr>
          <p:cNvPr id="19" name="Text 15"/>
          <p:cNvSpPr/>
          <p:nvPr/>
        </p:nvSpPr>
        <p:spPr>
          <a:xfrm>
            <a:off x="6077396" y="1280368"/>
            <a:ext cx="2609404" cy="2414141"/>
          </a:xfrm>
          <a:prstGeom prst="roundRect">
            <a:avLst>
              <a:gd name="adj" fmla="val 2946"/>
            </a:avLst>
          </a:prstGeom>
          <a:solidFill>
            <a:srgbClr val="EAF4F4"/>
          </a:solidFill>
          <a:ln w="9525">
            <a:solidFill>
              <a:srgbClr val="C8E3E3"/>
            </a:solidFill>
          </a:ln>
        </p:spPr>
        <p:txBody>
          <a:bodyPr wrap="square" rtlCol="0" anchor="t"/>
          <a:lstStyle/>
          <a:p>
            <a:pPr marL="0" indent="0">
              <a:buNone/>
            </a:pPr>
            <a:endParaRPr lang="en-US" dirty="0"/>
          </a:p>
        </p:txBody>
      </p:sp>
      <p:sp>
        <p:nvSpPr>
          <p:cNvPr id="20" name="Text 16"/>
          <p:cNvSpPr/>
          <p:nvPr/>
        </p:nvSpPr>
        <p:spPr>
          <a:xfrm>
            <a:off x="6301532" y="1518493"/>
            <a:ext cx="372070" cy="372070"/>
          </a:xfrm>
          <a:prstGeom prst="ellipse">
            <a:avLst/>
          </a:prstGeom>
          <a:solidFill>
            <a:srgbClr val="1B5E72"/>
          </a:solidFill>
          <a:ln/>
        </p:spPr>
        <p:txBody>
          <a:bodyPr wrap="squar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8064" y="1635026"/>
            <a:ext cx="139005" cy="139005"/>
          </a:xfrm>
          <a:prstGeom prst="rect">
            <a:avLst/>
          </a:prstGeom>
        </p:spPr>
      </p:pic>
      <p:sp>
        <p:nvSpPr>
          <p:cNvPr id="22" name="Text 17"/>
          <p:cNvSpPr/>
          <p:nvPr/>
        </p:nvSpPr>
        <p:spPr>
          <a:xfrm>
            <a:off x="6301532" y="2018705"/>
            <a:ext cx="511671" cy="177299"/>
          </a:xfrm>
          <a:prstGeom prst="roundRect">
            <a:avLst>
              <a:gd name="adj" fmla="val 80943"/>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TYPE 03</a:t>
            </a:r>
            <a:endParaRPr lang="en-US" sz="620" dirty="0"/>
          </a:p>
        </p:txBody>
      </p:sp>
      <p:sp>
        <p:nvSpPr>
          <p:cNvPr id="23" name="Text 18"/>
          <p:cNvSpPr/>
          <p:nvPr/>
        </p:nvSpPr>
        <p:spPr>
          <a:xfrm>
            <a:off x="6301532" y="2250877"/>
            <a:ext cx="683002" cy="188863"/>
          </a:xfrm>
          <a:prstGeom prst="rect">
            <a:avLst/>
          </a:prstGeom>
          <a:noFill/>
          <a:ln/>
        </p:spPr>
        <p:txBody>
          <a:bodyPr wrap="none" lIns="0" tIns="0" rIns="0" bIns="0" rtlCol="0" anchor="t"/>
          <a:lstStyle/>
          <a:p>
            <a:pPr marL="0" indent="0" algn="l">
              <a:lnSpc>
                <a:spcPts val="1488"/>
              </a:lnSpc>
              <a:spcAft>
                <a:spcPts val="680"/>
              </a:spcAft>
              <a:buNone/>
            </a:pPr>
            <a:r>
              <a:rPr lang="en-US" sz="1240" b="1" dirty="0">
                <a:solidFill>
                  <a:srgbClr val="1B5E72"/>
                </a:solidFill>
                <a:latin typeface="Calibri Light" pitchFamily="34" charset="0"/>
                <a:ea typeface="Calibri Light" pitchFamily="34" charset="-122"/>
                <a:cs typeface="Calibri Light" pitchFamily="34" charset="-120"/>
              </a:rPr>
              <a:t>Transfer</a:t>
            </a:r>
            <a:endParaRPr lang="en-US" sz="1240" dirty="0"/>
          </a:p>
        </p:txBody>
      </p:sp>
      <p:sp>
        <p:nvSpPr>
          <p:cNvPr id="24" name="Text 19"/>
          <p:cNvSpPr/>
          <p:nvPr/>
        </p:nvSpPr>
        <p:spPr>
          <a:xfrm>
            <a:off x="6301532" y="2526060"/>
            <a:ext cx="2204356" cy="991530"/>
          </a:xfrm>
          <a:prstGeom prst="rect">
            <a:avLst/>
          </a:prstGeom>
          <a:noFill/>
          <a:ln/>
        </p:spPr>
        <p:txBody>
          <a:bodyPr wrap="square" lIns="0" tIns="0" rIns="0" bIns="0" rtlCol="0" anchor="t"/>
          <a:lstStyle/>
          <a:p>
            <a:pPr marL="0" indent="0" algn="l">
              <a:lnSpc>
                <a:spcPts val="1488"/>
              </a:lnSpc>
              <a:buNone/>
            </a:pPr>
            <a:r>
              <a:rPr lang="en-US" sz="960" dirty="0">
                <a:solidFill>
                  <a:srgbClr val="2C2C2C"/>
                </a:solidFill>
                <a:latin typeface="Calibri" pitchFamily="34" charset="0"/>
                <a:ea typeface="Calibri" pitchFamily="34" charset="-122"/>
                <a:cs typeface="Calibri" pitchFamily="34" charset="-120"/>
              </a:rPr>
              <a:t>Use when a client is transferring from another Centerstone program or clinician within the same system. Consult your team lead if you are unsure which type applies.</a:t>
            </a:r>
            <a:endParaRPr lang="en-US" sz="960" dirty="0"/>
          </a:p>
        </p:txBody>
      </p:sp>
      <p:sp>
        <p:nvSpPr>
          <p:cNvPr id="25" name="Text 20"/>
          <p:cNvSpPr/>
          <p:nvPr/>
        </p:nvSpPr>
        <p:spPr>
          <a:xfrm>
            <a:off x="8247608" y="3070324"/>
            <a:ext cx="300506" cy="514350"/>
          </a:xfrm>
          <a:prstGeom prst="rect">
            <a:avLst/>
          </a:prstGeom>
          <a:noFill/>
          <a:ln/>
        </p:spPr>
        <p:txBody>
          <a:bodyPr wrap="none" lIns="0" tIns="0" rIns="0" bIns="0" rtlCol="0" anchor="t"/>
          <a:lstStyle/>
          <a:p>
            <a:pPr marL="0" indent="0" algn="l">
              <a:lnSpc>
                <a:spcPts val="4050"/>
              </a:lnSpc>
              <a:buNone/>
            </a:pPr>
            <a:r>
              <a:rPr lang="en-US" sz="4050" b="1" dirty="0">
                <a:solidFill>
                  <a:srgbClr val="1B5E72">
                    <a:alpha val="7000"/>
                  </a:srgbClr>
                </a:solidFill>
                <a:latin typeface="Calibri Light" pitchFamily="34" charset="0"/>
                <a:ea typeface="Calibri Light" pitchFamily="34" charset="-122"/>
                <a:cs typeface="Calibri Light" pitchFamily="34" charset="-120"/>
              </a:rPr>
              <a:t>3</a:t>
            </a:r>
            <a:endParaRPr lang="en-US" sz="4050" dirty="0"/>
          </a:p>
        </p:txBody>
      </p:sp>
      <p:sp>
        <p:nvSpPr>
          <p:cNvPr id="26" name="Text 21"/>
          <p:cNvSpPr/>
          <p:nvPr/>
        </p:nvSpPr>
        <p:spPr>
          <a:xfrm>
            <a:off x="0" y="3895130"/>
            <a:ext cx="9144000" cy="383381"/>
          </a:xfrm>
          <a:prstGeom prst="rect">
            <a:avLst/>
          </a:prstGeom>
          <a:solidFill>
            <a:srgbClr val="FAB753"/>
          </a:solidFill>
          <a:ln/>
        </p:spPr>
        <p:txBody>
          <a:bodyPr wrap="square" rtlCol="0" anchor="t"/>
          <a:lstStyle/>
          <a:p>
            <a:pPr marL="0" indent="0">
              <a:buNone/>
            </a:pPr>
            <a:endParaRPr lang="en-US" dirty="0"/>
          </a:p>
        </p:txBody>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08344" y="4020452"/>
            <a:ext cx="132588" cy="132588"/>
          </a:xfrm>
          <a:prstGeom prst="rect">
            <a:avLst/>
          </a:prstGeom>
        </p:spPr>
      </p:pic>
      <p:sp>
        <p:nvSpPr>
          <p:cNvPr id="28" name="Text 22"/>
          <p:cNvSpPr/>
          <p:nvPr/>
        </p:nvSpPr>
        <p:spPr>
          <a:xfrm>
            <a:off x="1089340" y="3995440"/>
            <a:ext cx="7159243" cy="182761"/>
          </a:xfrm>
          <a:prstGeom prst="rect">
            <a:avLst/>
          </a:prstGeom>
          <a:noFill/>
          <a:ln/>
        </p:spPr>
        <p:txBody>
          <a:bodyPr wrap="none" lIns="0" tIns="0" rIns="0" bIns="0" rtlCol="0" anchor="ctr"/>
          <a:lstStyle/>
          <a:p>
            <a:pPr marL="0" indent="0" algn="ctr">
              <a:lnSpc>
                <a:spcPts val="1440"/>
              </a:lnSpc>
              <a:buNone/>
            </a:pPr>
            <a:r>
              <a:rPr lang="en-US" sz="960" b="1" dirty="0">
                <a:solidFill>
                  <a:srgbClr val="1B5E72"/>
                </a:solidFill>
                <a:latin typeface="Calibri" pitchFamily="34" charset="0"/>
                <a:ea typeface="Calibri" pitchFamily="34" charset="-122"/>
                <a:cs typeface="Calibri" pitchFamily="34" charset="-120"/>
              </a:rPr>
              <a:t>When in doubt, ask before you submit. Selecting the wrong type is fixable — but easier to get right the first time.</a:t>
            </a:r>
            <a:endParaRPr lang="en-US" sz="960" dirty="0"/>
          </a:p>
        </p:txBody>
      </p:sp>
      <p:sp>
        <p:nvSpPr>
          <p:cNvPr id="29" name="Text 23"/>
          <p:cNvSpPr/>
          <p:nvPr/>
        </p:nvSpPr>
        <p:spPr>
          <a:xfrm>
            <a:off x="466725" y="1289893"/>
            <a:ext cx="2590352" cy="29170"/>
          </a:xfrm>
          <a:custGeom>
            <a:avLst/>
            <a:gdLst/>
            <a:ahLst/>
            <a:cxnLst/>
            <a:rect l="l" t="t" r="r" b="b"/>
            <a:pathLst>
              <a:path w="2590352" h="29170">
                <a:moveTo>
                  <a:pt x="71120" y="0"/>
                </a:moveTo>
                <a:lnTo>
                  <a:pt x="2519232" y="0"/>
                </a:lnTo>
                <a:lnTo>
                  <a:pt x="2541712" y="3646"/>
                </a:lnTo>
                <a:lnTo>
                  <a:pt x="2550603" y="7293"/>
                </a:lnTo>
                <a:lnTo>
                  <a:pt x="2557131" y="10939"/>
                </a:lnTo>
                <a:lnTo>
                  <a:pt x="2562382" y="14585"/>
                </a:lnTo>
                <a:lnTo>
                  <a:pt x="2566781" y="18231"/>
                </a:lnTo>
                <a:lnTo>
                  <a:pt x="2570548" y="21878"/>
                </a:lnTo>
                <a:lnTo>
                  <a:pt x="2573813" y="25524"/>
                </a:lnTo>
                <a:lnTo>
                  <a:pt x="2576663" y="29170"/>
                </a:lnTo>
                <a:lnTo>
                  <a:pt x="13689" y="29170"/>
                </a:lnTo>
                <a:lnTo>
                  <a:pt x="16539" y="25524"/>
                </a:lnTo>
                <a:lnTo>
                  <a:pt x="19805" y="21878"/>
                </a:lnTo>
                <a:lnTo>
                  <a:pt x="23572" y="18231"/>
                </a:lnTo>
                <a:lnTo>
                  <a:pt x="27971" y="14585"/>
                </a:lnTo>
                <a:lnTo>
                  <a:pt x="33222" y="10939"/>
                </a:lnTo>
                <a:lnTo>
                  <a:pt x="39749" y="7293"/>
                </a:lnTo>
                <a:lnTo>
                  <a:pt x="48640" y="3646"/>
                </a:lnTo>
                <a:close/>
              </a:path>
            </a:pathLst>
          </a:custGeom>
          <a:solidFill>
            <a:srgbClr val="FAB753"/>
          </a:solidFill>
          <a:ln/>
        </p:spPr>
        <p:txBody>
          <a:bodyPr wrap="none" rtlCol="0" anchor="t"/>
          <a:lstStyle/>
          <a:p>
            <a:pPr marL="0" indent="0">
              <a:buNone/>
            </a:pPr>
            <a:endParaRPr lang="en-US" dirty="0"/>
          </a:p>
        </p:txBody>
      </p:sp>
      <p:sp>
        <p:nvSpPr>
          <p:cNvPr id="30" name="Text 24"/>
          <p:cNvSpPr/>
          <p:nvPr/>
        </p:nvSpPr>
        <p:spPr>
          <a:xfrm>
            <a:off x="3276749" y="1289893"/>
            <a:ext cx="2590505" cy="29170"/>
          </a:xfrm>
          <a:custGeom>
            <a:avLst/>
            <a:gdLst/>
            <a:ahLst/>
            <a:cxnLst/>
            <a:rect l="l" t="t" r="r" b="b"/>
            <a:pathLst>
              <a:path w="2590505" h="29170">
                <a:moveTo>
                  <a:pt x="71120" y="0"/>
                </a:moveTo>
                <a:lnTo>
                  <a:pt x="2519385" y="0"/>
                </a:lnTo>
                <a:lnTo>
                  <a:pt x="2541865" y="3646"/>
                </a:lnTo>
                <a:lnTo>
                  <a:pt x="2550755" y="7293"/>
                </a:lnTo>
                <a:lnTo>
                  <a:pt x="2557283" y="10939"/>
                </a:lnTo>
                <a:lnTo>
                  <a:pt x="2562534" y="14585"/>
                </a:lnTo>
                <a:lnTo>
                  <a:pt x="2566933" y="18231"/>
                </a:lnTo>
                <a:lnTo>
                  <a:pt x="2570700" y="21878"/>
                </a:lnTo>
                <a:lnTo>
                  <a:pt x="2573965" y="25524"/>
                </a:lnTo>
                <a:lnTo>
                  <a:pt x="2576815" y="29170"/>
                </a:lnTo>
                <a:lnTo>
                  <a:pt x="13689" y="29170"/>
                </a:lnTo>
                <a:lnTo>
                  <a:pt x="16539" y="25524"/>
                </a:lnTo>
                <a:lnTo>
                  <a:pt x="19805" y="21878"/>
                </a:lnTo>
                <a:lnTo>
                  <a:pt x="23572" y="18231"/>
                </a:lnTo>
                <a:lnTo>
                  <a:pt x="27971" y="14585"/>
                </a:lnTo>
                <a:lnTo>
                  <a:pt x="33222" y="10939"/>
                </a:lnTo>
                <a:lnTo>
                  <a:pt x="39749" y="7293"/>
                </a:lnTo>
                <a:lnTo>
                  <a:pt x="48640" y="3646"/>
                </a:lnTo>
                <a:close/>
              </a:path>
            </a:pathLst>
          </a:custGeom>
          <a:solidFill>
            <a:srgbClr val="FAB753"/>
          </a:solidFill>
          <a:ln/>
        </p:spPr>
        <p:txBody>
          <a:bodyPr wrap="none" rtlCol="0" anchor="t"/>
          <a:lstStyle/>
          <a:p>
            <a:pPr marL="0" indent="0">
              <a:buNone/>
            </a:pPr>
            <a:endParaRPr lang="en-US" dirty="0"/>
          </a:p>
        </p:txBody>
      </p:sp>
      <p:sp>
        <p:nvSpPr>
          <p:cNvPr id="31" name="Text 25"/>
          <p:cNvSpPr/>
          <p:nvPr/>
        </p:nvSpPr>
        <p:spPr>
          <a:xfrm>
            <a:off x="6086921" y="1289893"/>
            <a:ext cx="2590352" cy="29170"/>
          </a:xfrm>
          <a:custGeom>
            <a:avLst/>
            <a:gdLst/>
            <a:ahLst/>
            <a:cxnLst/>
            <a:rect l="l" t="t" r="r" b="b"/>
            <a:pathLst>
              <a:path w="2590352" h="29170">
                <a:moveTo>
                  <a:pt x="71120" y="0"/>
                </a:moveTo>
                <a:lnTo>
                  <a:pt x="2519232" y="0"/>
                </a:lnTo>
                <a:lnTo>
                  <a:pt x="2541712" y="3646"/>
                </a:lnTo>
                <a:lnTo>
                  <a:pt x="2550603" y="7293"/>
                </a:lnTo>
                <a:lnTo>
                  <a:pt x="2557131" y="10939"/>
                </a:lnTo>
                <a:lnTo>
                  <a:pt x="2562382" y="14585"/>
                </a:lnTo>
                <a:lnTo>
                  <a:pt x="2566781" y="18231"/>
                </a:lnTo>
                <a:lnTo>
                  <a:pt x="2570548" y="21878"/>
                </a:lnTo>
                <a:lnTo>
                  <a:pt x="2573813" y="25524"/>
                </a:lnTo>
                <a:lnTo>
                  <a:pt x="2576663" y="29170"/>
                </a:lnTo>
                <a:lnTo>
                  <a:pt x="13689" y="29170"/>
                </a:lnTo>
                <a:lnTo>
                  <a:pt x="16539" y="25524"/>
                </a:lnTo>
                <a:lnTo>
                  <a:pt x="19805" y="21878"/>
                </a:lnTo>
                <a:lnTo>
                  <a:pt x="23572" y="18231"/>
                </a:lnTo>
                <a:lnTo>
                  <a:pt x="27971" y="14585"/>
                </a:lnTo>
                <a:lnTo>
                  <a:pt x="33222" y="10939"/>
                </a:lnTo>
                <a:lnTo>
                  <a:pt x="39749" y="7293"/>
                </a:lnTo>
                <a:lnTo>
                  <a:pt x="48640" y="3646"/>
                </a:lnTo>
                <a:close/>
              </a:path>
            </a:pathLst>
          </a:custGeom>
          <a:solidFill>
            <a:srgbClr val="FAB753"/>
          </a:solidFill>
          <a:ln/>
        </p:spPr>
        <p:txBody>
          <a:bodyPr wrap="none" rtlCol="0" anchor="t"/>
          <a:lstStyle/>
          <a:p>
            <a:pPr marL="0" indent="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5929608" y="0"/>
            <a:ext cx="3214392" cy="2857500"/>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3" name="Text 1"/>
          <p:cNvSpPr/>
          <p:nvPr/>
        </p:nvSpPr>
        <p:spPr>
          <a:xfrm>
            <a:off x="0" y="3572466"/>
            <a:ext cx="2142490" cy="1571034"/>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4" name="Text 2"/>
          <p:cNvSpPr/>
          <p:nvPr/>
        </p:nvSpPr>
        <p:spPr>
          <a:xfrm>
            <a:off x="6572250" y="1428750"/>
            <a:ext cx="2000250" cy="2000250"/>
          </a:xfrm>
          <a:prstGeom prst="ellipse">
            <a:avLst/>
          </a:prstGeom>
          <a:noFill/>
          <a:ln w="9525">
            <a:solidFill>
              <a:srgbClr val="FAB753">
                <a:alpha val="6000"/>
              </a:srgbClr>
            </a:solidFill>
          </a:ln>
        </p:spPr>
        <p:txBody>
          <a:bodyPr wrap="square" rtlCol="0" anchor="t"/>
          <a:lstStyle/>
          <a:p>
            <a:pPr marL="0" indent="0">
              <a:buNone/>
            </a:pPr>
            <a:endParaRPr lang="en-US" dirty="0"/>
          </a:p>
        </p:txBody>
      </p:sp>
      <p:sp>
        <p:nvSpPr>
          <p:cNvPr id="5" name="Text 3"/>
          <p:cNvSpPr/>
          <p:nvPr/>
        </p:nvSpPr>
        <p:spPr>
          <a:xfrm>
            <a:off x="3857179" y="677009"/>
            <a:ext cx="38100" cy="38100"/>
          </a:xfrm>
          <a:prstGeom prst="rect">
            <a:avLst/>
          </a:prstGeom>
          <a:noFill/>
          <a:ln w="19050">
            <a:solidFill>
              <a:srgbClr val="000000">
                <a:alpha val="0"/>
              </a:srgbClr>
            </a:solidFill>
          </a:ln>
        </p:spPr>
        <p:txBody>
          <a:bodyPr wrap="none" rtlCol="0" anchor="t"/>
          <a:lstStyle/>
          <a:p>
            <a:pPr marL="0" indent="0">
              <a:buNone/>
            </a:pPr>
            <a:endParaRPr lang="en-US" dirty="0"/>
          </a:p>
        </p:txBody>
      </p:sp>
      <p:sp>
        <p:nvSpPr>
          <p:cNvPr id="6" name="Text 4"/>
          <p:cNvSpPr/>
          <p:nvPr/>
        </p:nvSpPr>
        <p:spPr>
          <a:xfrm>
            <a:off x="5267474" y="677009"/>
            <a:ext cx="38100" cy="38100"/>
          </a:xfrm>
          <a:prstGeom prst="rect">
            <a:avLst/>
          </a:prstGeom>
          <a:noFill/>
          <a:ln w="19050">
            <a:solidFill>
              <a:srgbClr val="000000">
                <a:alpha val="0"/>
              </a:srgbClr>
            </a:solidFill>
          </a:ln>
        </p:spPr>
        <p:txBody>
          <a:bodyPr wrap="none" rtlCol="0" anchor="t"/>
          <a:lstStyle/>
          <a:p>
            <a:pPr marL="0" indent="0">
              <a:buNone/>
            </a:pPr>
            <a:endParaRPr lang="en-US" dirty="0"/>
          </a:p>
        </p:txBody>
      </p:sp>
      <p:sp>
        <p:nvSpPr>
          <p:cNvPr id="7" name="Text 5"/>
          <p:cNvSpPr/>
          <p:nvPr/>
        </p:nvSpPr>
        <p:spPr>
          <a:xfrm>
            <a:off x="3350568" y="377428"/>
            <a:ext cx="257770" cy="13841"/>
          </a:xfrm>
          <a:prstGeom prst="rect">
            <a:avLst/>
          </a:prstGeom>
          <a:solidFill>
            <a:srgbClr val="FAB753"/>
          </a:solidFill>
          <a:ln/>
        </p:spPr>
        <p:txBody>
          <a:bodyPr wrap="none" rtlCol="0" anchor="t"/>
          <a:lstStyle/>
          <a:p>
            <a:pPr marL="0" indent="0">
              <a:buNone/>
            </a:pPr>
            <a:endParaRPr lang="en-US" dirty="0"/>
          </a:p>
        </p:txBody>
      </p:sp>
      <p:sp>
        <p:nvSpPr>
          <p:cNvPr id="8" name="Text 6"/>
          <p:cNvSpPr/>
          <p:nvPr/>
        </p:nvSpPr>
        <p:spPr>
          <a:xfrm>
            <a:off x="3679329" y="314920"/>
            <a:ext cx="1963876" cy="139005"/>
          </a:xfrm>
          <a:prstGeom prst="rect">
            <a:avLst/>
          </a:prstGeom>
          <a:noFill/>
          <a:ln/>
        </p:spPr>
        <p:txBody>
          <a:bodyPr wrap="none" lIns="0" tIns="0" rIns="0" bIns="0" rtlCol="0" anchor="ctr"/>
          <a:lstStyle/>
          <a:p>
            <a:pPr marL="0" indent="0" algn="ctr">
              <a:lnSpc>
                <a:spcPts val="1095"/>
              </a:lnSpc>
              <a:buNone/>
            </a:pPr>
            <a:r>
              <a:rPr lang="en-US" sz="730" b="1" dirty="0">
                <a:solidFill>
                  <a:srgbClr val="FAB753"/>
                </a:solidFill>
                <a:latin typeface="Calibri" pitchFamily="34" charset="0"/>
                <a:ea typeface="Calibri" pitchFamily="34" charset="-122"/>
                <a:cs typeface="Calibri" pitchFamily="34" charset="-120"/>
              </a:rPr>
              <a:t>PART 2 · CLIENT PAPERWORK</a:t>
            </a:r>
            <a:endParaRPr lang="en-US" sz="730" dirty="0"/>
          </a:p>
        </p:txBody>
      </p:sp>
      <p:sp>
        <p:nvSpPr>
          <p:cNvPr id="9" name="Text 7"/>
          <p:cNvSpPr/>
          <p:nvPr/>
        </p:nvSpPr>
        <p:spPr>
          <a:xfrm>
            <a:off x="5535662" y="377428"/>
            <a:ext cx="257770" cy="13841"/>
          </a:xfrm>
          <a:prstGeom prst="rect">
            <a:avLst/>
          </a:prstGeom>
          <a:solidFill>
            <a:srgbClr val="FAB753"/>
          </a:solidFill>
          <a:ln/>
        </p:spPr>
        <p:txBody>
          <a:bodyPr wrap="none" rtlCol="0" anchor="t"/>
          <a:lstStyle/>
          <a:p>
            <a:pPr marL="0" indent="0">
              <a:buNone/>
            </a:pPr>
            <a:endParaRPr lang="en-US" dirty="0"/>
          </a:p>
        </p:txBody>
      </p:sp>
      <p:sp>
        <p:nvSpPr>
          <p:cNvPr id="10" name="Text 8"/>
          <p:cNvSpPr/>
          <p:nvPr/>
        </p:nvSpPr>
        <p:spPr>
          <a:xfrm>
            <a:off x="2770733" y="568226"/>
            <a:ext cx="970943" cy="268337"/>
          </a:xfrm>
          <a:prstGeom prst="roundRect">
            <a:avLst>
              <a:gd name="adj" fmla="val 53481"/>
            </a:avLst>
          </a:prstGeom>
          <a:solidFill>
            <a:srgbClr val="FFFFFF">
              <a:alpha val="6000"/>
            </a:srgbClr>
          </a:solidFill>
          <a:ln w="9525">
            <a:solidFill>
              <a:srgbClr val="FFFFFF">
                <a:alpha val="12000"/>
              </a:srgbClr>
            </a:solidFill>
          </a:ln>
        </p:spPr>
        <p:txBody>
          <a:bodyPr wrap="none" lIns="226982" tIns="49530" rIns="128270" bIns="49530" rtlCol="0" anchor="ctr"/>
          <a:lstStyle/>
          <a:p>
            <a:pPr marL="0" indent="0" algn="l">
              <a:buNone/>
            </a:pPr>
            <a:r>
              <a:rPr lang="en-US" sz="790" b="1" kern="0" spc="8" dirty="0">
                <a:solidFill>
                  <a:srgbClr val="FFFFFF">
                    <a:alpha val="45000"/>
                  </a:srgbClr>
                </a:solidFill>
                <a:latin typeface="Calibri" pitchFamily="34" charset="0"/>
                <a:ea typeface="Calibri" pitchFamily="34" charset="-122"/>
                <a:cs typeface="Calibri" pitchFamily="34" charset="-120"/>
              </a:rPr>
              <a:t>Admissions</a:t>
            </a:r>
            <a:endParaRPr lang="en-US" sz="790"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9026" y="636100"/>
            <a:ext cx="132588" cy="132588"/>
          </a:xfrm>
          <a:prstGeom prst="rect">
            <a:avLst/>
          </a:prstGeom>
        </p:spPr>
      </p:pic>
      <p:sp>
        <p:nvSpPr>
          <p:cNvPr id="12" name="Text 9"/>
          <p:cNvSpPr/>
          <p:nvPr/>
        </p:nvSpPr>
        <p:spPr>
          <a:xfrm>
            <a:off x="3751808" y="698599"/>
            <a:ext cx="143470" cy="7590"/>
          </a:xfrm>
          <a:prstGeom prst="rect">
            <a:avLst/>
          </a:prstGeom>
          <a:solidFill>
            <a:srgbClr val="FFFFFF">
              <a:alpha val="15000"/>
            </a:srgbClr>
          </a:solidFill>
          <a:ln/>
        </p:spPr>
        <p:txBody>
          <a:bodyPr wrap="none" rtlCol="0" anchor="t"/>
          <a:lstStyle/>
          <a:p>
            <a:pPr marL="0" indent="0">
              <a:buNone/>
            </a:pPr>
            <a:endParaRPr lang="en-US" dirty="0"/>
          </a:p>
        </p:txBody>
      </p:sp>
      <p:sp>
        <p:nvSpPr>
          <p:cNvPr id="13" name="Text 10"/>
          <p:cNvSpPr/>
          <p:nvPr/>
        </p:nvSpPr>
        <p:spPr>
          <a:xfrm>
            <a:off x="3924449" y="568226"/>
            <a:ext cx="1232654" cy="268337"/>
          </a:xfrm>
          <a:prstGeom prst="roundRect">
            <a:avLst>
              <a:gd name="adj" fmla="val 53481"/>
            </a:avLst>
          </a:prstGeom>
          <a:solidFill>
            <a:srgbClr val="FAB753">
              <a:alpha val="18000"/>
            </a:srgbClr>
          </a:solidFill>
          <a:ln w="9525">
            <a:solidFill>
              <a:srgbClr val="FAB753">
                <a:alpha val="50000"/>
              </a:srgbClr>
            </a:solidFill>
          </a:ln>
        </p:spPr>
        <p:txBody>
          <a:bodyPr wrap="none" lIns="226982" tIns="49530" rIns="128270" bIns="49530" rtlCol="0" anchor="ctr"/>
          <a:lstStyle/>
          <a:p>
            <a:pPr marL="0" indent="0" algn="l">
              <a:buNone/>
            </a:pPr>
            <a:r>
              <a:rPr lang="en-US" sz="790" b="1" kern="0" spc="8" dirty="0">
                <a:solidFill>
                  <a:srgbClr val="FAB753"/>
                </a:solidFill>
                <a:latin typeface="Calibri" pitchFamily="34" charset="0"/>
                <a:ea typeface="Calibri" pitchFamily="34" charset="-122"/>
                <a:cs typeface="Calibri" pitchFamily="34" charset="-120"/>
              </a:rPr>
              <a:t>Client Paperwork</a:t>
            </a:r>
            <a:endParaRPr lang="en-US" sz="790"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02741" y="636100"/>
            <a:ext cx="132588" cy="132588"/>
          </a:xfrm>
          <a:prstGeom prst="rect">
            <a:avLst/>
          </a:prstGeom>
        </p:spPr>
      </p:pic>
      <p:sp>
        <p:nvSpPr>
          <p:cNvPr id="15" name="Text 11"/>
          <p:cNvSpPr/>
          <p:nvPr/>
        </p:nvSpPr>
        <p:spPr>
          <a:xfrm>
            <a:off x="5162104" y="698599"/>
            <a:ext cx="143470" cy="7590"/>
          </a:xfrm>
          <a:prstGeom prst="rect">
            <a:avLst/>
          </a:prstGeom>
          <a:solidFill>
            <a:srgbClr val="FFFFFF">
              <a:alpha val="15000"/>
            </a:srgbClr>
          </a:solidFill>
          <a:ln/>
        </p:spPr>
        <p:txBody>
          <a:bodyPr wrap="none" rtlCol="0" anchor="t"/>
          <a:lstStyle/>
          <a:p>
            <a:pPr marL="0" indent="0">
              <a:buNone/>
            </a:pPr>
            <a:endParaRPr lang="en-US" dirty="0"/>
          </a:p>
        </p:txBody>
      </p:sp>
      <p:sp>
        <p:nvSpPr>
          <p:cNvPr id="16" name="Text 12"/>
          <p:cNvSpPr/>
          <p:nvPr/>
        </p:nvSpPr>
        <p:spPr>
          <a:xfrm>
            <a:off x="5334744" y="568226"/>
            <a:ext cx="1059293" cy="268337"/>
          </a:xfrm>
          <a:prstGeom prst="roundRect">
            <a:avLst>
              <a:gd name="adj" fmla="val 53481"/>
            </a:avLst>
          </a:prstGeom>
          <a:solidFill>
            <a:srgbClr val="FFFFFF">
              <a:alpha val="6000"/>
            </a:srgbClr>
          </a:solidFill>
          <a:ln w="9525">
            <a:solidFill>
              <a:srgbClr val="FFFFFF">
                <a:alpha val="12000"/>
              </a:srgbClr>
            </a:solidFill>
          </a:ln>
        </p:spPr>
        <p:txBody>
          <a:bodyPr wrap="none" lIns="226982" tIns="49530" rIns="128270" bIns="49530" rtlCol="0" anchor="ctr"/>
          <a:lstStyle/>
          <a:p>
            <a:pPr marL="0" indent="0" algn="l">
              <a:buNone/>
            </a:pPr>
            <a:r>
              <a:rPr lang="en-US" sz="790" b="1" kern="0" spc="8" dirty="0">
                <a:solidFill>
                  <a:srgbClr val="FFFFFF">
                    <a:alpha val="45000"/>
                  </a:srgbClr>
                </a:solidFill>
                <a:latin typeface="Calibri" pitchFamily="34" charset="0"/>
                <a:ea typeface="Calibri" pitchFamily="34" charset="-122"/>
                <a:cs typeface="Calibri" pitchFamily="34" charset="-120"/>
              </a:rPr>
              <a:t>Cancellations</a:t>
            </a:r>
            <a:endParaRPr lang="en-US" sz="790"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13037" y="636100"/>
            <a:ext cx="132588" cy="132588"/>
          </a:xfrm>
          <a:prstGeom prst="rect">
            <a:avLst/>
          </a:prstGeom>
        </p:spPr>
      </p:pic>
      <p:sp>
        <p:nvSpPr>
          <p:cNvPr id="18" name="Text 13"/>
          <p:cNvSpPr/>
          <p:nvPr/>
        </p:nvSpPr>
        <p:spPr>
          <a:xfrm>
            <a:off x="4357390" y="961727"/>
            <a:ext cx="429220" cy="429220"/>
          </a:xfrm>
          <a:prstGeom prst="ellipse">
            <a:avLst/>
          </a:prstGeom>
          <a:solidFill>
            <a:srgbClr val="FAB753">
              <a:alpha val="15000"/>
            </a:srgbClr>
          </a:solidFill>
          <a:ln w="9525">
            <a:solidFill>
              <a:srgbClr val="FAB753">
                <a:alpha val="35000"/>
              </a:srgbClr>
            </a:solidFill>
          </a:ln>
        </p:spPr>
        <p:txBody>
          <a:bodyPr wrap="square" rtlCol="0" anchor="t"/>
          <a:lstStyle/>
          <a:p>
            <a:pPr marL="0" indent="0">
              <a:buNone/>
            </a:pPr>
            <a:endParaRPr lang="en-US"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96693" y="1101030"/>
            <a:ext cx="150465" cy="150465"/>
          </a:xfrm>
          <a:prstGeom prst="rect">
            <a:avLst/>
          </a:prstGeom>
        </p:spPr>
      </p:pic>
      <p:sp>
        <p:nvSpPr>
          <p:cNvPr id="20" name="Text 14"/>
          <p:cNvSpPr/>
          <p:nvPr/>
        </p:nvSpPr>
        <p:spPr>
          <a:xfrm>
            <a:off x="1584180" y="1534418"/>
            <a:ext cx="5975640" cy="898550"/>
          </a:xfrm>
          <a:prstGeom prst="rect">
            <a:avLst/>
          </a:prstGeom>
          <a:noFill/>
          <a:ln/>
        </p:spPr>
        <p:txBody>
          <a:bodyPr wrap="square" lIns="0" tIns="0" rIns="0" bIns="0" rtlCol="0" anchor="t"/>
          <a:lstStyle/>
          <a:p>
            <a:pPr marL="0" indent="0" algn="ctr">
              <a:lnSpc>
                <a:spcPts val="3370"/>
              </a:lnSpc>
              <a:buNone/>
            </a:pPr>
            <a:r>
              <a:rPr lang="en-US" sz="2930" kern="0" spc="-29" dirty="0">
                <a:solidFill>
                  <a:srgbClr val="FFFFFF"/>
                </a:solidFill>
                <a:latin typeface="Calibri Light" pitchFamily="34" charset="0"/>
                <a:ea typeface="Calibri Light" pitchFamily="34" charset="-122"/>
                <a:cs typeface="Calibri Light" pitchFamily="34" charset="-120"/>
              </a:rPr>
              <a:t>Every Form Has a Purpose.</a:t>
            </a:r>
            <a:br/>
            <a:r>
              <a:rPr lang="en-US" sz="2930" kern="0" spc="-29" dirty="0">
                <a:solidFill>
                  <a:srgbClr val="FFFFFF"/>
                </a:solidFill>
                <a:latin typeface="Calibri Light" pitchFamily="34" charset="0"/>
                <a:ea typeface="Calibri Light" pitchFamily="34" charset="-122"/>
                <a:cs typeface="Calibri Light" pitchFamily="34" charset="-120"/>
              </a:rPr>
              <a:t>Every Signature Matters.</a:t>
            </a:r>
            <a:endParaRPr lang="en-US" sz="2930" dirty="0"/>
          </a:p>
        </p:txBody>
      </p:sp>
      <p:sp>
        <p:nvSpPr>
          <p:cNvPr id="21" name="Text 15"/>
          <p:cNvSpPr/>
          <p:nvPr/>
        </p:nvSpPr>
        <p:spPr>
          <a:xfrm>
            <a:off x="4143375" y="2547640"/>
            <a:ext cx="857250" cy="13841"/>
          </a:xfrm>
          <a:prstGeom prst="roundRect">
            <a:avLst>
              <a:gd name="adj" fmla="val 55054"/>
            </a:avLst>
          </a:prstGeom>
          <a:solidFill>
            <a:srgbClr val="FAB753">
              <a:alpha val="40000"/>
            </a:srgbClr>
          </a:solidFill>
          <a:ln/>
        </p:spPr>
        <p:txBody>
          <a:bodyPr wrap="none" rtlCol="0" anchor="t"/>
          <a:lstStyle/>
          <a:p>
            <a:pPr marL="0" indent="0">
              <a:buNone/>
            </a:pPr>
            <a:endParaRPr lang="en-US" dirty="0"/>
          </a:p>
        </p:txBody>
      </p:sp>
      <p:sp>
        <p:nvSpPr>
          <p:cNvPr id="22" name="Text 16"/>
          <p:cNvSpPr/>
          <p:nvPr/>
        </p:nvSpPr>
        <p:spPr>
          <a:xfrm>
            <a:off x="1584180" y="2718941"/>
            <a:ext cx="5975640" cy="684461"/>
          </a:xfrm>
          <a:prstGeom prst="rect">
            <a:avLst/>
          </a:prstGeom>
          <a:noFill/>
          <a:ln/>
        </p:spPr>
        <p:txBody>
          <a:bodyPr wrap="square" lIns="0" tIns="0" rIns="0" bIns="0" rtlCol="0" anchor="t"/>
          <a:lstStyle/>
          <a:p>
            <a:pPr marL="0" indent="0" algn="ctr">
              <a:lnSpc>
                <a:spcPts val="1712"/>
              </a:lnSpc>
              <a:buNone/>
            </a:pPr>
            <a:r>
              <a:rPr lang="en-US" sz="1070" dirty="0">
                <a:solidFill>
                  <a:srgbClr val="FFFFFF">
                    <a:alpha val="88000"/>
                  </a:srgbClr>
                </a:solidFill>
                <a:latin typeface="Calibri" pitchFamily="34" charset="0"/>
                <a:ea typeface="Calibri" pitchFamily="34" charset="-122"/>
                <a:cs typeface="Calibri" pitchFamily="34" charset="-120"/>
              </a:rPr>
              <a:t>The forms in this section are required for every client who begins services at Centerstone. Some are completed at first contact, some at intake, and some require periodic updates throughout the episode of care.</a:t>
            </a:r>
            <a:endParaRPr lang="en-US" sz="1070" dirty="0"/>
          </a:p>
        </p:txBody>
      </p:sp>
      <p:sp>
        <p:nvSpPr>
          <p:cNvPr id="23" name="Text 17"/>
          <p:cNvSpPr/>
          <p:nvPr/>
        </p:nvSpPr>
        <p:spPr>
          <a:xfrm>
            <a:off x="1428750" y="3495973"/>
            <a:ext cx="6286500" cy="1035993"/>
          </a:xfrm>
          <a:prstGeom prst="roundRect">
            <a:avLst>
              <a:gd name="adj" fmla="val 6865"/>
            </a:avLst>
          </a:prstGeom>
          <a:solidFill>
            <a:srgbClr val="EAF4F4"/>
          </a:solidFill>
          <a:ln w="9525">
            <a:solidFill>
              <a:srgbClr val="55A49C"/>
            </a:solidFill>
          </a:ln>
        </p:spPr>
        <p:txBody>
          <a:bodyPr wrap="square" rtlCol="0" anchor="t"/>
          <a:lstStyle/>
          <a:p>
            <a:pPr marL="0" indent="0">
              <a:buNone/>
            </a:pPr>
            <a:endParaRPr lang="en-US" dirty="0"/>
          </a:p>
        </p:txBody>
      </p:sp>
      <p:sp>
        <p:nvSpPr>
          <p:cNvPr id="24" name="Text 18"/>
          <p:cNvSpPr/>
          <p:nvPr/>
        </p:nvSpPr>
        <p:spPr>
          <a:xfrm>
            <a:off x="1438275" y="3648968"/>
            <a:ext cx="29170" cy="730002"/>
          </a:xfrm>
          <a:prstGeom prst="rect">
            <a:avLst/>
          </a:prstGeom>
          <a:solidFill>
            <a:srgbClr val="FAB753"/>
          </a:solidFill>
          <a:ln/>
        </p:spPr>
        <p:txBody>
          <a:bodyPr wrap="square" rtlCol="0" anchor="t"/>
          <a:lstStyle/>
          <a:p>
            <a:pPr marL="0" indent="0">
              <a:buNone/>
            </a:pPr>
            <a:endParaRPr lang="en-US"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75082" y="3712675"/>
            <a:ext cx="132588" cy="132588"/>
          </a:xfrm>
          <a:prstGeom prst="rect">
            <a:avLst/>
          </a:prstGeom>
        </p:spPr>
      </p:pic>
      <p:sp>
        <p:nvSpPr>
          <p:cNvPr id="26" name="Text 19"/>
          <p:cNvSpPr/>
          <p:nvPr/>
        </p:nvSpPr>
        <p:spPr>
          <a:xfrm>
            <a:off x="2043857" y="3706118"/>
            <a:ext cx="5512180" cy="646487"/>
          </a:xfrm>
          <a:prstGeom prst="rect">
            <a:avLst/>
          </a:prstGeom>
          <a:noFill/>
          <a:ln/>
        </p:spPr>
        <p:txBody>
          <a:bodyPr wrap="square" lIns="0" tIns="0" rIns="0" bIns="0" rtlCol="0" anchor="t"/>
          <a:lstStyle/>
          <a:p>
            <a:pPr marL="0" indent="0" algn="l">
              <a:lnSpc>
                <a:spcPts val="1617"/>
              </a:lnSpc>
              <a:buNone/>
            </a:pPr>
            <a:r>
              <a:rPr lang="en-US" sz="980" dirty="0">
                <a:solidFill>
                  <a:srgbClr val="2C2C2C"/>
                </a:solidFill>
                <a:latin typeface="Calibri" pitchFamily="34" charset="0"/>
                <a:ea typeface="Calibri" pitchFamily="34" charset="-122"/>
                <a:cs typeface="Calibri" pitchFamily="34" charset="-120"/>
              </a:rPr>
              <a:t>In this section we will review each required form by name, discuss its purpose and what it means for the client, and identify how frequently it must be updated. Your team lead will confirm update schedules for your program.</a:t>
            </a:r>
            <a:endParaRPr lang="en-US" sz="980" dirty="0"/>
          </a:p>
        </p:txBody>
      </p:sp>
      <p:sp>
        <p:nvSpPr>
          <p:cNvPr id="27" name="Text 20"/>
          <p:cNvSpPr/>
          <p:nvPr/>
        </p:nvSpPr>
        <p:spPr>
          <a:xfrm>
            <a:off x="1566431" y="4657130"/>
            <a:ext cx="6011138" cy="228600"/>
          </a:xfrm>
          <a:prstGeom prst="rect">
            <a:avLst/>
          </a:prstGeom>
          <a:noFill/>
          <a:ln/>
        </p:spPr>
        <p:txBody>
          <a:bodyPr wrap="none" lIns="0" tIns="0" rIns="0" bIns="0" rtlCol="0" anchor="ctr"/>
          <a:lstStyle/>
          <a:p>
            <a:pPr marL="0" indent="0" algn="ctr">
              <a:lnSpc>
                <a:spcPts val="1800"/>
              </a:lnSpc>
              <a:buNone/>
            </a:pPr>
            <a:r>
              <a:rPr lang="en-US" sz="1200" dirty="0">
                <a:solidFill>
                  <a:srgbClr val="FAB753">
                    <a:alpha val="40000"/>
                  </a:srgbClr>
                </a:solidFill>
                <a:latin typeface="Calibri" pitchFamily="34" charset="0"/>
                <a:ea typeface="Calibri" pitchFamily="34" charset="-122"/>
                <a:cs typeface="Calibri" pitchFamily="34" charset="-120"/>
              </a:rPr>
              <a:t>✦</a:t>
            </a:r>
            <a:r>
              <a:rPr lang="en-US" sz="1200" dirty="0">
                <a:solidFill>
                  <a:srgbClr val="FFFFFF"/>
                </a:solidFill>
                <a:latin typeface="Calibri" pitchFamily="34" charset="0"/>
                <a:ea typeface="Calibri" pitchFamily="34" charset="-122"/>
                <a:cs typeface="Calibri" pitchFamily="34" charset="-120"/>
              </a:rPr>
              <a:t> </a:t>
            </a:r>
            <a:r>
              <a:rPr lang="en-US" sz="840" i="1" kern="0" spc="8" dirty="0">
                <a:solidFill>
                  <a:srgbClr val="FAB753"/>
                </a:solidFill>
                <a:latin typeface="Calibri" pitchFamily="34" charset="0"/>
                <a:ea typeface="Calibri" pitchFamily="34" charset="-122"/>
                <a:cs typeface="Calibri" pitchFamily="34" charset="-120"/>
              </a:rPr>
              <a:t>Knowing how to explain each form to a parent or guardian in plain language is a clinical skill. Practice it.</a:t>
            </a:r>
            <a:r>
              <a:rPr lang="en-US" sz="1200" dirty="0">
                <a:solidFill>
                  <a:srgbClr val="FFFFFF"/>
                </a:solidFill>
                <a:latin typeface="Calibri" pitchFamily="34" charset="0"/>
                <a:ea typeface="Calibri" pitchFamily="34" charset="-122"/>
                <a:cs typeface="Calibri" pitchFamily="34" charset="-120"/>
              </a:rPr>
              <a:t> </a:t>
            </a:r>
            <a:r>
              <a:rPr lang="en-US" sz="1200" dirty="0">
                <a:solidFill>
                  <a:srgbClr val="FAB753">
                    <a:alpha val="40000"/>
                  </a:srgbClr>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21486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28600" y="342900"/>
            <a:ext cx="1933426"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PART 2 · PAPERWORK</a:t>
            </a:r>
            <a:endParaRPr lang="en-US" sz="620" dirty="0"/>
          </a:p>
        </p:txBody>
      </p:sp>
      <p:sp>
        <p:nvSpPr>
          <p:cNvPr id="4" name="Text 2"/>
          <p:cNvSpPr/>
          <p:nvPr/>
        </p:nvSpPr>
        <p:spPr>
          <a:xfrm>
            <a:off x="228600" y="604391"/>
            <a:ext cx="1792813" cy="518190"/>
          </a:xfrm>
          <a:prstGeom prst="rect">
            <a:avLst/>
          </a:prstGeom>
          <a:noFill/>
          <a:ln/>
        </p:spPr>
        <p:txBody>
          <a:bodyPr wrap="square" lIns="0" tIns="0" rIns="0" bIns="0" rtlCol="0" anchor="ctr"/>
          <a:lstStyle/>
          <a:p>
            <a:pPr marL="0" indent="0" algn="l">
              <a:lnSpc>
                <a:spcPts val="1943"/>
              </a:lnSpc>
              <a:buNone/>
            </a:pPr>
            <a:r>
              <a:rPr lang="en-US" sz="1690" b="1" dirty="0">
                <a:solidFill>
                  <a:srgbClr val="FFFFFF"/>
                </a:solidFill>
                <a:latin typeface="Calibri Light" pitchFamily="34" charset="0"/>
                <a:ea typeface="Calibri Light" pitchFamily="34" charset="-122"/>
                <a:cs typeface="Calibri Light" pitchFamily="34" charset="-120"/>
              </a:rPr>
              <a:t>Required</a:t>
            </a:r>
            <a:br/>
            <a:r>
              <a:rPr lang="en-US" sz="1690" b="1" dirty="0">
                <a:solidFill>
                  <a:srgbClr val="FFFFFF"/>
                </a:solidFill>
                <a:latin typeface="Calibri Light" pitchFamily="34" charset="0"/>
                <a:ea typeface="Calibri Light" pitchFamily="34" charset="-122"/>
                <a:cs typeface="Calibri Light" pitchFamily="34" charset="-120"/>
              </a:rPr>
              <a:t>Client Forms</a:t>
            </a:r>
            <a:endParaRPr lang="en-US" sz="1690" dirty="0"/>
          </a:p>
        </p:txBody>
      </p:sp>
      <p:sp>
        <p:nvSpPr>
          <p:cNvPr id="5" name="Text 3"/>
          <p:cNvSpPr/>
          <p:nvPr/>
        </p:nvSpPr>
        <p:spPr>
          <a:xfrm>
            <a:off x="228600" y="1212205"/>
            <a:ext cx="1792813" cy="304101"/>
          </a:xfrm>
          <a:prstGeom prst="rect">
            <a:avLst/>
          </a:prstGeom>
          <a:noFill/>
          <a:ln/>
        </p:spPr>
        <p:txBody>
          <a:bodyPr wrap="square" lIns="0" tIns="0" rIns="0" bIns="0" rtlCol="0" anchor="t"/>
          <a:lstStyle/>
          <a:p>
            <a:pPr marL="0" indent="0" algn="l">
              <a:lnSpc>
                <a:spcPts val="1140"/>
              </a:lnSpc>
              <a:buNone/>
            </a:pPr>
            <a:r>
              <a:rPr lang="en-US" sz="760" dirty="0">
                <a:solidFill>
                  <a:srgbClr val="FFFFFF">
                    <a:alpha val="72000"/>
                  </a:srgbClr>
                </a:solidFill>
                <a:latin typeface="Calibri" pitchFamily="34" charset="0"/>
                <a:ea typeface="Calibri" pitchFamily="34" charset="-122"/>
                <a:cs typeface="Calibri" pitchFamily="34" charset="-120"/>
              </a:rPr>
              <a:t>Consent to Treatment</a:t>
            </a:r>
          </a:p>
          <a:p>
            <a:pPr marL="0" indent="0" algn="l">
              <a:lnSpc>
                <a:spcPts val="1140"/>
              </a:lnSpc>
              <a:buNone/>
            </a:pPr>
            <a:r>
              <a:rPr lang="en-US" sz="760" dirty="0">
                <a:solidFill>
                  <a:srgbClr val="FFFFFF">
                    <a:alpha val="72000"/>
                  </a:srgbClr>
                </a:solidFill>
                <a:latin typeface="Calibri" pitchFamily="34" charset="0"/>
                <a:cs typeface="Calibri" pitchFamily="34" charset="-120"/>
              </a:rPr>
              <a:t>Notice of Privacy</a:t>
            </a:r>
          </a:p>
          <a:p>
            <a:pPr marL="0" indent="0" algn="l">
              <a:lnSpc>
                <a:spcPts val="1140"/>
              </a:lnSpc>
              <a:buNone/>
            </a:pPr>
            <a:r>
              <a:rPr lang="en-US" sz="760" dirty="0">
                <a:solidFill>
                  <a:srgbClr val="FFFFFF">
                    <a:alpha val="72000"/>
                  </a:srgbClr>
                </a:solidFill>
                <a:latin typeface="Calibri" pitchFamily="34" charset="0"/>
                <a:cs typeface="Calibri" pitchFamily="34" charset="-120"/>
              </a:rPr>
              <a:t>Communication Consent</a:t>
            </a:r>
          </a:p>
          <a:p>
            <a:pPr marL="0" indent="0" algn="l">
              <a:lnSpc>
                <a:spcPts val="1140"/>
              </a:lnSpc>
              <a:buNone/>
            </a:pPr>
            <a:r>
              <a:rPr lang="en-US" sz="760" dirty="0">
                <a:solidFill>
                  <a:srgbClr val="FFFFFF">
                    <a:alpha val="72000"/>
                  </a:srgbClr>
                </a:solidFill>
                <a:latin typeface="Calibri" pitchFamily="34" charset="0"/>
                <a:cs typeface="Calibri" pitchFamily="34" charset="-120"/>
              </a:rPr>
              <a:t>Client Rights (signature form)</a:t>
            </a:r>
          </a:p>
        </p:txBody>
      </p:sp>
      <p:pic>
        <p:nvPicPr>
          <p:cNvPr id="6" name="Image 0" descr="preencoded.png"/>
          <p:cNvPicPr>
            <a:picLocks noChangeAspect="1"/>
          </p:cNvPicPr>
          <p:nvPr/>
        </p:nvPicPr>
        <p:blipFill>
          <a:blip>
            <a:alphaModFix amt="12000"/>
            <a:extLst>
              <a:ext uri="{96DAC541-7B7A-43D3-8B79-37D633B846F1}">
                <asvg:svgBlip xmlns:asvg="http://schemas.microsoft.com/office/drawing/2016/SVG/main" r:embed="rId3"/>
              </a:ext>
            </a:extLst>
          </a:blip>
          <a:stretch>
            <a:fillRect/>
          </a:stretch>
        </p:blipFill>
        <p:spPr>
          <a:xfrm>
            <a:off x="228600" y="4271963"/>
            <a:ext cx="642938" cy="642938"/>
          </a:xfrm>
          <a:prstGeom prst="rect">
            <a:avLst/>
          </a:prstGeom>
        </p:spPr>
      </p:pic>
      <p:sp>
        <p:nvSpPr>
          <p:cNvPr id="7" name="Text 4"/>
          <p:cNvSpPr/>
          <p:nvPr/>
        </p:nvSpPr>
        <p:spPr>
          <a:xfrm>
            <a:off x="2185690" y="0"/>
            <a:ext cx="29170" cy="5143500"/>
          </a:xfrm>
          <a:prstGeom prst="rect">
            <a:avLst/>
          </a:prstGeom>
          <a:solidFill>
            <a:srgbClr val="FAB753">
              <a:alpha val="25000"/>
            </a:srgbClr>
          </a:solidFill>
          <a:ln/>
        </p:spPr>
        <p:txBody>
          <a:bodyPr wrap="square" rtlCol="0" anchor="t"/>
          <a:lstStyle/>
          <a:p>
            <a:pPr marL="0" indent="0">
              <a:buNone/>
            </a:pPr>
            <a:endParaRPr lang="en-US" dirty="0"/>
          </a:p>
        </p:txBody>
      </p:sp>
      <p:sp>
        <p:nvSpPr>
          <p:cNvPr id="8" name="Text 5"/>
          <p:cNvSpPr/>
          <p:nvPr/>
        </p:nvSpPr>
        <p:spPr>
          <a:xfrm>
            <a:off x="0" y="5100340"/>
            <a:ext cx="2214860" cy="43160"/>
          </a:xfrm>
          <a:prstGeom prst="rect">
            <a:avLst/>
          </a:prstGeom>
          <a:solidFill>
            <a:srgbClr val="FAB753"/>
          </a:solidFill>
          <a:ln/>
        </p:spPr>
        <p:txBody>
          <a:bodyPr wrap="none" rtlCol="0" anchor="t"/>
          <a:lstStyle/>
          <a:p>
            <a:pPr marL="0" indent="0">
              <a:buNone/>
            </a:pPr>
            <a:endParaRPr lang="en-US" dirty="0"/>
          </a:p>
        </p:txBody>
      </p:sp>
      <p:sp>
        <p:nvSpPr>
          <p:cNvPr id="9" name="Text 6"/>
          <p:cNvSpPr/>
          <p:nvPr/>
        </p:nvSpPr>
        <p:spPr>
          <a:xfrm>
            <a:off x="2214860" y="0"/>
            <a:ext cx="7067723" cy="588615"/>
          </a:xfrm>
          <a:prstGeom prst="rect">
            <a:avLst/>
          </a:prstGeom>
          <a:noFill/>
          <a:ln/>
        </p:spPr>
        <p:txBody>
          <a:bodyPr wrap="none" lIns="285750" tIns="228600" rIns="285750" bIns="114300" rtlCol="0" anchor="t"/>
          <a:lstStyle/>
          <a:p>
            <a:pPr marL="0" indent="0" algn="l">
              <a:buNone/>
            </a:pPr>
            <a:r>
              <a:rPr lang="en-US" sz="1240" b="1" dirty="0">
                <a:solidFill>
                  <a:srgbClr val="1B5E72"/>
                </a:solidFill>
                <a:latin typeface="Calibri Light" pitchFamily="34" charset="0"/>
                <a:ea typeface="Calibri Light" pitchFamily="34" charset="-122"/>
                <a:cs typeface="Calibri Light" pitchFamily="34" charset="-120"/>
              </a:rPr>
              <a:t>Paperwork required for treatment and update frequency</a:t>
            </a:r>
            <a:endParaRPr lang="en-US" sz="1240" dirty="0"/>
          </a:p>
        </p:txBody>
      </p:sp>
      <p:sp>
        <p:nvSpPr>
          <p:cNvPr id="10" name="Text 7"/>
          <p:cNvSpPr/>
          <p:nvPr/>
        </p:nvSpPr>
        <p:spPr>
          <a:xfrm>
            <a:off x="2214860" y="579090"/>
            <a:ext cx="6929140" cy="9525"/>
          </a:xfrm>
          <a:prstGeom prst="rect">
            <a:avLst/>
          </a:prstGeom>
          <a:solidFill>
            <a:srgbClr val="EAF4F4"/>
          </a:solidFill>
          <a:ln/>
        </p:spPr>
        <p:txBody>
          <a:bodyPr wrap="none" rtlCol="0" anchor="t"/>
          <a:lstStyle/>
          <a:p>
            <a:pPr marL="0" indent="0">
              <a:buNone/>
            </a:pPr>
            <a:endParaRPr lang="en-US" dirty="0"/>
          </a:p>
        </p:txBody>
      </p:sp>
      <p:sp>
        <p:nvSpPr>
          <p:cNvPr id="11" name="Text 8"/>
          <p:cNvSpPr/>
          <p:nvPr/>
        </p:nvSpPr>
        <p:spPr>
          <a:xfrm>
            <a:off x="2500610" y="710505"/>
            <a:ext cx="214610" cy="214610"/>
          </a:xfrm>
          <a:prstGeom prst="ellipse">
            <a:avLst/>
          </a:prstGeom>
          <a:solidFill>
            <a:srgbClr val="FAB753"/>
          </a:solidFill>
          <a:ln/>
        </p:spPr>
        <p:txBody>
          <a:bodyPr wrap="non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41547" y="751442"/>
            <a:ext cx="132588" cy="132588"/>
          </a:xfrm>
          <a:prstGeom prst="rect">
            <a:avLst/>
          </a:prstGeom>
        </p:spPr>
      </p:pic>
      <p:sp>
        <p:nvSpPr>
          <p:cNvPr id="13" name="Text 9"/>
          <p:cNvSpPr/>
          <p:nvPr/>
        </p:nvSpPr>
        <p:spPr>
          <a:xfrm>
            <a:off x="2815530" y="702915"/>
            <a:ext cx="6646991" cy="125016"/>
          </a:xfrm>
          <a:prstGeom prst="rect">
            <a:avLst/>
          </a:prstGeom>
          <a:noFill/>
          <a:ln/>
        </p:spPr>
        <p:txBody>
          <a:bodyPr wrap="none" lIns="0" tIns="0" rIns="0" bIns="0" rtlCol="0" anchor="t"/>
          <a:lstStyle/>
          <a:p>
            <a:pPr marL="0" indent="0" algn="l">
              <a:lnSpc>
                <a:spcPts val="984"/>
              </a:lnSpc>
              <a:buNone/>
            </a:pPr>
            <a:r>
              <a:rPr lang="en-US" sz="820" b="1" dirty="0">
                <a:solidFill>
                  <a:srgbClr val="1B5E72"/>
                </a:solidFill>
                <a:latin typeface="Calibri" pitchFamily="34" charset="0"/>
                <a:ea typeface="Calibri" pitchFamily="34" charset="-122"/>
                <a:cs typeface="Calibri" pitchFamily="34" charset="-120"/>
              </a:rPr>
              <a:t>Consent to Treatment</a:t>
            </a:r>
            <a:endParaRPr lang="en-US" sz="820" dirty="0"/>
          </a:p>
        </p:txBody>
      </p:sp>
      <p:sp>
        <p:nvSpPr>
          <p:cNvPr id="14" name="Text 10"/>
          <p:cNvSpPr/>
          <p:nvPr/>
        </p:nvSpPr>
        <p:spPr>
          <a:xfrm>
            <a:off x="2815530" y="841772"/>
            <a:ext cx="6163574" cy="260970"/>
          </a:xfrm>
          <a:prstGeom prst="rect">
            <a:avLst/>
          </a:prstGeom>
          <a:noFill/>
          <a:ln/>
        </p:spPr>
        <p:txBody>
          <a:bodyPr wrap="square" lIns="0" tIns="0" rIns="0" bIns="0" rtlCol="0" anchor="t"/>
          <a:lstStyle/>
          <a:p>
            <a:pPr marL="0" indent="0" algn="l">
              <a:lnSpc>
                <a:spcPts val="980"/>
              </a:lnSpc>
              <a:buNone/>
            </a:pPr>
            <a:r>
              <a:rPr lang="en-US" sz="700" dirty="0">
                <a:solidFill>
                  <a:srgbClr val="3A3A3A"/>
                </a:solidFill>
                <a:latin typeface="Calibri" pitchFamily="34" charset="0"/>
                <a:ea typeface="Calibri" pitchFamily="34" charset="-122"/>
                <a:cs typeface="Calibri" pitchFamily="34" charset="-120"/>
              </a:rPr>
              <a:t>Client and/or guardian acknowledges the right to refuse or adjust services, understands the cancellation policy, and consents to services including telehealth. For clients under 16, a parent or legal guardian must sign.</a:t>
            </a:r>
            <a:endParaRPr lang="en-US" sz="700" dirty="0"/>
          </a:p>
        </p:txBody>
      </p:sp>
      <p:sp>
        <p:nvSpPr>
          <p:cNvPr id="15" name="Text 11"/>
          <p:cNvSpPr/>
          <p:nvPr/>
        </p:nvSpPr>
        <p:spPr>
          <a:xfrm>
            <a:off x="2815530" y="1111895"/>
            <a:ext cx="6646991" cy="112216"/>
          </a:xfrm>
          <a:prstGeom prst="rect">
            <a:avLst/>
          </a:prstGeom>
          <a:noFill/>
          <a:ln/>
        </p:spPr>
        <p:txBody>
          <a:bodyPr wrap="none" lIns="0" tIns="0" rIns="0" bIns="0" rtlCol="0" anchor="t"/>
          <a:lstStyle/>
          <a:p>
            <a:pPr marL="0" indent="0" algn="l">
              <a:lnSpc>
                <a:spcPts val="884"/>
              </a:lnSpc>
              <a:buNone/>
            </a:pPr>
            <a:r>
              <a:rPr lang="en-US" sz="680" i="1" dirty="0">
                <a:solidFill>
                  <a:srgbClr val="55A49C"/>
                </a:solidFill>
                <a:latin typeface="Calibri" pitchFamily="34" charset="0"/>
                <a:ea typeface="Calibri" pitchFamily="34" charset="-122"/>
                <a:cs typeface="Calibri" pitchFamily="34" charset="-120"/>
              </a:rPr>
              <a:t>Update frequency: Signed during intake or before the intake,  valid through duration of episode (update if client turns 16.)</a:t>
            </a:r>
            <a:endParaRPr lang="en-US" sz="680" dirty="0"/>
          </a:p>
        </p:txBody>
      </p:sp>
      <p:sp>
        <p:nvSpPr>
          <p:cNvPr id="16" name="Text 12"/>
          <p:cNvSpPr/>
          <p:nvPr/>
        </p:nvSpPr>
        <p:spPr>
          <a:xfrm>
            <a:off x="2815530" y="1295102"/>
            <a:ext cx="6042720" cy="7590"/>
          </a:xfrm>
          <a:prstGeom prst="rect">
            <a:avLst/>
          </a:prstGeom>
          <a:solidFill>
            <a:srgbClr val="EAF4F4"/>
          </a:solidFill>
          <a:ln/>
        </p:spPr>
        <p:txBody>
          <a:bodyPr wrap="none" rtlCol="0" anchor="t"/>
          <a:lstStyle/>
          <a:p>
            <a:pPr marL="0" indent="0">
              <a:buNone/>
            </a:pPr>
            <a:endParaRPr lang="en-US" dirty="0"/>
          </a:p>
        </p:txBody>
      </p:sp>
      <p:sp>
        <p:nvSpPr>
          <p:cNvPr id="17" name="Text 13"/>
          <p:cNvSpPr/>
          <p:nvPr/>
        </p:nvSpPr>
        <p:spPr>
          <a:xfrm>
            <a:off x="2500610" y="1381274"/>
            <a:ext cx="214610" cy="214610"/>
          </a:xfrm>
          <a:prstGeom prst="ellipse">
            <a:avLst/>
          </a:prstGeom>
          <a:solidFill>
            <a:srgbClr val="FAB753"/>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41547" y="1422210"/>
            <a:ext cx="132588" cy="132588"/>
          </a:xfrm>
          <a:prstGeom prst="rect">
            <a:avLst/>
          </a:prstGeom>
        </p:spPr>
      </p:pic>
      <p:sp>
        <p:nvSpPr>
          <p:cNvPr id="19" name="Text 14"/>
          <p:cNvSpPr/>
          <p:nvPr/>
        </p:nvSpPr>
        <p:spPr>
          <a:xfrm>
            <a:off x="2815530" y="1373684"/>
            <a:ext cx="6646991" cy="125016"/>
          </a:xfrm>
          <a:prstGeom prst="rect">
            <a:avLst/>
          </a:prstGeom>
          <a:noFill/>
          <a:ln/>
        </p:spPr>
        <p:txBody>
          <a:bodyPr wrap="none" lIns="0" tIns="0" rIns="0" bIns="0" rtlCol="0" anchor="t"/>
          <a:lstStyle/>
          <a:p>
            <a:pPr marL="0" indent="0" algn="l">
              <a:lnSpc>
                <a:spcPts val="984"/>
              </a:lnSpc>
              <a:buNone/>
            </a:pPr>
            <a:r>
              <a:rPr lang="en-US" sz="820" b="1" dirty="0">
                <a:solidFill>
                  <a:srgbClr val="1B5E72"/>
                </a:solidFill>
                <a:latin typeface="Calibri" pitchFamily="34" charset="0"/>
                <a:ea typeface="Calibri" pitchFamily="34" charset="-122"/>
                <a:cs typeface="Calibri" pitchFamily="34" charset="-120"/>
              </a:rPr>
              <a:t>Notice of Privacy Practices</a:t>
            </a:r>
            <a:endParaRPr lang="en-US" sz="820" dirty="0"/>
          </a:p>
        </p:txBody>
      </p:sp>
      <p:sp>
        <p:nvSpPr>
          <p:cNvPr id="20" name="Text 15"/>
          <p:cNvSpPr/>
          <p:nvPr/>
        </p:nvSpPr>
        <p:spPr>
          <a:xfrm>
            <a:off x="2815530" y="1512540"/>
            <a:ext cx="6163574" cy="260970"/>
          </a:xfrm>
          <a:prstGeom prst="rect">
            <a:avLst/>
          </a:prstGeom>
          <a:noFill/>
          <a:ln/>
        </p:spPr>
        <p:txBody>
          <a:bodyPr wrap="square" lIns="0" tIns="0" rIns="0" bIns="0" rtlCol="0" anchor="t"/>
          <a:lstStyle/>
          <a:p>
            <a:pPr marL="0" indent="0" algn="l">
              <a:lnSpc>
                <a:spcPts val="980"/>
              </a:lnSpc>
              <a:buNone/>
            </a:pPr>
            <a:r>
              <a:rPr lang="en-US" sz="700" dirty="0">
                <a:solidFill>
                  <a:srgbClr val="3A3A3A"/>
                </a:solidFill>
                <a:latin typeface="Calibri" pitchFamily="34" charset="0"/>
                <a:ea typeface="Calibri" pitchFamily="34" charset="-122"/>
                <a:cs typeface="Calibri" pitchFamily="34" charset="-120"/>
              </a:rPr>
              <a:t>Informs clients of how their health, mental health, and substance use information may be used and disclosed. Covers client rights including the right to review records, request corrections, and file complaints. Required by HIPAA.</a:t>
            </a:r>
            <a:endParaRPr lang="en-US" sz="700" dirty="0"/>
          </a:p>
        </p:txBody>
      </p:sp>
      <p:sp>
        <p:nvSpPr>
          <p:cNvPr id="21" name="Text 16"/>
          <p:cNvSpPr/>
          <p:nvPr/>
        </p:nvSpPr>
        <p:spPr>
          <a:xfrm>
            <a:off x="2815530" y="1782663"/>
            <a:ext cx="6646991" cy="112216"/>
          </a:xfrm>
          <a:prstGeom prst="rect">
            <a:avLst/>
          </a:prstGeom>
          <a:noFill/>
          <a:ln/>
        </p:spPr>
        <p:txBody>
          <a:bodyPr wrap="none" lIns="0" tIns="0" rIns="0" bIns="0" rtlCol="0" anchor="t"/>
          <a:lstStyle/>
          <a:p>
            <a:pPr marL="0" indent="0" algn="l">
              <a:lnSpc>
                <a:spcPts val="884"/>
              </a:lnSpc>
              <a:buNone/>
            </a:pPr>
            <a:r>
              <a:rPr lang="en-US" sz="680" i="1" dirty="0">
                <a:solidFill>
                  <a:srgbClr val="55A49C"/>
                </a:solidFill>
                <a:latin typeface="Calibri" pitchFamily="34" charset="0"/>
                <a:ea typeface="Calibri" pitchFamily="34" charset="-122"/>
                <a:cs typeface="Calibri" pitchFamily="34" charset="-120"/>
              </a:rPr>
              <a:t>Update frequency: Signed during or before the intake, valid trough duration of episode (update if client turns 16.)</a:t>
            </a:r>
            <a:endParaRPr lang="en-US" sz="680" dirty="0"/>
          </a:p>
        </p:txBody>
      </p:sp>
      <p:sp>
        <p:nvSpPr>
          <p:cNvPr id="22" name="Text 17"/>
          <p:cNvSpPr/>
          <p:nvPr/>
        </p:nvSpPr>
        <p:spPr>
          <a:xfrm>
            <a:off x="2815530" y="1965871"/>
            <a:ext cx="6042720" cy="7590"/>
          </a:xfrm>
          <a:prstGeom prst="rect">
            <a:avLst/>
          </a:prstGeom>
          <a:solidFill>
            <a:srgbClr val="EAF4F4"/>
          </a:solidFill>
          <a:ln/>
        </p:spPr>
        <p:txBody>
          <a:bodyPr wrap="none" rtlCol="0" anchor="t"/>
          <a:lstStyle/>
          <a:p>
            <a:pPr marL="0" indent="0">
              <a:buNone/>
            </a:pPr>
            <a:endParaRPr lang="en-US" dirty="0"/>
          </a:p>
        </p:txBody>
      </p:sp>
      <p:sp>
        <p:nvSpPr>
          <p:cNvPr id="23" name="Text 18"/>
          <p:cNvSpPr/>
          <p:nvPr/>
        </p:nvSpPr>
        <p:spPr>
          <a:xfrm>
            <a:off x="2500610" y="2052042"/>
            <a:ext cx="214610" cy="214610"/>
          </a:xfrm>
          <a:prstGeom prst="ellipse">
            <a:avLst/>
          </a:prstGeom>
          <a:solidFill>
            <a:srgbClr val="FAB753"/>
          </a:solidFill>
          <a:ln/>
        </p:spPr>
        <p:txBody>
          <a:bodyPr wrap="none" rtlCol="0" anchor="t"/>
          <a:lstStyle/>
          <a:p>
            <a:pPr marL="0" indent="0">
              <a:buNone/>
            </a:pPr>
            <a:endParaRPr lang="en-US"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41547" y="2092979"/>
            <a:ext cx="132588" cy="132588"/>
          </a:xfrm>
          <a:prstGeom prst="rect">
            <a:avLst/>
          </a:prstGeom>
        </p:spPr>
      </p:pic>
      <p:sp>
        <p:nvSpPr>
          <p:cNvPr id="25" name="Text 19"/>
          <p:cNvSpPr/>
          <p:nvPr/>
        </p:nvSpPr>
        <p:spPr>
          <a:xfrm>
            <a:off x="2815530" y="2044452"/>
            <a:ext cx="6646991" cy="125016"/>
          </a:xfrm>
          <a:prstGeom prst="rect">
            <a:avLst/>
          </a:prstGeom>
          <a:noFill/>
          <a:ln/>
        </p:spPr>
        <p:txBody>
          <a:bodyPr wrap="none" lIns="0" tIns="0" rIns="0" bIns="0" rtlCol="0" anchor="t"/>
          <a:lstStyle/>
          <a:p>
            <a:pPr marL="0" indent="0" algn="l">
              <a:lnSpc>
                <a:spcPts val="984"/>
              </a:lnSpc>
              <a:buNone/>
            </a:pPr>
            <a:r>
              <a:rPr lang="en-US" sz="820" b="1" dirty="0">
                <a:solidFill>
                  <a:srgbClr val="1B5E72"/>
                </a:solidFill>
                <a:latin typeface="Calibri" pitchFamily="34" charset="0"/>
                <a:ea typeface="Calibri" pitchFamily="34" charset="-122"/>
                <a:cs typeface="Calibri" pitchFamily="34" charset="-120"/>
              </a:rPr>
              <a:t>Communication Consent</a:t>
            </a:r>
            <a:endParaRPr lang="en-US" sz="820" dirty="0"/>
          </a:p>
        </p:txBody>
      </p:sp>
      <p:sp>
        <p:nvSpPr>
          <p:cNvPr id="26" name="Text 20"/>
          <p:cNvSpPr/>
          <p:nvPr/>
        </p:nvSpPr>
        <p:spPr>
          <a:xfrm>
            <a:off x="2815530" y="2183309"/>
            <a:ext cx="6163574" cy="260970"/>
          </a:xfrm>
          <a:prstGeom prst="rect">
            <a:avLst/>
          </a:prstGeom>
          <a:noFill/>
          <a:ln/>
        </p:spPr>
        <p:txBody>
          <a:bodyPr wrap="square" lIns="0" tIns="0" rIns="0" bIns="0" rtlCol="0" anchor="t"/>
          <a:lstStyle/>
          <a:p>
            <a:pPr marL="0" indent="0" algn="l">
              <a:lnSpc>
                <a:spcPts val="980"/>
              </a:lnSpc>
              <a:buNone/>
            </a:pPr>
            <a:r>
              <a:rPr lang="en-US" sz="700" dirty="0">
                <a:solidFill>
                  <a:srgbClr val="3A3A3A"/>
                </a:solidFill>
                <a:latin typeface="Calibri" pitchFamily="34" charset="0"/>
                <a:ea typeface="Calibri" pitchFamily="34" charset="-122"/>
                <a:cs typeface="Calibri" pitchFamily="34" charset="-120"/>
              </a:rPr>
              <a:t>Client selects how they agree to be contacted — text, email, phone, mail — and for what purposes. Required for clients receiving telehealth services, who must consent to both text and email contact.</a:t>
            </a:r>
            <a:endParaRPr lang="en-US" sz="700" dirty="0"/>
          </a:p>
        </p:txBody>
      </p:sp>
      <p:sp>
        <p:nvSpPr>
          <p:cNvPr id="27" name="Text 21"/>
          <p:cNvSpPr/>
          <p:nvPr/>
        </p:nvSpPr>
        <p:spPr>
          <a:xfrm>
            <a:off x="2815530" y="2453432"/>
            <a:ext cx="6646991" cy="112216"/>
          </a:xfrm>
          <a:prstGeom prst="rect">
            <a:avLst/>
          </a:prstGeom>
          <a:noFill/>
          <a:ln/>
        </p:spPr>
        <p:txBody>
          <a:bodyPr wrap="none" lIns="0" tIns="0" rIns="0" bIns="0" rtlCol="0" anchor="t"/>
          <a:lstStyle/>
          <a:p>
            <a:pPr marL="0" indent="0" algn="l">
              <a:lnSpc>
                <a:spcPts val="884"/>
              </a:lnSpc>
              <a:buNone/>
            </a:pPr>
            <a:r>
              <a:rPr lang="en-US" sz="680" i="1" dirty="0">
                <a:solidFill>
                  <a:srgbClr val="55A49C"/>
                </a:solidFill>
                <a:latin typeface="Calibri" pitchFamily="34" charset="0"/>
                <a:ea typeface="Calibri" pitchFamily="34" charset="-122"/>
                <a:cs typeface="Calibri" pitchFamily="34" charset="-120"/>
              </a:rPr>
              <a:t>Update frequency: requires update when a client or parent/guardians contact information  is updated.</a:t>
            </a:r>
            <a:endParaRPr lang="en-US" sz="680" dirty="0"/>
          </a:p>
        </p:txBody>
      </p:sp>
      <p:sp>
        <p:nvSpPr>
          <p:cNvPr id="28" name="Text 22"/>
          <p:cNvSpPr/>
          <p:nvPr/>
        </p:nvSpPr>
        <p:spPr>
          <a:xfrm>
            <a:off x="2815530" y="2636639"/>
            <a:ext cx="6042720" cy="7590"/>
          </a:xfrm>
          <a:prstGeom prst="rect">
            <a:avLst/>
          </a:prstGeom>
          <a:solidFill>
            <a:srgbClr val="EAF4F4"/>
          </a:solidFill>
          <a:ln/>
        </p:spPr>
        <p:txBody>
          <a:bodyPr wrap="none" rtlCol="0" anchor="t"/>
          <a:lstStyle/>
          <a:p>
            <a:pPr marL="0" indent="0">
              <a:buNone/>
            </a:pPr>
            <a:endParaRPr lang="en-US" dirty="0"/>
          </a:p>
        </p:txBody>
      </p:sp>
      <p:sp>
        <p:nvSpPr>
          <p:cNvPr id="29" name="Text 23"/>
          <p:cNvSpPr/>
          <p:nvPr/>
        </p:nvSpPr>
        <p:spPr>
          <a:xfrm>
            <a:off x="2500610" y="2722811"/>
            <a:ext cx="214610" cy="214610"/>
          </a:xfrm>
          <a:prstGeom prst="ellipse">
            <a:avLst/>
          </a:prstGeom>
          <a:solidFill>
            <a:srgbClr val="FAB753"/>
          </a:solidFill>
          <a:ln/>
        </p:spPr>
        <p:txBody>
          <a:bodyPr wrap="none" rtlCol="0" anchor="t"/>
          <a:lstStyle/>
          <a:p>
            <a:pPr marL="0" indent="0">
              <a:buNone/>
            </a:pPr>
            <a:endParaRPr lang="en-US" dirty="0"/>
          </a:p>
        </p:txBody>
      </p:sp>
      <p:pic>
        <p:nvPicPr>
          <p:cNvPr id="3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41547" y="2763747"/>
            <a:ext cx="132588" cy="132588"/>
          </a:xfrm>
          <a:prstGeom prst="rect">
            <a:avLst/>
          </a:prstGeom>
        </p:spPr>
      </p:pic>
      <p:sp>
        <p:nvSpPr>
          <p:cNvPr id="31" name="Text 24"/>
          <p:cNvSpPr/>
          <p:nvPr/>
        </p:nvSpPr>
        <p:spPr>
          <a:xfrm>
            <a:off x="2815530" y="2715220"/>
            <a:ext cx="6646991" cy="125016"/>
          </a:xfrm>
          <a:prstGeom prst="rect">
            <a:avLst/>
          </a:prstGeom>
          <a:noFill/>
          <a:ln/>
        </p:spPr>
        <p:txBody>
          <a:bodyPr wrap="none" lIns="0" tIns="0" rIns="0" bIns="0" rtlCol="0" anchor="t"/>
          <a:lstStyle/>
          <a:p>
            <a:pPr marL="0" indent="0" algn="l">
              <a:lnSpc>
                <a:spcPts val="984"/>
              </a:lnSpc>
              <a:buNone/>
            </a:pPr>
            <a:r>
              <a:rPr lang="en-US" sz="820" b="1" dirty="0">
                <a:solidFill>
                  <a:srgbClr val="1B5E72"/>
                </a:solidFill>
                <a:latin typeface="Calibri" pitchFamily="34" charset="0"/>
                <a:ea typeface="Calibri" pitchFamily="34" charset="-122"/>
                <a:cs typeface="Calibri" pitchFamily="34" charset="-120"/>
              </a:rPr>
              <a:t>Client Rights</a:t>
            </a:r>
            <a:endParaRPr lang="en-US" sz="820" dirty="0"/>
          </a:p>
        </p:txBody>
      </p:sp>
      <p:sp>
        <p:nvSpPr>
          <p:cNvPr id="32" name="Text 25"/>
          <p:cNvSpPr/>
          <p:nvPr/>
        </p:nvSpPr>
        <p:spPr>
          <a:xfrm>
            <a:off x="2815530" y="2854077"/>
            <a:ext cx="6163574" cy="260970"/>
          </a:xfrm>
          <a:prstGeom prst="rect">
            <a:avLst/>
          </a:prstGeom>
          <a:noFill/>
          <a:ln/>
        </p:spPr>
        <p:txBody>
          <a:bodyPr wrap="square" lIns="0" tIns="0" rIns="0" bIns="0" rtlCol="0" anchor="t"/>
          <a:lstStyle/>
          <a:p>
            <a:pPr marL="0" indent="0" algn="l">
              <a:lnSpc>
                <a:spcPts val="980"/>
              </a:lnSpc>
              <a:buNone/>
            </a:pPr>
            <a:r>
              <a:rPr lang="en-US" sz="700" dirty="0">
                <a:solidFill>
                  <a:srgbClr val="3A3A3A"/>
                </a:solidFill>
                <a:latin typeface="Calibri" pitchFamily="34" charset="0"/>
                <a:ea typeface="Calibri" pitchFamily="34" charset="-122"/>
                <a:cs typeface="Calibri" pitchFamily="34" charset="-120"/>
              </a:rPr>
              <a:t>Documents that the client has received orientation to services, a copy of their rights and responsibilities, and the TennCare Kids Brochure if applicable. Signed form is submitted to medical records for scanning.</a:t>
            </a:r>
            <a:endParaRPr lang="en-US" sz="700" dirty="0"/>
          </a:p>
        </p:txBody>
      </p:sp>
      <p:sp>
        <p:nvSpPr>
          <p:cNvPr id="33" name="Text 26"/>
          <p:cNvSpPr/>
          <p:nvPr/>
        </p:nvSpPr>
        <p:spPr>
          <a:xfrm>
            <a:off x="2815530" y="3124200"/>
            <a:ext cx="6646991" cy="112216"/>
          </a:xfrm>
          <a:prstGeom prst="rect">
            <a:avLst/>
          </a:prstGeom>
          <a:noFill/>
          <a:ln/>
        </p:spPr>
        <p:txBody>
          <a:bodyPr wrap="none" lIns="0" tIns="0" rIns="0" bIns="0" rtlCol="0" anchor="t"/>
          <a:lstStyle/>
          <a:p>
            <a:pPr marL="0" indent="0" algn="l">
              <a:lnSpc>
                <a:spcPts val="884"/>
              </a:lnSpc>
              <a:buNone/>
            </a:pPr>
            <a:r>
              <a:rPr lang="en-US" sz="680" i="1" dirty="0">
                <a:solidFill>
                  <a:srgbClr val="55A49C"/>
                </a:solidFill>
                <a:latin typeface="Calibri" pitchFamily="34" charset="0"/>
                <a:ea typeface="Calibri" pitchFamily="34" charset="-122"/>
                <a:cs typeface="Calibri" pitchFamily="34" charset="-120"/>
              </a:rPr>
              <a:t>Update frequency: this form is required annually</a:t>
            </a:r>
            <a:endParaRPr lang="en-US" sz="680" dirty="0"/>
          </a:p>
        </p:txBody>
      </p:sp>
      <p:sp>
        <p:nvSpPr>
          <p:cNvPr id="34" name="Text 27"/>
          <p:cNvSpPr/>
          <p:nvPr/>
        </p:nvSpPr>
        <p:spPr>
          <a:xfrm>
            <a:off x="2145569" y="4881116"/>
            <a:ext cx="7067723" cy="262384"/>
          </a:xfrm>
          <a:prstGeom prst="rect">
            <a:avLst/>
          </a:prstGeom>
          <a:solidFill>
            <a:srgbClr val="FAB753"/>
          </a:solidFill>
          <a:ln/>
        </p:spPr>
        <p:txBody>
          <a:bodyPr wrap="none" lIns="285750" tIns="71120" rIns="285750" bIns="71120" rtlCol="0" anchor="t"/>
          <a:lstStyle/>
          <a:p>
            <a:pPr marL="0" indent="0" algn="ctr">
              <a:buNone/>
            </a:pPr>
            <a:r>
              <a:rPr lang="en-US" sz="730" b="1" dirty="0">
                <a:solidFill>
                  <a:srgbClr val="2C2C2C"/>
                </a:solidFill>
                <a:latin typeface="Calibri" pitchFamily="34" charset="0"/>
                <a:ea typeface="Calibri" pitchFamily="34" charset="-122"/>
                <a:cs typeface="Calibri" pitchFamily="34" charset="-120"/>
              </a:rPr>
              <a:t>When obtaining signatures, always print the name of the person signing — especially for guardians signing on behalf of a minor.</a:t>
            </a:r>
            <a:endParaRPr lang="en-US" sz="7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14372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28600" y="314920"/>
            <a:ext cx="1855172" cy="106710"/>
          </a:xfrm>
          <a:prstGeom prst="rect">
            <a:avLst/>
          </a:prstGeom>
          <a:noFill/>
          <a:ln/>
        </p:spPr>
        <p:txBody>
          <a:bodyPr wrap="none" lIns="0" tIns="0" rIns="0" bIns="0" rtlCol="0" anchor="t"/>
          <a:lstStyle/>
          <a:p>
            <a:pPr marL="0" indent="0" algn="l">
              <a:lnSpc>
                <a:spcPts val="840"/>
              </a:lnSpc>
              <a:buNone/>
            </a:pPr>
            <a:r>
              <a:rPr lang="en-US" sz="560" b="1" kern="0" spc="110" dirty="0">
                <a:solidFill>
                  <a:srgbClr val="FAB753"/>
                </a:solidFill>
                <a:latin typeface="Calibri" pitchFamily="34" charset="0"/>
                <a:ea typeface="Calibri" pitchFamily="34" charset="-122"/>
                <a:cs typeface="Calibri" pitchFamily="34" charset="-120"/>
              </a:rPr>
              <a:t>PART 2 · PAPERWORK</a:t>
            </a:r>
            <a:endParaRPr lang="en-US" sz="560" dirty="0"/>
          </a:p>
        </p:txBody>
      </p:sp>
      <p:sp>
        <p:nvSpPr>
          <p:cNvPr id="4" name="Text 2"/>
          <p:cNvSpPr/>
          <p:nvPr/>
        </p:nvSpPr>
        <p:spPr>
          <a:xfrm>
            <a:off x="228600" y="565100"/>
            <a:ext cx="1720251" cy="467246"/>
          </a:xfrm>
          <a:prstGeom prst="rect">
            <a:avLst/>
          </a:prstGeom>
          <a:noFill/>
          <a:ln/>
        </p:spPr>
        <p:txBody>
          <a:bodyPr wrap="square" lIns="0" tIns="0" rIns="0" bIns="0" rtlCol="0" anchor="t"/>
          <a:lstStyle/>
          <a:p>
            <a:pPr marL="0" indent="0" algn="l">
              <a:lnSpc>
                <a:spcPts val="1752"/>
              </a:lnSpc>
              <a:buNone/>
            </a:pPr>
            <a:r>
              <a:rPr lang="en-US" sz="1460" b="1" dirty="0">
                <a:solidFill>
                  <a:srgbClr val="FFFFFF"/>
                </a:solidFill>
                <a:latin typeface="Calibri Light" pitchFamily="34" charset="0"/>
                <a:ea typeface="Calibri Light" pitchFamily="34" charset="-122"/>
                <a:cs typeface="Calibri Light" pitchFamily="34" charset="-120"/>
              </a:rPr>
              <a:t>Required Client Forms</a:t>
            </a:r>
            <a:endParaRPr lang="en-US" sz="1460" dirty="0"/>
          </a:p>
        </p:txBody>
      </p:sp>
      <p:sp>
        <p:nvSpPr>
          <p:cNvPr id="5" name="Text 3"/>
          <p:cNvSpPr/>
          <p:nvPr/>
        </p:nvSpPr>
        <p:spPr>
          <a:xfrm>
            <a:off x="191114" y="1061654"/>
            <a:ext cx="1855172" cy="1279847"/>
          </a:xfrm>
          <a:prstGeom prst="rect">
            <a:avLst/>
          </a:prstGeom>
          <a:noFill/>
          <a:ln/>
        </p:spPr>
        <p:txBody>
          <a:bodyPr wrap="none" lIns="0" tIns="0" rIns="0" bIns="0" rtlCol="0" anchor="t"/>
          <a:lstStyle/>
          <a:p>
            <a:pPr marL="0" indent="0" algn="l">
              <a:lnSpc>
                <a:spcPts val="1095"/>
              </a:lnSpc>
              <a:buNone/>
            </a:pPr>
            <a:r>
              <a:rPr lang="en-US" sz="730" dirty="0">
                <a:solidFill>
                  <a:srgbClr val="FFFFFF">
                    <a:alpha val="72000"/>
                  </a:srgbClr>
                </a:solidFill>
                <a:latin typeface="Calibri" pitchFamily="34" charset="0"/>
                <a:cs typeface="Calibri" pitchFamily="34" charset="-120"/>
              </a:rPr>
              <a:t>TPO</a:t>
            </a:r>
          </a:p>
          <a:p>
            <a:pPr marL="0" indent="0" algn="l">
              <a:lnSpc>
                <a:spcPts val="1095"/>
              </a:lnSpc>
              <a:buNone/>
            </a:pPr>
            <a:r>
              <a:rPr lang="en-US" sz="730" dirty="0">
                <a:solidFill>
                  <a:srgbClr val="FFFFFF">
                    <a:alpha val="72000"/>
                  </a:srgbClr>
                </a:solidFill>
                <a:latin typeface="Calibri" pitchFamily="34" charset="0"/>
                <a:cs typeface="Calibri" pitchFamily="34" charset="-120"/>
              </a:rPr>
              <a:t>Release of Information</a:t>
            </a:r>
          </a:p>
          <a:p>
            <a:pPr marL="0" indent="0" algn="l">
              <a:lnSpc>
                <a:spcPts val="1095"/>
              </a:lnSpc>
              <a:buNone/>
            </a:pPr>
            <a:r>
              <a:rPr lang="en-US" sz="730" dirty="0">
                <a:solidFill>
                  <a:srgbClr val="FFFFFF">
                    <a:alpha val="72000"/>
                  </a:srgbClr>
                </a:solidFill>
                <a:latin typeface="Calibri" pitchFamily="34" charset="0"/>
                <a:cs typeface="Calibri" pitchFamily="34" charset="-120"/>
              </a:rPr>
              <a:t>Student Preferred Name – Parent consent form</a:t>
            </a:r>
          </a:p>
          <a:p>
            <a:pPr marL="0" indent="0" algn="l">
              <a:lnSpc>
                <a:spcPts val="1095"/>
              </a:lnSpc>
              <a:buNone/>
            </a:pPr>
            <a:endParaRPr lang="en-US" sz="730" dirty="0">
              <a:solidFill>
                <a:srgbClr val="FFFFFF">
                  <a:alpha val="72000"/>
                </a:srgbClr>
              </a:solidFill>
              <a:latin typeface="Calibri" pitchFamily="34" charset="0"/>
              <a:cs typeface="Calibri" pitchFamily="34" charset="-120"/>
            </a:endParaRPr>
          </a:p>
          <a:p>
            <a:pPr marL="0" indent="0" algn="l">
              <a:lnSpc>
                <a:spcPts val="1095"/>
              </a:lnSpc>
              <a:buNone/>
            </a:pPr>
            <a:r>
              <a:rPr lang="en-US" sz="730" dirty="0">
                <a:solidFill>
                  <a:srgbClr val="FFFFFF">
                    <a:alpha val="72000"/>
                  </a:srgbClr>
                </a:solidFill>
                <a:latin typeface="Calibri" pitchFamily="34" charset="0"/>
                <a:cs typeface="Calibri" pitchFamily="34" charset="-120"/>
              </a:rPr>
              <a:t>Not a physical form, but an Avatar</a:t>
            </a:r>
          </a:p>
          <a:p>
            <a:pPr marL="0" indent="0" algn="l">
              <a:lnSpc>
                <a:spcPts val="1095"/>
              </a:lnSpc>
              <a:buNone/>
            </a:pPr>
            <a:r>
              <a:rPr lang="en-US" sz="730" dirty="0">
                <a:solidFill>
                  <a:srgbClr val="FFFFFF">
                    <a:alpha val="72000"/>
                  </a:srgbClr>
                </a:solidFill>
                <a:latin typeface="Calibri" pitchFamily="34" charset="0"/>
                <a:cs typeface="Calibri" pitchFamily="34" charset="-120"/>
              </a:rPr>
              <a:t>form and reminder to update custody.</a:t>
            </a:r>
          </a:p>
          <a:p>
            <a:pPr marL="0" indent="0" algn="l">
              <a:lnSpc>
                <a:spcPts val="1095"/>
              </a:lnSpc>
              <a:buNone/>
            </a:pPr>
            <a:endParaRPr lang="en-US" sz="730" dirty="0"/>
          </a:p>
        </p:txBody>
      </p:sp>
      <p:sp>
        <p:nvSpPr>
          <p:cNvPr id="9" name="Text 7"/>
          <p:cNvSpPr/>
          <p:nvPr/>
        </p:nvSpPr>
        <p:spPr>
          <a:xfrm>
            <a:off x="228600" y="4201418"/>
            <a:ext cx="342900" cy="342900"/>
          </a:xfrm>
          <a:prstGeom prst="ellipse">
            <a:avLst/>
          </a:prstGeom>
          <a:solidFill>
            <a:srgbClr val="FAB753">
              <a:alpha val="18000"/>
            </a:srgbClr>
          </a:solidFill>
          <a:ln/>
        </p:spPr>
        <p:txBody>
          <a:bodyPr wrap="square" rtlCol="0" anchor="t"/>
          <a:lstStyle/>
          <a:p>
            <a:pPr marL="0" indent="0">
              <a:buNone/>
            </a:pPr>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682" y="4306500"/>
            <a:ext cx="132588" cy="132588"/>
          </a:xfrm>
          <a:prstGeom prst="rect">
            <a:avLst/>
          </a:prstGeom>
        </p:spPr>
      </p:pic>
      <p:sp>
        <p:nvSpPr>
          <p:cNvPr id="11" name="Text 8"/>
          <p:cNvSpPr/>
          <p:nvPr/>
        </p:nvSpPr>
        <p:spPr>
          <a:xfrm>
            <a:off x="228600" y="4601468"/>
            <a:ext cx="1720251" cy="209089"/>
          </a:xfrm>
          <a:prstGeom prst="rect">
            <a:avLst/>
          </a:prstGeom>
          <a:noFill/>
          <a:ln/>
        </p:spPr>
        <p:txBody>
          <a:bodyPr wrap="square" lIns="0" tIns="0" rIns="0" bIns="0" rtlCol="0" anchor="ctr"/>
          <a:lstStyle/>
          <a:p>
            <a:pPr marL="0" indent="0" algn="l">
              <a:lnSpc>
                <a:spcPts val="784"/>
              </a:lnSpc>
              <a:buNone/>
            </a:pPr>
            <a:r>
              <a:rPr lang="en-US" sz="560" dirty="0">
                <a:solidFill>
                  <a:srgbClr val="FFFFFF">
                    <a:alpha val="45000"/>
                  </a:srgbClr>
                </a:solidFill>
                <a:latin typeface="Calibri" pitchFamily="34" charset="0"/>
                <a:ea typeface="Calibri" pitchFamily="34" charset="-122"/>
                <a:cs typeface="Calibri" pitchFamily="34" charset="-120"/>
              </a:rPr>
              <a:t>Forms 5–8 of 8</a:t>
            </a:r>
            <a:br/>
            <a:r>
              <a:rPr lang="en-US" sz="560" dirty="0">
                <a:solidFill>
                  <a:srgbClr val="FFFFFF">
                    <a:alpha val="45000"/>
                  </a:srgbClr>
                </a:solidFill>
                <a:latin typeface="Calibri" pitchFamily="34" charset="0"/>
                <a:ea typeface="Calibri" pitchFamily="34" charset="-122"/>
                <a:cs typeface="Calibri" pitchFamily="34" charset="-120"/>
              </a:rPr>
              <a:t>Required Documentation</a:t>
            </a:r>
            <a:endParaRPr lang="en-US" sz="560" dirty="0"/>
          </a:p>
        </p:txBody>
      </p:sp>
      <p:sp>
        <p:nvSpPr>
          <p:cNvPr id="12" name="Text 9"/>
          <p:cNvSpPr/>
          <p:nvPr/>
        </p:nvSpPr>
        <p:spPr>
          <a:xfrm>
            <a:off x="2143720" y="0"/>
            <a:ext cx="21580" cy="5143500"/>
          </a:xfrm>
          <a:prstGeom prst="rect">
            <a:avLst/>
          </a:prstGeom>
          <a:gradFill rotWithShape="1">
            <a:gsLst>
              <a:gs pos="0">
                <a:srgbClr val="EAF4F4">
                  <a:alpha val="50000"/>
                </a:srgbClr>
              </a:gs>
              <a:gs pos="40000">
                <a:srgbClr val="55A49C">
                  <a:alpha val="50000"/>
                </a:srgbClr>
              </a:gs>
              <a:gs pos="100000">
                <a:srgbClr val="EAF4F4">
                  <a:alpha val="50000"/>
                </a:srgbClr>
              </a:gs>
            </a:gsLst>
            <a:lin ang="5400000" scaled="1"/>
          </a:gradFill>
          <a:ln/>
        </p:spPr>
        <p:txBody>
          <a:bodyPr wrap="square" rtlCol="0" anchor="t"/>
          <a:lstStyle/>
          <a:p>
            <a:pPr marL="0" indent="0">
              <a:buNone/>
            </a:pPr>
            <a:endParaRPr lang="en-US" dirty="0"/>
          </a:p>
        </p:txBody>
      </p:sp>
      <p:sp>
        <p:nvSpPr>
          <p:cNvPr id="13" name="Text 10"/>
          <p:cNvSpPr/>
          <p:nvPr/>
        </p:nvSpPr>
        <p:spPr>
          <a:xfrm>
            <a:off x="2431772" y="262942"/>
            <a:ext cx="6592422" cy="295721"/>
          </a:xfrm>
          <a:prstGeom prst="rect">
            <a:avLst/>
          </a:prstGeom>
          <a:noFill/>
          <a:ln/>
        </p:spPr>
        <p:txBody>
          <a:bodyPr wrap="none" lIns="0" tIns="0" rIns="0" bIns="71120" rtlCol="0" anchor="t"/>
          <a:lstStyle/>
          <a:p>
            <a:pPr marL="0" indent="0" algn="l">
              <a:buNone/>
            </a:pPr>
            <a:r>
              <a:rPr lang="en-US" sz="1130" dirty="0">
                <a:solidFill>
                  <a:srgbClr val="195E72"/>
                </a:solidFill>
              </a:rPr>
              <a:t>Paperwork continued…</a:t>
            </a:r>
          </a:p>
        </p:txBody>
      </p:sp>
      <p:sp>
        <p:nvSpPr>
          <p:cNvPr id="14" name="Text 11"/>
          <p:cNvSpPr/>
          <p:nvPr/>
        </p:nvSpPr>
        <p:spPr>
          <a:xfrm>
            <a:off x="2423071" y="514796"/>
            <a:ext cx="6463159" cy="9525"/>
          </a:xfrm>
          <a:prstGeom prst="rect">
            <a:avLst/>
          </a:prstGeom>
          <a:solidFill>
            <a:srgbClr val="EAF4F4"/>
          </a:solidFill>
          <a:ln/>
        </p:spPr>
        <p:txBody>
          <a:bodyPr wrap="none" rtlCol="0" anchor="t"/>
          <a:lstStyle/>
          <a:p>
            <a:pPr marL="0" indent="0">
              <a:buNone/>
            </a:pPr>
            <a:endParaRPr lang="en-US" dirty="0"/>
          </a:p>
        </p:txBody>
      </p:sp>
      <p:sp>
        <p:nvSpPr>
          <p:cNvPr id="15" name="Text 12"/>
          <p:cNvSpPr/>
          <p:nvPr/>
        </p:nvSpPr>
        <p:spPr>
          <a:xfrm>
            <a:off x="2423071" y="660053"/>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012" y="693994"/>
            <a:ext cx="132588" cy="132588"/>
          </a:xfrm>
          <a:prstGeom prst="rect">
            <a:avLst/>
          </a:prstGeom>
        </p:spPr>
      </p:pic>
      <p:sp>
        <p:nvSpPr>
          <p:cNvPr id="17" name="Text 13"/>
          <p:cNvSpPr/>
          <p:nvPr/>
        </p:nvSpPr>
        <p:spPr>
          <a:xfrm>
            <a:off x="2710011" y="652463"/>
            <a:ext cx="6793840" cy="120402"/>
          </a:xfrm>
          <a:prstGeom prst="rect">
            <a:avLst/>
          </a:prstGeom>
          <a:noFill/>
          <a:ln/>
        </p:spPr>
        <p:txBody>
          <a:bodyPr wrap="none" lIns="0" tIns="0" rIns="0" bIns="0" rtlCol="0" anchor="t"/>
          <a:lstStyle/>
          <a:p>
            <a:pPr marL="0" indent="0" algn="l">
              <a:lnSpc>
                <a:spcPts val="949"/>
              </a:lnSpc>
              <a:buNone/>
            </a:pPr>
            <a:r>
              <a:rPr lang="en-US" sz="730" b="1" dirty="0">
                <a:solidFill>
                  <a:srgbClr val="1B5E72"/>
                </a:solidFill>
                <a:latin typeface="Calibri" pitchFamily="34" charset="0"/>
                <a:ea typeface="Calibri" pitchFamily="34" charset="-122"/>
                <a:cs typeface="Calibri" pitchFamily="34" charset="-120"/>
              </a:rPr>
              <a:t>Release of Information for Treatment, Payment, and Health Care Operations</a:t>
            </a:r>
            <a:endParaRPr lang="en-US" sz="730" dirty="0"/>
          </a:p>
        </p:txBody>
      </p:sp>
      <p:sp>
        <p:nvSpPr>
          <p:cNvPr id="18" name="Text 14"/>
          <p:cNvSpPr/>
          <p:nvPr/>
        </p:nvSpPr>
        <p:spPr>
          <a:xfrm>
            <a:off x="2710011" y="786705"/>
            <a:ext cx="6299743" cy="262845"/>
          </a:xfrm>
          <a:prstGeom prst="rect">
            <a:avLst/>
          </a:prstGeom>
          <a:noFill/>
          <a:ln/>
        </p:spPr>
        <p:txBody>
          <a:bodyPr wrap="square" lIns="0" tIns="0" rIns="0" bIns="0" rtlCol="0" anchor="t"/>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Broad authorization allowing Centerstone to release client information to treating providers, health plans, and third-party payers for the purposes of treatment, payment, and operations. Expires 180 days from discharge.</a:t>
            </a:r>
            <a:endParaRPr lang="en-US" sz="680" dirty="0"/>
          </a:p>
        </p:txBody>
      </p:sp>
      <p:sp>
        <p:nvSpPr>
          <p:cNvPr id="19" name="Text 15"/>
          <p:cNvSpPr/>
          <p:nvPr/>
        </p:nvSpPr>
        <p:spPr>
          <a:xfrm>
            <a:off x="2710011" y="1058614"/>
            <a:ext cx="6793840" cy="102245"/>
          </a:xfrm>
          <a:prstGeom prst="rect">
            <a:avLst/>
          </a:prstGeom>
          <a:noFill/>
          <a:ln/>
        </p:spPr>
        <p:txBody>
          <a:bodyPr wrap="none" lIns="0" tIns="0" rIns="0" bIns="0" rtlCol="0" anchor="t"/>
          <a:lstStyle/>
          <a:p>
            <a:pPr marL="0" indent="0" algn="l">
              <a:lnSpc>
                <a:spcPts val="806"/>
              </a:lnSpc>
              <a:buNone/>
            </a:pPr>
            <a:r>
              <a:rPr lang="en-US" sz="620" i="1" dirty="0">
                <a:solidFill>
                  <a:srgbClr val="55A49C"/>
                </a:solidFill>
                <a:latin typeface="Calibri" pitchFamily="34" charset="0"/>
                <a:ea typeface="Calibri" pitchFamily="34" charset="-122"/>
                <a:cs typeface="Calibri" pitchFamily="34" charset="-120"/>
              </a:rPr>
              <a:t>Update frequency: this form is valid for the duration of treatment (requires update if a client turns 16)</a:t>
            </a:r>
            <a:endParaRPr lang="en-US" sz="620" dirty="0"/>
          </a:p>
        </p:txBody>
      </p:sp>
      <p:sp>
        <p:nvSpPr>
          <p:cNvPr id="20" name="Text 16"/>
          <p:cNvSpPr/>
          <p:nvPr/>
        </p:nvSpPr>
        <p:spPr>
          <a:xfrm>
            <a:off x="2423071" y="1254770"/>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57012" y="1288712"/>
            <a:ext cx="132588" cy="132588"/>
          </a:xfrm>
          <a:prstGeom prst="rect">
            <a:avLst/>
          </a:prstGeom>
        </p:spPr>
      </p:pic>
      <p:sp>
        <p:nvSpPr>
          <p:cNvPr id="22" name="Text 17"/>
          <p:cNvSpPr/>
          <p:nvPr/>
        </p:nvSpPr>
        <p:spPr>
          <a:xfrm>
            <a:off x="2710011" y="1247180"/>
            <a:ext cx="6793840" cy="120402"/>
          </a:xfrm>
          <a:prstGeom prst="rect">
            <a:avLst/>
          </a:prstGeom>
          <a:noFill/>
          <a:ln/>
        </p:spPr>
        <p:txBody>
          <a:bodyPr wrap="none" lIns="0" tIns="0" rIns="0" bIns="0" rtlCol="0" anchor="t"/>
          <a:lstStyle/>
          <a:p>
            <a:pPr marL="0" indent="0" algn="l">
              <a:lnSpc>
                <a:spcPts val="949"/>
              </a:lnSpc>
              <a:buNone/>
            </a:pPr>
            <a:r>
              <a:rPr lang="en-US" sz="730" b="1" dirty="0">
                <a:solidFill>
                  <a:srgbClr val="1B5E72"/>
                </a:solidFill>
                <a:latin typeface="Calibri" pitchFamily="34" charset="0"/>
                <a:ea typeface="Calibri" pitchFamily="34" charset="-122"/>
                <a:cs typeface="Calibri" pitchFamily="34" charset="-120"/>
              </a:rPr>
              <a:t>Release of Information</a:t>
            </a:r>
            <a:endParaRPr lang="en-US" sz="730" dirty="0"/>
          </a:p>
        </p:txBody>
      </p:sp>
      <p:sp>
        <p:nvSpPr>
          <p:cNvPr id="23" name="Text 18"/>
          <p:cNvSpPr/>
          <p:nvPr/>
        </p:nvSpPr>
        <p:spPr>
          <a:xfrm>
            <a:off x="2710011" y="1381423"/>
            <a:ext cx="6299743" cy="262845"/>
          </a:xfrm>
          <a:prstGeom prst="rect">
            <a:avLst/>
          </a:prstGeom>
          <a:noFill/>
          <a:ln/>
        </p:spPr>
        <p:txBody>
          <a:bodyPr wrap="square" lIns="0" tIns="0" rIns="0" bIns="0" rtlCol="0" anchor="t"/>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Specific, client-directed ROI for sharing information with named parties — such as the school system, primary care provider, emergency contact, or another agency. Must identify what is released, to whom, for what purpose, and the expiration date.</a:t>
            </a:r>
            <a:endParaRPr lang="en-US" sz="680" dirty="0"/>
          </a:p>
        </p:txBody>
      </p:sp>
      <p:sp>
        <p:nvSpPr>
          <p:cNvPr id="24" name="Text 19"/>
          <p:cNvSpPr/>
          <p:nvPr/>
        </p:nvSpPr>
        <p:spPr>
          <a:xfrm>
            <a:off x="2710011" y="1653332"/>
            <a:ext cx="6793840" cy="102245"/>
          </a:xfrm>
          <a:prstGeom prst="rect">
            <a:avLst/>
          </a:prstGeom>
          <a:noFill/>
          <a:ln/>
        </p:spPr>
        <p:txBody>
          <a:bodyPr wrap="none" lIns="0" tIns="0" rIns="0" bIns="0" rtlCol="0" anchor="t"/>
          <a:lstStyle/>
          <a:p>
            <a:pPr marL="0" indent="0" algn="l">
              <a:lnSpc>
                <a:spcPts val="806"/>
              </a:lnSpc>
              <a:buNone/>
            </a:pPr>
            <a:r>
              <a:rPr lang="en-US" sz="620" i="1" dirty="0">
                <a:solidFill>
                  <a:srgbClr val="55A49C"/>
                </a:solidFill>
                <a:latin typeface="Calibri" pitchFamily="34" charset="0"/>
                <a:ea typeface="Calibri" pitchFamily="34" charset="-122"/>
                <a:cs typeface="Calibri" pitchFamily="34" charset="-120"/>
              </a:rPr>
              <a:t>Update frequency: this form is required annually.  For school-based clients, the school release should be for the school system (not the specific school; do not use abbreviation.) </a:t>
            </a:r>
          </a:p>
          <a:p>
            <a:pPr marL="0" indent="0" algn="l">
              <a:lnSpc>
                <a:spcPts val="806"/>
              </a:lnSpc>
              <a:buNone/>
            </a:pPr>
            <a:r>
              <a:rPr lang="en-US" sz="620" i="1" dirty="0">
                <a:solidFill>
                  <a:srgbClr val="55A49C"/>
                </a:solidFill>
                <a:latin typeface="Calibri" pitchFamily="34" charset="0"/>
                <a:cs typeface="Calibri" pitchFamily="34" charset="-120"/>
              </a:rPr>
              <a:t>When updating the PCP release, also make sure to update the PCP communication form and that it is linked to the new release.  Do not update the PCP communication form with</a:t>
            </a:r>
          </a:p>
          <a:p>
            <a:pPr marL="0" indent="0" algn="l">
              <a:lnSpc>
                <a:spcPts val="806"/>
              </a:lnSpc>
              <a:buNone/>
            </a:pPr>
            <a:r>
              <a:rPr lang="en-US" sz="620" i="1" dirty="0">
                <a:solidFill>
                  <a:srgbClr val="55A49C"/>
                </a:solidFill>
                <a:latin typeface="Calibri" pitchFamily="34" charset="0"/>
                <a:cs typeface="Calibri" pitchFamily="34" charset="-120"/>
              </a:rPr>
              <a:t>Updating the release first.</a:t>
            </a:r>
            <a:endParaRPr lang="en-US" sz="620" dirty="0"/>
          </a:p>
        </p:txBody>
      </p:sp>
      <p:sp>
        <p:nvSpPr>
          <p:cNvPr id="25" name="Text 20"/>
          <p:cNvSpPr/>
          <p:nvPr/>
        </p:nvSpPr>
        <p:spPr>
          <a:xfrm>
            <a:off x="2431772" y="2091701"/>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5713" y="2125643"/>
            <a:ext cx="132588" cy="132588"/>
          </a:xfrm>
          <a:prstGeom prst="rect">
            <a:avLst/>
          </a:prstGeom>
        </p:spPr>
      </p:pic>
      <p:sp>
        <p:nvSpPr>
          <p:cNvPr id="27" name="Text 21"/>
          <p:cNvSpPr/>
          <p:nvPr/>
        </p:nvSpPr>
        <p:spPr>
          <a:xfrm>
            <a:off x="2723678" y="2090897"/>
            <a:ext cx="2098824" cy="196680"/>
          </a:xfrm>
          <a:prstGeom prst="rect">
            <a:avLst/>
          </a:prstGeom>
          <a:noFill/>
          <a:ln/>
        </p:spPr>
        <p:txBody>
          <a:bodyPr wrap="none" lIns="0" tIns="0" rIns="0" bIns="0" rtlCol="0" anchor="t"/>
          <a:lstStyle/>
          <a:p>
            <a:pPr marL="0" indent="0" algn="l">
              <a:lnSpc>
                <a:spcPts val="949"/>
              </a:lnSpc>
              <a:buNone/>
            </a:pPr>
            <a:r>
              <a:rPr lang="en-US" sz="730" b="1" dirty="0">
                <a:solidFill>
                  <a:srgbClr val="1B5E72"/>
                </a:solidFill>
                <a:latin typeface="Calibri" pitchFamily="34" charset="0"/>
                <a:ea typeface="Calibri" pitchFamily="34" charset="-122"/>
                <a:cs typeface="Calibri" pitchFamily="34" charset="-120"/>
              </a:rPr>
              <a:t>Parent/Guardian Info and Emergency Contact</a:t>
            </a:r>
            <a:endParaRPr lang="en-US" sz="730" dirty="0"/>
          </a:p>
        </p:txBody>
      </p:sp>
      <p:sp>
        <p:nvSpPr>
          <p:cNvPr id="28" name="Text 22"/>
          <p:cNvSpPr/>
          <p:nvPr/>
        </p:nvSpPr>
        <p:spPr>
          <a:xfrm>
            <a:off x="2718712" y="2218354"/>
            <a:ext cx="6299743" cy="262845"/>
          </a:xfrm>
          <a:prstGeom prst="rect">
            <a:avLst/>
          </a:prstGeom>
          <a:noFill/>
          <a:ln/>
        </p:spPr>
        <p:txBody>
          <a:bodyPr wrap="square" lIns="0" tIns="0" rIns="0" bIns="0" rtlCol="0" anchor="t"/>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Verified and updated in Avatar when information changes. If more than one guardian exists, each must be entered individually. Emergency contacts beyond parents require a signed release.  Make sure to obtain custody paperwork if anyone other than bio mother is requesting services.</a:t>
            </a:r>
            <a:endParaRPr lang="en-US" sz="680" dirty="0"/>
          </a:p>
        </p:txBody>
      </p:sp>
      <p:sp>
        <p:nvSpPr>
          <p:cNvPr id="29" name="Text 23"/>
          <p:cNvSpPr/>
          <p:nvPr/>
        </p:nvSpPr>
        <p:spPr>
          <a:xfrm>
            <a:off x="2710011" y="2550811"/>
            <a:ext cx="6793840" cy="102245"/>
          </a:xfrm>
          <a:prstGeom prst="rect">
            <a:avLst/>
          </a:prstGeom>
          <a:noFill/>
          <a:ln/>
        </p:spPr>
        <p:txBody>
          <a:bodyPr wrap="none" lIns="0" tIns="0" rIns="0" bIns="0" rtlCol="0" anchor="t"/>
          <a:lstStyle/>
          <a:p>
            <a:pPr marL="0" indent="0" algn="l">
              <a:lnSpc>
                <a:spcPts val="806"/>
              </a:lnSpc>
              <a:buNone/>
            </a:pPr>
            <a:r>
              <a:rPr lang="en-US" sz="620" i="1" dirty="0">
                <a:solidFill>
                  <a:srgbClr val="55A49C"/>
                </a:solidFill>
                <a:latin typeface="Calibri" pitchFamily="34" charset="0"/>
                <a:ea typeface="Calibri" pitchFamily="34" charset="-122"/>
                <a:cs typeface="Calibri" pitchFamily="34" charset="-120"/>
              </a:rPr>
              <a:t>Update frequency: update custody information as soon as you learn of the change.</a:t>
            </a:r>
            <a:endParaRPr lang="en-US" sz="620" dirty="0"/>
          </a:p>
        </p:txBody>
      </p:sp>
      <p:sp>
        <p:nvSpPr>
          <p:cNvPr id="30" name="Text 24"/>
          <p:cNvSpPr/>
          <p:nvPr/>
        </p:nvSpPr>
        <p:spPr>
          <a:xfrm>
            <a:off x="2431772" y="2836285"/>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65713" y="2870227"/>
            <a:ext cx="132588" cy="132588"/>
          </a:xfrm>
          <a:prstGeom prst="rect">
            <a:avLst/>
          </a:prstGeom>
        </p:spPr>
      </p:pic>
      <p:sp>
        <p:nvSpPr>
          <p:cNvPr id="32" name="Text 25"/>
          <p:cNvSpPr/>
          <p:nvPr/>
        </p:nvSpPr>
        <p:spPr>
          <a:xfrm>
            <a:off x="2719835" y="2831405"/>
            <a:ext cx="2503571" cy="251406"/>
          </a:xfrm>
          <a:prstGeom prst="rect">
            <a:avLst/>
          </a:prstGeom>
          <a:noFill/>
          <a:ln/>
        </p:spPr>
        <p:txBody>
          <a:bodyPr wrap="none" lIns="0" tIns="0" rIns="0" bIns="0" rtlCol="0" anchor="t"/>
          <a:lstStyle/>
          <a:p>
            <a:pPr marL="0" indent="0" algn="l">
              <a:lnSpc>
                <a:spcPts val="949"/>
              </a:lnSpc>
              <a:buNone/>
            </a:pPr>
            <a:r>
              <a:rPr lang="en-US" sz="730" b="1" dirty="0">
                <a:solidFill>
                  <a:srgbClr val="1B5E72"/>
                </a:solidFill>
                <a:latin typeface="Calibri" pitchFamily="34" charset="0"/>
                <a:ea typeface="Calibri" pitchFamily="34" charset="-122"/>
                <a:cs typeface="Calibri" pitchFamily="34" charset="-120"/>
              </a:rPr>
              <a:t>Student Preferred Name — Parent Consent Form</a:t>
            </a:r>
            <a:endParaRPr lang="en-US" sz="730" dirty="0"/>
          </a:p>
        </p:txBody>
      </p:sp>
      <p:sp>
        <p:nvSpPr>
          <p:cNvPr id="33" name="Text 26"/>
          <p:cNvSpPr/>
          <p:nvPr/>
        </p:nvSpPr>
        <p:spPr>
          <a:xfrm>
            <a:off x="2718712" y="2968882"/>
            <a:ext cx="6299743" cy="262845"/>
          </a:xfrm>
          <a:prstGeom prst="rect">
            <a:avLst/>
          </a:prstGeom>
          <a:noFill/>
          <a:ln/>
        </p:spPr>
        <p:txBody>
          <a:bodyPr wrap="square" lIns="0" tIns="0" rIns="0" bIns="0" rtlCol="0" anchor="t"/>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Required by Tennessee law (TCA § 49-6-5102) before any Centerstone employee uses a name or pronoun for a student that differs from their legal name or gender assigned at birth. Applies only to Centerstone counseling sessions. Must be signed by parent or legal guardian.</a:t>
            </a:r>
            <a:endParaRPr lang="en-US" sz="680" dirty="0"/>
          </a:p>
        </p:txBody>
      </p:sp>
      <p:sp>
        <p:nvSpPr>
          <p:cNvPr id="34" name="Text 27"/>
          <p:cNvSpPr/>
          <p:nvPr/>
        </p:nvSpPr>
        <p:spPr>
          <a:xfrm>
            <a:off x="2718720" y="3322448"/>
            <a:ext cx="6793840" cy="102245"/>
          </a:xfrm>
          <a:prstGeom prst="rect">
            <a:avLst/>
          </a:prstGeom>
          <a:noFill/>
          <a:ln/>
        </p:spPr>
        <p:txBody>
          <a:bodyPr wrap="none" lIns="0" tIns="0" rIns="0" bIns="0" rtlCol="0" anchor="t"/>
          <a:lstStyle/>
          <a:p>
            <a:pPr marL="0" indent="0" algn="l">
              <a:lnSpc>
                <a:spcPts val="806"/>
              </a:lnSpc>
              <a:buNone/>
            </a:pPr>
            <a:r>
              <a:rPr lang="en-US" sz="620" i="1" dirty="0">
                <a:solidFill>
                  <a:srgbClr val="55A49C"/>
                </a:solidFill>
                <a:latin typeface="Calibri" pitchFamily="34" charset="0"/>
                <a:ea typeface="Calibri" pitchFamily="34" charset="-122"/>
                <a:cs typeface="Calibri" pitchFamily="34" charset="-120"/>
              </a:rPr>
              <a:t>Update frequency: this form is specific to minors seen in a school setting.  This should not be completed for all clients.</a:t>
            </a:r>
            <a:endParaRPr lang="en-US" sz="620" dirty="0"/>
          </a:p>
        </p:txBody>
      </p:sp>
      <p:sp>
        <p:nvSpPr>
          <p:cNvPr id="35" name="Text 28"/>
          <p:cNvSpPr/>
          <p:nvPr/>
        </p:nvSpPr>
        <p:spPr>
          <a:xfrm>
            <a:off x="2095513" y="4877246"/>
            <a:ext cx="7118274" cy="266253"/>
          </a:xfrm>
          <a:prstGeom prst="rect">
            <a:avLst/>
          </a:prstGeom>
          <a:solidFill>
            <a:srgbClr val="FAB753"/>
          </a:solidFill>
          <a:ln/>
        </p:spPr>
        <p:txBody>
          <a:bodyPr wrap="none" lIns="257810" tIns="71120" rIns="257810" bIns="71120" rtlCol="0" anchor="t"/>
          <a:lstStyle/>
          <a:p>
            <a:pPr marL="0" indent="0" algn="ctr">
              <a:buNone/>
            </a:pPr>
            <a:r>
              <a:rPr lang="en-US" sz="700" b="1" dirty="0">
                <a:solidFill>
                  <a:srgbClr val="1B1B1B"/>
                </a:solidFill>
                <a:latin typeface="Calibri" pitchFamily="34" charset="0"/>
                <a:ea typeface="Calibri" pitchFamily="34" charset="-122"/>
                <a:cs typeface="Calibri" pitchFamily="34" charset="-120"/>
              </a:rPr>
              <a:t>School-based ROIs should always include releases for the school system and the primary care provider. Your team lead can provide samples.</a:t>
            </a:r>
            <a:endParaRPr lang="en-US" sz="700" dirty="0"/>
          </a:p>
        </p:txBody>
      </p:sp>
      <p:sp>
        <p:nvSpPr>
          <p:cNvPr id="36" name="Text 29"/>
          <p:cNvSpPr/>
          <p:nvPr/>
        </p:nvSpPr>
        <p:spPr>
          <a:xfrm>
            <a:off x="0" y="5114334"/>
            <a:ext cx="2143716" cy="29166"/>
          </a:xfrm>
          <a:prstGeom prst="rect">
            <a:avLst/>
          </a:prstGeom>
          <a:solidFill>
            <a:srgbClr val="FAB753"/>
          </a:solidFill>
          <a:ln/>
        </p:spPr>
        <p:txBody>
          <a:bodyPr wrap="non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43160"/>
          </a:xfrm>
          <a:prstGeom prst="rect">
            <a:avLst/>
          </a:prstGeom>
          <a:solidFill>
            <a:srgbClr val="1B5E72"/>
          </a:solidFill>
          <a:ln/>
        </p:spPr>
        <p:txBody>
          <a:bodyPr wrap="none" rtlCol="0" anchor="t"/>
          <a:lstStyle/>
          <a:p>
            <a:pPr marL="0" indent="0">
              <a:buNone/>
            </a:pPr>
            <a:endParaRPr lang="en-US" dirty="0"/>
          </a:p>
        </p:txBody>
      </p:sp>
      <p:sp>
        <p:nvSpPr>
          <p:cNvPr id="3" name="Text 1"/>
          <p:cNvSpPr/>
          <p:nvPr/>
        </p:nvSpPr>
        <p:spPr>
          <a:xfrm>
            <a:off x="514350" y="520660"/>
            <a:ext cx="349758" cy="936117"/>
          </a:xfrm>
          <a:prstGeom prst="rect">
            <a:avLst/>
          </a:prstGeom>
          <a:noFill/>
          <a:ln/>
        </p:spPr>
        <p:txBody>
          <a:bodyPr wrap="square" lIns="0" tIns="0" rIns="0" bIns="0" rtlCol="0" anchor="t"/>
          <a:lstStyle/>
          <a:p>
            <a:pPr marL="0" indent="0" algn="l">
              <a:lnSpc>
                <a:spcPts val="3780"/>
              </a:lnSpc>
              <a:buNone/>
            </a:pPr>
            <a:r>
              <a:rPr lang="en-US" sz="5400" b="1" dirty="0">
                <a:solidFill>
                  <a:srgbClr val="EAF4F4"/>
                </a:solidFill>
                <a:latin typeface="Calibri Light" pitchFamily="34" charset="0"/>
                <a:ea typeface="Calibri Light" pitchFamily="34" charset="-122"/>
                <a:cs typeface="Calibri Light" pitchFamily="34" charset="-120"/>
              </a:rPr>
              <a:t>“</a:t>
            </a:r>
            <a:endParaRPr lang="en-US" sz="5400" dirty="0"/>
          </a:p>
        </p:txBody>
      </p:sp>
      <p:sp>
        <p:nvSpPr>
          <p:cNvPr id="4" name="Text 2"/>
          <p:cNvSpPr/>
          <p:nvPr/>
        </p:nvSpPr>
        <p:spPr>
          <a:xfrm>
            <a:off x="8328720" y="243780"/>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5" name="Text 3"/>
          <p:cNvSpPr/>
          <p:nvPr/>
        </p:nvSpPr>
        <p:spPr>
          <a:xfrm>
            <a:off x="8429030" y="243780"/>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6" name="Text 4"/>
          <p:cNvSpPr/>
          <p:nvPr/>
        </p:nvSpPr>
        <p:spPr>
          <a:xfrm>
            <a:off x="8529340" y="243780"/>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7" name="Text 5"/>
          <p:cNvSpPr/>
          <p:nvPr/>
        </p:nvSpPr>
        <p:spPr>
          <a:xfrm>
            <a:off x="8629650" y="243780"/>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8" name="Text 6"/>
          <p:cNvSpPr/>
          <p:nvPr/>
        </p:nvSpPr>
        <p:spPr>
          <a:xfrm>
            <a:off x="8328720" y="34409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9" name="Text 7"/>
          <p:cNvSpPr/>
          <p:nvPr/>
        </p:nvSpPr>
        <p:spPr>
          <a:xfrm>
            <a:off x="8429030" y="34409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10" name="Text 8"/>
          <p:cNvSpPr/>
          <p:nvPr/>
        </p:nvSpPr>
        <p:spPr>
          <a:xfrm>
            <a:off x="8529340" y="34409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11" name="Text 9"/>
          <p:cNvSpPr/>
          <p:nvPr/>
        </p:nvSpPr>
        <p:spPr>
          <a:xfrm>
            <a:off x="8629650" y="34409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12" name="Text 10"/>
          <p:cNvSpPr/>
          <p:nvPr/>
        </p:nvSpPr>
        <p:spPr>
          <a:xfrm>
            <a:off x="8328720" y="44440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13" name="Text 11"/>
          <p:cNvSpPr/>
          <p:nvPr/>
        </p:nvSpPr>
        <p:spPr>
          <a:xfrm>
            <a:off x="8429030" y="44440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14" name="Text 12"/>
          <p:cNvSpPr/>
          <p:nvPr/>
        </p:nvSpPr>
        <p:spPr>
          <a:xfrm>
            <a:off x="8529340" y="44440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15" name="Text 13"/>
          <p:cNvSpPr/>
          <p:nvPr/>
        </p:nvSpPr>
        <p:spPr>
          <a:xfrm>
            <a:off x="8629650" y="444401"/>
            <a:ext cx="57150" cy="57150"/>
          </a:xfrm>
          <a:prstGeom prst="ellipse">
            <a:avLst/>
          </a:prstGeom>
          <a:solidFill>
            <a:srgbClr val="1B5E72">
              <a:alpha val="18000"/>
            </a:srgbClr>
          </a:solidFill>
          <a:ln/>
        </p:spPr>
        <p:txBody>
          <a:bodyPr wrap="none" rtlCol="0" anchor="t"/>
          <a:lstStyle/>
          <a:p>
            <a:pPr marL="0" indent="0">
              <a:buNone/>
            </a:pPr>
            <a:endParaRPr lang="en-US" dirty="0"/>
          </a:p>
        </p:txBody>
      </p:sp>
      <p:sp>
        <p:nvSpPr>
          <p:cNvPr id="16" name="Text 14"/>
          <p:cNvSpPr/>
          <p:nvPr/>
        </p:nvSpPr>
        <p:spPr>
          <a:xfrm>
            <a:off x="2739427" y="1214289"/>
            <a:ext cx="3665146" cy="378172"/>
          </a:xfrm>
          <a:prstGeom prst="rect">
            <a:avLst/>
          </a:prstGeom>
          <a:noFill/>
          <a:ln/>
        </p:spPr>
        <p:txBody>
          <a:bodyPr wrap="none" lIns="0" tIns="0" rIns="0" bIns="0" rtlCol="0" anchor="t"/>
          <a:lstStyle/>
          <a:p>
            <a:pPr marL="0" indent="0" algn="ctr">
              <a:lnSpc>
                <a:spcPts val="2978"/>
              </a:lnSpc>
              <a:spcAft>
                <a:spcPts val="1580"/>
              </a:spcAft>
              <a:buNone/>
            </a:pPr>
            <a:r>
              <a:rPr lang="en-US" sz="2590" b="1" kern="0" spc="-20" dirty="0">
                <a:solidFill>
                  <a:srgbClr val="1B5E72"/>
                </a:solidFill>
                <a:latin typeface="Calibri Light" pitchFamily="34" charset="0"/>
                <a:ea typeface="Calibri Light" pitchFamily="34" charset="-122"/>
                <a:cs typeface="Calibri Light" pitchFamily="34" charset="-120"/>
              </a:rPr>
              <a:t>More Than a Signature</a:t>
            </a:r>
            <a:endParaRPr lang="en-US" sz="2590" dirty="0"/>
          </a:p>
        </p:txBody>
      </p:sp>
      <p:sp>
        <p:nvSpPr>
          <p:cNvPr id="17" name="Text 15"/>
          <p:cNvSpPr/>
          <p:nvPr/>
        </p:nvSpPr>
        <p:spPr>
          <a:xfrm>
            <a:off x="3584787" y="1679125"/>
            <a:ext cx="457200" cy="21580"/>
          </a:xfrm>
          <a:prstGeom prst="roundRect">
            <a:avLst>
              <a:gd name="adj" fmla="val 64736"/>
            </a:avLst>
          </a:prstGeom>
          <a:solidFill>
            <a:srgbClr val="55A49C"/>
          </a:solidFill>
          <a:ln/>
        </p:spPr>
        <p:txBody>
          <a:bodyPr wrap="none" rtlCol="0" anchor="t"/>
          <a:lstStyle/>
          <a:p>
            <a:pPr marL="0" indent="0">
              <a:buNone/>
            </a:pPr>
            <a:endParaRPr lang="en-US" dirty="0"/>
          </a:p>
        </p:txBody>
      </p:sp>
      <p:sp>
        <p:nvSpPr>
          <p:cNvPr id="18" name="Text 16"/>
          <p:cNvSpPr/>
          <p:nvPr/>
        </p:nvSpPr>
        <p:spPr>
          <a:xfrm>
            <a:off x="312652" y="1885996"/>
            <a:ext cx="35421" cy="1572220"/>
          </a:xfrm>
          <a:prstGeom prst="roundRect">
            <a:avLst>
              <a:gd name="adj" fmla="val 60953"/>
            </a:avLst>
          </a:prstGeom>
          <a:solidFill>
            <a:srgbClr val="FAB753"/>
          </a:solidFill>
          <a:ln/>
        </p:spPr>
        <p:txBody>
          <a:bodyPr wrap="square" rtlCol="0" anchor="t"/>
          <a:lstStyle/>
          <a:p>
            <a:pPr marL="0" indent="0">
              <a:buNone/>
            </a:pPr>
            <a:endParaRPr lang="en-US" dirty="0"/>
          </a:p>
        </p:txBody>
      </p:sp>
      <p:sp>
        <p:nvSpPr>
          <p:cNvPr id="19" name="Text 17"/>
          <p:cNvSpPr/>
          <p:nvPr/>
        </p:nvSpPr>
        <p:spPr>
          <a:xfrm>
            <a:off x="605843" y="1885996"/>
            <a:ext cx="6842444" cy="456307"/>
          </a:xfrm>
          <a:prstGeom prst="rect">
            <a:avLst/>
          </a:prstGeom>
          <a:noFill/>
          <a:ln/>
        </p:spPr>
        <p:txBody>
          <a:bodyPr wrap="square" lIns="0" tIns="0" rIns="0" bIns="0" rtlCol="0" anchor="t"/>
          <a:lstStyle/>
          <a:p>
            <a:pPr marL="0" indent="0" algn="l">
              <a:lnSpc>
                <a:spcPts val="1712"/>
              </a:lnSpc>
              <a:buNone/>
            </a:pPr>
            <a:r>
              <a:rPr lang="en-US" sz="1070" dirty="0">
                <a:solidFill>
                  <a:srgbClr val="2C2C2C"/>
                </a:solidFill>
                <a:latin typeface="Calibri" pitchFamily="34" charset="0"/>
                <a:ea typeface="Calibri" pitchFamily="34" charset="-122"/>
                <a:cs typeface="Calibri" pitchFamily="34" charset="-120"/>
              </a:rPr>
              <a:t>Every form a parent signs is an opportunity to build trust, communicate clearly, and set the tone for the therapeutic relationship. Families who feel informed and respected engage better and stay longer.</a:t>
            </a:r>
            <a:endParaRPr lang="en-US" sz="1070" dirty="0"/>
          </a:p>
        </p:txBody>
      </p:sp>
      <p:sp>
        <p:nvSpPr>
          <p:cNvPr id="20" name="Text 18"/>
          <p:cNvSpPr/>
          <p:nvPr/>
        </p:nvSpPr>
        <p:spPr>
          <a:xfrm>
            <a:off x="605843" y="2544264"/>
            <a:ext cx="6136640" cy="1026123"/>
          </a:xfrm>
          <a:prstGeom prst="rect">
            <a:avLst/>
          </a:prstGeom>
          <a:noFill/>
          <a:ln/>
        </p:spPr>
        <p:txBody>
          <a:bodyPr wrap="square" lIns="0" tIns="0" rIns="0" bIns="0" rtlCol="0" anchor="t"/>
          <a:lstStyle/>
          <a:p>
            <a:pPr marL="0" indent="0" algn="l">
              <a:lnSpc>
                <a:spcPts val="1712"/>
              </a:lnSpc>
              <a:buNone/>
            </a:pPr>
            <a:r>
              <a:rPr lang="en-US" sz="1070" dirty="0">
                <a:solidFill>
                  <a:srgbClr val="2C2C2C"/>
                </a:solidFill>
                <a:latin typeface="Calibri" pitchFamily="34" charset="0"/>
                <a:ea typeface="Calibri" pitchFamily="34" charset="-122"/>
                <a:cs typeface="Calibri" pitchFamily="34" charset="-120"/>
              </a:rPr>
              <a:t>Your homework before the next session is to practice explaining each form in plain, warm language, not legal language. </a:t>
            </a:r>
          </a:p>
          <a:p>
            <a:pPr marL="0" indent="0" algn="l">
              <a:lnSpc>
                <a:spcPts val="1712"/>
              </a:lnSpc>
              <a:buNone/>
            </a:pPr>
            <a:r>
              <a:rPr lang="en-US" sz="1070" dirty="0">
                <a:solidFill>
                  <a:srgbClr val="2C2C2C"/>
                </a:solidFill>
                <a:latin typeface="Calibri" pitchFamily="34" charset="0"/>
                <a:ea typeface="Calibri" pitchFamily="34" charset="-122"/>
                <a:cs typeface="Calibri" pitchFamily="34" charset="-120"/>
              </a:rPr>
              <a:t>How would you explain the Notice of Privacy to a nervous parent in a school hallway? </a:t>
            </a:r>
          </a:p>
          <a:p>
            <a:pPr marL="0" indent="0" algn="l">
              <a:lnSpc>
                <a:spcPts val="1712"/>
              </a:lnSpc>
              <a:buNone/>
            </a:pPr>
            <a:r>
              <a:rPr lang="en-US" sz="1070" dirty="0">
                <a:solidFill>
                  <a:srgbClr val="2C2C2C"/>
                </a:solidFill>
                <a:latin typeface="Calibri" pitchFamily="34" charset="0"/>
                <a:ea typeface="Calibri" pitchFamily="34" charset="-122"/>
                <a:cs typeface="Calibri" pitchFamily="34" charset="-120"/>
              </a:rPr>
              <a:t>How would you explain the ROI for the school system to a guardian who is not sure they want the school involved?</a:t>
            </a:r>
            <a:endParaRPr lang="en-US" sz="1070" dirty="0"/>
          </a:p>
        </p:txBody>
      </p:sp>
      <p:sp>
        <p:nvSpPr>
          <p:cNvPr id="21" name="Text 19"/>
          <p:cNvSpPr/>
          <p:nvPr/>
        </p:nvSpPr>
        <p:spPr>
          <a:xfrm>
            <a:off x="809043" y="3728019"/>
            <a:ext cx="7379107" cy="229493"/>
          </a:xfrm>
          <a:prstGeom prst="rect">
            <a:avLst/>
          </a:prstGeom>
          <a:noFill/>
          <a:ln/>
        </p:spPr>
        <p:txBody>
          <a:bodyPr wrap="none" lIns="0" tIns="0" rIns="0" bIns="0" rtlCol="0" anchor="t"/>
          <a:lstStyle/>
          <a:p>
            <a:pPr marL="0" indent="0" algn="l">
              <a:lnSpc>
                <a:spcPts val="1808"/>
              </a:lnSpc>
              <a:buNone/>
            </a:pPr>
            <a:r>
              <a:rPr lang="en-US" sz="1130" b="1" i="1" dirty="0">
                <a:solidFill>
                  <a:srgbClr val="1B5E72"/>
                </a:solidFill>
                <a:latin typeface="Calibri" pitchFamily="34" charset="0"/>
                <a:ea typeface="Calibri" pitchFamily="34" charset="-122"/>
                <a:cs typeface="Calibri" pitchFamily="34" charset="-120"/>
              </a:rPr>
              <a:t>The paperwork is not administrative noise. It is your first clinical conversation.</a:t>
            </a:r>
            <a:endParaRPr lang="en-US" sz="1130" dirty="0"/>
          </a:p>
        </p:txBody>
      </p:sp>
      <p:sp>
        <p:nvSpPr>
          <p:cNvPr id="22" name="Text 20"/>
          <p:cNvSpPr/>
          <p:nvPr/>
        </p:nvSpPr>
        <p:spPr>
          <a:xfrm>
            <a:off x="0" y="4686300"/>
            <a:ext cx="9144000" cy="470916"/>
          </a:xfrm>
          <a:prstGeom prst="rect">
            <a:avLst/>
          </a:prstGeom>
          <a:solidFill>
            <a:srgbClr val="FAB753"/>
          </a:solidFill>
          <a:ln/>
        </p:spPr>
        <p:txBody>
          <a:bodyPr wrap="none" lIns="571500" tIns="0" rIns="571500" bIns="0" rtlCol="0" anchor="ctr"/>
          <a:lstStyle/>
          <a:p>
            <a:pPr marL="0" indent="0" algn="ctr">
              <a:buNone/>
            </a:pPr>
            <a:r>
              <a:rPr lang="en-US" sz="1010" b="1" kern="0" spc="10" dirty="0">
                <a:solidFill>
                  <a:srgbClr val="2C2C2C"/>
                </a:solidFill>
                <a:latin typeface="Calibri" pitchFamily="34" charset="0"/>
                <a:ea typeface="Calibri" pitchFamily="34" charset="-122"/>
                <a:cs typeface="Calibri" pitchFamily="34" charset="-120"/>
              </a:rPr>
              <a:t>A well-informed family is a more engaged family. Take the time to explain, not just obtain.</a:t>
            </a:r>
            <a:endParaRPr lang="en-US" sz="10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8178"/>
          </a:xfrm>
          <a:prstGeom prst="rect">
            <a:avLst/>
          </a:prstGeom>
          <a:solidFill>
            <a:srgbClr val="1B5E72"/>
          </a:solidFill>
          <a:ln/>
        </p:spPr>
        <p:txBody>
          <a:bodyPr wrap="square" lIns="372110" tIns="157480" rIns="372110" bIns="128270" rtlCol="0" anchor="t"/>
          <a:lstStyle/>
          <a:p>
            <a:pPr marL="0" indent="0" algn="l">
              <a:buNone/>
            </a:pPr>
            <a:r>
              <a:rPr lang="en-US" sz="1460" b="1" kern="0" spc="15" dirty="0">
                <a:solidFill>
                  <a:srgbClr val="FFFFFF"/>
                </a:solidFill>
                <a:latin typeface="Calibri Light" pitchFamily="34" charset="0"/>
                <a:ea typeface="Calibri Light" pitchFamily="34" charset="-122"/>
                <a:cs typeface="Calibri Light" pitchFamily="34" charset="-120"/>
              </a:rPr>
              <a:t>As You Build Your Schedule — A Few Things Worth Remembering</a:t>
            </a:r>
            <a:endParaRPr lang="en-US" sz="1460" dirty="0"/>
          </a:p>
          <a:p>
            <a:pPr marL="0" indent="0" algn="l">
              <a:buNone/>
            </a:pPr>
            <a:r>
              <a:rPr lang="en-US" sz="840" i="1" kern="0" spc="8" dirty="0">
                <a:solidFill>
                  <a:srgbClr val="FAB753"/>
                </a:solidFill>
                <a:latin typeface="Calibri" pitchFamily="34" charset="0"/>
                <a:ea typeface="Calibri" pitchFamily="34" charset="-122"/>
                <a:cs typeface="Calibri" pitchFamily="34" charset="-120"/>
              </a:rPr>
              <a:t>Scheduling well is an act of self-care as much as it is an act of clinical planning.</a:t>
            </a:r>
            <a:endParaRPr lang="en-US" sz="1460" dirty="0"/>
          </a:p>
        </p:txBody>
      </p:sp>
      <p:sp>
        <p:nvSpPr>
          <p:cNvPr id="3" name="Text 1"/>
          <p:cNvSpPr/>
          <p:nvPr/>
        </p:nvSpPr>
        <p:spPr>
          <a:xfrm>
            <a:off x="372070" y="925860"/>
            <a:ext cx="2666107" cy="3880098"/>
          </a:xfrm>
          <a:prstGeom prst="roundRect">
            <a:avLst>
              <a:gd name="adj" fmla="val 2668"/>
            </a:avLst>
          </a:prstGeom>
          <a:solidFill>
            <a:srgbClr val="EAF4F4"/>
          </a:solidFill>
          <a:ln/>
        </p:spPr>
        <p:txBody>
          <a:bodyPr wrap="square" rtlCol="0" anchor="t"/>
          <a:lstStyle/>
          <a:p>
            <a:pPr marL="0" indent="0">
              <a:buNone/>
            </a:pPr>
            <a:endParaRPr lang="en-US" dirty="0"/>
          </a:p>
        </p:txBody>
      </p:sp>
      <p:sp>
        <p:nvSpPr>
          <p:cNvPr id="4" name="Text 2"/>
          <p:cNvSpPr/>
          <p:nvPr/>
        </p:nvSpPr>
        <p:spPr>
          <a:xfrm>
            <a:off x="372070" y="925860"/>
            <a:ext cx="2666107" cy="28575"/>
          </a:xfrm>
          <a:custGeom>
            <a:avLst/>
            <a:gdLst/>
            <a:ahLst/>
            <a:cxnLst/>
            <a:rect l="l" t="t" r="r" b="b"/>
            <a:pathLst>
              <a:path w="2666107"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51978" y="28575"/>
                </a:lnTo>
                <a:lnTo>
                  <a:pt x="2649128" y="25003"/>
                </a:lnTo>
                <a:lnTo>
                  <a:pt x="2645870" y="21431"/>
                </a:lnTo>
                <a:lnTo>
                  <a:pt x="2642118" y="17859"/>
                </a:lnTo>
                <a:lnTo>
                  <a:pt x="2637744" y="14288"/>
                </a:lnTo>
                <a:lnTo>
                  <a:pt x="2632529" y="10716"/>
                </a:lnTo>
                <a:lnTo>
                  <a:pt x="2626053" y="7144"/>
                </a:lnTo>
                <a:lnTo>
                  <a:pt x="2617242" y="3572"/>
                </a:lnTo>
                <a:lnTo>
                  <a:pt x="2594987" y="0"/>
                </a:lnTo>
                <a:close/>
              </a:path>
            </a:pathLst>
          </a:custGeom>
          <a:solidFill>
            <a:srgbClr val="FAB753"/>
          </a:solidFill>
          <a:ln/>
        </p:spPr>
        <p:txBody>
          <a:bodyPr wrap="none" rtlCol="0" anchor="t"/>
          <a:lstStyle/>
          <a:p>
            <a:pPr marL="0" indent="0">
              <a:buNone/>
            </a:pPr>
            <a:endParaRPr lang="en-US" dirty="0"/>
          </a:p>
        </p:txBody>
      </p:sp>
      <p:sp>
        <p:nvSpPr>
          <p:cNvPr id="5" name="Text 3"/>
          <p:cNvSpPr/>
          <p:nvPr/>
        </p:nvSpPr>
        <p:spPr>
          <a:xfrm>
            <a:off x="572691" y="1169045"/>
            <a:ext cx="372070" cy="372070"/>
          </a:xfrm>
          <a:prstGeom prst="ellipse">
            <a:avLst/>
          </a:prstGeom>
          <a:solidFill>
            <a:srgbClr val="1B5E72"/>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23" y="1285577"/>
            <a:ext cx="139005" cy="139005"/>
          </a:xfrm>
          <a:prstGeom prst="rect">
            <a:avLst/>
          </a:prstGeom>
        </p:spPr>
      </p:pic>
      <p:sp>
        <p:nvSpPr>
          <p:cNvPr id="7" name="Text 4"/>
          <p:cNvSpPr/>
          <p:nvPr/>
        </p:nvSpPr>
        <p:spPr>
          <a:xfrm>
            <a:off x="572691" y="1669256"/>
            <a:ext cx="2223686" cy="169813"/>
          </a:xfrm>
          <a:prstGeom prst="rect">
            <a:avLst/>
          </a:prstGeom>
          <a:noFill/>
          <a:ln/>
        </p:spPr>
        <p:txBody>
          <a:bodyPr wrap="none" lIns="0" tIns="0" rIns="0" bIns="0" rtlCol="0" anchor="t"/>
          <a:lstStyle/>
          <a:p>
            <a:pPr marL="0" indent="0" algn="l">
              <a:lnSpc>
                <a:spcPts val="1337"/>
              </a:lnSpc>
              <a:spcAft>
                <a:spcPts val="680"/>
              </a:spcAft>
              <a:buNone/>
            </a:pPr>
            <a:r>
              <a:rPr lang="en-US" sz="1070" b="1" dirty="0">
                <a:solidFill>
                  <a:srgbClr val="1B5E72"/>
                </a:solidFill>
                <a:latin typeface="Calibri Light" pitchFamily="34" charset="0"/>
                <a:ea typeface="Calibri Light" pitchFamily="34" charset="-122"/>
                <a:cs typeface="Calibri Light" pitchFamily="34" charset="-120"/>
              </a:rPr>
              <a:t>Build your week before it starts</a:t>
            </a:r>
            <a:endParaRPr lang="en-US" sz="1070" dirty="0"/>
          </a:p>
        </p:txBody>
      </p:sp>
      <p:sp>
        <p:nvSpPr>
          <p:cNvPr id="8" name="Text 5"/>
          <p:cNvSpPr/>
          <p:nvPr/>
        </p:nvSpPr>
        <p:spPr>
          <a:xfrm>
            <a:off x="572691" y="1925389"/>
            <a:ext cx="2310164" cy="902457"/>
          </a:xfrm>
          <a:prstGeom prst="rect">
            <a:avLst/>
          </a:prstGeom>
          <a:noFill/>
          <a:ln/>
        </p:spPr>
        <p:txBody>
          <a:bodyPr wrap="square" lIns="0" tIns="0" rIns="0" bIns="0" rtlCol="0" anchor="t"/>
          <a:lstStyle/>
          <a:p>
            <a:pPr marL="0" indent="0" algn="l">
              <a:lnSpc>
                <a:spcPts val="1353"/>
              </a:lnSpc>
              <a:buNone/>
            </a:pPr>
            <a:r>
              <a:rPr lang="en-US" sz="820" dirty="0">
                <a:solidFill>
                  <a:srgbClr val="2C2C2C"/>
                </a:solidFill>
                <a:latin typeface="Calibri" pitchFamily="34" charset="0"/>
                <a:ea typeface="Calibri" pitchFamily="34" charset="-122"/>
                <a:cs typeface="Calibri" pitchFamily="34" charset="-120"/>
              </a:rPr>
              <a:t>Entering the week with a full schedule reduces cognitive load and gives your team lead the chance to help you problem-solve early. A plan gives you control — even when the day changes.</a:t>
            </a:r>
            <a:endParaRPr lang="en-US" sz="820" dirty="0"/>
          </a:p>
        </p:txBody>
      </p:sp>
      <p:sp>
        <p:nvSpPr>
          <p:cNvPr id="9" name="Text 6"/>
          <p:cNvSpPr/>
          <p:nvPr/>
        </p:nvSpPr>
        <p:spPr>
          <a:xfrm>
            <a:off x="3238798" y="925860"/>
            <a:ext cx="2666256" cy="3880098"/>
          </a:xfrm>
          <a:prstGeom prst="roundRect">
            <a:avLst>
              <a:gd name="adj" fmla="val 2667"/>
            </a:avLst>
          </a:prstGeom>
          <a:solidFill>
            <a:srgbClr val="EAF4F4"/>
          </a:solidFill>
          <a:ln/>
        </p:spPr>
        <p:txBody>
          <a:bodyPr wrap="square" rtlCol="0" anchor="t"/>
          <a:lstStyle/>
          <a:p>
            <a:pPr marL="0" indent="0">
              <a:buNone/>
            </a:pPr>
            <a:endParaRPr lang="en-US" dirty="0"/>
          </a:p>
        </p:txBody>
      </p:sp>
      <p:sp>
        <p:nvSpPr>
          <p:cNvPr id="10" name="Text 7"/>
          <p:cNvSpPr/>
          <p:nvPr/>
        </p:nvSpPr>
        <p:spPr>
          <a:xfrm>
            <a:off x="3238798" y="925860"/>
            <a:ext cx="2666256" cy="28575"/>
          </a:xfrm>
          <a:custGeom>
            <a:avLst/>
            <a:gdLst/>
            <a:ahLst/>
            <a:cxnLst/>
            <a:rect l="l" t="t" r="r" b="b"/>
            <a:pathLst>
              <a:path w="2666256"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52127" y="28575"/>
                </a:lnTo>
                <a:lnTo>
                  <a:pt x="2649277" y="25003"/>
                </a:lnTo>
                <a:lnTo>
                  <a:pt x="2646019" y="21431"/>
                </a:lnTo>
                <a:lnTo>
                  <a:pt x="2642267" y="17859"/>
                </a:lnTo>
                <a:lnTo>
                  <a:pt x="2637892" y="14288"/>
                </a:lnTo>
                <a:lnTo>
                  <a:pt x="2632677" y="10716"/>
                </a:lnTo>
                <a:lnTo>
                  <a:pt x="2626202" y="7144"/>
                </a:lnTo>
                <a:lnTo>
                  <a:pt x="2617391" y="3572"/>
                </a:lnTo>
                <a:lnTo>
                  <a:pt x="2595136" y="0"/>
                </a:lnTo>
                <a:close/>
              </a:path>
            </a:pathLst>
          </a:custGeom>
          <a:solidFill>
            <a:srgbClr val="FAB753"/>
          </a:solidFill>
          <a:ln/>
        </p:spPr>
        <p:txBody>
          <a:bodyPr wrap="none" rtlCol="0" anchor="t"/>
          <a:lstStyle/>
          <a:p>
            <a:pPr marL="0" indent="0">
              <a:buNone/>
            </a:pPr>
            <a:endParaRPr lang="en-US" dirty="0"/>
          </a:p>
        </p:txBody>
      </p:sp>
      <p:sp>
        <p:nvSpPr>
          <p:cNvPr id="11" name="Text 8"/>
          <p:cNvSpPr/>
          <p:nvPr/>
        </p:nvSpPr>
        <p:spPr>
          <a:xfrm>
            <a:off x="3439418" y="1169045"/>
            <a:ext cx="372070" cy="372070"/>
          </a:xfrm>
          <a:prstGeom prst="ellipse">
            <a:avLst/>
          </a:prstGeom>
          <a:solidFill>
            <a:srgbClr val="1B5E72"/>
          </a:solidFill>
          <a:ln/>
        </p:spPr>
        <p:txBody>
          <a:bodyPr wrap="squar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55950" y="1285577"/>
            <a:ext cx="139005" cy="139005"/>
          </a:xfrm>
          <a:prstGeom prst="rect">
            <a:avLst/>
          </a:prstGeom>
        </p:spPr>
      </p:pic>
      <p:sp>
        <p:nvSpPr>
          <p:cNvPr id="13" name="Text 9"/>
          <p:cNvSpPr/>
          <p:nvPr/>
        </p:nvSpPr>
        <p:spPr>
          <a:xfrm>
            <a:off x="3439418" y="1669256"/>
            <a:ext cx="2273618" cy="169813"/>
          </a:xfrm>
          <a:prstGeom prst="rect">
            <a:avLst/>
          </a:prstGeom>
          <a:noFill/>
          <a:ln/>
        </p:spPr>
        <p:txBody>
          <a:bodyPr wrap="none" lIns="0" tIns="0" rIns="0" bIns="0" rtlCol="0" anchor="t"/>
          <a:lstStyle/>
          <a:p>
            <a:pPr marL="0" indent="0" algn="l">
              <a:lnSpc>
                <a:spcPts val="1337"/>
              </a:lnSpc>
              <a:spcAft>
                <a:spcPts val="680"/>
              </a:spcAft>
              <a:buNone/>
            </a:pPr>
            <a:r>
              <a:rPr lang="en-US" sz="1070" b="1" dirty="0">
                <a:solidFill>
                  <a:srgbClr val="1B5E72"/>
                </a:solidFill>
                <a:latin typeface="Calibri Light" pitchFamily="34" charset="0"/>
                <a:ea typeface="Calibri Light" pitchFamily="34" charset="-122"/>
                <a:cs typeface="Calibri Light" pitchFamily="34" charset="-120"/>
              </a:rPr>
              <a:t>Use Eleos from the first session</a:t>
            </a:r>
            <a:endParaRPr lang="en-US" sz="1070" dirty="0"/>
          </a:p>
        </p:txBody>
      </p:sp>
      <p:sp>
        <p:nvSpPr>
          <p:cNvPr id="14" name="Text 10"/>
          <p:cNvSpPr/>
          <p:nvPr/>
        </p:nvSpPr>
        <p:spPr>
          <a:xfrm>
            <a:off x="3439418" y="1925389"/>
            <a:ext cx="2310316" cy="902457"/>
          </a:xfrm>
          <a:prstGeom prst="rect">
            <a:avLst/>
          </a:prstGeom>
          <a:noFill/>
          <a:ln/>
        </p:spPr>
        <p:txBody>
          <a:bodyPr wrap="square" lIns="0" tIns="0" rIns="0" bIns="0" rtlCol="0" anchor="t"/>
          <a:lstStyle/>
          <a:p>
            <a:pPr marL="0" indent="0" algn="l">
              <a:lnSpc>
                <a:spcPts val="1353"/>
              </a:lnSpc>
              <a:buNone/>
            </a:pPr>
            <a:r>
              <a:rPr lang="en-US" sz="820" dirty="0">
                <a:solidFill>
                  <a:srgbClr val="2C2C2C"/>
                </a:solidFill>
                <a:latin typeface="Calibri" pitchFamily="34" charset="0"/>
                <a:ea typeface="Calibri" pitchFamily="34" charset="-122"/>
                <a:cs typeface="Calibri" pitchFamily="34" charset="-120"/>
              </a:rPr>
              <a:t>Start Eleos before your first clinical question. Let it capture the session. Use the last few minutes with your client to map outputs to your note. Walk out of school with your documentation done.</a:t>
            </a:r>
            <a:endParaRPr lang="en-US" sz="820" dirty="0"/>
          </a:p>
        </p:txBody>
      </p:sp>
      <p:sp>
        <p:nvSpPr>
          <p:cNvPr id="15" name="Text 11"/>
          <p:cNvSpPr/>
          <p:nvPr/>
        </p:nvSpPr>
        <p:spPr>
          <a:xfrm>
            <a:off x="6105674" y="925860"/>
            <a:ext cx="2666256" cy="3880098"/>
          </a:xfrm>
          <a:prstGeom prst="roundRect">
            <a:avLst>
              <a:gd name="adj" fmla="val 2667"/>
            </a:avLst>
          </a:prstGeom>
          <a:solidFill>
            <a:srgbClr val="EAF4F4"/>
          </a:solidFill>
          <a:ln/>
        </p:spPr>
        <p:txBody>
          <a:bodyPr wrap="square" rtlCol="0" anchor="t"/>
          <a:lstStyle/>
          <a:p>
            <a:pPr marL="0" indent="0">
              <a:buNone/>
            </a:pPr>
            <a:endParaRPr lang="en-US" dirty="0"/>
          </a:p>
        </p:txBody>
      </p:sp>
      <p:sp>
        <p:nvSpPr>
          <p:cNvPr id="16" name="Text 12"/>
          <p:cNvSpPr/>
          <p:nvPr/>
        </p:nvSpPr>
        <p:spPr>
          <a:xfrm>
            <a:off x="6105674" y="925860"/>
            <a:ext cx="2666256" cy="28575"/>
          </a:xfrm>
          <a:custGeom>
            <a:avLst/>
            <a:gdLst/>
            <a:ahLst/>
            <a:cxnLst/>
            <a:rect l="l" t="t" r="r" b="b"/>
            <a:pathLst>
              <a:path w="2666256"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52127" y="28575"/>
                </a:lnTo>
                <a:lnTo>
                  <a:pt x="2649277" y="25003"/>
                </a:lnTo>
                <a:lnTo>
                  <a:pt x="2646019" y="21431"/>
                </a:lnTo>
                <a:lnTo>
                  <a:pt x="2642267" y="17859"/>
                </a:lnTo>
                <a:lnTo>
                  <a:pt x="2637892" y="14288"/>
                </a:lnTo>
                <a:lnTo>
                  <a:pt x="2632677" y="10716"/>
                </a:lnTo>
                <a:lnTo>
                  <a:pt x="2626202" y="7144"/>
                </a:lnTo>
                <a:lnTo>
                  <a:pt x="2617391" y="3572"/>
                </a:lnTo>
                <a:lnTo>
                  <a:pt x="2595136" y="0"/>
                </a:lnTo>
                <a:close/>
              </a:path>
            </a:pathLst>
          </a:custGeom>
          <a:solidFill>
            <a:srgbClr val="FAB753"/>
          </a:solidFill>
          <a:ln/>
        </p:spPr>
        <p:txBody>
          <a:bodyPr wrap="none" rtlCol="0" anchor="t"/>
          <a:lstStyle/>
          <a:p>
            <a:pPr marL="0" indent="0">
              <a:buNone/>
            </a:pPr>
            <a:endParaRPr lang="en-US" dirty="0"/>
          </a:p>
        </p:txBody>
      </p:sp>
      <p:sp>
        <p:nvSpPr>
          <p:cNvPr id="17" name="Text 13"/>
          <p:cNvSpPr/>
          <p:nvPr/>
        </p:nvSpPr>
        <p:spPr>
          <a:xfrm>
            <a:off x="6306294" y="1169045"/>
            <a:ext cx="372070" cy="372070"/>
          </a:xfrm>
          <a:prstGeom prst="ellipse">
            <a:avLst/>
          </a:prstGeom>
          <a:solidFill>
            <a:srgbClr val="1B5E72"/>
          </a:solidFill>
          <a:ln/>
        </p:spPr>
        <p:txBody>
          <a:bodyPr wrap="squar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22827" y="1285577"/>
            <a:ext cx="139005" cy="139005"/>
          </a:xfrm>
          <a:prstGeom prst="rect">
            <a:avLst/>
          </a:prstGeom>
        </p:spPr>
      </p:pic>
      <p:sp>
        <p:nvSpPr>
          <p:cNvPr id="19" name="Text 14"/>
          <p:cNvSpPr/>
          <p:nvPr/>
        </p:nvSpPr>
        <p:spPr>
          <a:xfrm>
            <a:off x="6306294" y="1669256"/>
            <a:ext cx="2240220" cy="169813"/>
          </a:xfrm>
          <a:prstGeom prst="rect">
            <a:avLst/>
          </a:prstGeom>
          <a:noFill/>
          <a:ln/>
        </p:spPr>
        <p:txBody>
          <a:bodyPr wrap="none" lIns="0" tIns="0" rIns="0" bIns="0" rtlCol="0" anchor="t"/>
          <a:lstStyle/>
          <a:p>
            <a:pPr marL="0" indent="0" algn="l">
              <a:lnSpc>
                <a:spcPts val="1337"/>
              </a:lnSpc>
              <a:spcAft>
                <a:spcPts val="680"/>
              </a:spcAft>
              <a:buNone/>
            </a:pPr>
            <a:r>
              <a:rPr lang="en-US" sz="1070" b="1" dirty="0">
                <a:solidFill>
                  <a:srgbClr val="1B5E72"/>
                </a:solidFill>
                <a:latin typeface="Calibri Light" pitchFamily="34" charset="0"/>
                <a:ea typeface="Calibri Light" pitchFamily="34" charset="-122"/>
                <a:cs typeface="Calibri Light" pitchFamily="34" charset="-120"/>
              </a:rPr>
              <a:t>Protect the margins in your day</a:t>
            </a:r>
            <a:endParaRPr lang="en-US" sz="1070" dirty="0"/>
          </a:p>
        </p:txBody>
      </p:sp>
      <p:sp>
        <p:nvSpPr>
          <p:cNvPr id="20" name="Text 15"/>
          <p:cNvSpPr/>
          <p:nvPr/>
        </p:nvSpPr>
        <p:spPr>
          <a:xfrm>
            <a:off x="6306294" y="1925389"/>
            <a:ext cx="2310316" cy="902457"/>
          </a:xfrm>
          <a:prstGeom prst="rect">
            <a:avLst/>
          </a:prstGeom>
          <a:noFill/>
          <a:ln/>
        </p:spPr>
        <p:txBody>
          <a:bodyPr wrap="square" lIns="0" tIns="0" rIns="0" bIns="0" rtlCol="0" anchor="t"/>
          <a:lstStyle/>
          <a:p>
            <a:pPr marL="0" indent="0" algn="l">
              <a:lnSpc>
                <a:spcPts val="1353"/>
              </a:lnSpc>
              <a:buNone/>
            </a:pPr>
            <a:r>
              <a:rPr lang="en-US" sz="820" dirty="0">
                <a:solidFill>
                  <a:srgbClr val="2C2C2C"/>
                </a:solidFill>
                <a:latin typeface="Calibri" pitchFamily="34" charset="0"/>
                <a:ea typeface="Calibri" pitchFamily="34" charset="-122"/>
                <a:cs typeface="Calibri" pitchFamily="34" charset="-120"/>
              </a:rPr>
              <a:t>A schedule without breathing room is a schedule that breaks under pressure. Build in buffer. Protect your lunch. The boundaries you set with your calendar are the same ones you will model for your clients.</a:t>
            </a:r>
            <a:endParaRPr lang="en-US" sz="820" dirty="0"/>
          </a:p>
        </p:txBody>
      </p:sp>
      <p:sp>
        <p:nvSpPr>
          <p:cNvPr id="21" name="Text 16"/>
          <p:cNvSpPr/>
          <p:nvPr/>
        </p:nvSpPr>
        <p:spPr>
          <a:xfrm>
            <a:off x="-91514" y="4815483"/>
            <a:ext cx="9326880" cy="392162"/>
          </a:xfrm>
          <a:prstGeom prst="rect">
            <a:avLst/>
          </a:prstGeom>
          <a:solidFill>
            <a:srgbClr val="FBB753"/>
          </a:solidFill>
          <a:ln/>
        </p:spPr>
        <p:txBody>
          <a:bodyPr wrap="none" lIns="372110" tIns="106680" rIns="372110" bIns="106680" rtlCol="0" anchor="t"/>
          <a:lstStyle/>
          <a:p>
            <a:pPr marL="0" indent="0" algn="ctr">
              <a:buNone/>
            </a:pPr>
            <a:r>
              <a:rPr lang="en-US" sz="840" b="1" kern="0" spc="8" dirty="0">
                <a:solidFill>
                  <a:srgbClr val="1B5E72"/>
                </a:solidFill>
                <a:latin typeface="Calibri" pitchFamily="34" charset="0"/>
                <a:ea typeface="Calibri" pitchFamily="34" charset="-122"/>
                <a:cs typeface="Calibri" pitchFamily="34" charset="-120"/>
              </a:rPr>
              <a:t>Eleos + intentional scheduling</a:t>
            </a:r>
            <a:r>
              <a:rPr lang="en-US" sz="840" b="1" kern="0" spc="8" dirty="0">
                <a:solidFill>
                  <a:srgbClr val="2C2C2C"/>
                </a:solidFill>
                <a:latin typeface="Calibri" pitchFamily="34" charset="0"/>
                <a:ea typeface="Calibri" pitchFamily="34" charset="-122"/>
                <a:cs typeface="Calibri" pitchFamily="34" charset="-120"/>
              </a:rPr>
              <a:t> = more time for what brought you to this work in the first place.</a:t>
            </a:r>
            <a:endParaRPr lang="en-US" sz="840" dirty="0"/>
          </a:p>
        </p:txBody>
      </p:sp>
      <p:sp>
        <p:nvSpPr>
          <p:cNvPr id="22" name="Text 17"/>
          <p:cNvSpPr/>
          <p:nvPr/>
        </p:nvSpPr>
        <p:spPr>
          <a:xfrm>
            <a:off x="0" y="4805958"/>
            <a:ext cx="9144000" cy="19050"/>
          </a:xfrm>
          <a:prstGeom prst="rect">
            <a:avLst/>
          </a:prstGeom>
          <a:solidFill>
            <a:srgbClr val="FAB753"/>
          </a:solidFill>
          <a:ln/>
        </p:spPr>
        <p:txBody>
          <a:bodyPr wrap="none" rtlCol="0" anchor="t"/>
          <a:lstStyle/>
          <a:p>
            <a:pPr marL="0" indent="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5929608" y="0"/>
            <a:ext cx="3214392" cy="2857500"/>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3" name="Text 1"/>
          <p:cNvSpPr/>
          <p:nvPr/>
        </p:nvSpPr>
        <p:spPr>
          <a:xfrm>
            <a:off x="0" y="3357858"/>
            <a:ext cx="2142490" cy="1785642"/>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4" name="Text 2"/>
          <p:cNvSpPr/>
          <p:nvPr/>
        </p:nvSpPr>
        <p:spPr>
          <a:xfrm>
            <a:off x="6714530" y="1286470"/>
            <a:ext cx="1857970" cy="1857970"/>
          </a:xfrm>
          <a:prstGeom prst="ellipse">
            <a:avLst/>
          </a:prstGeom>
          <a:noFill/>
          <a:ln w="9525">
            <a:solidFill>
              <a:srgbClr val="FAB753">
                <a:alpha val="8000"/>
              </a:srgbClr>
            </a:solidFill>
          </a:ln>
        </p:spPr>
        <p:txBody>
          <a:bodyPr wrap="square" rtlCol="0" anchor="t"/>
          <a:lstStyle/>
          <a:p>
            <a:pPr marL="0" indent="0">
              <a:buNone/>
            </a:pPr>
            <a:endParaRPr lang="en-US" dirty="0"/>
          </a:p>
        </p:txBody>
      </p:sp>
      <p:sp>
        <p:nvSpPr>
          <p:cNvPr id="5" name="Text 3"/>
          <p:cNvSpPr/>
          <p:nvPr/>
        </p:nvSpPr>
        <p:spPr>
          <a:xfrm>
            <a:off x="0" y="1857375"/>
            <a:ext cx="29170" cy="1428750"/>
          </a:xfrm>
          <a:prstGeom prst="roundRect">
            <a:avLst>
              <a:gd name="adj" fmla="val 47892"/>
            </a:avLst>
          </a:prstGeom>
          <a:gradFill rotWithShape="1">
            <a:gsLst>
              <a:gs pos="0">
                <a:srgbClr val="000000">
                  <a:alpha val="0"/>
                </a:srgbClr>
              </a:gs>
              <a:gs pos="50000">
                <a:srgbClr val="FAB753">
                  <a:alpha val="50000"/>
                </a:srgbClr>
              </a:gs>
              <a:gs pos="100000">
                <a:srgbClr val="000000">
                  <a:alpha val="0"/>
                </a:srgbClr>
              </a:gs>
            </a:gsLst>
            <a:lin ang="5400000" scaled="1"/>
          </a:gradFill>
          <a:ln/>
        </p:spPr>
        <p:txBody>
          <a:bodyPr wrap="square" rtlCol="0" anchor="t"/>
          <a:lstStyle/>
          <a:p>
            <a:pPr marL="0" indent="0">
              <a:buNone/>
            </a:pPr>
            <a:endParaRPr lang="en-US" dirty="0"/>
          </a:p>
        </p:txBody>
      </p:sp>
      <p:sp>
        <p:nvSpPr>
          <p:cNvPr id="6" name="Text 4"/>
          <p:cNvSpPr/>
          <p:nvPr/>
        </p:nvSpPr>
        <p:spPr>
          <a:xfrm>
            <a:off x="9114830" y="1857375"/>
            <a:ext cx="29170" cy="1428750"/>
          </a:xfrm>
          <a:prstGeom prst="roundRect">
            <a:avLst>
              <a:gd name="adj" fmla="val 47892"/>
            </a:avLst>
          </a:prstGeom>
          <a:gradFill rotWithShape="1">
            <a:gsLst>
              <a:gs pos="0">
                <a:srgbClr val="000000">
                  <a:alpha val="0"/>
                </a:srgbClr>
              </a:gs>
              <a:gs pos="50000">
                <a:srgbClr val="FAB753">
                  <a:alpha val="50000"/>
                </a:srgbClr>
              </a:gs>
              <a:gs pos="100000">
                <a:srgbClr val="000000">
                  <a:alpha val="0"/>
                </a:srgbClr>
              </a:gs>
            </a:gsLst>
            <a:lin ang="5400000" scaled="1"/>
          </a:gradFill>
          <a:ln/>
        </p:spPr>
        <p:txBody>
          <a:bodyPr wrap="square" rtlCol="0" anchor="t"/>
          <a:lstStyle/>
          <a:p>
            <a:pPr marL="0" indent="0">
              <a:buNone/>
            </a:pPr>
            <a:endParaRPr lang="en-US" dirty="0"/>
          </a:p>
        </p:txBody>
      </p:sp>
      <p:sp>
        <p:nvSpPr>
          <p:cNvPr id="7" name="Text 5"/>
          <p:cNvSpPr/>
          <p:nvPr/>
        </p:nvSpPr>
        <p:spPr>
          <a:xfrm>
            <a:off x="3363069" y="1100361"/>
            <a:ext cx="285750" cy="7590"/>
          </a:xfrm>
          <a:prstGeom prst="rect">
            <a:avLst/>
          </a:prstGeom>
          <a:solidFill>
            <a:srgbClr val="FAB753">
              <a:alpha val="60000"/>
            </a:srgbClr>
          </a:solidFill>
          <a:ln/>
        </p:spPr>
        <p:txBody>
          <a:bodyPr wrap="none" rtlCol="0" anchor="t"/>
          <a:lstStyle/>
          <a:p>
            <a:pPr marL="0" indent="0">
              <a:buNone/>
            </a:pPr>
            <a:endParaRPr lang="en-US" dirty="0"/>
          </a:p>
        </p:txBody>
      </p:sp>
      <p:sp>
        <p:nvSpPr>
          <p:cNvPr id="8" name="Text 6"/>
          <p:cNvSpPr/>
          <p:nvPr/>
        </p:nvSpPr>
        <p:spPr>
          <a:xfrm>
            <a:off x="5495072" y="1100361"/>
            <a:ext cx="285750" cy="7590"/>
          </a:xfrm>
          <a:prstGeom prst="rect">
            <a:avLst/>
          </a:prstGeom>
          <a:solidFill>
            <a:srgbClr val="FAB753">
              <a:alpha val="60000"/>
            </a:srgbClr>
          </a:solidFill>
          <a:ln/>
        </p:spPr>
        <p:txBody>
          <a:bodyPr wrap="none" rtlCol="0" anchor="t"/>
          <a:lstStyle/>
          <a:p>
            <a:pPr marL="0" indent="0">
              <a:buNone/>
            </a:pPr>
            <a:endParaRPr lang="en-US" dirty="0"/>
          </a:p>
        </p:txBody>
      </p:sp>
      <p:sp>
        <p:nvSpPr>
          <p:cNvPr id="9" name="Text 7"/>
          <p:cNvSpPr/>
          <p:nvPr/>
        </p:nvSpPr>
        <p:spPr>
          <a:xfrm>
            <a:off x="3651461" y="1039416"/>
            <a:ext cx="1840929" cy="129480"/>
          </a:xfrm>
          <a:prstGeom prst="rect">
            <a:avLst/>
          </a:prstGeom>
          <a:noFill/>
          <a:ln/>
        </p:spPr>
        <p:txBody>
          <a:bodyPr wrap="none" lIns="0" tIns="0" rIns="0" bIns="0" rtlCol="0" anchor="t"/>
          <a:lstStyle/>
          <a:p>
            <a:pPr marL="0" indent="0" algn="ctr">
              <a:lnSpc>
                <a:spcPts val="1020"/>
              </a:lnSpc>
              <a:buNone/>
            </a:pPr>
            <a:r>
              <a:rPr lang="en-US" sz="680" b="1" kern="0" spc="170" dirty="0">
                <a:solidFill>
                  <a:srgbClr val="FAB753"/>
                </a:solidFill>
                <a:latin typeface="Calibri" pitchFamily="34" charset="0"/>
                <a:ea typeface="Calibri" pitchFamily="34" charset="-122"/>
                <a:cs typeface="Calibri" pitchFamily="34" charset="-120"/>
              </a:rPr>
              <a:t>PART 3  ·  CANCELLATIONS</a:t>
            </a:r>
            <a:endParaRPr lang="en-US" sz="680" dirty="0"/>
          </a:p>
        </p:txBody>
      </p:sp>
      <p:sp>
        <p:nvSpPr>
          <p:cNvPr id="10" name="Text 8"/>
          <p:cNvSpPr/>
          <p:nvPr/>
        </p:nvSpPr>
        <p:spPr>
          <a:xfrm>
            <a:off x="782955" y="1312366"/>
            <a:ext cx="7578090" cy="827916"/>
          </a:xfrm>
          <a:prstGeom prst="rect">
            <a:avLst/>
          </a:prstGeom>
          <a:noFill/>
          <a:ln/>
        </p:spPr>
        <p:txBody>
          <a:bodyPr wrap="square" lIns="0" tIns="0" rIns="0" bIns="0" rtlCol="0" anchor="t"/>
          <a:lstStyle/>
          <a:p>
            <a:pPr marL="0" indent="0" algn="ctr">
              <a:lnSpc>
                <a:spcPts val="3105"/>
              </a:lnSpc>
              <a:spcAft>
                <a:spcPts val="1240"/>
              </a:spcAft>
              <a:buNone/>
            </a:pPr>
            <a:r>
              <a:rPr lang="en-US" sz="2700" b="1" kern="0" spc="-30" dirty="0">
                <a:solidFill>
                  <a:srgbClr val="FFFFFF"/>
                </a:solidFill>
                <a:latin typeface="Calibri Light" pitchFamily="34" charset="0"/>
                <a:ea typeface="Calibri Light" pitchFamily="34" charset="-122"/>
                <a:cs typeface="Calibri Light" pitchFamily="34" charset="-120"/>
              </a:rPr>
              <a:t>Three Types. Three Reasons. All of Them Matter.</a:t>
            </a:r>
            <a:endParaRPr lang="en-US" sz="2700" dirty="0"/>
          </a:p>
        </p:txBody>
      </p:sp>
      <p:sp>
        <p:nvSpPr>
          <p:cNvPr id="11" name="Text 9"/>
          <p:cNvSpPr/>
          <p:nvPr/>
        </p:nvSpPr>
        <p:spPr>
          <a:xfrm>
            <a:off x="2219940" y="2258318"/>
            <a:ext cx="4703972" cy="633360"/>
          </a:xfrm>
          <a:prstGeom prst="rect">
            <a:avLst/>
          </a:prstGeom>
          <a:noFill/>
          <a:ln/>
        </p:spPr>
        <p:txBody>
          <a:bodyPr wrap="square" lIns="0" tIns="0" rIns="0" bIns="0" rtlCol="0" anchor="t"/>
          <a:lstStyle/>
          <a:p>
            <a:pPr marL="0" indent="0" algn="ctr">
              <a:lnSpc>
                <a:spcPts val="1584"/>
              </a:lnSpc>
              <a:spcAft>
                <a:spcPts val="1580"/>
              </a:spcAft>
              <a:buNone/>
            </a:pPr>
            <a:r>
              <a:rPr lang="en-US" sz="960" dirty="0">
                <a:solidFill>
                  <a:srgbClr val="FFFFFF">
                    <a:alpha val="88000"/>
                  </a:srgbClr>
                </a:solidFill>
                <a:latin typeface="Calibri" pitchFamily="34" charset="0"/>
                <a:ea typeface="Calibri" pitchFamily="34" charset="-122"/>
                <a:cs typeface="Calibri" pitchFamily="34" charset="-120"/>
              </a:rPr>
              <a:t>There are three distinct cancellation types in Avatar for individual and family sessions.</a:t>
            </a:r>
            <a:br/>
            <a:r>
              <a:rPr lang="en-US" sz="960" dirty="0">
                <a:solidFill>
                  <a:srgbClr val="FFFFFF">
                    <a:alpha val="88000"/>
                  </a:srgbClr>
                </a:solidFill>
                <a:latin typeface="Calibri" pitchFamily="34" charset="0"/>
                <a:ea typeface="Calibri" pitchFamily="34" charset="-122"/>
                <a:cs typeface="Calibri" pitchFamily="34" charset="-120"/>
              </a:rPr>
              <a:t> Using the right one is not just procedural — it affects clinical service history,</a:t>
            </a:r>
            <a:br/>
            <a:r>
              <a:rPr lang="en-US" sz="960" dirty="0">
                <a:solidFill>
                  <a:srgbClr val="FFFFFF">
                    <a:alpha val="88000"/>
                  </a:srgbClr>
                </a:solidFill>
                <a:latin typeface="Calibri" pitchFamily="34" charset="0"/>
                <a:ea typeface="Calibri" pitchFamily="34" charset="-122"/>
                <a:cs typeface="Calibri" pitchFamily="34" charset="-120"/>
              </a:rPr>
              <a:t>reporting data, and the client record.</a:t>
            </a:r>
            <a:endParaRPr lang="en-US" sz="960" dirty="0"/>
          </a:p>
        </p:txBody>
      </p:sp>
      <p:sp>
        <p:nvSpPr>
          <p:cNvPr id="12" name="Text 10"/>
          <p:cNvSpPr/>
          <p:nvPr/>
        </p:nvSpPr>
        <p:spPr>
          <a:xfrm>
            <a:off x="1642765" y="3062139"/>
            <a:ext cx="5858470" cy="763191"/>
          </a:xfrm>
          <a:prstGeom prst="roundRect">
            <a:avLst>
              <a:gd name="adj" fmla="val 9319"/>
            </a:avLst>
          </a:prstGeom>
          <a:solidFill>
            <a:srgbClr val="EAF4F4"/>
          </a:solidFill>
          <a:ln w="9525">
            <a:solidFill>
              <a:srgbClr val="55A49C"/>
            </a:solidFill>
          </a:ln>
        </p:spPr>
        <p:txBody>
          <a:bodyPr wrap="square" rtlCol="0" anchor="t"/>
          <a:lstStyle/>
          <a:p>
            <a:pPr marL="0" indent="0">
              <a:buNone/>
            </a:pPr>
            <a:endParaRPr lang="en-US" dirty="0"/>
          </a:p>
        </p:txBody>
      </p:sp>
      <p:sp>
        <p:nvSpPr>
          <p:cNvPr id="13" name="Text 11"/>
          <p:cNvSpPr/>
          <p:nvPr/>
        </p:nvSpPr>
        <p:spPr>
          <a:xfrm>
            <a:off x="2552254" y="3229124"/>
            <a:ext cx="214610" cy="214610"/>
          </a:xfrm>
          <a:prstGeom prst="ellipse">
            <a:avLst/>
          </a:prstGeom>
          <a:solidFill>
            <a:srgbClr val="1B5E72">
              <a:alpha val="10000"/>
            </a:srgbClr>
          </a:solidFill>
          <a:ln/>
        </p:spPr>
        <p:txBody>
          <a:bodyPr wrap="none" rtlCol="0" anchor="t"/>
          <a:lstStyle/>
          <a:p>
            <a:pPr marL="0" indent="0">
              <a:buNone/>
            </a:pPr>
            <a:endParaRPr lang="en-US" dirty="0"/>
          </a:p>
        </p:txBody>
      </p:sp>
      <p:pic>
        <p:nvPicPr>
          <p:cNvPr id="1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93265" y="3270135"/>
            <a:ext cx="132588" cy="132588"/>
          </a:xfrm>
          <a:prstGeom prst="rect">
            <a:avLst/>
          </a:prstGeom>
        </p:spPr>
      </p:pic>
      <p:sp>
        <p:nvSpPr>
          <p:cNvPr id="15" name="Text 12"/>
          <p:cNvSpPr/>
          <p:nvPr/>
        </p:nvSpPr>
        <p:spPr>
          <a:xfrm>
            <a:off x="2788927" y="3250704"/>
            <a:ext cx="1721421" cy="171450"/>
          </a:xfrm>
          <a:prstGeom prst="rect">
            <a:avLst/>
          </a:prstGeom>
          <a:noFill/>
          <a:ln/>
        </p:spPr>
        <p:txBody>
          <a:bodyPr wrap="none" lIns="0" tIns="0" rIns="0" bIns="0" rtlCol="0" anchor="ctr"/>
          <a:lstStyle/>
          <a:p>
            <a:pPr marL="0" indent="0" algn="ctr">
              <a:lnSpc>
                <a:spcPts val="1350"/>
              </a:lnSpc>
              <a:buNone/>
            </a:pPr>
            <a:r>
              <a:rPr lang="en-US" sz="900" b="1" dirty="0">
                <a:solidFill>
                  <a:srgbClr val="1B5E72"/>
                </a:solidFill>
                <a:latin typeface="Calibri" pitchFamily="34" charset="0"/>
                <a:ea typeface="Calibri" pitchFamily="34" charset="-122"/>
                <a:cs typeface="Calibri" pitchFamily="34" charset="-120"/>
              </a:rPr>
              <a:t>No Show / Late Cancellation</a:t>
            </a:r>
            <a:endParaRPr lang="en-US" sz="90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57349" y="3270135"/>
            <a:ext cx="132588" cy="132588"/>
          </a:xfrm>
          <a:prstGeom prst="rect">
            <a:avLst/>
          </a:prstGeom>
        </p:spPr>
      </p:pic>
      <p:sp>
        <p:nvSpPr>
          <p:cNvPr id="17" name="Text 13"/>
          <p:cNvSpPr/>
          <p:nvPr/>
        </p:nvSpPr>
        <p:spPr>
          <a:xfrm>
            <a:off x="4815185" y="3229124"/>
            <a:ext cx="214610" cy="214610"/>
          </a:xfrm>
          <a:prstGeom prst="ellipse">
            <a:avLst/>
          </a:prstGeom>
          <a:solidFill>
            <a:srgbClr val="1B5E72">
              <a:alpha val="10000"/>
            </a:srgbClr>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56196" y="3270135"/>
            <a:ext cx="132588" cy="132588"/>
          </a:xfrm>
          <a:prstGeom prst="rect">
            <a:avLst/>
          </a:prstGeom>
        </p:spPr>
      </p:pic>
      <p:sp>
        <p:nvSpPr>
          <p:cNvPr id="19" name="Text 14"/>
          <p:cNvSpPr/>
          <p:nvPr/>
        </p:nvSpPr>
        <p:spPr>
          <a:xfrm>
            <a:off x="5076178" y="3250704"/>
            <a:ext cx="1186413" cy="171450"/>
          </a:xfrm>
          <a:prstGeom prst="rect">
            <a:avLst/>
          </a:prstGeom>
          <a:noFill/>
          <a:ln/>
        </p:spPr>
        <p:txBody>
          <a:bodyPr wrap="none" lIns="0" tIns="0" rIns="0" bIns="0" rtlCol="0" anchor="ctr"/>
          <a:lstStyle/>
          <a:p>
            <a:pPr marL="0" indent="0" algn="ctr">
              <a:lnSpc>
                <a:spcPts val="1350"/>
              </a:lnSpc>
              <a:buNone/>
            </a:pPr>
            <a:r>
              <a:rPr lang="en-US" sz="900" b="1" dirty="0">
                <a:solidFill>
                  <a:srgbClr val="1B5E72"/>
                </a:solidFill>
                <a:latin typeface="Calibri" pitchFamily="34" charset="0"/>
                <a:ea typeface="Calibri" pitchFamily="34" charset="-122"/>
                <a:cs typeface="Calibri" pitchFamily="34" charset="-120"/>
              </a:rPr>
              <a:t>Cancelled by Client</a:t>
            </a:r>
            <a:endParaRPr lang="en-US" sz="900" dirty="0"/>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33911" y="3270135"/>
            <a:ext cx="132588" cy="132588"/>
          </a:xfrm>
          <a:prstGeom prst="rect">
            <a:avLst/>
          </a:prstGeom>
        </p:spPr>
      </p:pic>
      <p:sp>
        <p:nvSpPr>
          <p:cNvPr id="21" name="Text 15"/>
          <p:cNvSpPr/>
          <p:nvPr/>
        </p:nvSpPr>
        <p:spPr>
          <a:xfrm>
            <a:off x="3774877" y="3443734"/>
            <a:ext cx="214610" cy="214610"/>
          </a:xfrm>
          <a:prstGeom prst="ellipse">
            <a:avLst/>
          </a:prstGeom>
          <a:solidFill>
            <a:srgbClr val="1B5E72">
              <a:alpha val="10000"/>
            </a:srgbClr>
          </a:solidFill>
          <a:ln/>
        </p:spPr>
        <p:txBody>
          <a:bodyPr wrap="none" rtlCol="0" anchor="t"/>
          <a:lstStyle/>
          <a:p>
            <a:pPr marL="0" indent="0">
              <a:buNone/>
            </a:pPr>
            <a:endParaRPr lang="en-US" dirty="0"/>
          </a:p>
        </p:txBody>
      </p:sp>
      <p:pic>
        <p:nvPicPr>
          <p:cNvPr id="2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15888" y="3484745"/>
            <a:ext cx="132588" cy="132588"/>
          </a:xfrm>
          <a:prstGeom prst="rect">
            <a:avLst/>
          </a:prstGeom>
        </p:spPr>
      </p:pic>
      <p:sp>
        <p:nvSpPr>
          <p:cNvPr id="23" name="Text 16"/>
          <p:cNvSpPr/>
          <p:nvPr/>
        </p:nvSpPr>
        <p:spPr>
          <a:xfrm>
            <a:off x="4025831" y="3465314"/>
            <a:ext cx="1407259" cy="171450"/>
          </a:xfrm>
          <a:prstGeom prst="rect">
            <a:avLst/>
          </a:prstGeom>
          <a:noFill/>
          <a:ln/>
        </p:spPr>
        <p:txBody>
          <a:bodyPr wrap="none" lIns="0" tIns="0" rIns="0" bIns="0" rtlCol="0" anchor="ctr"/>
          <a:lstStyle/>
          <a:p>
            <a:pPr marL="0" indent="0" algn="ctr">
              <a:lnSpc>
                <a:spcPts val="1350"/>
              </a:lnSpc>
              <a:buNone/>
            </a:pPr>
            <a:r>
              <a:rPr lang="en-US" sz="900" b="1" dirty="0">
                <a:solidFill>
                  <a:srgbClr val="1B5E72"/>
                </a:solidFill>
                <a:latin typeface="Calibri" pitchFamily="34" charset="0"/>
                <a:ea typeface="Calibri" pitchFamily="34" charset="-122"/>
                <a:cs typeface="Calibri" pitchFamily="34" charset="-120"/>
              </a:rPr>
              <a:t>Cancelled by Therapist</a:t>
            </a:r>
            <a:endParaRPr lang="en-US" sz="900" dirty="0"/>
          </a:p>
        </p:txBody>
      </p:sp>
      <p:sp>
        <p:nvSpPr>
          <p:cNvPr id="24" name="Text 17"/>
          <p:cNvSpPr/>
          <p:nvPr/>
        </p:nvSpPr>
        <p:spPr>
          <a:xfrm>
            <a:off x="2542803" y="3953470"/>
            <a:ext cx="4058394" cy="150465"/>
          </a:xfrm>
          <a:prstGeom prst="rect">
            <a:avLst/>
          </a:prstGeom>
          <a:noFill/>
          <a:ln/>
        </p:spPr>
        <p:txBody>
          <a:bodyPr wrap="none" lIns="0" tIns="0" rIns="0" bIns="0" rtlCol="0" anchor="t"/>
          <a:lstStyle/>
          <a:p>
            <a:pPr marL="0" indent="0" algn="ctr">
              <a:lnSpc>
                <a:spcPts val="1185"/>
              </a:lnSpc>
              <a:buNone/>
            </a:pPr>
            <a:r>
              <a:rPr lang="en-US" sz="790" dirty="0">
                <a:solidFill>
                  <a:srgbClr val="FFFFFF">
                    <a:alpha val="75000"/>
                  </a:srgbClr>
                </a:solidFill>
                <a:latin typeface="Calibri" pitchFamily="34" charset="0"/>
                <a:ea typeface="Calibri" pitchFamily="34" charset="-122"/>
                <a:cs typeface="Calibri" pitchFamily="34" charset="-120"/>
              </a:rPr>
              <a:t>We will walk through each one step by step. You will practice all three in UAT today.</a:t>
            </a:r>
            <a:endParaRPr lang="en-US" sz="790" dirty="0"/>
          </a:p>
        </p:txBody>
      </p:sp>
      <p:sp>
        <p:nvSpPr>
          <p:cNvPr id="25" name="Text 18"/>
          <p:cNvSpPr/>
          <p:nvPr/>
        </p:nvSpPr>
        <p:spPr>
          <a:xfrm>
            <a:off x="0" y="0"/>
            <a:ext cx="9144000" cy="35421"/>
          </a:xfrm>
          <a:prstGeom prst="rect">
            <a:avLst/>
          </a:prstGeom>
          <a:solidFill>
            <a:srgbClr val="FAB753"/>
          </a:solidFill>
          <a:ln/>
        </p:spPr>
        <p:txBody>
          <a:bodyPr wrap="none" rtlCol="0" anchor="t"/>
          <a:lstStyle/>
          <a:p>
            <a:pPr marL="0" indent="0">
              <a:buNone/>
            </a:pPr>
            <a:endParaRPr lang="en-US" dirty="0"/>
          </a:p>
        </p:txBody>
      </p:sp>
      <p:sp>
        <p:nvSpPr>
          <p:cNvPr id="26" name="Text 19"/>
          <p:cNvSpPr/>
          <p:nvPr/>
        </p:nvSpPr>
        <p:spPr>
          <a:xfrm>
            <a:off x="-457200" y="4819204"/>
            <a:ext cx="10058400" cy="139005"/>
          </a:xfrm>
          <a:prstGeom prst="rect">
            <a:avLst/>
          </a:prstGeom>
          <a:noFill/>
          <a:ln/>
        </p:spPr>
        <p:txBody>
          <a:bodyPr wrap="none" lIns="0" tIns="0" rIns="0" bIns="0" rtlCol="0" anchor="ctr"/>
          <a:lstStyle/>
          <a:p>
            <a:pPr marL="0" indent="0" algn="ctr">
              <a:lnSpc>
                <a:spcPts val="1800"/>
              </a:lnSpc>
              <a:buNone/>
            </a:pPr>
            <a:r>
              <a:rPr lang="en-US" sz="730" i="1" kern="0" spc="10" dirty="0">
                <a:solidFill>
                  <a:srgbClr val="FAB753"/>
                </a:solidFill>
                <a:latin typeface="Calibri" pitchFamily="34" charset="0"/>
                <a:ea typeface="Calibri" pitchFamily="34" charset="-122"/>
                <a:cs typeface="Calibri" pitchFamily="34" charset="-120"/>
              </a:rPr>
              <a:t> Group appointments have a completely separate cancellation process — covered in a future training.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77148"/>
          </a:xfrm>
          <a:prstGeom prst="rect">
            <a:avLst/>
          </a:prstGeom>
          <a:solidFill>
            <a:srgbClr val="1B5E72"/>
          </a:solidFill>
          <a:ln/>
        </p:spPr>
        <p:txBody>
          <a:bodyPr wrap="square" lIns="257810" tIns="100330" rIns="257810" bIns="71120" rtlCol="0" anchor="t"/>
          <a:lstStyle/>
          <a:p>
            <a:pPr marL="0" indent="0" algn="l">
              <a:buNone/>
            </a:pPr>
            <a:r>
              <a:rPr lang="en-US" sz="1240" b="1" kern="0" spc="12" dirty="0">
                <a:solidFill>
                  <a:srgbClr val="FFFFFF"/>
                </a:solidFill>
                <a:latin typeface="Calibri" pitchFamily="34" charset="0"/>
                <a:ea typeface="Calibri" pitchFamily="34" charset="-122"/>
                <a:cs typeface="Calibri" pitchFamily="34" charset="-120"/>
              </a:rPr>
              <a:t>Cancellations — Step by Step</a:t>
            </a:r>
            <a:endParaRPr lang="en-US" sz="1240" dirty="0"/>
          </a:p>
          <a:p>
            <a:pPr marL="0" indent="0" algn="l">
              <a:buNone/>
            </a:pPr>
            <a:r>
              <a:rPr lang="en-US" sz="730" i="1" dirty="0">
                <a:solidFill>
                  <a:srgbClr val="55A49C"/>
                </a:solidFill>
                <a:latin typeface="Calibri" pitchFamily="34" charset="0"/>
                <a:ea typeface="Calibri" pitchFamily="34" charset="-122"/>
                <a:cs typeface="Calibri" pitchFamily="34" charset="-120"/>
              </a:rPr>
              <a:t>Right-click the appointment → Status Update to begin any cancellation.</a:t>
            </a:r>
            <a:endParaRPr lang="en-US" sz="1240" dirty="0"/>
          </a:p>
        </p:txBody>
      </p:sp>
      <p:sp>
        <p:nvSpPr>
          <p:cNvPr id="3" name="Text 1"/>
          <p:cNvSpPr/>
          <p:nvPr/>
        </p:nvSpPr>
        <p:spPr>
          <a:xfrm>
            <a:off x="200620" y="660648"/>
            <a:ext cx="4370761" cy="264765"/>
          </a:xfrm>
          <a:prstGeom prst="roundRect">
            <a:avLst>
              <a:gd name="adj" fmla="val 16309"/>
            </a:avLst>
          </a:prstGeom>
          <a:solidFill>
            <a:srgbClr val="1B5E72"/>
          </a:solidFill>
          <a:ln/>
        </p:spPr>
        <p:txBody>
          <a:bodyPr wrap="none" lIns="257175" tIns="57150" rIns="114300" bIns="57150" rtlCol="0" anchor="ctr"/>
          <a:lstStyle/>
          <a:p>
            <a:pPr marL="0" indent="0" algn="l">
              <a:buNone/>
            </a:pPr>
            <a:r>
              <a:rPr lang="en-US" sz="790" b="1" kern="0" spc="32" dirty="0">
                <a:solidFill>
                  <a:srgbClr val="FFFFFF"/>
                </a:solidFill>
                <a:latin typeface="Calibri" pitchFamily="34" charset="0"/>
                <a:ea typeface="Calibri" pitchFamily="34" charset="-122"/>
                <a:cs typeface="Calibri" pitchFamily="34" charset="-120"/>
              </a:rPr>
              <a:t>NO SHOW / LATE CANCELLATION</a:t>
            </a:r>
            <a:endParaRPr lang="en-US" sz="79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1489" y="726662"/>
            <a:ext cx="132588" cy="132588"/>
          </a:xfrm>
          <a:prstGeom prst="rect">
            <a:avLst/>
          </a:prstGeom>
        </p:spPr>
      </p:pic>
      <p:sp>
        <p:nvSpPr>
          <p:cNvPr id="5" name="Text 2"/>
          <p:cNvSpPr/>
          <p:nvPr/>
        </p:nvSpPr>
        <p:spPr>
          <a:xfrm>
            <a:off x="200620" y="925413"/>
            <a:ext cx="4285059" cy="3493145"/>
          </a:xfrm>
          <a:prstGeom prst="rect">
            <a:avLst/>
          </a:prstGeom>
          <a:solidFill>
            <a:srgbClr val="EAF4F4"/>
          </a:solidFill>
          <a:ln/>
        </p:spPr>
        <p:txBody>
          <a:bodyPr wrap="square" rtlCol="0" anchor="t"/>
          <a:lstStyle/>
          <a:p>
            <a:pPr marL="0" indent="0">
              <a:buNone/>
            </a:pPr>
            <a:endParaRPr lang="en-US" dirty="0"/>
          </a:p>
        </p:txBody>
      </p:sp>
      <p:sp>
        <p:nvSpPr>
          <p:cNvPr id="6" name="Text 3"/>
          <p:cNvSpPr/>
          <p:nvPr/>
        </p:nvSpPr>
        <p:spPr>
          <a:xfrm>
            <a:off x="200620" y="925413"/>
            <a:ext cx="9525" cy="3493145"/>
          </a:xfrm>
          <a:prstGeom prst="rect">
            <a:avLst/>
          </a:prstGeom>
          <a:solidFill>
            <a:srgbClr val="C2DEDE"/>
          </a:solidFill>
          <a:ln/>
        </p:spPr>
        <p:txBody>
          <a:bodyPr wrap="square" rtlCol="0" anchor="t"/>
          <a:lstStyle/>
          <a:p>
            <a:pPr marL="0" indent="0">
              <a:buNone/>
            </a:pPr>
            <a:endParaRPr lang="en-US" dirty="0"/>
          </a:p>
        </p:txBody>
      </p:sp>
      <p:sp>
        <p:nvSpPr>
          <p:cNvPr id="7" name="Text 4"/>
          <p:cNvSpPr/>
          <p:nvPr/>
        </p:nvSpPr>
        <p:spPr>
          <a:xfrm>
            <a:off x="4476155" y="925413"/>
            <a:ext cx="9525" cy="3493145"/>
          </a:xfrm>
          <a:prstGeom prst="rect">
            <a:avLst/>
          </a:prstGeom>
          <a:solidFill>
            <a:srgbClr val="C2DEDE"/>
          </a:solidFill>
          <a:ln/>
        </p:spPr>
        <p:txBody>
          <a:bodyPr wrap="square" rtlCol="0" anchor="t"/>
          <a:lstStyle/>
          <a:p>
            <a:pPr marL="0" indent="0">
              <a:buNone/>
            </a:pPr>
            <a:endParaRPr lang="en-US" dirty="0"/>
          </a:p>
        </p:txBody>
      </p:sp>
      <p:sp>
        <p:nvSpPr>
          <p:cNvPr id="8" name="Text 5"/>
          <p:cNvSpPr/>
          <p:nvPr/>
        </p:nvSpPr>
        <p:spPr>
          <a:xfrm>
            <a:off x="324445" y="1025723"/>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9" name="Text 6"/>
          <p:cNvSpPr/>
          <p:nvPr/>
        </p:nvSpPr>
        <p:spPr>
          <a:xfrm>
            <a:off x="481757" y="1025723"/>
            <a:ext cx="3957700" cy="262845"/>
          </a:xfrm>
          <a:prstGeom prst="rect">
            <a:avLst/>
          </a:prstGeom>
          <a:noFill/>
          <a:ln/>
        </p:spPr>
        <p:txBody>
          <a:bodyPr wrap="squar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Use when a client cancels less than one full business day before the appointment, or does not show.</a:t>
            </a:r>
            <a:endParaRPr lang="en-US" sz="680" dirty="0"/>
          </a:p>
        </p:txBody>
      </p:sp>
      <p:sp>
        <p:nvSpPr>
          <p:cNvPr id="10" name="Text 7"/>
          <p:cNvSpPr/>
          <p:nvPr/>
        </p:nvSpPr>
        <p:spPr>
          <a:xfrm>
            <a:off x="324445" y="1325463"/>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11" name="Text 8"/>
          <p:cNvSpPr/>
          <p:nvPr/>
        </p:nvSpPr>
        <p:spPr>
          <a:xfrm>
            <a:off x="481757" y="1325463"/>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Example: client calls late Friday to cancel a Monday morning appointment.</a:t>
            </a:r>
            <a:endParaRPr lang="en-US" sz="680" dirty="0"/>
          </a:p>
        </p:txBody>
      </p:sp>
      <p:sp>
        <p:nvSpPr>
          <p:cNvPr id="12" name="Text 9"/>
          <p:cNvSpPr/>
          <p:nvPr/>
        </p:nvSpPr>
        <p:spPr>
          <a:xfrm>
            <a:off x="324445" y="1520279"/>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13" name="Text 10"/>
          <p:cNvSpPr/>
          <p:nvPr/>
        </p:nvSpPr>
        <p:spPr>
          <a:xfrm>
            <a:off x="481757" y="1520279"/>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Right-click → Status Update → change Scheduled to Did Not Show/Late Cancellation (left side).</a:t>
            </a:r>
            <a:endParaRPr lang="en-US" sz="680" dirty="0"/>
          </a:p>
        </p:txBody>
      </p:sp>
      <p:sp>
        <p:nvSpPr>
          <p:cNvPr id="14" name="Text 11"/>
          <p:cNvSpPr/>
          <p:nvPr/>
        </p:nvSpPr>
        <p:spPr>
          <a:xfrm>
            <a:off x="324445" y="1715095"/>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15" name="Text 12"/>
          <p:cNvSpPr/>
          <p:nvPr/>
        </p:nvSpPr>
        <p:spPr>
          <a:xfrm>
            <a:off x="481757" y="1715095"/>
            <a:ext cx="4268108" cy="131266"/>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Right side: select 90000 No Show/Late Cancellation INDIVIDUAL.</a:t>
            </a:r>
            <a:endParaRPr lang="en-US" sz="680" dirty="0"/>
          </a:p>
        </p:txBody>
      </p:sp>
      <p:sp>
        <p:nvSpPr>
          <p:cNvPr id="16" name="Text 13"/>
          <p:cNvSpPr/>
          <p:nvPr/>
        </p:nvSpPr>
        <p:spPr>
          <a:xfrm>
            <a:off x="1140381" y="1717030"/>
            <a:ext cx="2195096" cy="129332"/>
          </a:xfrm>
          <a:prstGeom prst="roundRect">
            <a:avLst>
              <a:gd name="adj" fmla="val 16693"/>
            </a:avLst>
          </a:prstGeom>
          <a:solidFill>
            <a:srgbClr val="1B5E72"/>
          </a:solidFill>
          <a:ln/>
        </p:spPr>
        <p:txBody>
          <a:bodyPr wrap="none" lIns="0" tIns="0" rIns="0" bIns="0" rtlCol="0" anchor="ctr"/>
          <a:lstStyle/>
          <a:p>
            <a:pPr marL="0" indent="0" algn="ctr">
              <a:buNone/>
            </a:pPr>
            <a:r>
              <a:rPr lang="en-US" sz="620" dirty="0">
                <a:solidFill>
                  <a:srgbClr val="FFFFFF"/>
                </a:solidFill>
                <a:latin typeface="Consolas" pitchFamily="34" charset="0"/>
                <a:ea typeface="Consolas" pitchFamily="34" charset="-122"/>
                <a:cs typeface="Consolas" pitchFamily="34" charset="-120"/>
              </a:rPr>
              <a:t>90000 No Show/Late Cancellation INDIVIDUAL</a:t>
            </a:r>
            <a:endParaRPr lang="en-US" sz="620" dirty="0"/>
          </a:p>
        </p:txBody>
      </p:sp>
      <p:sp>
        <p:nvSpPr>
          <p:cNvPr id="17" name="Text 14"/>
          <p:cNvSpPr/>
          <p:nvPr/>
        </p:nvSpPr>
        <p:spPr>
          <a:xfrm>
            <a:off x="324445" y="1909911"/>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18" name="Text 15"/>
          <p:cNvSpPr/>
          <p:nvPr/>
        </p:nvSpPr>
        <p:spPr>
          <a:xfrm>
            <a:off x="481757" y="1909911"/>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Left and right sides must match. Missed Visit (Yes) must remain checked.</a:t>
            </a:r>
            <a:endParaRPr lang="en-US" sz="680" dirty="0"/>
          </a:p>
        </p:txBody>
      </p:sp>
      <p:sp>
        <p:nvSpPr>
          <p:cNvPr id="19" name="Text 16"/>
          <p:cNvSpPr/>
          <p:nvPr/>
        </p:nvSpPr>
        <p:spPr>
          <a:xfrm>
            <a:off x="324445" y="2104727"/>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20" name="Text 17"/>
          <p:cNvSpPr/>
          <p:nvPr/>
        </p:nvSpPr>
        <p:spPr>
          <a:xfrm>
            <a:off x="481757" y="2104727"/>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Add a Missed Visit Note and your initials.</a:t>
            </a:r>
            <a:endParaRPr lang="en-US" sz="680" dirty="0"/>
          </a:p>
        </p:txBody>
      </p:sp>
      <p:sp>
        <p:nvSpPr>
          <p:cNvPr id="21" name="Text 18"/>
          <p:cNvSpPr/>
          <p:nvPr/>
        </p:nvSpPr>
        <p:spPr>
          <a:xfrm>
            <a:off x="324445" y="2299543"/>
            <a:ext cx="4118158" cy="166985"/>
          </a:xfrm>
          <a:prstGeom prst="rect">
            <a:avLst/>
          </a:prstGeom>
          <a:solidFill>
            <a:srgbClr val="FFFBE6"/>
          </a:solidFill>
          <a:ln/>
        </p:spPr>
        <p:txBody>
          <a:bodyPr wrap="none" lIns="57150" tIns="21590" rIns="57150" bIns="21590" rtlCol="0" anchor="t"/>
          <a:lstStyle/>
          <a:p>
            <a:pPr marL="0" indent="0" algn="l">
              <a:lnSpc>
                <a:spcPts val="975"/>
              </a:lnSpc>
              <a:buNone/>
            </a:pPr>
            <a:r>
              <a:rPr lang="en-US" sz="650" b="1" dirty="0">
                <a:solidFill>
                  <a:srgbClr val="2C2C2C"/>
                </a:solidFill>
                <a:latin typeface="Calibri" pitchFamily="34" charset="0"/>
                <a:ea typeface="Calibri" pitchFamily="34" charset="-122"/>
                <a:cs typeface="Calibri" pitchFamily="34" charset="-120"/>
              </a:rPr>
              <a:t>Always say YES</a:t>
            </a:r>
            <a:r>
              <a:rPr lang="en-US" sz="650" dirty="0">
                <a:solidFill>
                  <a:srgbClr val="2C2C2C"/>
                </a:solidFill>
                <a:latin typeface="Calibri" pitchFamily="34" charset="0"/>
                <a:ea typeface="Calibri" pitchFamily="34" charset="-122"/>
                <a:cs typeface="Calibri" pitchFamily="34" charset="-120"/>
              </a:rPr>
              <a:t> when asked to post the missed visit — this records it in Clinical Service History.</a:t>
            </a:r>
            <a:endParaRPr lang="en-US" sz="650" dirty="0"/>
          </a:p>
        </p:txBody>
      </p:sp>
      <p:sp>
        <p:nvSpPr>
          <p:cNvPr id="22" name="Text 19"/>
          <p:cNvSpPr/>
          <p:nvPr/>
        </p:nvSpPr>
        <p:spPr>
          <a:xfrm>
            <a:off x="324445" y="2299543"/>
            <a:ext cx="19050" cy="166985"/>
          </a:xfrm>
          <a:prstGeom prst="rect">
            <a:avLst/>
          </a:prstGeom>
          <a:solidFill>
            <a:srgbClr val="FAB753"/>
          </a:solidFill>
          <a:ln/>
        </p:spPr>
        <p:txBody>
          <a:bodyPr wrap="none" rtlCol="0" anchor="t"/>
          <a:lstStyle/>
          <a:p>
            <a:pPr marL="0" indent="0">
              <a:buNone/>
            </a:pPr>
            <a:endParaRPr lang="en-US" dirty="0"/>
          </a:p>
        </p:txBody>
      </p:sp>
      <p:sp>
        <p:nvSpPr>
          <p:cNvPr id="23" name="Text 20"/>
          <p:cNvSpPr/>
          <p:nvPr/>
        </p:nvSpPr>
        <p:spPr>
          <a:xfrm>
            <a:off x="324445" y="2515939"/>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24" name="Text 21"/>
          <p:cNvSpPr/>
          <p:nvPr/>
        </p:nvSpPr>
        <p:spPr>
          <a:xfrm>
            <a:off x="481757" y="2515939"/>
            <a:ext cx="3957700" cy="269252"/>
          </a:xfrm>
          <a:prstGeom prst="rect">
            <a:avLst/>
          </a:prstGeom>
          <a:noFill/>
          <a:ln/>
        </p:spPr>
        <p:txBody>
          <a:bodyPr wrap="squar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The appointment remains on the calendar with a ✕ red X. It cannot be found as an available slot by support staff.</a:t>
            </a:r>
            <a:endParaRPr lang="en-US" sz="680" dirty="0"/>
          </a:p>
        </p:txBody>
      </p:sp>
      <p:sp>
        <p:nvSpPr>
          <p:cNvPr id="25" name="Text 22"/>
          <p:cNvSpPr/>
          <p:nvPr/>
        </p:nvSpPr>
        <p:spPr>
          <a:xfrm>
            <a:off x="2346281" y="2517874"/>
            <a:ext cx="378905" cy="129332"/>
          </a:xfrm>
          <a:prstGeom prst="roundRect">
            <a:avLst>
              <a:gd name="adj" fmla="val 16693"/>
            </a:avLst>
          </a:prstGeom>
          <a:solidFill>
            <a:srgbClr val="FDE8E8"/>
          </a:solidFill>
          <a:ln/>
        </p:spPr>
        <p:txBody>
          <a:bodyPr wrap="none" lIns="0" tIns="0" rIns="0" bIns="0" rtlCol="0" anchor="ctr"/>
          <a:lstStyle/>
          <a:p>
            <a:pPr marL="0" indent="0" algn="ctr">
              <a:buNone/>
            </a:pPr>
            <a:r>
              <a:rPr lang="en-US" sz="620" b="1" dirty="0">
                <a:solidFill>
                  <a:srgbClr val="B91C1C"/>
                </a:solidFill>
                <a:latin typeface="Calibri" pitchFamily="34" charset="0"/>
                <a:ea typeface="Calibri" pitchFamily="34" charset="-122"/>
                <a:cs typeface="Calibri" pitchFamily="34" charset="-120"/>
              </a:rPr>
              <a:t>✕ red X</a:t>
            </a:r>
            <a:endParaRPr lang="en-US" sz="620" dirty="0"/>
          </a:p>
        </p:txBody>
      </p:sp>
      <p:sp>
        <p:nvSpPr>
          <p:cNvPr id="26" name="Text 23"/>
          <p:cNvSpPr/>
          <p:nvPr/>
        </p:nvSpPr>
        <p:spPr>
          <a:xfrm>
            <a:off x="324445" y="2821781"/>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FAB753"/>
                </a:solidFill>
                <a:latin typeface="Calibri" pitchFamily="34" charset="0"/>
                <a:ea typeface="Calibri" pitchFamily="34" charset="-122"/>
                <a:cs typeface="Calibri" pitchFamily="34" charset="-120"/>
              </a:rPr>
              <a:t>—</a:t>
            </a:r>
            <a:endParaRPr lang="en-US" sz="790" dirty="0"/>
          </a:p>
        </p:txBody>
      </p:sp>
      <p:sp>
        <p:nvSpPr>
          <p:cNvPr id="27" name="Text 24"/>
          <p:cNvSpPr/>
          <p:nvPr/>
        </p:nvSpPr>
        <p:spPr>
          <a:xfrm>
            <a:off x="481757" y="2821781"/>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Before cancelling a no-show: attempt contact and wait 15 minutes. Use that time for notes.</a:t>
            </a:r>
            <a:endParaRPr lang="en-US" sz="680" dirty="0"/>
          </a:p>
        </p:txBody>
      </p:sp>
      <p:sp>
        <p:nvSpPr>
          <p:cNvPr id="28" name="Text 25"/>
          <p:cNvSpPr/>
          <p:nvPr/>
        </p:nvSpPr>
        <p:spPr>
          <a:xfrm>
            <a:off x="4658320" y="660648"/>
            <a:ext cx="4370761" cy="264765"/>
          </a:xfrm>
          <a:prstGeom prst="roundRect">
            <a:avLst>
              <a:gd name="adj" fmla="val 16309"/>
            </a:avLst>
          </a:prstGeom>
          <a:solidFill>
            <a:srgbClr val="FAB753"/>
          </a:solidFill>
          <a:ln/>
        </p:spPr>
        <p:txBody>
          <a:bodyPr wrap="none" lIns="257175" tIns="57150" rIns="114300" bIns="57150" rtlCol="0" anchor="ctr"/>
          <a:lstStyle/>
          <a:p>
            <a:pPr marL="0" indent="0" algn="l">
              <a:buNone/>
            </a:pPr>
            <a:r>
              <a:rPr lang="en-US" sz="790" b="1" kern="0" spc="32" dirty="0">
                <a:solidFill>
                  <a:srgbClr val="1B1B1B"/>
                </a:solidFill>
                <a:latin typeface="Calibri" pitchFamily="34" charset="0"/>
                <a:ea typeface="Calibri" pitchFamily="34" charset="-122"/>
                <a:cs typeface="Calibri" pitchFamily="34" charset="-120"/>
              </a:rPr>
              <a:t>CANCELLED BY CLIENT &amp; CANCELLED BY THERAPIST</a:t>
            </a:r>
            <a:endParaRPr lang="en-US" sz="790" dirty="0"/>
          </a:p>
        </p:txBody>
      </p:sp>
      <p:pic>
        <p:nvPicPr>
          <p:cNvPr id="2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9189" y="726662"/>
            <a:ext cx="132588" cy="132588"/>
          </a:xfrm>
          <a:prstGeom prst="rect">
            <a:avLst/>
          </a:prstGeom>
        </p:spPr>
      </p:pic>
      <p:sp>
        <p:nvSpPr>
          <p:cNvPr id="30" name="Text 26"/>
          <p:cNvSpPr/>
          <p:nvPr/>
        </p:nvSpPr>
        <p:spPr>
          <a:xfrm>
            <a:off x="4658320" y="925413"/>
            <a:ext cx="4285059" cy="3493145"/>
          </a:xfrm>
          <a:prstGeom prst="rect">
            <a:avLst/>
          </a:prstGeom>
          <a:solidFill>
            <a:srgbClr val="FFFFFF"/>
          </a:solidFill>
          <a:ln/>
        </p:spPr>
        <p:txBody>
          <a:bodyPr wrap="square" rtlCol="0" anchor="t"/>
          <a:lstStyle/>
          <a:p>
            <a:pPr marL="0" indent="0">
              <a:buNone/>
            </a:pPr>
            <a:endParaRPr lang="en-US" dirty="0"/>
          </a:p>
        </p:txBody>
      </p:sp>
      <p:sp>
        <p:nvSpPr>
          <p:cNvPr id="31" name="Text 27"/>
          <p:cNvSpPr/>
          <p:nvPr/>
        </p:nvSpPr>
        <p:spPr>
          <a:xfrm>
            <a:off x="4658320" y="925413"/>
            <a:ext cx="9525" cy="3493145"/>
          </a:xfrm>
          <a:prstGeom prst="rect">
            <a:avLst/>
          </a:prstGeom>
          <a:solidFill>
            <a:srgbClr val="C2DEDE"/>
          </a:solidFill>
          <a:ln/>
        </p:spPr>
        <p:txBody>
          <a:bodyPr wrap="square" rtlCol="0" anchor="t"/>
          <a:lstStyle/>
          <a:p>
            <a:pPr marL="0" indent="0">
              <a:buNone/>
            </a:pPr>
            <a:endParaRPr lang="en-US" dirty="0"/>
          </a:p>
        </p:txBody>
      </p:sp>
      <p:sp>
        <p:nvSpPr>
          <p:cNvPr id="32" name="Text 28"/>
          <p:cNvSpPr/>
          <p:nvPr/>
        </p:nvSpPr>
        <p:spPr>
          <a:xfrm>
            <a:off x="8933855" y="925413"/>
            <a:ext cx="9525" cy="3493145"/>
          </a:xfrm>
          <a:prstGeom prst="rect">
            <a:avLst/>
          </a:prstGeom>
          <a:solidFill>
            <a:srgbClr val="C2DEDE"/>
          </a:solidFill>
          <a:ln/>
        </p:spPr>
        <p:txBody>
          <a:bodyPr wrap="square" rtlCol="0" anchor="t"/>
          <a:lstStyle/>
          <a:p>
            <a:pPr marL="0" indent="0">
              <a:buNone/>
            </a:pPr>
            <a:endParaRPr lang="en-US" dirty="0"/>
          </a:p>
        </p:txBody>
      </p:sp>
      <p:sp>
        <p:nvSpPr>
          <p:cNvPr id="33" name="Text 29"/>
          <p:cNvSpPr/>
          <p:nvPr/>
        </p:nvSpPr>
        <p:spPr>
          <a:xfrm>
            <a:off x="4782145" y="1025723"/>
            <a:ext cx="4441150" cy="133201"/>
          </a:xfrm>
          <a:prstGeom prst="rect">
            <a:avLst/>
          </a:prstGeom>
          <a:noFill/>
          <a:ln/>
        </p:spPr>
        <p:txBody>
          <a:bodyPr wrap="none" lIns="0" tIns="0" rIns="0" bIns="0" rtlCol="0" anchor="t"/>
          <a:lstStyle/>
          <a:p>
            <a:pPr marL="0" indent="0" algn="l">
              <a:lnSpc>
                <a:spcPts val="1050"/>
              </a:lnSpc>
              <a:buNone/>
            </a:pPr>
            <a:r>
              <a:rPr lang="en-US" sz="700" b="1" dirty="0">
                <a:solidFill>
                  <a:srgbClr val="1B5E72"/>
                </a:solidFill>
                <a:latin typeface="Calibri" pitchFamily="34" charset="0"/>
                <a:ea typeface="Calibri" pitchFamily="34" charset="-122"/>
                <a:cs typeface="Calibri" pitchFamily="34" charset="-120"/>
              </a:rPr>
              <a:t>Cancelled by Client</a:t>
            </a:r>
            <a:endParaRPr lang="en-US" sz="700" dirty="0"/>
          </a:p>
        </p:txBody>
      </p:sp>
      <p:sp>
        <p:nvSpPr>
          <p:cNvPr id="34" name="Text 30"/>
          <p:cNvSpPr/>
          <p:nvPr/>
        </p:nvSpPr>
        <p:spPr>
          <a:xfrm>
            <a:off x="4782145" y="1194346"/>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55A49C"/>
                </a:solidFill>
                <a:latin typeface="Calibri" pitchFamily="34" charset="0"/>
                <a:ea typeface="Calibri" pitchFamily="34" charset="-122"/>
                <a:cs typeface="Calibri" pitchFamily="34" charset="-120"/>
              </a:rPr>
              <a:t>—</a:t>
            </a:r>
            <a:endParaRPr lang="en-US" sz="790" dirty="0"/>
          </a:p>
        </p:txBody>
      </p:sp>
      <p:sp>
        <p:nvSpPr>
          <p:cNvPr id="35" name="Text 31"/>
          <p:cNvSpPr/>
          <p:nvPr/>
        </p:nvSpPr>
        <p:spPr>
          <a:xfrm>
            <a:off x="4939457" y="1194346"/>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Used when client cancels more than 24 hours / 1 business day in advance.</a:t>
            </a:r>
            <a:endParaRPr lang="en-US" sz="680" dirty="0"/>
          </a:p>
        </p:txBody>
      </p:sp>
      <p:sp>
        <p:nvSpPr>
          <p:cNvPr id="36" name="Text 32"/>
          <p:cNvSpPr/>
          <p:nvPr/>
        </p:nvSpPr>
        <p:spPr>
          <a:xfrm>
            <a:off x="4896445" y="1389162"/>
            <a:ext cx="94789" cy="120848"/>
          </a:xfrm>
          <a:prstGeom prst="rect">
            <a:avLst/>
          </a:prstGeom>
          <a:noFill/>
          <a:ln/>
        </p:spPr>
        <p:txBody>
          <a:bodyPr wrap="none" lIns="0" tIns="0" rIns="0" bIns="0" rtlCol="0" anchor="ctr"/>
          <a:lstStyle/>
          <a:p>
            <a:pPr marL="0" indent="0" algn="l">
              <a:lnSpc>
                <a:spcPts val="952"/>
              </a:lnSpc>
              <a:buNone/>
            </a:pPr>
            <a:r>
              <a:rPr lang="en-US" sz="680" b="1" dirty="0">
                <a:solidFill>
                  <a:srgbClr val="1B5E72"/>
                </a:solidFill>
                <a:latin typeface="Calibri" pitchFamily="34" charset="0"/>
                <a:ea typeface="Calibri" pitchFamily="34" charset="-122"/>
                <a:cs typeface="Calibri" pitchFamily="34" charset="-120"/>
              </a:rPr>
              <a:t>→</a:t>
            </a:r>
            <a:endParaRPr lang="en-US" sz="680" dirty="0"/>
          </a:p>
        </p:txBody>
      </p:sp>
      <p:sp>
        <p:nvSpPr>
          <p:cNvPr id="37" name="Text 33"/>
          <p:cNvSpPr/>
          <p:nvPr/>
        </p:nvSpPr>
        <p:spPr>
          <a:xfrm>
            <a:off x="5032028" y="1389162"/>
            <a:ext cx="2127424" cy="115639"/>
          </a:xfrm>
          <a:prstGeom prst="rect">
            <a:avLst/>
          </a:prstGeom>
          <a:noFill/>
          <a:ln/>
        </p:spPr>
        <p:txBody>
          <a:bodyPr wrap="none" lIns="0" tIns="0" rIns="0" bIns="0" rtlCol="0" anchor="ctr"/>
          <a:lstStyle/>
          <a:p>
            <a:pPr marL="0" indent="0" algn="l">
              <a:lnSpc>
                <a:spcPts val="910"/>
              </a:lnSpc>
              <a:buNone/>
            </a:pPr>
            <a:r>
              <a:rPr lang="en-US" sz="650" dirty="0">
                <a:solidFill>
                  <a:srgbClr val="2C2C2C"/>
                </a:solidFill>
                <a:latin typeface="Calibri" pitchFamily="34" charset="0"/>
                <a:ea typeface="Calibri" pitchFamily="34" charset="-122"/>
                <a:cs typeface="Calibri" pitchFamily="34" charset="-120"/>
              </a:rPr>
              <a:t>Right-click → Status Update → change to Cancelled</a:t>
            </a:r>
            <a:endParaRPr lang="en-US" sz="650" dirty="0"/>
          </a:p>
        </p:txBody>
      </p:sp>
      <p:sp>
        <p:nvSpPr>
          <p:cNvPr id="38" name="Text 34"/>
          <p:cNvSpPr/>
          <p:nvPr/>
        </p:nvSpPr>
        <p:spPr>
          <a:xfrm>
            <a:off x="4896445" y="1531590"/>
            <a:ext cx="94789" cy="120848"/>
          </a:xfrm>
          <a:prstGeom prst="rect">
            <a:avLst/>
          </a:prstGeom>
          <a:noFill/>
          <a:ln/>
        </p:spPr>
        <p:txBody>
          <a:bodyPr wrap="none" lIns="0" tIns="0" rIns="0" bIns="0" rtlCol="0" anchor="ctr"/>
          <a:lstStyle/>
          <a:p>
            <a:pPr marL="0" indent="0" algn="l">
              <a:lnSpc>
                <a:spcPts val="952"/>
              </a:lnSpc>
              <a:buNone/>
            </a:pPr>
            <a:r>
              <a:rPr lang="en-US" sz="680" b="1" dirty="0">
                <a:solidFill>
                  <a:srgbClr val="1B5E72"/>
                </a:solidFill>
                <a:latin typeface="Calibri" pitchFamily="34" charset="0"/>
                <a:ea typeface="Calibri" pitchFamily="34" charset="-122"/>
                <a:cs typeface="Calibri" pitchFamily="34" charset="-120"/>
              </a:rPr>
              <a:t>→</a:t>
            </a:r>
            <a:endParaRPr lang="en-US" sz="680" dirty="0"/>
          </a:p>
        </p:txBody>
      </p:sp>
      <p:sp>
        <p:nvSpPr>
          <p:cNvPr id="39" name="Text 35"/>
          <p:cNvSpPr/>
          <p:nvPr/>
        </p:nvSpPr>
        <p:spPr>
          <a:xfrm>
            <a:off x="5032028" y="1531590"/>
            <a:ext cx="2321912" cy="127248"/>
          </a:xfrm>
          <a:prstGeom prst="rect">
            <a:avLst/>
          </a:prstGeom>
          <a:noFill/>
          <a:ln/>
        </p:spPr>
        <p:txBody>
          <a:bodyPr wrap="none" lIns="0" tIns="0" rIns="0" bIns="0" rtlCol="0" anchor="ctr"/>
          <a:lstStyle/>
          <a:p>
            <a:pPr marL="0" indent="0" algn="l">
              <a:lnSpc>
                <a:spcPts val="910"/>
              </a:lnSpc>
              <a:buNone/>
            </a:pPr>
            <a:r>
              <a:rPr lang="en-US" sz="650" dirty="0">
                <a:solidFill>
                  <a:srgbClr val="2C2C2C"/>
                </a:solidFill>
                <a:latin typeface="Calibri" pitchFamily="34" charset="0"/>
                <a:ea typeface="Calibri" pitchFamily="34" charset="-122"/>
                <a:cs typeface="Calibri" pitchFamily="34" charset="-120"/>
              </a:rPr>
              <a:t>Select 90001 Cancelled by Client INDIVIDUAL</a:t>
            </a:r>
            <a:endParaRPr lang="en-US" sz="650" dirty="0"/>
          </a:p>
        </p:txBody>
      </p:sp>
      <p:sp>
        <p:nvSpPr>
          <p:cNvPr id="40" name="Text 36"/>
          <p:cNvSpPr/>
          <p:nvPr/>
        </p:nvSpPr>
        <p:spPr>
          <a:xfrm>
            <a:off x="5265555" y="1533525"/>
            <a:ext cx="1895889" cy="125313"/>
          </a:xfrm>
          <a:prstGeom prst="roundRect">
            <a:avLst>
              <a:gd name="adj" fmla="val 17229"/>
            </a:avLst>
          </a:prstGeom>
          <a:solidFill>
            <a:srgbClr val="FAB753"/>
          </a:solidFill>
          <a:ln/>
        </p:spPr>
        <p:txBody>
          <a:bodyPr wrap="none" lIns="0" tIns="0" rIns="0" bIns="0" rtlCol="0" anchor="ctr"/>
          <a:lstStyle/>
          <a:p>
            <a:pPr marL="0" indent="0" algn="ctr">
              <a:buNone/>
            </a:pPr>
            <a:r>
              <a:rPr lang="en-US" sz="620" b="1" dirty="0">
                <a:solidFill>
                  <a:srgbClr val="1B1B1B"/>
                </a:solidFill>
                <a:latin typeface="Consolas" pitchFamily="34" charset="0"/>
                <a:ea typeface="Consolas" pitchFamily="34" charset="-122"/>
                <a:cs typeface="Consolas" pitchFamily="34" charset="-120"/>
              </a:rPr>
              <a:t>90001 Cancelled by Client INDIVIDUAL</a:t>
            </a:r>
            <a:endParaRPr lang="en-US" sz="620" dirty="0"/>
          </a:p>
        </p:txBody>
      </p:sp>
      <p:sp>
        <p:nvSpPr>
          <p:cNvPr id="41" name="Text 37"/>
          <p:cNvSpPr/>
          <p:nvPr/>
        </p:nvSpPr>
        <p:spPr>
          <a:xfrm>
            <a:off x="4896445" y="1680418"/>
            <a:ext cx="94789" cy="120848"/>
          </a:xfrm>
          <a:prstGeom prst="rect">
            <a:avLst/>
          </a:prstGeom>
          <a:noFill/>
          <a:ln/>
        </p:spPr>
        <p:txBody>
          <a:bodyPr wrap="none" lIns="0" tIns="0" rIns="0" bIns="0" rtlCol="0" anchor="ctr"/>
          <a:lstStyle/>
          <a:p>
            <a:pPr marL="0" indent="0" algn="l">
              <a:lnSpc>
                <a:spcPts val="952"/>
              </a:lnSpc>
              <a:buNone/>
            </a:pPr>
            <a:r>
              <a:rPr lang="en-US" sz="680" b="1" dirty="0">
                <a:solidFill>
                  <a:srgbClr val="1B5E72"/>
                </a:solidFill>
                <a:latin typeface="Calibri" pitchFamily="34" charset="0"/>
                <a:ea typeface="Calibri" pitchFamily="34" charset="-122"/>
                <a:cs typeface="Calibri" pitchFamily="34" charset="-120"/>
              </a:rPr>
              <a:t>→</a:t>
            </a:r>
            <a:endParaRPr lang="en-US" sz="680" dirty="0"/>
          </a:p>
        </p:txBody>
      </p:sp>
      <p:sp>
        <p:nvSpPr>
          <p:cNvPr id="42" name="Text 38"/>
          <p:cNvSpPr/>
          <p:nvPr/>
        </p:nvSpPr>
        <p:spPr>
          <a:xfrm>
            <a:off x="5032028" y="1680418"/>
            <a:ext cx="2811735" cy="115639"/>
          </a:xfrm>
          <a:prstGeom prst="rect">
            <a:avLst/>
          </a:prstGeom>
          <a:noFill/>
          <a:ln/>
        </p:spPr>
        <p:txBody>
          <a:bodyPr wrap="none" lIns="0" tIns="0" rIns="0" bIns="0" rtlCol="0" anchor="ctr"/>
          <a:lstStyle/>
          <a:p>
            <a:pPr marL="0" indent="0" algn="l">
              <a:lnSpc>
                <a:spcPts val="910"/>
              </a:lnSpc>
              <a:buNone/>
            </a:pPr>
            <a:r>
              <a:rPr lang="en-US" sz="650" dirty="0">
                <a:solidFill>
                  <a:srgbClr val="2C2C2C"/>
                </a:solidFill>
                <a:latin typeface="Calibri" pitchFamily="34" charset="0"/>
                <a:ea typeface="Calibri" pitchFamily="34" charset="-122"/>
                <a:cs typeface="Calibri" pitchFamily="34" charset="-120"/>
              </a:rPr>
              <a:t>Leave Missed Visit checked. Add a note with reason and your initials.</a:t>
            </a:r>
            <a:endParaRPr lang="en-US" sz="650" dirty="0"/>
          </a:p>
        </p:txBody>
      </p:sp>
      <p:sp>
        <p:nvSpPr>
          <p:cNvPr id="43" name="Text 39"/>
          <p:cNvSpPr/>
          <p:nvPr/>
        </p:nvSpPr>
        <p:spPr>
          <a:xfrm>
            <a:off x="4782145" y="1938933"/>
            <a:ext cx="4441150" cy="133201"/>
          </a:xfrm>
          <a:prstGeom prst="rect">
            <a:avLst/>
          </a:prstGeom>
          <a:noFill/>
          <a:ln/>
        </p:spPr>
        <p:txBody>
          <a:bodyPr wrap="none" lIns="0" tIns="0" rIns="0" bIns="0" rtlCol="0" anchor="t"/>
          <a:lstStyle/>
          <a:p>
            <a:pPr marL="0" indent="0" algn="l">
              <a:lnSpc>
                <a:spcPts val="1050"/>
              </a:lnSpc>
              <a:buNone/>
            </a:pPr>
            <a:r>
              <a:rPr lang="en-US" sz="700" b="1" dirty="0">
                <a:solidFill>
                  <a:srgbClr val="1B5E72"/>
                </a:solidFill>
                <a:latin typeface="Calibri" pitchFamily="34" charset="0"/>
                <a:ea typeface="Calibri" pitchFamily="34" charset="-122"/>
                <a:cs typeface="Calibri" pitchFamily="34" charset="-120"/>
              </a:rPr>
              <a:t>Cancelled by Therapist</a:t>
            </a:r>
            <a:endParaRPr lang="en-US" sz="700" dirty="0"/>
          </a:p>
        </p:txBody>
      </p:sp>
      <p:sp>
        <p:nvSpPr>
          <p:cNvPr id="44" name="Text 40"/>
          <p:cNvSpPr/>
          <p:nvPr/>
        </p:nvSpPr>
        <p:spPr>
          <a:xfrm>
            <a:off x="4782145" y="2107555"/>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55A49C"/>
                </a:solidFill>
                <a:latin typeface="Calibri" pitchFamily="34" charset="0"/>
                <a:ea typeface="Calibri" pitchFamily="34" charset="-122"/>
                <a:cs typeface="Calibri" pitchFamily="34" charset="-120"/>
              </a:rPr>
              <a:t>—</a:t>
            </a:r>
            <a:endParaRPr lang="en-US" sz="790" dirty="0"/>
          </a:p>
        </p:txBody>
      </p:sp>
      <p:sp>
        <p:nvSpPr>
          <p:cNvPr id="45" name="Text 41"/>
          <p:cNvSpPr/>
          <p:nvPr/>
        </p:nvSpPr>
        <p:spPr>
          <a:xfrm>
            <a:off x="4939457" y="2107555"/>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Used when you need to cancel a scheduled appointment.</a:t>
            </a:r>
            <a:endParaRPr lang="en-US" sz="680" dirty="0"/>
          </a:p>
        </p:txBody>
      </p:sp>
      <p:sp>
        <p:nvSpPr>
          <p:cNvPr id="46" name="Text 42"/>
          <p:cNvSpPr/>
          <p:nvPr/>
        </p:nvSpPr>
        <p:spPr>
          <a:xfrm>
            <a:off x="4896445" y="2302371"/>
            <a:ext cx="94789" cy="120848"/>
          </a:xfrm>
          <a:prstGeom prst="rect">
            <a:avLst/>
          </a:prstGeom>
          <a:noFill/>
          <a:ln/>
        </p:spPr>
        <p:txBody>
          <a:bodyPr wrap="none" lIns="0" tIns="0" rIns="0" bIns="0" rtlCol="0" anchor="ctr"/>
          <a:lstStyle/>
          <a:p>
            <a:pPr marL="0" indent="0" algn="l">
              <a:lnSpc>
                <a:spcPts val="952"/>
              </a:lnSpc>
              <a:buNone/>
            </a:pPr>
            <a:r>
              <a:rPr lang="en-US" sz="680" b="1" dirty="0">
                <a:solidFill>
                  <a:srgbClr val="1B5E72"/>
                </a:solidFill>
                <a:latin typeface="Calibri" pitchFamily="34" charset="0"/>
                <a:ea typeface="Calibri" pitchFamily="34" charset="-122"/>
                <a:cs typeface="Calibri" pitchFamily="34" charset="-120"/>
              </a:rPr>
              <a:t>→</a:t>
            </a:r>
            <a:endParaRPr lang="en-US" sz="680" dirty="0"/>
          </a:p>
        </p:txBody>
      </p:sp>
      <p:sp>
        <p:nvSpPr>
          <p:cNvPr id="47" name="Text 43"/>
          <p:cNvSpPr/>
          <p:nvPr/>
        </p:nvSpPr>
        <p:spPr>
          <a:xfrm>
            <a:off x="5032028" y="2302371"/>
            <a:ext cx="2374463" cy="115639"/>
          </a:xfrm>
          <a:prstGeom prst="rect">
            <a:avLst/>
          </a:prstGeom>
          <a:noFill/>
          <a:ln/>
        </p:spPr>
        <p:txBody>
          <a:bodyPr wrap="none" lIns="0" tIns="0" rIns="0" bIns="0" rtlCol="0" anchor="ctr"/>
          <a:lstStyle/>
          <a:p>
            <a:pPr marL="0" indent="0" algn="l">
              <a:lnSpc>
                <a:spcPts val="910"/>
              </a:lnSpc>
              <a:buNone/>
            </a:pPr>
            <a:r>
              <a:rPr lang="en-US" sz="650" dirty="0">
                <a:solidFill>
                  <a:srgbClr val="2C2C2C"/>
                </a:solidFill>
                <a:latin typeface="Calibri" pitchFamily="34" charset="0"/>
                <a:ea typeface="Calibri" pitchFamily="34" charset="-122"/>
                <a:cs typeface="Calibri" pitchFamily="34" charset="-120"/>
              </a:rPr>
              <a:t>Same process → select the Cancelled by Therapist code.</a:t>
            </a:r>
            <a:endParaRPr lang="en-US" sz="650" dirty="0"/>
          </a:p>
        </p:txBody>
      </p:sp>
      <p:sp>
        <p:nvSpPr>
          <p:cNvPr id="48" name="Text 44"/>
          <p:cNvSpPr/>
          <p:nvPr/>
        </p:nvSpPr>
        <p:spPr>
          <a:xfrm>
            <a:off x="4896445" y="2444800"/>
            <a:ext cx="94789" cy="120848"/>
          </a:xfrm>
          <a:prstGeom prst="rect">
            <a:avLst/>
          </a:prstGeom>
          <a:noFill/>
          <a:ln/>
        </p:spPr>
        <p:txBody>
          <a:bodyPr wrap="none" lIns="0" tIns="0" rIns="0" bIns="0" rtlCol="0" anchor="ctr"/>
          <a:lstStyle/>
          <a:p>
            <a:pPr marL="0" indent="0" algn="l">
              <a:lnSpc>
                <a:spcPts val="952"/>
              </a:lnSpc>
              <a:buNone/>
            </a:pPr>
            <a:r>
              <a:rPr lang="en-US" sz="680" b="1" dirty="0">
                <a:solidFill>
                  <a:srgbClr val="1B5E72"/>
                </a:solidFill>
                <a:latin typeface="Calibri" pitchFamily="34" charset="0"/>
                <a:ea typeface="Calibri" pitchFamily="34" charset="-122"/>
                <a:cs typeface="Calibri" pitchFamily="34" charset="-120"/>
              </a:rPr>
              <a:t>→</a:t>
            </a:r>
            <a:endParaRPr lang="en-US" sz="680" dirty="0"/>
          </a:p>
        </p:txBody>
      </p:sp>
      <p:sp>
        <p:nvSpPr>
          <p:cNvPr id="49" name="Text 45"/>
          <p:cNvSpPr/>
          <p:nvPr/>
        </p:nvSpPr>
        <p:spPr>
          <a:xfrm>
            <a:off x="5032028" y="2444800"/>
            <a:ext cx="2379375" cy="115639"/>
          </a:xfrm>
          <a:prstGeom prst="rect">
            <a:avLst/>
          </a:prstGeom>
          <a:noFill/>
          <a:ln/>
        </p:spPr>
        <p:txBody>
          <a:bodyPr wrap="none" lIns="0" tIns="0" rIns="0" bIns="0" rtlCol="0" anchor="ctr"/>
          <a:lstStyle/>
          <a:p>
            <a:pPr marL="0" indent="0" algn="l">
              <a:lnSpc>
                <a:spcPts val="910"/>
              </a:lnSpc>
              <a:buNone/>
            </a:pPr>
            <a:r>
              <a:rPr lang="en-US" sz="650" dirty="0">
                <a:solidFill>
                  <a:srgbClr val="2C2C2C"/>
                </a:solidFill>
                <a:latin typeface="Calibri" pitchFamily="34" charset="0"/>
                <a:ea typeface="Calibri" pitchFamily="34" charset="-122"/>
                <a:cs typeface="Calibri" pitchFamily="34" charset="-120"/>
              </a:rPr>
              <a:t>Add a clear note. Rebook the client as soon as possible.</a:t>
            </a:r>
            <a:endParaRPr lang="en-US" sz="650" dirty="0"/>
          </a:p>
        </p:txBody>
      </p:sp>
      <p:sp>
        <p:nvSpPr>
          <p:cNvPr id="50" name="Text 46"/>
          <p:cNvSpPr/>
          <p:nvPr/>
        </p:nvSpPr>
        <p:spPr>
          <a:xfrm>
            <a:off x="4782145" y="2703314"/>
            <a:ext cx="110177" cy="145405"/>
          </a:xfrm>
          <a:prstGeom prst="rect">
            <a:avLst/>
          </a:prstGeom>
          <a:noFill/>
          <a:ln/>
        </p:spPr>
        <p:txBody>
          <a:bodyPr wrap="none" lIns="0" tIns="0" rIns="0" bIns="0" rtlCol="0" anchor="ctr"/>
          <a:lstStyle/>
          <a:p>
            <a:pPr marL="0" indent="0" algn="l">
              <a:lnSpc>
                <a:spcPts val="1145"/>
              </a:lnSpc>
              <a:buNone/>
            </a:pPr>
            <a:r>
              <a:rPr lang="en-US" sz="790" b="1" dirty="0">
                <a:solidFill>
                  <a:srgbClr val="55A49C"/>
                </a:solidFill>
                <a:latin typeface="Calibri" pitchFamily="34" charset="0"/>
                <a:ea typeface="Calibri" pitchFamily="34" charset="-122"/>
                <a:cs typeface="Calibri" pitchFamily="34" charset="-120"/>
              </a:rPr>
              <a:t>—</a:t>
            </a:r>
            <a:endParaRPr lang="en-US" sz="790" dirty="0"/>
          </a:p>
        </p:txBody>
      </p:sp>
      <p:sp>
        <p:nvSpPr>
          <p:cNvPr id="51" name="Text 47"/>
          <p:cNvSpPr/>
          <p:nvPr/>
        </p:nvSpPr>
        <p:spPr>
          <a:xfrm>
            <a:off x="4939457" y="2703314"/>
            <a:ext cx="4268108" cy="125164"/>
          </a:xfrm>
          <a:prstGeom prst="rect">
            <a:avLst/>
          </a:prstGeom>
          <a:noFill/>
          <a:ln/>
        </p:spPr>
        <p:txBody>
          <a:bodyPr wrap="none" lIns="0" tIns="0" rIns="0" bIns="0" rtlCol="0" anchor="ctr"/>
          <a:lstStyle/>
          <a:p>
            <a:pPr marL="0" indent="0" algn="l">
              <a:lnSpc>
                <a:spcPts val="986"/>
              </a:lnSpc>
              <a:buNone/>
            </a:pPr>
            <a:r>
              <a:rPr lang="en-US" sz="680" dirty="0">
                <a:solidFill>
                  <a:srgbClr val="2C2C2C"/>
                </a:solidFill>
                <a:latin typeface="Calibri" pitchFamily="34" charset="0"/>
                <a:ea typeface="Calibri" pitchFamily="34" charset="-122"/>
                <a:cs typeface="Calibri" pitchFamily="34" charset="-120"/>
              </a:rPr>
              <a:t>For late cancellations: document the reason the client gave. This helps identify patterns over time.</a:t>
            </a:r>
            <a:endParaRPr lang="en-US" sz="680" dirty="0"/>
          </a:p>
        </p:txBody>
      </p:sp>
      <p:sp>
        <p:nvSpPr>
          <p:cNvPr id="52" name="Text 48"/>
          <p:cNvSpPr/>
          <p:nvPr/>
        </p:nvSpPr>
        <p:spPr>
          <a:xfrm>
            <a:off x="0" y="4858196"/>
            <a:ext cx="9144000" cy="285304"/>
          </a:xfrm>
          <a:prstGeom prst="rect">
            <a:avLst/>
          </a:prstGeom>
          <a:solidFill>
            <a:srgbClr val="EAF4F4"/>
          </a:solidFill>
          <a:ln/>
        </p:spPr>
        <p:txBody>
          <a:bodyPr wrap="square" rtlCol="0" anchor="t"/>
          <a:lstStyle/>
          <a:p>
            <a:pPr marL="0" indent="0">
              <a:buNone/>
            </a:pPr>
            <a:endParaRPr lang="en-US" dirty="0"/>
          </a:p>
        </p:txBody>
      </p:sp>
      <p:sp>
        <p:nvSpPr>
          <p:cNvPr id="53" name="Text 49"/>
          <p:cNvSpPr/>
          <p:nvPr/>
        </p:nvSpPr>
        <p:spPr>
          <a:xfrm>
            <a:off x="0" y="4858196"/>
            <a:ext cx="9144000" cy="19050"/>
          </a:xfrm>
          <a:prstGeom prst="rect">
            <a:avLst/>
          </a:prstGeom>
          <a:solidFill>
            <a:srgbClr val="FAB753"/>
          </a:solidFill>
          <a:ln/>
        </p:spPr>
        <p:txBody>
          <a:bodyPr wrap="none" rtlCol="0" anchor="t"/>
          <a:lstStyle/>
          <a:p>
            <a:pPr marL="0" indent="0">
              <a:buNone/>
            </a:pPr>
            <a:endParaRPr lang="en-US" dirty="0"/>
          </a:p>
        </p:txBody>
      </p:sp>
      <p:pic>
        <p:nvPicPr>
          <p:cNvPr id="5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5278" y="4944079"/>
            <a:ext cx="132588" cy="132588"/>
          </a:xfrm>
          <a:prstGeom prst="rect">
            <a:avLst/>
          </a:prstGeom>
        </p:spPr>
      </p:pic>
      <p:sp>
        <p:nvSpPr>
          <p:cNvPr id="55" name="Text 50"/>
          <p:cNvSpPr/>
          <p:nvPr/>
        </p:nvSpPr>
        <p:spPr>
          <a:xfrm>
            <a:off x="465683" y="4948238"/>
            <a:ext cx="7393841" cy="124271"/>
          </a:xfrm>
          <a:prstGeom prst="rect">
            <a:avLst/>
          </a:prstGeom>
          <a:noFill/>
          <a:ln/>
        </p:spPr>
        <p:txBody>
          <a:bodyPr wrap="none" lIns="0" tIns="0" rIns="0" bIns="0" rtlCol="0" anchor="ctr"/>
          <a:lstStyle/>
          <a:p>
            <a:pPr marL="0" indent="0" algn="l">
              <a:lnSpc>
                <a:spcPts val="980"/>
              </a:lnSpc>
              <a:buNone/>
            </a:pPr>
            <a:r>
              <a:rPr lang="en-US" sz="700" b="1" dirty="0">
                <a:solidFill>
                  <a:srgbClr val="1B5E72"/>
                </a:solidFill>
                <a:latin typeface="Calibri" pitchFamily="34" charset="0"/>
                <a:ea typeface="Calibri" pitchFamily="34" charset="-122"/>
                <a:cs typeface="Calibri" pitchFamily="34" charset="-120"/>
              </a:rPr>
              <a:t>"Individual"</a:t>
            </a:r>
            <a:r>
              <a:rPr lang="en-US" sz="700" dirty="0">
                <a:solidFill>
                  <a:srgbClr val="2C2C2C"/>
                </a:solidFill>
                <a:latin typeface="Calibri" pitchFamily="34" charset="0"/>
                <a:ea typeface="Calibri" pitchFamily="34" charset="-122"/>
                <a:cs typeface="Calibri" pitchFamily="34" charset="-120"/>
              </a:rPr>
              <a:t> in the cancellation code refers to the </a:t>
            </a:r>
            <a:r>
              <a:rPr lang="en-US" sz="700" b="1" dirty="0">
                <a:solidFill>
                  <a:srgbClr val="1B5E72"/>
                </a:solidFill>
                <a:latin typeface="Calibri" pitchFamily="34" charset="0"/>
                <a:ea typeface="Calibri" pitchFamily="34" charset="-122"/>
                <a:cs typeface="Calibri" pitchFamily="34" charset="-120"/>
              </a:rPr>
              <a:t>appointment type</a:t>
            </a:r>
            <a:r>
              <a:rPr lang="en-US" sz="700" dirty="0">
                <a:solidFill>
                  <a:srgbClr val="2C2C2C"/>
                </a:solidFill>
                <a:latin typeface="Calibri" pitchFamily="34" charset="0"/>
                <a:ea typeface="Calibri" pitchFamily="34" charset="-122"/>
                <a:cs typeface="Calibri" pitchFamily="34" charset="-120"/>
              </a:rPr>
              <a:t> — not the therapy modality. Individual </a:t>
            </a:r>
            <a:r>
              <a:rPr lang="en-US" sz="700" b="1" i="1" dirty="0">
                <a:solidFill>
                  <a:srgbClr val="2C2C2C"/>
                </a:solidFill>
                <a:latin typeface="Calibri" pitchFamily="34" charset="0"/>
                <a:ea typeface="Calibri" pitchFamily="34" charset="-122"/>
                <a:cs typeface="Calibri" pitchFamily="34" charset="-120"/>
              </a:rPr>
              <a:t>and</a:t>
            </a:r>
            <a:r>
              <a:rPr lang="en-US" sz="700" dirty="0">
                <a:solidFill>
                  <a:srgbClr val="2C2C2C"/>
                </a:solidFill>
                <a:latin typeface="Calibri" pitchFamily="34" charset="0"/>
                <a:ea typeface="Calibri" pitchFamily="34" charset="-122"/>
                <a:cs typeface="Calibri" pitchFamily="34" charset="-120"/>
              </a:rPr>
              <a:t> family sessions both use the </a:t>
            </a:r>
            <a:r>
              <a:rPr lang="en-US" sz="700" b="1" dirty="0">
                <a:solidFill>
                  <a:srgbClr val="1B5E72"/>
                </a:solidFill>
                <a:latin typeface="Calibri" pitchFamily="34" charset="0"/>
                <a:ea typeface="Calibri" pitchFamily="34" charset="-122"/>
                <a:cs typeface="Calibri" pitchFamily="34" charset="-120"/>
              </a:rPr>
              <a:t>INDIVIDUAL codes</a:t>
            </a:r>
            <a:r>
              <a:rPr lang="en-US" sz="700" dirty="0">
                <a:solidFill>
                  <a:srgbClr val="2C2C2C"/>
                </a:solidFill>
                <a:latin typeface="Calibri" pitchFamily="34" charset="0"/>
                <a:ea typeface="Calibri" pitchFamily="34" charset="-122"/>
                <a:cs typeface="Calibri" pitchFamily="34" charset="-120"/>
              </a:rPr>
              <a:t>.</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342900"/>
            <a:ext cx="2074545" cy="118021"/>
          </a:xfrm>
          <a:prstGeom prst="rect">
            <a:avLst/>
          </a:prstGeom>
          <a:noFill/>
          <a:ln/>
        </p:spPr>
        <p:txBody>
          <a:bodyPr wrap="none" lIns="0" tIns="0" rIns="0" bIns="0" rtlCol="0" anchor="t"/>
          <a:lstStyle/>
          <a:p>
            <a:pPr marL="0" indent="0" algn="l">
              <a:lnSpc>
                <a:spcPts val="930"/>
              </a:lnSpc>
              <a:buNone/>
            </a:pPr>
            <a:r>
              <a:rPr lang="en-US" sz="620" b="1" kern="0" spc="81" dirty="0">
                <a:solidFill>
                  <a:srgbClr val="FAB753"/>
                </a:solidFill>
                <a:latin typeface="Calibri" pitchFamily="34" charset="0"/>
                <a:ea typeface="Calibri" pitchFamily="34" charset="-122"/>
                <a:cs typeface="Calibri" pitchFamily="34" charset="-120"/>
              </a:rPr>
              <a:t>PUTTING IT TOGETHER</a:t>
            </a:r>
            <a:endParaRPr lang="en-US" sz="620" dirty="0"/>
          </a:p>
        </p:txBody>
      </p:sp>
      <p:sp>
        <p:nvSpPr>
          <p:cNvPr id="4" name="Text 2"/>
          <p:cNvSpPr/>
          <p:nvPr/>
        </p:nvSpPr>
        <p:spPr>
          <a:xfrm>
            <a:off x="285750" y="589062"/>
            <a:ext cx="21580" cy="429220"/>
          </a:xfrm>
          <a:prstGeom prst="roundRect">
            <a:avLst>
              <a:gd name="adj" fmla="val 64736"/>
            </a:avLst>
          </a:prstGeom>
          <a:solidFill>
            <a:srgbClr val="FAB753">
              <a:alpha val="85000"/>
            </a:srgbClr>
          </a:solidFill>
          <a:ln/>
        </p:spPr>
        <p:txBody>
          <a:bodyPr wrap="square" rtlCol="0" anchor="t"/>
          <a:lstStyle/>
          <a:p>
            <a:pPr marL="0" indent="0">
              <a:buNone/>
            </a:pPr>
            <a:endParaRPr lang="en-US" dirty="0"/>
          </a:p>
        </p:txBody>
      </p:sp>
      <p:sp>
        <p:nvSpPr>
          <p:cNvPr id="5" name="Text 3"/>
          <p:cNvSpPr/>
          <p:nvPr/>
        </p:nvSpPr>
        <p:spPr>
          <a:xfrm>
            <a:off x="285750" y="1189732"/>
            <a:ext cx="1923669" cy="505376"/>
          </a:xfrm>
          <a:prstGeom prst="rect">
            <a:avLst/>
          </a:prstGeom>
          <a:noFill/>
          <a:ln/>
        </p:spPr>
        <p:txBody>
          <a:bodyPr wrap="square" lIns="0" tIns="0" rIns="0" bIns="0" rtlCol="0" anchor="t"/>
          <a:lstStyle/>
          <a:p>
            <a:pPr marL="0" indent="0" algn="l">
              <a:lnSpc>
                <a:spcPts val="1896"/>
              </a:lnSpc>
              <a:buNone/>
            </a:pPr>
            <a:r>
              <a:rPr lang="en-US" sz="1580" b="1" dirty="0">
                <a:solidFill>
                  <a:srgbClr val="FFFFFF"/>
                </a:solidFill>
                <a:latin typeface="Calibri Light" pitchFamily="34" charset="0"/>
                <a:ea typeface="Calibri Light" pitchFamily="34" charset="-122"/>
                <a:cs typeface="Calibri Light" pitchFamily="34" charset="-120"/>
              </a:rPr>
              <a:t>From Chart Open to First Session</a:t>
            </a:r>
            <a:endParaRPr lang="en-US" sz="1580" dirty="0"/>
          </a:p>
        </p:txBody>
      </p:sp>
      <p:sp>
        <p:nvSpPr>
          <p:cNvPr id="6" name="Text 4"/>
          <p:cNvSpPr/>
          <p:nvPr/>
        </p:nvSpPr>
        <p:spPr>
          <a:xfrm>
            <a:off x="285750" y="1785342"/>
            <a:ext cx="1923669" cy="326291"/>
          </a:xfrm>
          <a:prstGeom prst="rect">
            <a:avLst/>
          </a:prstGeom>
          <a:noFill/>
          <a:ln/>
        </p:spPr>
        <p:txBody>
          <a:bodyPr wrap="square" lIns="0" tIns="0" rIns="0" bIns="0" rtlCol="0" anchor="t"/>
          <a:lstStyle/>
          <a:p>
            <a:pPr marL="0" indent="0" algn="l">
              <a:lnSpc>
                <a:spcPts val="1225"/>
              </a:lnSpc>
              <a:buNone/>
            </a:pPr>
            <a:r>
              <a:rPr lang="en-US" sz="790" dirty="0">
                <a:solidFill>
                  <a:srgbClr val="FFFFFF">
                    <a:alpha val="72000"/>
                  </a:srgbClr>
                </a:solidFill>
                <a:latin typeface="Calibri" pitchFamily="34" charset="0"/>
                <a:ea typeface="Calibri" pitchFamily="34" charset="-122"/>
                <a:cs typeface="Calibri" pitchFamily="34" charset="-120"/>
              </a:rPr>
              <a:t>The steps that connect admissions, paperwork, and your clinical workflow.</a:t>
            </a:r>
            <a:endParaRPr lang="en-US" sz="790" dirty="0"/>
          </a:p>
        </p:txBody>
      </p:sp>
      <p:pic>
        <p:nvPicPr>
          <p:cNvPr id="7" name="Image 0" descr="preencoded.png"/>
          <p:cNvPicPr>
            <a:picLocks noChangeAspect="1"/>
          </p:cNvPicPr>
          <p:nvPr/>
        </p:nvPicPr>
        <p:blipFill>
          <a:blip>
            <a:alphaModFix amt="18000"/>
            <a:extLst>
              <a:ext uri="{96DAC541-7B7A-43D3-8B79-37D633B846F1}">
                <asvg:svgBlip xmlns:asvg="http://schemas.microsoft.com/office/drawing/2016/SVG/main" r:embed="rId3"/>
              </a:ext>
            </a:extLst>
          </a:blip>
          <a:stretch>
            <a:fillRect/>
          </a:stretch>
        </p:blipFill>
        <p:spPr>
          <a:xfrm>
            <a:off x="285750" y="2353866"/>
            <a:ext cx="193328" cy="193328"/>
          </a:xfrm>
          <a:prstGeom prst="rect">
            <a:avLst/>
          </a:prstGeom>
        </p:spPr>
      </p:pic>
      <p:pic>
        <p:nvPicPr>
          <p:cNvPr id="8" name="Image 1" descr="preencoded.png"/>
          <p:cNvPicPr>
            <a:picLocks noChangeAspect="1"/>
          </p:cNvPicPr>
          <p:nvPr/>
        </p:nvPicPr>
        <p:blipFill>
          <a:blip>
            <a:alphaModFix amt="18000"/>
            <a:extLst>
              <a:ext uri="{96DAC541-7B7A-43D3-8B79-37D633B846F1}">
                <asvg:svgBlip xmlns:asvg="http://schemas.microsoft.com/office/drawing/2016/SVG/main" r:embed="rId4"/>
              </a:ext>
            </a:extLst>
          </a:blip>
          <a:stretch>
            <a:fillRect/>
          </a:stretch>
        </p:blipFill>
        <p:spPr>
          <a:xfrm>
            <a:off x="285750" y="2690664"/>
            <a:ext cx="193328" cy="193328"/>
          </a:xfrm>
          <a:prstGeom prst="rect">
            <a:avLst/>
          </a:prstGeom>
        </p:spPr>
      </p:pic>
      <p:pic>
        <p:nvPicPr>
          <p:cNvPr id="9" name="Image 2" descr="preencoded.png"/>
          <p:cNvPicPr>
            <a:picLocks noChangeAspect="1"/>
          </p:cNvPicPr>
          <p:nvPr/>
        </p:nvPicPr>
        <p:blipFill>
          <a:blip>
            <a:alphaModFix amt="18000"/>
            <a:extLst>
              <a:ext uri="{96DAC541-7B7A-43D3-8B79-37D633B846F1}">
                <asvg:svgBlip xmlns:asvg="http://schemas.microsoft.com/office/drawing/2016/SVG/main" r:embed="rId5"/>
              </a:ext>
            </a:extLst>
          </a:blip>
          <a:stretch>
            <a:fillRect/>
          </a:stretch>
        </p:blipFill>
        <p:spPr>
          <a:xfrm>
            <a:off x="285750" y="3027462"/>
            <a:ext cx="193328" cy="193328"/>
          </a:xfrm>
          <a:prstGeom prst="rect">
            <a:avLst/>
          </a:prstGeom>
        </p:spPr>
      </p:pic>
      <p:sp>
        <p:nvSpPr>
          <p:cNvPr id="10" name="Text 5"/>
          <p:cNvSpPr/>
          <p:nvPr/>
        </p:nvSpPr>
        <p:spPr>
          <a:xfrm>
            <a:off x="285750"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1" name="Text 6"/>
          <p:cNvSpPr/>
          <p:nvPr/>
        </p:nvSpPr>
        <p:spPr>
          <a:xfrm>
            <a:off x="378321"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2" name="Text 7"/>
          <p:cNvSpPr/>
          <p:nvPr/>
        </p:nvSpPr>
        <p:spPr>
          <a:xfrm>
            <a:off x="470892"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3" name="Text 8"/>
          <p:cNvSpPr/>
          <p:nvPr/>
        </p:nvSpPr>
        <p:spPr>
          <a:xfrm>
            <a:off x="563463"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4" name="Text 9"/>
          <p:cNvSpPr/>
          <p:nvPr/>
        </p:nvSpPr>
        <p:spPr>
          <a:xfrm>
            <a:off x="656034"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5" name="Text 10"/>
          <p:cNvSpPr/>
          <p:nvPr/>
        </p:nvSpPr>
        <p:spPr>
          <a:xfrm>
            <a:off x="748605"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6" name="Text 11"/>
          <p:cNvSpPr/>
          <p:nvPr/>
        </p:nvSpPr>
        <p:spPr>
          <a:xfrm>
            <a:off x="841177"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7" name="Text 12"/>
          <p:cNvSpPr/>
          <p:nvPr/>
        </p:nvSpPr>
        <p:spPr>
          <a:xfrm>
            <a:off x="933748"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8" name="Text 13"/>
          <p:cNvSpPr/>
          <p:nvPr/>
        </p:nvSpPr>
        <p:spPr>
          <a:xfrm>
            <a:off x="1026319"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19" name="Text 14"/>
          <p:cNvSpPr/>
          <p:nvPr/>
        </p:nvSpPr>
        <p:spPr>
          <a:xfrm>
            <a:off x="1118890"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0" name="Text 15"/>
          <p:cNvSpPr/>
          <p:nvPr/>
        </p:nvSpPr>
        <p:spPr>
          <a:xfrm>
            <a:off x="1211461"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1" name="Text 16"/>
          <p:cNvSpPr/>
          <p:nvPr/>
        </p:nvSpPr>
        <p:spPr>
          <a:xfrm>
            <a:off x="1304032"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2" name="Text 17"/>
          <p:cNvSpPr/>
          <p:nvPr/>
        </p:nvSpPr>
        <p:spPr>
          <a:xfrm>
            <a:off x="1396603"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3" name="Text 18"/>
          <p:cNvSpPr/>
          <p:nvPr/>
        </p:nvSpPr>
        <p:spPr>
          <a:xfrm>
            <a:off x="1489174"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4" name="Text 19"/>
          <p:cNvSpPr/>
          <p:nvPr/>
        </p:nvSpPr>
        <p:spPr>
          <a:xfrm>
            <a:off x="1581745"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5" name="Text 20"/>
          <p:cNvSpPr/>
          <p:nvPr/>
        </p:nvSpPr>
        <p:spPr>
          <a:xfrm>
            <a:off x="1674316" y="4751189"/>
            <a:ext cx="49411" cy="49411"/>
          </a:xfrm>
          <a:prstGeom prst="ellipse">
            <a:avLst/>
          </a:prstGeom>
          <a:solidFill>
            <a:srgbClr val="FAB753"/>
          </a:solidFill>
          <a:ln/>
        </p:spPr>
        <p:txBody>
          <a:bodyPr wrap="none" rtlCol="0" anchor="t"/>
          <a:lstStyle/>
          <a:p>
            <a:pPr marL="0" indent="0">
              <a:buNone/>
            </a:pPr>
            <a:endParaRPr lang="en-US" dirty="0"/>
          </a:p>
        </p:txBody>
      </p:sp>
      <p:sp>
        <p:nvSpPr>
          <p:cNvPr id="26" name="Text 21"/>
          <p:cNvSpPr/>
          <p:nvPr/>
        </p:nvSpPr>
        <p:spPr>
          <a:xfrm>
            <a:off x="1766888"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7" name="Text 22"/>
          <p:cNvSpPr/>
          <p:nvPr/>
        </p:nvSpPr>
        <p:spPr>
          <a:xfrm>
            <a:off x="1859459" y="4751189"/>
            <a:ext cx="49411" cy="49411"/>
          </a:xfrm>
          <a:prstGeom prst="ellipse">
            <a:avLst/>
          </a:prstGeom>
          <a:solidFill>
            <a:srgbClr val="FFFFFF">
              <a:alpha val="25000"/>
            </a:srgbClr>
          </a:solidFill>
          <a:ln/>
        </p:spPr>
        <p:txBody>
          <a:bodyPr wrap="none" rtlCol="0" anchor="t"/>
          <a:lstStyle/>
          <a:p>
            <a:pPr marL="0" indent="0">
              <a:buNone/>
            </a:pPr>
            <a:endParaRPr lang="en-US" dirty="0"/>
          </a:p>
        </p:txBody>
      </p:sp>
      <p:sp>
        <p:nvSpPr>
          <p:cNvPr id="28" name="Text 23"/>
          <p:cNvSpPr/>
          <p:nvPr/>
        </p:nvSpPr>
        <p:spPr>
          <a:xfrm>
            <a:off x="2429470" y="0"/>
            <a:ext cx="6714530" cy="5143500"/>
          </a:xfrm>
          <a:prstGeom prst="rect">
            <a:avLst/>
          </a:prstGeom>
          <a:solidFill>
            <a:srgbClr val="FFFFFF"/>
          </a:solidFill>
          <a:ln/>
        </p:spPr>
        <p:txBody>
          <a:bodyPr wrap="square" rtlCol="0" anchor="t"/>
          <a:lstStyle/>
          <a:p>
            <a:pPr marL="0" indent="0">
              <a:buNone/>
            </a:pPr>
            <a:endParaRPr lang="en-US" dirty="0"/>
          </a:p>
        </p:txBody>
      </p:sp>
      <p:sp>
        <p:nvSpPr>
          <p:cNvPr id="29" name="Text 24"/>
          <p:cNvSpPr/>
          <p:nvPr/>
        </p:nvSpPr>
        <p:spPr>
          <a:xfrm>
            <a:off x="2429470" y="0"/>
            <a:ext cx="6848820" cy="588615"/>
          </a:xfrm>
          <a:prstGeom prst="rect">
            <a:avLst/>
          </a:prstGeom>
          <a:noFill/>
          <a:ln/>
        </p:spPr>
        <p:txBody>
          <a:bodyPr wrap="none" lIns="314960" tIns="228600" rIns="314960" bIns="114300" rtlCol="0" anchor="t"/>
          <a:lstStyle/>
          <a:p>
            <a:pPr marL="0" indent="0" algn="l">
              <a:buNone/>
            </a:pPr>
            <a:r>
              <a:rPr lang="en-US" sz="1240" b="1" dirty="0">
                <a:solidFill>
                  <a:srgbClr val="1B5E72"/>
                </a:solidFill>
                <a:latin typeface="Calibri Light" pitchFamily="34" charset="0"/>
                <a:ea typeface="Calibri Light" pitchFamily="34" charset="-122"/>
                <a:cs typeface="Calibri Light" pitchFamily="34" charset="-120"/>
              </a:rPr>
              <a:t>Once the Chart Is Open — What Comes Next</a:t>
            </a:r>
            <a:endParaRPr lang="en-US" sz="1240" dirty="0"/>
          </a:p>
        </p:txBody>
      </p:sp>
      <p:sp>
        <p:nvSpPr>
          <p:cNvPr id="30" name="Text 25"/>
          <p:cNvSpPr/>
          <p:nvPr/>
        </p:nvSpPr>
        <p:spPr>
          <a:xfrm>
            <a:off x="2429470" y="579090"/>
            <a:ext cx="6714530" cy="9525"/>
          </a:xfrm>
          <a:prstGeom prst="rect">
            <a:avLst/>
          </a:prstGeom>
          <a:solidFill>
            <a:srgbClr val="EAF4F4"/>
          </a:solidFill>
          <a:ln/>
        </p:spPr>
        <p:txBody>
          <a:bodyPr wrap="none" rtlCol="0" anchor="t"/>
          <a:lstStyle/>
          <a:p>
            <a:pPr marL="0" indent="0">
              <a:buNone/>
            </a:pPr>
            <a:endParaRPr lang="en-US" dirty="0"/>
          </a:p>
        </p:txBody>
      </p:sp>
      <p:sp>
        <p:nvSpPr>
          <p:cNvPr id="31" name="Text 26"/>
          <p:cNvSpPr/>
          <p:nvPr/>
        </p:nvSpPr>
        <p:spPr>
          <a:xfrm>
            <a:off x="2744391" y="1293019"/>
            <a:ext cx="6084689" cy="9525"/>
          </a:xfrm>
          <a:prstGeom prst="rect">
            <a:avLst/>
          </a:prstGeom>
          <a:solidFill>
            <a:srgbClr val="F0F7F7"/>
          </a:solidFill>
          <a:ln/>
        </p:spPr>
        <p:txBody>
          <a:bodyPr wrap="none" rtlCol="0" anchor="t"/>
          <a:lstStyle/>
          <a:p>
            <a:pPr marL="0" indent="0">
              <a:buNone/>
            </a:pPr>
            <a:endParaRPr lang="en-US" dirty="0"/>
          </a:p>
        </p:txBody>
      </p:sp>
      <p:sp>
        <p:nvSpPr>
          <p:cNvPr id="32" name="Text 27"/>
          <p:cNvSpPr/>
          <p:nvPr/>
        </p:nvSpPr>
        <p:spPr>
          <a:xfrm>
            <a:off x="2744391" y="789236"/>
            <a:ext cx="228600" cy="228600"/>
          </a:xfrm>
          <a:prstGeom prst="roundRect">
            <a:avLst>
              <a:gd name="adj" fmla="val 25000"/>
            </a:avLst>
          </a:prstGeom>
          <a:solidFill>
            <a:srgbClr val="EAF4F4"/>
          </a:solidFill>
          <a:ln/>
        </p:spPr>
        <p:txBody>
          <a:bodyPr wrap="none" rtlCol="0" anchor="t"/>
          <a:lstStyle/>
          <a:p>
            <a:pPr marL="0" indent="0">
              <a:buNone/>
            </a:pPr>
            <a:endParaRPr lang="en-US"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92397" y="837242"/>
            <a:ext cx="132588" cy="132588"/>
          </a:xfrm>
          <a:prstGeom prst="rect">
            <a:avLst/>
          </a:prstGeom>
        </p:spPr>
      </p:pic>
      <p:sp>
        <p:nvSpPr>
          <p:cNvPr id="34" name="Text 28"/>
          <p:cNvSpPr/>
          <p:nvPr/>
        </p:nvSpPr>
        <p:spPr>
          <a:xfrm>
            <a:off x="3073301" y="781645"/>
            <a:ext cx="6331357"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Complete the bundle before closing</a:t>
            </a:r>
            <a:endParaRPr lang="en-US" sz="840" dirty="0"/>
          </a:p>
        </p:txBody>
      </p:sp>
      <p:sp>
        <p:nvSpPr>
          <p:cNvPr id="35" name="Text 29"/>
          <p:cNvSpPr/>
          <p:nvPr/>
        </p:nvSpPr>
        <p:spPr>
          <a:xfrm>
            <a:off x="3073301" y="934194"/>
            <a:ext cx="5870894"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All forms in the Admission Bundle should be completed or intentionally deferred before you close out. Deferred forms should be flagged for completion at intake.</a:t>
            </a:r>
            <a:endParaRPr lang="en-US" sz="760" dirty="0"/>
          </a:p>
        </p:txBody>
      </p:sp>
      <p:sp>
        <p:nvSpPr>
          <p:cNvPr id="36" name="Text 30"/>
          <p:cNvSpPr/>
          <p:nvPr/>
        </p:nvSpPr>
        <p:spPr>
          <a:xfrm>
            <a:off x="2744391" y="1892647"/>
            <a:ext cx="6084689" cy="9525"/>
          </a:xfrm>
          <a:prstGeom prst="rect">
            <a:avLst/>
          </a:prstGeom>
          <a:solidFill>
            <a:srgbClr val="F0F7F7"/>
          </a:solidFill>
          <a:ln/>
        </p:spPr>
        <p:txBody>
          <a:bodyPr wrap="none" rtlCol="0" anchor="t"/>
          <a:lstStyle/>
          <a:p>
            <a:pPr marL="0" indent="0">
              <a:buNone/>
            </a:pPr>
            <a:endParaRPr lang="en-US" dirty="0"/>
          </a:p>
        </p:txBody>
      </p:sp>
      <p:sp>
        <p:nvSpPr>
          <p:cNvPr id="37" name="Text 31"/>
          <p:cNvSpPr/>
          <p:nvPr/>
        </p:nvSpPr>
        <p:spPr>
          <a:xfrm>
            <a:off x="2744391" y="1388864"/>
            <a:ext cx="228600" cy="228600"/>
          </a:xfrm>
          <a:prstGeom prst="roundRect">
            <a:avLst>
              <a:gd name="adj" fmla="val 25000"/>
            </a:avLst>
          </a:prstGeom>
          <a:solidFill>
            <a:srgbClr val="EAF4F4"/>
          </a:solidFill>
          <a:ln/>
        </p:spPr>
        <p:txBody>
          <a:bodyPr wrap="none" rtlCol="0" anchor="t"/>
          <a:lstStyle/>
          <a:p>
            <a:pPr marL="0" indent="0">
              <a:buNone/>
            </a:pPr>
            <a:endParaRPr lang="en-US" dirty="0"/>
          </a:p>
        </p:txBody>
      </p:sp>
      <p:pic>
        <p:nvPicPr>
          <p:cNvPr id="3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92397" y="1436870"/>
            <a:ext cx="132588" cy="132588"/>
          </a:xfrm>
          <a:prstGeom prst="rect">
            <a:avLst/>
          </a:prstGeom>
        </p:spPr>
      </p:pic>
      <p:sp>
        <p:nvSpPr>
          <p:cNvPr id="39" name="Text 32"/>
          <p:cNvSpPr/>
          <p:nvPr/>
        </p:nvSpPr>
        <p:spPr>
          <a:xfrm>
            <a:off x="3073301" y="1381274"/>
            <a:ext cx="6331357"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Schedule the intake assessment</a:t>
            </a:r>
            <a:endParaRPr lang="en-US" sz="840" dirty="0"/>
          </a:p>
        </p:txBody>
      </p:sp>
      <p:sp>
        <p:nvSpPr>
          <p:cNvPr id="40" name="Text 33"/>
          <p:cNvSpPr/>
          <p:nvPr/>
        </p:nvSpPr>
        <p:spPr>
          <a:xfrm>
            <a:off x="3073301" y="1533823"/>
            <a:ext cx="5870894"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Schedule the intake in Avatar as soon as the chart is open. Do not wait. The sooner it is on the calendar, the sooner the client begins receiving care.</a:t>
            </a:r>
            <a:endParaRPr lang="en-US" sz="760" dirty="0"/>
          </a:p>
        </p:txBody>
      </p:sp>
      <p:sp>
        <p:nvSpPr>
          <p:cNvPr id="41" name="Text 34"/>
          <p:cNvSpPr/>
          <p:nvPr/>
        </p:nvSpPr>
        <p:spPr>
          <a:xfrm>
            <a:off x="2744391" y="2492276"/>
            <a:ext cx="6084689" cy="9525"/>
          </a:xfrm>
          <a:prstGeom prst="rect">
            <a:avLst/>
          </a:prstGeom>
          <a:solidFill>
            <a:srgbClr val="F0F7F7"/>
          </a:solidFill>
          <a:ln/>
        </p:spPr>
        <p:txBody>
          <a:bodyPr wrap="none" rtlCol="0" anchor="t"/>
          <a:lstStyle/>
          <a:p>
            <a:pPr marL="0" indent="0">
              <a:buNone/>
            </a:pPr>
            <a:endParaRPr lang="en-US" dirty="0"/>
          </a:p>
        </p:txBody>
      </p:sp>
      <p:sp>
        <p:nvSpPr>
          <p:cNvPr id="42" name="Text 35"/>
          <p:cNvSpPr/>
          <p:nvPr/>
        </p:nvSpPr>
        <p:spPr>
          <a:xfrm>
            <a:off x="2744391" y="1988493"/>
            <a:ext cx="228600" cy="228600"/>
          </a:xfrm>
          <a:prstGeom prst="roundRect">
            <a:avLst>
              <a:gd name="adj" fmla="val 25000"/>
            </a:avLst>
          </a:prstGeom>
          <a:solidFill>
            <a:srgbClr val="EAF4F4"/>
          </a:solidFill>
          <a:ln/>
        </p:spPr>
        <p:txBody>
          <a:bodyPr wrap="none" rtlCol="0" anchor="t"/>
          <a:lstStyle/>
          <a:p>
            <a:pPr marL="0" indent="0">
              <a:buNone/>
            </a:pPr>
            <a:endParaRPr lang="en-US" dirty="0"/>
          </a:p>
        </p:txBody>
      </p:sp>
      <p:pic>
        <p:nvPicPr>
          <p:cNvPr id="4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92397" y="2036499"/>
            <a:ext cx="132588" cy="132588"/>
          </a:xfrm>
          <a:prstGeom prst="rect">
            <a:avLst/>
          </a:prstGeom>
        </p:spPr>
      </p:pic>
      <p:sp>
        <p:nvSpPr>
          <p:cNvPr id="44" name="Text 36"/>
          <p:cNvSpPr/>
          <p:nvPr/>
        </p:nvSpPr>
        <p:spPr>
          <a:xfrm>
            <a:off x="3073301" y="1980902"/>
            <a:ext cx="6331357"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Use recurring appointments when possible</a:t>
            </a:r>
            <a:endParaRPr lang="en-US" sz="840" dirty="0"/>
          </a:p>
        </p:txBody>
      </p:sp>
      <p:sp>
        <p:nvSpPr>
          <p:cNvPr id="45" name="Text 37"/>
          <p:cNvSpPr/>
          <p:nvPr/>
        </p:nvSpPr>
        <p:spPr>
          <a:xfrm>
            <a:off x="3073301" y="2133451"/>
            <a:ext cx="5870894"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From the very first scheduled session, build for consistency. Recurring appointments reduce scheduling time, help clients build routine, and increase follow-through.</a:t>
            </a:r>
            <a:endParaRPr lang="en-US" sz="760" dirty="0"/>
          </a:p>
        </p:txBody>
      </p:sp>
      <p:sp>
        <p:nvSpPr>
          <p:cNvPr id="46" name="Text 38"/>
          <p:cNvSpPr/>
          <p:nvPr/>
        </p:nvSpPr>
        <p:spPr>
          <a:xfrm>
            <a:off x="2744391" y="3091904"/>
            <a:ext cx="6084689" cy="9525"/>
          </a:xfrm>
          <a:prstGeom prst="rect">
            <a:avLst/>
          </a:prstGeom>
          <a:solidFill>
            <a:srgbClr val="F0F7F7"/>
          </a:solidFill>
          <a:ln/>
        </p:spPr>
        <p:txBody>
          <a:bodyPr wrap="none" rtlCol="0" anchor="t"/>
          <a:lstStyle/>
          <a:p>
            <a:pPr marL="0" indent="0">
              <a:buNone/>
            </a:pPr>
            <a:endParaRPr lang="en-US" dirty="0"/>
          </a:p>
        </p:txBody>
      </p:sp>
      <p:sp>
        <p:nvSpPr>
          <p:cNvPr id="47" name="Text 39"/>
          <p:cNvSpPr/>
          <p:nvPr/>
        </p:nvSpPr>
        <p:spPr>
          <a:xfrm>
            <a:off x="2744391" y="2588121"/>
            <a:ext cx="228600" cy="228600"/>
          </a:xfrm>
          <a:prstGeom prst="roundRect">
            <a:avLst>
              <a:gd name="adj" fmla="val 25000"/>
            </a:avLst>
          </a:prstGeom>
          <a:solidFill>
            <a:srgbClr val="EAF4F4"/>
          </a:solidFill>
          <a:ln/>
        </p:spPr>
        <p:txBody>
          <a:bodyPr wrap="none" rtlCol="0" anchor="t"/>
          <a:lstStyle/>
          <a:p>
            <a:pPr marL="0" indent="0">
              <a:buNone/>
            </a:pPr>
            <a:endParaRPr lang="en-US" dirty="0"/>
          </a:p>
        </p:txBody>
      </p:sp>
      <p:pic>
        <p:nvPicPr>
          <p:cNvPr id="48"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92397" y="2636127"/>
            <a:ext cx="132588" cy="132588"/>
          </a:xfrm>
          <a:prstGeom prst="rect">
            <a:avLst/>
          </a:prstGeom>
        </p:spPr>
      </p:pic>
      <p:sp>
        <p:nvSpPr>
          <p:cNvPr id="49" name="Text 40"/>
          <p:cNvSpPr/>
          <p:nvPr/>
        </p:nvSpPr>
        <p:spPr>
          <a:xfrm>
            <a:off x="3073301" y="2580531"/>
            <a:ext cx="6331357"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Start Eleos at the intake</a:t>
            </a:r>
            <a:endParaRPr lang="en-US" sz="840" dirty="0"/>
          </a:p>
        </p:txBody>
      </p:sp>
      <p:sp>
        <p:nvSpPr>
          <p:cNvPr id="50" name="Text 41"/>
          <p:cNvSpPr/>
          <p:nvPr/>
        </p:nvSpPr>
        <p:spPr>
          <a:xfrm>
            <a:off x="3073301" y="2733080"/>
            <a:ext cx="5870894"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Your intake is a clinical session. Start Eleos before your first clinical question. It captures the session, reduces your documentation burden, and lets you be fully present with the client and family.</a:t>
            </a:r>
            <a:endParaRPr lang="en-US" sz="760" dirty="0"/>
          </a:p>
        </p:txBody>
      </p:sp>
      <p:sp>
        <p:nvSpPr>
          <p:cNvPr id="51" name="Text 42"/>
          <p:cNvSpPr/>
          <p:nvPr/>
        </p:nvSpPr>
        <p:spPr>
          <a:xfrm>
            <a:off x="2744391" y="3187750"/>
            <a:ext cx="228600" cy="228600"/>
          </a:xfrm>
          <a:prstGeom prst="roundRect">
            <a:avLst>
              <a:gd name="adj" fmla="val 25000"/>
            </a:avLst>
          </a:prstGeom>
          <a:solidFill>
            <a:srgbClr val="EAF4F4"/>
          </a:solidFill>
          <a:ln/>
        </p:spPr>
        <p:txBody>
          <a:bodyPr wrap="none" rtlCol="0" anchor="t"/>
          <a:lstStyle/>
          <a:p>
            <a:pPr marL="0" indent="0">
              <a:buNone/>
            </a:pPr>
            <a:endParaRPr lang="en-US" dirty="0"/>
          </a:p>
        </p:txBody>
      </p:sp>
      <p:pic>
        <p:nvPicPr>
          <p:cNvPr id="52"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92397" y="3235756"/>
            <a:ext cx="132588" cy="132588"/>
          </a:xfrm>
          <a:prstGeom prst="rect">
            <a:avLst/>
          </a:prstGeom>
        </p:spPr>
      </p:pic>
      <p:sp>
        <p:nvSpPr>
          <p:cNvPr id="53" name="Text 43"/>
          <p:cNvSpPr/>
          <p:nvPr/>
        </p:nvSpPr>
        <p:spPr>
          <a:xfrm>
            <a:off x="3073301" y="3180159"/>
            <a:ext cx="6331357"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Confirm the next appointment before the client leaves</a:t>
            </a:r>
            <a:endParaRPr lang="en-US" sz="840" dirty="0"/>
          </a:p>
        </p:txBody>
      </p:sp>
      <p:sp>
        <p:nvSpPr>
          <p:cNvPr id="54" name="Text 44"/>
          <p:cNvSpPr/>
          <p:nvPr/>
        </p:nvSpPr>
        <p:spPr>
          <a:xfrm>
            <a:off x="3073301" y="3332708"/>
            <a:ext cx="5870894" cy="294099"/>
          </a:xfrm>
          <a:prstGeom prst="rect">
            <a:avLst/>
          </a:prstGeom>
          <a:noFill/>
          <a:ln/>
        </p:spPr>
        <p:txBody>
          <a:bodyPr wrap="square" lIns="0" tIns="0" rIns="0" bIns="0" rtlCol="0" anchor="t"/>
          <a:lstStyle/>
          <a:p>
            <a:pPr marL="0" indent="0" algn="l">
              <a:lnSpc>
                <a:spcPts val="1102"/>
              </a:lnSpc>
              <a:buNone/>
            </a:pPr>
            <a:r>
              <a:rPr lang="en-US" sz="760" dirty="0">
                <a:solidFill>
                  <a:srgbClr val="2C2C2C"/>
                </a:solidFill>
                <a:latin typeface="Calibri" pitchFamily="34" charset="0"/>
                <a:ea typeface="Calibri" pitchFamily="34" charset="-122"/>
                <a:cs typeface="Calibri" pitchFamily="34" charset="-120"/>
              </a:rPr>
              <a:t>Whether it is the intake or any subsequent session — confirm the next appointment before they walk out. This one habit prevents more gaps than almost anything else.</a:t>
            </a:r>
            <a:endParaRPr lang="en-US" sz="760" dirty="0"/>
          </a:p>
        </p:txBody>
      </p:sp>
      <p:sp>
        <p:nvSpPr>
          <p:cNvPr id="55" name="Text 45"/>
          <p:cNvSpPr/>
          <p:nvPr/>
        </p:nvSpPr>
        <p:spPr>
          <a:xfrm>
            <a:off x="2429470" y="4835723"/>
            <a:ext cx="6848820" cy="307777"/>
          </a:xfrm>
          <a:prstGeom prst="rect">
            <a:avLst/>
          </a:prstGeom>
          <a:solidFill>
            <a:srgbClr val="FAB753"/>
          </a:solidFill>
          <a:ln/>
        </p:spPr>
        <p:txBody>
          <a:bodyPr wrap="none" lIns="314960" tIns="86360" rIns="314960" bIns="86360" rtlCol="0" anchor="t"/>
          <a:lstStyle/>
          <a:p>
            <a:pPr marL="0" indent="0" algn="l">
              <a:buNone/>
            </a:pPr>
            <a:r>
              <a:rPr lang="en-US" sz="760" b="1" dirty="0">
                <a:solidFill>
                  <a:srgbClr val="1A1A1A"/>
                </a:solidFill>
                <a:latin typeface="Calibri" pitchFamily="34" charset="0"/>
                <a:ea typeface="Calibri" pitchFamily="34" charset="-122"/>
                <a:cs typeface="Calibri" pitchFamily="34" charset="-120"/>
              </a:rPr>
              <a:t>A complete chart, a scheduled intake, and Eleos running — that is how you start strong.</a:t>
            </a:r>
            <a:endParaRPr lang="en-US" sz="760" dirty="0"/>
          </a:p>
        </p:txBody>
      </p:sp>
      <p:sp>
        <p:nvSpPr>
          <p:cNvPr id="56" name="Text 46"/>
          <p:cNvSpPr/>
          <p:nvPr/>
        </p:nvSpPr>
        <p:spPr>
          <a:xfrm>
            <a:off x="1286466" y="4000500"/>
            <a:ext cx="1572216" cy="1143000"/>
          </a:xfrm>
          <a:prstGeom prst="ellipse">
            <a:avLst/>
          </a:prstGeom>
          <a:solidFill>
            <a:srgbClr val="FFFFFF">
              <a:alpha val="4000"/>
            </a:srgbClr>
          </a:solidFill>
          <a:ln/>
        </p:spPr>
        <p:txBody>
          <a:bodyPr wrap="square" rtlCol="0" anchor="t"/>
          <a:lstStyle/>
          <a:p>
            <a:pPr marL="0" indent="0">
              <a:buNone/>
            </a:pPr>
            <a:endParaRPr lang="en-US" dirty="0"/>
          </a:p>
        </p:txBody>
      </p:sp>
      <p:sp>
        <p:nvSpPr>
          <p:cNvPr id="57" name="Text 47"/>
          <p:cNvSpPr/>
          <p:nvPr/>
        </p:nvSpPr>
        <p:spPr>
          <a:xfrm>
            <a:off x="0" y="0"/>
            <a:ext cx="857250" cy="857250"/>
          </a:xfrm>
          <a:prstGeom prst="ellipse">
            <a:avLst/>
          </a:prstGeom>
          <a:solidFill>
            <a:srgbClr val="FFFFFF">
              <a:alpha val="3000"/>
            </a:srgbClr>
          </a:solidFill>
          <a:ln/>
        </p:spPr>
        <p:txBody>
          <a:bodyPr wrap="square" rtlCol="0" anchor="t"/>
          <a:lstStyle/>
          <a:p>
            <a:pPr marL="0" indent="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4295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42900" y="150763"/>
            <a:ext cx="9050274" cy="240655"/>
          </a:xfrm>
          <a:prstGeom prst="rect">
            <a:avLst/>
          </a:prstGeom>
          <a:noFill/>
          <a:ln/>
        </p:spPr>
        <p:txBody>
          <a:bodyPr wrap="none" lIns="0" tIns="0" rIns="0" bIns="0" rtlCol="0" anchor="t"/>
          <a:lstStyle/>
          <a:p>
            <a:pPr marL="0" indent="0" algn="l">
              <a:lnSpc>
                <a:spcPts val="1896"/>
              </a:lnSpc>
              <a:buNone/>
            </a:pPr>
            <a:r>
              <a:rPr lang="en-US" sz="1580" b="1" kern="0" spc="16" dirty="0">
                <a:solidFill>
                  <a:srgbClr val="FFFFFF"/>
                </a:solidFill>
                <a:latin typeface="Calibri" pitchFamily="34" charset="0"/>
                <a:ea typeface="Calibri" pitchFamily="34" charset="-122"/>
                <a:cs typeface="Calibri" pitchFamily="34" charset="-120"/>
              </a:rPr>
              <a:t>Homework — Practice Makes Permanent</a:t>
            </a:r>
            <a:endParaRPr lang="en-US" sz="1580" dirty="0"/>
          </a:p>
        </p:txBody>
      </p:sp>
      <p:sp>
        <p:nvSpPr>
          <p:cNvPr id="4" name="Text 2"/>
          <p:cNvSpPr/>
          <p:nvPr/>
        </p:nvSpPr>
        <p:spPr>
          <a:xfrm>
            <a:off x="342900" y="420588"/>
            <a:ext cx="9304020" cy="171450"/>
          </a:xfrm>
          <a:prstGeom prst="rect">
            <a:avLst/>
          </a:prstGeom>
          <a:noFill/>
          <a:ln/>
        </p:spPr>
        <p:txBody>
          <a:bodyPr wrap="none" lIns="0" tIns="0" rIns="0" bIns="0" rtlCol="0" anchor="t"/>
          <a:lstStyle/>
          <a:p>
            <a:pPr marL="0" indent="0" algn="l">
              <a:lnSpc>
                <a:spcPts val="1350"/>
              </a:lnSpc>
              <a:buNone/>
            </a:pPr>
            <a:r>
              <a:rPr lang="en-US" sz="900" kern="0" spc="18" dirty="0">
                <a:solidFill>
                  <a:srgbClr val="FAB753"/>
                </a:solidFill>
                <a:latin typeface="Calibri Light" pitchFamily="34" charset="0"/>
                <a:ea typeface="Calibri Light" pitchFamily="34" charset="-122"/>
                <a:cs typeface="Calibri Light" pitchFamily="34" charset="-120"/>
              </a:rPr>
              <a:t>Complete all three steps in Avatar: TN NX UAT before your next training session.</a:t>
            </a:r>
            <a:endParaRPr lang="en-US" sz="900" dirty="0"/>
          </a:p>
        </p:txBody>
      </p:sp>
      <p:sp>
        <p:nvSpPr>
          <p:cNvPr id="5" name="Text 3"/>
          <p:cNvSpPr/>
          <p:nvPr/>
        </p:nvSpPr>
        <p:spPr>
          <a:xfrm>
            <a:off x="342900" y="943570"/>
            <a:ext cx="2705100" cy="2280940"/>
          </a:xfrm>
          <a:prstGeom prst="roundRect">
            <a:avLst>
              <a:gd name="adj" fmla="val 3118"/>
            </a:avLst>
          </a:prstGeom>
          <a:solidFill>
            <a:srgbClr val="EAF4F4"/>
          </a:solidFill>
          <a:ln/>
        </p:spPr>
        <p:txBody>
          <a:bodyPr wrap="square" rtlCol="0" anchor="t"/>
          <a:lstStyle/>
          <a:p>
            <a:pPr marL="0" indent="0">
              <a:buNone/>
            </a:pPr>
            <a:endParaRPr lang="en-US" dirty="0"/>
          </a:p>
        </p:txBody>
      </p:sp>
      <p:sp>
        <p:nvSpPr>
          <p:cNvPr id="6" name="Text 4"/>
          <p:cNvSpPr/>
          <p:nvPr/>
        </p:nvSpPr>
        <p:spPr>
          <a:xfrm>
            <a:off x="342900" y="943570"/>
            <a:ext cx="2705100" cy="28575"/>
          </a:xfrm>
          <a:custGeom>
            <a:avLst/>
            <a:gdLst/>
            <a:ahLst/>
            <a:cxnLst/>
            <a:rect l="l" t="t" r="r" b="b"/>
            <a:pathLst>
              <a:path w="2705100"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90971" y="28575"/>
                </a:lnTo>
                <a:lnTo>
                  <a:pt x="2688121" y="25003"/>
                </a:lnTo>
                <a:lnTo>
                  <a:pt x="2684863" y="21431"/>
                </a:lnTo>
                <a:lnTo>
                  <a:pt x="2681111" y="17859"/>
                </a:lnTo>
                <a:lnTo>
                  <a:pt x="2676737" y="14288"/>
                </a:lnTo>
                <a:lnTo>
                  <a:pt x="2671521" y="10716"/>
                </a:lnTo>
                <a:lnTo>
                  <a:pt x="2665046" y="7144"/>
                </a:lnTo>
                <a:lnTo>
                  <a:pt x="2656235" y="3572"/>
                </a:lnTo>
                <a:lnTo>
                  <a:pt x="2633980" y="0"/>
                </a:lnTo>
                <a:close/>
              </a:path>
            </a:pathLst>
          </a:custGeom>
          <a:solidFill>
            <a:srgbClr val="FAB753"/>
          </a:solidFill>
          <a:ln/>
        </p:spPr>
        <p:txBody>
          <a:bodyPr wrap="none" rtlCol="0" anchor="t"/>
          <a:lstStyle/>
          <a:p>
            <a:pPr marL="0" indent="0">
              <a:buNone/>
            </a:pPr>
            <a:endParaRPr lang="en-US" dirty="0"/>
          </a:p>
        </p:txBody>
      </p:sp>
      <p:sp>
        <p:nvSpPr>
          <p:cNvPr id="7" name="Text 5"/>
          <p:cNvSpPr/>
          <p:nvPr/>
        </p:nvSpPr>
        <p:spPr>
          <a:xfrm>
            <a:off x="2476798" y="1100286"/>
            <a:ext cx="434429" cy="372070"/>
          </a:xfrm>
          <a:prstGeom prst="rect">
            <a:avLst/>
          </a:prstGeom>
          <a:noFill/>
          <a:ln/>
        </p:spPr>
        <p:txBody>
          <a:bodyPr wrap="none" lIns="0" tIns="0" rIns="0" bIns="0" rtlCol="0" anchor="ctr"/>
          <a:lstStyle/>
          <a:p>
            <a:pPr marL="0" indent="0" algn="l">
              <a:lnSpc>
                <a:spcPts val="2930"/>
              </a:lnSpc>
              <a:buNone/>
            </a:pPr>
            <a:r>
              <a:rPr lang="en-US" sz="2930" dirty="0">
                <a:solidFill>
                  <a:srgbClr val="1B5E72">
                    <a:alpha val="10000"/>
                  </a:srgbClr>
                </a:solidFill>
                <a:latin typeface="Calibri Light" pitchFamily="34" charset="0"/>
                <a:ea typeface="Calibri Light" pitchFamily="34" charset="-122"/>
                <a:cs typeface="Calibri Light" pitchFamily="34" charset="-120"/>
              </a:rPr>
              <a:t>01</a:t>
            </a:r>
            <a:endParaRPr lang="en-US" sz="2930" dirty="0"/>
          </a:p>
        </p:txBody>
      </p:sp>
      <p:sp>
        <p:nvSpPr>
          <p:cNvPr id="8" name="Text 6"/>
          <p:cNvSpPr/>
          <p:nvPr/>
        </p:nvSpPr>
        <p:spPr>
          <a:xfrm>
            <a:off x="543520" y="1172766"/>
            <a:ext cx="372070" cy="372070"/>
          </a:xfrm>
          <a:prstGeom prst="ellipse">
            <a:avLst/>
          </a:prstGeom>
          <a:solidFill>
            <a:srgbClr val="1B5E72"/>
          </a:solidFill>
          <a:ln/>
        </p:spPr>
        <p:txBody>
          <a:bodyPr wrap="square" rtlCol="0" anchor="t"/>
          <a:lstStyle/>
          <a:p>
            <a:pPr marL="0" indent="0">
              <a:buNone/>
            </a:pPr>
            <a:endParaRPr lang="en-US"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053" y="1289298"/>
            <a:ext cx="139005" cy="139005"/>
          </a:xfrm>
          <a:prstGeom prst="rect">
            <a:avLst/>
          </a:prstGeom>
        </p:spPr>
      </p:pic>
      <p:sp>
        <p:nvSpPr>
          <p:cNvPr id="10" name="Text 7"/>
          <p:cNvSpPr/>
          <p:nvPr/>
        </p:nvSpPr>
        <p:spPr>
          <a:xfrm>
            <a:off x="543520" y="1659136"/>
            <a:ext cx="2534245"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STEP 1</a:t>
            </a:r>
            <a:endParaRPr lang="en-US" sz="620" dirty="0"/>
          </a:p>
        </p:txBody>
      </p:sp>
      <p:sp>
        <p:nvSpPr>
          <p:cNvPr id="11" name="Text 8"/>
          <p:cNvSpPr/>
          <p:nvPr/>
        </p:nvSpPr>
        <p:spPr>
          <a:xfrm>
            <a:off x="543520" y="1806327"/>
            <a:ext cx="2534245" cy="160288"/>
          </a:xfrm>
          <a:prstGeom prst="rect">
            <a:avLst/>
          </a:prstGeom>
          <a:noFill/>
          <a:ln/>
        </p:spPr>
        <p:txBody>
          <a:bodyPr wrap="none" lIns="0" tIns="0" rIns="0" bIns="0" rtlCol="0" anchor="t"/>
          <a:lstStyle/>
          <a:p>
            <a:pPr marL="0" indent="0" algn="l">
              <a:lnSpc>
                <a:spcPts val="1262"/>
              </a:lnSpc>
              <a:buNone/>
            </a:pPr>
            <a:r>
              <a:rPr lang="en-US" sz="1010" b="1" dirty="0">
                <a:solidFill>
                  <a:srgbClr val="1B5E72"/>
                </a:solidFill>
                <a:latin typeface="Calibri" pitchFamily="34" charset="0"/>
                <a:ea typeface="Calibri" pitchFamily="34" charset="-122"/>
                <a:cs typeface="Calibri" pitchFamily="34" charset="-120"/>
              </a:rPr>
              <a:t>Open a New Chart</a:t>
            </a:r>
            <a:endParaRPr lang="en-US" sz="1010" dirty="0"/>
          </a:p>
        </p:txBody>
      </p:sp>
      <p:sp>
        <p:nvSpPr>
          <p:cNvPr id="12" name="Text 9"/>
          <p:cNvSpPr/>
          <p:nvPr/>
        </p:nvSpPr>
        <p:spPr>
          <a:xfrm>
            <a:off x="543520" y="2052935"/>
            <a:ext cx="2349937" cy="700088"/>
          </a:xfrm>
          <a:prstGeom prst="rect">
            <a:avLst/>
          </a:prstGeom>
          <a:noFill/>
          <a:ln/>
        </p:spPr>
        <p:txBody>
          <a:bodyPr wrap="square" lIns="0" tIns="0" rIns="0" bIns="0" rtlCol="0" anchor="t"/>
          <a:lstStyle/>
          <a:p>
            <a:pPr marL="0" indent="0" algn="l">
              <a:lnSpc>
                <a:spcPts val="1312"/>
              </a:lnSpc>
              <a:buNone/>
            </a:pPr>
            <a:r>
              <a:rPr lang="en-US" sz="820" dirty="0">
                <a:solidFill>
                  <a:srgbClr val="2C2C2C"/>
                </a:solidFill>
                <a:latin typeface="Calibri" pitchFamily="34" charset="0"/>
                <a:ea typeface="Calibri" pitchFamily="34" charset="-122"/>
                <a:cs typeface="Calibri" pitchFamily="34" charset="-120"/>
              </a:rPr>
              <a:t>Use the attached practice referral form to create a new client chart in UAT using the Admission Bundle. Complete every form in the correct order. Practice the search step first — even in UAT.</a:t>
            </a:r>
            <a:endParaRPr lang="en-US" sz="820" dirty="0"/>
          </a:p>
        </p:txBody>
      </p:sp>
      <p:sp>
        <p:nvSpPr>
          <p:cNvPr id="13" name="Text 10"/>
          <p:cNvSpPr/>
          <p:nvPr/>
        </p:nvSpPr>
        <p:spPr>
          <a:xfrm>
            <a:off x="3219450" y="943570"/>
            <a:ext cx="2705100" cy="2280940"/>
          </a:xfrm>
          <a:prstGeom prst="roundRect">
            <a:avLst>
              <a:gd name="adj" fmla="val 3118"/>
            </a:avLst>
          </a:prstGeom>
          <a:solidFill>
            <a:srgbClr val="EAF4F4"/>
          </a:solidFill>
          <a:ln/>
        </p:spPr>
        <p:txBody>
          <a:bodyPr wrap="square" rtlCol="0" anchor="t"/>
          <a:lstStyle/>
          <a:p>
            <a:pPr marL="0" indent="0">
              <a:buNone/>
            </a:pPr>
            <a:endParaRPr lang="en-US" dirty="0"/>
          </a:p>
        </p:txBody>
      </p:sp>
      <p:sp>
        <p:nvSpPr>
          <p:cNvPr id="14" name="Text 11"/>
          <p:cNvSpPr/>
          <p:nvPr/>
        </p:nvSpPr>
        <p:spPr>
          <a:xfrm>
            <a:off x="3219450" y="943570"/>
            <a:ext cx="2705100" cy="28575"/>
          </a:xfrm>
          <a:custGeom>
            <a:avLst/>
            <a:gdLst/>
            <a:ahLst/>
            <a:cxnLst/>
            <a:rect l="l" t="t" r="r" b="b"/>
            <a:pathLst>
              <a:path w="2705100"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90971" y="28575"/>
                </a:lnTo>
                <a:lnTo>
                  <a:pt x="2688121" y="25003"/>
                </a:lnTo>
                <a:lnTo>
                  <a:pt x="2684863" y="21431"/>
                </a:lnTo>
                <a:lnTo>
                  <a:pt x="2681111" y="17859"/>
                </a:lnTo>
                <a:lnTo>
                  <a:pt x="2676737" y="14288"/>
                </a:lnTo>
                <a:lnTo>
                  <a:pt x="2671521" y="10716"/>
                </a:lnTo>
                <a:lnTo>
                  <a:pt x="2665046" y="7144"/>
                </a:lnTo>
                <a:lnTo>
                  <a:pt x="2656235" y="3572"/>
                </a:lnTo>
                <a:lnTo>
                  <a:pt x="2633980" y="0"/>
                </a:lnTo>
                <a:close/>
              </a:path>
            </a:pathLst>
          </a:custGeom>
          <a:solidFill>
            <a:srgbClr val="FAB753"/>
          </a:solidFill>
          <a:ln/>
        </p:spPr>
        <p:txBody>
          <a:bodyPr wrap="none" rtlCol="0" anchor="t"/>
          <a:lstStyle/>
          <a:p>
            <a:pPr marL="0" indent="0">
              <a:buNone/>
            </a:pPr>
            <a:endParaRPr lang="en-US" dirty="0"/>
          </a:p>
        </p:txBody>
      </p:sp>
      <p:sp>
        <p:nvSpPr>
          <p:cNvPr id="15" name="Text 12"/>
          <p:cNvSpPr/>
          <p:nvPr/>
        </p:nvSpPr>
        <p:spPr>
          <a:xfrm>
            <a:off x="5353348" y="1100286"/>
            <a:ext cx="434429" cy="372070"/>
          </a:xfrm>
          <a:prstGeom prst="rect">
            <a:avLst/>
          </a:prstGeom>
          <a:noFill/>
          <a:ln/>
        </p:spPr>
        <p:txBody>
          <a:bodyPr wrap="none" lIns="0" tIns="0" rIns="0" bIns="0" rtlCol="0" anchor="ctr"/>
          <a:lstStyle/>
          <a:p>
            <a:pPr marL="0" indent="0" algn="l">
              <a:lnSpc>
                <a:spcPts val="2930"/>
              </a:lnSpc>
              <a:buNone/>
            </a:pPr>
            <a:r>
              <a:rPr lang="en-US" sz="2930" dirty="0">
                <a:solidFill>
                  <a:srgbClr val="1B5E72">
                    <a:alpha val="10000"/>
                  </a:srgbClr>
                </a:solidFill>
                <a:latin typeface="Calibri Light" pitchFamily="34" charset="0"/>
                <a:ea typeface="Calibri Light" pitchFamily="34" charset="-122"/>
                <a:cs typeface="Calibri Light" pitchFamily="34" charset="-120"/>
              </a:rPr>
              <a:t>02</a:t>
            </a:r>
            <a:endParaRPr lang="en-US" sz="2930" dirty="0"/>
          </a:p>
        </p:txBody>
      </p:sp>
      <p:sp>
        <p:nvSpPr>
          <p:cNvPr id="16" name="Text 13"/>
          <p:cNvSpPr/>
          <p:nvPr/>
        </p:nvSpPr>
        <p:spPr>
          <a:xfrm>
            <a:off x="3420070" y="1172766"/>
            <a:ext cx="372070" cy="372070"/>
          </a:xfrm>
          <a:prstGeom prst="ellipse">
            <a:avLst/>
          </a:prstGeom>
          <a:solidFill>
            <a:srgbClr val="1B5E72"/>
          </a:solidFill>
          <a:ln/>
        </p:spPr>
        <p:txBody>
          <a:bodyPr wrap="square" rtlCol="0" anchor="t"/>
          <a:lstStyle/>
          <a:p>
            <a:pPr marL="0" indent="0">
              <a:buNone/>
            </a:pPr>
            <a:endParaRPr lang="en-US"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6603" y="1289298"/>
            <a:ext cx="139005" cy="139005"/>
          </a:xfrm>
          <a:prstGeom prst="rect">
            <a:avLst/>
          </a:prstGeom>
        </p:spPr>
      </p:pic>
      <p:sp>
        <p:nvSpPr>
          <p:cNvPr id="18" name="Text 14"/>
          <p:cNvSpPr/>
          <p:nvPr/>
        </p:nvSpPr>
        <p:spPr>
          <a:xfrm>
            <a:off x="3420070" y="1659136"/>
            <a:ext cx="2534245"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STEP 2</a:t>
            </a:r>
            <a:endParaRPr lang="en-US" sz="620" dirty="0"/>
          </a:p>
        </p:txBody>
      </p:sp>
      <p:sp>
        <p:nvSpPr>
          <p:cNvPr id="19" name="Text 15"/>
          <p:cNvSpPr/>
          <p:nvPr/>
        </p:nvSpPr>
        <p:spPr>
          <a:xfrm>
            <a:off x="3420070" y="1806327"/>
            <a:ext cx="2534245" cy="160288"/>
          </a:xfrm>
          <a:prstGeom prst="rect">
            <a:avLst/>
          </a:prstGeom>
          <a:noFill/>
          <a:ln/>
        </p:spPr>
        <p:txBody>
          <a:bodyPr wrap="none" lIns="0" tIns="0" rIns="0" bIns="0" rtlCol="0" anchor="t"/>
          <a:lstStyle/>
          <a:p>
            <a:pPr marL="0" indent="0" algn="l">
              <a:lnSpc>
                <a:spcPts val="1262"/>
              </a:lnSpc>
              <a:buNone/>
            </a:pPr>
            <a:r>
              <a:rPr lang="en-US" sz="1010" b="1" dirty="0">
                <a:solidFill>
                  <a:srgbClr val="1B5E72"/>
                </a:solidFill>
                <a:latin typeface="Calibri" pitchFamily="34" charset="0"/>
                <a:ea typeface="Calibri" pitchFamily="34" charset="-122"/>
                <a:cs typeface="Calibri" pitchFamily="34" charset="-120"/>
              </a:rPr>
              <a:t>Practice the Paperwork</a:t>
            </a:r>
            <a:endParaRPr lang="en-US" sz="1010" dirty="0"/>
          </a:p>
        </p:txBody>
      </p:sp>
      <p:sp>
        <p:nvSpPr>
          <p:cNvPr id="20" name="Text 16"/>
          <p:cNvSpPr/>
          <p:nvPr/>
        </p:nvSpPr>
        <p:spPr>
          <a:xfrm>
            <a:off x="3420070" y="2052935"/>
            <a:ext cx="2349937" cy="1050131"/>
          </a:xfrm>
          <a:prstGeom prst="rect">
            <a:avLst/>
          </a:prstGeom>
          <a:noFill/>
          <a:ln/>
        </p:spPr>
        <p:txBody>
          <a:bodyPr wrap="square" lIns="0" tIns="0" rIns="0" bIns="0" rtlCol="0" anchor="t"/>
          <a:lstStyle/>
          <a:p>
            <a:pPr marL="0" indent="0" algn="l">
              <a:lnSpc>
                <a:spcPts val="1312"/>
              </a:lnSpc>
              <a:buNone/>
            </a:pPr>
            <a:r>
              <a:rPr lang="en-US" sz="820" dirty="0">
                <a:solidFill>
                  <a:srgbClr val="2C2C2C"/>
                </a:solidFill>
                <a:latin typeface="Calibri" pitchFamily="34" charset="0"/>
                <a:ea typeface="Calibri" pitchFamily="34" charset="-122"/>
                <a:cs typeface="Calibri" pitchFamily="34" charset="-120"/>
              </a:rPr>
              <a:t>Go through each form in the intake paperwork process in UAT. As you complete each one, practice how you would explain it to a parent or guardian in plain language. Consider: what questions might they ask? How would you answer?</a:t>
            </a:r>
            <a:endParaRPr lang="en-US" sz="820" dirty="0"/>
          </a:p>
        </p:txBody>
      </p:sp>
      <p:sp>
        <p:nvSpPr>
          <p:cNvPr id="21" name="Text 17"/>
          <p:cNvSpPr/>
          <p:nvPr/>
        </p:nvSpPr>
        <p:spPr>
          <a:xfrm>
            <a:off x="6096000" y="943570"/>
            <a:ext cx="2705100" cy="2280940"/>
          </a:xfrm>
          <a:prstGeom prst="roundRect">
            <a:avLst>
              <a:gd name="adj" fmla="val 3118"/>
            </a:avLst>
          </a:prstGeom>
          <a:solidFill>
            <a:srgbClr val="EAF4F4"/>
          </a:solidFill>
          <a:ln/>
        </p:spPr>
        <p:txBody>
          <a:bodyPr wrap="square" rtlCol="0" anchor="t"/>
          <a:lstStyle/>
          <a:p>
            <a:pPr marL="0" indent="0">
              <a:buNone/>
            </a:pPr>
            <a:endParaRPr lang="en-US" dirty="0"/>
          </a:p>
        </p:txBody>
      </p:sp>
      <p:sp>
        <p:nvSpPr>
          <p:cNvPr id="22" name="Text 18"/>
          <p:cNvSpPr/>
          <p:nvPr/>
        </p:nvSpPr>
        <p:spPr>
          <a:xfrm>
            <a:off x="6096000" y="943570"/>
            <a:ext cx="2705100" cy="28575"/>
          </a:xfrm>
          <a:custGeom>
            <a:avLst/>
            <a:gdLst/>
            <a:ahLst/>
            <a:cxnLst/>
            <a:rect l="l" t="t" r="r" b="b"/>
            <a:pathLst>
              <a:path w="2705100"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90971" y="28575"/>
                </a:lnTo>
                <a:lnTo>
                  <a:pt x="2688121" y="25003"/>
                </a:lnTo>
                <a:lnTo>
                  <a:pt x="2684863" y="21431"/>
                </a:lnTo>
                <a:lnTo>
                  <a:pt x="2681111" y="17859"/>
                </a:lnTo>
                <a:lnTo>
                  <a:pt x="2676737" y="14288"/>
                </a:lnTo>
                <a:lnTo>
                  <a:pt x="2671521" y="10716"/>
                </a:lnTo>
                <a:lnTo>
                  <a:pt x="2665046" y="7144"/>
                </a:lnTo>
                <a:lnTo>
                  <a:pt x="2656235" y="3572"/>
                </a:lnTo>
                <a:lnTo>
                  <a:pt x="2633980" y="0"/>
                </a:lnTo>
                <a:close/>
              </a:path>
            </a:pathLst>
          </a:custGeom>
          <a:solidFill>
            <a:srgbClr val="FAB753"/>
          </a:solidFill>
          <a:ln/>
        </p:spPr>
        <p:txBody>
          <a:bodyPr wrap="none" rtlCol="0" anchor="t"/>
          <a:lstStyle/>
          <a:p>
            <a:pPr marL="0" indent="0">
              <a:buNone/>
            </a:pPr>
            <a:endParaRPr lang="en-US" dirty="0"/>
          </a:p>
        </p:txBody>
      </p:sp>
      <p:sp>
        <p:nvSpPr>
          <p:cNvPr id="23" name="Text 19"/>
          <p:cNvSpPr/>
          <p:nvPr/>
        </p:nvSpPr>
        <p:spPr>
          <a:xfrm>
            <a:off x="8229898" y="1100286"/>
            <a:ext cx="434429" cy="372070"/>
          </a:xfrm>
          <a:prstGeom prst="rect">
            <a:avLst/>
          </a:prstGeom>
          <a:noFill/>
          <a:ln/>
        </p:spPr>
        <p:txBody>
          <a:bodyPr wrap="none" lIns="0" tIns="0" rIns="0" bIns="0" rtlCol="0" anchor="ctr"/>
          <a:lstStyle/>
          <a:p>
            <a:pPr marL="0" indent="0" algn="l">
              <a:lnSpc>
                <a:spcPts val="2930"/>
              </a:lnSpc>
              <a:buNone/>
            </a:pPr>
            <a:r>
              <a:rPr lang="en-US" sz="2930" dirty="0">
                <a:solidFill>
                  <a:srgbClr val="1B5E72">
                    <a:alpha val="10000"/>
                  </a:srgbClr>
                </a:solidFill>
                <a:latin typeface="Calibri Light" pitchFamily="34" charset="0"/>
                <a:ea typeface="Calibri Light" pitchFamily="34" charset="-122"/>
                <a:cs typeface="Calibri Light" pitchFamily="34" charset="-120"/>
              </a:rPr>
              <a:t>03</a:t>
            </a:r>
            <a:endParaRPr lang="en-US" sz="2930" dirty="0"/>
          </a:p>
        </p:txBody>
      </p:sp>
      <p:sp>
        <p:nvSpPr>
          <p:cNvPr id="24" name="Text 20"/>
          <p:cNvSpPr/>
          <p:nvPr/>
        </p:nvSpPr>
        <p:spPr>
          <a:xfrm>
            <a:off x="6296620" y="1172766"/>
            <a:ext cx="372070" cy="372070"/>
          </a:xfrm>
          <a:prstGeom prst="ellipse">
            <a:avLst/>
          </a:prstGeom>
          <a:solidFill>
            <a:srgbClr val="1B5E72"/>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3153" y="1289298"/>
            <a:ext cx="139005" cy="139005"/>
          </a:xfrm>
          <a:prstGeom prst="rect">
            <a:avLst/>
          </a:prstGeom>
        </p:spPr>
      </p:pic>
      <p:sp>
        <p:nvSpPr>
          <p:cNvPr id="26" name="Text 21"/>
          <p:cNvSpPr/>
          <p:nvPr/>
        </p:nvSpPr>
        <p:spPr>
          <a:xfrm>
            <a:off x="6296620" y="1659136"/>
            <a:ext cx="2534245"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STEP 3</a:t>
            </a:r>
            <a:endParaRPr lang="en-US" sz="620" dirty="0"/>
          </a:p>
        </p:txBody>
      </p:sp>
      <p:sp>
        <p:nvSpPr>
          <p:cNvPr id="27" name="Text 22"/>
          <p:cNvSpPr/>
          <p:nvPr/>
        </p:nvSpPr>
        <p:spPr>
          <a:xfrm>
            <a:off x="6296620" y="1806327"/>
            <a:ext cx="2534245" cy="160288"/>
          </a:xfrm>
          <a:prstGeom prst="rect">
            <a:avLst/>
          </a:prstGeom>
          <a:noFill/>
          <a:ln/>
        </p:spPr>
        <p:txBody>
          <a:bodyPr wrap="none" lIns="0" tIns="0" rIns="0" bIns="0" rtlCol="0" anchor="t"/>
          <a:lstStyle/>
          <a:p>
            <a:pPr marL="0" indent="0" algn="l">
              <a:lnSpc>
                <a:spcPts val="1262"/>
              </a:lnSpc>
              <a:buNone/>
            </a:pPr>
            <a:r>
              <a:rPr lang="en-US" sz="1010" b="1" dirty="0">
                <a:solidFill>
                  <a:srgbClr val="1B5E72"/>
                </a:solidFill>
                <a:latin typeface="Calibri" pitchFamily="34" charset="0"/>
                <a:ea typeface="Calibri" pitchFamily="34" charset="-122"/>
                <a:cs typeface="Calibri" pitchFamily="34" charset="-120"/>
              </a:rPr>
              <a:t>Practice Cancellations</a:t>
            </a:r>
            <a:endParaRPr lang="en-US" sz="1010" dirty="0"/>
          </a:p>
        </p:txBody>
      </p:sp>
      <p:sp>
        <p:nvSpPr>
          <p:cNvPr id="28" name="Text 23"/>
          <p:cNvSpPr/>
          <p:nvPr/>
        </p:nvSpPr>
        <p:spPr>
          <a:xfrm>
            <a:off x="6296620" y="2052935"/>
            <a:ext cx="2349937" cy="875109"/>
          </a:xfrm>
          <a:prstGeom prst="rect">
            <a:avLst/>
          </a:prstGeom>
          <a:noFill/>
          <a:ln/>
        </p:spPr>
        <p:txBody>
          <a:bodyPr wrap="square" lIns="0" tIns="0" rIns="0" bIns="0" rtlCol="0" anchor="t"/>
          <a:lstStyle/>
          <a:p>
            <a:pPr marL="0" indent="0" algn="l">
              <a:lnSpc>
                <a:spcPts val="1312"/>
              </a:lnSpc>
              <a:buNone/>
            </a:pPr>
            <a:r>
              <a:rPr lang="en-US" sz="820" dirty="0">
                <a:solidFill>
                  <a:srgbClr val="2C2C2C"/>
                </a:solidFill>
                <a:latin typeface="Calibri" pitchFamily="34" charset="0"/>
                <a:ea typeface="Calibri" pitchFamily="34" charset="-122"/>
                <a:cs typeface="Calibri" pitchFamily="34" charset="-120"/>
              </a:rPr>
              <a:t>Schedule three appointments for your practice client — one today, one two days from now, one after that. Practice all three cancellation types: No Show/Late Cancellation, Cancelled by Client, and Cancelled by Therapist.</a:t>
            </a:r>
            <a:endParaRPr lang="en-US" sz="820" dirty="0"/>
          </a:p>
        </p:txBody>
      </p:sp>
      <p:sp>
        <p:nvSpPr>
          <p:cNvPr id="29" name="Text 24"/>
          <p:cNvSpPr/>
          <p:nvPr/>
        </p:nvSpPr>
        <p:spPr>
          <a:xfrm>
            <a:off x="0" y="4745858"/>
            <a:ext cx="9144000" cy="397642"/>
          </a:xfrm>
          <a:prstGeom prst="rect">
            <a:avLst/>
          </a:prstGeom>
          <a:solidFill>
            <a:srgbClr val="FAB753"/>
          </a:solidFill>
          <a:ln/>
        </p:spPr>
        <p:txBody>
          <a:bodyPr wrap="none" lIns="429260" tIns="0" rIns="429260" bIns="0" rtlCol="0" anchor="ctr"/>
          <a:lstStyle/>
          <a:p>
            <a:pPr marL="0" indent="0" algn="ctr">
              <a:buNone/>
            </a:pPr>
            <a:r>
              <a:rPr lang="en-US" sz="840" b="1" kern="0" spc="8" dirty="0">
                <a:solidFill>
                  <a:srgbClr val="2C2C2C"/>
                </a:solidFill>
                <a:latin typeface="Calibri" pitchFamily="34" charset="0"/>
                <a:ea typeface="Calibri" pitchFamily="34" charset="-122"/>
                <a:cs typeface="Calibri" pitchFamily="34" charset="-120"/>
              </a:rPr>
              <a:t>Come to the next session ready to share one thing that surprised you  and one question you still have. Both are equally valuable.</a:t>
            </a:r>
            <a:endParaRPr lang="en-US" sz="8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AF4F4"/>
        </a:solidFill>
        <a:effectLst/>
      </p:bgPr>
    </p:bg>
    <p:spTree>
      <p:nvGrpSpPr>
        <p:cNvPr id="1" name=""/>
        <p:cNvGrpSpPr/>
        <p:nvPr/>
      </p:nvGrpSpPr>
      <p:grpSpPr>
        <a:xfrm>
          <a:off x="0" y="0"/>
          <a:ext cx="0" cy="0"/>
          <a:chOff x="0" y="0"/>
          <a:chExt cx="0" cy="0"/>
        </a:xfrm>
      </p:grpSpPr>
      <p:sp>
        <p:nvSpPr>
          <p:cNvPr id="2" name="Text 0"/>
          <p:cNvSpPr/>
          <p:nvPr/>
        </p:nvSpPr>
        <p:spPr>
          <a:xfrm>
            <a:off x="6000750" y="0"/>
            <a:ext cx="3143250" cy="2571750"/>
          </a:xfrm>
          <a:prstGeom prst="ellipse">
            <a:avLst/>
          </a:prstGeom>
          <a:noFill/>
          <a:ln w="9525">
            <a:solidFill>
              <a:srgbClr val="FAB753">
                <a:alpha val="8000"/>
              </a:srgbClr>
            </a:solidFill>
          </a:ln>
        </p:spPr>
        <p:txBody>
          <a:bodyPr wrap="square" rtlCol="0" anchor="t"/>
          <a:lstStyle/>
          <a:p>
            <a:pPr marL="0" indent="0">
              <a:buNone/>
            </a:pPr>
            <a:endParaRPr lang="en-US" dirty="0"/>
          </a:p>
        </p:txBody>
      </p:sp>
      <p:sp>
        <p:nvSpPr>
          <p:cNvPr id="3" name="Text 1"/>
          <p:cNvSpPr/>
          <p:nvPr/>
        </p:nvSpPr>
        <p:spPr>
          <a:xfrm>
            <a:off x="6285309" y="0"/>
            <a:ext cx="2429466" cy="2000205"/>
          </a:xfrm>
          <a:prstGeom prst="ellipse">
            <a:avLst/>
          </a:prstGeom>
          <a:noFill/>
          <a:ln w="9525">
            <a:solidFill>
              <a:srgbClr val="FAB753">
                <a:alpha val="6000"/>
              </a:srgbClr>
            </a:solidFill>
          </a:ln>
        </p:spPr>
        <p:txBody>
          <a:bodyPr wrap="square" rtlCol="0" anchor="t"/>
          <a:lstStyle/>
          <a:p>
            <a:pPr marL="0" indent="0">
              <a:buNone/>
            </a:pPr>
            <a:endParaRPr lang="en-US" dirty="0"/>
          </a:p>
        </p:txBody>
      </p:sp>
      <p:sp>
        <p:nvSpPr>
          <p:cNvPr id="4" name="Text 2"/>
          <p:cNvSpPr/>
          <p:nvPr/>
        </p:nvSpPr>
        <p:spPr>
          <a:xfrm>
            <a:off x="0" y="2857500"/>
            <a:ext cx="1428750" cy="2000250"/>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5" name="Text 3"/>
          <p:cNvSpPr/>
          <p:nvPr/>
        </p:nvSpPr>
        <p:spPr>
          <a:xfrm>
            <a:off x="0" y="5121920"/>
            <a:ext cx="9144000" cy="21580"/>
          </a:xfrm>
          <a:prstGeom prst="rect">
            <a:avLst/>
          </a:prstGeom>
          <a:gradFill rotWithShape="1">
            <a:gsLst>
              <a:gs pos="0">
                <a:srgbClr val="FAB753">
                  <a:alpha val="50000"/>
                </a:srgbClr>
              </a:gs>
              <a:gs pos="7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4103950" y="228600"/>
            <a:ext cx="936099" cy="118021"/>
          </a:xfrm>
          <a:prstGeom prst="rect">
            <a:avLst/>
          </a:prstGeom>
          <a:noFill/>
          <a:ln/>
        </p:spPr>
        <p:txBody>
          <a:bodyPr wrap="none" lIns="0" tIns="0" rIns="0" bIns="0" rtlCol="0" anchor="t"/>
          <a:lstStyle/>
          <a:p>
            <a:pPr marL="0" indent="0" algn="ctr">
              <a:lnSpc>
                <a:spcPts val="930"/>
              </a:lnSpc>
              <a:buNone/>
            </a:pPr>
            <a:r>
              <a:rPr lang="en-US" sz="620" b="1" kern="0" spc="112">
                <a:solidFill>
                  <a:srgbClr val="1B5E72"/>
                </a:solidFill>
                <a:latin typeface="Calibri" pitchFamily="34" charset="0"/>
                <a:ea typeface="Calibri" pitchFamily="34" charset="-122"/>
                <a:cs typeface="Calibri" pitchFamily="34" charset="-120"/>
              </a:rPr>
              <a:t>KEY TAKEAWAYS</a:t>
            </a:r>
            <a:endParaRPr lang="en-US" sz="620" dirty="0"/>
          </a:p>
        </p:txBody>
      </p:sp>
      <p:sp>
        <p:nvSpPr>
          <p:cNvPr id="7" name="Text 5"/>
          <p:cNvSpPr/>
          <p:nvPr/>
        </p:nvSpPr>
        <p:spPr>
          <a:xfrm>
            <a:off x="291465" y="389781"/>
            <a:ext cx="8561070" cy="278904"/>
          </a:xfrm>
          <a:prstGeom prst="rect">
            <a:avLst/>
          </a:prstGeom>
          <a:noFill/>
          <a:ln/>
        </p:spPr>
        <p:txBody>
          <a:bodyPr wrap="none" lIns="0" tIns="0" rIns="0" bIns="0" rtlCol="0" anchor="t"/>
          <a:lstStyle/>
          <a:p>
            <a:pPr marL="0" indent="0" algn="ctr">
              <a:lnSpc>
                <a:spcPts val="2197"/>
              </a:lnSpc>
              <a:spcAft>
                <a:spcPts val="230"/>
              </a:spcAft>
              <a:buNone/>
            </a:pPr>
            <a:r>
              <a:rPr lang="en-US" sz="1910" b="1">
                <a:solidFill>
                  <a:srgbClr val="1B5E72"/>
                </a:solidFill>
                <a:latin typeface="Calibri Light" pitchFamily="34" charset="0"/>
                <a:ea typeface="Calibri Light" pitchFamily="34" charset="-122"/>
                <a:cs typeface="Calibri Light" pitchFamily="34" charset="-120"/>
              </a:rPr>
              <a:t>Avatar Basic Navigation — Key Takeaways</a:t>
            </a:r>
            <a:endParaRPr lang="en-US" sz="1910" dirty="0"/>
          </a:p>
        </p:txBody>
      </p:sp>
      <p:sp>
        <p:nvSpPr>
          <p:cNvPr id="8" name="Text 6"/>
          <p:cNvSpPr/>
          <p:nvPr/>
        </p:nvSpPr>
        <p:spPr>
          <a:xfrm>
            <a:off x="171450" y="697855"/>
            <a:ext cx="8801100" cy="159990"/>
          </a:xfrm>
          <a:prstGeom prst="rect">
            <a:avLst/>
          </a:prstGeom>
          <a:noFill/>
          <a:ln/>
        </p:spPr>
        <p:txBody>
          <a:bodyPr wrap="none" lIns="0" tIns="0" rIns="0" bIns="0" rtlCol="0" anchor="t"/>
          <a:lstStyle/>
          <a:p>
            <a:pPr marL="0" indent="0" algn="ctr">
              <a:lnSpc>
                <a:spcPts val="1260"/>
              </a:lnSpc>
              <a:buNone/>
            </a:pPr>
            <a:r>
              <a:rPr lang="en-US" sz="840" i="1" kern="0" spc="17">
                <a:solidFill>
                  <a:srgbClr val="55A49C"/>
                </a:solidFill>
                <a:latin typeface="Calibri" pitchFamily="34" charset="0"/>
                <a:ea typeface="Calibri" pitchFamily="34" charset="-122"/>
                <a:cs typeface="Calibri" pitchFamily="34" charset="-120"/>
              </a:rPr>
              <a:t>What to carry out of this room today.</a:t>
            </a:r>
            <a:endParaRPr lang="en-US" sz="840" dirty="0"/>
          </a:p>
        </p:txBody>
      </p:sp>
      <p:sp>
        <p:nvSpPr>
          <p:cNvPr id="9" name="Text 7"/>
          <p:cNvSpPr/>
          <p:nvPr/>
        </p:nvSpPr>
        <p:spPr>
          <a:xfrm>
            <a:off x="4371975" y="928836"/>
            <a:ext cx="400050" cy="13841"/>
          </a:xfrm>
          <a:prstGeom prst="roundRect">
            <a:avLst>
              <a:gd name="adj" fmla="val 100932"/>
            </a:avLst>
          </a:prstGeom>
          <a:solidFill>
            <a:srgbClr val="FAB753">
              <a:alpha val="85000"/>
            </a:srgbClr>
          </a:solidFill>
          <a:ln/>
        </p:spPr>
        <p:txBody>
          <a:bodyPr wrap="none" rtlCol="0" anchor="t"/>
          <a:lstStyle/>
          <a:p>
            <a:pPr marL="0" indent="0">
              <a:buNone/>
            </a:pPr>
            <a:endParaRPr lang="en-US" dirty="0"/>
          </a:p>
        </p:txBody>
      </p:sp>
      <p:sp>
        <p:nvSpPr>
          <p:cNvPr id="10" name="Text 8"/>
          <p:cNvSpPr/>
          <p:nvPr/>
        </p:nvSpPr>
        <p:spPr>
          <a:xfrm>
            <a:off x="400050" y="1056977"/>
            <a:ext cx="4071640" cy="592485"/>
          </a:xfrm>
          <a:prstGeom prst="roundRect">
            <a:avLst>
              <a:gd name="adj" fmla="val 7288"/>
            </a:avLst>
          </a:prstGeom>
          <a:solidFill>
            <a:srgbClr val="FFFFFF"/>
          </a:solidFill>
          <a:ln/>
        </p:spPr>
        <p:txBody>
          <a:bodyPr wrap="square" rtlCol="0" anchor="t"/>
          <a:lstStyle/>
          <a:p>
            <a:pPr marL="0" indent="0">
              <a:buNone/>
            </a:pPr>
            <a:endParaRPr lang="en-US" dirty="0"/>
          </a:p>
        </p:txBody>
      </p:sp>
      <p:sp>
        <p:nvSpPr>
          <p:cNvPr id="11" name="Text 9"/>
          <p:cNvSpPr/>
          <p:nvPr/>
        </p:nvSpPr>
        <p:spPr>
          <a:xfrm>
            <a:off x="400050" y="1056977"/>
            <a:ext cx="19050" cy="592485"/>
          </a:xfrm>
          <a:custGeom>
            <a:avLst/>
            <a:gdLst/>
            <a:ahLst/>
            <a:cxnLst/>
            <a:rect l="l" t="t" r="r" b="b"/>
            <a:pathLst>
              <a:path w="19050" h="592485">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5113"/>
                </a:lnTo>
                <a:lnTo>
                  <a:pt x="16669" y="583388"/>
                </a:lnTo>
                <a:lnTo>
                  <a:pt x="14288" y="581394"/>
                </a:lnTo>
                <a:lnTo>
                  <a:pt x="11906" y="579078"/>
                </a:lnTo>
                <a:lnTo>
                  <a:pt x="9525" y="576358"/>
                </a:lnTo>
                <a:lnTo>
                  <a:pt x="7144" y="573093"/>
                </a:lnTo>
                <a:lnTo>
                  <a:pt x="4763" y="569018"/>
                </a:lnTo>
                <a:lnTo>
                  <a:pt x="2381" y="563446"/>
                </a:lnTo>
                <a:lnTo>
                  <a:pt x="0" y="549305"/>
                </a:lnTo>
                <a:close/>
              </a:path>
            </a:pathLst>
          </a:custGeom>
          <a:solidFill>
            <a:srgbClr val="FAB753"/>
          </a:solidFill>
          <a:ln/>
        </p:spPr>
        <p:txBody>
          <a:bodyPr wrap="square" rtlCol="0" anchor="t"/>
          <a:lstStyle/>
          <a:p>
            <a:pPr marL="0" indent="0">
              <a:buNone/>
            </a:pPr>
            <a:endParaRPr lang="en-US" dirty="0"/>
          </a:p>
        </p:txBody>
      </p:sp>
      <p:sp>
        <p:nvSpPr>
          <p:cNvPr id="12" name="Text 10"/>
          <p:cNvSpPr/>
          <p:nvPr/>
        </p:nvSpPr>
        <p:spPr>
          <a:xfrm>
            <a:off x="519410" y="1152823"/>
            <a:ext cx="171450" cy="188595"/>
          </a:xfrm>
          <a:prstGeom prst="ellipse">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1</a:t>
            </a:r>
            <a:endParaRPr lang="en-US" sz="620" dirty="0"/>
          </a:p>
        </p:txBody>
      </p:sp>
      <p:sp>
        <p:nvSpPr>
          <p:cNvPr id="13" name="Text 11"/>
          <p:cNvSpPr/>
          <p:nvPr/>
        </p:nvSpPr>
        <p:spPr>
          <a:xfrm>
            <a:off x="777180" y="1145232"/>
            <a:ext cx="3927753" cy="133350"/>
          </a:xfrm>
          <a:prstGeom prst="rect">
            <a:avLst/>
          </a:prstGeom>
          <a:noFill/>
          <a:ln/>
        </p:spPr>
        <p:txBody>
          <a:bodyPr wrap="none" lIns="0" tIns="0" rIns="0" bIns="0" rtlCol="0" anchor="ctr"/>
          <a:lstStyle/>
          <a:p>
            <a:pPr marL="0" indent="0" algn="l">
              <a:lnSpc>
                <a:spcPts val="1050"/>
              </a:lnSpc>
              <a:buNone/>
            </a:pPr>
            <a:r>
              <a:rPr lang="en-US" sz="840" b="1">
                <a:solidFill>
                  <a:srgbClr val="1B5E72"/>
                </a:solidFill>
                <a:latin typeface="Calibri" pitchFamily="34" charset="0"/>
                <a:ea typeface="Calibri" pitchFamily="34" charset="-122"/>
                <a:cs typeface="Calibri" pitchFamily="34" charset="-120"/>
              </a:rPr>
              <a:t>Use the bundle — always.</a:t>
            </a:r>
            <a:endParaRPr lang="en-US" sz="840" dirty="0"/>
          </a:p>
        </p:txBody>
      </p:sp>
      <p:sp>
        <p:nvSpPr>
          <p:cNvPr id="14" name="Text 12"/>
          <p:cNvSpPr/>
          <p:nvPr/>
        </p:nvSpPr>
        <p:spPr>
          <a:xfrm>
            <a:off x="777180" y="1292423"/>
            <a:ext cx="3642098" cy="282223"/>
          </a:xfrm>
          <a:prstGeom prst="rect">
            <a:avLst/>
          </a:prstGeom>
          <a:noFill/>
          <a:ln/>
        </p:spPr>
        <p:txBody>
          <a:bodyPr wrap="square" lIns="0" tIns="0" rIns="0" bIns="0" rtlCol="0" anchor="t"/>
          <a:lstStyle/>
          <a:p>
            <a:pPr marL="0" indent="0" algn="l">
              <a:lnSpc>
                <a:spcPts val="1058"/>
              </a:lnSpc>
              <a:buNone/>
            </a:pPr>
            <a:r>
              <a:rPr lang="en-US" sz="730">
                <a:solidFill>
                  <a:srgbClr val="3A3A3A"/>
                </a:solidFill>
                <a:latin typeface="Calibri" pitchFamily="34" charset="0"/>
                <a:ea typeface="Calibri" pitchFamily="34" charset="-122"/>
                <a:cs typeface="Calibri" pitchFamily="34" charset="-120"/>
              </a:rPr>
              <a:t>The Admission Bundle exists for a reason. Opening just the Admission form skips required forms and creates more work later.</a:t>
            </a:r>
            <a:endParaRPr lang="en-US" sz="730" dirty="0"/>
          </a:p>
        </p:txBody>
      </p:sp>
      <p:sp>
        <p:nvSpPr>
          <p:cNvPr id="15" name="Text 13"/>
          <p:cNvSpPr/>
          <p:nvPr/>
        </p:nvSpPr>
        <p:spPr>
          <a:xfrm>
            <a:off x="4672310" y="1056977"/>
            <a:ext cx="4071640" cy="592485"/>
          </a:xfrm>
          <a:prstGeom prst="roundRect">
            <a:avLst>
              <a:gd name="adj" fmla="val 7288"/>
            </a:avLst>
          </a:prstGeom>
          <a:solidFill>
            <a:srgbClr val="FFFFFF"/>
          </a:solidFill>
          <a:ln/>
        </p:spPr>
        <p:txBody>
          <a:bodyPr wrap="square" rtlCol="0" anchor="t"/>
          <a:lstStyle/>
          <a:p>
            <a:pPr marL="0" indent="0">
              <a:buNone/>
            </a:pPr>
            <a:endParaRPr lang="en-US" dirty="0"/>
          </a:p>
        </p:txBody>
      </p:sp>
      <p:sp>
        <p:nvSpPr>
          <p:cNvPr id="16" name="Text 14"/>
          <p:cNvSpPr/>
          <p:nvPr/>
        </p:nvSpPr>
        <p:spPr>
          <a:xfrm>
            <a:off x="4672310" y="1056977"/>
            <a:ext cx="19050" cy="592485"/>
          </a:xfrm>
          <a:custGeom>
            <a:avLst/>
            <a:gdLst/>
            <a:ahLst/>
            <a:cxnLst/>
            <a:rect l="l" t="t" r="r" b="b"/>
            <a:pathLst>
              <a:path w="19050" h="592485">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5113"/>
                </a:lnTo>
                <a:lnTo>
                  <a:pt x="16669" y="583388"/>
                </a:lnTo>
                <a:lnTo>
                  <a:pt x="14288" y="581394"/>
                </a:lnTo>
                <a:lnTo>
                  <a:pt x="11906" y="579078"/>
                </a:lnTo>
                <a:lnTo>
                  <a:pt x="9525" y="576358"/>
                </a:lnTo>
                <a:lnTo>
                  <a:pt x="7144" y="573093"/>
                </a:lnTo>
                <a:lnTo>
                  <a:pt x="4763" y="569018"/>
                </a:lnTo>
                <a:lnTo>
                  <a:pt x="2381" y="563446"/>
                </a:lnTo>
                <a:lnTo>
                  <a:pt x="0" y="549305"/>
                </a:lnTo>
                <a:close/>
              </a:path>
            </a:pathLst>
          </a:custGeom>
          <a:solidFill>
            <a:srgbClr val="FAB753"/>
          </a:solidFill>
          <a:ln/>
        </p:spPr>
        <p:txBody>
          <a:bodyPr wrap="square" rtlCol="0" anchor="t"/>
          <a:lstStyle/>
          <a:p>
            <a:pPr marL="0" indent="0">
              <a:buNone/>
            </a:pPr>
            <a:endParaRPr lang="en-US" dirty="0"/>
          </a:p>
        </p:txBody>
      </p:sp>
      <p:sp>
        <p:nvSpPr>
          <p:cNvPr id="17" name="Text 15"/>
          <p:cNvSpPr/>
          <p:nvPr/>
        </p:nvSpPr>
        <p:spPr>
          <a:xfrm>
            <a:off x="4791670" y="1152823"/>
            <a:ext cx="171450" cy="188595"/>
          </a:xfrm>
          <a:prstGeom prst="ellipse">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2</a:t>
            </a:r>
            <a:endParaRPr lang="en-US" sz="620" dirty="0"/>
          </a:p>
        </p:txBody>
      </p:sp>
      <p:sp>
        <p:nvSpPr>
          <p:cNvPr id="18" name="Text 16"/>
          <p:cNvSpPr/>
          <p:nvPr/>
        </p:nvSpPr>
        <p:spPr>
          <a:xfrm>
            <a:off x="5049441" y="1145232"/>
            <a:ext cx="3927753" cy="133350"/>
          </a:xfrm>
          <a:prstGeom prst="rect">
            <a:avLst/>
          </a:prstGeom>
          <a:noFill/>
          <a:ln/>
        </p:spPr>
        <p:txBody>
          <a:bodyPr wrap="none" lIns="0" tIns="0" rIns="0" bIns="0" rtlCol="0" anchor="ctr"/>
          <a:lstStyle/>
          <a:p>
            <a:pPr marL="0" indent="0" algn="l">
              <a:lnSpc>
                <a:spcPts val="1050"/>
              </a:lnSpc>
              <a:buNone/>
            </a:pPr>
            <a:r>
              <a:rPr lang="en-US" sz="840" b="1">
                <a:solidFill>
                  <a:srgbClr val="1B5E72"/>
                </a:solidFill>
                <a:latin typeface="Calibri" pitchFamily="34" charset="0"/>
                <a:ea typeface="Calibri" pitchFamily="34" charset="-122"/>
                <a:cs typeface="Calibri" pitchFamily="34" charset="-120"/>
              </a:rPr>
              <a:t>Search before you create.</a:t>
            </a:r>
            <a:endParaRPr lang="en-US" sz="840" dirty="0"/>
          </a:p>
        </p:txBody>
      </p:sp>
      <p:sp>
        <p:nvSpPr>
          <p:cNvPr id="19" name="Text 17"/>
          <p:cNvSpPr/>
          <p:nvPr/>
        </p:nvSpPr>
        <p:spPr>
          <a:xfrm>
            <a:off x="5049441" y="1292423"/>
            <a:ext cx="3642098" cy="282223"/>
          </a:xfrm>
          <a:prstGeom prst="rect">
            <a:avLst/>
          </a:prstGeom>
          <a:noFill/>
          <a:ln/>
        </p:spPr>
        <p:txBody>
          <a:bodyPr wrap="square" lIns="0" tIns="0" rIns="0" bIns="0" rtlCol="0" anchor="t"/>
          <a:lstStyle/>
          <a:p>
            <a:pPr marL="0" indent="0" algn="l">
              <a:lnSpc>
                <a:spcPts val="1058"/>
              </a:lnSpc>
              <a:buNone/>
            </a:pPr>
            <a:r>
              <a:rPr lang="en-US" sz="730">
                <a:solidFill>
                  <a:srgbClr val="3A3A3A"/>
                </a:solidFill>
                <a:latin typeface="Calibri" pitchFamily="34" charset="0"/>
                <a:ea typeface="Calibri" pitchFamily="34" charset="-122"/>
                <a:cs typeface="Calibri" pitchFamily="34" charset="-120"/>
              </a:rPr>
              <a:t>Duplicate charts follow clients for years. The search step takes 30 seconds. Do it every single time.</a:t>
            </a:r>
            <a:endParaRPr lang="en-US" sz="730" dirty="0"/>
          </a:p>
        </p:txBody>
      </p:sp>
      <p:sp>
        <p:nvSpPr>
          <p:cNvPr id="20" name="Text 18"/>
          <p:cNvSpPr/>
          <p:nvPr/>
        </p:nvSpPr>
        <p:spPr>
          <a:xfrm>
            <a:off x="400050" y="1720453"/>
            <a:ext cx="4071640" cy="592485"/>
          </a:xfrm>
          <a:prstGeom prst="roundRect">
            <a:avLst>
              <a:gd name="adj" fmla="val 7288"/>
            </a:avLst>
          </a:prstGeom>
          <a:solidFill>
            <a:srgbClr val="FFFFFF"/>
          </a:solidFill>
          <a:ln/>
        </p:spPr>
        <p:txBody>
          <a:bodyPr wrap="square" rtlCol="0" anchor="t"/>
          <a:lstStyle/>
          <a:p>
            <a:pPr marL="0" indent="0">
              <a:buNone/>
            </a:pPr>
            <a:endParaRPr lang="en-US" dirty="0"/>
          </a:p>
        </p:txBody>
      </p:sp>
      <p:sp>
        <p:nvSpPr>
          <p:cNvPr id="21" name="Text 19"/>
          <p:cNvSpPr/>
          <p:nvPr/>
        </p:nvSpPr>
        <p:spPr>
          <a:xfrm>
            <a:off x="400050" y="1720453"/>
            <a:ext cx="19050" cy="592485"/>
          </a:xfrm>
          <a:custGeom>
            <a:avLst/>
            <a:gdLst/>
            <a:ahLst/>
            <a:cxnLst/>
            <a:rect l="l" t="t" r="r" b="b"/>
            <a:pathLst>
              <a:path w="19050" h="592485">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5113"/>
                </a:lnTo>
                <a:lnTo>
                  <a:pt x="16669" y="583388"/>
                </a:lnTo>
                <a:lnTo>
                  <a:pt x="14288" y="581394"/>
                </a:lnTo>
                <a:lnTo>
                  <a:pt x="11906" y="579078"/>
                </a:lnTo>
                <a:lnTo>
                  <a:pt x="9525" y="576358"/>
                </a:lnTo>
                <a:lnTo>
                  <a:pt x="7144" y="573093"/>
                </a:lnTo>
                <a:lnTo>
                  <a:pt x="4763" y="569018"/>
                </a:lnTo>
                <a:lnTo>
                  <a:pt x="2381" y="563446"/>
                </a:lnTo>
                <a:lnTo>
                  <a:pt x="0" y="549305"/>
                </a:lnTo>
                <a:close/>
              </a:path>
            </a:pathLst>
          </a:custGeom>
          <a:solidFill>
            <a:srgbClr val="FAB753"/>
          </a:solidFill>
          <a:ln/>
        </p:spPr>
        <p:txBody>
          <a:bodyPr wrap="square" rtlCol="0" anchor="t"/>
          <a:lstStyle/>
          <a:p>
            <a:pPr marL="0" indent="0">
              <a:buNone/>
            </a:pPr>
            <a:endParaRPr lang="en-US" dirty="0"/>
          </a:p>
        </p:txBody>
      </p:sp>
      <p:sp>
        <p:nvSpPr>
          <p:cNvPr id="22" name="Text 20"/>
          <p:cNvSpPr/>
          <p:nvPr/>
        </p:nvSpPr>
        <p:spPr>
          <a:xfrm>
            <a:off x="519410" y="1816298"/>
            <a:ext cx="171450" cy="188595"/>
          </a:xfrm>
          <a:prstGeom prst="ellipse">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3</a:t>
            </a:r>
            <a:endParaRPr lang="en-US" sz="620" dirty="0"/>
          </a:p>
        </p:txBody>
      </p:sp>
      <p:sp>
        <p:nvSpPr>
          <p:cNvPr id="23" name="Text 21"/>
          <p:cNvSpPr/>
          <p:nvPr/>
        </p:nvSpPr>
        <p:spPr>
          <a:xfrm>
            <a:off x="777180" y="1808708"/>
            <a:ext cx="3927753" cy="133350"/>
          </a:xfrm>
          <a:prstGeom prst="rect">
            <a:avLst/>
          </a:prstGeom>
          <a:noFill/>
          <a:ln/>
        </p:spPr>
        <p:txBody>
          <a:bodyPr wrap="none" lIns="0" tIns="0" rIns="0" bIns="0" rtlCol="0" anchor="ctr"/>
          <a:lstStyle/>
          <a:p>
            <a:pPr marL="0" indent="0" algn="l">
              <a:lnSpc>
                <a:spcPts val="1050"/>
              </a:lnSpc>
              <a:buNone/>
            </a:pPr>
            <a:r>
              <a:rPr lang="en-US" sz="840" b="1">
                <a:solidFill>
                  <a:srgbClr val="1B5E72"/>
                </a:solidFill>
                <a:latin typeface="Calibri" pitchFamily="34" charset="0"/>
                <a:ea typeface="Calibri" pitchFamily="34" charset="-122"/>
                <a:cs typeface="Calibri" pitchFamily="34" charset="-120"/>
              </a:rPr>
              <a:t>Every form has a purpose.</a:t>
            </a:r>
            <a:endParaRPr lang="en-US" sz="840" dirty="0"/>
          </a:p>
        </p:txBody>
      </p:sp>
      <p:sp>
        <p:nvSpPr>
          <p:cNvPr id="24" name="Text 22"/>
          <p:cNvSpPr/>
          <p:nvPr/>
        </p:nvSpPr>
        <p:spPr>
          <a:xfrm>
            <a:off x="777180" y="1955899"/>
            <a:ext cx="3642098" cy="282223"/>
          </a:xfrm>
          <a:prstGeom prst="rect">
            <a:avLst/>
          </a:prstGeom>
          <a:noFill/>
          <a:ln/>
        </p:spPr>
        <p:txBody>
          <a:bodyPr wrap="square" lIns="0" tIns="0" rIns="0" bIns="0" rtlCol="0" anchor="t"/>
          <a:lstStyle/>
          <a:p>
            <a:pPr marL="0" indent="0" algn="l">
              <a:lnSpc>
                <a:spcPts val="1058"/>
              </a:lnSpc>
              <a:buNone/>
            </a:pPr>
            <a:r>
              <a:rPr lang="en-US" sz="730">
                <a:solidFill>
                  <a:srgbClr val="3A3A3A"/>
                </a:solidFill>
                <a:latin typeface="Calibri" pitchFamily="34" charset="0"/>
                <a:ea typeface="Calibri" pitchFamily="34" charset="-122"/>
                <a:cs typeface="Calibri" pitchFamily="34" charset="-120"/>
              </a:rPr>
              <a:t>Each signature is a clinical conversation. Know what you are asking families to sign — and why it matters for their care.</a:t>
            </a:r>
            <a:endParaRPr lang="en-US" sz="730" dirty="0"/>
          </a:p>
        </p:txBody>
      </p:sp>
      <p:sp>
        <p:nvSpPr>
          <p:cNvPr id="25" name="Text 23"/>
          <p:cNvSpPr/>
          <p:nvPr/>
        </p:nvSpPr>
        <p:spPr>
          <a:xfrm>
            <a:off x="4672310" y="1720453"/>
            <a:ext cx="4071640" cy="592485"/>
          </a:xfrm>
          <a:prstGeom prst="roundRect">
            <a:avLst>
              <a:gd name="adj" fmla="val 7288"/>
            </a:avLst>
          </a:prstGeom>
          <a:solidFill>
            <a:srgbClr val="FFFFFF"/>
          </a:solidFill>
          <a:ln/>
        </p:spPr>
        <p:txBody>
          <a:bodyPr wrap="square" rtlCol="0" anchor="t"/>
          <a:lstStyle/>
          <a:p>
            <a:pPr marL="0" indent="0">
              <a:buNone/>
            </a:pPr>
            <a:endParaRPr lang="en-US" dirty="0"/>
          </a:p>
        </p:txBody>
      </p:sp>
      <p:sp>
        <p:nvSpPr>
          <p:cNvPr id="26" name="Text 24"/>
          <p:cNvSpPr/>
          <p:nvPr/>
        </p:nvSpPr>
        <p:spPr>
          <a:xfrm>
            <a:off x="4672310" y="1720453"/>
            <a:ext cx="19050" cy="592485"/>
          </a:xfrm>
          <a:custGeom>
            <a:avLst/>
            <a:gdLst/>
            <a:ahLst/>
            <a:cxnLst/>
            <a:rect l="l" t="t" r="r" b="b"/>
            <a:pathLst>
              <a:path w="19050" h="592485">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5113"/>
                </a:lnTo>
                <a:lnTo>
                  <a:pt x="16669" y="583388"/>
                </a:lnTo>
                <a:lnTo>
                  <a:pt x="14288" y="581394"/>
                </a:lnTo>
                <a:lnTo>
                  <a:pt x="11906" y="579078"/>
                </a:lnTo>
                <a:lnTo>
                  <a:pt x="9525" y="576358"/>
                </a:lnTo>
                <a:lnTo>
                  <a:pt x="7144" y="573093"/>
                </a:lnTo>
                <a:lnTo>
                  <a:pt x="4763" y="569018"/>
                </a:lnTo>
                <a:lnTo>
                  <a:pt x="2381" y="563446"/>
                </a:lnTo>
                <a:lnTo>
                  <a:pt x="0" y="549305"/>
                </a:lnTo>
                <a:close/>
              </a:path>
            </a:pathLst>
          </a:custGeom>
          <a:solidFill>
            <a:srgbClr val="FAB753"/>
          </a:solidFill>
          <a:ln/>
        </p:spPr>
        <p:txBody>
          <a:bodyPr wrap="square" rtlCol="0" anchor="t"/>
          <a:lstStyle/>
          <a:p>
            <a:pPr marL="0" indent="0">
              <a:buNone/>
            </a:pPr>
            <a:endParaRPr lang="en-US" dirty="0"/>
          </a:p>
        </p:txBody>
      </p:sp>
      <p:sp>
        <p:nvSpPr>
          <p:cNvPr id="27" name="Text 25"/>
          <p:cNvSpPr/>
          <p:nvPr/>
        </p:nvSpPr>
        <p:spPr>
          <a:xfrm>
            <a:off x="4791670" y="1816298"/>
            <a:ext cx="171450" cy="188595"/>
          </a:xfrm>
          <a:prstGeom prst="ellipse">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4</a:t>
            </a:r>
            <a:endParaRPr lang="en-US" sz="620" dirty="0"/>
          </a:p>
        </p:txBody>
      </p:sp>
      <p:sp>
        <p:nvSpPr>
          <p:cNvPr id="28" name="Text 26"/>
          <p:cNvSpPr/>
          <p:nvPr/>
        </p:nvSpPr>
        <p:spPr>
          <a:xfrm>
            <a:off x="5049441" y="1808708"/>
            <a:ext cx="3927753" cy="133350"/>
          </a:xfrm>
          <a:prstGeom prst="rect">
            <a:avLst/>
          </a:prstGeom>
          <a:noFill/>
          <a:ln/>
        </p:spPr>
        <p:txBody>
          <a:bodyPr wrap="none" lIns="0" tIns="0" rIns="0" bIns="0" rtlCol="0" anchor="ctr"/>
          <a:lstStyle/>
          <a:p>
            <a:pPr marL="0" indent="0" algn="l">
              <a:lnSpc>
                <a:spcPts val="1050"/>
              </a:lnSpc>
              <a:buNone/>
            </a:pPr>
            <a:r>
              <a:rPr lang="en-US" sz="840" b="1">
                <a:solidFill>
                  <a:srgbClr val="1B5E72"/>
                </a:solidFill>
                <a:latin typeface="Calibri" pitchFamily="34" charset="0"/>
                <a:ea typeface="Calibri" pitchFamily="34" charset="-122"/>
                <a:cs typeface="Calibri" pitchFamily="34" charset="-120"/>
              </a:rPr>
              <a:t>Cancel correctly — every time.</a:t>
            </a:r>
            <a:endParaRPr lang="en-US" sz="840" dirty="0"/>
          </a:p>
        </p:txBody>
      </p:sp>
      <p:sp>
        <p:nvSpPr>
          <p:cNvPr id="29" name="Text 27"/>
          <p:cNvSpPr/>
          <p:nvPr/>
        </p:nvSpPr>
        <p:spPr>
          <a:xfrm>
            <a:off x="5049441" y="1955899"/>
            <a:ext cx="3642098" cy="282223"/>
          </a:xfrm>
          <a:prstGeom prst="rect">
            <a:avLst/>
          </a:prstGeom>
          <a:noFill/>
          <a:ln/>
        </p:spPr>
        <p:txBody>
          <a:bodyPr wrap="square" lIns="0" tIns="0" rIns="0" bIns="0" rtlCol="0" anchor="t"/>
          <a:lstStyle/>
          <a:p>
            <a:pPr marL="0" indent="0" algn="l">
              <a:lnSpc>
                <a:spcPts val="1058"/>
              </a:lnSpc>
              <a:buNone/>
            </a:pPr>
            <a:r>
              <a:rPr lang="en-US" sz="730">
                <a:solidFill>
                  <a:srgbClr val="3A3A3A"/>
                </a:solidFill>
                <a:latin typeface="Calibri" pitchFamily="34" charset="0"/>
                <a:ea typeface="Calibri" pitchFamily="34" charset="-122"/>
                <a:cs typeface="Calibri" pitchFamily="34" charset="-120"/>
              </a:rPr>
              <a:t>The right cancellation code protects the client record, the reporting data, and your documentation. When in doubt, ask.</a:t>
            </a:r>
            <a:endParaRPr lang="en-US" sz="730" dirty="0"/>
          </a:p>
        </p:txBody>
      </p:sp>
      <p:sp>
        <p:nvSpPr>
          <p:cNvPr id="30" name="Text 28"/>
          <p:cNvSpPr/>
          <p:nvPr/>
        </p:nvSpPr>
        <p:spPr>
          <a:xfrm>
            <a:off x="400050" y="2383929"/>
            <a:ext cx="4071640" cy="592485"/>
          </a:xfrm>
          <a:prstGeom prst="roundRect">
            <a:avLst>
              <a:gd name="adj" fmla="val 7288"/>
            </a:avLst>
          </a:prstGeom>
          <a:solidFill>
            <a:srgbClr val="FFFFFF"/>
          </a:solidFill>
          <a:ln/>
        </p:spPr>
        <p:txBody>
          <a:bodyPr wrap="square" rtlCol="0" anchor="t"/>
          <a:lstStyle/>
          <a:p>
            <a:pPr marL="0" indent="0">
              <a:buNone/>
            </a:pPr>
            <a:endParaRPr lang="en-US" dirty="0"/>
          </a:p>
        </p:txBody>
      </p:sp>
      <p:sp>
        <p:nvSpPr>
          <p:cNvPr id="31" name="Text 29"/>
          <p:cNvSpPr/>
          <p:nvPr/>
        </p:nvSpPr>
        <p:spPr>
          <a:xfrm>
            <a:off x="400050" y="2383929"/>
            <a:ext cx="19050" cy="592485"/>
          </a:xfrm>
          <a:custGeom>
            <a:avLst/>
            <a:gdLst/>
            <a:ahLst/>
            <a:cxnLst/>
            <a:rect l="l" t="t" r="r" b="b"/>
            <a:pathLst>
              <a:path w="19050" h="592485">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5113"/>
                </a:lnTo>
                <a:lnTo>
                  <a:pt x="16669" y="583388"/>
                </a:lnTo>
                <a:lnTo>
                  <a:pt x="14288" y="581394"/>
                </a:lnTo>
                <a:lnTo>
                  <a:pt x="11906" y="579078"/>
                </a:lnTo>
                <a:lnTo>
                  <a:pt x="9525" y="576358"/>
                </a:lnTo>
                <a:lnTo>
                  <a:pt x="7144" y="573093"/>
                </a:lnTo>
                <a:lnTo>
                  <a:pt x="4763" y="569018"/>
                </a:lnTo>
                <a:lnTo>
                  <a:pt x="2381" y="563446"/>
                </a:lnTo>
                <a:lnTo>
                  <a:pt x="0" y="549305"/>
                </a:lnTo>
                <a:close/>
              </a:path>
            </a:pathLst>
          </a:custGeom>
          <a:solidFill>
            <a:srgbClr val="FAB753"/>
          </a:solidFill>
          <a:ln/>
        </p:spPr>
        <p:txBody>
          <a:bodyPr wrap="square" rtlCol="0" anchor="t"/>
          <a:lstStyle/>
          <a:p>
            <a:pPr marL="0" indent="0">
              <a:buNone/>
            </a:pPr>
            <a:endParaRPr lang="en-US" dirty="0"/>
          </a:p>
        </p:txBody>
      </p:sp>
      <p:sp>
        <p:nvSpPr>
          <p:cNvPr id="32" name="Text 30"/>
          <p:cNvSpPr/>
          <p:nvPr/>
        </p:nvSpPr>
        <p:spPr>
          <a:xfrm>
            <a:off x="519410" y="2479774"/>
            <a:ext cx="171450" cy="188595"/>
          </a:xfrm>
          <a:prstGeom prst="ellipse">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5</a:t>
            </a:r>
            <a:endParaRPr lang="en-US" sz="620" dirty="0"/>
          </a:p>
        </p:txBody>
      </p:sp>
      <p:sp>
        <p:nvSpPr>
          <p:cNvPr id="33" name="Text 31"/>
          <p:cNvSpPr/>
          <p:nvPr/>
        </p:nvSpPr>
        <p:spPr>
          <a:xfrm>
            <a:off x="777180" y="2472184"/>
            <a:ext cx="3927753" cy="133350"/>
          </a:xfrm>
          <a:prstGeom prst="rect">
            <a:avLst/>
          </a:prstGeom>
          <a:noFill/>
          <a:ln/>
        </p:spPr>
        <p:txBody>
          <a:bodyPr wrap="none" lIns="0" tIns="0" rIns="0" bIns="0" rtlCol="0" anchor="ctr"/>
          <a:lstStyle/>
          <a:p>
            <a:pPr marL="0" indent="0" algn="l">
              <a:lnSpc>
                <a:spcPts val="1050"/>
              </a:lnSpc>
              <a:buNone/>
            </a:pPr>
            <a:r>
              <a:rPr lang="en-US" sz="840" b="1">
                <a:solidFill>
                  <a:srgbClr val="1B5E72"/>
                </a:solidFill>
                <a:latin typeface="Calibri" pitchFamily="34" charset="0"/>
                <a:ea typeface="Calibri" pitchFamily="34" charset="-122"/>
                <a:cs typeface="Calibri" pitchFamily="34" charset="-120"/>
              </a:rPr>
              <a:t>Start Eleos at the intake.</a:t>
            </a:r>
            <a:endParaRPr lang="en-US" sz="840" dirty="0"/>
          </a:p>
        </p:txBody>
      </p:sp>
      <p:sp>
        <p:nvSpPr>
          <p:cNvPr id="34" name="Text 32"/>
          <p:cNvSpPr/>
          <p:nvPr/>
        </p:nvSpPr>
        <p:spPr>
          <a:xfrm>
            <a:off x="777180" y="2619375"/>
            <a:ext cx="3642098" cy="282223"/>
          </a:xfrm>
          <a:prstGeom prst="rect">
            <a:avLst/>
          </a:prstGeom>
          <a:noFill/>
          <a:ln/>
        </p:spPr>
        <p:txBody>
          <a:bodyPr wrap="square" lIns="0" tIns="0" rIns="0" bIns="0" rtlCol="0" anchor="t"/>
          <a:lstStyle/>
          <a:p>
            <a:pPr marL="0" indent="0" algn="l">
              <a:lnSpc>
                <a:spcPts val="1058"/>
              </a:lnSpc>
              <a:buNone/>
            </a:pPr>
            <a:r>
              <a:rPr lang="en-US" sz="730">
                <a:solidFill>
                  <a:srgbClr val="3A3A3A"/>
                </a:solidFill>
                <a:latin typeface="Calibri" pitchFamily="34" charset="0"/>
                <a:ea typeface="Calibri" pitchFamily="34" charset="-122"/>
                <a:cs typeface="Calibri" pitchFamily="34" charset="-120"/>
              </a:rPr>
              <a:t>Your documentation habit starts with your first session. Eleos running from the first clinical question means you walk out with your note done.</a:t>
            </a:r>
            <a:endParaRPr lang="en-US" sz="730" dirty="0"/>
          </a:p>
        </p:txBody>
      </p:sp>
      <p:sp>
        <p:nvSpPr>
          <p:cNvPr id="35" name="Text 33"/>
          <p:cNvSpPr/>
          <p:nvPr/>
        </p:nvSpPr>
        <p:spPr>
          <a:xfrm>
            <a:off x="4672310" y="2383929"/>
            <a:ext cx="4071640" cy="592485"/>
          </a:xfrm>
          <a:prstGeom prst="roundRect">
            <a:avLst>
              <a:gd name="adj" fmla="val 7288"/>
            </a:avLst>
          </a:prstGeom>
          <a:solidFill>
            <a:srgbClr val="FFFFFF"/>
          </a:solidFill>
          <a:ln/>
        </p:spPr>
        <p:txBody>
          <a:bodyPr wrap="square" rtlCol="0" anchor="t"/>
          <a:lstStyle/>
          <a:p>
            <a:pPr marL="0" indent="0">
              <a:buNone/>
            </a:pPr>
            <a:endParaRPr lang="en-US" dirty="0"/>
          </a:p>
        </p:txBody>
      </p:sp>
      <p:sp>
        <p:nvSpPr>
          <p:cNvPr id="36" name="Text 34"/>
          <p:cNvSpPr/>
          <p:nvPr/>
        </p:nvSpPr>
        <p:spPr>
          <a:xfrm>
            <a:off x="4672310" y="2383929"/>
            <a:ext cx="19050" cy="592485"/>
          </a:xfrm>
          <a:custGeom>
            <a:avLst/>
            <a:gdLst/>
            <a:ahLst/>
            <a:cxnLst/>
            <a:rect l="l" t="t" r="r" b="b"/>
            <a:pathLst>
              <a:path w="19050" h="592485">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5113"/>
                </a:lnTo>
                <a:lnTo>
                  <a:pt x="16669" y="583388"/>
                </a:lnTo>
                <a:lnTo>
                  <a:pt x="14288" y="581394"/>
                </a:lnTo>
                <a:lnTo>
                  <a:pt x="11906" y="579078"/>
                </a:lnTo>
                <a:lnTo>
                  <a:pt x="9525" y="576358"/>
                </a:lnTo>
                <a:lnTo>
                  <a:pt x="7144" y="573093"/>
                </a:lnTo>
                <a:lnTo>
                  <a:pt x="4763" y="569018"/>
                </a:lnTo>
                <a:lnTo>
                  <a:pt x="2381" y="563446"/>
                </a:lnTo>
                <a:lnTo>
                  <a:pt x="0" y="549305"/>
                </a:lnTo>
                <a:close/>
              </a:path>
            </a:pathLst>
          </a:custGeom>
          <a:solidFill>
            <a:srgbClr val="FAB753"/>
          </a:solidFill>
          <a:ln/>
        </p:spPr>
        <p:txBody>
          <a:bodyPr wrap="square" rtlCol="0" anchor="t"/>
          <a:lstStyle/>
          <a:p>
            <a:pPr marL="0" indent="0">
              <a:buNone/>
            </a:pPr>
            <a:endParaRPr lang="en-US" dirty="0"/>
          </a:p>
        </p:txBody>
      </p:sp>
      <p:sp>
        <p:nvSpPr>
          <p:cNvPr id="37" name="Text 35"/>
          <p:cNvSpPr/>
          <p:nvPr/>
        </p:nvSpPr>
        <p:spPr>
          <a:xfrm>
            <a:off x="4791670" y="2479774"/>
            <a:ext cx="171450" cy="188595"/>
          </a:xfrm>
          <a:prstGeom prst="ellipse">
            <a:avLst/>
          </a:prstGeom>
          <a:solidFill>
            <a:srgbClr val="FAB753"/>
          </a:solidFill>
          <a:ln/>
        </p:spPr>
        <p:txBody>
          <a:bodyPr wrap="none" lIns="0" tIns="0" rIns="0" bIns="0" rtlCol="0" anchor="ctr"/>
          <a:lstStyle/>
          <a:p>
            <a:pPr marL="0" indent="0" algn="ctr">
              <a:buNone/>
            </a:pPr>
            <a:r>
              <a:rPr lang="en-US" sz="620" b="1" dirty="0">
                <a:solidFill>
                  <a:srgbClr val="1B5E72"/>
                </a:solidFill>
                <a:latin typeface="Calibri" pitchFamily="34" charset="0"/>
                <a:ea typeface="Calibri" pitchFamily="34" charset="-122"/>
                <a:cs typeface="Calibri" pitchFamily="34" charset="-120"/>
              </a:rPr>
              <a:t>6</a:t>
            </a:r>
            <a:endParaRPr lang="en-US" sz="620" dirty="0"/>
          </a:p>
        </p:txBody>
      </p:sp>
      <p:sp>
        <p:nvSpPr>
          <p:cNvPr id="38" name="Text 36"/>
          <p:cNvSpPr/>
          <p:nvPr/>
        </p:nvSpPr>
        <p:spPr>
          <a:xfrm>
            <a:off x="5049441" y="2472184"/>
            <a:ext cx="3927753" cy="133350"/>
          </a:xfrm>
          <a:prstGeom prst="rect">
            <a:avLst/>
          </a:prstGeom>
          <a:noFill/>
          <a:ln/>
        </p:spPr>
        <p:txBody>
          <a:bodyPr wrap="none" lIns="0" tIns="0" rIns="0" bIns="0" rtlCol="0" anchor="ctr"/>
          <a:lstStyle/>
          <a:p>
            <a:pPr marL="0" indent="0" algn="l">
              <a:lnSpc>
                <a:spcPts val="1050"/>
              </a:lnSpc>
              <a:buNone/>
            </a:pPr>
            <a:r>
              <a:rPr lang="en-US" sz="840" b="1">
                <a:solidFill>
                  <a:srgbClr val="1B5E72"/>
                </a:solidFill>
                <a:latin typeface="Calibri" pitchFamily="34" charset="0"/>
                <a:ea typeface="Calibri" pitchFamily="34" charset="-122"/>
                <a:cs typeface="Calibri" pitchFamily="34" charset="-120"/>
              </a:rPr>
              <a:t>Protect your schedule — and yourself.</a:t>
            </a:r>
            <a:endParaRPr lang="en-US" sz="840" dirty="0"/>
          </a:p>
        </p:txBody>
      </p:sp>
      <p:sp>
        <p:nvSpPr>
          <p:cNvPr id="39" name="Text 37"/>
          <p:cNvSpPr/>
          <p:nvPr/>
        </p:nvSpPr>
        <p:spPr>
          <a:xfrm>
            <a:off x="5049441" y="2619375"/>
            <a:ext cx="3642098" cy="282223"/>
          </a:xfrm>
          <a:prstGeom prst="rect">
            <a:avLst/>
          </a:prstGeom>
          <a:noFill/>
          <a:ln/>
        </p:spPr>
        <p:txBody>
          <a:bodyPr wrap="square" lIns="0" tIns="0" rIns="0" bIns="0" rtlCol="0" anchor="t"/>
          <a:lstStyle/>
          <a:p>
            <a:pPr marL="0" indent="0" algn="l">
              <a:lnSpc>
                <a:spcPts val="1058"/>
              </a:lnSpc>
              <a:buNone/>
            </a:pPr>
            <a:r>
              <a:rPr lang="en-US" sz="730">
                <a:solidFill>
                  <a:srgbClr val="3A3A3A"/>
                </a:solidFill>
                <a:latin typeface="Calibri" pitchFamily="34" charset="0"/>
                <a:ea typeface="Calibri" pitchFamily="34" charset="-122"/>
                <a:cs typeface="Calibri" pitchFamily="34" charset="-120"/>
              </a:rPr>
              <a:t>Build your week before it starts. Protect the margins. A sustainable schedule is not a luxury — it is how you stay in this work long-term.</a:t>
            </a:r>
            <a:endParaRPr lang="en-US" sz="730" dirty="0"/>
          </a:p>
        </p:txBody>
      </p:sp>
      <p:sp>
        <p:nvSpPr>
          <p:cNvPr id="40" name="Text 38"/>
          <p:cNvSpPr/>
          <p:nvPr/>
        </p:nvSpPr>
        <p:spPr>
          <a:xfrm>
            <a:off x="571500" y="3068985"/>
            <a:ext cx="8001000" cy="7590"/>
          </a:xfrm>
          <a:prstGeom prst="rect">
            <a:avLst/>
          </a:prstGeom>
          <a:solidFill>
            <a:srgbClr val="FAB753">
              <a:alpha val="18000"/>
            </a:srgbClr>
          </a:solidFill>
          <a:ln/>
        </p:spPr>
        <p:txBody>
          <a:bodyPr wrap="none" rtlCol="0" anchor="t"/>
          <a:lstStyle/>
          <a:p>
            <a:pPr marL="0" indent="0">
              <a:buNone/>
            </a:pPr>
            <a:endParaRPr lang="en-US" dirty="0"/>
          </a:p>
        </p:txBody>
      </p:sp>
      <p:sp>
        <p:nvSpPr>
          <p:cNvPr id="41" name="Text 39"/>
          <p:cNvSpPr/>
          <p:nvPr/>
        </p:nvSpPr>
        <p:spPr>
          <a:xfrm>
            <a:off x="171450" y="3141315"/>
            <a:ext cx="8801100" cy="129480"/>
          </a:xfrm>
          <a:prstGeom prst="rect">
            <a:avLst/>
          </a:prstGeom>
          <a:noFill/>
          <a:ln/>
        </p:spPr>
        <p:txBody>
          <a:bodyPr wrap="none" lIns="0" tIns="0" rIns="0" bIns="0" rtlCol="0" anchor="t"/>
          <a:lstStyle/>
          <a:p>
            <a:pPr marL="0" indent="0" algn="ctr">
              <a:lnSpc>
                <a:spcPts val="1020"/>
              </a:lnSpc>
              <a:buNone/>
            </a:pPr>
            <a:r>
              <a:rPr lang="en-US" sz="680" i="1" kern="0" spc="14" dirty="0">
                <a:solidFill>
                  <a:srgbClr val="55A49C"/>
                </a:solidFill>
                <a:latin typeface="Calibri" pitchFamily="34" charset="0"/>
                <a:ea typeface="Calibri" pitchFamily="34" charset="-122"/>
                <a:cs typeface="Calibri" pitchFamily="34" charset="-120"/>
              </a:rPr>
              <a:t>Centerstone School-Based Clinical Training Series  ·  Avatar Basic Navigation </a:t>
            </a:r>
            <a:endParaRPr lang="en-US" sz="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Header Bar"/>
          <p:cNvSpPr/>
          <p:nvPr/>
        </p:nvSpPr>
        <p:spPr>
          <a:xfrm>
            <a:off x="0" y="0"/>
            <a:ext cx="9144000" cy="742950"/>
          </a:xfrm>
          <a:prstGeom prst="rect">
            <a:avLst/>
          </a:prstGeom>
          <a:solidFill>
            <a:srgbClr val="1B5E72"/>
          </a:solidFill>
          <a:ln/>
        </p:spPr>
        <p:txBody>
          <a:bodyPr wrap="square" rtlCol="0" anchor="t"/>
          <a:lstStyle/>
          <a:p>
            <a:pPr marL="0" indent="0">
              <a:buNone/>
            </a:pPr>
            <a:endParaRPr lang="en-US"/>
          </a:p>
        </p:txBody>
      </p:sp>
      <p:sp>
        <p:nvSpPr>
          <p:cNvPr id="3" name="Title"/>
          <p:cNvSpPr/>
          <p:nvPr/>
        </p:nvSpPr>
        <p:spPr>
          <a:xfrm>
            <a:off x="342900" y="150763"/>
            <a:ext cx="9050274" cy="240655"/>
          </a:xfrm>
          <a:prstGeom prst="rect">
            <a:avLst/>
          </a:prstGeom>
          <a:noFill/>
          <a:ln/>
        </p:spPr>
        <p:txBody>
          <a:bodyPr wrap="none" lIns="0" tIns="0" rIns="0" bIns="0" rtlCol="0" anchor="t"/>
          <a:lstStyle/>
          <a:p>
            <a:pPr marL="0" indent="0" algn="l">
              <a:lnSpc>
                <a:spcPts val="1896"/>
              </a:lnSpc>
              <a:buNone/>
            </a:pPr>
            <a:r>
              <a:rPr lang="en-US" sz="1580" b="1" kern="0" spc="16">
                <a:solidFill>
                  <a:srgbClr val="FFFFFF"/>
                </a:solidFill>
                <a:latin typeface="Calibri" pitchFamily="34" charset="0"/>
                <a:ea typeface="Calibri" pitchFamily="34" charset="-122"/>
                <a:cs typeface="Calibri" pitchFamily="34" charset="-120"/>
              </a:rPr>
              <a:t>Homework</a:t>
            </a:r>
            <a:endParaRPr lang="en-US" sz="1580"/>
          </a:p>
        </p:txBody>
      </p:sp>
      <p:sp>
        <p:nvSpPr>
          <p:cNvPr id="4" name="Subtitle"/>
          <p:cNvSpPr/>
          <p:nvPr/>
        </p:nvSpPr>
        <p:spPr>
          <a:xfrm>
            <a:off x="342900" y="420588"/>
            <a:ext cx="8458200" cy="171450"/>
          </a:xfrm>
          <a:prstGeom prst="rect">
            <a:avLst/>
          </a:prstGeom>
          <a:noFill/>
          <a:ln/>
        </p:spPr>
        <p:txBody>
          <a:bodyPr wrap="none" lIns="0" tIns="0" rIns="0" bIns="0" rtlCol="0" anchor="t"/>
          <a:lstStyle/>
          <a:p>
            <a:pPr marL="0" indent="0" algn="l">
              <a:lnSpc>
                <a:spcPts val="1350"/>
              </a:lnSpc>
              <a:buNone/>
            </a:pPr>
            <a:r>
              <a:rPr lang="en-US" sz="900" kern="0" spc="18">
                <a:solidFill>
                  <a:srgbClr val="FAB753"/>
                </a:solidFill>
                <a:latin typeface="Calibri Light" pitchFamily="34" charset="0"/>
                <a:ea typeface="Calibri Light" pitchFamily="34" charset="-122"/>
                <a:cs typeface="Calibri Light" pitchFamily="34" charset="-120"/>
              </a:rPr>
              <a:t>Put it all together — practice the full new-client intake workflow in UAT.</a:t>
            </a:r>
            <a:endParaRPr lang="en-US" sz="900"/>
          </a:p>
        </p:txBody>
      </p:sp>
      <p:sp>
        <p:nvSpPr>
          <p:cNvPr id="5" name="Left Label"/>
          <p:cNvSpPr/>
          <p:nvPr/>
        </p:nvSpPr>
        <p:spPr>
          <a:xfrm>
            <a:off x="342900" y="920000"/>
            <a:ext cx="5050000" cy="160288"/>
          </a:xfrm>
          <a:prstGeom prst="rect">
            <a:avLst/>
          </a:prstGeom>
          <a:noFill/>
          <a:ln/>
        </p:spPr>
        <p:txBody>
          <a:bodyPr wrap="none" lIns="0" tIns="0" rIns="0" bIns="0" rtlCol="0" anchor="t"/>
          <a:lstStyle/>
          <a:p>
            <a:pPr marL="0" indent="0" algn="l">
              <a:lnSpc>
                <a:spcPts val="930"/>
              </a:lnSpc>
              <a:buNone/>
            </a:pPr>
            <a:r>
              <a:rPr lang="en-US" sz="680" b="1" kern="0" spc="74">
                <a:solidFill>
                  <a:srgbClr val="FAB753"/>
                </a:solidFill>
                <a:latin typeface="Calibri" pitchFamily="34" charset="0"/>
                <a:ea typeface="Calibri" pitchFamily="34" charset="-122"/>
                <a:cs typeface="Calibri" pitchFamily="34" charset="-120"/>
              </a:rPr>
              <a:t>YOUR ASSIGNMENT</a:t>
            </a:r>
            <a:endParaRPr lang="en-US" sz="680"/>
          </a:p>
        </p:txBody>
      </p:sp>
      <p:sp>
        <p:nvSpPr>
          <p:cNvPr id="6" name="Left Card"/>
          <p:cNvSpPr/>
          <p:nvPr/>
        </p:nvSpPr>
        <p:spPr>
          <a:xfrm>
            <a:off x="342900" y="1120000"/>
            <a:ext cx="5050000" cy="3080000"/>
          </a:xfrm>
          <a:prstGeom prst="roundRect">
            <a:avLst>
              <a:gd name="adj" fmla="val 3118"/>
            </a:avLst>
          </a:prstGeom>
          <a:solidFill>
            <a:srgbClr val="EAF4F4"/>
          </a:solidFill>
          <a:ln/>
        </p:spPr>
        <p:txBody>
          <a:bodyPr wrap="square" rtlCol="0" anchor="t"/>
          <a:lstStyle/>
          <a:p>
            <a:pPr marL="0" indent="0">
              <a:buNone/>
            </a:pPr>
            <a:endParaRPr lang="en-US"/>
          </a:p>
        </p:txBody>
      </p:sp>
      <p:sp>
        <p:nvSpPr>
          <p:cNvPr id="7" name="Circle 1"/>
          <p:cNvSpPr/>
          <p:nvPr/>
        </p:nvSpPr>
        <p:spPr>
          <a:xfrm>
            <a:off x="502900" y="1290000"/>
            <a:ext cx="300000" cy="300000"/>
          </a:xfrm>
          <a:prstGeom prst="ellipse">
            <a:avLst/>
          </a:prstGeom>
          <a:solidFill>
            <a:srgbClr val="FAB753"/>
          </a:solidFill>
          <a:ln/>
        </p:spPr>
        <p:txBody>
          <a:bodyPr wrap="none" lIns="0" tIns="0" rIns="0" bIns="0" rtlCol="0" anchor="ctr"/>
          <a:lstStyle/>
          <a:p>
            <a:pPr marL="0" indent="0" algn="ctr">
              <a:buNone/>
            </a:pPr>
            <a:r>
              <a:rPr lang="en-US" sz="900" b="1">
                <a:solidFill>
                  <a:srgbClr val="1B5E72"/>
                </a:solidFill>
                <a:latin typeface="Calibri" pitchFamily="34" charset="0"/>
                <a:ea typeface="Calibri" pitchFamily="34" charset="-122"/>
                <a:cs typeface="Calibri" pitchFamily="34" charset="-120"/>
              </a:rPr>
              <a:t>1</a:t>
            </a:r>
            <a:endParaRPr lang="en-US" sz="900"/>
          </a:p>
        </p:txBody>
      </p:sp>
      <p:sp>
        <p:nvSpPr>
          <p:cNvPr id="8" name="Step 1 Text"/>
          <p:cNvSpPr/>
          <p:nvPr/>
        </p:nvSpPr>
        <p:spPr>
          <a:xfrm>
            <a:off x="962900" y="1270000"/>
            <a:ext cx="4230000" cy="820000"/>
          </a:xfrm>
          <a:prstGeom prst="rect">
            <a:avLst/>
          </a:prstGeom>
          <a:noFill/>
          <a:ln/>
        </p:spPr>
        <p:txBody>
          <a:bodyPr wrap="square" lIns="0" tIns="0" rIns="0" bIns="0" rtlCol="0" anchor="t"/>
          <a:lstStyle/>
          <a:p>
            <a:pPr marL="0" indent="0" algn="l">
              <a:lnSpc>
                <a:spcPts val="1330"/>
              </a:lnSpc>
              <a:buNone/>
            </a:pPr>
            <a:r>
              <a:rPr lang="en-US" sz="950">
                <a:solidFill>
                  <a:srgbClr val="2C2C2C"/>
                </a:solidFill>
                <a:latin typeface="Calibri" pitchFamily="34" charset="0"/>
                <a:ea typeface="Calibri" pitchFamily="34" charset="-122"/>
                <a:cs typeface="Calibri" pitchFamily="34" charset="-120"/>
              </a:rPr>
              <a:t>Use the attached practice referral form to create a new client chart / admission bundle in UAT.</a:t>
            </a:r>
            <a:endParaRPr lang="en-US" sz="950"/>
          </a:p>
        </p:txBody>
      </p:sp>
      <p:sp>
        <p:nvSpPr>
          <p:cNvPr id="9" name="Circle 2"/>
          <p:cNvSpPr/>
          <p:nvPr/>
        </p:nvSpPr>
        <p:spPr>
          <a:xfrm>
            <a:off x="502900" y="2230000"/>
            <a:ext cx="300000" cy="300000"/>
          </a:xfrm>
          <a:prstGeom prst="ellipse">
            <a:avLst/>
          </a:prstGeom>
          <a:solidFill>
            <a:srgbClr val="FAB753"/>
          </a:solidFill>
          <a:ln/>
        </p:spPr>
        <p:txBody>
          <a:bodyPr wrap="none" lIns="0" tIns="0" rIns="0" bIns="0" rtlCol="0" anchor="ctr"/>
          <a:lstStyle/>
          <a:p>
            <a:pPr marL="0" indent="0" algn="ctr">
              <a:buNone/>
            </a:pPr>
            <a:r>
              <a:rPr lang="en-US" sz="900" b="1">
                <a:solidFill>
                  <a:srgbClr val="1B5E72"/>
                </a:solidFill>
                <a:latin typeface="Calibri" pitchFamily="34" charset="0"/>
                <a:ea typeface="Calibri" pitchFamily="34" charset="-122"/>
                <a:cs typeface="Calibri" pitchFamily="34" charset="-120"/>
              </a:rPr>
              <a:t>2</a:t>
            </a:r>
            <a:endParaRPr lang="en-US" sz="900"/>
          </a:p>
        </p:txBody>
      </p:sp>
      <p:sp>
        <p:nvSpPr>
          <p:cNvPr id="10" name="Step 2 Text"/>
          <p:cNvSpPr/>
          <p:nvPr/>
        </p:nvSpPr>
        <p:spPr>
          <a:xfrm>
            <a:off x="962900" y="2210000"/>
            <a:ext cx="4230000" cy="900000"/>
          </a:xfrm>
          <a:prstGeom prst="rect">
            <a:avLst/>
          </a:prstGeom>
          <a:noFill/>
          <a:ln/>
        </p:spPr>
        <p:txBody>
          <a:bodyPr wrap="square" lIns="0" tIns="0" rIns="0" bIns="0" rtlCol="0" anchor="t"/>
          <a:lstStyle/>
          <a:p>
            <a:pPr marL="0" indent="0" algn="l">
              <a:lnSpc>
                <a:spcPts val="1330"/>
              </a:lnSpc>
              <a:buNone/>
            </a:pPr>
            <a:r>
              <a:rPr lang="en-US" sz="950">
                <a:solidFill>
                  <a:srgbClr val="2C2C2C"/>
                </a:solidFill>
                <a:latin typeface="Calibri" pitchFamily="34" charset="0"/>
                <a:ea typeface="Calibri" pitchFamily="34" charset="-122"/>
                <a:cs typeface="Calibri" pitchFamily="34" charset="-120"/>
              </a:rPr>
              <a:t>Go through and practice completing each form in the front desk bundle, and consider how to explain each form to a parent or guardian.</a:t>
            </a:r>
            <a:endParaRPr lang="en-US" sz="950"/>
          </a:p>
        </p:txBody>
      </p:sp>
      <p:sp>
        <p:nvSpPr>
          <p:cNvPr id="11" name="Circle 3"/>
          <p:cNvSpPr/>
          <p:nvPr/>
        </p:nvSpPr>
        <p:spPr>
          <a:xfrm>
            <a:off x="502900" y="3320000"/>
            <a:ext cx="300000" cy="300000"/>
          </a:xfrm>
          <a:prstGeom prst="ellipse">
            <a:avLst/>
          </a:prstGeom>
          <a:solidFill>
            <a:srgbClr val="FAB753"/>
          </a:solidFill>
          <a:ln/>
        </p:spPr>
        <p:txBody>
          <a:bodyPr wrap="none" lIns="0" tIns="0" rIns="0" bIns="0" rtlCol="0" anchor="ctr"/>
          <a:lstStyle/>
          <a:p>
            <a:pPr marL="0" indent="0" algn="ctr">
              <a:buNone/>
            </a:pPr>
            <a:r>
              <a:rPr lang="en-US" sz="900" b="1">
                <a:solidFill>
                  <a:srgbClr val="1B5E72"/>
                </a:solidFill>
                <a:latin typeface="Calibri" pitchFamily="34" charset="0"/>
                <a:ea typeface="Calibri" pitchFamily="34" charset="-122"/>
                <a:cs typeface="Calibri" pitchFamily="34" charset="-120"/>
              </a:rPr>
              <a:t>3</a:t>
            </a:r>
            <a:endParaRPr lang="en-US" sz="900"/>
          </a:p>
        </p:txBody>
      </p:sp>
      <p:sp>
        <p:nvSpPr>
          <p:cNvPr id="12" name="Step 3 Text"/>
          <p:cNvSpPr/>
          <p:nvPr/>
        </p:nvSpPr>
        <p:spPr>
          <a:xfrm>
            <a:off x="962900" y="3300000"/>
            <a:ext cx="4230000" cy="700000"/>
          </a:xfrm>
          <a:prstGeom prst="rect">
            <a:avLst/>
          </a:prstGeom>
          <a:noFill/>
          <a:ln/>
        </p:spPr>
        <p:txBody>
          <a:bodyPr wrap="square" lIns="0" tIns="0" rIns="0" bIns="0" rtlCol="0" anchor="t"/>
          <a:lstStyle/>
          <a:p>
            <a:pPr marL="0" indent="0" algn="l">
              <a:lnSpc>
                <a:spcPts val="1330"/>
              </a:lnSpc>
              <a:buNone/>
            </a:pPr>
            <a:r>
              <a:rPr lang="en-US" sz="950">
                <a:solidFill>
                  <a:srgbClr val="2C2C2C"/>
                </a:solidFill>
                <a:latin typeface="Calibri" pitchFamily="34" charset="0"/>
                <a:ea typeface="Calibri" pitchFamily="34" charset="-122"/>
                <a:cs typeface="Calibri" pitchFamily="34" charset="-120"/>
              </a:rPr>
              <a:t>Then practice scheduling the intake assessment.</a:t>
            </a:r>
            <a:endParaRPr lang="en-US" sz="950"/>
          </a:p>
        </p:txBody>
      </p:sp>
      <p:sp>
        <p:nvSpPr>
          <p:cNvPr id="13" name="Right Label"/>
          <p:cNvSpPr/>
          <p:nvPr/>
        </p:nvSpPr>
        <p:spPr>
          <a:xfrm>
            <a:off x="5615000" y="920000"/>
            <a:ext cx="3186100" cy="160288"/>
          </a:xfrm>
          <a:prstGeom prst="rect">
            <a:avLst/>
          </a:prstGeom>
          <a:noFill/>
          <a:ln/>
        </p:spPr>
        <p:txBody>
          <a:bodyPr wrap="square" lIns="0" tIns="0" rIns="0" bIns="0" rtlCol="0" anchor="t"/>
          <a:lstStyle/>
          <a:p>
            <a:pPr marL="0" indent="0" algn="ctr">
              <a:lnSpc>
                <a:spcPts val="930"/>
              </a:lnSpc>
              <a:buNone/>
            </a:pPr>
            <a:r>
              <a:rPr lang="en-US" sz="680" b="1" kern="0" spc="74">
                <a:solidFill>
                  <a:srgbClr val="FAB753"/>
                </a:solidFill>
                <a:latin typeface="Calibri" pitchFamily="34" charset="0"/>
                <a:ea typeface="Calibri" pitchFamily="34" charset="-122"/>
                <a:cs typeface="Calibri" pitchFamily="34" charset="-120"/>
              </a:rPr>
              <a:t>PRACTICE REFERRAL FORM</a:t>
            </a:r>
            <a:endParaRPr lang="en-US" sz="680"/>
          </a:p>
        </p:txBody>
      </p:sp>
      <p:sp>
        <p:nvSpPr>
          <p:cNvPr id="14" name="Image Frame"/>
          <p:cNvSpPr/>
          <p:nvPr/>
        </p:nvSpPr>
        <p:spPr>
          <a:xfrm>
            <a:off x="5615000" y="1120000"/>
            <a:ext cx="3186100" cy="3080000"/>
          </a:xfrm>
          <a:prstGeom prst="roundRect">
            <a:avLst>
              <a:gd name="adj" fmla="val 3118"/>
            </a:avLst>
          </a:prstGeom>
          <a:solidFill>
            <a:srgbClr val="FFFFFF"/>
          </a:solidFill>
          <a:ln w="9525">
            <a:solidFill>
              <a:srgbClr val="1B5E72">
                <a:alpha val="35000"/>
              </a:srgbClr>
            </a:solidFill>
          </a:ln>
        </p:spPr>
        <p:txBody>
          <a:bodyPr wrap="square" rtlCol="0" anchor="t"/>
          <a:lstStyle/>
          <a:p>
            <a:pPr marL="0" indent="0">
              <a:buNone/>
            </a:pPr>
            <a:endParaRPr lang="en-US"/>
          </a:p>
        </p:txBody>
      </p:sp>
      <p:pic>
        <p:nvPicPr>
          <p:cNvPr id="15" name="Practice Referral" descr="Practice referral form"/>
          <p:cNvPicPr>
            <a:picLocks noChangeAspect="1"/>
          </p:cNvPicPr>
          <p:nvPr/>
        </p:nvPicPr>
        <p:blipFill>
          <a:blip r:embed="rId2"/>
          <a:stretch>
            <a:fillRect/>
          </a:stretch>
        </p:blipFill>
        <p:spPr>
          <a:xfrm>
            <a:off x="6104805" y="1230000"/>
            <a:ext cx="2206490" cy="2860000"/>
          </a:xfrm>
          <a:prstGeom prst="rect">
            <a:avLst/>
          </a:prstGeom>
        </p:spPr>
      </p:pic>
      <p:sp>
        <p:nvSpPr>
          <p:cNvPr id="16" name="Footer Bar"/>
          <p:cNvSpPr/>
          <p:nvPr/>
        </p:nvSpPr>
        <p:spPr>
          <a:xfrm>
            <a:off x="0" y="4745858"/>
            <a:ext cx="9144000" cy="397642"/>
          </a:xfrm>
          <a:prstGeom prst="rect">
            <a:avLst/>
          </a:prstGeom>
          <a:solidFill>
            <a:srgbClr val="FAB753"/>
          </a:solidFill>
          <a:ln/>
        </p:spPr>
        <p:txBody>
          <a:bodyPr wrap="none" lIns="429260" tIns="0" rIns="429260" bIns="0" rtlCol="0" anchor="ctr"/>
          <a:lstStyle/>
          <a:p>
            <a:pPr marL="0" indent="0" algn="ctr">
              <a:buNone/>
            </a:pPr>
            <a:r>
              <a:rPr lang="en-US" sz="820" b="1" kern="0" spc="8" dirty="0">
                <a:solidFill>
                  <a:srgbClr val="2C2C2C"/>
                </a:solidFill>
                <a:latin typeface="Calibri" pitchFamily="34" charset="0"/>
                <a:ea typeface="Calibri" pitchFamily="34" charset="-122"/>
                <a:cs typeface="Calibri" pitchFamily="34" charset="-120"/>
              </a:rPr>
              <a:t>Centerstone School-Based Clinical Training Series  ·  Avatar Basic Navigation</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6144220" y="0"/>
            <a:ext cx="2999780" cy="2857500"/>
          </a:xfrm>
          <a:prstGeom prst="ellipse">
            <a:avLst/>
          </a:prstGeom>
          <a:solidFill>
            <a:srgbClr val="FFFFFF">
              <a:alpha val="3000"/>
            </a:srgbClr>
          </a:solidFill>
          <a:ln/>
        </p:spPr>
        <p:txBody>
          <a:bodyPr wrap="square" rtlCol="0" anchor="t"/>
          <a:lstStyle/>
          <a:p>
            <a:pPr marL="0" indent="0">
              <a:buNone/>
            </a:pPr>
            <a:endParaRPr lang="en-US"/>
          </a:p>
        </p:txBody>
      </p:sp>
      <p:sp>
        <p:nvSpPr>
          <p:cNvPr id="3" name="Text 1"/>
          <p:cNvSpPr/>
          <p:nvPr/>
        </p:nvSpPr>
        <p:spPr>
          <a:xfrm>
            <a:off x="0" y="3572470"/>
            <a:ext cx="2000250" cy="1571030"/>
          </a:xfrm>
          <a:prstGeom prst="ellipse">
            <a:avLst/>
          </a:prstGeom>
          <a:solidFill>
            <a:srgbClr val="FFFFFF">
              <a:alpha val="3000"/>
            </a:srgbClr>
          </a:solidFill>
          <a:ln/>
        </p:spPr>
        <p:txBody>
          <a:bodyPr wrap="square" rtlCol="0" anchor="t"/>
          <a:lstStyle/>
          <a:p>
            <a:pPr marL="0" indent="0">
              <a:buNone/>
            </a:pPr>
            <a:endParaRPr lang="en-US"/>
          </a:p>
        </p:txBody>
      </p:sp>
      <p:sp>
        <p:nvSpPr>
          <p:cNvPr id="4" name="Text 2"/>
          <p:cNvSpPr/>
          <p:nvPr/>
        </p:nvSpPr>
        <p:spPr>
          <a:xfrm>
            <a:off x="5429250" y="0"/>
            <a:ext cx="3714750" cy="357128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5" name="Text 3"/>
          <p:cNvSpPr/>
          <p:nvPr/>
        </p:nvSpPr>
        <p:spPr>
          <a:xfrm>
            <a:off x="0" y="3356521"/>
            <a:ext cx="2358479" cy="1786979"/>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6" name="Text 4"/>
          <p:cNvSpPr/>
          <p:nvPr/>
        </p:nvSpPr>
        <p:spPr>
          <a:xfrm>
            <a:off x="429220" y="429220"/>
            <a:ext cx="2143720" cy="214372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7" name="Text 5"/>
          <p:cNvSpPr/>
          <p:nvPr/>
        </p:nvSpPr>
        <p:spPr>
          <a:xfrm>
            <a:off x="0" y="0"/>
            <a:ext cx="29170" cy="514350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a:p>
        </p:txBody>
      </p:sp>
      <p:sp>
        <p:nvSpPr>
          <p:cNvPr id="8" name="Eyebrow"/>
          <p:cNvSpPr/>
          <p:nvPr/>
        </p:nvSpPr>
        <p:spPr>
          <a:xfrm>
            <a:off x="3144441" y="627387"/>
            <a:ext cx="2999779" cy="99725"/>
          </a:xfrm>
          <a:prstGeom prst="rect">
            <a:avLst/>
          </a:prstGeom>
          <a:noFill/>
          <a:ln/>
        </p:spPr>
        <p:txBody>
          <a:bodyPr wrap="square" lIns="0" tIns="0" rIns="0" bIns="0" rtlCol="0" anchor="t"/>
          <a:lstStyle/>
          <a:p>
            <a:pPr marL="0" indent="0" algn="ctr">
              <a:lnSpc>
                <a:spcPts val="930"/>
              </a:lnSpc>
              <a:buNone/>
            </a:pPr>
            <a:r>
              <a:rPr lang="en-US" sz="620" b="1" kern="0" spc="155" dirty="0">
                <a:solidFill>
                  <a:srgbClr val="FAB753"/>
                </a:solidFill>
                <a:latin typeface="Calibri" pitchFamily="34" charset="0"/>
                <a:ea typeface="Calibri" pitchFamily="34" charset="-122"/>
                <a:cs typeface="Calibri" pitchFamily="34" charset="-120"/>
              </a:rPr>
              <a:t>CENTERSTONE SCHOOL-BASED CLINICAL TRAINING SERIES</a:t>
            </a:r>
            <a:endParaRPr lang="en-US" sz="620" dirty="0"/>
          </a:p>
        </p:txBody>
      </p:sp>
      <p:sp>
        <p:nvSpPr>
          <p:cNvPr id="9" name="Accent Line Top"/>
          <p:cNvSpPr/>
          <p:nvPr/>
        </p:nvSpPr>
        <p:spPr>
          <a:xfrm>
            <a:off x="4357390" y="931416"/>
            <a:ext cx="429220" cy="13841"/>
          </a:xfrm>
          <a:prstGeom prst="rect">
            <a:avLst/>
          </a:prstGeom>
          <a:solidFill>
            <a:srgbClr val="FAB753"/>
          </a:solidFill>
          <a:ln/>
        </p:spPr>
        <p:txBody>
          <a:bodyPr wrap="none" rtlCol="0" anchor="t"/>
          <a:lstStyle/>
          <a:p>
            <a:pPr marL="0" indent="0">
              <a:buNone/>
            </a:pPr>
            <a:endParaRPr lang="en-US"/>
          </a:p>
        </p:txBody>
      </p:sp>
      <p:sp>
        <p:nvSpPr>
          <p:cNvPr id="10" name="Title"/>
          <p:cNvSpPr/>
          <p:nvPr/>
        </p:nvSpPr>
        <p:spPr>
          <a:xfrm>
            <a:off x="1772123" y="1130000"/>
            <a:ext cx="5599606" cy="565696"/>
          </a:xfrm>
          <a:prstGeom prst="rect">
            <a:avLst/>
          </a:prstGeom>
          <a:noFill/>
          <a:ln/>
        </p:spPr>
        <p:txBody>
          <a:bodyPr wrap="square" lIns="0" tIns="0" rIns="0" bIns="0" rtlCol="0" anchor="t"/>
          <a:lstStyle/>
          <a:p>
            <a:pPr marL="0" indent="0" algn="ctr">
              <a:lnSpc>
                <a:spcPts val="4455"/>
              </a:lnSpc>
              <a:spcAft>
                <a:spcPts val="1580"/>
              </a:spcAft>
              <a:buNone/>
            </a:pPr>
            <a:r>
              <a:rPr lang="en-US" sz="4050" kern="0" spc="-40" dirty="0">
                <a:solidFill>
                  <a:srgbClr val="FFFFFF"/>
                </a:solidFill>
                <a:latin typeface="Calibri Light" pitchFamily="34" charset="0"/>
                <a:ea typeface="Calibri Light" pitchFamily="34" charset="-122"/>
                <a:cs typeface="Calibri Light" pitchFamily="34" charset="-120"/>
              </a:rPr>
              <a:t>Avatar Basic Navigation </a:t>
            </a:r>
            <a:endParaRPr lang="en-US" sz="4050" dirty="0"/>
          </a:p>
        </p:txBody>
      </p:sp>
      <p:sp>
        <p:nvSpPr>
          <p:cNvPr id="11" name="Accent Line Bottom"/>
          <p:cNvSpPr/>
          <p:nvPr/>
        </p:nvSpPr>
        <p:spPr>
          <a:xfrm>
            <a:off x="4143375" y="1900000"/>
            <a:ext cx="857250" cy="7590"/>
          </a:xfrm>
          <a:prstGeom prst="rect">
            <a:avLst/>
          </a:prstGeom>
          <a:solidFill>
            <a:srgbClr val="FAB753">
              <a:alpha val="35000"/>
            </a:srgbClr>
          </a:solidFill>
          <a:ln/>
        </p:spPr>
        <p:txBody>
          <a:bodyPr wrap="none" rtlCol="0" anchor="t"/>
          <a:lstStyle/>
          <a:p>
            <a:pPr marL="0" indent="0">
              <a:buNone/>
            </a:pPr>
            <a:endParaRPr lang="en-US"/>
          </a:p>
        </p:txBody>
      </p:sp>
      <p:sp>
        <p:nvSpPr>
          <p:cNvPr id="12" name="Message"/>
          <p:cNvSpPr/>
          <p:nvPr/>
        </p:nvSpPr>
        <p:spPr>
          <a:xfrm>
            <a:off x="2072123" y="2040000"/>
            <a:ext cx="4999754" cy="400000"/>
          </a:xfrm>
          <a:prstGeom prst="rect">
            <a:avLst/>
          </a:prstGeom>
          <a:noFill/>
          <a:ln/>
        </p:spPr>
        <p:txBody>
          <a:bodyPr wrap="square" lIns="0" tIns="0" rIns="0" bIns="0" rtlCol="0" anchor="t"/>
          <a:lstStyle/>
          <a:p>
            <a:pPr marL="0" indent="0" algn="ctr">
              <a:lnSpc>
                <a:spcPts val="1860"/>
              </a:lnSpc>
              <a:buNone/>
            </a:pPr>
            <a:r>
              <a:rPr lang="en-US" sz="1240" kern="0" spc="50" dirty="0">
                <a:solidFill>
                  <a:srgbClr val="55A49C"/>
                </a:solidFill>
                <a:latin typeface="Calibri Light" pitchFamily="34" charset="0"/>
                <a:ea typeface="Calibri Light" pitchFamily="34" charset="-122"/>
                <a:cs typeface="Calibri Light" pitchFamily="34" charset="-120"/>
              </a:rPr>
              <a:t>Completion of this survey is required for attendance verification for today’s training.</a:t>
            </a:r>
            <a:endParaRPr lang="en-US" sz="1240" dirty="0"/>
          </a:p>
        </p:txBody>
      </p:sp>
      <p:sp>
        <p:nvSpPr>
          <p:cNvPr id="17" name="Survey Link Placeholder"/>
          <p:cNvSpPr/>
          <p:nvPr/>
        </p:nvSpPr>
        <p:spPr>
          <a:xfrm>
            <a:off x="2000250" y="4192872"/>
            <a:ext cx="4999754" cy="330000"/>
          </a:xfrm>
          <a:prstGeom prst="rect">
            <a:avLst/>
          </a:prstGeom>
          <a:noFill/>
          <a:ln/>
        </p:spPr>
        <p:txBody>
          <a:bodyPr wrap="square" lIns="0" tIns="0" rIns="0" bIns="0" rtlCol="0" anchor="t"/>
          <a:lstStyle/>
          <a:p>
            <a:pPr algn="ctr">
              <a:lnSpc>
                <a:spcPts val="1440"/>
              </a:lnSpc>
            </a:pPr>
            <a:r>
              <a:rPr lang="en-US" sz="1060" u="sng" dirty="0">
                <a:solidFill>
                  <a:srgbClr val="FBB753"/>
                </a:solidFill>
                <a:hlinkClick r:id="rId2">
                  <a:extLst>
                    <a:ext uri="{A12FA001-AC4F-418D-AE19-62706E023703}">
                      <ahyp:hlinkClr xmlns:ahyp="http://schemas.microsoft.com/office/drawing/2018/hyperlinkcolor" val="tx"/>
                    </a:ext>
                  </a:extLst>
                </a:hlinkClick>
              </a:rPr>
              <a:t>https://forms.office.com/r/EXVCQtPbti</a:t>
            </a:r>
            <a:endParaRPr lang="en-US" sz="1060" dirty="0">
              <a:solidFill>
                <a:srgbClr val="FBB753"/>
              </a:solidFill>
            </a:endParaRPr>
          </a:p>
          <a:p>
            <a:pPr marL="0" indent="0" algn="ctr">
              <a:lnSpc>
                <a:spcPts val="1440"/>
              </a:lnSpc>
              <a:buNone/>
            </a:pPr>
            <a:endParaRPr lang="en-US" sz="1050" dirty="0"/>
          </a:p>
        </p:txBody>
      </p:sp>
      <p:sp>
        <p:nvSpPr>
          <p:cNvPr id="15" name="Bottom Accent"/>
          <p:cNvSpPr/>
          <p:nvPr/>
        </p:nvSpPr>
        <p:spPr>
          <a:xfrm>
            <a:off x="0" y="5114330"/>
            <a:ext cx="9144000" cy="29170"/>
          </a:xfrm>
          <a:prstGeom prst="rect">
            <a:avLst/>
          </a:prstGeom>
          <a:gradFill rotWithShape="1">
            <a:gsLst>
              <a:gs pos="0">
                <a:srgbClr val="000000">
                  <a:alpha val="0"/>
                </a:srgbClr>
              </a:gs>
              <a:gs pos="30000">
                <a:srgbClr val="FAB753">
                  <a:alpha val="60000"/>
                </a:srgbClr>
              </a:gs>
              <a:gs pos="70000">
                <a:srgbClr val="FAB753">
                  <a:alpha val="60000"/>
                </a:srgbClr>
              </a:gs>
              <a:gs pos="100000">
                <a:srgbClr val="000000">
                  <a:alpha val="0"/>
                </a:srgbClr>
              </a:gs>
            </a:gsLst>
            <a:lin ang="0" scaled="1"/>
          </a:gradFill>
          <a:ln/>
        </p:spPr>
        <p:txBody>
          <a:bodyPr wrap="none" rtlCol="0" anchor="t"/>
          <a:lstStyle/>
          <a:p>
            <a:pPr marL="0" indent="0">
              <a:buNone/>
            </a:pPr>
            <a:endParaRPr lang="en-US"/>
          </a:p>
        </p:txBody>
      </p:sp>
      <p:pic>
        <p:nvPicPr>
          <p:cNvPr id="14" name="Picture 13">
            <a:extLst>
              <a:ext uri="{FF2B5EF4-FFF2-40B4-BE49-F238E27FC236}">
                <a16:creationId xmlns:a16="http://schemas.microsoft.com/office/drawing/2014/main" id="{E3F00BDF-A22A-92E6-20D7-10B4478873EF}"/>
              </a:ext>
            </a:extLst>
          </p:cNvPr>
          <p:cNvPicPr>
            <a:picLocks noChangeAspect="1"/>
          </p:cNvPicPr>
          <p:nvPr/>
        </p:nvPicPr>
        <p:blipFill>
          <a:blip r:embed="rId3"/>
          <a:stretch>
            <a:fillRect/>
          </a:stretch>
        </p:blipFill>
        <p:spPr>
          <a:xfrm>
            <a:off x="3820429" y="2676823"/>
            <a:ext cx="1359395" cy="13593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TotalTime>
  <Words>3563</Words>
  <Application>Microsoft Macintosh PowerPoint</Application>
  <PresentationFormat>On-screen Show (16:9)</PresentationFormat>
  <Paragraphs>320</Paragraphs>
  <Slides>20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Topher Fuqua</cp:lastModifiedBy>
  <cp:revision>4</cp:revision>
  <dcterms:created xsi:type="dcterms:W3CDTF">2026-06-15T15:38:28Z</dcterms:created>
  <dcterms:modified xsi:type="dcterms:W3CDTF">2026-07-08T01:13:12Z</dcterms:modified>
</cp:coreProperties>
</file>