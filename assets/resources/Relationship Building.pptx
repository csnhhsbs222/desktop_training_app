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5"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5E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82"/>
    <p:restoredTop sz="94610"/>
  </p:normalViewPr>
  <p:slideViewPr>
    <p:cSldViewPr snapToGrid="0" snapToObjects="1">
      <p:cViewPr>
        <p:scale>
          <a:sx n="104" d="100"/>
          <a:sy n="104" d="100"/>
        </p:scale>
        <p:origin x="1408" y="1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311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 Id="rId9" Type="http://schemas.openxmlformats.org/officeDocument/2006/relationships/image" Target="../media/image15.svg"/></Relationships>
</file>

<file path=ppt/slides/_rels/slide5.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4.svg"/><Relationship Id="rId4" Type="http://schemas.openxmlformats.org/officeDocument/2006/relationships/image" Target="../media/image23.svg"/></Relationships>
</file>

<file path=ppt/slides/_rels/slide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s>
</file>

<file path=ppt/slides/_rels/slide8.xml.rels><?xml version="1.0" encoding="UTF-8" standalone="yes"?>
<Relationships xmlns="http://schemas.openxmlformats.org/package/2006/relationships"><Relationship Id="rId3" Type="http://schemas.openxmlformats.org/officeDocument/2006/relationships/image" Target="../media/image29.svg"/><Relationship Id="rId7" Type="http://schemas.openxmlformats.org/officeDocument/2006/relationships/image" Target="../media/image33.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2.svg"/><Relationship Id="rId5" Type="http://schemas.openxmlformats.org/officeDocument/2006/relationships/image" Target="../media/image31.svg"/><Relationship Id="rId4" Type="http://schemas.openxmlformats.org/officeDocument/2006/relationships/image" Target="../media/image30.svg"/></Relationships>
</file>

<file path=ppt/slides/_rels/slide9.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svg"/><Relationship Id="rId7" Type="http://schemas.openxmlformats.org/officeDocument/2006/relationships/image" Target="../media/image38.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7.svg"/><Relationship Id="rId5" Type="http://schemas.openxmlformats.org/officeDocument/2006/relationships/image" Target="../media/image36.svg"/><Relationship Id="rId4" Type="http://schemas.openxmlformats.org/officeDocument/2006/relationships/image" Target="../media/image35.svg"/></Relationships>
</file>

<file path=ppt/slides/_rels/slide10.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svg"/><Relationship Id="rId7" Type="http://schemas.openxmlformats.org/officeDocument/2006/relationships/image" Target="../media/image44.svg"/><Relationship Id="rId12" Type="http://schemas.openxmlformats.org/officeDocument/2006/relationships/image" Target="../media/image49.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3.svg"/><Relationship Id="rId11" Type="http://schemas.openxmlformats.org/officeDocument/2006/relationships/image" Target="../media/image48.svg"/><Relationship Id="rId5" Type="http://schemas.openxmlformats.org/officeDocument/2006/relationships/image" Target="../media/image42.svg"/><Relationship Id="rId10" Type="http://schemas.openxmlformats.org/officeDocument/2006/relationships/image" Target="../media/image47.svg"/><Relationship Id="rId4" Type="http://schemas.openxmlformats.org/officeDocument/2006/relationships/image" Target="../media/image41.svg"/><Relationship Id="rId9" Type="http://schemas.openxmlformats.org/officeDocument/2006/relationships/image" Target="../media/image46.svg"/></Relationships>
</file>

<file path=ppt/slides/_rels/slide11.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svg"/><Relationship Id="rId7" Type="http://schemas.openxmlformats.org/officeDocument/2006/relationships/image" Target="../media/image54.sv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3.svg"/><Relationship Id="rId5" Type="http://schemas.openxmlformats.org/officeDocument/2006/relationships/image" Target="../media/image52.svg"/><Relationship Id="rId4" Type="http://schemas.openxmlformats.org/officeDocument/2006/relationships/image" Target="../media/image51.svg"/></Relationships>
</file>

<file path=ppt/slides/_rels/slide12.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7.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58.svg"/><Relationship Id="rId7" Type="http://schemas.openxmlformats.org/officeDocument/2006/relationships/image" Target="../media/image62.sv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61.svg"/><Relationship Id="rId5" Type="http://schemas.openxmlformats.org/officeDocument/2006/relationships/image" Target="../media/image60.svg"/><Relationship Id="rId4" Type="http://schemas.openxmlformats.org/officeDocument/2006/relationships/image" Target="../media/image59.svg"/></Relationships>
</file>

<file path=ppt/slides/_rels/slide1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hyperlink" Target="https://forms.office.com/r/EXVCQtPbti"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5E72"/>
        </a:solidFill>
        <a:effectLst/>
      </p:bgPr>
    </p:bg>
    <p:spTree>
      <p:nvGrpSpPr>
        <p:cNvPr id="1" name=""/>
        <p:cNvGrpSpPr/>
        <p:nvPr/>
      </p:nvGrpSpPr>
      <p:grpSpPr>
        <a:xfrm>
          <a:off x="0" y="0"/>
          <a:ext cx="0" cy="0"/>
          <a:chOff x="0" y="0"/>
          <a:chExt cx="0" cy="0"/>
        </a:xfrm>
      </p:grpSpPr>
      <p:sp>
        <p:nvSpPr>
          <p:cNvPr id="2" name="Text 0"/>
          <p:cNvSpPr/>
          <p:nvPr/>
        </p:nvSpPr>
        <p:spPr>
          <a:xfrm>
            <a:off x="0" y="0"/>
            <a:ext cx="2571750" cy="2571750"/>
          </a:xfrm>
          <a:prstGeom prst="ellipse">
            <a:avLst/>
          </a:prstGeom>
          <a:gradFill rotWithShape="1">
            <a:gsLst>
              <a:gs pos="0">
                <a:srgbClr val="FFFFFF">
                  <a:alpha val="4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3" name="Text 1"/>
          <p:cNvSpPr/>
          <p:nvPr/>
        </p:nvSpPr>
        <p:spPr>
          <a:xfrm>
            <a:off x="6715716" y="2715216"/>
            <a:ext cx="2428284" cy="2428284"/>
          </a:xfrm>
          <a:prstGeom prst="ellipse">
            <a:avLst/>
          </a:prstGeom>
          <a:gradFill rotWithShape="1">
            <a:gsLst>
              <a:gs pos="0">
                <a:srgbClr val="FAB753">
                  <a:alpha val="6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4" name="Text 2"/>
          <p:cNvSpPr/>
          <p:nvPr/>
        </p:nvSpPr>
        <p:spPr>
          <a:xfrm>
            <a:off x="0" y="0"/>
            <a:ext cx="9144000" cy="29170"/>
          </a:xfrm>
          <a:prstGeom prst="rect">
            <a:avLst/>
          </a:prstGeom>
          <a:gradFill rotWithShape="1">
            <a:gsLst>
              <a:gs pos="0">
                <a:srgbClr val="000000">
                  <a:alpha val="0"/>
                </a:srgbClr>
              </a:gs>
              <a:gs pos="30000">
                <a:srgbClr val="FAB753">
                  <a:alpha val="85000"/>
                </a:srgbClr>
              </a:gs>
              <a:gs pos="70000">
                <a:srgbClr val="FAB753">
                  <a:alpha val="85000"/>
                </a:srgbClr>
              </a:gs>
              <a:gs pos="100000">
                <a:srgbClr val="000000">
                  <a:alpha val="0"/>
                </a:srgbClr>
              </a:gs>
            </a:gsLst>
            <a:lin ang="0" scaled="1"/>
          </a:gradFill>
          <a:ln/>
        </p:spPr>
        <p:txBody>
          <a:bodyPr wrap="none" rtlCol="0" anchor="t"/>
          <a:lstStyle/>
          <a:p>
            <a:pPr marL="0" indent="0">
              <a:buNone/>
            </a:pPr>
            <a:endParaRPr lang="en-US" dirty="0"/>
          </a:p>
        </p:txBody>
      </p:sp>
      <p:sp>
        <p:nvSpPr>
          <p:cNvPr id="5" name="Text 3"/>
          <p:cNvSpPr/>
          <p:nvPr/>
        </p:nvSpPr>
        <p:spPr>
          <a:xfrm>
            <a:off x="0" y="5121920"/>
            <a:ext cx="9144000" cy="21580"/>
          </a:xfrm>
          <a:prstGeom prst="rect">
            <a:avLst/>
          </a:prstGeom>
          <a:gradFill rotWithShape="1">
            <a:gsLst>
              <a:gs pos="0">
                <a:srgbClr val="000000">
                  <a:alpha val="0"/>
                </a:srgbClr>
              </a:gs>
              <a:gs pos="30000">
                <a:srgbClr val="FAB753">
                  <a:alpha val="40000"/>
                </a:srgbClr>
              </a:gs>
              <a:gs pos="70000">
                <a:srgbClr val="FAB753">
                  <a:alpha val="40000"/>
                </a:srgbClr>
              </a:gs>
              <a:gs pos="100000">
                <a:srgbClr val="000000">
                  <a:alpha val="0"/>
                </a:srgbClr>
              </a:gs>
            </a:gsLst>
            <a:lin ang="0" scaled="1"/>
          </a:gradFill>
          <a:ln/>
        </p:spPr>
        <p:txBody>
          <a:bodyPr wrap="none" rtlCol="0" anchor="t"/>
          <a:lstStyle/>
          <a:p>
            <a:pPr marL="0" indent="0">
              <a:buNone/>
            </a:pPr>
            <a:endParaRPr lang="en-US" dirty="0"/>
          </a:p>
        </p:txBody>
      </p:sp>
      <p:sp>
        <p:nvSpPr>
          <p:cNvPr id="6" name="Text 4"/>
          <p:cNvSpPr/>
          <p:nvPr/>
        </p:nvSpPr>
        <p:spPr>
          <a:xfrm>
            <a:off x="400050" y="571500"/>
            <a:ext cx="7590" cy="4000500"/>
          </a:xfrm>
          <a:prstGeom prst="rect">
            <a:avLst/>
          </a:prstGeom>
          <a:gradFill rotWithShape="1">
            <a:gsLst>
              <a:gs pos="0">
                <a:srgbClr val="000000">
                  <a:alpha val="0"/>
                </a:srgbClr>
              </a:gs>
              <a:gs pos="30000">
                <a:srgbClr val="FFFFFF">
                  <a:alpha val="12000"/>
                </a:srgbClr>
              </a:gs>
              <a:gs pos="70000">
                <a:srgbClr val="FFFFFF">
                  <a:alpha val="12000"/>
                </a:srgbClr>
              </a:gs>
              <a:gs pos="100000">
                <a:srgbClr val="000000">
                  <a:alpha val="0"/>
                </a:srgbClr>
              </a:gs>
            </a:gsLst>
            <a:lin ang="5400000" scaled="1"/>
          </a:gradFill>
          <a:ln/>
        </p:spPr>
        <p:txBody>
          <a:bodyPr wrap="square" rtlCol="0" anchor="t"/>
          <a:lstStyle/>
          <a:p>
            <a:pPr marL="0" indent="0">
              <a:buNone/>
            </a:pPr>
            <a:endParaRPr lang="en-US" dirty="0"/>
          </a:p>
        </p:txBody>
      </p:sp>
      <p:sp>
        <p:nvSpPr>
          <p:cNvPr id="7" name="Text 5"/>
          <p:cNvSpPr/>
          <p:nvPr/>
        </p:nvSpPr>
        <p:spPr>
          <a:xfrm>
            <a:off x="8736360" y="571500"/>
            <a:ext cx="7590" cy="4000500"/>
          </a:xfrm>
          <a:prstGeom prst="rect">
            <a:avLst/>
          </a:prstGeom>
          <a:gradFill rotWithShape="1">
            <a:gsLst>
              <a:gs pos="0">
                <a:srgbClr val="000000">
                  <a:alpha val="0"/>
                </a:srgbClr>
              </a:gs>
              <a:gs pos="30000">
                <a:srgbClr val="FFFFFF">
                  <a:alpha val="12000"/>
                </a:srgbClr>
              </a:gs>
              <a:gs pos="70000">
                <a:srgbClr val="FFFFFF">
                  <a:alpha val="12000"/>
                </a:srgbClr>
              </a:gs>
              <a:gs pos="100000">
                <a:srgbClr val="000000">
                  <a:alpha val="0"/>
                </a:srgbClr>
              </a:gs>
            </a:gsLst>
            <a:lin ang="5400000" scaled="1"/>
          </a:gradFill>
          <a:ln/>
        </p:spPr>
        <p:txBody>
          <a:bodyPr wrap="square" rtlCol="0" anchor="t"/>
          <a:lstStyle/>
          <a:p>
            <a:pPr marL="0" indent="0">
              <a:buNone/>
            </a:pPr>
            <a:endParaRPr lang="en-US" dirty="0"/>
          </a:p>
        </p:txBody>
      </p:sp>
      <p:sp>
        <p:nvSpPr>
          <p:cNvPr id="8" name="Text 6"/>
          <p:cNvSpPr/>
          <p:nvPr/>
        </p:nvSpPr>
        <p:spPr>
          <a:xfrm>
            <a:off x="2971800" y="1529945"/>
            <a:ext cx="2999184" cy="104775"/>
          </a:xfrm>
          <a:prstGeom prst="rect">
            <a:avLst/>
          </a:prstGeom>
          <a:noFill/>
          <a:ln/>
        </p:spPr>
        <p:txBody>
          <a:bodyPr wrap="none" lIns="0" tIns="0" rIns="0" bIns="0" rtlCol="0" anchor="ctr"/>
          <a:lstStyle/>
          <a:p>
            <a:pPr marL="0" indent="0" algn="l">
              <a:buNone/>
            </a:pPr>
            <a:r>
              <a:rPr lang="en-US" sz="730" b="1" kern="0" spc="161" dirty="0">
                <a:solidFill>
                  <a:srgbClr val="FAB753"/>
                </a:solidFill>
                <a:latin typeface="Calibri" pitchFamily="34" charset="0"/>
                <a:ea typeface="Calibri" pitchFamily="34" charset="-122"/>
                <a:cs typeface="Calibri" pitchFamily="34" charset="-120"/>
              </a:rPr>
              <a:t>CENTERSTONE SCHOOL-BASED CLINICAL TRAINING SERIES</a:t>
            </a:r>
            <a:endParaRPr lang="en-US" sz="730" dirty="0"/>
          </a:p>
        </p:txBody>
      </p:sp>
      <p:sp>
        <p:nvSpPr>
          <p:cNvPr id="11" name="Text 9"/>
          <p:cNvSpPr/>
          <p:nvPr/>
        </p:nvSpPr>
        <p:spPr>
          <a:xfrm>
            <a:off x="1626636" y="1941761"/>
            <a:ext cx="5890580" cy="645319"/>
          </a:xfrm>
          <a:prstGeom prst="rect">
            <a:avLst/>
          </a:prstGeom>
          <a:noFill/>
          <a:ln/>
        </p:spPr>
        <p:txBody>
          <a:bodyPr wrap="none" lIns="0" tIns="0" rIns="0" bIns="0" rtlCol="0" anchor="t"/>
          <a:lstStyle/>
          <a:p>
            <a:pPr marL="0" indent="0" algn="ctr">
              <a:lnSpc>
                <a:spcPts val="5082"/>
              </a:lnSpc>
              <a:spcAft>
                <a:spcPts val="560"/>
              </a:spcAft>
              <a:buNone/>
            </a:pPr>
            <a:r>
              <a:rPr lang="en-US" sz="4840" kern="0" spc="-48" dirty="0">
                <a:solidFill>
                  <a:srgbClr val="FFFFFF"/>
                </a:solidFill>
                <a:latin typeface="Calibri Light" pitchFamily="34" charset="0"/>
                <a:ea typeface="Calibri Light" pitchFamily="34" charset="-122"/>
                <a:cs typeface="Calibri Light" pitchFamily="34" charset="-120"/>
              </a:rPr>
              <a:t>Relationship Building</a:t>
            </a:r>
            <a:endParaRPr lang="en-US" sz="4840" dirty="0"/>
          </a:p>
        </p:txBody>
      </p:sp>
      <p:sp>
        <p:nvSpPr>
          <p:cNvPr id="12" name="Text 10"/>
          <p:cNvSpPr/>
          <p:nvPr/>
        </p:nvSpPr>
        <p:spPr>
          <a:xfrm>
            <a:off x="3949750" y="2876401"/>
            <a:ext cx="514350" cy="7590"/>
          </a:xfrm>
          <a:prstGeom prst="rect">
            <a:avLst/>
          </a:prstGeom>
          <a:gradFill rotWithShape="1">
            <a:gsLst>
              <a:gs pos="0">
                <a:srgbClr val="000000">
                  <a:alpha val="0"/>
                </a:srgbClr>
              </a:gs>
              <a:gs pos="100000">
                <a:srgbClr val="FAB753">
                  <a:alpha val="60000"/>
                </a:srgbClr>
              </a:gs>
            </a:gsLst>
            <a:lin ang="0" scaled="1"/>
          </a:gradFill>
          <a:ln/>
        </p:spPr>
        <p:txBody>
          <a:bodyPr wrap="none" rtlCol="0" anchor="t"/>
          <a:lstStyle/>
          <a:p>
            <a:pPr marL="0" indent="0">
              <a:buNone/>
            </a:pPr>
            <a:endParaRPr lang="en-US" dirty="0"/>
          </a:p>
        </p:txBody>
      </p:sp>
      <p:sp>
        <p:nvSpPr>
          <p:cNvPr id="13" name="Text 11"/>
          <p:cNvSpPr/>
          <p:nvPr/>
        </p:nvSpPr>
        <p:spPr>
          <a:xfrm rot="2700000">
            <a:off x="4550420" y="2858691"/>
            <a:ext cx="43160" cy="43160"/>
          </a:xfrm>
          <a:prstGeom prst="rect">
            <a:avLst/>
          </a:prstGeom>
          <a:solidFill>
            <a:srgbClr val="FAB753">
              <a:alpha val="85000"/>
            </a:srgbClr>
          </a:solidFill>
          <a:ln/>
        </p:spPr>
        <p:txBody>
          <a:bodyPr wrap="none" rtlCol="0" anchor="t"/>
          <a:lstStyle/>
          <a:p>
            <a:pPr marL="0" indent="0">
              <a:buNone/>
            </a:pPr>
            <a:endParaRPr lang="en-US" dirty="0"/>
          </a:p>
        </p:txBody>
      </p:sp>
      <p:sp>
        <p:nvSpPr>
          <p:cNvPr id="14" name="Text 12"/>
          <p:cNvSpPr/>
          <p:nvPr/>
        </p:nvSpPr>
        <p:spPr>
          <a:xfrm>
            <a:off x="4679900" y="2876401"/>
            <a:ext cx="514350" cy="7590"/>
          </a:xfrm>
          <a:prstGeom prst="rect">
            <a:avLst/>
          </a:prstGeom>
          <a:gradFill rotWithShape="1">
            <a:gsLst>
              <a:gs pos="0">
                <a:srgbClr val="000000">
                  <a:alpha val="0"/>
                </a:srgbClr>
              </a:gs>
              <a:gs pos="100000">
                <a:srgbClr val="FAB753">
                  <a:alpha val="60000"/>
                </a:srgbClr>
              </a:gs>
            </a:gsLst>
            <a:lin ang="10800000" scaled="1"/>
          </a:gradFill>
          <a:ln/>
        </p:spPr>
        <p:txBody>
          <a:bodyPr wrap="none" rtlCol="0" anchor="t"/>
          <a:lstStyle/>
          <a:p>
            <a:pPr marL="0" indent="0">
              <a:buNone/>
            </a:pPr>
            <a:endParaRPr lang="en-US" dirty="0"/>
          </a:p>
        </p:txBody>
      </p:sp>
      <p:sp>
        <p:nvSpPr>
          <p:cNvPr id="15" name="Text 13"/>
          <p:cNvSpPr/>
          <p:nvPr/>
        </p:nvSpPr>
        <p:spPr>
          <a:xfrm>
            <a:off x="2916637" y="3130451"/>
            <a:ext cx="3310726" cy="278160"/>
          </a:xfrm>
          <a:prstGeom prst="rect">
            <a:avLst/>
          </a:prstGeom>
          <a:noFill/>
          <a:ln/>
        </p:spPr>
        <p:txBody>
          <a:bodyPr wrap="none" lIns="0" tIns="0" rIns="0" bIns="0" rtlCol="0" anchor="t"/>
          <a:lstStyle/>
          <a:p>
            <a:pPr marL="0" indent="0" algn="ctr">
              <a:lnSpc>
                <a:spcPts val="2190"/>
              </a:lnSpc>
              <a:buNone/>
            </a:pPr>
            <a:r>
              <a:rPr lang="en-US" sz="1460" kern="0" spc="175" dirty="0">
                <a:solidFill>
                  <a:srgbClr val="55A49C"/>
                </a:solidFill>
                <a:latin typeface="Calibri Light" pitchFamily="34" charset="0"/>
                <a:ea typeface="Calibri Light" pitchFamily="34" charset="-122"/>
                <a:cs typeface="Calibri Light" pitchFamily="34" charset="-120"/>
              </a:rPr>
              <a:t>Schools  ·  Families  ·  Teams</a:t>
            </a:r>
            <a:endParaRPr lang="en-US" sz="1460" dirty="0"/>
          </a:p>
        </p:txBody>
      </p:sp>
      <p:sp>
        <p:nvSpPr>
          <p:cNvPr id="16" name="Text 14"/>
          <p:cNvSpPr/>
          <p:nvPr/>
        </p:nvSpPr>
        <p:spPr>
          <a:xfrm>
            <a:off x="3397545" y="3508921"/>
            <a:ext cx="2348761" cy="203746"/>
          </a:xfrm>
          <a:prstGeom prst="rect">
            <a:avLst/>
          </a:prstGeom>
          <a:noFill/>
          <a:ln/>
        </p:spPr>
        <p:txBody>
          <a:bodyPr wrap="none" lIns="0" tIns="0" rIns="0" bIns="0" rtlCol="0" anchor="t"/>
          <a:lstStyle/>
          <a:p>
            <a:pPr marL="0" indent="0" algn="ctr">
              <a:lnSpc>
                <a:spcPts val="1605"/>
              </a:lnSpc>
              <a:buNone/>
            </a:pPr>
            <a:r>
              <a:rPr lang="en-US" sz="1070" kern="0" spc="43" dirty="0">
                <a:solidFill>
                  <a:srgbClr val="FFFFFF">
                    <a:alpha val="72000"/>
                  </a:srgbClr>
                </a:solidFill>
                <a:latin typeface="Calibri" pitchFamily="34" charset="0"/>
                <a:ea typeface="Calibri" pitchFamily="34" charset="-122"/>
                <a:cs typeface="Calibri" pitchFamily="34" charset="-120"/>
              </a:rPr>
              <a:t>School-Based Therapist Training</a:t>
            </a:r>
            <a:endParaRPr lang="en-US" sz="1070" dirty="0"/>
          </a:p>
        </p:txBody>
      </p:sp>
      <p:sp>
        <p:nvSpPr>
          <p:cNvPr id="17" name="Text 15"/>
          <p:cNvSpPr/>
          <p:nvPr/>
        </p:nvSpPr>
        <p:spPr>
          <a:xfrm>
            <a:off x="514350" y="4732734"/>
            <a:ext cx="622102" cy="139005"/>
          </a:xfrm>
          <a:prstGeom prst="rect">
            <a:avLst/>
          </a:prstGeom>
          <a:noFill/>
          <a:ln/>
        </p:spPr>
        <p:txBody>
          <a:bodyPr wrap="none" lIns="0" tIns="0" rIns="0" bIns="0" rtlCol="0" anchor="t"/>
          <a:lstStyle/>
          <a:p>
            <a:pPr marL="0" indent="0" algn="l">
              <a:lnSpc>
                <a:spcPts val="1095"/>
              </a:lnSpc>
              <a:buNone/>
            </a:pPr>
            <a:r>
              <a:rPr lang="en-US" sz="730" kern="0" spc="44" dirty="0">
                <a:solidFill>
                  <a:srgbClr val="FFFFFF">
                    <a:alpha val="30000"/>
                  </a:srgbClr>
                </a:solidFill>
                <a:latin typeface="Calibri" pitchFamily="34" charset="0"/>
                <a:ea typeface="Calibri" pitchFamily="34" charset="-122"/>
                <a:cs typeface="Calibri" pitchFamily="34" charset="-120"/>
              </a:rPr>
              <a:t>Centerstone</a:t>
            </a:r>
            <a:endParaRPr lang="en-US" sz="730" dirty="0"/>
          </a:p>
        </p:txBody>
      </p:sp>
      <p:sp>
        <p:nvSpPr>
          <p:cNvPr id="18" name="Text 16"/>
          <p:cNvSpPr/>
          <p:nvPr/>
        </p:nvSpPr>
        <p:spPr>
          <a:xfrm>
            <a:off x="8130480" y="4732734"/>
            <a:ext cx="549086" cy="139005"/>
          </a:xfrm>
          <a:prstGeom prst="rect">
            <a:avLst/>
          </a:prstGeom>
          <a:noFill/>
          <a:ln/>
        </p:spPr>
        <p:txBody>
          <a:bodyPr wrap="none" lIns="0" tIns="0" rIns="0" bIns="0" rtlCol="0" anchor="t"/>
          <a:lstStyle/>
          <a:p>
            <a:pPr marL="0" indent="0" algn="l">
              <a:lnSpc>
                <a:spcPts val="1095"/>
              </a:lnSpc>
              <a:buNone/>
            </a:pPr>
            <a:r>
              <a:rPr lang="en-US" sz="730" kern="0" spc="58" dirty="0">
                <a:solidFill>
                  <a:srgbClr val="FFFFFF">
                    <a:alpha val="45000"/>
                  </a:srgbClr>
                </a:solidFill>
                <a:latin typeface="Calibri" pitchFamily="34" charset="0"/>
                <a:ea typeface="Calibri" pitchFamily="34" charset="-122"/>
                <a:cs typeface="Calibri" pitchFamily="34" charset="-120"/>
              </a:rPr>
              <a:t>June 2026</a:t>
            </a:r>
            <a:endParaRPr lang="en-US" sz="7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2715220" cy="5143500"/>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2693641" y="429260"/>
            <a:ext cx="21579" cy="4285059"/>
          </a:xfrm>
          <a:prstGeom prst="rect">
            <a:avLst/>
          </a:prstGeom>
          <a:gradFill rotWithShape="1">
            <a:gsLst>
              <a:gs pos="0">
                <a:srgbClr val="000000">
                  <a:alpha val="0"/>
                </a:srgbClr>
              </a:gs>
              <a:gs pos="30000">
                <a:srgbClr val="FAB753">
                  <a:alpha val="55000"/>
                </a:srgbClr>
              </a:gs>
              <a:gs pos="70000">
                <a:srgbClr val="FAB753">
                  <a:alpha val="55000"/>
                </a:srgbClr>
              </a:gs>
              <a:gs pos="100000">
                <a:srgbClr val="000000">
                  <a:alpha val="0"/>
                </a:srgbClr>
              </a:gs>
            </a:gsLst>
            <a:lin ang="5400000" scaled="1"/>
          </a:gradFill>
          <a:ln/>
        </p:spPr>
        <p:txBody>
          <a:bodyPr wrap="square" rtlCol="0" anchor="t"/>
          <a:lstStyle/>
          <a:p>
            <a:pPr marL="0" indent="0">
              <a:buNone/>
            </a:pPr>
            <a:endParaRPr lang="en-US" dirty="0"/>
          </a:p>
        </p:txBody>
      </p:sp>
      <p:sp>
        <p:nvSpPr>
          <p:cNvPr id="5" name="Text 3"/>
          <p:cNvSpPr/>
          <p:nvPr/>
        </p:nvSpPr>
        <p:spPr>
          <a:xfrm>
            <a:off x="314920" y="1725067"/>
            <a:ext cx="2326005" cy="112216"/>
          </a:xfrm>
          <a:prstGeom prst="rect">
            <a:avLst/>
          </a:prstGeom>
          <a:noFill/>
          <a:ln/>
        </p:spPr>
        <p:txBody>
          <a:bodyPr wrap="none" lIns="0" tIns="0" rIns="0" bIns="0" rtlCol="0" anchor="t"/>
          <a:lstStyle/>
          <a:p>
            <a:pPr marL="0" indent="0" algn="l">
              <a:lnSpc>
                <a:spcPts val="885"/>
              </a:lnSpc>
              <a:buNone/>
            </a:pPr>
            <a:endParaRPr lang="en-US" sz="590" dirty="0"/>
          </a:p>
        </p:txBody>
      </p:sp>
      <p:sp>
        <p:nvSpPr>
          <p:cNvPr id="6" name="Text 4"/>
          <p:cNvSpPr/>
          <p:nvPr/>
        </p:nvSpPr>
        <p:spPr>
          <a:xfrm>
            <a:off x="361985" y="1516618"/>
            <a:ext cx="2156841" cy="585698"/>
          </a:xfrm>
          <a:prstGeom prst="rect">
            <a:avLst/>
          </a:prstGeom>
          <a:noFill/>
          <a:ln/>
        </p:spPr>
        <p:txBody>
          <a:bodyPr wrap="square" lIns="0" tIns="0" rIns="0" bIns="0" rtlCol="0" anchor="ctr"/>
          <a:lstStyle/>
          <a:p>
            <a:pPr marL="0" indent="0" algn="l">
              <a:lnSpc>
                <a:spcPts val="2197"/>
              </a:lnSpc>
              <a:buNone/>
            </a:pPr>
            <a:r>
              <a:rPr lang="en-US" sz="1910" b="1" dirty="0">
                <a:solidFill>
                  <a:srgbClr val="FFFFFF"/>
                </a:solidFill>
                <a:latin typeface="Calibri Light" pitchFamily="34" charset="0"/>
                <a:ea typeface="Calibri Light" pitchFamily="34" charset="-122"/>
                <a:cs typeface="Calibri Light" pitchFamily="34" charset="-120"/>
              </a:rPr>
              <a:t>Relationship</a:t>
            </a:r>
            <a:br>
              <a:rPr dirty="0"/>
            </a:br>
            <a:r>
              <a:rPr lang="en-US" sz="1910" b="1" dirty="0">
                <a:solidFill>
                  <a:srgbClr val="FFFFFF"/>
                </a:solidFill>
                <a:latin typeface="Calibri Light" pitchFamily="34" charset="0"/>
                <a:ea typeface="Calibri Light" pitchFamily="34" charset="-122"/>
                <a:cs typeface="Calibri Light" pitchFamily="34" charset="-120"/>
              </a:rPr>
              <a:t>Building</a:t>
            </a:r>
            <a:endParaRPr lang="en-US" sz="1910" dirty="0"/>
          </a:p>
        </p:txBody>
      </p:sp>
      <p:sp>
        <p:nvSpPr>
          <p:cNvPr id="7" name="Text 5"/>
          <p:cNvSpPr/>
          <p:nvPr/>
        </p:nvSpPr>
        <p:spPr>
          <a:xfrm>
            <a:off x="372343" y="2269126"/>
            <a:ext cx="2156841" cy="902457"/>
          </a:xfrm>
          <a:prstGeom prst="rect">
            <a:avLst/>
          </a:prstGeom>
          <a:noFill/>
          <a:ln/>
        </p:spPr>
        <p:txBody>
          <a:bodyPr wrap="square" lIns="0" tIns="0" rIns="0" bIns="0" rtlCol="0" anchor="t"/>
          <a:lstStyle/>
          <a:p>
            <a:pPr marL="0" indent="0" algn="l">
              <a:lnSpc>
                <a:spcPts val="1353"/>
              </a:lnSpc>
              <a:buNone/>
            </a:pPr>
            <a:r>
              <a:rPr lang="en-US" sz="820" dirty="0">
                <a:solidFill>
                  <a:srgbClr val="FFFFFF">
                    <a:alpha val="82000"/>
                  </a:srgbClr>
                </a:solidFill>
                <a:latin typeface="Calibri" pitchFamily="34" charset="0"/>
                <a:ea typeface="Calibri" pitchFamily="34" charset="-122"/>
                <a:cs typeface="Calibri" pitchFamily="34" charset="-120"/>
              </a:rPr>
              <a:t>This training includes interactive reflection and discussion activities, followed by a research-informed overview designed to serve as a takeaway and reference after the session.</a:t>
            </a:r>
            <a:endParaRPr lang="en-US" sz="820" dirty="0"/>
          </a:p>
        </p:txBody>
      </p:sp>
      <p:pic>
        <p:nvPicPr>
          <p:cNvPr id="8" name="Image 0" descr="preencoded.png"/>
          <p:cNvPicPr>
            <a:picLocks noChangeAspect="1"/>
          </p:cNvPicPr>
          <p:nvPr/>
        </p:nvPicPr>
        <p:blipFill>
          <a:blip>
            <a:alphaModFix amt="12000"/>
            <a:extLst>
              <a:ext uri="{96DAC541-7B7A-43D3-8B79-37D633B846F1}">
                <asvg:svgBlip xmlns:asvg="http://schemas.microsoft.com/office/drawing/2016/SVG/main" r:embed="rId3"/>
              </a:ext>
            </a:extLst>
          </a:blip>
          <a:stretch>
            <a:fillRect/>
          </a:stretch>
        </p:blipFill>
        <p:spPr>
          <a:xfrm>
            <a:off x="2200573" y="4585692"/>
            <a:ext cx="300038" cy="300038"/>
          </a:xfrm>
          <a:prstGeom prst="rect">
            <a:avLst/>
          </a:prstGeom>
        </p:spPr>
      </p:pic>
      <p:sp>
        <p:nvSpPr>
          <p:cNvPr id="9" name="Text 6"/>
          <p:cNvSpPr/>
          <p:nvPr/>
        </p:nvSpPr>
        <p:spPr>
          <a:xfrm>
            <a:off x="2715220" y="0"/>
            <a:ext cx="6428780" cy="5143500"/>
          </a:xfrm>
          <a:prstGeom prst="rect">
            <a:avLst/>
          </a:prstGeom>
          <a:solidFill>
            <a:srgbClr val="FFFFFF"/>
          </a:solidFill>
          <a:ln/>
        </p:spPr>
        <p:txBody>
          <a:bodyPr wrap="square" rtlCol="0" anchor="t"/>
          <a:lstStyle/>
          <a:p>
            <a:pPr marL="0" indent="0">
              <a:buNone/>
            </a:pPr>
            <a:endParaRPr lang="en-US" dirty="0"/>
          </a:p>
        </p:txBody>
      </p:sp>
      <p:sp>
        <p:nvSpPr>
          <p:cNvPr id="10" name="Text 7"/>
          <p:cNvSpPr/>
          <p:nvPr/>
        </p:nvSpPr>
        <p:spPr>
          <a:xfrm>
            <a:off x="3087291" y="1471910"/>
            <a:ext cx="6082564" cy="222498"/>
          </a:xfrm>
          <a:prstGeom prst="rect">
            <a:avLst/>
          </a:prstGeom>
          <a:noFill/>
          <a:ln/>
        </p:spPr>
        <p:txBody>
          <a:bodyPr wrap="none" lIns="0" tIns="0" rIns="0" bIns="0" rtlCol="0" anchor="t"/>
          <a:lstStyle/>
          <a:p>
            <a:pPr marL="0" indent="0" algn="l">
              <a:lnSpc>
                <a:spcPts val="1752"/>
              </a:lnSpc>
              <a:buNone/>
            </a:pPr>
            <a:r>
              <a:rPr lang="en-US" sz="1460" b="1" dirty="0">
                <a:solidFill>
                  <a:srgbClr val="1B5E72"/>
                </a:solidFill>
                <a:latin typeface="Calibri Light" pitchFamily="34" charset="0"/>
                <a:ea typeface="Calibri Light" pitchFamily="34" charset="-122"/>
                <a:cs typeface="Calibri Light" pitchFamily="34" charset="-120"/>
              </a:rPr>
              <a:t>Welcome to Today's Training</a:t>
            </a:r>
            <a:endParaRPr lang="en-US" sz="1460" dirty="0"/>
          </a:p>
        </p:txBody>
      </p:sp>
      <p:sp>
        <p:nvSpPr>
          <p:cNvPr id="11" name="Text 8"/>
          <p:cNvSpPr/>
          <p:nvPr/>
        </p:nvSpPr>
        <p:spPr>
          <a:xfrm>
            <a:off x="3087291" y="1765399"/>
            <a:ext cx="5537835" cy="336917"/>
          </a:xfrm>
          <a:prstGeom prst="rect">
            <a:avLst/>
          </a:prstGeom>
          <a:noFill/>
          <a:ln/>
        </p:spPr>
        <p:txBody>
          <a:bodyPr wrap="square" lIns="0" tIns="0" rIns="0" bIns="0" rtlCol="0" anchor="t"/>
          <a:lstStyle/>
          <a:p>
            <a:pPr marL="0" indent="0" algn="l">
              <a:lnSpc>
                <a:spcPts val="1264"/>
              </a:lnSpc>
              <a:buNone/>
            </a:pPr>
            <a:r>
              <a:rPr lang="en-US" sz="790" dirty="0">
                <a:solidFill>
                  <a:srgbClr val="2C2C2C"/>
                </a:solidFill>
                <a:latin typeface="Calibri" pitchFamily="34" charset="0"/>
                <a:ea typeface="Calibri" pitchFamily="34" charset="-122"/>
                <a:cs typeface="Calibri" pitchFamily="34" charset="-120"/>
              </a:rPr>
              <a:t>In this session we will focus on how intentional, consistent relationships support effective clinical work, reduce barriers to care, and strengthen outcomes across school, family, and team systems.</a:t>
            </a:r>
            <a:endParaRPr lang="en-US" sz="790" dirty="0"/>
          </a:p>
        </p:txBody>
      </p:sp>
      <p:sp>
        <p:nvSpPr>
          <p:cNvPr id="12" name="Text 9"/>
          <p:cNvSpPr/>
          <p:nvPr/>
        </p:nvSpPr>
        <p:spPr>
          <a:xfrm>
            <a:off x="3087291" y="2300883"/>
            <a:ext cx="5684639" cy="7590"/>
          </a:xfrm>
          <a:prstGeom prst="rect">
            <a:avLst/>
          </a:prstGeom>
          <a:gradFill rotWithShape="1">
            <a:gsLst>
              <a:gs pos="0">
                <a:srgbClr val="EAF4F4"/>
              </a:gs>
              <a:gs pos="50000">
                <a:srgbClr val="D0E8E8"/>
              </a:gs>
              <a:gs pos="100000">
                <a:srgbClr val="EAF4F4"/>
              </a:gs>
            </a:gsLst>
            <a:lin ang="0" scaled="1"/>
          </a:gradFill>
          <a:ln/>
        </p:spPr>
        <p:txBody>
          <a:bodyPr wrap="none" rtlCol="0" anchor="t"/>
          <a:lstStyle/>
          <a:p>
            <a:pPr marL="0" indent="0">
              <a:buNone/>
            </a:pPr>
            <a:endParaRPr lang="en-US" dirty="0"/>
          </a:p>
        </p:txBody>
      </p:sp>
      <p:sp>
        <p:nvSpPr>
          <p:cNvPr id="13" name="Text 10"/>
          <p:cNvSpPr/>
          <p:nvPr/>
        </p:nvSpPr>
        <p:spPr>
          <a:xfrm>
            <a:off x="3087291" y="2408783"/>
            <a:ext cx="6253103" cy="150465"/>
          </a:xfrm>
          <a:prstGeom prst="rect">
            <a:avLst/>
          </a:prstGeom>
          <a:noFill/>
          <a:ln/>
        </p:spPr>
        <p:txBody>
          <a:bodyPr wrap="none" lIns="0" tIns="0" rIns="0" bIns="0" rtlCol="0" anchor="t"/>
          <a:lstStyle/>
          <a:p>
            <a:pPr marL="0" indent="0" algn="l">
              <a:lnSpc>
                <a:spcPts val="1185"/>
              </a:lnSpc>
              <a:buNone/>
            </a:pPr>
            <a:r>
              <a:rPr lang="en-US" sz="790" b="1" kern="0" spc="8" dirty="0">
                <a:solidFill>
                  <a:srgbClr val="1B5E72"/>
                </a:solidFill>
                <a:latin typeface="Calibri" pitchFamily="34" charset="0"/>
                <a:ea typeface="Calibri" pitchFamily="34" charset="-122"/>
                <a:cs typeface="Calibri" pitchFamily="34" charset="-120"/>
              </a:rPr>
              <a:t>Objectives — By the end of this training you will be able to:</a:t>
            </a:r>
            <a:endParaRPr lang="en-US" sz="790" dirty="0"/>
          </a:p>
        </p:txBody>
      </p:sp>
      <p:sp>
        <p:nvSpPr>
          <p:cNvPr id="14" name="Text 11"/>
          <p:cNvSpPr/>
          <p:nvPr/>
        </p:nvSpPr>
        <p:spPr>
          <a:xfrm>
            <a:off x="3087291" y="2653159"/>
            <a:ext cx="157460" cy="157460"/>
          </a:xfrm>
          <a:prstGeom prst="ellipse">
            <a:avLst/>
          </a:prstGeom>
          <a:solidFill>
            <a:srgbClr val="FAB753"/>
          </a:solidFill>
          <a:ln/>
        </p:spPr>
        <p:txBody>
          <a:bodyPr wrap="none" rtlCol="0" anchor="t"/>
          <a:lstStyle/>
          <a:p>
            <a:pPr marL="0" indent="0">
              <a:buNone/>
            </a:pPr>
            <a:endParaRPr lang="en-US" dirty="0"/>
          </a:p>
        </p:txBody>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99652" y="2665521"/>
            <a:ext cx="132588" cy="132588"/>
          </a:xfrm>
          <a:prstGeom prst="rect">
            <a:avLst/>
          </a:prstGeom>
        </p:spPr>
      </p:pic>
      <p:sp>
        <p:nvSpPr>
          <p:cNvPr id="16" name="Text 12"/>
          <p:cNvSpPr/>
          <p:nvPr/>
        </p:nvSpPr>
        <p:spPr>
          <a:xfrm>
            <a:off x="3331071" y="2645569"/>
            <a:ext cx="5984944" cy="149572"/>
          </a:xfrm>
          <a:prstGeom prst="rect">
            <a:avLst/>
          </a:prstGeom>
          <a:noFill/>
          <a:ln/>
        </p:spPr>
        <p:txBody>
          <a:bodyPr wrap="none" lIns="0" tIns="0" rIns="0" bIns="0" rtlCol="0" anchor="t"/>
          <a:lstStyle/>
          <a:p>
            <a:pPr marL="0" indent="0" algn="l">
              <a:lnSpc>
                <a:spcPts val="1178"/>
              </a:lnSpc>
              <a:buNone/>
            </a:pPr>
            <a:r>
              <a:rPr lang="en-US" sz="760" dirty="0">
                <a:solidFill>
                  <a:srgbClr val="2C2C2C"/>
                </a:solidFill>
                <a:latin typeface="Calibri" pitchFamily="34" charset="0"/>
                <a:ea typeface="Calibri" pitchFamily="34" charset="-122"/>
                <a:cs typeface="Calibri" pitchFamily="34" charset="-120"/>
              </a:rPr>
              <a:t>Recognize the role of relationship building as a foundational clinical skill in school-based therapy.</a:t>
            </a:r>
            <a:endParaRPr lang="en-US" sz="760" dirty="0"/>
          </a:p>
        </p:txBody>
      </p:sp>
      <p:sp>
        <p:nvSpPr>
          <p:cNvPr id="17" name="Text 13"/>
          <p:cNvSpPr/>
          <p:nvPr/>
        </p:nvSpPr>
        <p:spPr>
          <a:xfrm>
            <a:off x="3087291" y="2875359"/>
            <a:ext cx="157460" cy="157460"/>
          </a:xfrm>
          <a:prstGeom prst="ellipse">
            <a:avLst/>
          </a:prstGeom>
          <a:solidFill>
            <a:srgbClr val="FAB753"/>
          </a:solidFill>
          <a:ln/>
        </p:spPr>
        <p:txBody>
          <a:bodyPr wrap="none" rtlCol="0" anchor="t"/>
          <a:lstStyle/>
          <a:p>
            <a:pPr marL="0" indent="0">
              <a:buNone/>
            </a:pPr>
            <a:endParaRPr lang="en-US" dirty="0"/>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99652" y="2887721"/>
            <a:ext cx="132588" cy="132588"/>
          </a:xfrm>
          <a:prstGeom prst="rect">
            <a:avLst/>
          </a:prstGeom>
        </p:spPr>
      </p:pic>
      <p:sp>
        <p:nvSpPr>
          <p:cNvPr id="19" name="Text 14"/>
          <p:cNvSpPr/>
          <p:nvPr/>
        </p:nvSpPr>
        <p:spPr>
          <a:xfrm>
            <a:off x="3331071" y="2867769"/>
            <a:ext cx="5984944" cy="149572"/>
          </a:xfrm>
          <a:prstGeom prst="rect">
            <a:avLst/>
          </a:prstGeom>
          <a:noFill/>
          <a:ln/>
        </p:spPr>
        <p:txBody>
          <a:bodyPr wrap="none" lIns="0" tIns="0" rIns="0" bIns="0" rtlCol="0" anchor="t"/>
          <a:lstStyle/>
          <a:p>
            <a:pPr marL="0" indent="0" algn="l">
              <a:lnSpc>
                <a:spcPts val="1178"/>
              </a:lnSpc>
              <a:buNone/>
            </a:pPr>
            <a:r>
              <a:rPr lang="en-US" sz="760" dirty="0">
                <a:solidFill>
                  <a:srgbClr val="2C2C2C"/>
                </a:solidFill>
                <a:latin typeface="Calibri" pitchFamily="34" charset="0"/>
                <a:ea typeface="Calibri" pitchFamily="34" charset="-122"/>
                <a:cs typeface="Calibri" pitchFamily="34" charset="-120"/>
              </a:rPr>
              <a:t>Identify key practices that strengthen relationships with schools, parents and caregivers, and teammates.</a:t>
            </a:r>
            <a:endParaRPr lang="en-US" sz="760" dirty="0"/>
          </a:p>
        </p:txBody>
      </p:sp>
      <p:sp>
        <p:nvSpPr>
          <p:cNvPr id="20" name="Text 15"/>
          <p:cNvSpPr/>
          <p:nvPr/>
        </p:nvSpPr>
        <p:spPr>
          <a:xfrm>
            <a:off x="3087291" y="3097560"/>
            <a:ext cx="157460" cy="157460"/>
          </a:xfrm>
          <a:prstGeom prst="ellipse">
            <a:avLst/>
          </a:prstGeom>
          <a:solidFill>
            <a:srgbClr val="FAB753"/>
          </a:solidFill>
          <a:ln/>
        </p:spPr>
        <p:txBody>
          <a:bodyPr wrap="none" rtlCol="0" anchor="t"/>
          <a:lstStyle/>
          <a:p>
            <a:pPr marL="0" indent="0">
              <a:buNone/>
            </a:pPr>
            <a:endParaRPr lang="en-US" dirty="0"/>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099652" y="3109921"/>
            <a:ext cx="132588" cy="132588"/>
          </a:xfrm>
          <a:prstGeom prst="rect">
            <a:avLst/>
          </a:prstGeom>
        </p:spPr>
      </p:pic>
      <p:sp>
        <p:nvSpPr>
          <p:cNvPr id="22" name="Text 16"/>
          <p:cNvSpPr/>
          <p:nvPr/>
        </p:nvSpPr>
        <p:spPr>
          <a:xfrm>
            <a:off x="3331071" y="3089970"/>
            <a:ext cx="5984944" cy="149572"/>
          </a:xfrm>
          <a:prstGeom prst="rect">
            <a:avLst/>
          </a:prstGeom>
          <a:noFill/>
          <a:ln/>
        </p:spPr>
        <p:txBody>
          <a:bodyPr wrap="none" lIns="0" tIns="0" rIns="0" bIns="0" rtlCol="0" anchor="t"/>
          <a:lstStyle/>
          <a:p>
            <a:pPr marL="0" indent="0" algn="l">
              <a:lnSpc>
                <a:spcPts val="1178"/>
              </a:lnSpc>
              <a:buNone/>
            </a:pPr>
            <a:r>
              <a:rPr lang="en-US" sz="760" dirty="0">
                <a:solidFill>
                  <a:srgbClr val="2C2C2C"/>
                </a:solidFill>
                <a:latin typeface="Calibri" pitchFamily="34" charset="0"/>
                <a:ea typeface="Calibri" pitchFamily="34" charset="-122"/>
                <a:cs typeface="Calibri" pitchFamily="34" charset="-120"/>
              </a:rPr>
              <a:t>Reflect on how first impressions, consistency, boundaries, and follow-through impact trust across systems.</a:t>
            </a:r>
            <a:endParaRPr lang="en-US" sz="760" dirty="0"/>
          </a:p>
        </p:txBody>
      </p:sp>
      <p:sp>
        <p:nvSpPr>
          <p:cNvPr id="23" name="Text 17"/>
          <p:cNvSpPr/>
          <p:nvPr/>
        </p:nvSpPr>
        <p:spPr>
          <a:xfrm>
            <a:off x="3087291" y="3319760"/>
            <a:ext cx="157460" cy="157460"/>
          </a:xfrm>
          <a:prstGeom prst="ellipse">
            <a:avLst/>
          </a:prstGeom>
          <a:solidFill>
            <a:srgbClr val="FAB753"/>
          </a:solidFill>
          <a:ln/>
        </p:spPr>
        <p:txBody>
          <a:bodyPr wrap="none" rtlCol="0" anchor="t"/>
          <a:lstStyle/>
          <a:p>
            <a:pPr marL="0" indent="0">
              <a:buNone/>
            </a:pPr>
            <a:endParaRPr lang="en-US" dirty="0"/>
          </a:p>
        </p:txBody>
      </p:sp>
      <p:pic>
        <p:nvPicPr>
          <p:cNvPr id="24"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099652" y="3332122"/>
            <a:ext cx="132588" cy="132588"/>
          </a:xfrm>
          <a:prstGeom prst="rect">
            <a:avLst/>
          </a:prstGeom>
        </p:spPr>
      </p:pic>
      <p:sp>
        <p:nvSpPr>
          <p:cNvPr id="25" name="Text 18"/>
          <p:cNvSpPr/>
          <p:nvPr/>
        </p:nvSpPr>
        <p:spPr>
          <a:xfrm>
            <a:off x="3331071" y="3312170"/>
            <a:ext cx="5984944" cy="149572"/>
          </a:xfrm>
          <a:prstGeom prst="rect">
            <a:avLst/>
          </a:prstGeom>
          <a:noFill/>
          <a:ln/>
        </p:spPr>
        <p:txBody>
          <a:bodyPr wrap="none" lIns="0" tIns="0" rIns="0" bIns="0" rtlCol="0" anchor="t"/>
          <a:lstStyle/>
          <a:p>
            <a:pPr marL="0" indent="0" algn="l">
              <a:lnSpc>
                <a:spcPts val="1178"/>
              </a:lnSpc>
              <a:buNone/>
            </a:pPr>
            <a:r>
              <a:rPr lang="en-US" sz="760" dirty="0">
                <a:solidFill>
                  <a:srgbClr val="2C2C2C"/>
                </a:solidFill>
                <a:latin typeface="Calibri" pitchFamily="34" charset="0"/>
                <a:ea typeface="Calibri" pitchFamily="34" charset="-122"/>
                <a:cs typeface="Calibri" pitchFamily="34" charset="-120"/>
              </a:rPr>
              <a:t>Practice perspective-taking and relational decision-making through guided activities.</a:t>
            </a:r>
            <a:endParaRPr lang="en-US" sz="760" dirty="0"/>
          </a:p>
        </p:txBody>
      </p:sp>
      <p:sp>
        <p:nvSpPr>
          <p:cNvPr id="26" name="Text 19"/>
          <p:cNvSpPr/>
          <p:nvPr/>
        </p:nvSpPr>
        <p:spPr>
          <a:xfrm>
            <a:off x="3087291" y="3541961"/>
            <a:ext cx="157460" cy="157460"/>
          </a:xfrm>
          <a:prstGeom prst="ellipse">
            <a:avLst/>
          </a:prstGeom>
          <a:solidFill>
            <a:srgbClr val="FAB753"/>
          </a:solidFill>
          <a:ln/>
        </p:spPr>
        <p:txBody>
          <a:bodyPr wrap="none" rtlCol="0" anchor="t"/>
          <a:lstStyle/>
          <a:p>
            <a:pPr marL="0" indent="0">
              <a:buNone/>
            </a:pPr>
            <a:endParaRPr lang="en-US" dirty="0"/>
          </a:p>
        </p:txBody>
      </p:sp>
      <p:pic>
        <p:nvPicPr>
          <p:cNvPr id="27"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099652" y="3554322"/>
            <a:ext cx="132588" cy="132588"/>
          </a:xfrm>
          <a:prstGeom prst="rect">
            <a:avLst/>
          </a:prstGeom>
        </p:spPr>
      </p:pic>
      <p:sp>
        <p:nvSpPr>
          <p:cNvPr id="28" name="Text 20"/>
          <p:cNvSpPr/>
          <p:nvPr/>
        </p:nvSpPr>
        <p:spPr>
          <a:xfrm>
            <a:off x="3331071" y="3534370"/>
            <a:ext cx="5984944" cy="149572"/>
          </a:xfrm>
          <a:prstGeom prst="rect">
            <a:avLst/>
          </a:prstGeom>
          <a:noFill/>
          <a:ln/>
        </p:spPr>
        <p:txBody>
          <a:bodyPr wrap="none" lIns="0" tIns="0" rIns="0" bIns="0" rtlCol="0" anchor="t"/>
          <a:lstStyle/>
          <a:p>
            <a:pPr marL="0" indent="0" algn="l">
              <a:lnSpc>
                <a:spcPts val="1178"/>
              </a:lnSpc>
              <a:buNone/>
            </a:pPr>
            <a:r>
              <a:rPr lang="en-US" sz="760" dirty="0">
                <a:solidFill>
                  <a:srgbClr val="2C2C2C"/>
                </a:solidFill>
                <a:latin typeface="Calibri" pitchFamily="34" charset="0"/>
                <a:ea typeface="Calibri" pitchFamily="34" charset="-122"/>
                <a:cs typeface="Calibri" pitchFamily="34" charset="-120"/>
              </a:rPr>
              <a:t>Identify at least one intentional relational practice to apply in their current role.</a:t>
            </a:r>
            <a:endParaRPr lang="en-US" sz="760" dirty="0"/>
          </a:p>
        </p:txBody>
      </p:sp>
      <p:sp>
        <p:nvSpPr>
          <p:cNvPr id="29" name="Text 21"/>
          <p:cNvSpPr/>
          <p:nvPr/>
        </p:nvSpPr>
        <p:spPr>
          <a:xfrm>
            <a:off x="1715691" y="0"/>
            <a:ext cx="1428750" cy="999490"/>
          </a:xfrm>
          <a:prstGeom prst="ellipse">
            <a:avLst/>
          </a:prstGeom>
          <a:solidFill>
            <a:srgbClr val="FFFFFF">
              <a:alpha val="4000"/>
            </a:srgbClr>
          </a:solidFill>
          <a:ln/>
        </p:spPr>
        <p:txBody>
          <a:bodyPr wrap="square" rtlCol="0" anchor="t"/>
          <a:lstStyle/>
          <a:p>
            <a:pPr marL="0" indent="0">
              <a:buNone/>
            </a:pPr>
            <a:endParaRPr lang="en-US" dirty="0"/>
          </a:p>
        </p:txBody>
      </p:sp>
      <p:sp>
        <p:nvSpPr>
          <p:cNvPr id="30" name="Text 22"/>
          <p:cNvSpPr/>
          <p:nvPr/>
        </p:nvSpPr>
        <p:spPr>
          <a:xfrm>
            <a:off x="0" y="4000500"/>
            <a:ext cx="1428750" cy="1143000"/>
          </a:xfrm>
          <a:prstGeom prst="ellipse">
            <a:avLst/>
          </a:prstGeom>
          <a:solidFill>
            <a:srgbClr val="FFFFFF">
              <a:alpha val="3000"/>
            </a:srgbClr>
          </a:solidFill>
          <a:ln/>
        </p:spPr>
        <p:txBody>
          <a:bodyPr wrap="square" rtlCol="0" anchor="t"/>
          <a:lstStyle/>
          <a:p>
            <a:pPr marL="0" indent="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FFFFF"/>
          </a:solidFill>
          <a:ln/>
        </p:spPr>
        <p:txBody>
          <a:bodyPr wrap="square" rtlCol="0" anchor="t"/>
          <a:lstStyle/>
          <a:p>
            <a:pPr marL="0" indent="0">
              <a:buNone/>
            </a:pPr>
            <a:endParaRPr lang="en-US" dirty="0"/>
          </a:p>
        </p:txBody>
      </p:sp>
      <p:sp>
        <p:nvSpPr>
          <p:cNvPr id="3" name="Text 1"/>
          <p:cNvSpPr/>
          <p:nvPr/>
        </p:nvSpPr>
        <p:spPr>
          <a:xfrm>
            <a:off x="0" y="0"/>
            <a:ext cx="9144000" cy="43160"/>
          </a:xfrm>
          <a:prstGeom prst="rect">
            <a:avLst/>
          </a:prstGeom>
          <a:gradFill rotWithShape="1">
            <a:gsLst>
              <a:gs pos="60000">
                <a:srgbClr val="1B5E72"/>
              </a:gs>
              <a:gs pos="100000">
                <a:srgbClr val="FAB753"/>
              </a:gs>
            </a:gsLst>
            <a:lin ang="0" scaled="1"/>
          </a:gradFill>
          <a:ln/>
        </p:spPr>
        <p:txBody>
          <a:bodyPr wrap="none" rtlCol="0" anchor="t"/>
          <a:lstStyle/>
          <a:p>
            <a:pPr marL="0" indent="0">
              <a:buNone/>
            </a:pPr>
            <a:endParaRPr lang="en-US" dirty="0"/>
          </a:p>
        </p:txBody>
      </p:sp>
      <p:sp>
        <p:nvSpPr>
          <p:cNvPr id="4" name="Text 2"/>
          <p:cNvSpPr/>
          <p:nvPr/>
        </p:nvSpPr>
        <p:spPr>
          <a:xfrm>
            <a:off x="491490" y="358080"/>
            <a:ext cx="8161020" cy="378172"/>
          </a:xfrm>
          <a:prstGeom prst="rect">
            <a:avLst/>
          </a:prstGeom>
          <a:noFill/>
          <a:ln/>
        </p:spPr>
        <p:txBody>
          <a:bodyPr wrap="none" lIns="0" tIns="0" rIns="0" bIns="0" rtlCol="0" anchor="t"/>
          <a:lstStyle/>
          <a:p>
            <a:pPr marL="0" indent="0" algn="ctr">
              <a:lnSpc>
                <a:spcPts val="2978"/>
              </a:lnSpc>
              <a:buNone/>
            </a:pPr>
            <a:r>
              <a:rPr lang="en-US" sz="2590" b="1" kern="0" spc="-30" dirty="0">
                <a:solidFill>
                  <a:srgbClr val="1B5E72"/>
                </a:solidFill>
                <a:latin typeface="Calibri Light" pitchFamily="34" charset="0"/>
                <a:ea typeface="Calibri Light" pitchFamily="34" charset="-122"/>
                <a:cs typeface="Calibri Light" pitchFamily="34" charset="-120"/>
              </a:rPr>
              <a:t>Why This Training Matters</a:t>
            </a:r>
            <a:endParaRPr lang="en-US" sz="2590" dirty="0"/>
          </a:p>
        </p:txBody>
      </p:sp>
      <p:sp>
        <p:nvSpPr>
          <p:cNvPr id="5" name="Text 3"/>
          <p:cNvSpPr/>
          <p:nvPr/>
        </p:nvSpPr>
        <p:spPr>
          <a:xfrm>
            <a:off x="4286250" y="836563"/>
            <a:ext cx="571500" cy="29170"/>
          </a:xfrm>
          <a:prstGeom prst="roundRect">
            <a:avLst>
              <a:gd name="adj" fmla="val 47892"/>
            </a:avLst>
          </a:prstGeom>
          <a:solidFill>
            <a:srgbClr val="FAB753"/>
          </a:solidFill>
          <a:ln/>
        </p:spPr>
        <p:txBody>
          <a:bodyPr wrap="none" rtlCol="0" anchor="t"/>
          <a:lstStyle/>
          <a:p>
            <a:pPr marL="0" indent="0">
              <a:buNone/>
            </a:pPr>
            <a:endParaRPr lang="en-US" dirty="0"/>
          </a:p>
        </p:txBody>
      </p:sp>
      <p:sp>
        <p:nvSpPr>
          <p:cNvPr id="6" name="Text 4"/>
          <p:cNvSpPr/>
          <p:nvPr/>
        </p:nvSpPr>
        <p:spPr>
          <a:xfrm>
            <a:off x="685800" y="1123504"/>
            <a:ext cx="35421" cy="1857970"/>
          </a:xfrm>
          <a:prstGeom prst="roundRect">
            <a:avLst>
              <a:gd name="adj" fmla="val 60953"/>
            </a:avLst>
          </a:prstGeom>
          <a:solidFill>
            <a:srgbClr val="FAB753"/>
          </a:solidFill>
          <a:ln/>
        </p:spPr>
        <p:txBody>
          <a:bodyPr wrap="square" rtlCol="0" anchor="t"/>
          <a:lstStyle/>
          <a:p>
            <a:pPr marL="0" indent="0">
              <a:buNone/>
            </a:pPr>
            <a:endParaRPr lang="en-US" dirty="0"/>
          </a:p>
        </p:txBody>
      </p:sp>
      <p:sp>
        <p:nvSpPr>
          <p:cNvPr id="7" name="Text 5"/>
          <p:cNvSpPr/>
          <p:nvPr/>
        </p:nvSpPr>
        <p:spPr>
          <a:xfrm>
            <a:off x="978991" y="1094333"/>
            <a:ext cx="7628793" cy="704151"/>
          </a:xfrm>
          <a:prstGeom prst="rect">
            <a:avLst/>
          </a:prstGeom>
          <a:noFill/>
          <a:ln/>
        </p:spPr>
        <p:txBody>
          <a:bodyPr wrap="square" lIns="0" tIns="0" rIns="0" bIns="0" rtlCol="0" anchor="t"/>
          <a:lstStyle/>
          <a:p>
            <a:pPr marL="0" indent="0" algn="l">
              <a:lnSpc>
                <a:spcPts val="1760"/>
              </a:lnSpc>
              <a:buNone/>
            </a:pPr>
            <a:r>
              <a:rPr lang="en-US" sz="1100" dirty="0">
                <a:solidFill>
                  <a:srgbClr val="2C2C2C"/>
                </a:solidFill>
                <a:latin typeface="Calibri" pitchFamily="34" charset="0"/>
                <a:ea typeface="Calibri" pitchFamily="34" charset="-122"/>
                <a:cs typeface="Calibri" pitchFamily="34" charset="-120"/>
              </a:rPr>
              <a:t>Relationship building is central to effective school-based therapy. How therapists engage with schools, families, and colleagues directly affects trust, access to care, engagement, and follow-through. Strong relationships reduce friction, support collaboration, and create the conditions necessary for meaningful clinical work.</a:t>
            </a:r>
            <a:endParaRPr lang="en-US" sz="1100" dirty="0"/>
          </a:p>
        </p:txBody>
      </p:sp>
      <p:sp>
        <p:nvSpPr>
          <p:cNvPr id="8" name="Text 6"/>
          <p:cNvSpPr/>
          <p:nvPr/>
        </p:nvSpPr>
        <p:spPr>
          <a:xfrm>
            <a:off x="978991" y="1950244"/>
            <a:ext cx="7628793" cy="704151"/>
          </a:xfrm>
          <a:prstGeom prst="rect">
            <a:avLst/>
          </a:prstGeom>
          <a:noFill/>
          <a:ln/>
        </p:spPr>
        <p:txBody>
          <a:bodyPr wrap="square" lIns="0" tIns="0" rIns="0" bIns="0" rtlCol="0" anchor="t"/>
          <a:lstStyle/>
          <a:p>
            <a:pPr marL="0" indent="0" algn="l">
              <a:lnSpc>
                <a:spcPts val="1760"/>
              </a:lnSpc>
              <a:buNone/>
            </a:pPr>
            <a:r>
              <a:rPr lang="en-US" sz="1100" dirty="0">
                <a:solidFill>
                  <a:srgbClr val="2C2C2C"/>
                </a:solidFill>
                <a:latin typeface="Calibri" pitchFamily="34" charset="0"/>
                <a:ea typeface="Calibri" pitchFamily="34" charset="-122"/>
                <a:cs typeface="Calibri" pitchFamily="34" charset="-120"/>
              </a:rPr>
              <a:t>This training emphasizes intentional, consistent relational practices that support both client outcomes and therapist sustainability. By strengthening how we show up within systems, we improve not only individual relationships, but the effectiveness of the program as a whole.</a:t>
            </a:r>
            <a:endParaRPr lang="en-US" sz="1100" dirty="0"/>
          </a:p>
        </p:txBody>
      </p:sp>
      <p:sp>
        <p:nvSpPr>
          <p:cNvPr id="9" name="Text 7"/>
          <p:cNvSpPr/>
          <p:nvPr/>
        </p:nvSpPr>
        <p:spPr>
          <a:xfrm>
            <a:off x="0" y="4623941"/>
            <a:ext cx="9144000" cy="519559"/>
          </a:xfrm>
          <a:prstGeom prst="rect">
            <a:avLst/>
          </a:prstGeom>
          <a:solidFill>
            <a:srgbClr val="FAB753"/>
          </a:solidFill>
          <a:ln/>
        </p:spPr>
        <p:txBody>
          <a:bodyPr wrap="square" rtlCol="0" anchor="t"/>
          <a:lstStyle/>
          <a:p>
            <a:pPr marL="0" indent="0">
              <a:buNone/>
            </a:pPr>
            <a:endParaRPr lang="en-US" dirty="0"/>
          </a:p>
        </p:txBody>
      </p:sp>
      <p:pic>
        <p:nvPicPr>
          <p:cNvPr id="10" name="Image 0" descr="preencoded.png"/>
          <p:cNvPicPr>
            <a:picLocks noChangeAspect="1"/>
          </p:cNvPicPr>
          <p:nvPr/>
        </p:nvPicPr>
        <p:blipFill>
          <a:blip>
            <a:alphaModFix amt="60000"/>
            <a:extLst>
              <a:ext uri="{96DAC541-7B7A-43D3-8B79-37D633B846F1}">
                <asvg:svgBlip xmlns:asvg="http://schemas.microsoft.com/office/drawing/2016/SVG/main" r:embed="rId3"/>
              </a:ext>
            </a:extLst>
          </a:blip>
          <a:stretch>
            <a:fillRect/>
          </a:stretch>
        </p:blipFill>
        <p:spPr>
          <a:xfrm>
            <a:off x="1602284" y="4808488"/>
            <a:ext cx="150465" cy="150465"/>
          </a:xfrm>
          <a:prstGeom prst="rect">
            <a:avLst/>
          </a:prstGeom>
        </p:spPr>
      </p:pic>
      <p:sp>
        <p:nvSpPr>
          <p:cNvPr id="11" name="Text 8"/>
          <p:cNvSpPr/>
          <p:nvPr/>
        </p:nvSpPr>
        <p:spPr>
          <a:xfrm>
            <a:off x="1611779" y="4781401"/>
            <a:ext cx="5920442" cy="204639"/>
          </a:xfrm>
          <a:prstGeom prst="rect">
            <a:avLst/>
          </a:prstGeom>
          <a:noFill/>
          <a:ln/>
        </p:spPr>
        <p:txBody>
          <a:bodyPr wrap="none" lIns="0" tIns="0" rIns="0" bIns="0" rtlCol="0" anchor="ctr"/>
          <a:lstStyle/>
          <a:p>
            <a:pPr marL="0" indent="0" algn="ctr">
              <a:lnSpc>
                <a:spcPts val="1612"/>
              </a:lnSpc>
              <a:buNone/>
            </a:pPr>
            <a:r>
              <a:rPr lang="en-US" sz="1240" b="1" kern="0" spc="10" dirty="0">
                <a:solidFill>
                  <a:srgbClr val="1B5E72"/>
                </a:solidFill>
                <a:latin typeface="Calibri" pitchFamily="34" charset="0"/>
                <a:ea typeface="Calibri" pitchFamily="34" charset="-122"/>
                <a:cs typeface="Calibri" pitchFamily="34" charset="-120"/>
              </a:rPr>
              <a:t>How you show up in systems determines what is possible within them.</a:t>
            </a:r>
            <a:endParaRPr lang="en-US" sz="1240" dirty="0"/>
          </a:p>
        </p:txBody>
      </p:sp>
      <p:pic>
        <p:nvPicPr>
          <p:cNvPr id="12" name="Image 1" descr="preencoded.png"/>
          <p:cNvPicPr>
            <a:picLocks noChangeAspect="1"/>
          </p:cNvPicPr>
          <p:nvPr/>
        </p:nvPicPr>
        <p:blipFill>
          <a:blip>
            <a:alphaModFix amt="60000"/>
            <a:extLst>
              <a:ext uri="{96DAC541-7B7A-43D3-8B79-37D633B846F1}">
                <asvg:svgBlip xmlns:asvg="http://schemas.microsoft.com/office/drawing/2016/SVG/main" r:embed="rId4"/>
              </a:ext>
            </a:extLst>
          </a:blip>
          <a:stretch>
            <a:fillRect/>
          </a:stretch>
        </p:blipFill>
        <p:spPr>
          <a:xfrm>
            <a:off x="7391251" y="4808488"/>
            <a:ext cx="150465" cy="1504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78015"/>
          </a:xfrm>
          <a:prstGeom prst="rect">
            <a:avLst/>
          </a:prstGeom>
          <a:solidFill>
            <a:srgbClr val="1B5E72"/>
          </a:solidFill>
          <a:ln/>
        </p:spPr>
        <p:txBody>
          <a:bodyPr wrap="square" lIns="372110" tIns="128270" rIns="372110" bIns="100330" rtlCol="0" anchor="t"/>
          <a:lstStyle/>
          <a:p>
            <a:pPr marL="0" indent="0" algn="l">
              <a:buNone/>
            </a:pPr>
            <a:r>
              <a:rPr lang="en-US" sz="1580" b="1" kern="0" spc="16" dirty="0">
                <a:solidFill>
                  <a:srgbClr val="FFFFFF"/>
                </a:solidFill>
                <a:latin typeface="Calibri Light" pitchFamily="34" charset="0"/>
                <a:ea typeface="Calibri Light" pitchFamily="34" charset="-122"/>
                <a:cs typeface="Calibri Light" pitchFamily="34" charset="-120"/>
              </a:rPr>
              <a:t>Three Equally Important Relationship Domains</a:t>
            </a:r>
            <a:endParaRPr lang="en-US" sz="1580" dirty="0"/>
          </a:p>
          <a:p>
            <a:pPr marL="0" indent="0" algn="l">
              <a:buNone/>
            </a:pPr>
            <a:r>
              <a:rPr lang="en-US" sz="840" b="1" kern="0" spc="17" dirty="0">
                <a:solidFill>
                  <a:srgbClr val="FAB753"/>
                </a:solidFill>
                <a:latin typeface="Calibri" pitchFamily="34" charset="0"/>
                <a:ea typeface="Calibri" pitchFamily="34" charset="-122"/>
                <a:cs typeface="Calibri" pitchFamily="34" charset="-120"/>
              </a:rPr>
              <a:t>Purpose of this training: relationship building is foundational to effective school-based therapy.</a:t>
            </a:r>
            <a:endParaRPr lang="en-US" sz="1580" dirty="0"/>
          </a:p>
        </p:txBody>
      </p:sp>
      <p:sp>
        <p:nvSpPr>
          <p:cNvPr id="3" name="Text 1"/>
          <p:cNvSpPr/>
          <p:nvPr/>
        </p:nvSpPr>
        <p:spPr>
          <a:xfrm>
            <a:off x="342900" y="815727"/>
            <a:ext cx="2475607" cy="2095202"/>
          </a:xfrm>
          <a:prstGeom prst="roundRect">
            <a:avLst>
              <a:gd name="adj" fmla="val 3394"/>
            </a:avLst>
          </a:prstGeom>
          <a:solidFill>
            <a:srgbClr val="EAF4F4"/>
          </a:solidFill>
          <a:ln/>
        </p:spPr>
        <p:txBody>
          <a:bodyPr wrap="square" rtlCol="0" anchor="t"/>
          <a:lstStyle/>
          <a:p>
            <a:pPr marL="0" indent="0">
              <a:buNone/>
            </a:pPr>
            <a:endParaRPr lang="en-US" dirty="0"/>
          </a:p>
        </p:txBody>
      </p:sp>
      <p:sp>
        <p:nvSpPr>
          <p:cNvPr id="4" name="Text 2"/>
          <p:cNvSpPr/>
          <p:nvPr/>
        </p:nvSpPr>
        <p:spPr>
          <a:xfrm>
            <a:off x="342900" y="815727"/>
            <a:ext cx="2475607" cy="28575"/>
          </a:xfrm>
          <a:custGeom>
            <a:avLst/>
            <a:gdLst/>
            <a:ahLst/>
            <a:cxnLst/>
            <a:rect l="l" t="t" r="r" b="b"/>
            <a:pathLst>
              <a:path w="2475607" h="28575">
                <a:moveTo>
                  <a:pt x="71120" y="0"/>
                </a:moveTo>
                <a:lnTo>
                  <a:pt x="48865" y="3572"/>
                </a:lnTo>
                <a:lnTo>
                  <a:pt x="40054" y="7144"/>
                </a:lnTo>
                <a:lnTo>
                  <a:pt x="33579" y="10716"/>
                </a:lnTo>
                <a:lnTo>
                  <a:pt x="28363" y="14288"/>
                </a:lnTo>
                <a:lnTo>
                  <a:pt x="23989" y="17859"/>
                </a:lnTo>
                <a:lnTo>
                  <a:pt x="20237" y="21431"/>
                </a:lnTo>
                <a:lnTo>
                  <a:pt x="16979" y="25003"/>
                </a:lnTo>
                <a:lnTo>
                  <a:pt x="14129" y="28575"/>
                </a:lnTo>
                <a:lnTo>
                  <a:pt x="2461478" y="28575"/>
                </a:lnTo>
                <a:lnTo>
                  <a:pt x="2458628" y="25003"/>
                </a:lnTo>
                <a:lnTo>
                  <a:pt x="2455370" y="21431"/>
                </a:lnTo>
                <a:lnTo>
                  <a:pt x="2451618" y="17859"/>
                </a:lnTo>
                <a:lnTo>
                  <a:pt x="2447244" y="14288"/>
                </a:lnTo>
                <a:lnTo>
                  <a:pt x="2442029" y="10716"/>
                </a:lnTo>
                <a:lnTo>
                  <a:pt x="2435553" y="7144"/>
                </a:lnTo>
                <a:lnTo>
                  <a:pt x="2426742" y="3572"/>
                </a:lnTo>
                <a:lnTo>
                  <a:pt x="2404487" y="0"/>
                </a:lnTo>
                <a:close/>
              </a:path>
            </a:pathLst>
          </a:custGeom>
          <a:solidFill>
            <a:srgbClr val="FAB753"/>
          </a:solidFill>
          <a:ln/>
        </p:spPr>
        <p:txBody>
          <a:bodyPr wrap="none" rtlCol="0" anchor="t"/>
          <a:lstStyle/>
          <a:p>
            <a:pPr marL="0" indent="0">
              <a:buNone/>
            </a:pPr>
            <a:endParaRPr lang="en-US" dirty="0"/>
          </a:p>
        </p:txBody>
      </p:sp>
      <p:sp>
        <p:nvSpPr>
          <p:cNvPr id="5" name="Text 3"/>
          <p:cNvSpPr/>
          <p:nvPr/>
        </p:nvSpPr>
        <p:spPr>
          <a:xfrm>
            <a:off x="2500313" y="972443"/>
            <a:ext cx="171986" cy="299740"/>
          </a:xfrm>
          <a:prstGeom prst="rect">
            <a:avLst/>
          </a:prstGeom>
          <a:noFill/>
          <a:ln/>
        </p:spPr>
        <p:txBody>
          <a:bodyPr wrap="none" lIns="0" tIns="0" rIns="0" bIns="0" rtlCol="0" anchor="t"/>
          <a:lstStyle/>
          <a:p>
            <a:pPr marL="0" indent="0" algn="l">
              <a:lnSpc>
                <a:spcPts val="2360"/>
              </a:lnSpc>
              <a:buNone/>
            </a:pPr>
            <a:r>
              <a:rPr lang="en-US" sz="2360" b="1" kern="0" spc="-47" dirty="0">
                <a:solidFill>
                  <a:srgbClr val="1B5E72">
                    <a:alpha val="9000"/>
                  </a:srgbClr>
                </a:solidFill>
                <a:latin typeface="Calibri Light" pitchFamily="34" charset="0"/>
                <a:ea typeface="Calibri Light" pitchFamily="34" charset="-122"/>
                <a:cs typeface="Calibri Light" pitchFamily="34" charset="-120"/>
              </a:rPr>
              <a:t>1</a:t>
            </a:r>
            <a:endParaRPr lang="en-US" sz="2360" dirty="0"/>
          </a:p>
        </p:txBody>
      </p:sp>
      <p:sp>
        <p:nvSpPr>
          <p:cNvPr id="6" name="Text 4"/>
          <p:cNvSpPr/>
          <p:nvPr/>
        </p:nvSpPr>
        <p:spPr>
          <a:xfrm>
            <a:off x="528191" y="1029593"/>
            <a:ext cx="372070" cy="372070"/>
          </a:xfrm>
          <a:prstGeom prst="ellipse">
            <a:avLst/>
          </a:prstGeom>
          <a:solidFill>
            <a:srgbClr val="1B5E72"/>
          </a:solidFill>
          <a:ln/>
        </p:spPr>
        <p:txBody>
          <a:bodyPr wrap="square" rtlCol="0" anchor="t"/>
          <a:lstStyle/>
          <a:p>
            <a:pPr marL="0" indent="0">
              <a:buNone/>
            </a:pPr>
            <a:endParaRPr lang="en-US"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8919" y="1140321"/>
            <a:ext cx="150465" cy="150465"/>
          </a:xfrm>
          <a:prstGeom prst="rect">
            <a:avLst/>
          </a:prstGeom>
        </p:spPr>
      </p:pic>
      <p:sp>
        <p:nvSpPr>
          <p:cNvPr id="8" name="Text 5"/>
          <p:cNvSpPr/>
          <p:nvPr/>
        </p:nvSpPr>
        <p:spPr>
          <a:xfrm>
            <a:off x="528191" y="1501973"/>
            <a:ext cx="923166" cy="188863"/>
          </a:xfrm>
          <a:prstGeom prst="rect">
            <a:avLst/>
          </a:prstGeom>
          <a:noFill/>
          <a:ln/>
        </p:spPr>
        <p:txBody>
          <a:bodyPr wrap="none" lIns="0" tIns="0" rIns="0" bIns="0" rtlCol="0" anchor="t"/>
          <a:lstStyle/>
          <a:p>
            <a:pPr marL="0" indent="0" algn="l">
              <a:lnSpc>
                <a:spcPts val="1488"/>
              </a:lnSpc>
              <a:spcAft>
                <a:spcPts val="560"/>
              </a:spcAft>
              <a:buNone/>
            </a:pPr>
            <a:r>
              <a:rPr lang="en-US" sz="1240" b="1" dirty="0">
                <a:solidFill>
                  <a:srgbClr val="1B5E72"/>
                </a:solidFill>
                <a:latin typeface="Calibri Light" pitchFamily="34" charset="0"/>
                <a:ea typeface="Calibri Light" pitchFamily="34" charset="-122"/>
                <a:cs typeface="Calibri Light" pitchFamily="34" charset="-120"/>
              </a:rPr>
              <a:t>1 · Schools</a:t>
            </a:r>
            <a:endParaRPr lang="en-US" sz="1240" dirty="0"/>
          </a:p>
        </p:txBody>
      </p:sp>
      <p:sp>
        <p:nvSpPr>
          <p:cNvPr id="9" name="Text 6"/>
          <p:cNvSpPr/>
          <p:nvPr/>
        </p:nvSpPr>
        <p:spPr>
          <a:xfrm>
            <a:off x="528191" y="1761827"/>
            <a:ext cx="2147126" cy="898550"/>
          </a:xfrm>
          <a:prstGeom prst="rect">
            <a:avLst/>
          </a:prstGeom>
          <a:noFill/>
          <a:ln/>
        </p:spPr>
        <p:txBody>
          <a:bodyPr wrap="square" lIns="0" tIns="0" rIns="0" bIns="0" rtlCol="0" anchor="t"/>
          <a:lstStyle/>
          <a:p>
            <a:pPr marL="0" indent="0" algn="l">
              <a:lnSpc>
                <a:spcPts val="1349"/>
              </a:lnSpc>
              <a:buNone/>
            </a:pPr>
            <a:r>
              <a:rPr lang="en-US" sz="870" dirty="0">
                <a:solidFill>
                  <a:srgbClr val="3A3A3A"/>
                </a:solidFill>
                <a:latin typeface="Calibri" pitchFamily="34" charset="0"/>
                <a:ea typeface="Calibri" pitchFamily="34" charset="-122"/>
                <a:cs typeface="Calibri" pitchFamily="34" charset="-120"/>
              </a:rPr>
              <a:t>Establishing credibility, collaboration, and trust with counselors, administrators, and school staff. Your presence in the building determines what doors open for your clients.</a:t>
            </a:r>
            <a:endParaRPr lang="en-US" sz="870" dirty="0"/>
          </a:p>
        </p:txBody>
      </p:sp>
      <p:sp>
        <p:nvSpPr>
          <p:cNvPr id="10" name="Text 7"/>
          <p:cNvSpPr/>
          <p:nvPr/>
        </p:nvSpPr>
        <p:spPr>
          <a:xfrm>
            <a:off x="528191" y="2731889"/>
            <a:ext cx="257770" cy="21580"/>
          </a:xfrm>
          <a:prstGeom prst="roundRect">
            <a:avLst>
              <a:gd name="adj" fmla="val 64736"/>
            </a:avLst>
          </a:prstGeom>
          <a:solidFill>
            <a:srgbClr val="FAB753"/>
          </a:solidFill>
          <a:ln/>
        </p:spPr>
        <p:txBody>
          <a:bodyPr wrap="none" rtlCol="0" anchor="t"/>
          <a:lstStyle/>
          <a:p>
            <a:pPr marL="0" indent="0">
              <a:buNone/>
            </a:pPr>
            <a:endParaRPr lang="en-US"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09909" y="1725225"/>
            <a:ext cx="132588" cy="132588"/>
          </a:xfrm>
          <a:prstGeom prst="rect">
            <a:avLst/>
          </a:prstGeom>
        </p:spPr>
      </p:pic>
      <p:sp>
        <p:nvSpPr>
          <p:cNvPr id="12" name="Text 8"/>
          <p:cNvSpPr/>
          <p:nvPr/>
        </p:nvSpPr>
        <p:spPr>
          <a:xfrm>
            <a:off x="3334048" y="815727"/>
            <a:ext cx="2475756" cy="2095202"/>
          </a:xfrm>
          <a:prstGeom prst="roundRect">
            <a:avLst>
              <a:gd name="adj" fmla="val 3394"/>
            </a:avLst>
          </a:prstGeom>
          <a:solidFill>
            <a:srgbClr val="EAF4F4"/>
          </a:solidFill>
          <a:ln/>
        </p:spPr>
        <p:txBody>
          <a:bodyPr wrap="square" rtlCol="0" anchor="t"/>
          <a:lstStyle/>
          <a:p>
            <a:pPr marL="0" indent="0">
              <a:buNone/>
            </a:pPr>
            <a:endParaRPr lang="en-US" dirty="0"/>
          </a:p>
        </p:txBody>
      </p:sp>
      <p:sp>
        <p:nvSpPr>
          <p:cNvPr id="13" name="Text 9"/>
          <p:cNvSpPr/>
          <p:nvPr/>
        </p:nvSpPr>
        <p:spPr>
          <a:xfrm>
            <a:off x="3334048" y="815727"/>
            <a:ext cx="2475756" cy="28575"/>
          </a:xfrm>
          <a:custGeom>
            <a:avLst/>
            <a:gdLst/>
            <a:ahLst/>
            <a:cxnLst/>
            <a:rect l="l" t="t" r="r" b="b"/>
            <a:pathLst>
              <a:path w="2475756" h="28575">
                <a:moveTo>
                  <a:pt x="71120" y="0"/>
                </a:moveTo>
                <a:lnTo>
                  <a:pt x="48865" y="3572"/>
                </a:lnTo>
                <a:lnTo>
                  <a:pt x="40054" y="7144"/>
                </a:lnTo>
                <a:lnTo>
                  <a:pt x="33579" y="10716"/>
                </a:lnTo>
                <a:lnTo>
                  <a:pt x="28363" y="14288"/>
                </a:lnTo>
                <a:lnTo>
                  <a:pt x="23989" y="17859"/>
                </a:lnTo>
                <a:lnTo>
                  <a:pt x="20237" y="21431"/>
                </a:lnTo>
                <a:lnTo>
                  <a:pt x="16979" y="25003"/>
                </a:lnTo>
                <a:lnTo>
                  <a:pt x="14129" y="28575"/>
                </a:lnTo>
                <a:lnTo>
                  <a:pt x="2461627" y="28575"/>
                </a:lnTo>
                <a:lnTo>
                  <a:pt x="2458777" y="25003"/>
                </a:lnTo>
                <a:lnTo>
                  <a:pt x="2455519" y="21431"/>
                </a:lnTo>
                <a:lnTo>
                  <a:pt x="2451767" y="17859"/>
                </a:lnTo>
                <a:lnTo>
                  <a:pt x="2447392" y="14288"/>
                </a:lnTo>
                <a:lnTo>
                  <a:pt x="2442177" y="10716"/>
                </a:lnTo>
                <a:lnTo>
                  <a:pt x="2435702" y="7144"/>
                </a:lnTo>
                <a:lnTo>
                  <a:pt x="2426891" y="3572"/>
                </a:lnTo>
                <a:lnTo>
                  <a:pt x="2404636" y="0"/>
                </a:lnTo>
                <a:close/>
              </a:path>
            </a:pathLst>
          </a:custGeom>
          <a:solidFill>
            <a:srgbClr val="FAB753"/>
          </a:solidFill>
          <a:ln/>
        </p:spPr>
        <p:txBody>
          <a:bodyPr wrap="none" rtlCol="0" anchor="t"/>
          <a:lstStyle/>
          <a:p>
            <a:pPr marL="0" indent="0">
              <a:buNone/>
            </a:pPr>
            <a:endParaRPr lang="en-US" dirty="0"/>
          </a:p>
        </p:txBody>
      </p:sp>
      <p:sp>
        <p:nvSpPr>
          <p:cNvPr id="14" name="Text 10"/>
          <p:cNvSpPr/>
          <p:nvPr/>
        </p:nvSpPr>
        <p:spPr>
          <a:xfrm>
            <a:off x="5491609" y="972443"/>
            <a:ext cx="171986" cy="299740"/>
          </a:xfrm>
          <a:prstGeom prst="rect">
            <a:avLst/>
          </a:prstGeom>
          <a:noFill/>
          <a:ln/>
        </p:spPr>
        <p:txBody>
          <a:bodyPr wrap="none" lIns="0" tIns="0" rIns="0" bIns="0" rtlCol="0" anchor="t"/>
          <a:lstStyle/>
          <a:p>
            <a:pPr marL="0" indent="0" algn="l">
              <a:lnSpc>
                <a:spcPts val="2360"/>
              </a:lnSpc>
              <a:buNone/>
            </a:pPr>
            <a:r>
              <a:rPr lang="en-US" sz="2360" b="1" kern="0" spc="-47" dirty="0">
                <a:solidFill>
                  <a:srgbClr val="1B5E72">
                    <a:alpha val="9000"/>
                  </a:srgbClr>
                </a:solidFill>
                <a:latin typeface="Calibri Light" pitchFamily="34" charset="0"/>
                <a:ea typeface="Calibri Light" pitchFamily="34" charset="-122"/>
                <a:cs typeface="Calibri Light" pitchFamily="34" charset="-120"/>
              </a:rPr>
              <a:t>2</a:t>
            </a:r>
            <a:endParaRPr lang="en-US" sz="2360" dirty="0"/>
          </a:p>
        </p:txBody>
      </p:sp>
      <p:sp>
        <p:nvSpPr>
          <p:cNvPr id="15" name="Text 11"/>
          <p:cNvSpPr/>
          <p:nvPr/>
        </p:nvSpPr>
        <p:spPr>
          <a:xfrm>
            <a:off x="3519339" y="1029593"/>
            <a:ext cx="372070" cy="372070"/>
          </a:xfrm>
          <a:prstGeom prst="ellipse">
            <a:avLst/>
          </a:prstGeom>
          <a:solidFill>
            <a:srgbClr val="1B5E72"/>
          </a:solidFill>
          <a:ln/>
        </p:spPr>
        <p:txBody>
          <a:bodyPr wrap="square" rtlCol="0" anchor="t"/>
          <a:lstStyle/>
          <a:p>
            <a:pPr marL="0" indent="0">
              <a:buNone/>
            </a:pPr>
            <a:endParaRPr lang="en-US" dirty="0"/>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30067" y="1140321"/>
            <a:ext cx="150465" cy="150465"/>
          </a:xfrm>
          <a:prstGeom prst="rect">
            <a:avLst/>
          </a:prstGeom>
        </p:spPr>
      </p:pic>
      <p:sp>
        <p:nvSpPr>
          <p:cNvPr id="17" name="Text 12"/>
          <p:cNvSpPr/>
          <p:nvPr/>
        </p:nvSpPr>
        <p:spPr>
          <a:xfrm>
            <a:off x="3519339" y="1501973"/>
            <a:ext cx="2183249" cy="188863"/>
          </a:xfrm>
          <a:prstGeom prst="rect">
            <a:avLst/>
          </a:prstGeom>
          <a:noFill/>
          <a:ln/>
        </p:spPr>
        <p:txBody>
          <a:bodyPr wrap="none" lIns="0" tIns="0" rIns="0" bIns="0" rtlCol="0" anchor="t"/>
          <a:lstStyle/>
          <a:p>
            <a:pPr marL="0" indent="0" algn="l">
              <a:lnSpc>
                <a:spcPts val="1488"/>
              </a:lnSpc>
              <a:spcAft>
                <a:spcPts val="560"/>
              </a:spcAft>
              <a:buNone/>
            </a:pPr>
            <a:r>
              <a:rPr lang="en-US" sz="1240" b="1" dirty="0">
                <a:solidFill>
                  <a:srgbClr val="1B5E72"/>
                </a:solidFill>
                <a:latin typeface="Calibri Light" pitchFamily="34" charset="0"/>
                <a:ea typeface="Calibri Light" pitchFamily="34" charset="-122"/>
                <a:cs typeface="Calibri Light" pitchFamily="34" charset="-120"/>
              </a:rPr>
              <a:t>2 · Parents and Caregivers</a:t>
            </a:r>
            <a:endParaRPr lang="en-US" sz="1240" dirty="0"/>
          </a:p>
        </p:txBody>
      </p:sp>
      <p:sp>
        <p:nvSpPr>
          <p:cNvPr id="18" name="Text 13"/>
          <p:cNvSpPr/>
          <p:nvPr/>
        </p:nvSpPr>
        <p:spPr>
          <a:xfrm>
            <a:off x="3519339" y="1761827"/>
            <a:ext cx="2147277" cy="718840"/>
          </a:xfrm>
          <a:prstGeom prst="rect">
            <a:avLst/>
          </a:prstGeom>
          <a:noFill/>
          <a:ln/>
        </p:spPr>
        <p:txBody>
          <a:bodyPr wrap="square" lIns="0" tIns="0" rIns="0" bIns="0" rtlCol="0" anchor="t"/>
          <a:lstStyle/>
          <a:p>
            <a:pPr marL="0" indent="0" algn="l">
              <a:lnSpc>
                <a:spcPts val="1349"/>
              </a:lnSpc>
              <a:buNone/>
            </a:pPr>
            <a:r>
              <a:rPr lang="en-US" sz="870" dirty="0">
                <a:solidFill>
                  <a:srgbClr val="3A3A3A"/>
                </a:solidFill>
                <a:latin typeface="Calibri" pitchFamily="34" charset="0"/>
                <a:ea typeface="Calibri" pitchFamily="34" charset="-122"/>
                <a:cs typeface="Calibri" pitchFamily="34" charset="-120"/>
              </a:rPr>
              <a:t>Building rapport, engagement, and partnership without over-focusing on administrative processes. Families are essential partners — not just signatories.</a:t>
            </a:r>
            <a:endParaRPr lang="en-US" sz="870" dirty="0"/>
          </a:p>
        </p:txBody>
      </p:sp>
      <p:sp>
        <p:nvSpPr>
          <p:cNvPr id="19" name="Text 14"/>
          <p:cNvSpPr/>
          <p:nvPr/>
        </p:nvSpPr>
        <p:spPr>
          <a:xfrm>
            <a:off x="3519339" y="2560737"/>
            <a:ext cx="257770" cy="21580"/>
          </a:xfrm>
          <a:prstGeom prst="roundRect">
            <a:avLst>
              <a:gd name="adj" fmla="val 64736"/>
            </a:avLst>
          </a:prstGeom>
          <a:solidFill>
            <a:srgbClr val="FAB753"/>
          </a:solidFill>
          <a:ln/>
        </p:spPr>
        <p:txBody>
          <a:bodyPr wrap="none" rtlCol="0" anchor="t"/>
          <a:lstStyle/>
          <a:p>
            <a:pPr marL="0" indent="0">
              <a:buNone/>
            </a:pPr>
            <a:endParaRPr lang="en-US" dirty="0"/>
          </a:p>
        </p:txBody>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01205" y="1725225"/>
            <a:ext cx="132588" cy="132588"/>
          </a:xfrm>
          <a:prstGeom prst="rect">
            <a:avLst/>
          </a:prstGeom>
        </p:spPr>
      </p:pic>
      <p:sp>
        <p:nvSpPr>
          <p:cNvPr id="21" name="Text 15"/>
          <p:cNvSpPr/>
          <p:nvPr/>
        </p:nvSpPr>
        <p:spPr>
          <a:xfrm>
            <a:off x="6325344" y="815727"/>
            <a:ext cx="2475756" cy="2095202"/>
          </a:xfrm>
          <a:prstGeom prst="roundRect">
            <a:avLst>
              <a:gd name="adj" fmla="val 3394"/>
            </a:avLst>
          </a:prstGeom>
          <a:solidFill>
            <a:srgbClr val="EAF4F4"/>
          </a:solidFill>
          <a:ln/>
        </p:spPr>
        <p:txBody>
          <a:bodyPr wrap="square" rtlCol="0" anchor="t"/>
          <a:lstStyle/>
          <a:p>
            <a:pPr marL="0" indent="0">
              <a:buNone/>
            </a:pPr>
            <a:endParaRPr lang="en-US" dirty="0"/>
          </a:p>
        </p:txBody>
      </p:sp>
      <p:sp>
        <p:nvSpPr>
          <p:cNvPr id="22" name="Text 16"/>
          <p:cNvSpPr/>
          <p:nvPr/>
        </p:nvSpPr>
        <p:spPr>
          <a:xfrm>
            <a:off x="6325344" y="815727"/>
            <a:ext cx="2475756" cy="28575"/>
          </a:xfrm>
          <a:custGeom>
            <a:avLst/>
            <a:gdLst/>
            <a:ahLst/>
            <a:cxnLst/>
            <a:rect l="l" t="t" r="r" b="b"/>
            <a:pathLst>
              <a:path w="2475756" h="28575">
                <a:moveTo>
                  <a:pt x="71120" y="0"/>
                </a:moveTo>
                <a:lnTo>
                  <a:pt x="48865" y="3572"/>
                </a:lnTo>
                <a:lnTo>
                  <a:pt x="40054" y="7144"/>
                </a:lnTo>
                <a:lnTo>
                  <a:pt x="33579" y="10716"/>
                </a:lnTo>
                <a:lnTo>
                  <a:pt x="28363" y="14288"/>
                </a:lnTo>
                <a:lnTo>
                  <a:pt x="23989" y="17859"/>
                </a:lnTo>
                <a:lnTo>
                  <a:pt x="20237" y="21431"/>
                </a:lnTo>
                <a:lnTo>
                  <a:pt x="16979" y="25003"/>
                </a:lnTo>
                <a:lnTo>
                  <a:pt x="14129" y="28575"/>
                </a:lnTo>
                <a:lnTo>
                  <a:pt x="2461627" y="28575"/>
                </a:lnTo>
                <a:lnTo>
                  <a:pt x="2458777" y="25003"/>
                </a:lnTo>
                <a:lnTo>
                  <a:pt x="2455519" y="21431"/>
                </a:lnTo>
                <a:lnTo>
                  <a:pt x="2451767" y="17859"/>
                </a:lnTo>
                <a:lnTo>
                  <a:pt x="2447392" y="14288"/>
                </a:lnTo>
                <a:lnTo>
                  <a:pt x="2442177" y="10716"/>
                </a:lnTo>
                <a:lnTo>
                  <a:pt x="2435702" y="7144"/>
                </a:lnTo>
                <a:lnTo>
                  <a:pt x="2426891" y="3572"/>
                </a:lnTo>
                <a:lnTo>
                  <a:pt x="2404636" y="0"/>
                </a:lnTo>
                <a:close/>
              </a:path>
            </a:pathLst>
          </a:custGeom>
          <a:solidFill>
            <a:srgbClr val="FAB753"/>
          </a:solidFill>
          <a:ln/>
        </p:spPr>
        <p:txBody>
          <a:bodyPr wrap="none" rtlCol="0" anchor="t"/>
          <a:lstStyle/>
          <a:p>
            <a:pPr marL="0" indent="0">
              <a:buNone/>
            </a:pPr>
            <a:endParaRPr lang="en-US" dirty="0"/>
          </a:p>
        </p:txBody>
      </p:sp>
      <p:sp>
        <p:nvSpPr>
          <p:cNvPr id="23" name="Text 17"/>
          <p:cNvSpPr/>
          <p:nvPr/>
        </p:nvSpPr>
        <p:spPr>
          <a:xfrm>
            <a:off x="8482905" y="972443"/>
            <a:ext cx="171986" cy="299740"/>
          </a:xfrm>
          <a:prstGeom prst="rect">
            <a:avLst/>
          </a:prstGeom>
          <a:noFill/>
          <a:ln/>
        </p:spPr>
        <p:txBody>
          <a:bodyPr wrap="none" lIns="0" tIns="0" rIns="0" bIns="0" rtlCol="0" anchor="t"/>
          <a:lstStyle/>
          <a:p>
            <a:pPr marL="0" indent="0" algn="l">
              <a:lnSpc>
                <a:spcPts val="2360"/>
              </a:lnSpc>
              <a:buNone/>
            </a:pPr>
            <a:r>
              <a:rPr lang="en-US" sz="2360" b="1" kern="0" spc="-47" dirty="0">
                <a:solidFill>
                  <a:srgbClr val="1B5E72">
                    <a:alpha val="9000"/>
                  </a:srgbClr>
                </a:solidFill>
                <a:latin typeface="Calibri Light" pitchFamily="34" charset="0"/>
                <a:ea typeface="Calibri Light" pitchFamily="34" charset="-122"/>
                <a:cs typeface="Calibri Light" pitchFamily="34" charset="-120"/>
              </a:rPr>
              <a:t>3</a:t>
            </a:r>
            <a:endParaRPr lang="en-US" sz="2360" dirty="0"/>
          </a:p>
        </p:txBody>
      </p:sp>
      <p:sp>
        <p:nvSpPr>
          <p:cNvPr id="24" name="Text 18"/>
          <p:cNvSpPr/>
          <p:nvPr/>
        </p:nvSpPr>
        <p:spPr>
          <a:xfrm>
            <a:off x="6510635" y="1029593"/>
            <a:ext cx="372070" cy="372070"/>
          </a:xfrm>
          <a:prstGeom prst="ellipse">
            <a:avLst/>
          </a:prstGeom>
          <a:solidFill>
            <a:srgbClr val="1B5E72"/>
          </a:solidFill>
          <a:ln/>
        </p:spPr>
        <p:txBody>
          <a:bodyPr wrap="square" rtlCol="0" anchor="t"/>
          <a:lstStyle/>
          <a:p>
            <a:pPr marL="0" indent="0">
              <a:buNone/>
            </a:pPr>
            <a:endParaRPr lang="en-US" dirty="0"/>
          </a:p>
        </p:txBody>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21363" y="1140321"/>
            <a:ext cx="150465" cy="150465"/>
          </a:xfrm>
          <a:prstGeom prst="rect">
            <a:avLst/>
          </a:prstGeom>
        </p:spPr>
      </p:pic>
      <p:sp>
        <p:nvSpPr>
          <p:cNvPr id="26" name="Text 19"/>
          <p:cNvSpPr/>
          <p:nvPr/>
        </p:nvSpPr>
        <p:spPr>
          <a:xfrm>
            <a:off x="6510635" y="1501973"/>
            <a:ext cx="1115526" cy="188863"/>
          </a:xfrm>
          <a:prstGeom prst="rect">
            <a:avLst/>
          </a:prstGeom>
          <a:noFill/>
          <a:ln/>
        </p:spPr>
        <p:txBody>
          <a:bodyPr wrap="none" lIns="0" tIns="0" rIns="0" bIns="0" rtlCol="0" anchor="t"/>
          <a:lstStyle/>
          <a:p>
            <a:pPr marL="0" indent="0" algn="l">
              <a:lnSpc>
                <a:spcPts val="1488"/>
              </a:lnSpc>
              <a:spcAft>
                <a:spcPts val="560"/>
              </a:spcAft>
              <a:buNone/>
            </a:pPr>
            <a:r>
              <a:rPr lang="en-US" sz="1240" b="1" dirty="0">
                <a:solidFill>
                  <a:srgbClr val="1B5E72"/>
                </a:solidFill>
                <a:latin typeface="Calibri Light" pitchFamily="34" charset="0"/>
                <a:ea typeface="Calibri Light" pitchFamily="34" charset="-122"/>
                <a:cs typeface="Calibri Light" pitchFamily="34" charset="-120"/>
              </a:rPr>
              <a:t>3 · Your Team</a:t>
            </a:r>
            <a:endParaRPr lang="en-US" sz="1240" dirty="0"/>
          </a:p>
        </p:txBody>
      </p:sp>
      <p:sp>
        <p:nvSpPr>
          <p:cNvPr id="27" name="Text 20"/>
          <p:cNvSpPr/>
          <p:nvPr/>
        </p:nvSpPr>
        <p:spPr>
          <a:xfrm>
            <a:off x="6510635" y="1761827"/>
            <a:ext cx="2147277" cy="898550"/>
          </a:xfrm>
          <a:prstGeom prst="rect">
            <a:avLst/>
          </a:prstGeom>
          <a:noFill/>
          <a:ln/>
        </p:spPr>
        <p:txBody>
          <a:bodyPr wrap="square" lIns="0" tIns="0" rIns="0" bIns="0" rtlCol="0" anchor="t"/>
          <a:lstStyle/>
          <a:p>
            <a:pPr marL="0" indent="0" algn="l">
              <a:lnSpc>
                <a:spcPts val="1349"/>
              </a:lnSpc>
              <a:buNone/>
            </a:pPr>
            <a:r>
              <a:rPr lang="en-US" sz="870" dirty="0">
                <a:solidFill>
                  <a:srgbClr val="3A3A3A"/>
                </a:solidFill>
                <a:latin typeface="Calibri" pitchFamily="34" charset="0"/>
                <a:ea typeface="Calibri" pitchFamily="34" charset="-122"/>
                <a:cs typeface="Calibri" pitchFamily="34" charset="-120"/>
              </a:rPr>
              <a:t>Fostering trust, psychological safety, and shared ownership within your clinical and administrative teams. The relationships behind the scenes shape everything in front of clients.</a:t>
            </a:r>
            <a:endParaRPr lang="en-US" sz="870" dirty="0"/>
          </a:p>
        </p:txBody>
      </p:sp>
      <p:sp>
        <p:nvSpPr>
          <p:cNvPr id="28" name="Text 21"/>
          <p:cNvSpPr/>
          <p:nvPr/>
        </p:nvSpPr>
        <p:spPr>
          <a:xfrm>
            <a:off x="6510635" y="2731889"/>
            <a:ext cx="257770"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29" name="Text 22"/>
          <p:cNvSpPr/>
          <p:nvPr/>
        </p:nvSpPr>
        <p:spPr>
          <a:xfrm>
            <a:off x="0" y="3039070"/>
            <a:ext cx="9144000" cy="391120"/>
          </a:xfrm>
          <a:prstGeom prst="rect">
            <a:avLst/>
          </a:prstGeom>
          <a:solidFill>
            <a:srgbClr val="EAF4F4"/>
          </a:solidFill>
          <a:ln/>
        </p:spPr>
        <p:txBody>
          <a:bodyPr wrap="square" rtlCol="0" anchor="t"/>
          <a:lstStyle/>
          <a:p>
            <a:pPr marL="0" indent="0">
              <a:buNone/>
            </a:pPr>
            <a:endParaRPr lang="en-US" dirty="0"/>
          </a:p>
        </p:txBody>
      </p:sp>
      <p:sp>
        <p:nvSpPr>
          <p:cNvPr id="30" name="Text 23"/>
          <p:cNvSpPr/>
          <p:nvPr/>
        </p:nvSpPr>
        <p:spPr>
          <a:xfrm>
            <a:off x="0" y="3039070"/>
            <a:ext cx="9144000" cy="19050"/>
          </a:xfrm>
          <a:prstGeom prst="rect">
            <a:avLst/>
          </a:prstGeom>
          <a:solidFill>
            <a:srgbClr val="1B5E72"/>
          </a:solidFill>
          <a:ln/>
        </p:spPr>
        <p:txBody>
          <a:bodyPr wrap="none" rtlCol="0" anchor="t"/>
          <a:lstStyle/>
          <a:p>
            <a:pPr marL="0" indent="0">
              <a:buNone/>
            </a:pPr>
            <a:endParaRPr lang="en-US" dirty="0"/>
          </a:p>
        </p:txBody>
      </p:sp>
      <p:pic>
        <p:nvPicPr>
          <p:cNvPr id="3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280205" y="3177787"/>
            <a:ext cx="132588" cy="132588"/>
          </a:xfrm>
          <a:prstGeom prst="rect">
            <a:avLst/>
          </a:prstGeom>
        </p:spPr>
      </p:pic>
      <p:sp>
        <p:nvSpPr>
          <p:cNvPr id="32" name="Text 24"/>
          <p:cNvSpPr/>
          <p:nvPr/>
        </p:nvSpPr>
        <p:spPr>
          <a:xfrm>
            <a:off x="2293471" y="3158430"/>
            <a:ext cx="4557058" cy="171450"/>
          </a:xfrm>
          <a:prstGeom prst="rect">
            <a:avLst/>
          </a:prstGeom>
          <a:noFill/>
          <a:ln/>
        </p:spPr>
        <p:txBody>
          <a:bodyPr wrap="none" lIns="0" tIns="0" rIns="0" bIns="0" rtlCol="0" anchor="ctr"/>
          <a:lstStyle/>
          <a:p>
            <a:pPr marL="0" indent="0" algn="ctr">
              <a:lnSpc>
                <a:spcPts val="1350"/>
              </a:lnSpc>
              <a:buNone/>
            </a:pPr>
            <a:r>
              <a:rPr lang="en-US" sz="900" b="1" dirty="0">
                <a:solidFill>
                  <a:srgbClr val="2C2C2C"/>
                </a:solidFill>
                <a:latin typeface="Calibri" pitchFamily="34" charset="0"/>
                <a:ea typeface="Calibri" pitchFamily="34" charset="-122"/>
                <a:cs typeface="Calibri" pitchFamily="34" charset="-120"/>
              </a:rPr>
              <a:t>All three domains are interdependent. Strength in one supports the others.</a:t>
            </a:r>
            <a:endParaRPr lang="en-US" sz="900" dirty="0"/>
          </a:p>
        </p:txBody>
      </p:sp>
      <p:pic>
        <p:nvPicPr>
          <p:cNvPr id="33"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731207" y="3177787"/>
            <a:ext cx="132588" cy="13258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2715220" cy="5143500"/>
          </a:xfrm>
          <a:prstGeom prst="rect">
            <a:avLst/>
          </a:prstGeom>
          <a:solidFill>
            <a:srgbClr val="1B5E72"/>
          </a:solidFill>
          <a:ln/>
        </p:spPr>
        <p:txBody>
          <a:bodyPr wrap="square" rtlCol="0" anchor="t"/>
          <a:lstStyle/>
          <a:p>
            <a:pPr marL="0" indent="0">
              <a:buNone/>
            </a:pPr>
            <a:endParaRPr lang="en-US" dirty="0"/>
          </a:p>
        </p:txBody>
      </p:sp>
      <p:pic>
        <p:nvPicPr>
          <p:cNvPr id="3" name="Image 0" descr="preencoded.png"/>
          <p:cNvPicPr>
            <a:picLocks noChangeAspect="1"/>
          </p:cNvPicPr>
          <p:nvPr/>
        </p:nvPicPr>
        <p:blipFill>
          <a:blip>
            <a:alphaModFix amt="12000"/>
            <a:extLst>
              <a:ext uri="{96DAC541-7B7A-43D3-8B79-37D633B846F1}">
                <asvg:svgBlip xmlns:asvg="http://schemas.microsoft.com/office/drawing/2016/SVG/main" r:embed="rId3"/>
              </a:ext>
            </a:extLst>
          </a:blip>
          <a:stretch>
            <a:fillRect/>
          </a:stretch>
        </p:blipFill>
        <p:spPr>
          <a:xfrm>
            <a:off x="1985963" y="4357092"/>
            <a:ext cx="471488" cy="471488"/>
          </a:xfrm>
          <a:prstGeom prst="rect">
            <a:avLst/>
          </a:prstGeom>
        </p:spPr>
      </p:pic>
      <p:sp>
        <p:nvSpPr>
          <p:cNvPr id="4" name="Text 1"/>
          <p:cNvSpPr/>
          <p:nvPr/>
        </p:nvSpPr>
        <p:spPr>
          <a:xfrm>
            <a:off x="314920" y="1725067"/>
            <a:ext cx="2293918" cy="118021"/>
          </a:xfrm>
          <a:prstGeom prst="rect">
            <a:avLst/>
          </a:prstGeom>
          <a:noFill/>
          <a:ln/>
        </p:spPr>
        <p:txBody>
          <a:bodyPr wrap="none" lIns="0" tIns="0" rIns="0" bIns="0" rtlCol="0" anchor="t"/>
          <a:lstStyle/>
          <a:p>
            <a:pPr marL="0" indent="0" algn="l">
              <a:lnSpc>
                <a:spcPts val="930"/>
              </a:lnSpc>
              <a:buNone/>
            </a:pPr>
            <a:r>
              <a:rPr lang="en-US" sz="620" b="1" kern="0" spc="112" dirty="0">
                <a:solidFill>
                  <a:srgbClr val="FAB753"/>
                </a:solidFill>
                <a:latin typeface="Calibri" pitchFamily="34" charset="0"/>
                <a:ea typeface="Calibri" pitchFamily="34" charset="-122"/>
                <a:cs typeface="Calibri" pitchFamily="34" charset="-120"/>
              </a:rPr>
              <a:t>CORE PRINCIPLES</a:t>
            </a:r>
            <a:endParaRPr lang="en-US" sz="620" dirty="0"/>
          </a:p>
        </p:txBody>
      </p:sp>
      <p:sp>
        <p:nvSpPr>
          <p:cNvPr id="5" name="Text 2"/>
          <p:cNvSpPr/>
          <p:nvPr/>
        </p:nvSpPr>
        <p:spPr>
          <a:xfrm>
            <a:off x="314920" y="1986558"/>
            <a:ext cx="314920"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6" name="Text 3"/>
          <p:cNvSpPr/>
          <p:nvPr/>
        </p:nvSpPr>
        <p:spPr>
          <a:xfrm>
            <a:off x="314920" y="2179588"/>
            <a:ext cx="2127087" cy="811039"/>
          </a:xfrm>
          <a:prstGeom prst="rect">
            <a:avLst/>
          </a:prstGeom>
          <a:noFill/>
          <a:ln/>
        </p:spPr>
        <p:txBody>
          <a:bodyPr wrap="square" lIns="0" tIns="0" rIns="0" bIns="0" rtlCol="0" anchor="t"/>
          <a:lstStyle/>
          <a:p>
            <a:pPr marL="0" indent="0" algn="l">
              <a:lnSpc>
                <a:spcPts val="2028"/>
              </a:lnSpc>
              <a:buNone/>
            </a:pPr>
            <a:r>
              <a:rPr lang="en-US" sz="1690" b="1" dirty="0">
                <a:solidFill>
                  <a:srgbClr val="FFFFFF"/>
                </a:solidFill>
                <a:latin typeface="Calibri Light" pitchFamily="34" charset="0"/>
                <a:ea typeface="Calibri Light" pitchFamily="34" charset="-122"/>
                <a:cs typeface="Calibri Light" pitchFamily="34" charset="-120"/>
              </a:rPr>
              <a:t>What Every Strong Relationship Requires</a:t>
            </a:r>
            <a:endParaRPr lang="en-US" sz="1690" dirty="0"/>
          </a:p>
        </p:txBody>
      </p:sp>
      <p:sp>
        <p:nvSpPr>
          <p:cNvPr id="7" name="Text 4"/>
          <p:cNvSpPr/>
          <p:nvPr/>
        </p:nvSpPr>
        <p:spPr>
          <a:xfrm>
            <a:off x="314920" y="3095476"/>
            <a:ext cx="2127087" cy="339105"/>
          </a:xfrm>
          <a:prstGeom prst="rect">
            <a:avLst/>
          </a:prstGeom>
          <a:noFill/>
          <a:ln/>
        </p:spPr>
        <p:txBody>
          <a:bodyPr wrap="square" lIns="0" tIns="0" rIns="0" bIns="0" rtlCol="0" anchor="t"/>
          <a:lstStyle/>
          <a:p>
            <a:pPr marL="0" indent="0" algn="l">
              <a:lnSpc>
                <a:spcPts val="1271"/>
              </a:lnSpc>
              <a:buNone/>
            </a:pPr>
            <a:r>
              <a:rPr lang="en-US" sz="820" i="1" dirty="0">
                <a:solidFill>
                  <a:srgbClr val="FFFFFF">
                    <a:alpha val="72000"/>
                  </a:srgbClr>
                </a:solidFill>
                <a:latin typeface="Calibri" pitchFamily="34" charset="0"/>
                <a:ea typeface="Calibri" pitchFamily="34" charset="-122"/>
                <a:cs typeface="Calibri" pitchFamily="34" charset="-120"/>
              </a:rPr>
              <a:t>These principles apply regardless of who you are engaging — school, family, or team.</a:t>
            </a:r>
            <a:endParaRPr lang="en-US" sz="820" dirty="0"/>
          </a:p>
        </p:txBody>
      </p:sp>
      <p:sp>
        <p:nvSpPr>
          <p:cNvPr id="8" name="Text 5"/>
          <p:cNvSpPr/>
          <p:nvPr/>
        </p:nvSpPr>
        <p:spPr>
          <a:xfrm>
            <a:off x="2715220" y="0"/>
            <a:ext cx="6428780" cy="5143500"/>
          </a:xfrm>
          <a:prstGeom prst="rect">
            <a:avLst/>
          </a:prstGeom>
          <a:solidFill>
            <a:srgbClr val="FFFFFF"/>
          </a:solidFill>
          <a:ln/>
        </p:spPr>
        <p:txBody>
          <a:bodyPr wrap="square" rtlCol="0" anchor="t"/>
          <a:lstStyle/>
          <a:p>
            <a:pPr marL="0" indent="0">
              <a:buNone/>
            </a:pPr>
            <a:endParaRPr lang="en-US" dirty="0"/>
          </a:p>
        </p:txBody>
      </p:sp>
      <p:sp>
        <p:nvSpPr>
          <p:cNvPr id="9" name="Text 6"/>
          <p:cNvSpPr/>
          <p:nvPr/>
        </p:nvSpPr>
        <p:spPr>
          <a:xfrm>
            <a:off x="3087291" y="285750"/>
            <a:ext cx="6082564" cy="278160"/>
          </a:xfrm>
          <a:prstGeom prst="rect">
            <a:avLst/>
          </a:prstGeom>
          <a:noFill/>
          <a:ln/>
        </p:spPr>
        <p:txBody>
          <a:bodyPr wrap="none" lIns="0" tIns="0" rIns="0" bIns="0" rtlCol="0" anchor="t"/>
          <a:lstStyle/>
          <a:p>
            <a:pPr marL="0" indent="0" algn="l">
              <a:lnSpc>
                <a:spcPts val="2190"/>
              </a:lnSpc>
              <a:buNone/>
            </a:pPr>
            <a:r>
              <a:rPr lang="en-US" sz="1460" b="1" kern="0" spc="-15" dirty="0">
                <a:solidFill>
                  <a:srgbClr val="1B5E72"/>
                </a:solidFill>
                <a:latin typeface="Calibri Light" pitchFamily="34" charset="0"/>
                <a:ea typeface="Calibri Light" pitchFamily="34" charset="-122"/>
                <a:cs typeface="Calibri Light" pitchFamily="34" charset="-120"/>
              </a:rPr>
              <a:t>The Foundation</a:t>
            </a:r>
            <a:endParaRPr lang="en-US" sz="1460" dirty="0"/>
          </a:p>
        </p:txBody>
      </p:sp>
      <p:sp>
        <p:nvSpPr>
          <p:cNvPr id="10" name="Text 7"/>
          <p:cNvSpPr/>
          <p:nvPr/>
        </p:nvSpPr>
        <p:spPr>
          <a:xfrm>
            <a:off x="3087291" y="721370"/>
            <a:ext cx="5684639" cy="523726"/>
          </a:xfrm>
          <a:prstGeom prst="roundRect">
            <a:avLst>
              <a:gd name="adj" fmla="val 10912"/>
            </a:avLst>
          </a:prstGeom>
          <a:solidFill>
            <a:srgbClr val="F4FBFB"/>
          </a:solidFill>
          <a:ln/>
        </p:spPr>
        <p:txBody>
          <a:bodyPr wrap="square" rtlCol="0" anchor="t"/>
          <a:lstStyle/>
          <a:p>
            <a:pPr marL="0" indent="0">
              <a:buNone/>
            </a:pPr>
            <a:endParaRPr lang="en-US" dirty="0"/>
          </a:p>
        </p:txBody>
      </p:sp>
      <p:sp>
        <p:nvSpPr>
          <p:cNvPr id="11" name="Text 8"/>
          <p:cNvSpPr/>
          <p:nvPr/>
        </p:nvSpPr>
        <p:spPr>
          <a:xfrm>
            <a:off x="3087291" y="721370"/>
            <a:ext cx="19050" cy="523726"/>
          </a:xfrm>
          <a:custGeom>
            <a:avLst/>
            <a:gdLst/>
            <a:ahLst/>
            <a:cxnLst/>
            <a:rect l="l" t="t" r="r" b="b"/>
            <a:pathLst>
              <a:path w="19050" h="523726">
                <a:moveTo>
                  <a:pt x="0" y="57150"/>
                </a:moveTo>
                <a:lnTo>
                  <a:pt x="2381" y="40825"/>
                </a:lnTo>
                <a:lnTo>
                  <a:pt x="4763" y="34310"/>
                </a:lnTo>
                <a:lnTo>
                  <a:pt x="7144" y="29482"/>
                </a:lnTo>
                <a:lnTo>
                  <a:pt x="9525" y="25559"/>
                </a:lnTo>
                <a:lnTo>
                  <a:pt x="11906" y="22234"/>
                </a:lnTo>
                <a:lnTo>
                  <a:pt x="14288" y="19349"/>
                </a:lnTo>
                <a:lnTo>
                  <a:pt x="16669" y="16809"/>
                </a:lnTo>
                <a:lnTo>
                  <a:pt x="19050" y="14553"/>
                </a:lnTo>
                <a:lnTo>
                  <a:pt x="19050" y="509173"/>
                </a:lnTo>
                <a:lnTo>
                  <a:pt x="16669" y="506917"/>
                </a:lnTo>
                <a:lnTo>
                  <a:pt x="14288" y="504377"/>
                </a:lnTo>
                <a:lnTo>
                  <a:pt x="11906" y="501492"/>
                </a:lnTo>
                <a:lnTo>
                  <a:pt x="9525" y="498167"/>
                </a:lnTo>
                <a:lnTo>
                  <a:pt x="7144" y="494244"/>
                </a:lnTo>
                <a:lnTo>
                  <a:pt x="4763" y="489416"/>
                </a:lnTo>
                <a:lnTo>
                  <a:pt x="2381" y="482901"/>
                </a:lnTo>
                <a:lnTo>
                  <a:pt x="0" y="466576"/>
                </a:lnTo>
                <a:close/>
              </a:path>
            </a:pathLst>
          </a:custGeom>
          <a:solidFill>
            <a:srgbClr val="FAB753">
              <a:alpha val="35000"/>
            </a:srgbClr>
          </a:solidFill>
          <a:ln/>
        </p:spPr>
        <p:txBody>
          <a:bodyPr wrap="square" rtlCol="0" anchor="t"/>
          <a:lstStyle/>
          <a:p>
            <a:pPr marL="0" indent="0">
              <a:buNone/>
            </a:pPr>
            <a:endParaRPr lang="en-US" dirty="0"/>
          </a:p>
        </p:txBody>
      </p:sp>
      <p:sp>
        <p:nvSpPr>
          <p:cNvPr id="12" name="Text 9"/>
          <p:cNvSpPr/>
          <p:nvPr/>
        </p:nvSpPr>
        <p:spPr>
          <a:xfrm>
            <a:off x="3220641" y="807690"/>
            <a:ext cx="228600" cy="228600"/>
          </a:xfrm>
          <a:prstGeom prst="ellipse">
            <a:avLst/>
          </a:prstGeom>
          <a:solidFill>
            <a:srgbClr val="FAB753"/>
          </a:solidFill>
          <a:ln/>
        </p:spPr>
        <p:txBody>
          <a:bodyPr wrap="none" rtlCol="0" anchor="t"/>
          <a:lstStyle/>
          <a:p>
            <a:pPr marL="0" indent="0">
              <a:buNone/>
            </a:pPr>
            <a:endParaRPr lang="en-US" dirty="0"/>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68647" y="855696"/>
            <a:ext cx="132588" cy="132588"/>
          </a:xfrm>
          <a:prstGeom prst="rect">
            <a:avLst/>
          </a:prstGeom>
        </p:spPr>
      </p:pic>
      <p:sp>
        <p:nvSpPr>
          <p:cNvPr id="14" name="Text 10"/>
          <p:cNvSpPr/>
          <p:nvPr/>
        </p:nvSpPr>
        <p:spPr>
          <a:xfrm>
            <a:off x="3549551" y="800100"/>
            <a:ext cx="5210240" cy="384579"/>
          </a:xfrm>
          <a:prstGeom prst="rect">
            <a:avLst/>
          </a:prstGeom>
          <a:noFill/>
          <a:ln/>
        </p:spPr>
        <p:txBody>
          <a:bodyPr wrap="square" lIns="0" tIns="0" rIns="0" bIns="0" rtlCol="0" anchor="ctr"/>
          <a:lstStyle/>
          <a:p>
            <a:pPr marL="0" indent="0" algn="l">
              <a:lnSpc>
                <a:spcPts val="1740"/>
              </a:lnSpc>
              <a:buNone/>
            </a:pPr>
            <a:r>
              <a:rPr lang="en-US" sz="870" b="1" dirty="0">
                <a:solidFill>
                  <a:srgbClr val="1B5E72"/>
                </a:solidFill>
                <a:latin typeface="Calibri" pitchFamily="34" charset="0"/>
                <a:ea typeface="Calibri" pitchFamily="34" charset="-122"/>
                <a:cs typeface="Calibri" pitchFamily="34" charset="-120"/>
              </a:rPr>
              <a:t>First impressions matter —</a:t>
            </a:r>
            <a:r>
              <a:rPr lang="en-US" sz="1200" dirty="0">
                <a:solidFill>
                  <a:srgbClr val="2C2C2C"/>
                </a:solidFill>
                <a:latin typeface="Calibri" pitchFamily="34" charset="0"/>
                <a:ea typeface="Calibri" pitchFamily="34" charset="-122"/>
                <a:cs typeface="Calibri" pitchFamily="34" charset="-120"/>
              </a:rPr>
              <a:t> </a:t>
            </a:r>
            <a:r>
              <a:rPr lang="en-US" sz="790" dirty="0">
                <a:solidFill>
                  <a:srgbClr val="4A4A4A"/>
                </a:solidFill>
                <a:latin typeface="Calibri" pitchFamily="34" charset="0"/>
                <a:ea typeface="Calibri" pitchFamily="34" charset="-122"/>
                <a:cs typeface="Calibri" pitchFamily="34" charset="-120"/>
              </a:rPr>
              <a:t>People form impressions quickly based on tone, presence, authenticity, and professionalism. Be intentional from the very first interaction.</a:t>
            </a:r>
            <a:endParaRPr lang="en-US" sz="1200" dirty="0"/>
          </a:p>
        </p:txBody>
      </p:sp>
      <p:sp>
        <p:nvSpPr>
          <p:cNvPr id="15" name="Text 11"/>
          <p:cNvSpPr/>
          <p:nvPr/>
        </p:nvSpPr>
        <p:spPr>
          <a:xfrm>
            <a:off x="3087291" y="1337667"/>
            <a:ext cx="5684639" cy="523726"/>
          </a:xfrm>
          <a:prstGeom prst="roundRect">
            <a:avLst>
              <a:gd name="adj" fmla="val 10912"/>
            </a:avLst>
          </a:prstGeom>
          <a:solidFill>
            <a:srgbClr val="FAFAFA"/>
          </a:solidFill>
          <a:ln/>
        </p:spPr>
        <p:txBody>
          <a:bodyPr wrap="square" rtlCol="0" anchor="t"/>
          <a:lstStyle/>
          <a:p>
            <a:pPr marL="0" indent="0">
              <a:buNone/>
            </a:pPr>
            <a:endParaRPr lang="en-US" dirty="0"/>
          </a:p>
        </p:txBody>
      </p:sp>
      <p:sp>
        <p:nvSpPr>
          <p:cNvPr id="16" name="Text 12"/>
          <p:cNvSpPr/>
          <p:nvPr/>
        </p:nvSpPr>
        <p:spPr>
          <a:xfrm>
            <a:off x="3087291" y="1337667"/>
            <a:ext cx="19050" cy="523726"/>
          </a:xfrm>
          <a:custGeom>
            <a:avLst/>
            <a:gdLst/>
            <a:ahLst/>
            <a:cxnLst/>
            <a:rect l="l" t="t" r="r" b="b"/>
            <a:pathLst>
              <a:path w="19050" h="523726">
                <a:moveTo>
                  <a:pt x="0" y="57150"/>
                </a:moveTo>
                <a:lnTo>
                  <a:pt x="2381" y="40825"/>
                </a:lnTo>
                <a:lnTo>
                  <a:pt x="4763" y="34310"/>
                </a:lnTo>
                <a:lnTo>
                  <a:pt x="7144" y="29482"/>
                </a:lnTo>
                <a:lnTo>
                  <a:pt x="9525" y="25559"/>
                </a:lnTo>
                <a:lnTo>
                  <a:pt x="11906" y="22234"/>
                </a:lnTo>
                <a:lnTo>
                  <a:pt x="14288" y="19349"/>
                </a:lnTo>
                <a:lnTo>
                  <a:pt x="16669" y="16809"/>
                </a:lnTo>
                <a:lnTo>
                  <a:pt x="19050" y="14553"/>
                </a:lnTo>
                <a:lnTo>
                  <a:pt x="19050" y="509173"/>
                </a:lnTo>
                <a:lnTo>
                  <a:pt x="16669" y="506917"/>
                </a:lnTo>
                <a:lnTo>
                  <a:pt x="14288" y="504377"/>
                </a:lnTo>
                <a:lnTo>
                  <a:pt x="11906" y="501492"/>
                </a:lnTo>
                <a:lnTo>
                  <a:pt x="9525" y="498167"/>
                </a:lnTo>
                <a:lnTo>
                  <a:pt x="7144" y="494244"/>
                </a:lnTo>
                <a:lnTo>
                  <a:pt x="4763" y="489416"/>
                </a:lnTo>
                <a:lnTo>
                  <a:pt x="2381" y="482901"/>
                </a:lnTo>
                <a:lnTo>
                  <a:pt x="0" y="466576"/>
                </a:lnTo>
                <a:close/>
              </a:path>
            </a:pathLst>
          </a:custGeom>
          <a:solidFill>
            <a:srgbClr val="1B5E72">
              <a:alpha val="18000"/>
            </a:srgbClr>
          </a:solidFill>
          <a:ln/>
        </p:spPr>
        <p:txBody>
          <a:bodyPr wrap="square" rtlCol="0" anchor="t"/>
          <a:lstStyle/>
          <a:p>
            <a:pPr marL="0" indent="0">
              <a:buNone/>
            </a:pPr>
            <a:endParaRPr lang="en-US" dirty="0"/>
          </a:p>
        </p:txBody>
      </p:sp>
      <p:sp>
        <p:nvSpPr>
          <p:cNvPr id="17" name="Text 13"/>
          <p:cNvSpPr/>
          <p:nvPr/>
        </p:nvSpPr>
        <p:spPr>
          <a:xfrm>
            <a:off x="3220641" y="1423988"/>
            <a:ext cx="228600" cy="228600"/>
          </a:xfrm>
          <a:prstGeom prst="ellipse">
            <a:avLst/>
          </a:prstGeom>
          <a:solidFill>
            <a:srgbClr val="FAB753"/>
          </a:solidFill>
          <a:ln/>
        </p:spPr>
        <p:txBody>
          <a:bodyPr wrap="none" rtlCol="0" anchor="t"/>
          <a:lstStyle/>
          <a:p>
            <a:pPr marL="0" indent="0">
              <a:buNone/>
            </a:pPr>
            <a:endParaRPr lang="en-US" dirty="0"/>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68647" y="1471994"/>
            <a:ext cx="132588" cy="132588"/>
          </a:xfrm>
          <a:prstGeom prst="rect">
            <a:avLst/>
          </a:prstGeom>
        </p:spPr>
      </p:pic>
      <p:sp>
        <p:nvSpPr>
          <p:cNvPr id="19" name="Text 14"/>
          <p:cNvSpPr/>
          <p:nvPr/>
        </p:nvSpPr>
        <p:spPr>
          <a:xfrm>
            <a:off x="3549551" y="1416397"/>
            <a:ext cx="5210240" cy="384579"/>
          </a:xfrm>
          <a:prstGeom prst="rect">
            <a:avLst/>
          </a:prstGeom>
          <a:noFill/>
          <a:ln/>
        </p:spPr>
        <p:txBody>
          <a:bodyPr wrap="square" lIns="0" tIns="0" rIns="0" bIns="0" rtlCol="0" anchor="ctr"/>
          <a:lstStyle/>
          <a:p>
            <a:pPr marL="0" indent="0" algn="l">
              <a:lnSpc>
                <a:spcPts val="1740"/>
              </a:lnSpc>
              <a:buNone/>
            </a:pPr>
            <a:r>
              <a:rPr lang="en-US" sz="870" b="1" dirty="0">
                <a:solidFill>
                  <a:srgbClr val="1B5E72"/>
                </a:solidFill>
                <a:latin typeface="Calibri" pitchFamily="34" charset="0"/>
                <a:ea typeface="Calibri" pitchFamily="34" charset="-122"/>
                <a:cs typeface="Calibri" pitchFamily="34" charset="-120"/>
              </a:rPr>
              <a:t>Consistency builds trust —</a:t>
            </a:r>
            <a:r>
              <a:rPr lang="en-US" sz="1200" dirty="0">
                <a:solidFill>
                  <a:srgbClr val="2C2C2C"/>
                </a:solidFill>
                <a:latin typeface="Calibri" pitchFamily="34" charset="0"/>
                <a:ea typeface="Calibri" pitchFamily="34" charset="-122"/>
                <a:cs typeface="Calibri" pitchFamily="34" charset="-120"/>
              </a:rPr>
              <a:t> </a:t>
            </a:r>
            <a:r>
              <a:rPr lang="en-US" sz="790" dirty="0">
                <a:solidFill>
                  <a:srgbClr val="4A4A4A"/>
                </a:solidFill>
                <a:latin typeface="Calibri" pitchFamily="34" charset="0"/>
                <a:ea typeface="Calibri" pitchFamily="34" charset="-122"/>
                <a:cs typeface="Calibri" pitchFamily="34" charset="-120"/>
              </a:rPr>
              <a:t>Reliability over time is more impactful than intensity upfront. Show up the same way, every time.</a:t>
            </a:r>
            <a:endParaRPr lang="en-US" sz="1200" dirty="0"/>
          </a:p>
        </p:txBody>
      </p:sp>
      <p:sp>
        <p:nvSpPr>
          <p:cNvPr id="20" name="Text 15"/>
          <p:cNvSpPr/>
          <p:nvPr/>
        </p:nvSpPr>
        <p:spPr>
          <a:xfrm>
            <a:off x="3087291" y="1953964"/>
            <a:ext cx="5684639" cy="523726"/>
          </a:xfrm>
          <a:prstGeom prst="roundRect">
            <a:avLst>
              <a:gd name="adj" fmla="val 10912"/>
            </a:avLst>
          </a:prstGeom>
          <a:solidFill>
            <a:srgbClr val="F4FBFB"/>
          </a:solidFill>
          <a:ln/>
        </p:spPr>
        <p:txBody>
          <a:bodyPr wrap="square" rtlCol="0" anchor="t"/>
          <a:lstStyle/>
          <a:p>
            <a:pPr marL="0" indent="0">
              <a:buNone/>
            </a:pPr>
            <a:endParaRPr lang="en-US" dirty="0"/>
          </a:p>
        </p:txBody>
      </p:sp>
      <p:sp>
        <p:nvSpPr>
          <p:cNvPr id="21" name="Text 16"/>
          <p:cNvSpPr/>
          <p:nvPr/>
        </p:nvSpPr>
        <p:spPr>
          <a:xfrm>
            <a:off x="3087291" y="1953964"/>
            <a:ext cx="19050" cy="523726"/>
          </a:xfrm>
          <a:custGeom>
            <a:avLst/>
            <a:gdLst/>
            <a:ahLst/>
            <a:cxnLst/>
            <a:rect l="l" t="t" r="r" b="b"/>
            <a:pathLst>
              <a:path w="19050" h="523726">
                <a:moveTo>
                  <a:pt x="0" y="57150"/>
                </a:moveTo>
                <a:lnTo>
                  <a:pt x="2381" y="40825"/>
                </a:lnTo>
                <a:lnTo>
                  <a:pt x="4763" y="34310"/>
                </a:lnTo>
                <a:lnTo>
                  <a:pt x="7144" y="29482"/>
                </a:lnTo>
                <a:lnTo>
                  <a:pt x="9525" y="25559"/>
                </a:lnTo>
                <a:lnTo>
                  <a:pt x="11906" y="22234"/>
                </a:lnTo>
                <a:lnTo>
                  <a:pt x="14288" y="19349"/>
                </a:lnTo>
                <a:lnTo>
                  <a:pt x="16669" y="16809"/>
                </a:lnTo>
                <a:lnTo>
                  <a:pt x="19050" y="14553"/>
                </a:lnTo>
                <a:lnTo>
                  <a:pt x="19050" y="509173"/>
                </a:lnTo>
                <a:lnTo>
                  <a:pt x="16669" y="506917"/>
                </a:lnTo>
                <a:lnTo>
                  <a:pt x="14288" y="504377"/>
                </a:lnTo>
                <a:lnTo>
                  <a:pt x="11906" y="501492"/>
                </a:lnTo>
                <a:lnTo>
                  <a:pt x="9525" y="498167"/>
                </a:lnTo>
                <a:lnTo>
                  <a:pt x="7144" y="494244"/>
                </a:lnTo>
                <a:lnTo>
                  <a:pt x="4763" y="489416"/>
                </a:lnTo>
                <a:lnTo>
                  <a:pt x="2381" y="482901"/>
                </a:lnTo>
                <a:lnTo>
                  <a:pt x="0" y="466576"/>
                </a:lnTo>
                <a:close/>
              </a:path>
            </a:pathLst>
          </a:custGeom>
          <a:solidFill>
            <a:srgbClr val="FAB753">
              <a:alpha val="35000"/>
            </a:srgbClr>
          </a:solidFill>
          <a:ln/>
        </p:spPr>
        <p:txBody>
          <a:bodyPr wrap="square" rtlCol="0" anchor="t"/>
          <a:lstStyle/>
          <a:p>
            <a:pPr marL="0" indent="0">
              <a:buNone/>
            </a:pPr>
            <a:endParaRPr lang="en-US" dirty="0"/>
          </a:p>
        </p:txBody>
      </p:sp>
      <p:sp>
        <p:nvSpPr>
          <p:cNvPr id="22" name="Text 17"/>
          <p:cNvSpPr/>
          <p:nvPr/>
        </p:nvSpPr>
        <p:spPr>
          <a:xfrm>
            <a:off x="3220641" y="2040285"/>
            <a:ext cx="228600" cy="228600"/>
          </a:xfrm>
          <a:prstGeom prst="ellipse">
            <a:avLst/>
          </a:prstGeom>
          <a:solidFill>
            <a:srgbClr val="FAB753"/>
          </a:solidFill>
          <a:ln/>
        </p:spPr>
        <p:txBody>
          <a:bodyPr wrap="none" rtlCol="0" anchor="t"/>
          <a:lstStyle/>
          <a:p>
            <a:pPr marL="0" indent="0">
              <a:buNone/>
            </a:pPr>
            <a:endParaRPr lang="en-US" dirty="0"/>
          </a:p>
        </p:txBody>
      </p:sp>
      <p:pic>
        <p:nvPicPr>
          <p:cNvPr id="2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268647" y="2088291"/>
            <a:ext cx="132588" cy="132588"/>
          </a:xfrm>
          <a:prstGeom prst="rect">
            <a:avLst/>
          </a:prstGeom>
        </p:spPr>
      </p:pic>
      <p:sp>
        <p:nvSpPr>
          <p:cNvPr id="24" name="Text 18"/>
          <p:cNvSpPr/>
          <p:nvPr/>
        </p:nvSpPr>
        <p:spPr>
          <a:xfrm>
            <a:off x="3549551" y="2032695"/>
            <a:ext cx="5210240" cy="384579"/>
          </a:xfrm>
          <a:prstGeom prst="rect">
            <a:avLst/>
          </a:prstGeom>
          <a:noFill/>
          <a:ln/>
        </p:spPr>
        <p:txBody>
          <a:bodyPr wrap="square" lIns="0" tIns="0" rIns="0" bIns="0" rtlCol="0" anchor="ctr"/>
          <a:lstStyle/>
          <a:p>
            <a:pPr marL="0" indent="0" algn="l">
              <a:lnSpc>
                <a:spcPts val="1740"/>
              </a:lnSpc>
              <a:buNone/>
            </a:pPr>
            <a:r>
              <a:rPr lang="en-US" sz="870" b="1" dirty="0">
                <a:solidFill>
                  <a:srgbClr val="1B5E72"/>
                </a:solidFill>
                <a:latin typeface="Calibri" pitchFamily="34" charset="0"/>
                <a:ea typeface="Calibri" pitchFamily="34" charset="-122"/>
                <a:cs typeface="Calibri" pitchFamily="34" charset="-120"/>
              </a:rPr>
              <a:t>Curiosity over assumptions —</a:t>
            </a:r>
            <a:r>
              <a:rPr lang="en-US" sz="1200" dirty="0">
                <a:solidFill>
                  <a:srgbClr val="2C2C2C"/>
                </a:solidFill>
                <a:latin typeface="Calibri" pitchFamily="34" charset="0"/>
                <a:ea typeface="Calibri" pitchFamily="34" charset="-122"/>
                <a:cs typeface="Calibri" pitchFamily="34" charset="-120"/>
              </a:rPr>
              <a:t> </a:t>
            </a:r>
            <a:r>
              <a:rPr lang="en-US" sz="790" dirty="0">
                <a:solidFill>
                  <a:srgbClr val="4A4A4A"/>
                </a:solidFill>
                <a:latin typeface="Calibri" pitchFamily="34" charset="0"/>
                <a:ea typeface="Calibri" pitchFamily="34" charset="-122"/>
                <a:cs typeface="Calibri" pitchFamily="34" charset="-120"/>
              </a:rPr>
              <a:t>Seeking to understand perspectives strengthens collaboration and reduces defensiveness. Ask before you conclude.</a:t>
            </a:r>
            <a:endParaRPr lang="en-US" sz="1200" dirty="0"/>
          </a:p>
        </p:txBody>
      </p:sp>
      <p:sp>
        <p:nvSpPr>
          <p:cNvPr id="25" name="Text 19"/>
          <p:cNvSpPr/>
          <p:nvPr/>
        </p:nvSpPr>
        <p:spPr>
          <a:xfrm>
            <a:off x="3087291" y="2570262"/>
            <a:ext cx="5684639" cy="523726"/>
          </a:xfrm>
          <a:prstGeom prst="roundRect">
            <a:avLst>
              <a:gd name="adj" fmla="val 10912"/>
            </a:avLst>
          </a:prstGeom>
          <a:solidFill>
            <a:srgbClr val="FAFAFA"/>
          </a:solidFill>
          <a:ln/>
        </p:spPr>
        <p:txBody>
          <a:bodyPr wrap="square" rtlCol="0" anchor="t"/>
          <a:lstStyle/>
          <a:p>
            <a:pPr marL="0" indent="0">
              <a:buNone/>
            </a:pPr>
            <a:endParaRPr lang="en-US" dirty="0"/>
          </a:p>
        </p:txBody>
      </p:sp>
      <p:sp>
        <p:nvSpPr>
          <p:cNvPr id="26" name="Text 20"/>
          <p:cNvSpPr/>
          <p:nvPr/>
        </p:nvSpPr>
        <p:spPr>
          <a:xfrm>
            <a:off x="3087291" y="2570262"/>
            <a:ext cx="19050" cy="523726"/>
          </a:xfrm>
          <a:custGeom>
            <a:avLst/>
            <a:gdLst/>
            <a:ahLst/>
            <a:cxnLst/>
            <a:rect l="l" t="t" r="r" b="b"/>
            <a:pathLst>
              <a:path w="19050" h="523726">
                <a:moveTo>
                  <a:pt x="0" y="57150"/>
                </a:moveTo>
                <a:lnTo>
                  <a:pt x="2381" y="40825"/>
                </a:lnTo>
                <a:lnTo>
                  <a:pt x="4763" y="34310"/>
                </a:lnTo>
                <a:lnTo>
                  <a:pt x="7144" y="29482"/>
                </a:lnTo>
                <a:lnTo>
                  <a:pt x="9525" y="25559"/>
                </a:lnTo>
                <a:lnTo>
                  <a:pt x="11906" y="22234"/>
                </a:lnTo>
                <a:lnTo>
                  <a:pt x="14288" y="19349"/>
                </a:lnTo>
                <a:lnTo>
                  <a:pt x="16669" y="16809"/>
                </a:lnTo>
                <a:lnTo>
                  <a:pt x="19050" y="14553"/>
                </a:lnTo>
                <a:lnTo>
                  <a:pt x="19050" y="509173"/>
                </a:lnTo>
                <a:lnTo>
                  <a:pt x="16669" y="506917"/>
                </a:lnTo>
                <a:lnTo>
                  <a:pt x="14288" y="504377"/>
                </a:lnTo>
                <a:lnTo>
                  <a:pt x="11906" y="501492"/>
                </a:lnTo>
                <a:lnTo>
                  <a:pt x="9525" y="498167"/>
                </a:lnTo>
                <a:lnTo>
                  <a:pt x="7144" y="494244"/>
                </a:lnTo>
                <a:lnTo>
                  <a:pt x="4763" y="489416"/>
                </a:lnTo>
                <a:lnTo>
                  <a:pt x="2381" y="482901"/>
                </a:lnTo>
                <a:lnTo>
                  <a:pt x="0" y="466576"/>
                </a:lnTo>
                <a:close/>
              </a:path>
            </a:pathLst>
          </a:custGeom>
          <a:solidFill>
            <a:srgbClr val="1B5E72">
              <a:alpha val="18000"/>
            </a:srgbClr>
          </a:solidFill>
          <a:ln/>
        </p:spPr>
        <p:txBody>
          <a:bodyPr wrap="square" rtlCol="0" anchor="t"/>
          <a:lstStyle/>
          <a:p>
            <a:pPr marL="0" indent="0">
              <a:buNone/>
            </a:pPr>
            <a:endParaRPr lang="en-US" dirty="0"/>
          </a:p>
        </p:txBody>
      </p:sp>
      <p:sp>
        <p:nvSpPr>
          <p:cNvPr id="27" name="Text 21"/>
          <p:cNvSpPr/>
          <p:nvPr/>
        </p:nvSpPr>
        <p:spPr>
          <a:xfrm>
            <a:off x="3220641" y="2656582"/>
            <a:ext cx="228600" cy="228600"/>
          </a:xfrm>
          <a:prstGeom prst="ellipse">
            <a:avLst/>
          </a:prstGeom>
          <a:solidFill>
            <a:srgbClr val="FAB753"/>
          </a:solidFill>
          <a:ln/>
        </p:spPr>
        <p:txBody>
          <a:bodyPr wrap="none" rtlCol="0" anchor="t"/>
          <a:lstStyle/>
          <a:p>
            <a:pPr marL="0" indent="0">
              <a:buNone/>
            </a:pPr>
            <a:endParaRPr lang="en-US" dirty="0"/>
          </a:p>
        </p:txBody>
      </p:sp>
      <p:pic>
        <p:nvPicPr>
          <p:cNvPr id="2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268647" y="2704588"/>
            <a:ext cx="132588" cy="132588"/>
          </a:xfrm>
          <a:prstGeom prst="rect">
            <a:avLst/>
          </a:prstGeom>
        </p:spPr>
      </p:pic>
      <p:sp>
        <p:nvSpPr>
          <p:cNvPr id="29" name="Text 22"/>
          <p:cNvSpPr/>
          <p:nvPr/>
        </p:nvSpPr>
        <p:spPr>
          <a:xfrm>
            <a:off x="3549551" y="2648992"/>
            <a:ext cx="5210240" cy="384579"/>
          </a:xfrm>
          <a:prstGeom prst="rect">
            <a:avLst/>
          </a:prstGeom>
          <a:noFill/>
          <a:ln/>
        </p:spPr>
        <p:txBody>
          <a:bodyPr wrap="square" lIns="0" tIns="0" rIns="0" bIns="0" rtlCol="0" anchor="ctr"/>
          <a:lstStyle/>
          <a:p>
            <a:pPr marL="0" indent="0" algn="l">
              <a:lnSpc>
                <a:spcPts val="1740"/>
              </a:lnSpc>
              <a:buNone/>
            </a:pPr>
            <a:r>
              <a:rPr lang="en-US" sz="870" b="1" dirty="0">
                <a:solidFill>
                  <a:srgbClr val="1B5E72"/>
                </a:solidFill>
                <a:latin typeface="Calibri" pitchFamily="34" charset="0"/>
                <a:ea typeface="Calibri" pitchFamily="34" charset="-122"/>
                <a:cs typeface="Calibri" pitchFamily="34" charset="-120"/>
              </a:rPr>
              <a:t>Boundaries create safety —</a:t>
            </a:r>
            <a:r>
              <a:rPr lang="en-US" sz="1200" dirty="0">
                <a:solidFill>
                  <a:srgbClr val="2C2C2C"/>
                </a:solidFill>
                <a:latin typeface="Calibri" pitchFamily="34" charset="0"/>
                <a:ea typeface="Calibri" pitchFamily="34" charset="-122"/>
                <a:cs typeface="Calibri" pitchFamily="34" charset="-120"/>
              </a:rPr>
              <a:t> </a:t>
            </a:r>
            <a:r>
              <a:rPr lang="en-US" sz="790" dirty="0">
                <a:solidFill>
                  <a:srgbClr val="4A4A4A"/>
                </a:solidFill>
                <a:latin typeface="Calibri" pitchFamily="34" charset="0"/>
                <a:ea typeface="Calibri" pitchFamily="34" charset="-122"/>
                <a:cs typeface="Calibri" pitchFamily="34" charset="-120"/>
              </a:rPr>
              <a:t>Clear, respectful boundaries support sustainable relationships — for you and for everyone you serve.</a:t>
            </a:r>
            <a:endParaRPr lang="en-US" sz="1200" dirty="0"/>
          </a:p>
        </p:txBody>
      </p:sp>
      <p:sp>
        <p:nvSpPr>
          <p:cNvPr id="30" name="Text 23"/>
          <p:cNvSpPr/>
          <p:nvPr/>
        </p:nvSpPr>
        <p:spPr>
          <a:xfrm>
            <a:off x="3087291" y="3186559"/>
            <a:ext cx="5684639" cy="523726"/>
          </a:xfrm>
          <a:prstGeom prst="roundRect">
            <a:avLst>
              <a:gd name="adj" fmla="val 10912"/>
            </a:avLst>
          </a:prstGeom>
          <a:solidFill>
            <a:srgbClr val="F4FBFB"/>
          </a:solidFill>
          <a:ln/>
        </p:spPr>
        <p:txBody>
          <a:bodyPr wrap="square" rtlCol="0" anchor="t"/>
          <a:lstStyle/>
          <a:p>
            <a:pPr marL="0" indent="0">
              <a:buNone/>
            </a:pPr>
            <a:endParaRPr lang="en-US" dirty="0"/>
          </a:p>
        </p:txBody>
      </p:sp>
      <p:sp>
        <p:nvSpPr>
          <p:cNvPr id="31" name="Text 24"/>
          <p:cNvSpPr/>
          <p:nvPr/>
        </p:nvSpPr>
        <p:spPr>
          <a:xfrm>
            <a:off x="3087291" y="3186559"/>
            <a:ext cx="19050" cy="523726"/>
          </a:xfrm>
          <a:custGeom>
            <a:avLst/>
            <a:gdLst/>
            <a:ahLst/>
            <a:cxnLst/>
            <a:rect l="l" t="t" r="r" b="b"/>
            <a:pathLst>
              <a:path w="19050" h="523726">
                <a:moveTo>
                  <a:pt x="0" y="57150"/>
                </a:moveTo>
                <a:lnTo>
                  <a:pt x="2381" y="40825"/>
                </a:lnTo>
                <a:lnTo>
                  <a:pt x="4763" y="34310"/>
                </a:lnTo>
                <a:lnTo>
                  <a:pt x="7144" y="29482"/>
                </a:lnTo>
                <a:lnTo>
                  <a:pt x="9525" y="25559"/>
                </a:lnTo>
                <a:lnTo>
                  <a:pt x="11906" y="22234"/>
                </a:lnTo>
                <a:lnTo>
                  <a:pt x="14288" y="19349"/>
                </a:lnTo>
                <a:lnTo>
                  <a:pt x="16669" y="16809"/>
                </a:lnTo>
                <a:lnTo>
                  <a:pt x="19050" y="14553"/>
                </a:lnTo>
                <a:lnTo>
                  <a:pt x="19050" y="509173"/>
                </a:lnTo>
                <a:lnTo>
                  <a:pt x="16669" y="506917"/>
                </a:lnTo>
                <a:lnTo>
                  <a:pt x="14288" y="504377"/>
                </a:lnTo>
                <a:lnTo>
                  <a:pt x="11906" y="501492"/>
                </a:lnTo>
                <a:lnTo>
                  <a:pt x="9525" y="498167"/>
                </a:lnTo>
                <a:lnTo>
                  <a:pt x="7144" y="494244"/>
                </a:lnTo>
                <a:lnTo>
                  <a:pt x="4763" y="489416"/>
                </a:lnTo>
                <a:lnTo>
                  <a:pt x="2381" y="482901"/>
                </a:lnTo>
                <a:lnTo>
                  <a:pt x="0" y="466576"/>
                </a:lnTo>
                <a:close/>
              </a:path>
            </a:pathLst>
          </a:custGeom>
          <a:solidFill>
            <a:srgbClr val="FAB753">
              <a:alpha val="35000"/>
            </a:srgbClr>
          </a:solidFill>
          <a:ln/>
        </p:spPr>
        <p:txBody>
          <a:bodyPr wrap="square" rtlCol="0" anchor="t"/>
          <a:lstStyle/>
          <a:p>
            <a:pPr marL="0" indent="0">
              <a:buNone/>
            </a:pPr>
            <a:endParaRPr lang="en-US" dirty="0"/>
          </a:p>
        </p:txBody>
      </p:sp>
      <p:sp>
        <p:nvSpPr>
          <p:cNvPr id="32" name="Text 25"/>
          <p:cNvSpPr/>
          <p:nvPr/>
        </p:nvSpPr>
        <p:spPr>
          <a:xfrm>
            <a:off x="3220641" y="3272879"/>
            <a:ext cx="228600" cy="228600"/>
          </a:xfrm>
          <a:prstGeom prst="ellipse">
            <a:avLst/>
          </a:prstGeom>
          <a:solidFill>
            <a:srgbClr val="FAB753"/>
          </a:solidFill>
          <a:ln/>
        </p:spPr>
        <p:txBody>
          <a:bodyPr wrap="none" rtlCol="0" anchor="t"/>
          <a:lstStyle/>
          <a:p>
            <a:pPr marL="0" indent="0">
              <a:buNone/>
            </a:pPr>
            <a:endParaRPr lang="en-US" dirty="0"/>
          </a:p>
        </p:txBody>
      </p:sp>
      <p:pic>
        <p:nvPicPr>
          <p:cNvPr id="33"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268647" y="3320885"/>
            <a:ext cx="132588" cy="132588"/>
          </a:xfrm>
          <a:prstGeom prst="rect">
            <a:avLst/>
          </a:prstGeom>
        </p:spPr>
      </p:pic>
      <p:sp>
        <p:nvSpPr>
          <p:cNvPr id="34" name="Text 26"/>
          <p:cNvSpPr/>
          <p:nvPr/>
        </p:nvSpPr>
        <p:spPr>
          <a:xfrm>
            <a:off x="3549551" y="3265289"/>
            <a:ext cx="5210240" cy="384579"/>
          </a:xfrm>
          <a:prstGeom prst="rect">
            <a:avLst/>
          </a:prstGeom>
          <a:noFill/>
          <a:ln/>
        </p:spPr>
        <p:txBody>
          <a:bodyPr wrap="square" lIns="0" tIns="0" rIns="0" bIns="0" rtlCol="0" anchor="ctr"/>
          <a:lstStyle/>
          <a:p>
            <a:pPr marL="0" indent="0" algn="l">
              <a:lnSpc>
                <a:spcPts val="1740"/>
              </a:lnSpc>
              <a:buNone/>
            </a:pPr>
            <a:r>
              <a:rPr lang="en-US" sz="870" b="1" dirty="0">
                <a:solidFill>
                  <a:srgbClr val="1B5E72"/>
                </a:solidFill>
                <a:latin typeface="Calibri" pitchFamily="34" charset="0"/>
                <a:ea typeface="Calibri" pitchFamily="34" charset="-122"/>
                <a:cs typeface="Calibri" pitchFamily="34" charset="-120"/>
              </a:rPr>
              <a:t>Repair is part of relationship —</a:t>
            </a:r>
            <a:r>
              <a:rPr lang="en-US" sz="1200" dirty="0">
                <a:solidFill>
                  <a:srgbClr val="2C2C2C"/>
                </a:solidFill>
                <a:latin typeface="Calibri" pitchFamily="34" charset="0"/>
                <a:ea typeface="Calibri" pitchFamily="34" charset="-122"/>
                <a:cs typeface="Calibri" pitchFamily="34" charset="-120"/>
              </a:rPr>
              <a:t> </a:t>
            </a:r>
            <a:r>
              <a:rPr lang="en-US" sz="790" dirty="0">
                <a:solidFill>
                  <a:srgbClr val="4A4A4A"/>
                </a:solidFill>
                <a:latin typeface="Calibri" pitchFamily="34" charset="0"/>
                <a:ea typeface="Calibri" pitchFamily="34" charset="-122"/>
                <a:cs typeface="Calibri" pitchFamily="34" charset="-120"/>
              </a:rPr>
              <a:t>Missteps happen. Owning and repairing them strengthens trust more than never making mistakes at all.</a:t>
            </a:r>
            <a:endParaRPr lang="en-US" sz="1200" dirty="0"/>
          </a:p>
        </p:txBody>
      </p:sp>
      <p:sp>
        <p:nvSpPr>
          <p:cNvPr id="35" name="Text 27"/>
          <p:cNvSpPr/>
          <p:nvPr/>
        </p:nvSpPr>
        <p:spPr>
          <a:xfrm>
            <a:off x="2715220" y="4800600"/>
            <a:ext cx="6428780" cy="377190"/>
          </a:xfrm>
          <a:prstGeom prst="rect">
            <a:avLst/>
          </a:prstGeom>
          <a:solidFill>
            <a:srgbClr val="FAB753"/>
          </a:solidFill>
          <a:ln/>
        </p:spPr>
        <p:txBody>
          <a:bodyPr wrap="none" lIns="0" tIns="0" rIns="0" bIns="0" rtlCol="0" anchor="ctr"/>
          <a:lstStyle/>
          <a:p>
            <a:pPr marL="0" indent="0" algn="ctr">
              <a:buNone/>
            </a:pPr>
            <a:r>
              <a:rPr lang="en-US" sz="840" b="1" kern="0" spc="17" dirty="0">
                <a:solidFill>
                  <a:srgbClr val="1A1A1A"/>
                </a:solidFill>
                <a:latin typeface="Calibri" pitchFamily="34" charset="0"/>
                <a:ea typeface="Calibri" pitchFamily="34" charset="-122"/>
                <a:cs typeface="Calibri" pitchFamily="34" charset="-120"/>
              </a:rPr>
              <a:t>These are not soft skills. They are clinical competencies.</a:t>
            </a:r>
            <a:endParaRPr lang="en-US" sz="840" dirty="0"/>
          </a:p>
        </p:txBody>
      </p:sp>
      <p:sp>
        <p:nvSpPr>
          <p:cNvPr id="36" name="Text 28"/>
          <p:cNvSpPr/>
          <p:nvPr/>
        </p:nvSpPr>
        <p:spPr>
          <a:xfrm>
            <a:off x="1715691" y="0"/>
            <a:ext cx="1428750" cy="999490"/>
          </a:xfrm>
          <a:prstGeom prst="ellipse">
            <a:avLst/>
          </a:prstGeom>
          <a:noFill/>
          <a:ln w="9525">
            <a:solidFill>
              <a:srgbClr val="FAB753">
                <a:alpha val="15000"/>
              </a:srgbClr>
            </a:solidFill>
          </a:ln>
        </p:spPr>
        <p:txBody>
          <a:bodyPr wrap="square" rtlCol="0" anchor="t"/>
          <a:lstStyle/>
          <a:p>
            <a:pPr marL="0" indent="0">
              <a:buNone/>
            </a:pPr>
            <a:endParaRPr lang="en-US" dirty="0"/>
          </a:p>
        </p:txBody>
      </p:sp>
      <p:sp>
        <p:nvSpPr>
          <p:cNvPr id="37" name="Text 29"/>
          <p:cNvSpPr/>
          <p:nvPr/>
        </p:nvSpPr>
        <p:spPr>
          <a:xfrm>
            <a:off x="0" y="4286250"/>
            <a:ext cx="857250" cy="857250"/>
          </a:xfrm>
          <a:prstGeom prst="ellipse">
            <a:avLst/>
          </a:prstGeom>
          <a:noFill/>
          <a:ln w="9525">
            <a:solidFill>
              <a:srgbClr val="FFFFFF">
                <a:alpha val="7000"/>
              </a:srgbClr>
            </a:solidFill>
          </a:ln>
        </p:spPr>
        <p:txBody>
          <a:bodyPr wrap="square" rtlCol="0" anchor="t"/>
          <a:lstStyle/>
          <a:p>
            <a:pPr marL="0" indent="0">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5E72"/>
        </a:solidFill>
        <a:effectLst/>
      </p:bgPr>
    </p:bg>
    <p:spTree>
      <p:nvGrpSpPr>
        <p:cNvPr id="1" name=""/>
        <p:cNvGrpSpPr/>
        <p:nvPr/>
      </p:nvGrpSpPr>
      <p:grpSpPr>
        <a:xfrm>
          <a:off x="0" y="0"/>
          <a:ext cx="0" cy="0"/>
          <a:chOff x="0" y="0"/>
          <a:chExt cx="0" cy="0"/>
        </a:xfrm>
      </p:grpSpPr>
      <p:sp>
        <p:nvSpPr>
          <p:cNvPr id="2" name="Text 0"/>
          <p:cNvSpPr/>
          <p:nvPr/>
        </p:nvSpPr>
        <p:spPr>
          <a:xfrm>
            <a:off x="0" y="3000970"/>
            <a:ext cx="2714030" cy="2142530"/>
          </a:xfrm>
          <a:prstGeom prst="ellipse">
            <a:avLst/>
          </a:prstGeom>
          <a:noFill/>
          <a:ln w="9525">
            <a:solidFill>
              <a:srgbClr val="FFFFFF">
                <a:alpha val="4000"/>
              </a:srgbClr>
            </a:solidFill>
          </a:ln>
        </p:spPr>
        <p:txBody>
          <a:bodyPr wrap="square" rtlCol="0" anchor="t"/>
          <a:lstStyle/>
          <a:p>
            <a:pPr marL="0" indent="0">
              <a:buNone/>
            </a:pPr>
            <a:endParaRPr lang="en-US" dirty="0"/>
          </a:p>
        </p:txBody>
      </p:sp>
      <p:sp>
        <p:nvSpPr>
          <p:cNvPr id="3" name="Text 1"/>
          <p:cNvSpPr/>
          <p:nvPr/>
        </p:nvSpPr>
        <p:spPr>
          <a:xfrm>
            <a:off x="0" y="3572470"/>
            <a:ext cx="2000250" cy="1571030"/>
          </a:xfrm>
          <a:prstGeom prst="ellipse">
            <a:avLst/>
          </a:prstGeom>
          <a:noFill/>
          <a:ln w="9525">
            <a:solidFill>
              <a:srgbClr val="FFFFFF">
                <a:alpha val="6000"/>
              </a:srgbClr>
            </a:solidFill>
          </a:ln>
        </p:spPr>
        <p:txBody>
          <a:bodyPr wrap="square" rtlCol="0" anchor="t"/>
          <a:lstStyle/>
          <a:p>
            <a:pPr marL="0" indent="0">
              <a:buNone/>
            </a:pPr>
            <a:endParaRPr lang="en-US" dirty="0"/>
          </a:p>
        </p:txBody>
      </p:sp>
      <p:sp>
        <p:nvSpPr>
          <p:cNvPr id="4" name="Text 2"/>
          <p:cNvSpPr/>
          <p:nvPr/>
        </p:nvSpPr>
        <p:spPr>
          <a:xfrm>
            <a:off x="1652290" y="3102769"/>
            <a:ext cx="29170" cy="602753"/>
          </a:xfrm>
          <a:custGeom>
            <a:avLst/>
            <a:gdLst/>
            <a:ahLst/>
            <a:cxnLst/>
            <a:rect l="l" t="t" r="r" b="b"/>
            <a:pathLst>
              <a:path w="29170" h="602753">
                <a:moveTo>
                  <a:pt x="0" y="0"/>
                </a:moveTo>
                <a:lnTo>
                  <a:pt x="15200" y="0"/>
                </a:lnTo>
                <a:lnTo>
                  <a:pt x="15200" y="0"/>
                </a:lnTo>
                <a:lnTo>
                  <a:pt x="17926" y="268"/>
                </a:lnTo>
                <a:lnTo>
                  <a:pt x="20546" y="1063"/>
                </a:lnTo>
                <a:lnTo>
                  <a:pt x="22962" y="2354"/>
                </a:lnTo>
                <a:lnTo>
                  <a:pt x="25079" y="4092"/>
                </a:lnTo>
                <a:lnTo>
                  <a:pt x="26816" y="6209"/>
                </a:lnTo>
                <a:lnTo>
                  <a:pt x="28107" y="8624"/>
                </a:lnTo>
                <a:lnTo>
                  <a:pt x="28902" y="11245"/>
                </a:lnTo>
                <a:lnTo>
                  <a:pt x="29170" y="13970"/>
                </a:lnTo>
                <a:lnTo>
                  <a:pt x="29170" y="588783"/>
                </a:lnTo>
                <a:lnTo>
                  <a:pt x="29170" y="588783"/>
                </a:lnTo>
                <a:lnTo>
                  <a:pt x="28902" y="591509"/>
                </a:lnTo>
                <a:lnTo>
                  <a:pt x="28107" y="594129"/>
                </a:lnTo>
                <a:lnTo>
                  <a:pt x="26816" y="596545"/>
                </a:lnTo>
                <a:lnTo>
                  <a:pt x="25079" y="598662"/>
                </a:lnTo>
                <a:lnTo>
                  <a:pt x="22962" y="600399"/>
                </a:lnTo>
                <a:lnTo>
                  <a:pt x="20546" y="601690"/>
                </a:lnTo>
                <a:lnTo>
                  <a:pt x="17926" y="602485"/>
                </a:lnTo>
                <a:lnTo>
                  <a:pt x="15200" y="602753"/>
                </a:lnTo>
                <a:lnTo>
                  <a:pt x="0" y="602753"/>
                </a:lnTo>
                <a:close/>
              </a:path>
            </a:pathLst>
          </a:custGeom>
          <a:solidFill>
            <a:srgbClr val="FAB753"/>
          </a:solidFill>
          <a:ln/>
        </p:spPr>
        <p:txBody>
          <a:bodyPr wrap="square" rtlCol="0" anchor="t"/>
          <a:lstStyle/>
          <a:p>
            <a:pPr marL="0" indent="0">
              <a:buNone/>
            </a:pPr>
            <a:endParaRPr lang="en-US" dirty="0"/>
          </a:p>
        </p:txBody>
      </p:sp>
      <p:sp>
        <p:nvSpPr>
          <p:cNvPr id="5" name="Text 3"/>
          <p:cNvSpPr/>
          <p:nvPr/>
        </p:nvSpPr>
        <p:spPr>
          <a:xfrm>
            <a:off x="6286500" y="0"/>
            <a:ext cx="2857500" cy="2857500"/>
          </a:xfrm>
          <a:prstGeom prst="ellipse">
            <a:avLst/>
          </a:prstGeom>
          <a:noFill/>
          <a:ln w="9525">
            <a:solidFill>
              <a:srgbClr val="FAB753">
                <a:alpha val="8000"/>
              </a:srgbClr>
            </a:solidFill>
          </a:ln>
        </p:spPr>
        <p:txBody>
          <a:bodyPr wrap="square" rtlCol="0" anchor="t"/>
          <a:lstStyle/>
          <a:p>
            <a:pPr marL="0" indent="0">
              <a:buNone/>
            </a:pPr>
            <a:endParaRPr lang="en-US" dirty="0"/>
          </a:p>
        </p:txBody>
      </p:sp>
      <p:sp>
        <p:nvSpPr>
          <p:cNvPr id="6" name="Text 4"/>
          <p:cNvSpPr/>
          <p:nvPr/>
        </p:nvSpPr>
        <p:spPr>
          <a:xfrm>
            <a:off x="6858000" y="0"/>
            <a:ext cx="2286000" cy="2285955"/>
          </a:xfrm>
          <a:prstGeom prst="ellipse">
            <a:avLst/>
          </a:prstGeom>
          <a:noFill/>
          <a:ln w="9525">
            <a:solidFill>
              <a:srgbClr val="FAB753">
                <a:alpha val="5000"/>
              </a:srgbClr>
            </a:solidFill>
          </a:ln>
        </p:spPr>
        <p:txBody>
          <a:bodyPr wrap="square" rtlCol="0" anchor="t"/>
          <a:lstStyle/>
          <a:p>
            <a:pPr marL="0" indent="0">
              <a:buNone/>
            </a:pPr>
            <a:endParaRPr lang="en-US"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95573" y="899228"/>
            <a:ext cx="132588" cy="132588"/>
          </a:xfrm>
          <a:prstGeom prst="rect">
            <a:avLst/>
          </a:prstGeom>
        </p:spPr>
      </p:pic>
      <p:sp>
        <p:nvSpPr>
          <p:cNvPr id="8" name="Text 5"/>
          <p:cNvSpPr/>
          <p:nvPr/>
        </p:nvSpPr>
        <p:spPr>
          <a:xfrm>
            <a:off x="4007197" y="896094"/>
            <a:ext cx="1242402" cy="139005"/>
          </a:xfrm>
          <a:prstGeom prst="rect">
            <a:avLst/>
          </a:prstGeom>
          <a:noFill/>
          <a:ln/>
        </p:spPr>
        <p:txBody>
          <a:bodyPr wrap="none" lIns="0" tIns="0" rIns="0" bIns="0" rtlCol="0" anchor="ctr"/>
          <a:lstStyle/>
          <a:p>
            <a:pPr marL="0" indent="0" algn="l">
              <a:lnSpc>
                <a:spcPts val="1095"/>
              </a:lnSpc>
              <a:buNone/>
            </a:pPr>
            <a:r>
              <a:rPr lang="en-US" sz="730" b="1" dirty="0">
                <a:solidFill>
                  <a:srgbClr val="FAB753"/>
                </a:solidFill>
                <a:latin typeface="Calibri" pitchFamily="34" charset="0"/>
                <a:ea typeface="Calibri" pitchFamily="34" charset="-122"/>
                <a:cs typeface="Calibri" pitchFamily="34" charset="-120"/>
              </a:rPr>
              <a:t>PART 1 · SCHOOLS</a:t>
            </a:r>
            <a:endParaRPr lang="en-US" sz="73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15691" y="899228"/>
            <a:ext cx="132588" cy="132588"/>
          </a:xfrm>
          <a:prstGeom prst="rect">
            <a:avLst/>
          </a:prstGeom>
        </p:spPr>
      </p:pic>
      <p:sp>
        <p:nvSpPr>
          <p:cNvPr id="10" name="Text 6"/>
          <p:cNvSpPr/>
          <p:nvPr/>
        </p:nvSpPr>
        <p:spPr>
          <a:xfrm>
            <a:off x="4400401" y="1106091"/>
            <a:ext cx="342900"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11" name="Text 7"/>
          <p:cNvSpPr/>
          <p:nvPr/>
        </p:nvSpPr>
        <p:spPr>
          <a:xfrm>
            <a:off x="1549417" y="1328291"/>
            <a:ext cx="6045166" cy="780098"/>
          </a:xfrm>
          <a:prstGeom prst="rect">
            <a:avLst/>
          </a:prstGeom>
          <a:noFill/>
          <a:ln/>
        </p:spPr>
        <p:txBody>
          <a:bodyPr wrap="square" lIns="0" tIns="0" rIns="0" bIns="0" rtlCol="0" anchor="t"/>
          <a:lstStyle/>
          <a:p>
            <a:pPr marL="0" indent="0" algn="ctr">
              <a:lnSpc>
                <a:spcPts val="2926"/>
              </a:lnSpc>
              <a:buNone/>
            </a:pPr>
            <a:r>
              <a:rPr lang="en-US" sz="2480" kern="0" spc="-25" dirty="0">
                <a:solidFill>
                  <a:srgbClr val="FFFFFF"/>
                </a:solidFill>
                <a:latin typeface="Calibri Light" pitchFamily="34" charset="0"/>
                <a:ea typeface="Calibri Light" pitchFamily="34" charset="-122"/>
                <a:cs typeface="Calibri Light" pitchFamily="34" charset="-120"/>
              </a:rPr>
              <a:t>Before You Ever Meet Your School,</a:t>
            </a:r>
            <a:br/>
            <a:r>
              <a:rPr lang="en-US" sz="2480" kern="0" spc="-25" dirty="0">
                <a:solidFill>
                  <a:srgbClr val="FFFFFF"/>
                </a:solidFill>
                <a:latin typeface="Calibri Light" pitchFamily="34" charset="0"/>
                <a:ea typeface="Calibri Light" pitchFamily="34" charset="-122"/>
                <a:cs typeface="Calibri Light" pitchFamily="34" charset="-120"/>
              </a:rPr>
              <a:t> They Are Already Forming Expectations.</a:t>
            </a:r>
            <a:endParaRPr lang="en-US" sz="2480" dirty="0"/>
          </a:p>
        </p:txBody>
      </p:sp>
      <p:sp>
        <p:nvSpPr>
          <p:cNvPr id="12" name="Text 8"/>
          <p:cNvSpPr/>
          <p:nvPr/>
        </p:nvSpPr>
        <p:spPr>
          <a:xfrm>
            <a:off x="2401802" y="2228701"/>
            <a:ext cx="4340248" cy="442243"/>
          </a:xfrm>
          <a:prstGeom prst="rect">
            <a:avLst/>
          </a:prstGeom>
          <a:noFill/>
          <a:ln/>
        </p:spPr>
        <p:txBody>
          <a:bodyPr wrap="square" lIns="0" tIns="0" rIns="0" bIns="0" rtlCol="0" anchor="t"/>
          <a:lstStyle/>
          <a:p>
            <a:pPr marL="0" indent="0" algn="ctr">
              <a:lnSpc>
                <a:spcPts val="1658"/>
              </a:lnSpc>
              <a:buNone/>
            </a:pPr>
            <a:r>
              <a:rPr lang="en-US" sz="1070" dirty="0">
                <a:solidFill>
                  <a:srgbClr val="FFFFFF"/>
                </a:solidFill>
                <a:latin typeface="Calibri" pitchFamily="34" charset="0"/>
                <a:ea typeface="Calibri" pitchFamily="34" charset="-122"/>
                <a:cs typeface="Calibri" pitchFamily="34" charset="-120"/>
              </a:rPr>
              <a:t>This activity helps you think intentionally about how you enter a system</a:t>
            </a:r>
            <a:br/>
            <a:r>
              <a:rPr lang="en-US" sz="1070" dirty="0">
                <a:solidFill>
                  <a:srgbClr val="FFFFFF"/>
                </a:solidFill>
                <a:latin typeface="Calibri" pitchFamily="34" charset="0"/>
                <a:ea typeface="Calibri" pitchFamily="34" charset="-122"/>
                <a:cs typeface="Calibri" pitchFamily="34" charset="-120"/>
              </a:rPr>
              <a:t>and what actually builds trust from day one.</a:t>
            </a:r>
            <a:endParaRPr lang="en-US" sz="1070" dirty="0"/>
          </a:p>
        </p:txBody>
      </p:sp>
      <p:sp>
        <p:nvSpPr>
          <p:cNvPr id="13" name="Text 9"/>
          <p:cNvSpPr/>
          <p:nvPr/>
        </p:nvSpPr>
        <p:spPr>
          <a:xfrm>
            <a:off x="1642765" y="2892326"/>
            <a:ext cx="5858470" cy="1023640"/>
          </a:xfrm>
          <a:prstGeom prst="roundRect">
            <a:avLst>
              <a:gd name="adj" fmla="val 6948"/>
            </a:avLst>
          </a:prstGeom>
          <a:solidFill>
            <a:srgbClr val="EAF4F4"/>
          </a:solidFill>
          <a:ln w="9525">
            <a:solidFill>
              <a:srgbClr val="55A49C"/>
            </a:solidFill>
          </a:ln>
        </p:spPr>
        <p:txBody>
          <a:bodyPr wrap="square" rtlCol="0" anchor="t"/>
          <a:lstStyle/>
          <a:p>
            <a:pPr marL="0" indent="0">
              <a:buNone/>
            </a:pPr>
            <a:endParaRPr lang="en-US"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38040" y="3131641"/>
            <a:ext cx="150465" cy="150465"/>
          </a:xfrm>
          <a:prstGeom prst="rect">
            <a:avLst/>
          </a:prstGeom>
        </p:spPr>
      </p:pic>
      <p:sp>
        <p:nvSpPr>
          <p:cNvPr id="15" name="Text 10"/>
          <p:cNvSpPr/>
          <p:nvPr/>
        </p:nvSpPr>
        <p:spPr>
          <a:xfrm>
            <a:off x="2216646" y="3102471"/>
            <a:ext cx="5488245" cy="139005"/>
          </a:xfrm>
          <a:prstGeom prst="rect">
            <a:avLst/>
          </a:prstGeom>
          <a:noFill/>
          <a:ln/>
        </p:spPr>
        <p:txBody>
          <a:bodyPr wrap="none" lIns="0" tIns="0" rIns="0" bIns="0" rtlCol="0" anchor="t"/>
          <a:lstStyle/>
          <a:p>
            <a:pPr marL="0" indent="0" algn="l">
              <a:lnSpc>
                <a:spcPts val="1095"/>
              </a:lnSpc>
              <a:buNone/>
            </a:pPr>
            <a:r>
              <a:rPr lang="en-US" sz="730" b="1" kern="0" spc="88" dirty="0">
                <a:solidFill>
                  <a:srgbClr val="55A49C"/>
                </a:solidFill>
                <a:latin typeface="Calibri" pitchFamily="34" charset="0"/>
                <a:ea typeface="Calibri" pitchFamily="34" charset="-122"/>
                <a:cs typeface="Calibri" pitchFamily="34" charset="-120"/>
              </a:rPr>
              <a:t>REFLECTION ACTIVITY</a:t>
            </a:r>
            <a:endParaRPr lang="en-US" sz="730" dirty="0"/>
          </a:p>
        </p:txBody>
      </p:sp>
      <p:sp>
        <p:nvSpPr>
          <p:cNvPr id="16" name="Text 11"/>
          <p:cNvSpPr/>
          <p:nvPr/>
        </p:nvSpPr>
        <p:spPr>
          <a:xfrm>
            <a:off x="2216646" y="3284637"/>
            <a:ext cx="5089100" cy="442243"/>
          </a:xfrm>
          <a:prstGeom prst="rect">
            <a:avLst/>
          </a:prstGeom>
          <a:noFill/>
          <a:ln/>
        </p:spPr>
        <p:txBody>
          <a:bodyPr wrap="square" lIns="0" tIns="0" rIns="0" bIns="0" rtlCol="0" anchor="t"/>
          <a:lstStyle/>
          <a:p>
            <a:pPr marL="0" indent="0" algn="l">
              <a:lnSpc>
                <a:spcPts val="1658"/>
              </a:lnSpc>
              <a:buNone/>
            </a:pPr>
            <a:r>
              <a:rPr lang="en-US" sz="1070" i="1" dirty="0">
                <a:solidFill>
                  <a:srgbClr val="2C2C2C"/>
                </a:solidFill>
                <a:latin typeface="Calibri" pitchFamily="34" charset="0"/>
                <a:ea typeface="Calibri" pitchFamily="34" charset="-122"/>
                <a:cs typeface="Calibri" pitchFamily="34" charset="-120"/>
              </a:rPr>
              <a:t>"Reflect: What impression do you want school staff to have of you as a partner — and what will you do in the first two weeks to create it?"</a:t>
            </a:r>
            <a:endParaRPr lang="en-US" sz="1070" dirty="0"/>
          </a:p>
        </p:txBody>
      </p:sp>
      <p:sp>
        <p:nvSpPr>
          <p:cNvPr id="17" name="Text 12"/>
          <p:cNvSpPr/>
          <p:nvPr/>
        </p:nvSpPr>
        <p:spPr>
          <a:xfrm>
            <a:off x="2956768" y="4220766"/>
            <a:ext cx="285750" cy="7590"/>
          </a:xfrm>
          <a:prstGeom prst="rect">
            <a:avLst/>
          </a:prstGeom>
          <a:solidFill>
            <a:srgbClr val="FAB753">
              <a:alpha val="45000"/>
            </a:srgbClr>
          </a:solidFill>
          <a:ln/>
        </p:spPr>
        <p:txBody>
          <a:bodyPr wrap="none" rtlCol="0" anchor="t"/>
          <a:lstStyle/>
          <a:p>
            <a:pPr marL="0" indent="0">
              <a:buNone/>
            </a:pPr>
            <a:endParaRPr lang="en-US" dirty="0"/>
          </a:p>
        </p:txBody>
      </p:sp>
      <p:sp>
        <p:nvSpPr>
          <p:cNvPr id="18" name="Text 13"/>
          <p:cNvSpPr/>
          <p:nvPr/>
        </p:nvSpPr>
        <p:spPr>
          <a:xfrm>
            <a:off x="3219911" y="4144566"/>
            <a:ext cx="2704177" cy="159990"/>
          </a:xfrm>
          <a:prstGeom prst="rect">
            <a:avLst/>
          </a:prstGeom>
          <a:noFill/>
          <a:ln/>
        </p:spPr>
        <p:txBody>
          <a:bodyPr wrap="none" lIns="0" tIns="0" rIns="0" bIns="0" rtlCol="0" anchor="ctr"/>
          <a:lstStyle/>
          <a:p>
            <a:pPr marL="0" indent="0" algn="ctr">
              <a:lnSpc>
                <a:spcPts val="1260"/>
              </a:lnSpc>
              <a:buNone/>
            </a:pPr>
            <a:r>
              <a:rPr lang="en-US" sz="840" i="1" dirty="0">
                <a:solidFill>
                  <a:srgbClr val="FAB753">
                    <a:alpha val="92000"/>
                  </a:srgbClr>
                </a:solidFill>
                <a:latin typeface="Calibri" pitchFamily="34" charset="0"/>
                <a:ea typeface="Calibri" pitchFamily="34" charset="-122"/>
                <a:cs typeface="Calibri" pitchFamily="34" charset="-120"/>
              </a:rPr>
              <a:t>Relationship building begins before the first session.</a:t>
            </a:r>
            <a:endParaRPr lang="en-US" sz="840" dirty="0"/>
          </a:p>
        </p:txBody>
      </p:sp>
      <p:sp>
        <p:nvSpPr>
          <p:cNvPr id="19" name="Text 14"/>
          <p:cNvSpPr/>
          <p:nvPr/>
        </p:nvSpPr>
        <p:spPr>
          <a:xfrm>
            <a:off x="5901482" y="4220766"/>
            <a:ext cx="285750" cy="7590"/>
          </a:xfrm>
          <a:prstGeom prst="rect">
            <a:avLst/>
          </a:prstGeom>
          <a:solidFill>
            <a:srgbClr val="FAB753">
              <a:alpha val="45000"/>
            </a:srgbClr>
          </a:solidFill>
          <a:ln/>
        </p:spPr>
        <p:txBody>
          <a:bodyPr wrap="none" rtlCol="0" anchor="t"/>
          <a:lstStyle/>
          <a:p>
            <a:pPr marL="0" indent="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12659"/>
          </a:xfrm>
          <a:prstGeom prst="rect">
            <a:avLst/>
          </a:prstGeom>
          <a:solidFill>
            <a:srgbClr val="1B5E72"/>
          </a:solidFill>
          <a:ln/>
        </p:spPr>
        <p:txBody>
          <a:bodyPr wrap="square" lIns="372110" tIns="128270" rIns="372110" bIns="100330" rtlCol="0" anchor="t"/>
          <a:lstStyle/>
          <a:p>
            <a:pPr marL="0" indent="0" algn="l">
              <a:buNone/>
            </a:pPr>
            <a:r>
              <a:rPr lang="en-US" sz="1800" b="1" dirty="0">
                <a:solidFill>
                  <a:srgbClr val="FFFFFF"/>
                </a:solidFill>
                <a:latin typeface="Calibri Light" pitchFamily="34" charset="0"/>
                <a:ea typeface="Calibri Light" pitchFamily="34" charset="-122"/>
                <a:cs typeface="Calibri Light" pitchFamily="34" charset="-120"/>
              </a:rPr>
              <a:t>Building Your School Relationships</a:t>
            </a:r>
            <a:endParaRPr lang="en-US" sz="1800" dirty="0"/>
          </a:p>
          <a:p>
            <a:pPr marL="0" indent="0" algn="l">
              <a:buNone/>
            </a:pPr>
            <a:r>
              <a:rPr lang="en-US" sz="900" kern="0" spc="9" dirty="0">
                <a:solidFill>
                  <a:srgbClr val="55A49C"/>
                </a:solidFill>
                <a:latin typeface="Calibri" pitchFamily="34" charset="0"/>
                <a:ea typeface="Calibri" pitchFamily="34" charset="-122"/>
                <a:cs typeface="Calibri" pitchFamily="34" charset="-120"/>
              </a:rPr>
              <a:t>Three practices that move you from presence to partnership.</a:t>
            </a:r>
            <a:endParaRPr lang="en-US" sz="1800" dirty="0"/>
          </a:p>
        </p:txBody>
      </p:sp>
      <p:sp>
        <p:nvSpPr>
          <p:cNvPr id="3" name="Text 1"/>
          <p:cNvSpPr/>
          <p:nvPr/>
        </p:nvSpPr>
        <p:spPr>
          <a:xfrm>
            <a:off x="372070" y="835372"/>
            <a:ext cx="4210758" cy="340221"/>
          </a:xfrm>
          <a:prstGeom prst="roundRect">
            <a:avLst>
              <a:gd name="adj" fmla="val 12692"/>
            </a:avLst>
          </a:prstGeom>
          <a:solidFill>
            <a:srgbClr val="1B5E72"/>
          </a:solidFill>
          <a:ln/>
        </p:spPr>
        <p:txBody>
          <a:bodyPr wrap="none" lIns="336202" tIns="78740" rIns="157480" bIns="78740" rtlCol="0" anchor="ctr"/>
          <a:lstStyle/>
          <a:p>
            <a:pPr marL="0" indent="0" algn="l">
              <a:buNone/>
            </a:pPr>
            <a:r>
              <a:rPr lang="en-US" sz="960" b="1" kern="0" spc="10" dirty="0">
                <a:solidFill>
                  <a:srgbClr val="FFFFFF"/>
                </a:solidFill>
                <a:latin typeface="Calibri" pitchFamily="34" charset="0"/>
                <a:ea typeface="Calibri" pitchFamily="34" charset="-122"/>
                <a:cs typeface="Calibri" pitchFamily="34" charset="-120"/>
              </a:rPr>
              <a:t>Communication &amp; Collaboration</a:t>
            </a:r>
            <a:endParaRPr lang="en-US" sz="96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7038" y="939114"/>
            <a:ext cx="132588" cy="132588"/>
          </a:xfrm>
          <a:prstGeom prst="rect">
            <a:avLst/>
          </a:prstGeom>
        </p:spPr>
      </p:pic>
      <p:sp>
        <p:nvSpPr>
          <p:cNvPr id="5" name="Text 2"/>
          <p:cNvSpPr/>
          <p:nvPr/>
        </p:nvSpPr>
        <p:spPr>
          <a:xfrm>
            <a:off x="372070" y="1175593"/>
            <a:ext cx="4128195" cy="2917329"/>
          </a:xfrm>
          <a:prstGeom prst="rect">
            <a:avLst/>
          </a:prstGeom>
          <a:solidFill>
            <a:srgbClr val="EAF4F4"/>
          </a:solidFill>
          <a:ln/>
        </p:spPr>
        <p:txBody>
          <a:bodyPr wrap="square" rtlCol="0" anchor="t"/>
          <a:lstStyle/>
          <a:p>
            <a:pPr marL="0" indent="0">
              <a:buNone/>
            </a:pPr>
            <a:endParaRPr lang="en-US" dirty="0"/>
          </a:p>
        </p:txBody>
      </p:sp>
      <p:sp>
        <p:nvSpPr>
          <p:cNvPr id="6" name="Text 3"/>
          <p:cNvSpPr/>
          <p:nvPr/>
        </p:nvSpPr>
        <p:spPr>
          <a:xfrm>
            <a:off x="529530" y="1326654"/>
            <a:ext cx="157654" cy="207913"/>
          </a:xfrm>
          <a:prstGeom prst="rect">
            <a:avLst/>
          </a:prstGeom>
          <a:noFill/>
          <a:ln/>
        </p:spPr>
        <p:txBody>
          <a:bodyPr wrap="none" lIns="0" tIns="0" rIns="0" bIns="0" rtlCol="0" anchor="ctr"/>
          <a:lstStyle/>
          <a:p>
            <a:pPr marL="0" indent="0" algn="l">
              <a:lnSpc>
                <a:spcPts val="1639"/>
              </a:lnSpc>
              <a:buNone/>
            </a:pPr>
            <a:r>
              <a:rPr lang="en-US" sz="1130" b="1" dirty="0">
                <a:solidFill>
                  <a:srgbClr val="FAB753"/>
                </a:solidFill>
                <a:latin typeface="Calibri" pitchFamily="34" charset="0"/>
                <a:ea typeface="Calibri" pitchFamily="34" charset="-122"/>
                <a:cs typeface="Calibri" pitchFamily="34" charset="-120"/>
              </a:rPr>
              <a:t>—</a:t>
            </a:r>
            <a:endParaRPr lang="en-US" sz="1130" dirty="0"/>
          </a:p>
        </p:txBody>
      </p:sp>
      <p:sp>
        <p:nvSpPr>
          <p:cNvPr id="7" name="Text 4"/>
          <p:cNvSpPr/>
          <p:nvPr/>
        </p:nvSpPr>
        <p:spPr>
          <a:xfrm>
            <a:off x="743843" y="1319064"/>
            <a:ext cx="3670941" cy="335979"/>
          </a:xfrm>
          <a:prstGeom prst="rect">
            <a:avLst/>
          </a:prstGeom>
          <a:noFill/>
          <a:ln/>
        </p:spPr>
        <p:txBody>
          <a:bodyPr wrap="square" lIns="0" tIns="0" rIns="0" bIns="0" rtlCol="0" anchor="ctr"/>
          <a:lstStyle/>
          <a:p>
            <a:pPr marL="0" indent="0" algn="l">
              <a:lnSpc>
                <a:spcPts val="1262"/>
              </a:lnSpc>
              <a:buNone/>
            </a:pPr>
            <a:r>
              <a:rPr lang="en-US" sz="870" dirty="0">
                <a:solidFill>
                  <a:srgbClr val="2C2C2C"/>
                </a:solidFill>
                <a:latin typeface="Calibri" pitchFamily="34" charset="0"/>
                <a:ea typeface="Calibri" pitchFamily="34" charset="-122"/>
                <a:cs typeface="Calibri" pitchFamily="34" charset="-120"/>
              </a:rPr>
              <a:t>Maintain regular, proactive communication with school counselors, administrators, and key staff.</a:t>
            </a:r>
            <a:endParaRPr lang="en-US" sz="870" dirty="0"/>
          </a:p>
        </p:txBody>
      </p:sp>
      <p:sp>
        <p:nvSpPr>
          <p:cNvPr id="8" name="Text 5"/>
          <p:cNvSpPr/>
          <p:nvPr/>
        </p:nvSpPr>
        <p:spPr>
          <a:xfrm>
            <a:off x="529530" y="1739205"/>
            <a:ext cx="157654" cy="207913"/>
          </a:xfrm>
          <a:prstGeom prst="rect">
            <a:avLst/>
          </a:prstGeom>
          <a:noFill/>
          <a:ln/>
        </p:spPr>
        <p:txBody>
          <a:bodyPr wrap="none" lIns="0" tIns="0" rIns="0" bIns="0" rtlCol="0" anchor="ctr"/>
          <a:lstStyle/>
          <a:p>
            <a:pPr marL="0" indent="0" algn="l">
              <a:lnSpc>
                <a:spcPts val="1639"/>
              </a:lnSpc>
              <a:buNone/>
            </a:pPr>
            <a:r>
              <a:rPr lang="en-US" sz="1130" b="1" dirty="0">
                <a:solidFill>
                  <a:srgbClr val="FAB753"/>
                </a:solidFill>
                <a:latin typeface="Calibri" pitchFamily="34" charset="0"/>
                <a:ea typeface="Calibri" pitchFamily="34" charset="-122"/>
                <a:cs typeface="Calibri" pitchFamily="34" charset="-120"/>
              </a:rPr>
              <a:t>—</a:t>
            </a:r>
            <a:endParaRPr lang="en-US" sz="1130" dirty="0"/>
          </a:p>
        </p:txBody>
      </p:sp>
      <p:sp>
        <p:nvSpPr>
          <p:cNvPr id="9" name="Text 6"/>
          <p:cNvSpPr/>
          <p:nvPr/>
        </p:nvSpPr>
        <p:spPr>
          <a:xfrm>
            <a:off x="743843" y="1731615"/>
            <a:ext cx="3670941" cy="335979"/>
          </a:xfrm>
          <a:prstGeom prst="rect">
            <a:avLst/>
          </a:prstGeom>
          <a:noFill/>
          <a:ln/>
        </p:spPr>
        <p:txBody>
          <a:bodyPr wrap="square" lIns="0" tIns="0" rIns="0" bIns="0" rtlCol="0" anchor="ctr"/>
          <a:lstStyle/>
          <a:p>
            <a:pPr marL="0" indent="0" algn="l">
              <a:lnSpc>
                <a:spcPts val="1262"/>
              </a:lnSpc>
              <a:buNone/>
            </a:pPr>
            <a:r>
              <a:rPr lang="en-US" sz="870" dirty="0">
                <a:solidFill>
                  <a:srgbClr val="2C2C2C"/>
                </a:solidFill>
                <a:latin typeface="Calibri" pitchFamily="34" charset="0"/>
                <a:ea typeface="Calibri" pitchFamily="34" charset="-122"/>
                <a:cs typeface="Calibri" pitchFamily="34" charset="-120"/>
              </a:rPr>
              <a:t>Share general updates about capacity and presence without violating confidentiality.</a:t>
            </a:r>
            <a:endParaRPr lang="en-US" sz="870" dirty="0"/>
          </a:p>
        </p:txBody>
      </p:sp>
      <p:sp>
        <p:nvSpPr>
          <p:cNvPr id="10" name="Text 7"/>
          <p:cNvSpPr/>
          <p:nvPr/>
        </p:nvSpPr>
        <p:spPr>
          <a:xfrm>
            <a:off x="529530" y="2151757"/>
            <a:ext cx="157654" cy="207913"/>
          </a:xfrm>
          <a:prstGeom prst="rect">
            <a:avLst/>
          </a:prstGeom>
          <a:noFill/>
          <a:ln/>
        </p:spPr>
        <p:txBody>
          <a:bodyPr wrap="none" lIns="0" tIns="0" rIns="0" bIns="0" rtlCol="0" anchor="ctr"/>
          <a:lstStyle/>
          <a:p>
            <a:pPr marL="0" indent="0" algn="l">
              <a:lnSpc>
                <a:spcPts val="1639"/>
              </a:lnSpc>
              <a:buNone/>
            </a:pPr>
            <a:r>
              <a:rPr lang="en-US" sz="1130" b="1" dirty="0">
                <a:solidFill>
                  <a:srgbClr val="FAB753"/>
                </a:solidFill>
                <a:latin typeface="Calibri" pitchFamily="34" charset="0"/>
                <a:ea typeface="Calibri" pitchFamily="34" charset="-122"/>
                <a:cs typeface="Calibri" pitchFamily="34" charset="-120"/>
              </a:rPr>
              <a:t>—</a:t>
            </a:r>
            <a:endParaRPr lang="en-US" sz="1130" dirty="0"/>
          </a:p>
        </p:txBody>
      </p:sp>
      <p:sp>
        <p:nvSpPr>
          <p:cNvPr id="11" name="Text 8"/>
          <p:cNvSpPr/>
          <p:nvPr/>
        </p:nvSpPr>
        <p:spPr>
          <a:xfrm>
            <a:off x="743843" y="2144167"/>
            <a:ext cx="3808080" cy="159990"/>
          </a:xfrm>
          <a:prstGeom prst="rect">
            <a:avLst/>
          </a:prstGeom>
          <a:noFill/>
          <a:ln/>
        </p:spPr>
        <p:txBody>
          <a:bodyPr wrap="none" lIns="0" tIns="0" rIns="0" bIns="0" rtlCol="0" anchor="ctr"/>
          <a:lstStyle/>
          <a:p>
            <a:pPr marL="0" indent="0" algn="l">
              <a:lnSpc>
                <a:spcPts val="1262"/>
              </a:lnSpc>
              <a:buNone/>
            </a:pPr>
            <a:r>
              <a:rPr lang="en-US" sz="870" dirty="0">
                <a:solidFill>
                  <a:srgbClr val="2C2C2C"/>
                </a:solidFill>
                <a:latin typeface="Calibri" pitchFamily="34" charset="0"/>
                <a:ea typeface="Calibri" pitchFamily="34" charset="-122"/>
                <a:cs typeface="Calibri" pitchFamily="34" charset="-120"/>
              </a:rPr>
              <a:t>Attend non-billable meetings when possible to build relational capital.</a:t>
            </a:r>
            <a:endParaRPr lang="en-US" sz="870" dirty="0"/>
          </a:p>
        </p:txBody>
      </p:sp>
      <p:sp>
        <p:nvSpPr>
          <p:cNvPr id="12" name="Text 9"/>
          <p:cNvSpPr/>
          <p:nvPr/>
        </p:nvSpPr>
        <p:spPr>
          <a:xfrm>
            <a:off x="529530" y="2459831"/>
            <a:ext cx="157654" cy="207913"/>
          </a:xfrm>
          <a:prstGeom prst="rect">
            <a:avLst/>
          </a:prstGeom>
          <a:noFill/>
          <a:ln/>
        </p:spPr>
        <p:txBody>
          <a:bodyPr wrap="none" lIns="0" tIns="0" rIns="0" bIns="0" rtlCol="0" anchor="ctr"/>
          <a:lstStyle/>
          <a:p>
            <a:pPr marL="0" indent="0" algn="l">
              <a:lnSpc>
                <a:spcPts val="1639"/>
              </a:lnSpc>
              <a:buNone/>
            </a:pPr>
            <a:r>
              <a:rPr lang="en-US" sz="1130" b="1" dirty="0">
                <a:solidFill>
                  <a:srgbClr val="FAB753"/>
                </a:solidFill>
                <a:latin typeface="Calibri" pitchFamily="34" charset="0"/>
                <a:ea typeface="Calibri" pitchFamily="34" charset="-122"/>
                <a:cs typeface="Calibri" pitchFamily="34" charset="-120"/>
              </a:rPr>
              <a:t>—</a:t>
            </a:r>
            <a:endParaRPr lang="en-US" sz="1130" dirty="0"/>
          </a:p>
        </p:txBody>
      </p:sp>
      <p:sp>
        <p:nvSpPr>
          <p:cNvPr id="13" name="Text 10"/>
          <p:cNvSpPr/>
          <p:nvPr/>
        </p:nvSpPr>
        <p:spPr>
          <a:xfrm>
            <a:off x="743843" y="2452241"/>
            <a:ext cx="3085296" cy="159990"/>
          </a:xfrm>
          <a:prstGeom prst="rect">
            <a:avLst/>
          </a:prstGeom>
          <a:noFill/>
          <a:ln/>
        </p:spPr>
        <p:txBody>
          <a:bodyPr wrap="none" lIns="0" tIns="0" rIns="0" bIns="0" rtlCol="0" anchor="ctr"/>
          <a:lstStyle/>
          <a:p>
            <a:pPr marL="0" indent="0" algn="l">
              <a:lnSpc>
                <a:spcPts val="1262"/>
              </a:lnSpc>
              <a:buNone/>
            </a:pPr>
            <a:r>
              <a:rPr lang="en-US" sz="870" dirty="0">
                <a:solidFill>
                  <a:srgbClr val="2C2C2C"/>
                </a:solidFill>
                <a:latin typeface="Calibri" pitchFamily="34" charset="0"/>
                <a:ea typeface="Calibri" pitchFamily="34" charset="-122"/>
                <a:cs typeface="Calibri" pitchFamily="34" charset="-120"/>
              </a:rPr>
              <a:t>Use school language and norms to increase alignment.</a:t>
            </a:r>
            <a:endParaRPr lang="en-US" sz="870" dirty="0"/>
          </a:p>
        </p:txBody>
      </p:sp>
      <p:sp>
        <p:nvSpPr>
          <p:cNvPr id="14" name="Text 11"/>
          <p:cNvSpPr/>
          <p:nvPr/>
        </p:nvSpPr>
        <p:spPr>
          <a:xfrm>
            <a:off x="4643735" y="835372"/>
            <a:ext cx="4210758" cy="340221"/>
          </a:xfrm>
          <a:prstGeom prst="roundRect">
            <a:avLst>
              <a:gd name="adj" fmla="val 12692"/>
            </a:avLst>
          </a:prstGeom>
          <a:solidFill>
            <a:srgbClr val="FAB753"/>
          </a:solidFill>
          <a:ln/>
        </p:spPr>
        <p:txBody>
          <a:bodyPr wrap="none" lIns="336202" tIns="78740" rIns="157480" bIns="78740" rtlCol="0" anchor="ctr"/>
          <a:lstStyle/>
          <a:p>
            <a:pPr marL="0" indent="0" algn="l">
              <a:buNone/>
            </a:pPr>
            <a:r>
              <a:rPr lang="en-US" sz="960" b="1" kern="0" spc="10" dirty="0">
                <a:solidFill>
                  <a:srgbClr val="1B2A2A"/>
                </a:solidFill>
                <a:latin typeface="Calibri" pitchFamily="34" charset="0"/>
                <a:ea typeface="Calibri" pitchFamily="34" charset="-122"/>
                <a:cs typeface="Calibri" pitchFamily="34" charset="-120"/>
              </a:rPr>
              <a:t>Integration &amp; Appreciation</a:t>
            </a:r>
            <a:endParaRPr lang="en-US" sz="960" dirty="0"/>
          </a:p>
        </p:txBody>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88703" y="939114"/>
            <a:ext cx="132588" cy="132588"/>
          </a:xfrm>
          <a:prstGeom prst="rect">
            <a:avLst/>
          </a:prstGeom>
        </p:spPr>
      </p:pic>
      <p:sp>
        <p:nvSpPr>
          <p:cNvPr id="16" name="Text 12"/>
          <p:cNvSpPr/>
          <p:nvPr/>
        </p:nvSpPr>
        <p:spPr>
          <a:xfrm>
            <a:off x="4643735" y="1175593"/>
            <a:ext cx="4128195" cy="2917329"/>
          </a:xfrm>
          <a:prstGeom prst="rect">
            <a:avLst/>
          </a:prstGeom>
          <a:solidFill>
            <a:srgbClr val="FFFFFF"/>
          </a:solidFill>
          <a:ln/>
        </p:spPr>
        <p:txBody>
          <a:bodyPr wrap="square" rtlCol="0" anchor="t"/>
          <a:lstStyle/>
          <a:p>
            <a:pPr marL="0" indent="0">
              <a:buNone/>
            </a:pPr>
            <a:endParaRPr lang="en-US" dirty="0"/>
          </a:p>
        </p:txBody>
      </p:sp>
      <p:sp>
        <p:nvSpPr>
          <p:cNvPr id="17" name="Text 13"/>
          <p:cNvSpPr/>
          <p:nvPr/>
        </p:nvSpPr>
        <p:spPr>
          <a:xfrm>
            <a:off x="4643735" y="1175593"/>
            <a:ext cx="9525" cy="2917329"/>
          </a:xfrm>
          <a:prstGeom prst="rect">
            <a:avLst/>
          </a:prstGeom>
          <a:solidFill>
            <a:srgbClr val="B0CBCB"/>
          </a:solidFill>
          <a:ln/>
        </p:spPr>
        <p:txBody>
          <a:bodyPr wrap="square" rtlCol="0" anchor="t"/>
          <a:lstStyle/>
          <a:p>
            <a:pPr marL="0" indent="0">
              <a:buNone/>
            </a:pPr>
            <a:endParaRPr lang="en-US" dirty="0"/>
          </a:p>
        </p:txBody>
      </p:sp>
      <p:sp>
        <p:nvSpPr>
          <p:cNvPr id="18" name="Text 14"/>
          <p:cNvSpPr/>
          <p:nvPr/>
        </p:nvSpPr>
        <p:spPr>
          <a:xfrm>
            <a:off x="8762405" y="1175593"/>
            <a:ext cx="9525" cy="2917329"/>
          </a:xfrm>
          <a:prstGeom prst="rect">
            <a:avLst/>
          </a:prstGeom>
          <a:solidFill>
            <a:srgbClr val="B0CBCB"/>
          </a:solidFill>
          <a:ln/>
        </p:spPr>
        <p:txBody>
          <a:bodyPr wrap="square" rtlCol="0" anchor="t"/>
          <a:lstStyle/>
          <a:p>
            <a:pPr marL="0" indent="0">
              <a:buNone/>
            </a:pPr>
            <a:endParaRPr lang="en-US" dirty="0"/>
          </a:p>
        </p:txBody>
      </p:sp>
      <p:sp>
        <p:nvSpPr>
          <p:cNvPr id="19" name="Text 15"/>
          <p:cNvSpPr/>
          <p:nvPr/>
        </p:nvSpPr>
        <p:spPr>
          <a:xfrm>
            <a:off x="4810720" y="1326654"/>
            <a:ext cx="157654" cy="207913"/>
          </a:xfrm>
          <a:prstGeom prst="rect">
            <a:avLst/>
          </a:prstGeom>
          <a:noFill/>
          <a:ln/>
        </p:spPr>
        <p:txBody>
          <a:bodyPr wrap="none" lIns="0" tIns="0" rIns="0" bIns="0" rtlCol="0" anchor="ctr"/>
          <a:lstStyle/>
          <a:p>
            <a:pPr marL="0" indent="0" algn="l">
              <a:lnSpc>
                <a:spcPts val="1639"/>
              </a:lnSpc>
              <a:buNone/>
            </a:pPr>
            <a:r>
              <a:rPr lang="en-US" sz="1130" b="1" dirty="0">
                <a:solidFill>
                  <a:srgbClr val="55A49C"/>
                </a:solidFill>
                <a:latin typeface="Calibri" pitchFamily="34" charset="0"/>
                <a:ea typeface="Calibri" pitchFamily="34" charset="-122"/>
                <a:cs typeface="Calibri" pitchFamily="34" charset="-120"/>
              </a:rPr>
              <a:t>—</a:t>
            </a:r>
            <a:endParaRPr lang="en-US" sz="1130" dirty="0"/>
          </a:p>
        </p:txBody>
      </p:sp>
      <p:sp>
        <p:nvSpPr>
          <p:cNvPr id="20" name="Text 16"/>
          <p:cNvSpPr/>
          <p:nvPr/>
        </p:nvSpPr>
        <p:spPr>
          <a:xfrm>
            <a:off x="5025033" y="1319064"/>
            <a:ext cx="3524533" cy="159990"/>
          </a:xfrm>
          <a:prstGeom prst="rect">
            <a:avLst/>
          </a:prstGeom>
          <a:noFill/>
          <a:ln/>
        </p:spPr>
        <p:txBody>
          <a:bodyPr wrap="none" lIns="0" tIns="0" rIns="0" bIns="0" rtlCol="0" anchor="ctr"/>
          <a:lstStyle/>
          <a:p>
            <a:pPr marL="0" indent="0" algn="l">
              <a:lnSpc>
                <a:spcPts val="1262"/>
              </a:lnSpc>
              <a:buNone/>
            </a:pPr>
            <a:r>
              <a:rPr lang="en-US" sz="870" dirty="0">
                <a:solidFill>
                  <a:srgbClr val="2C2C2C"/>
                </a:solidFill>
                <a:latin typeface="Calibri" pitchFamily="34" charset="0"/>
                <a:ea typeface="Calibri" pitchFamily="34" charset="-122"/>
                <a:cs typeface="Calibri" pitchFamily="34" charset="-120"/>
              </a:rPr>
              <a:t>Participate in school activities and traditions when appropriate.</a:t>
            </a:r>
            <a:endParaRPr lang="en-US" sz="870" dirty="0"/>
          </a:p>
        </p:txBody>
      </p:sp>
      <p:sp>
        <p:nvSpPr>
          <p:cNvPr id="21" name="Text 17"/>
          <p:cNvSpPr/>
          <p:nvPr/>
        </p:nvSpPr>
        <p:spPr>
          <a:xfrm>
            <a:off x="4810720" y="1634728"/>
            <a:ext cx="157654" cy="207913"/>
          </a:xfrm>
          <a:prstGeom prst="rect">
            <a:avLst/>
          </a:prstGeom>
          <a:noFill/>
          <a:ln/>
        </p:spPr>
        <p:txBody>
          <a:bodyPr wrap="none" lIns="0" tIns="0" rIns="0" bIns="0" rtlCol="0" anchor="ctr"/>
          <a:lstStyle/>
          <a:p>
            <a:pPr marL="0" indent="0" algn="l">
              <a:lnSpc>
                <a:spcPts val="1639"/>
              </a:lnSpc>
              <a:buNone/>
            </a:pPr>
            <a:r>
              <a:rPr lang="en-US" sz="1130" b="1" dirty="0">
                <a:solidFill>
                  <a:srgbClr val="55A49C"/>
                </a:solidFill>
                <a:latin typeface="Calibri" pitchFamily="34" charset="0"/>
                <a:ea typeface="Calibri" pitchFamily="34" charset="-122"/>
                <a:cs typeface="Calibri" pitchFamily="34" charset="-120"/>
              </a:rPr>
              <a:t>—</a:t>
            </a:r>
            <a:endParaRPr lang="en-US" sz="1130" dirty="0"/>
          </a:p>
        </p:txBody>
      </p:sp>
      <p:sp>
        <p:nvSpPr>
          <p:cNvPr id="22" name="Text 18"/>
          <p:cNvSpPr/>
          <p:nvPr/>
        </p:nvSpPr>
        <p:spPr>
          <a:xfrm>
            <a:off x="5025033" y="1627138"/>
            <a:ext cx="3651510" cy="335979"/>
          </a:xfrm>
          <a:prstGeom prst="rect">
            <a:avLst/>
          </a:prstGeom>
          <a:noFill/>
          <a:ln/>
        </p:spPr>
        <p:txBody>
          <a:bodyPr wrap="square" lIns="0" tIns="0" rIns="0" bIns="0" rtlCol="0" anchor="ctr"/>
          <a:lstStyle/>
          <a:p>
            <a:pPr marL="0" indent="0" algn="l">
              <a:lnSpc>
                <a:spcPts val="1262"/>
              </a:lnSpc>
              <a:buNone/>
            </a:pPr>
            <a:r>
              <a:rPr lang="en-US" sz="870" dirty="0">
                <a:solidFill>
                  <a:srgbClr val="2C2C2C"/>
                </a:solidFill>
                <a:latin typeface="Calibri" pitchFamily="34" charset="0"/>
                <a:ea typeface="Calibri" pitchFamily="34" charset="-122"/>
                <a:cs typeface="Calibri" pitchFamily="34" charset="-120"/>
              </a:rPr>
              <a:t>Be present during parent-teacher conferences or school events when invited.</a:t>
            </a:r>
            <a:endParaRPr lang="en-US" sz="870" dirty="0"/>
          </a:p>
        </p:txBody>
      </p:sp>
      <p:sp>
        <p:nvSpPr>
          <p:cNvPr id="23" name="Text 19"/>
          <p:cNvSpPr/>
          <p:nvPr/>
        </p:nvSpPr>
        <p:spPr>
          <a:xfrm>
            <a:off x="4810720" y="2047280"/>
            <a:ext cx="157654" cy="207913"/>
          </a:xfrm>
          <a:prstGeom prst="rect">
            <a:avLst/>
          </a:prstGeom>
          <a:noFill/>
          <a:ln/>
        </p:spPr>
        <p:txBody>
          <a:bodyPr wrap="none" lIns="0" tIns="0" rIns="0" bIns="0" rtlCol="0" anchor="ctr"/>
          <a:lstStyle/>
          <a:p>
            <a:pPr marL="0" indent="0" algn="l">
              <a:lnSpc>
                <a:spcPts val="1639"/>
              </a:lnSpc>
              <a:buNone/>
            </a:pPr>
            <a:r>
              <a:rPr lang="en-US" sz="1130" b="1" dirty="0">
                <a:solidFill>
                  <a:srgbClr val="55A49C"/>
                </a:solidFill>
                <a:latin typeface="Calibri" pitchFamily="34" charset="0"/>
                <a:ea typeface="Calibri" pitchFamily="34" charset="-122"/>
                <a:cs typeface="Calibri" pitchFamily="34" charset="-120"/>
              </a:rPr>
              <a:t>—</a:t>
            </a:r>
            <a:endParaRPr lang="en-US" sz="1130" dirty="0"/>
          </a:p>
        </p:txBody>
      </p:sp>
      <p:sp>
        <p:nvSpPr>
          <p:cNvPr id="24" name="Text 20"/>
          <p:cNvSpPr/>
          <p:nvPr/>
        </p:nvSpPr>
        <p:spPr>
          <a:xfrm>
            <a:off x="5025033" y="2039689"/>
            <a:ext cx="2875746" cy="159990"/>
          </a:xfrm>
          <a:prstGeom prst="rect">
            <a:avLst/>
          </a:prstGeom>
          <a:noFill/>
          <a:ln/>
        </p:spPr>
        <p:txBody>
          <a:bodyPr wrap="none" lIns="0" tIns="0" rIns="0" bIns="0" rtlCol="0" anchor="ctr"/>
          <a:lstStyle/>
          <a:p>
            <a:pPr marL="0" indent="0" algn="l">
              <a:lnSpc>
                <a:spcPts val="1262"/>
              </a:lnSpc>
              <a:buNone/>
            </a:pPr>
            <a:r>
              <a:rPr lang="en-US" sz="870" dirty="0">
                <a:solidFill>
                  <a:srgbClr val="2C2C2C"/>
                </a:solidFill>
                <a:latin typeface="Calibri" pitchFamily="34" charset="0"/>
                <a:ea typeface="Calibri" pitchFamily="34" charset="-122"/>
                <a:cs typeface="Calibri" pitchFamily="34" charset="-120"/>
              </a:rPr>
              <a:t>Express appreciation frequently and authentically.</a:t>
            </a:r>
            <a:endParaRPr lang="en-US" sz="870" dirty="0"/>
          </a:p>
        </p:txBody>
      </p:sp>
      <p:sp>
        <p:nvSpPr>
          <p:cNvPr id="25" name="Text 21"/>
          <p:cNvSpPr/>
          <p:nvPr/>
        </p:nvSpPr>
        <p:spPr>
          <a:xfrm>
            <a:off x="4810720" y="2355354"/>
            <a:ext cx="157654" cy="207913"/>
          </a:xfrm>
          <a:prstGeom prst="rect">
            <a:avLst/>
          </a:prstGeom>
          <a:noFill/>
          <a:ln/>
        </p:spPr>
        <p:txBody>
          <a:bodyPr wrap="none" lIns="0" tIns="0" rIns="0" bIns="0" rtlCol="0" anchor="ctr"/>
          <a:lstStyle/>
          <a:p>
            <a:pPr marL="0" indent="0" algn="l">
              <a:lnSpc>
                <a:spcPts val="1639"/>
              </a:lnSpc>
              <a:buNone/>
            </a:pPr>
            <a:r>
              <a:rPr lang="en-US" sz="1130" b="1" dirty="0">
                <a:solidFill>
                  <a:srgbClr val="55A49C"/>
                </a:solidFill>
                <a:latin typeface="Calibri" pitchFamily="34" charset="0"/>
                <a:ea typeface="Calibri" pitchFamily="34" charset="-122"/>
                <a:cs typeface="Calibri" pitchFamily="34" charset="-120"/>
              </a:rPr>
              <a:t>—</a:t>
            </a:r>
            <a:endParaRPr lang="en-US" sz="1130" dirty="0"/>
          </a:p>
        </p:txBody>
      </p:sp>
      <p:sp>
        <p:nvSpPr>
          <p:cNvPr id="26" name="Text 22"/>
          <p:cNvSpPr/>
          <p:nvPr/>
        </p:nvSpPr>
        <p:spPr>
          <a:xfrm>
            <a:off x="5025033" y="2347764"/>
            <a:ext cx="3651510" cy="335979"/>
          </a:xfrm>
          <a:prstGeom prst="rect">
            <a:avLst/>
          </a:prstGeom>
          <a:noFill/>
          <a:ln/>
        </p:spPr>
        <p:txBody>
          <a:bodyPr wrap="square" lIns="0" tIns="0" rIns="0" bIns="0" rtlCol="0" anchor="ctr"/>
          <a:lstStyle/>
          <a:p>
            <a:pPr marL="0" indent="0" algn="l">
              <a:lnSpc>
                <a:spcPts val="1262"/>
              </a:lnSpc>
              <a:buNone/>
            </a:pPr>
            <a:r>
              <a:rPr lang="en-US" sz="870" dirty="0">
                <a:solidFill>
                  <a:srgbClr val="2C2C2C"/>
                </a:solidFill>
                <a:latin typeface="Calibri" pitchFamily="34" charset="0"/>
                <a:ea typeface="Calibri" pitchFamily="34" charset="-122"/>
                <a:cs typeface="Calibri" pitchFamily="34" charset="-120"/>
              </a:rPr>
              <a:t>Small gestures and acknowledgment build goodwill and long-term trust.</a:t>
            </a:r>
            <a:endParaRPr lang="en-US" sz="870" dirty="0"/>
          </a:p>
        </p:txBody>
      </p:sp>
      <p:sp>
        <p:nvSpPr>
          <p:cNvPr id="27" name="Text 23"/>
          <p:cNvSpPr/>
          <p:nvPr/>
        </p:nvSpPr>
        <p:spPr>
          <a:xfrm>
            <a:off x="4810720" y="2767905"/>
            <a:ext cx="157654" cy="207913"/>
          </a:xfrm>
          <a:prstGeom prst="rect">
            <a:avLst/>
          </a:prstGeom>
          <a:noFill/>
          <a:ln/>
        </p:spPr>
        <p:txBody>
          <a:bodyPr wrap="none" lIns="0" tIns="0" rIns="0" bIns="0" rtlCol="0" anchor="ctr"/>
          <a:lstStyle/>
          <a:p>
            <a:pPr marL="0" indent="0" algn="l">
              <a:lnSpc>
                <a:spcPts val="1639"/>
              </a:lnSpc>
              <a:buNone/>
            </a:pPr>
            <a:r>
              <a:rPr lang="en-US" sz="1130" b="1" dirty="0">
                <a:solidFill>
                  <a:srgbClr val="55A49C"/>
                </a:solidFill>
                <a:latin typeface="Calibri" pitchFamily="34" charset="0"/>
                <a:ea typeface="Calibri" pitchFamily="34" charset="-122"/>
                <a:cs typeface="Calibri" pitchFamily="34" charset="-120"/>
              </a:rPr>
              <a:t>—</a:t>
            </a:r>
            <a:endParaRPr lang="en-US" sz="1130" dirty="0"/>
          </a:p>
        </p:txBody>
      </p:sp>
      <p:sp>
        <p:nvSpPr>
          <p:cNvPr id="28" name="Text 24"/>
          <p:cNvSpPr/>
          <p:nvPr/>
        </p:nvSpPr>
        <p:spPr>
          <a:xfrm>
            <a:off x="5025033" y="2760315"/>
            <a:ext cx="3651510" cy="335979"/>
          </a:xfrm>
          <a:prstGeom prst="rect">
            <a:avLst/>
          </a:prstGeom>
          <a:noFill/>
          <a:ln/>
        </p:spPr>
        <p:txBody>
          <a:bodyPr wrap="square" lIns="0" tIns="0" rIns="0" bIns="0" rtlCol="0" anchor="ctr"/>
          <a:lstStyle/>
          <a:p>
            <a:pPr marL="0" indent="0" algn="l">
              <a:lnSpc>
                <a:spcPts val="1262"/>
              </a:lnSpc>
              <a:buNone/>
            </a:pPr>
            <a:r>
              <a:rPr lang="en-US" sz="870" dirty="0">
                <a:solidFill>
                  <a:srgbClr val="2C2C2C"/>
                </a:solidFill>
                <a:latin typeface="Calibri" pitchFamily="34" charset="0"/>
                <a:ea typeface="Calibri" pitchFamily="34" charset="-122"/>
                <a:cs typeface="Calibri" pitchFamily="34" charset="-120"/>
              </a:rPr>
              <a:t>Increase visibility through informal interactions — staff rooms, hallways, lunch periods.</a:t>
            </a:r>
            <a:endParaRPr lang="en-US" sz="870" dirty="0"/>
          </a:p>
        </p:txBody>
      </p:sp>
      <p:sp>
        <p:nvSpPr>
          <p:cNvPr id="29" name="Text 25"/>
          <p:cNvSpPr/>
          <p:nvPr/>
        </p:nvSpPr>
        <p:spPr>
          <a:xfrm>
            <a:off x="0" y="4765625"/>
            <a:ext cx="9144000" cy="377875"/>
          </a:xfrm>
          <a:prstGeom prst="rect">
            <a:avLst/>
          </a:prstGeom>
          <a:solidFill>
            <a:srgbClr val="EAF4F4"/>
          </a:solidFill>
          <a:ln/>
        </p:spPr>
        <p:txBody>
          <a:bodyPr wrap="square" rtlCol="0" anchor="t"/>
          <a:lstStyle/>
          <a:p>
            <a:pPr marL="0" indent="0">
              <a:buNone/>
            </a:pPr>
            <a:endParaRPr lang="en-US" dirty="0"/>
          </a:p>
        </p:txBody>
      </p:sp>
      <p:pic>
        <p:nvPicPr>
          <p:cNvPr id="30" name="Image 2" descr="preencoded.png"/>
          <p:cNvPicPr>
            <a:picLocks noChangeAspect="1"/>
          </p:cNvPicPr>
          <p:nvPr/>
        </p:nvPicPr>
        <p:blipFill>
          <a:blip>
            <a:alphaModFix amt="75000"/>
            <a:extLst>
              <a:ext uri="{96DAC541-7B7A-43D3-8B79-37D633B846F1}">
                <asvg:svgBlip xmlns:asvg="http://schemas.microsoft.com/office/drawing/2016/SVG/main" r:embed="rId5"/>
              </a:ext>
            </a:extLst>
          </a:blip>
          <a:stretch>
            <a:fillRect/>
          </a:stretch>
        </p:blipFill>
        <p:spPr>
          <a:xfrm>
            <a:off x="2339587" y="4888269"/>
            <a:ext cx="132588" cy="132588"/>
          </a:xfrm>
          <a:prstGeom prst="rect">
            <a:avLst/>
          </a:prstGeom>
        </p:spPr>
      </p:pic>
      <p:sp>
        <p:nvSpPr>
          <p:cNvPr id="31" name="Text 26"/>
          <p:cNvSpPr/>
          <p:nvPr/>
        </p:nvSpPr>
        <p:spPr>
          <a:xfrm>
            <a:off x="2364522" y="4865936"/>
            <a:ext cx="4414957" cy="177254"/>
          </a:xfrm>
          <a:prstGeom prst="rect">
            <a:avLst/>
          </a:prstGeom>
          <a:noFill/>
          <a:ln/>
        </p:spPr>
        <p:txBody>
          <a:bodyPr wrap="none" lIns="0" tIns="0" rIns="0" bIns="0" rtlCol="0" anchor="ctr"/>
          <a:lstStyle/>
          <a:p>
            <a:pPr marL="0" indent="0" algn="ctr">
              <a:lnSpc>
                <a:spcPts val="1395"/>
              </a:lnSpc>
              <a:buNone/>
            </a:pPr>
            <a:r>
              <a:rPr lang="en-US" sz="930" b="1" dirty="0">
                <a:solidFill>
                  <a:srgbClr val="2C2C2C"/>
                </a:solidFill>
                <a:latin typeface="Calibri" pitchFamily="34" charset="0"/>
                <a:ea typeface="Calibri" pitchFamily="34" charset="-122"/>
                <a:cs typeface="Calibri" pitchFamily="34" charset="-120"/>
              </a:rPr>
              <a:t>Relational capital is earned in the hallways, not just the session room.</a:t>
            </a:r>
            <a:endParaRPr lang="en-US" sz="930" dirty="0"/>
          </a:p>
        </p:txBody>
      </p:sp>
      <p:pic>
        <p:nvPicPr>
          <p:cNvPr id="32" name="Image 3" descr="preencoded.png"/>
          <p:cNvPicPr>
            <a:picLocks noChangeAspect="1"/>
          </p:cNvPicPr>
          <p:nvPr/>
        </p:nvPicPr>
        <p:blipFill>
          <a:blip>
            <a:alphaModFix amt="75000"/>
            <a:extLst>
              <a:ext uri="{96DAC541-7B7A-43D3-8B79-37D633B846F1}">
                <asvg:svgBlip xmlns:asvg="http://schemas.microsoft.com/office/drawing/2016/SVG/main" r:embed="rId6"/>
              </a:ext>
            </a:extLst>
          </a:blip>
          <a:stretch>
            <a:fillRect/>
          </a:stretch>
        </p:blipFill>
        <p:spPr>
          <a:xfrm>
            <a:off x="6671825" y="4888269"/>
            <a:ext cx="132588" cy="1325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2786360" cy="5143500"/>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2786360" y="0"/>
            <a:ext cx="6357640" cy="5143500"/>
          </a:xfrm>
          <a:prstGeom prst="rect">
            <a:avLst/>
          </a:prstGeom>
          <a:solidFill>
            <a:srgbClr val="FFFFFF"/>
          </a:solidFill>
          <a:ln/>
        </p:spPr>
        <p:txBody>
          <a:bodyPr wrap="square" rtlCol="0" anchor="t"/>
          <a:lstStyle/>
          <a:p>
            <a:pPr marL="0" indent="0">
              <a:buNone/>
            </a:pPr>
            <a:endParaRPr lang="en-US" dirty="0"/>
          </a:p>
        </p:txBody>
      </p:sp>
      <p:sp>
        <p:nvSpPr>
          <p:cNvPr id="4" name="Text 2"/>
          <p:cNvSpPr/>
          <p:nvPr/>
        </p:nvSpPr>
        <p:spPr>
          <a:xfrm>
            <a:off x="3158430" y="314920"/>
            <a:ext cx="5725769" cy="346025"/>
          </a:xfrm>
          <a:prstGeom prst="rect">
            <a:avLst/>
          </a:prstGeom>
          <a:noFill/>
          <a:ln/>
        </p:spPr>
        <p:txBody>
          <a:bodyPr wrap="none" lIns="0" tIns="0" rIns="0" bIns="100330" rtlCol="0" anchor="t"/>
          <a:lstStyle/>
          <a:p>
            <a:pPr marL="0" indent="0" algn="l">
              <a:buNone/>
            </a:pPr>
            <a:r>
              <a:rPr lang="en-US" sz="1240" b="1" dirty="0">
                <a:solidFill>
                  <a:srgbClr val="1B5E72"/>
                </a:solidFill>
                <a:latin typeface="Calibri Light" pitchFamily="34" charset="0"/>
                <a:ea typeface="Calibri Light" pitchFamily="34" charset="-122"/>
                <a:cs typeface="Calibri Light" pitchFamily="34" charset="-120"/>
              </a:rPr>
              <a:t>What Builds Lasting Trust in Schools</a:t>
            </a:r>
            <a:endParaRPr lang="en-US" sz="1240" dirty="0"/>
          </a:p>
        </p:txBody>
      </p:sp>
      <p:sp>
        <p:nvSpPr>
          <p:cNvPr id="5" name="Text 3"/>
          <p:cNvSpPr/>
          <p:nvPr/>
        </p:nvSpPr>
        <p:spPr>
          <a:xfrm>
            <a:off x="3158430" y="651421"/>
            <a:ext cx="5613499" cy="9525"/>
          </a:xfrm>
          <a:prstGeom prst="rect">
            <a:avLst/>
          </a:prstGeom>
          <a:solidFill>
            <a:srgbClr val="EAF4F4"/>
          </a:solidFill>
          <a:ln/>
        </p:spPr>
        <p:txBody>
          <a:bodyPr wrap="none" rtlCol="0" anchor="t"/>
          <a:lstStyle/>
          <a:p>
            <a:pPr marL="0" indent="0">
              <a:buNone/>
            </a:pPr>
            <a:endParaRPr lang="en-US" dirty="0"/>
          </a:p>
        </p:txBody>
      </p:sp>
      <p:sp>
        <p:nvSpPr>
          <p:cNvPr id="6" name="Text 4"/>
          <p:cNvSpPr/>
          <p:nvPr/>
        </p:nvSpPr>
        <p:spPr>
          <a:xfrm>
            <a:off x="3158430" y="875407"/>
            <a:ext cx="271760" cy="271760"/>
          </a:xfrm>
          <a:prstGeom prst="ellipse">
            <a:avLst/>
          </a:prstGeom>
          <a:solidFill>
            <a:srgbClr val="EAF4F4"/>
          </a:solidFill>
          <a:ln/>
        </p:spPr>
        <p:txBody>
          <a:bodyPr wrap="none" rtlCol="0" anchor="t"/>
          <a:lstStyle/>
          <a:p>
            <a:pPr marL="0" indent="0">
              <a:buNone/>
            </a:pPr>
            <a:endParaRPr lang="en-US"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27942" y="944919"/>
            <a:ext cx="132588" cy="132588"/>
          </a:xfrm>
          <a:prstGeom prst="rect">
            <a:avLst/>
          </a:prstGeom>
        </p:spPr>
      </p:pic>
      <p:sp>
        <p:nvSpPr>
          <p:cNvPr id="8" name="Text 5"/>
          <p:cNvSpPr/>
          <p:nvPr/>
        </p:nvSpPr>
        <p:spPr>
          <a:xfrm>
            <a:off x="3544491" y="861566"/>
            <a:ext cx="5750183" cy="152251"/>
          </a:xfrm>
          <a:prstGeom prst="rect">
            <a:avLst/>
          </a:prstGeom>
          <a:noFill/>
          <a:ln/>
        </p:spPr>
        <p:txBody>
          <a:bodyPr wrap="none" lIns="0" tIns="0" rIns="0" bIns="0" rtlCol="0" anchor="t"/>
          <a:lstStyle/>
          <a:p>
            <a:pPr marL="0" indent="0" algn="l">
              <a:lnSpc>
                <a:spcPts val="1200"/>
              </a:lnSpc>
              <a:buNone/>
            </a:pPr>
            <a:r>
              <a:rPr lang="en-US" sz="960" b="1" dirty="0">
                <a:solidFill>
                  <a:srgbClr val="1B5E72"/>
                </a:solidFill>
                <a:latin typeface="Calibri" pitchFamily="34" charset="0"/>
                <a:ea typeface="Calibri" pitchFamily="34" charset="-122"/>
                <a:cs typeface="Calibri" pitchFamily="34" charset="-120"/>
              </a:rPr>
              <a:t>Professional presence is intentional</a:t>
            </a:r>
            <a:endParaRPr lang="en-US" sz="960" dirty="0"/>
          </a:p>
        </p:txBody>
      </p:sp>
      <p:sp>
        <p:nvSpPr>
          <p:cNvPr id="9" name="Text 6"/>
          <p:cNvSpPr/>
          <p:nvPr/>
        </p:nvSpPr>
        <p:spPr>
          <a:xfrm>
            <a:off x="3544491" y="1035397"/>
            <a:ext cx="5331988" cy="328166"/>
          </a:xfrm>
          <a:prstGeom prst="rect">
            <a:avLst/>
          </a:prstGeom>
          <a:noFill/>
          <a:ln/>
        </p:spPr>
        <p:txBody>
          <a:bodyPr wrap="square" lIns="0" tIns="0" rIns="0" bIns="0" rtlCol="0" anchor="t"/>
          <a:lstStyle/>
          <a:p>
            <a:pPr marL="0" indent="0" algn="l">
              <a:lnSpc>
                <a:spcPts val="1230"/>
              </a:lnSpc>
              <a:buNone/>
            </a:pPr>
            <a:r>
              <a:rPr lang="en-US" sz="820" dirty="0">
                <a:solidFill>
                  <a:srgbClr val="4A4A4A"/>
                </a:solidFill>
                <a:latin typeface="Calibri" pitchFamily="34" charset="0"/>
                <a:ea typeface="Calibri" pitchFamily="34" charset="-122"/>
                <a:cs typeface="Calibri" pitchFamily="34" charset="-120"/>
              </a:rPr>
              <a:t>Be deliberate about how you introduce yourself and your role. Professional appearance, tone, and approachability matter in school settings.</a:t>
            </a:r>
            <a:endParaRPr lang="en-US" sz="820" dirty="0"/>
          </a:p>
        </p:txBody>
      </p:sp>
      <p:sp>
        <p:nvSpPr>
          <p:cNvPr id="10" name="Text 7"/>
          <p:cNvSpPr/>
          <p:nvPr/>
        </p:nvSpPr>
        <p:spPr>
          <a:xfrm>
            <a:off x="3158430" y="1489918"/>
            <a:ext cx="271760" cy="271760"/>
          </a:xfrm>
          <a:prstGeom prst="ellipse">
            <a:avLst/>
          </a:prstGeom>
          <a:solidFill>
            <a:srgbClr val="EAF4F4"/>
          </a:solidFill>
          <a:ln/>
        </p:spPr>
        <p:txBody>
          <a:bodyPr wrap="none" rtlCol="0" anchor="t"/>
          <a:lstStyle/>
          <a:p>
            <a:pPr marL="0" indent="0">
              <a:buNone/>
            </a:pPr>
            <a:endParaRPr lang="en-US"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27942" y="1559430"/>
            <a:ext cx="132588" cy="132588"/>
          </a:xfrm>
          <a:prstGeom prst="rect">
            <a:avLst/>
          </a:prstGeom>
        </p:spPr>
      </p:pic>
      <p:sp>
        <p:nvSpPr>
          <p:cNvPr id="12" name="Text 8"/>
          <p:cNvSpPr/>
          <p:nvPr/>
        </p:nvSpPr>
        <p:spPr>
          <a:xfrm>
            <a:off x="3544491" y="1476077"/>
            <a:ext cx="5750183" cy="152251"/>
          </a:xfrm>
          <a:prstGeom prst="rect">
            <a:avLst/>
          </a:prstGeom>
          <a:noFill/>
          <a:ln/>
        </p:spPr>
        <p:txBody>
          <a:bodyPr wrap="none" lIns="0" tIns="0" rIns="0" bIns="0" rtlCol="0" anchor="t"/>
          <a:lstStyle/>
          <a:p>
            <a:pPr marL="0" indent="0" algn="l">
              <a:lnSpc>
                <a:spcPts val="1200"/>
              </a:lnSpc>
              <a:buNone/>
            </a:pPr>
            <a:r>
              <a:rPr lang="en-US" sz="960" b="1" dirty="0">
                <a:solidFill>
                  <a:srgbClr val="1B5E72"/>
                </a:solidFill>
                <a:latin typeface="Calibri" pitchFamily="34" charset="0"/>
                <a:ea typeface="Calibri" pitchFamily="34" charset="-122"/>
                <a:cs typeface="Calibri" pitchFamily="34" charset="-120"/>
              </a:rPr>
              <a:t>Create a welcoming environment</a:t>
            </a:r>
            <a:endParaRPr lang="en-US" sz="960" dirty="0"/>
          </a:p>
        </p:txBody>
      </p:sp>
      <p:sp>
        <p:nvSpPr>
          <p:cNvPr id="13" name="Text 9"/>
          <p:cNvSpPr/>
          <p:nvPr/>
        </p:nvSpPr>
        <p:spPr>
          <a:xfrm>
            <a:off x="3544491" y="1649909"/>
            <a:ext cx="5331988" cy="328166"/>
          </a:xfrm>
          <a:prstGeom prst="rect">
            <a:avLst/>
          </a:prstGeom>
          <a:noFill/>
          <a:ln/>
        </p:spPr>
        <p:txBody>
          <a:bodyPr wrap="square" lIns="0" tIns="0" rIns="0" bIns="0" rtlCol="0" anchor="t"/>
          <a:lstStyle/>
          <a:p>
            <a:pPr marL="0" indent="0" algn="l">
              <a:lnSpc>
                <a:spcPts val="1230"/>
              </a:lnSpc>
              <a:buNone/>
            </a:pPr>
            <a:r>
              <a:rPr lang="en-US" sz="820" dirty="0">
                <a:solidFill>
                  <a:srgbClr val="4A4A4A"/>
                </a:solidFill>
                <a:latin typeface="Calibri" pitchFamily="34" charset="0"/>
                <a:ea typeface="Calibri" pitchFamily="34" charset="-122"/>
                <a:cs typeface="Calibri" pitchFamily="34" charset="-120"/>
              </a:rPr>
              <a:t>Your office communicates who you are before you say a word. Make it warm, professional, and reflective of your work.</a:t>
            </a:r>
            <a:endParaRPr lang="en-US" sz="820" dirty="0"/>
          </a:p>
        </p:txBody>
      </p:sp>
      <p:sp>
        <p:nvSpPr>
          <p:cNvPr id="14" name="Text 10"/>
          <p:cNvSpPr/>
          <p:nvPr/>
        </p:nvSpPr>
        <p:spPr>
          <a:xfrm>
            <a:off x="3158430" y="2104430"/>
            <a:ext cx="271760" cy="271760"/>
          </a:xfrm>
          <a:prstGeom prst="ellipse">
            <a:avLst/>
          </a:prstGeom>
          <a:solidFill>
            <a:srgbClr val="EAF4F4"/>
          </a:solidFill>
          <a:ln/>
        </p:spPr>
        <p:txBody>
          <a:bodyPr wrap="none" rtlCol="0" anchor="t"/>
          <a:lstStyle/>
          <a:p>
            <a:pPr marL="0" indent="0">
              <a:buNone/>
            </a:pPr>
            <a:endParaRPr lang="en-US" dirty="0"/>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27942" y="2173941"/>
            <a:ext cx="132588" cy="132588"/>
          </a:xfrm>
          <a:prstGeom prst="rect">
            <a:avLst/>
          </a:prstGeom>
        </p:spPr>
      </p:pic>
      <p:sp>
        <p:nvSpPr>
          <p:cNvPr id="16" name="Text 11"/>
          <p:cNvSpPr/>
          <p:nvPr/>
        </p:nvSpPr>
        <p:spPr>
          <a:xfrm>
            <a:off x="3544491" y="2090589"/>
            <a:ext cx="5750183" cy="152251"/>
          </a:xfrm>
          <a:prstGeom prst="rect">
            <a:avLst/>
          </a:prstGeom>
          <a:noFill/>
          <a:ln/>
        </p:spPr>
        <p:txBody>
          <a:bodyPr wrap="none" lIns="0" tIns="0" rIns="0" bIns="0" rtlCol="0" anchor="t"/>
          <a:lstStyle/>
          <a:p>
            <a:pPr marL="0" indent="0" algn="l">
              <a:lnSpc>
                <a:spcPts val="1200"/>
              </a:lnSpc>
              <a:buNone/>
            </a:pPr>
            <a:r>
              <a:rPr lang="en-US" sz="960" b="1" dirty="0">
                <a:solidFill>
                  <a:srgbClr val="1B5E72"/>
                </a:solidFill>
                <a:latin typeface="Calibri" pitchFamily="34" charset="0"/>
                <a:ea typeface="Calibri" pitchFamily="34" charset="-122"/>
                <a:cs typeface="Calibri" pitchFamily="34" charset="-120"/>
              </a:rPr>
              <a:t>Consistency matters more than intensity</a:t>
            </a:r>
            <a:endParaRPr lang="en-US" sz="960" dirty="0"/>
          </a:p>
        </p:txBody>
      </p:sp>
      <p:sp>
        <p:nvSpPr>
          <p:cNvPr id="17" name="Text 12"/>
          <p:cNvSpPr/>
          <p:nvPr/>
        </p:nvSpPr>
        <p:spPr>
          <a:xfrm>
            <a:off x="3544491" y="2264420"/>
            <a:ext cx="5331988" cy="328166"/>
          </a:xfrm>
          <a:prstGeom prst="rect">
            <a:avLst/>
          </a:prstGeom>
          <a:noFill/>
          <a:ln/>
        </p:spPr>
        <p:txBody>
          <a:bodyPr wrap="square" lIns="0" tIns="0" rIns="0" bIns="0" rtlCol="0" anchor="t"/>
          <a:lstStyle/>
          <a:p>
            <a:pPr marL="0" indent="0" algn="l">
              <a:lnSpc>
                <a:spcPts val="1230"/>
              </a:lnSpc>
              <a:buNone/>
            </a:pPr>
            <a:r>
              <a:rPr lang="en-US" sz="820" dirty="0">
                <a:solidFill>
                  <a:srgbClr val="4A4A4A"/>
                </a:solidFill>
                <a:latin typeface="Calibri" pitchFamily="34" charset="0"/>
                <a:ea typeface="Calibri" pitchFamily="34" charset="-122"/>
                <a:cs typeface="Calibri" pitchFamily="34" charset="-120"/>
              </a:rPr>
              <a:t>Some schools carry skepticism based on past experiences with providers. Consistent follow-through over time is the only thing that changes that.</a:t>
            </a:r>
            <a:endParaRPr lang="en-US" sz="820" dirty="0"/>
          </a:p>
        </p:txBody>
      </p:sp>
      <p:sp>
        <p:nvSpPr>
          <p:cNvPr id="18" name="Text 13"/>
          <p:cNvSpPr/>
          <p:nvPr/>
        </p:nvSpPr>
        <p:spPr>
          <a:xfrm>
            <a:off x="3158430" y="2718941"/>
            <a:ext cx="271760" cy="271760"/>
          </a:xfrm>
          <a:prstGeom prst="ellipse">
            <a:avLst/>
          </a:prstGeom>
          <a:solidFill>
            <a:srgbClr val="EAF4F4"/>
          </a:solidFill>
          <a:ln/>
        </p:spPr>
        <p:txBody>
          <a:bodyPr wrap="none" rtlCol="0" anchor="t"/>
          <a:lstStyle/>
          <a:p>
            <a:pPr marL="0" indent="0">
              <a:buNone/>
            </a:pPr>
            <a:endParaRPr lang="en-US" dirty="0"/>
          </a:p>
        </p:txBody>
      </p:sp>
      <p:pic>
        <p:nvPicPr>
          <p:cNvPr id="1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227942" y="2788453"/>
            <a:ext cx="132588" cy="132588"/>
          </a:xfrm>
          <a:prstGeom prst="rect">
            <a:avLst/>
          </a:prstGeom>
        </p:spPr>
      </p:pic>
      <p:sp>
        <p:nvSpPr>
          <p:cNvPr id="20" name="Text 14"/>
          <p:cNvSpPr/>
          <p:nvPr/>
        </p:nvSpPr>
        <p:spPr>
          <a:xfrm>
            <a:off x="3544491" y="2705100"/>
            <a:ext cx="5750183" cy="152251"/>
          </a:xfrm>
          <a:prstGeom prst="rect">
            <a:avLst/>
          </a:prstGeom>
          <a:noFill/>
          <a:ln/>
        </p:spPr>
        <p:txBody>
          <a:bodyPr wrap="none" lIns="0" tIns="0" rIns="0" bIns="0" rtlCol="0" anchor="t"/>
          <a:lstStyle/>
          <a:p>
            <a:pPr marL="0" indent="0" algn="l">
              <a:lnSpc>
                <a:spcPts val="1200"/>
              </a:lnSpc>
              <a:buNone/>
            </a:pPr>
            <a:r>
              <a:rPr lang="en-US" sz="960" b="1" dirty="0">
                <a:solidFill>
                  <a:srgbClr val="1B5E72"/>
                </a:solidFill>
                <a:latin typeface="Calibri" pitchFamily="34" charset="0"/>
                <a:ea typeface="Calibri" pitchFamily="34" charset="-122"/>
                <a:cs typeface="Calibri" pitchFamily="34" charset="-120"/>
              </a:rPr>
              <a:t>Be aware of personality and communication differences</a:t>
            </a:r>
            <a:endParaRPr lang="en-US" sz="960" dirty="0"/>
          </a:p>
        </p:txBody>
      </p:sp>
      <p:sp>
        <p:nvSpPr>
          <p:cNvPr id="21" name="Text 15"/>
          <p:cNvSpPr/>
          <p:nvPr/>
        </p:nvSpPr>
        <p:spPr>
          <a:xfrm>
            <a:off x="3544491" y="2878931"/>
            <a:ext cx="5331988" cy="328166"/>
          </a:xfrm>
          <a:prstGeom prst="rect">
            <a:avLst/>
          </a:prstGeom>
          <a:noFill/>
          <a:ln/>
        </p:spPr>
        <p:txBody>
          <a:bodyPr wrap="square" lIns="0" tIns="0" rIns="0" bIns="0" rtlCol="0" anchor="t"/>
          <a:lstStyle/>
          <a:p>
            <a:pPr marL="0" indent="0" algn="l">
              <a:lnSpc>
                <a:spcPts val="1230"/>
              </a:lnSpc>
              <a:buNone/>
            </a:pPr>
            <a:r>
              <a:rPr lang="en-US" sz="820" dirty="0">
                <a:solidFill>
                  <a:srgbClr val="4A4A4A"/>
                </a:solidFill>
                <a:latin typeface="Calibri" pitchFamily="34" charset="0"/>
                <a:ea typeface="Calibri" pitchFamily="34" charset="-122"/>
                <a:cs typeface="Calibri" pitchFamily="34" charset="-120"/>
              </a:rPr>
              <a:t>Every school has a culture. Read it, respect it, and adapt your approach without compromising your professional identity.</a:t>
            </a:r>
            <a:endParaRPr lang="en-US" sz="820" dirty="0"/>
          </a:p>
        </p:txBody>
      </p:sp>
      <p:sp>
        <p:nvSpPr>
          <p:cNvPr id="22" name="Text 16"/>
          <p:cNvSpPr/>
          <p:nvPr/>
        </p:nvSpPr>
        <p:spPr>
          <a:xfrm>
            <a:off x="2786360" y="4757440"/>
            <a:ext cx="6357640" cy="397641"/>
          </a:xfrm>
          <a:prstGeom prst="rect">
            <a:avLst/>
          </a:prstGeom>
          <a:solidFill>
            <a:srgbClr val="FAB753"/>
          </a:solidFill>
          <a:ln/>
        </p:spPr>
        <p:txBody>
          <a:bodyPr wrap="none" lIns="372110" tIns="0" rIns="372110" bIns="0" rtlCol="0" anchor="ctr"/>
          <a:lstStyle/>
          <a:p>
            <a:pPr marL="0" indent="0" algn="l">
              <a:buNone/>
            </a:pPr>
            <a:r>
              <a:rPr lang="en-US" sz="840" b="1" dirty="0">
                <a:solidFill>
                  <a:srgbClr val="2C2C2C"/>
                </a:solidFill>
                <a:latin typeface="Calibri" pitchFamily="34" charset="0"/>
                <a:ea typeface="Calibri" pitchFamily="34" charset="-122"/>
                <a:cs typeface="Calibri" pitchFamily="34" charset="-120"/>
              </a:rPr>
              <a:t>You are not just building relationships with individuals — you are building a reputation within a system.</a:t>
            </a:r>
            <a:endParaRPr lang="en-US" sz="840" dirty="0"/>
          </a:p>
        </p:txBody>
      </p:sp>
      <p:sp>
        <p:nvSpPr>
          <p:cNvPr id="23" name="Text 17"/>
          <p:cNvSpPr/>
          <p:nvPr/>
        </p:nvSpPr>
        <p:spPr>
          <a:xfrm>
            <a:off x="0" y="3714750"/>
            <a:ext cx="1428705" cy="1428750"/>
          </a:xfrm>
          <a:prstGeom prst="ellipse">
            <a:avLst/>
          </a:prstGeom>
          <a:solidFill>
            <a:srgbClr val="FFFFFF">
              <a:alpha val="4000"/>
            </a:srgbClr>
          </a:solidFill>
          <a:ln/>
        </p:spPr>
        <p:txBody>
          <a:bodyPr wrap="square" rtlCol="0" anchor="t"/>
          <a:lstStyle/>
          <a:p>
            <a:pPr marL="0" indent="0">
              <a:buNone/>
            </a:pPr>
            <a:endParaRPr lang="en-US" dirty="0"/>
          </a:p>
        </p:txBody>
      </p:sp>
      <p:sp>
        <p:nvSpPr>
          <p:cNvPr id="24" name="Text 18"/>
          <p:cNvSpPr/>
          <p:nvPr/>
        </p:nvSpPr>
        <p:spPr>
          <a:xfrm>
            <a:off x="1929108" y="0"/>
            <a:ext cx="1428750" cy="1143000"/>
          </a:xfrm>
          <a:prstGeom prst="ellipse">
            <a:avLst/>
          </a:prstGeom>
          <a:solidFill>
            <a:srgbClr val="FAB753">
              <a:alpha val="7000"/>
            </a:srgbClr>
          </a:solidFill>
          <a:ln/>
        </p:spPr>
        <p:txBody>
          <a:bodyPr wrap="square" rtlCol="0" anchor="t"/>
          <a:lstStyle/>
          <a:p>
            <a:pPr marL="0" indent="0">
              <a:buNone/>
            </a:pPr>
            <a:endParaRPr lang="en-US" dirty="0"/>
          </a:p>
        </p:txBody>
      </p:sp>
      <p:pic>
        <p:nvPicPr>
          <p:cNvPr id="25" name="Image 4" descr="preencoded.png"/>
          <p:cNvPicPr>
            <a:picLocks noChangeAspect="1"/>
          </p:cNvPicPr>
          <p:nvPr/>
        </p:nvPicPr>
        <p:blipFill>
          <a:blip>
            <a:alphaModFix amt="9000"/>
            <a:extLst>
              <a:ext uri="{96DAC541-7B7A-43D3-8B79-37D633B846F1}">
                <asvg:svgBlip xmlns:asvg="http://schemas.microsoft.com/office/drawing/2016/SVG/main" r:embed="rId7"/>
              </a:ext>
            </a:extLst>
          </a:blip>
          <a:stretch>
            <a:fillRect/>
          </a:stretch>
        </p:blipFill>
        <p:spPr>
          <a:xfrm>
            <a:off x="2035522" y="4349502"/>
            <a:ext cx="536228" cy="536228"/>
          </a:xfrm>
          <a:prstGeom prst="rect">
            <a:avLst/>
          </a:prstGeom>
        </p:spPr>
      </p:pic>
      <p:sp>
        <p:nvSpPr>
          <p:cNvPr id="26" name="Text 19"/>
          <p:cNvSpPr/>
          <p:nvPr/>
        </p:nvSpPr>
        <p:spPr>
          <a:xfrm>
            <a:off x="314920" y="1814661"/>
            <a:ext cx="2372171" cy="129480"/>
          </a:xfrm>
          <a:prstGeom prst="rect">
            <a:avLst/>
          </a:prstGeom>
          <a:noFill/>
          <a:ln/>
        </p:spPr>
        <p:txBody>
          <a:bodyPr wrap="none" lIns="0" tIns="0" rIns="0" bIns="0" rtlCol="0" anchor="t"/>
          <a:lstStyle/>
          <a:p>
            <a:pPr marL="0" indent="0" algn="l">
              <a:lnSpc>
                <a:spcPts val="1020"/>
              </a:lnSpc>
              <a:buNone/>
            </a:pPr>
            <a:r>
              <a:rPr lang="en-US" sz="680" b="1" kern="0" spc="140" dirty="0">
                <a:solidFill>
                  <a:srgbClr val="FAB753"/>
                </a:solidFill>
                <a:latin typeface="Calibri" pitchFamily="34" charset="0"/>
                <a:ea typeface="Calibri" pitchFamily="34" charset="-122"/>
                <a:cs typeface="Calibri" pitchFamily="34" charset="-120"/>
              </a:rPr>
              <a:t>PART 1 · SCHOOLS</a:t>
            </a:r>
            <a:endParaRPr lang="en-US" sz="680" dirty="0"/>
          </a:p>
        </p:txBody>
      </p:sp>
      <p:sp>
        <p:nvSpPr>
          <p:cNvPr id="27" name="Text 20"/>
          <p:cNvSpPr/>
          <p:nvPr/>
        </p:nvSpPr>
        <p:spPr>
          <a:xfrm>
            <a:off x="314920" y="2101602"/>
            <a:ext cx="2199650" cy="622265"/>
          </a:xfrm>
          <a:prstGeom prst="rect">
            <a:avLst/>
          </a:prstGeom>
          <a:noFill/>
          <a:ln/>
        </p:spPr>
        <p:txBody>
          <a:bodyPr wrap="square" lIns="0" tIns="0" rIns="0" bIns="0" rtlCol="0" anchor="ctr"/>
          <a:lstStyle/>
          <a:p>
            <a:pPr marL="0" indent="0" algn="l">
              <a:lnSpc>
                <a:spcPts val="2335"/>
              </a:lnSpc>
              <a:buNone/>
            </a:pPr>
            <a:r>
              <a:rPr lang="en-US" sz="2030" b="1" dirty="0">
                <a:solidFill>
                  <a:srgbClr val="FFFFFF"/>
                </a:solidFill>
                <a:latin typeface="Calibri Light" pitchFamily="34" charset="0"/>
                <a:ea typeface="Calibri Light" pitchFamily="34" charset="-122"/>
                <a:cs typeface="Calibri Light" pitchFamily="34" charset="-120"/>
              </a:rPr>
              <a:t>First Impressions</a:t>
            </a:r>
            <a:br/>
            <a:r>
              <a:rPr lang="en-US" sz="2030" b="1" dirty="0">
                <a:solidFill>
                  <a:srgbClr val="FFFFFF"/>
                </a:solidFill>
                <a:latin typeface="Calibri Light" pitchFamily="34" charset="0"/>
                <a:ea typeface="Calibri Light" pitchFamily="34" charset="-122"/>
                <a:cs typeface="Calibri Light" pitchFamily="34" charset="-120"/>
              </a:rPr>
              <a:t>and Being Seen</a:t>
            </a:r>
            <a:endParaRPr lang="en-US" sz="2030" dirty="0"/>
          </a:p>
        </p:txBody>
      </p:sp>
      <p:sp>
        <p:nvSpPr>
          <p:cNvPr id="28" name="Text 21"/>
          <p:cNvSpPr/>
          <p:nvPr/>
        </p:nvSpPr>
        <p:spPr>
          <a:xfrm>
            <a:off x="314920" y="2822377"/>
            <a:ext cx="314920"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29" name="Text 22"/>
          <p:cNvSpPr/>
          <p:nvPr/>
        </p:nvSpPr>
        <p:spPr>
          <a:xfrm>
            <a:off x="314920" y="2987427"/>
            <a:ext cx="2199650" cy="358482"/>
          </a:xfrm>
          <a:prstGeom prst="rect">
            <a:avLst/>
          </a:prstGeom>
          <a:noFill/>
          <a:ln/>
        </p:spPr>
        <p:txBody>
          <a:bodyPr wrap="square" lIns="0" tIns="0" rIns="0" bIns="0" rtlCol="0" anchor="t"/>
          <a:lstStyle/>
          <a:p>
            <a:pPr marL="0" indent="0" algn="l">
              <a:lnSpc>
                <a:spcPts val="1344"/>
              </a:lnSpc>
              <a:buNone/>
            </a:pPr>
            <a:r>
              <a:rPr lang="en-US" sz="840" dirty="0">
                <a:solidFill>
                  <a:srgbClr val="FFFFFF">
                    <a:alpha val="72000"/>
                  </a:srgbClr>
                </a:solidFill>
                <a:latin typeface="Calibri" pitchFamily="34" charset="0"/>
                <a:ea typeface="Calibri" pitchFamily="34" charset="-122"/>
                <a:cs typeface="Calibri" pitchFamily="34" charset="-120"/>
              </a:rPr>
              <a:t>Relationships begin at introduction and evolve through every repeated interaction.</a:t>
            </a:r>
            <a:endParaRPr lang="en-US" sz="8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2429470" cy="5143500"/>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1714500" y="0"/>
            <a:ext cx="1000720" cy="714970"/>
          </a:xfrm>
          <a:prstGeom prst="ellipse">
            <a:avLst/>
          </a:prstGeom>
          <a:solidFill>
            <a:srgbClr val="FFFFFF">
              <a:alpha val="4000"/>
            </a:srgbClr>
          </a:solidFill>
          <a:ln/>
        </p:spPr>
        <p:txBody>
          <a:bodyPr wrap="square" rtlCol="0" anchor="t"/>
          <a:lstStyle/>
          <a:p>
            <a:pPr marL="0" indent="0">
              <a:buNone/>
            </a:pPr>
            <a:endParaRPr lang="en-US" dirty="0"/>
          </a:p>
        </p:txBody>
      </p:sp>
      <p:sp>
        <p:nvSpPr>
          <p:cNvPr id="4" name="Text 2"/>
          <p:cNvSpPr/>
          <p:nvPr/>
        </p:nvSpPr>
        <p:spPr>
          <a:xfrm>
            <a:off x="1785640" y="143470"/>
            <a:ext cx="500360" cy="500360"/>
          </a:xfrm>
          <a:prstGeom prst="ellipse">
            <a:avLst/>
          </a:prstGeom>
          <a:solidFill>
            <a:srgbClr val="FAB753">
              <a:alpha val="8000"/>
            </a:srgbClr>
          </a:solidFill>
          <a:ln/>
        </p:spPr>
        <p:txBody>
          <a:bodyPr wrap="square" rtlCol="0" anchor="t"/>
          <a:lstStyle/>
          <a:p>
            <a:pPr marL="0" indent="0">
              <a:buNone/>
            </a:pPr>
            <a:endParaRPr lang="en-US" dirty="0"/>
          </a:p>
        </p:txBody>
      </p:sp>
      <p:sp>
        <p:nvSpPr>
          <p:cNvPr id="5" name="Text 3"/>
          <p:cNvSpPr/>
          <p:nvPr/>
        </p:nvSpPr>
        <p:spPr>
          <a:xfrm>
            <a:off x="257770" y="1576983"/>
            <a:ext cx="386060" cy="386060"/>
          </a:xfrm>
          <a:prstGeom prst="roundRect">
            <a:avLst>
              <a:gd name="adj" fmla="val 22370"/>
            </a:avLst>
          </a:prstGeom>
          <a:solidFill>
            <a:srgbClr val="FAB753">
              <a:alpha val="15000"/>
            </a:srgbClr>
          </a:solidFill>
          <a:ln w="9525">
            <a:solidFill>
              <a:srgbClr val="FAB753">
                <a:alpha val="30000"/>
              </a:srgbClr>
            </a:solidFill>
          </a:ln>
        </p:spPr>
        <p:txBody>
          <a:bodyPr wrap="square" rtlCol="0" anchor="t"/>
          <a:lstStyle/>
          <a:p>
            <a:pPr marL="0" indent="0">
              <a:buNone/>
            </a:pPr>
            <a:endParaRPr lang="en-US"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493" y="1694706"/>
            <a:ext cx="150465" cy="150465"/>
          </a:xfrm>
          <a:prstGeom prst="rect">
            <a:avLst/>
          </a:prstGeom>
        </p:spPr>
      </p:pic>
      <p:sp>
        <p:nvSpPr>
          <p:cNvPr id="7" name="Text 4"/>
          <p:cNvSpPr/>
          <p:nvPr/>
        </p:nvSpPr>
        <p:spPr>
          <a:xfrm>
            <a:off x="257770" y="2134493"/>
            <a:ext cx="2105323" cy="118021"/>
          </a:xfrm>
          <a:prstGeom prst="rect">
            <a:avLst/>
          </a:prstGeom>
          <a:noFill/>
          <a:ln/>
        </p:spPr>
        <p:txBody>
          <a:bodyPr wrap="none" lIns="0" tIns="0" rIns="0" bIns="0" rtlCol="0" anchor="t"/>
          <a:lstStyle/>
          <a:p>
            <a:pPr marL="0" indent="0" algn="l">
              <a:lnSpc>
                <a:spcPts val="930"/>
              </a:lnSpc>
              <a:buNone/>
            </a:pPr>
            <a:r>
              <a:rPr lang="en-US" sz="620" b="1" kern="0" spc="112" dirty="0">
                <a:solidFill>
                  <a:srgbClr val="FAB753"/>
                </a:solidFill>
                <a:latin typeface="Calibri" pitchFamily="34" charset="0"/>
                <a:ea typeface="Calibri" pitchFamily="34" charset="-122"/>
                <a:cs typeface="Calibri" pitchFamily="34" charset="-120"/>
              </a:rPr>
              <a:t>PART 2 · FAMILIES</a:t>
            </a:r>
            <a:endParaRPr lang="en-US" sz="620" dirty="0"/>
          </a:p>
        </p:txBody>
      </p:sp>
      <p:sp>
        <p:nvSpPr>
          <p:cNvPr id="8" name="Text 5"/>
          <p:cNvSpPr/>
          <p:nvPr/>
        </p:nvSpPr>
        <p:spPr>
          <a:xfrm>
            <a:off x="257770" y="2395984"/>
            <a:ext cx="1952208" cy="585698"/>
          </a:xfrm>
          <a:prstGeom prst="rect">
            <a:avLst/>
          </a:prstGeom>
          <a:noFill/>
          <a:ln/>
        </p:spPr>
        <p:txBody>
          <a:bodyPr wrap="square" lIns="0" tIns="0" rIns="0" bIns="0" rtlCol="0" anchor="ctr"/>
          <a:lstStyle/>
          <a:p>
            <a:pPr marL="0" indent="0" algn="l">
              <a:lnSpc>
                <a:spcPts val="2197"/>
              </a:lnSpc>
              <a:buNone/>
            </a:pPr>
            <a:r>
              <a:rPr lang="en-US" sz="1910" b="1" dirty="0">
                <a:solidFill>
                  <a:srgbClr val="FFFFFF"/>
                </a:solidFill>
                <a:latin typeface="Calibri Light" pitchFamily="34" charset="0"/>
                <a:ea typeface="Calibri Light" pitchFamily="34" charset="-122"/>
                <a:cs typeface="Calibri Light" pitchFamily="34" charset="-120"/>
              </a:rPr>
              <a:t>Parents and</a:t>
            </a:r>
            <a:br/>
            <a:r>
              <a:rPr lang="en-US" sz="1910" b="1" dirty="0">
                <a:solidFill>
                  <a:srgbClr val="FFFFFF"/>
                </a:solidFill>
                <a:latin typeface="Calibri Light" pitchFamily="34" charset="0"/>
                <a:ea typeface="Calibri Light" pitchFamily="34" charset="-122"/>
                <a:cs typeface="Calibri Light" pitchFamily="34" charset="-120"/>
              </a:rPr>
              <a:t>Caregivers</a:t>
            </a:r>
            <a:endParaRPr lang="en-US" sz="1910" dirty="0"/>
          </a:p>
        </p:txBody>
      </p:sp>
      <p:sp>
        <p:nvSpPr>
          <p:cNvPr id="9" name="Text 6"/>
          <p:cNvSpPr/>
          <p:nvPr/>
        </p:nvSpPr>
        <p:spPr>
          <a:xfrm>
            <a:off x="257770" y="3081933"/>
            <a:ext cx="1952208" cy="508657"/>
          </a:xfrm>
          <a:prstGeom prst="rect">
            <a:avLst/>
          </a:prstGeom>
          <a:noFill/>
          <a:ln/>
        </p:spPr>
        <p:txBody>
          <a:bodyPr wrap="square" lIns="0" tIns="0" rIns="0" bIns="0" rtlCol="0" anchor="t"/>
          <a:lstStyle/>
          <a:p>
            <a:pPr marL="0" indent="0" algn="l">
              <a:lnSpc>
                <a:spcPts val="1271"/>
              </a:lnSpc>
              <a:buNone/>
            </a:pPr>
            <a:r>
              <a:rPr lang="en-US" sz="820" dirty="0">
                <a:solidFill>
                  <a:srgbClr val="FFFFFF">
                    <a:alpha val="78000"/>
                  </a:srgbClr>
                </a:solidFill>
                <a:latin typeface="Calibri" pitchFamily="34" charset="0"/>
                <a:ea typeface="Calibri" pitchFamily="34" charset="-122"/>
                <a:cs typeface="Calibri" pitchFamily="34" charset="-120"/>
              </a:rPr>
              <a:t>Building rapport, engagement, and partnership — not just administrative compliance.</a:t>
            </a:r>
            <a:endParaRPr lang="en-US" sz="820" dirty="0"/>
          </a:p>
        </p:txBody>
      </p:sp>
      <p:sp>
        <p:nvSpPr>
          <p:cNvPr id="10" name="Text 7"/>
          <p:cNvSpPr/>
          <p:nvPr/>
        </p:nvSpPr>
        <p:spPr>
          <a:xfrm>
            <a:off x="257770" y="4700290"/>
            <a:ext cx="342900"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11" name="Text 8"/>
          <p:cNvSpPr/>
          <p:nvPr/>
        </p:nvSpPr>
        <p:spPr>
          <a:xfrm>
            <a:off x="257770" y="4779020"/>
            <a:ext cx="171450" cy="21580"/>
          </a:xfrm>
          <a:prstGeom prst="roundRect">
            <a:avLst>
              <a:gd name="adj" fmla="val 64736"/>
            </a:avLst>
          </a:prstGeom>
          <a:solidFill>
            <a:srgbClr val="FAB753">
              <a:alpha val="40000"/>
            </a:srgbClr>
          </a:solidFill>
          <a:ln/>
        </p:spPr>
        <p:txBody>
          <a:bodyPr wrap="none" rtlCol="0" anchor="t"/>
          <a:lstStyle/>
          <a:p>
            <a:pPr marL="0" indent="0">
              <a:buNone/>
            </a:pPr>
            <a:endParaRPr lang="en-US" dirty="0"/>
          </a:p>
        </p:txBody>
      </p:sp>
      <p:sp>
        <p:nvSpPr>
          <p:cNvPr id="12" name="Text 9"/>
          <p:cNvSpPr/>
          <p:nvPr/>
        </p:nvSpPr>
        <p:spPr>
          <a:xfrm>
            <a:off x="2744391" y="257770"/>
            <a:ext cx="6206383" cy="316706"/>
          </a:xfrm>
          <a:prstGeom prst="rect">
            <a:avLst/>
          </a:prstGeom>
          <a:noFill/>
          <a:ln/>
        </p:spPr>
        <p:txBody>
          <a:bodyPr wrap="none" lIns="0" tIns="0" rIns="0" bIns="71120" rtlCol="0" anchor="t"/>
          <a:lstStyle/>
          <a:p>
            <a:pPr marL="0" indent="0" algn="l">
              <a:buNone/>
            </a:pPr>
            <a:r>
              <a:rPr lang="en-US" sz="1240" b="1" dirty="0">
                <a:solidFill>
                  <a:srgbClr val="1B5E72"/>
                </a:solidFill>
                <a:latin typeface="Calibri Light" pitchFamily="34" charset="0"/>
                <a:ea typeface="Calibri Light" pitchFamily="34" charset="-122"/>
                <a:cs typeface="Calibri Light" pitchFamily="34" charset="-120"/>
              </a:rPr>
              <a:t>What Meaningful Family Engagement Looks Like</a:t>
            </a:r>
            <a:endParaRPr lang="en-US" sz="1240" dirty="0"/>
          </a:p>
        </p:txBody>
      </p:sp>
      <p:sp>
        <p:nvSpPr>
          <p:cNvPr id="13" name="Text 10"/>
          <p:cNvSpPr/>
          <p:nvPr/>
        </p:nvSpPr>
        <p:spPr>
          <a:xfrm>
            <a:off x="2744391" y="564952"/>
            <a:ext cx="6084689" cy="9525"/>
          </a:xfrm>
          <a:prstGeom prst="rect">
            <a:avLst/>
          </a:prstGeom>
          <a:solidFill>
            <a:srgbClr val="EAF4F4"/>
          </a:solidFill>
          <a:ln/>
        </p:spPr>
        <p:txBody>
          <a:bodyPr wrap="none" rtlCol="0" anchor="t"/>
          <a:lstStyle/>
          <a:p>
            <a:pPr marL="0" indent="0">
              <a:buNone/>
            </a:pPr>
            <a:endParaRPr lang="en-US" dirty="0"/>
          </a:p>
        </p:txBody>
      </p:sp>
      <p:sp>
        <p:nvSpPr>
          <p:cNvPr id="14" name="Text 11"/>
          <p:cNvSpPr/>
          <p:nvPr/>
        </p:nvSpPr>
        <p:spPr>
          <a:xfrm>
            <a:off x="2744391" y="725537"/>
            <a:ext cx="242441" cy="242441"/>
          </a:xfrm>
          <a:prstGeom prst="roundRect">
            <a:avLst>
              <a:gd name="adj" fmla="val 23573"/>
            </a:avLst>
          </a:prstGeom>
          <a:solidFill>
            <a:srgbClr val="EAF4F4"/>
          </a:solidFill>
          <a:ln/>
        </p:spPr>
        <p:txBody>
          <a:bodyPr wrap="none" rtlCol="0" anchor="t"/>
          <a:lstStyle/>
          <a:p>
            <a:pPr marL="0" indent="0">
              <a:buNone/>
            </a:pPr>
            <a:endParaRPr lang="en-US" dirty="0"/>
          </a:p>
        </p:txBody>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99243" y="780389"/>
            <a:ext cx="132588" cy="132588"/>
          </a:xfrm>
          <a:prstGeom prst="rect">
            <a:avLst/>
          </a:prstGeom>
        </p:spPr>
      </p:pic>
      <p:sp>
        <p:nvSpPr>
          <p:cNvPr id="16" name="Text 12"/>
          <p:cNvSpPr/>
          <p:nvPr/>
        </p:nvSpPr>
        <p:spPr>
          <a:xfrm>
            <a:off x="3087142" y="717947"/>
            <a:ext cx="6316132" cy="138708"/>
          </a:xfrm>
          <a:prstGeom prst="rect">
            <a:avLst/>
          </a:prstGeom>
          <a:noFill/>
          <a:ln/>
        </p:spPr>
        <p:txBody>
          <a:bodyPr wrap="none" lIns="0" tIns="0" rIns="0" bIns="0" rtlCol="0" anchor="t"/>
          <a:lstStyle/>
          <a:p>
            <a:pPr marL="0" indent="0" algn="l">
              <a:lnSpc>
                <a:spcPts val="1092"/>
              </a:lnSpc>
              <a:buNone/>
            </a:pPr>
            <a:r>
              <a:rPr lang="en-US" sz="840" b="1" dirty="0">
                <a:solidFill>
                  <a:srgbClr val="1B5E72"/>
                </a:solidFill>
                <a:latin typeface="Calibri" pitchFamily="34" charset="0"/>
                <a:ea typeface="Calibri" pitchFamily="34" charset="-122"/>
                <a:cs typeface="Calibri" pitchFamily="34" charset="-120"/>
              </a:rPr>
              <a:t>Lead with relationship, not paperwork</a:t>
            </a:r>
            <a:endParaRPr lang="en-US" sz="840" dirty="0"/>
          </a:p>
        </p:txBody>
      </p:sp>
      <p:sp>
        <p:nvSpPr>
          <p:cNvPr id="17" name="Text 13"/>
          <p:cNvSpPr/>
          <p:nvPr/>
        </p:nvSpPr>
        <p:spPr>
          <a:xfrm>
            <a:off x="3087142" y="870496"/>
            <a:ext cx="5856777" cy="294099"/>
          </a:xfrm>
          <a:prstGeom prst="rect">
            <a:avLst/>
          </a:prstGeom>
          <a:noFill/>
          <a:ln/>
        </p:spPr>
        <p:txBody>
          <a:bodyPr wrap="square" lIns="0" tIns="0" rIns="0" bIns="0" rtlCol="0" anchor="t"/>
          <a:lstStyle/>
          <a:p>
            <a:pPr marL="0" indent="0" algn="l">
              <a:lnSpc>
                <a:spcPts val="1102"/>
              </a:lnSpc>
              <a:buNone/>
            </a:pPr>
            <a:r>
              <a:rPr lang="en-US" sz="760" dirty="0">
                <a:solidFill>
                  <a:srgbClr val="4A4A4A"/>
                </a:solidFill>
                <a:latin typeface="Calibri" pitchFamily="34" charset="0"/>
                <a:ea typeface="Calibri" pitchFamily="34" charset="-122"/>
                <a:cs typeface="Calibri" pitchFamily="34" charset="-120"/>
              </a:rPr>
              <a:t>The first interaction with a caregiver shapes everything that follows. Introduce yourself as a partner in their child's care — not a service provider checking boxes.</a:t>
            </a:r>
            <a:endParaRPr lang="en-US" sz="760" dirty="0"/>
          </a:p>
        </p:txBody>
      </p:sp>
      <p:sp>
        <p:nvSpPr>
          <p:cNvPr id="18" name="Text 14"/>
          <p:cNvSpPr/>
          <p:nvPr/>
        </p:nvSpPr>
        <p:spPr>
          <a:xfrm>
            <a:off x="2744391" y="1229171"/>
            <a:ext cx="242441" cy="242441"/>
          </a:xfrm>
          <a:prstGeom prst="roundRect">
            <a:avLst>
              <a:gd name="adj" fmla="val 23573"/>
            </a:avLst>
          </a:prstGeom>
          <a:solidFill>
            <a:srgbClr val="EAF4F4"/>
          </a:solidFill>
          <a:ln/>
        </p:spPr>
        <p:txBody>
          <a:bodyPr wrap="none" rtlCol="0" anchor="t"/>
          <a:lstStyle/>
          <a:p>
            <a:pPr marL="0" indent="0">
              <a:buNone/>
            </a:pPr>
            <a:endParaRPr lang="en-US" dirty="0"/>
          </a:p>
        </p:txBody>
      </p:sp>
      <p:pic>
        <p:nvPicPr>
          <p:cNvPr id="1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99243" y="1284024"/>
            <a:ext cx="132588" cy="132588"/>
          </a:xfrm>
          <a:prstGeom prst="rect">
            <a:avLst/>
          </a:prstGeom>
        </p:spPr>
      </p:pic>
      <p:sp>
        <p:nvSpPr>
          <p:cNvPr id="20" name="Text 15"/>
          <p:cNvSpPr/>
          <p:nvPr/>
        </p:nvSpPr>
        <p:spPr>
          <a:xfrm>
            <a:off x="3087142" y="1221581"/>
            <a:ext cx="6316132" cy="138708"/>
          </a:xfrm>
          <a:prstGeom prst="rect">
            <a:avLst/>
          </a:prstGeom>
          <a:noFill/>
          <a:ln/>
        </p:spPr>
        <p:txBody>
          <a:bodyPr wrap="none" lIns="0" tIns="0" rIns="0" bIns="0" rtlCol="0" anchor="t"/>
          <a:lstStyle/>
          <a:p>
            <a:pPr marL="0" indent="0" algn="l">
              <a:lnSpc>
                <a:spcPts val="1092"/>
              </a:lnSpc>
              <a:buNone/>
            </a:pPr>
            <a:r>
              <a:rPr lang="en-US" sz="840" b="1" dirty="0">
                <a:solidFill>
                  <a:srgbClr val="1B5E72"/>
                </a:solidFill>
                <a:latin typeface="Calibri" pitchFamily="34" charset="0"/>
                <a:ea typeface="Calibri" pitchFamily="34" charset="-122"/>
                <a:cs typeface="Calibri" pitchFamily="34" charset="-120"/>
              </a:rPr>
              <a:t>Involve families in the clinical work</a:t>
            </a:r>
            <a:endParaRPr lang="en-US" sz="840" dirty="0"/>
          </a:p>
        </p:txBody>
      </p:sp>
      <p:sp>
        <p:nvSpPr>
          <p:cNvPr id="21" name="Text 16"/>
          <p:cNvSpPr/>
          <p:nvPr/>
        </p:nvSpPr>
        <p:spPr>
          <a:xfrm>
            <a:off x="3087142" y="1374130"/>
            <a:ext cx="5856777" cy="294099"/>
          </a:xfrm>
          <a:prstGeom prst="rect">
            <a:avLst/>
          </a:prstGeom>
          <a:noFill/>
          <a:ln/>
        </p:spPr>
        <p:txBody>
          <a:bodyPr wrap="square" lIns="0" tIns="0" rIns="0" bIns="0" rtlCol="0" anchor="t"/>
          <a:lstStyle/>
          <a:p>
            <a:pPr marL="0" indent="0" algn="l">
              <a:lnSpc>
                <a:spcPts val="1102"/>
              </a:lnSpc>
              <a:buNone/>
            </a:pPr>
            <a:r>
              <a:rPr lang="en-US" sz="760" dirty="0">
                <a:solidFill>
                  <a:srgbClr val="4A4A4A"/>
                </a:solidFill>
                <a:latin typeface="Calibri" pitchFamily="34" charset="0"/>
                <a:ea typeface="Calibri" pitchFamily="34" charset="-122"/>
                <a:cs typeface="Calibri" pitchFamily="34" charset="-120"/>
              </a:rPr>
              <a:t>Call parents with the client present to celebrate progress, share what you are working on, and assign simple homework. Family involvement consistently predicts stronger outcomes.</a:t>
            </a:r>
            <a:endParaRPr lang="en-US" sz="760" dirty="0"/>
          </a:p>
        </p:txBody>
      </p:sp>
      <p:sp>
        <p:nvSpPr>
          <p:cNvPr id="22" name="Text 17"/>
          <p:cNvSpPr/>
          <p:nvPr/>
        </p:nvSpPr>
        <p:spPr>
          <a:xfrm>
            <a:off x="2744391" y="1732806"/>
            <a:ext cx="242441" cy="242441"/>
          </a:xfrm>
          <a:prstGeom prst="roundRect">
            <a:avLst>
              <a:gd name="adj" fmla="val 23573"/>
            </a:avLst>
          </a:prstGeom>
          <a:solidFill>
            <a:srgbClr val="EAF4F4"/>
          </a:solidFill>
          <a:ln/>
        </p:spPr>
        <p:txBody>
          <a:bodyPr wrap="none" rtlCol="0" anchor="t"/>
          <a:lstStyle/>
          <a:p>
            <a:pPr marL="0" indent="0">
              <a:buNone/>
            </a:pPr>
            <a:endParaRPr lang="en-US" dirty="0"/>
          </a:p>
        </p:txBody>
      </p:sp>
      <p:pic>
        <p:nvPicPr>
          <p:cNvPr id="2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99243" y="1787658"/>
            <a:ext cx="132588" cy="132588"/>
          </a:xfrm>
          <a:prstGeom prst="rect">
            <a:avLst/>
          </a:prstGeom>
        </p:spPr>
      </p:pic>
      <p:sp>
        <p:nvSpPr>
          <p:cNvPr id="24" name="Text 18"/>
          <p:cNvSpPr/>
          <p:nvPr/>
        </p:nvSpPr>
        <p:spPr>
          <a:xfrm>
            <a:off x="3087142" y="1725216"/>
            <a:ext cx="6316132" cy="138708"/>
          </a:xfrm>
          <a:prstGeom prst="rect">
            <a:avLst/>
          </a:prstGeom>
          <a:noFill/>
          <a:ln/>
        </p:spPr>
        <p:txBody>
          <a:bodyPr wrap="none" lIns="0" tIns="0" rIns="0" bIns="0" rtlCol="0" anchor="t"/>
          <a:lstStyle/>
          <a:p>
            <a:pPr marL="0" indent="0" algn="l">
              <a:lnSpc>
                <a:spcPts val="1092"/>
              </a:lnSpc>
              <a:buNone/>
            </a:pPr>
            <a:r>
              <a:rPr lang="en-US" sz="840" b="1" dirty="0">
                <a:solidFill>
                  <a:srgbClr val="1B5E72"/>
                </a:solidFill>
                <a:latin typeface="Calibri" pitchFamily="34" charset="0"/>
                <a:ea typeface="Calibri" pitchFamily="34" charset="-122"/>
                <a:cs typeface="Calibri" pitchFamily="34" charset="-120"/>
              </a:rPr>
              <a:t>Meet caregivers where they are</a:t>
            </a:r>
            <a:endParaRPr lang="en-US" sz="840" dirty="0"/>
          </a:p>
        </p:txBody>
      </p:sp>
      <p:sp>
        <p:nvSpPr>
          <p:cNvPr id="25" name="Text 19"/>
          <p:cNvSpPr/>
          <p:nvPr/>
        </p:nvSpPr>
        <p:spPr>
          <a:xfrm>
            <a:off x="3087142" y="1877764"/>
            <a:ext cx="5856777" cy="294099"/>
          </a:xfrm>
          <a:prstGeom prst="rect">
            <a:avLst/>
          </a:prstGeom>
          <a:noFill/>
          <a:ln/>
        </p:spPr>
        <p:txBody>
          <a:bodyPr wrap="square" lIns="0" tIns="0" rIns="0" bIns="0" rtlCol="0" anchor="t"/>
          <a:lstStyle/>
          <a:p>
            <a:pPr marL="0" indent="0" algn="l">
              <a:lnSpc>
                <a:spcPts val="1102"/>
              </a:lnSpc>
              <a:buNone/>
            </a:pPr>
            <a:r>
              <a:rPr lang="en-US" sz="760" dirty="0">
                <a:solidFill>
                  <a:srgbClr val="4A4A4A"/>
                </a:solidFill>
                <a:latin typeface="Calibri" pitchFamily="34" charset="0"/>
                <a:ea typeface="Calibri" pitchFamily="34" charset="-122"/>
                <a:cs typeface="Calibri" pitchFamily="34" charset="-120"/>
              </a:rPr>
              <a:t>Flexibility in communication — timing, format, language — signals respect. Not every family can engage the same way. That is not disengagement; it is context.</a:t>
            </a:r>
            <a:endParaRPr lang="en-US" sz="760" dirty="0"/>
          </a:p>
        </p:txBody>
      </p:sp>
      <p:sp>
        <p:nvSpPr>
          <p:cNvPr id="26" name="Text 20"/>
          <p:cNvSpPr/>
          <p:nvPr/>
        </p:nvSpPr>
        <p:spPr>
          <a:xfrm>
            <a:off x="2744391" y="2236440"/>
            <a:ext cx="242441" cy="242441"/>
          </a:xfrm>
          <a:prstGeom prst="roundRect">
            <a:avLst>
              <a:gd name="adj" fmla="val 23573"/>
            </a:avLst>
          </a:prstGeom>
          <a:solidFill>
            <a:srgbClr val="EAF4F4"/>
          </a:solidFill>
          <a:ln/>
        </p:spPr>
        <p:txBody>
          <a:bodyPr wrap="none" rtlCol="0" anchor="t"/>
          <a:lstStyle/>
          <a:p>
            <a:pPr marL="0" indent="0">
              <a:buNone/>
            </a:pPr>
            <a:endParaRPr lang="en-US" dirty="0"/>
          </a:p>
        </p:txBody>
      </p:sp>
      <p:pic>
        <p:nvPicPr>
          <p:cNvPr id="2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799243" y="2291292"/>
            <a:ext cx="132588" cy="132588"/>
          </a:xfrm>
          <a:prstGeom prst="rect">
            <a:avLst/>
          </a:prstGeom>
        </p:spPr>
      </p:pic>
      <p:sp>
        <p:nvSpPr>
          <p:cNvPr id="28" name="Text 21"/>
          <p:cNvSpPr/>
          <p:nvPr/>
        </p:nvSpPr>
        <p:spPr>
          <a:xfrm>
            <a:off x="3087142" y="2228850"/>
            <a:ext cx="6316132" cy="138708"/>
          </a:xfrm>
          <a:prstGeom prst="rect">
            <a:avLst/>
          </a:prstGeom>
          <a:noFill/>
          <a:ln/>
        </p:spPr>
        <p:txBody>
          <a:bodyPr wrap="none" lIns="0" tIns="0" rIns="0" bIns="0" rtlCol="0" anchor="t"/>
          <a:lstStyle/>
          <a:p>
            <a:pPr marL="0" indent="0" algn="l">
              <a:lnSpc>
                <a:spcPts val="1092"/>
              </a:lnSpc>
              <a:buNone/>
            </a:pPr>
            <a:r>
              <a:rPr lang="en-US" sz="840" b="1" dirty="0">
                <a:solidFill>
                  <a:srgbClr val="1B5E72"/>
                </a:solidFill>
                <a:latin typeface="Calibri" pitchFamily="34" charset="0"/>
                <a:ea typeface="Calibri" pitchFamily="34" charset="-122"/>
                <a:cs typeface="Calibri" pitchFamily="34" charset="-120"/>
              </a:rPr>
              <a:t>Follow through, every time</a:t>
            </a:r>
            <a:endParaRPr lang="en-US" sz="840" dirty="0"/>
          </a:p>
        </p:txBody>
      </p:sp>
      <p:sp>
        <p:nvSpPr>
          <p:cNvPr id="29" name="Text 22"/>
          <p:cNvSpPr/>
          <p:nvPr/>
        </p:nvSpPr>
        <p:spPr>
          <a:xfrm>
            <a:off x="3087142" y="2381399"/>
            <a:ext cx="6316132" cy="140047"/>
          </a:xfrm>
          <a:prstGeom prst="rect">
            <a:avLst/>
          </a:prstGeom>
          <a:noFill/>
          <a:ln/>
        </p:spPr>
        <p:txBody>
          <a:bodyPr wrap="none" lIns="0" tIns="0" rIns="0" bIns="0" rtlCol="0" anchor="t"/>
          <a:lstStyle/>
          <a:p>
            <a:pPr marL="0" indent="0" algn="l">
              <a:lnSpc>
                <a:spcPts val="1102"/>
              </a:lnSpc>
              <a:buNone/>
            </a:pPr>
            <a:r>
              <a:rPr lang="en-US" sz="760" dirty="0">
                <a:solidFill>
                  <a:srgbClr val="4A4A4A"/>
                </a:solidFill>
                <a:latin typeface="Calibri" pitchFamily="34" charset="0"/>
                <a:ea typeface="Calibri" pitchFamily="34" charset="-122"/>
                <a:cs typeface="Calibri" pitchFamily="34" charset="-120"/>
              </a:rPr>
              <a:t>Caregivers remember what you promised and whether you delivered. Reliability builds trust faster than any single conversation.</a:t>
            </a:r>
            <a:endParaRPr lang="en-US" sz="760" dirty="0"/>
          </a:p>
        </p:txBody>
      </p:sp>
      <p:sp>
        <p:nvSpPr>
          <p:cNvPr id="30" name="Text 23"/>
          <p:cNvSpPr/>
          <p:nvPr/>
        </p:nvSpPr>
        <p:spPr>
          <a:xfrm>
            <a:off x="2744391" y="2600027"/>
            <a:ext cx="242441" cy="242441"/>
          </a:xfrm>
          <a:prstGeom prst="roundRect">
            <a:avLst>
              <a:gd name="adj" fmla="val 23573"/>
            </a:avLst>
          </a:prstGeom>
          <a:solidFill>
            <a:srgbClr val="EAF4F4"/>
          </a:solidFill>
          <a:ln/>
        </p:spPr>
        <p:txBody>
          <a:bodyPr wrap="none" rtlCol="0" anchor="t"/>
          <a:lstStyle/>
          <a:p>
            <a:pPr marL="0" indent="0">
              <a:buNone/>
            </a:pPr>
            <a:endParaRPr lang="en-US" dirty="0"/>
          </a:p>
        </p:txBody>
      </p:sp>
      <p:pic>
        <p:nvPicPr>
          <p:cNvPr id="3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799243" y="2654879"/>
            <a:ext cx="132588" cy="132588"/>
          </a:xfrm>
          <a:prstGeom prst="rect">
            <a:avLst/>
          </a:prstGeom>
        </p:spPr>
      </p:pic>
      <p:sp>
        <p:nvSpPr>
          <p:cNvPr id="32" name="Text 24"/>
          <p:cNvSpPr/>
          <p:nvPr/>
        </p:nvSpPr>
        <p:spPr>
          <a:xfrm>
            <a:off x="3087142" y="2592437"/>
            <a:ext cx="6316132" cy="138708"/>
          </a:xfrm>
          <a:prstGeom prst="rect">
            <a:avLst/>
          </a:prstGeom>
          <a:noFill/>
          <a:ln/>
        </p:spPr>
        <p:txBody>
          <a:bodyPr wrap="none" lIns="0" tIns="0" rIns="0" bIns="0" rtlCol="0" anchor="t"/>
          <a:lstStyle/>
          <a:p>
            <a:pPr marL="0" indent="0" algn="l">
              <a:lnSpc>
                <a:spcPts val="1092"/>
              </a:lnSpc>
              <a:buNone/>
            </a:pPr>
            <a:r>
              <a:rPr lang="en-US" sz="840" b="1" dirty="0">
                <a:solidFill>
                  <a:srgbClr val="1B5E72"/>
                </a:solidFill>
                <a:latin typeface="Calibri" pitchFamily="34" charset="0"/>
                <a:ea typeface="Calibri" pitchFamily="34" charset="-122"/>
                <a:cs typeface="Calibri" pitchFamily="34" charset="-120"/>
              </a:rPr>
              <a:t>Repair matters here too</a:t>
            </a:r>
            <a:endParaRPr lang="en-US" sz="840" dirty="0"/>
          </a:p>
        </p:txBody>
      </p:sp>
      <p:sp>
        <p:nvSpPr>
          <p:cNvPr id="33" name="Text 25"/>
          <p:cNvSpPr/>
          <p:nvPr/>
        </p:nvSpPr>
        <p:spPr>
          <a:xfrm>
            <a:off x="3087142" y="2744986"/>
            <a:ext cx="6316132" cy="140047"/>
          </a:xfrm>
          <a:prstGeom prst="rect">
            <a:avLst/>
          </a:prstGeom>
          <a:noFill/>
          <a:ln/>
        </p:spPr>
        <p:txBody>
          <a:bodyPr wrap="none" lIns="0" tIns="0" rIns="0" bIns="0" rtlCol="0" anchor="t"/>
          <a:lstStyle/>
          <a:p>
            <a:pPr marL="0" indent="0" algn="l">
              <a:lnSpc>
                <a:spcPts val="1102"/>
              </a:lnSpc>
              <a:buNone/>
            </a:pPr>
            <a:r>
              <a:rPr lang="en-US" sz="760" dirty="0">
                <a:solidFill>
                  <a:srgbClr val="4A4A4A"/>
                </a:solidFill>
                <a:latin typeface="Calibri" pitchFamily="34" charset="0"/>
                <a:ea typeface="Calibri" pitchFamily="34" charset="-122"/>
                <a:cs typeface="Calibri" pitchFamily="34" charset="-120"/>
              </a:rPr>
              <a:t>When a family feels unheard or dropped, name it and address it directly. Repaired relationships are often the strongest ones.</a:t>
            </a:r>
            <a:endParaRPr lang="en-US" sz="760" dirty="0"/>
          </a:p>
        </p:txBody>
      </p:sp>
      <p:sp>
        <p:nvSpPr>
          <p:cNvPr id="34" name="Text 26"/>
          <p:cNvSpPr/>
          <p:nvPr/>
        </p:nvSpPr>
        <p:spPr>
          <a:xfrm>
            <a:off x="2429470" y="4814590"/>
            <a:ext cx="6714530" cy="328910"/>
          </a:xfrm>
          <a:prstGeom prst="rect">
            <a:avLst/>
          </a:prstGeom>
          <a:solidFill>
            <a:srgbClr val="EAF4F4"/>
          </a:solidFill>
          <a:ln/>
        </p:spPr>
        <p:txBody>
          <a:bodyPr wrap="square" rtlCol="0" anchor="t"/>
          <a:lstStyle/>
          <a:p>
            <a:pPr marL="0" indent="0">
              <a:buNone/>
            </a:pPr>
            <a:endParaRPr lang="en-US" dirty="0"/>
          </a:p>
        </p:txBody>
      </p:sp>
      <p:sp>
        <p:nvSpPr>
          <p:cNvPr id="35" name="Text 27"/>
          <p:cNvSpPr/>
          <p:nvPr/>
        </p:nvSpPr>
        <p:spPr>
          <a:xfrm rot="2700000">
            <a:off x="4154537" y="4950470"/>
            <a:ext cx="57150" cy="57150"/>
          </a:xfrm>
          <a:prstGeom prst="rect">
            <a:avLst/>
          </a:prstGeom>
          <a:solidFill>
            <a:srgbClr val="FAB753"/>
          </a:solidFill>
          <a:ln/>
        </p:spPr>
        <p:txBody>
          <a:bodyPr wrap="none" rtlCol="0" anchor="t"/>
          <a:lstStyle/>
          <a:p>
            <a:pPr marL="0" indent="0">
              <a:buNone/>
            </a:pPr>
            <a:endParaRPr lang="en-US" dirty="0"/>
          </a:p>
        </p:txBody>
      </p:sp>
      <p:sp>
        <p:nvSpPr>
          <p:cNvPr id="36" name="Text 28"/>
          <p:cNvSpPr/>
          <p:nvPr/>
        </p:nvSpPr>
        <p:spPr>
          <a:xfrm>
            <a:off x="4149135" y="4900910"/>
            <a:ext cx="3275201" cy="156270"/>
          </a:xfrm>
          <a:prstGeom prst="rect">
            <a:avLst/>
          </a:prstGeom>
          <a:noFill/>
          <a:ln/>
        </p:spPr>
        <p:txBody>
          <a:bodyPr wrap="none" lIns="0" tIns="0" rIns="0" bIns="0" rtlCol="0" anchor="ctr"/>
          <a:lstStyle/>
          <a:p>
            <a:pPr marL="0" indent="0" algn="ctr">
              <a:lnSpc>
                <a:spcPts val="1230"/>
              </a:lnSpc>
              <a:buNone/>
            </a:pPr>
            <a:r>
              <a:rPr lang="en-US" sz="820" b="1" dirty="0">
                <a:solidFill>
                  <a:srgbClr val="2C2C2C"/>
                </a:solidFill>
                <a:latin typeface="Calibri" pitchFamily="34" charset="0"/>
                <a:ea typeface="Calibri" pitchFamily="34" charset="-122"/>
                <a:cs typeface="Calibri" pitchFamily="34" charset="-120"/>
              </a:rPr>
              <a:t>Families are not a barrier to clinical work. They are part of it.</a:t>
            </a:r>
            <a:endParaRPr lang="en-US" sz="820" dirty="0"/>
          </a:p>
        </p:txBody>
      </p:sp>
      <p:sp>
        <p:nvSpPr>
          <p:cNvPr id="37" name="Text 29"/>
          <p:cNvSpPr/>
          <p:nvPr/>
        </p:nvSpPr>
        <p:spPr>
          <a:xfrm rot="2700000">
            <a:off x="7361783" y="4950470"/>
            <a:ext cx="57150" cy="57150"/>
          </a:xfrm>
          <a:prstGeom prst="rect">
            <a:avLst/>
          </a:prstGeom>
          <a:solidFill>
            <a:srgbClr val="FAB753"/>
          </a:solidFill>
          <a:ln/>
        </p:spPr>
        <p:txBody>
          <a:bodyPr wrap="none" rtlCol="0" anchor="t"/>
          <a:lstStyle/>
          <a:p>
            <a:pPr marL="0" indent="0">
              <a:buNone/>
            </a:pPr>
            <a:endParaRPr lang="en-US" dirty="0"/>
          </a:p>
        </p:txBody>
      </p:sp>
      <p:sp>
        <p:nvSpPr>
          <p:cNvPr id="38" name="Text 30"/>
          <p:cNvSpPr/>
          <p:nvPr/>
        </p:nvSpPr>
        <p:spPr>
          <a:xfrm>
            <a:off x="0" y="5108077"/>
            <a:ext cx="2429466" cy="35421"/>
          </a:xfrm>
          <a:prstGeom prst="rect">
            <a:avLst/>
          </a:prstGeom>
          <a:solidFill>
            <a:srgbClr val="FAB753"/>
          </a:solidFill>
          <a:ln/>
        </p:spPr>
        <p:txBody>
          <a:bodyPr wrap="none" rtlCol="0" anchor="t"/>
          <a:lstStyle/>
          <a:p>
            <a:pPr marL="0" indent="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2571750" cy="5143500"/>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314920" y="342900"/>
            <a:ext cx="2198965" cy="118021"/>
          </a:xfrm>
          <a:prstGeom prst="rect">
            <a:avLst/>
          </a:prstGeom>
          <a:noFill/>
          <a:ln/>
        </p:spPr>
        <p:txBody>
          <a:bodyPr wrap="none" lIns="0" tIns="0" rIns="0" bIns="0" rtlCol="0" anchor="t"/>
          <a:lstStyle/>
          <a:p>
            <a:pPr marL="0" indent="0" algn="l">
              <a:lnSpc>
                <a:spcPts val="930"/>
              </a:lnSpc>
              <a:buNone/>
            </a:pPr>
            <a:r>
              <a:rPr lang="en-US" sz="620" b="1" kern="0" spc="140" dirty="0">
                <a:solidFill>
                  <a:srgbClr val="FAB753"/>
                </a:solidFill>
                <a:latin typeface="Calibri" pitchFamily="34" charset="0"/>
                <a:ea typeface="Calibri" pitchFamily="34" charset="-122"/>
                <a:cs typeface="Calibri" pitchFamily="34" charset="-120"/>
              </a:rPr>
              <a:t>PART 3 · TEAM</a:t>
            </a:r>
            <a:endParaRPr lang="en-US" sz="620" dirty="0"/>
          </a:p>
        </p:txBody>
      </p:sp>
      <p:sp>
        <p:nvSpPr>
          <p:cNvPr id="4" name="Text 2"/>
          <p:cNvSpPr/>
          <p:nvPr/>
        </p:nvSpPr>
        <p:spPr>
          <a:xfrm>
            <a:off x="314920" y="589062"/>
            <a:ext cx="2039041" cy="505376"/>
          </a:xfrm>
          <a:prstGeom prst="rect">
            <a:avLst/>
          </a:prstGeom>
          <a:noFill/>
          <a:ln/>
        </p:spPr>
        <p:txBody>
          <a:bodyPr wrap="square" lIns="0" tIns="0" rIns="0" bIns="0" rtlCol="0" anchor="t"/>
          <a:lstStyle/>
          <a:p>
            <a:pPr marL="0" indent="0" algn="l">
              <a:lnSpc>
                <a:spcPts val="1896"/>
              </a:lnSpc>
              <a:buNone/>
            </a:pPr>
            <a:r>
              <a:rPr lang="en-US" sz="1580" b="1" dirty="0">
                <a:solidFill>
                  <a:srgbClr val="FFFFFF"/>
                </a:solidFill>
                <a:latin typeface="Calibri Light" pitchFamily="34" charset="0"/>
                <a:ea typeface="Calibri Light" pitchFamily="34" charset="-122"/>
                <a:cs typeface="Calibri Light" pitchFamily="34" charset="-120"/>
              </a:rPr>
              <a:t>Your Clinical and Administrative Team</a:t>
            </a:r>
            <a:endParaRPr lang="en-US" sz="1580" dirty="0"/>
          </a:p>
        </p:txBody>
      </p:sp>
      <p:sp>
        <p:nvSpPr>
          <p:cNvPr id="5" name="Text 3"/>
          <p:cNvSpPr/>
          <p:nvPr/>
        </p:nvSpPr>
        <p:spPr>
          <a:xfrm>
            <a:off x="314920" y="1184672"/>
            <a:ext cx="2039041" cy="326291"/>
          </a:xfrm>
          <a:prstGeom prst="rect">
            <a:avLst/>
          </a:prstGeom>
          <a:noFill/>
          <a:ln/>
        </p:spPr>
        <p:txBody>
          <a:bodyPr wrap="square" lIns="0" tIns="0" rIns="0" bIns="0" rtlCol="0" anchor="t"/>
          <a:lstStyle/>
          <a:p>
            <a:pPr marL="0" indent="0" algn="l">
              <a:lnSpc>
                <a:spcPts val="1225"/>
              </a:lnSpc>
              <a:buNone/>
            </a:pPr>
            <a:r>
              <a:rPr lang="en-US" sz="790" i="1" dirty="0">
                <a:solidFill>
                  <a:srgbClr val="FFFFFF">
                    <a:alpha val="72000"/>
                  </a:srgbClr>
                </a:solidFill>
                <a:latin typeface="Calibri" pitchFamily="34" charset="0"/>
                <a:ea typeface="Calibri" pitchFamily="34" charset="-122"/>
                <a:cs typeface="Calibri" pitchFamily="34" charset="-120"/>
              </a:rPr>
              <a:t>Fostering trust, psychological safety, and shared ownership.</a:t>
            </a:r>
            <a:endParaRPr lang="en-US" sz="790" dirty="0"/>
          </a:p>
        </p:txBody>
      </p:sp>
      <p:sp>
        <p:nvSpPr>
          <p:cNvPr id="6" name="Text 4"/>
          <p:cNvSpPr/>
          <p:nvPr/>
        </p:nvSpPr>
        <p:spPr>
          <a:xfrm>
            <a:off x="2571750" y="0"/>
            <a:ext cx="6572250" cy="5143500"/>
          </a:xfrm>
          <a:prstGeom prst="rect">
            <a:avLst/>
          </a:prstGeom>
          <a:solidFill>
            <a:srgbClr val="FFFFFF"/>
          </a:solidFill>
          <a:ln/>
        </p:spPr>
        <p:txBody>
          <a:bodyPr wrap="square" rtlCol="0" anchor="t"/>
          <a:lstStyle/>
          <a:p>
            <a:pPr marL="0" indent="0">
              <a:buNone/>
            </a:pPr>
            <a:endParaRPr lang="en-US" dirty="0"/>
          </a:p>
        </p:txBody>
      </p:sp>
      <p:sp>
        <p:nvSpPr>
          <p:cNvPr id="7" name="Text 5"/>
          <p:cNvSpPr/>
          <p:nvPr/>
        </p:nvSpPr>
        <p:spPr>
          <a:xfrm>
            <a:off x="2571750" y="0"/>
            <a:ext cx="6703695" cy="646956"/>
          </a:xfrm>
          <a:prstGeom prst="rect">
            <a:avLst/>
          </a:prstGeom>
          <a:noFill/>
          <a:ln/>
        </p:spPr>
        <p:txBody>
          <a:bodyPr wrap="none" lIns="372110" tIns="257810" rIns="372110" bIns="143510" rtlCol="0" anchor="t"/>
          <a:lstStyle/>
          <a:p>
            <a:pPr marL="0" indent="0" algn="l">
              <a:buNone/>
            </a:pPr>
            <a:r>
              <a:rPr lang="en-US" sz="1240" b="1" kern="0" spc="10" dirty="0">
                <a:solidFill>
                  <a:srgbClr val="1B5E72"/>
                </a:solidFill>
                <a:latin typeface="Calibri Light" pitchFamily="34" charset="0"/>
                <a:ea typeface="Calibri Light" pitchFamily="34" charset="-122"/>
                <a:cs typeface="Calibri Light" pitchFamily="34" charset="-120"/>
              </a:rPr>
              <a:t>What Healthy Team Relationships Require</a:t>
            </a:r>
            <a:endParaRPr lang="en-US" sz="1240" dirty="0"/>
          </a:p>
        </p:txBody>
      </p:sp>
      <p:sp>
        <p:nvSpPr>
          <p:cNvPr id="8" name="Text 6"/>
          <p:cNvSpPr/>
          <p:nvPr/>
        </p:nvSpPr>
        <p:spPr>
          <a:xfrm>
            <a:off x="2571750" y="637431"/>
            <a:ext cx="6572250" cy="9525"/>
          </a:xfrm>
          <a:prstGeom prst="rect">
            <a:avLst/>
          </a:prstGeom>
          <a:solidFill>
            <a:srgbClr val="EAF4F4"/>
          </a:solidFill>
          <a:ln/>
        </p:spPr>
        <p:txBody>
          <a:bodyPr wrap="none" rtlCol="0" anchor="t"/>
          <a:lstStyle/>
          <a:p>
            <a:pPr marL="0" indent="0">
              <a:buNone/>
            </a:pPr>
            <a:endParaRPr lang="en-US" dirty="0"/>
          </a:p>
        </p:txBody>
      </p:sp>
      <p:sp>
        <p:nvSpPr>
          <p:cNvPr id="9" name="Text 7"/>
          <p:cNvSpPr/>
          <p:nvPr/>
        </p:nvSpPr>
        <p:spPr>
          <a:xfrm>
            <a:off x="2943820" y="804267"/>
            <a:ext cx="228600" cy="228600"/>
          </a:xfrm>
          <a:prstGeom prst="ellipse">
            <a:avLst/>
          </a:prstGeom>
          <a:solidFill>
            <a:srgbClr val="FAB753">
              <a:alpha val="13000"/>
            </a:srgbClr>
          </a:solidFill>
          <a:ln/>
        </p:spPr>
        <p:txBody>
          <a:bodyPr wrap="none" rtlCol="0" anchor="t"/>
          <a:lstStyle/>
          <a:p>
            <a:pPr marL="0" indent="0">
              <a:buNone/>
            </a:pPr>
            <a:endParaRPr lang="en-US" dirty="0"/>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91826" y="852273"/>
            <a:ext cx="132588" cy="132588"/>
          </a:xfrm>
          <a:prstGeom prst="rect">
            <a:avLst/>
          </a:prstGeom>
        </p:spPr>
      </p:pic>
      <p:sp>
        <p:nvSpPr>
          <p:cNvPr id="11" name="Text 8"/>
          <p:cNvSpPr/>
          <p:nvPr/>
        </p:nvSpPr>
        <p:spPr>
          <a:xfrm>
            <a:off x="3272730" y="790426"/>
            <a:ext cx="5609183" cy="384579"/>
          </a:xfrm>
          <a:prstGeom prst="rect">
            <a:avLst/>
          </a:prstGeom>
          <a:noFill/>
          <a:ln/>
        </p:spPr>
        <p:txBody>
          <a:bodyPr wrap="square" lIns="0" tIns="0" rIns="0" bIns="0" rtlCol="0" anchor="ctr"/>
          <a:lstStyle/>
          <a:p>
            <a:pPr marL="0" indent="0" algn="l">
              <a:lnSpc>
                <a:spcPts val="1740"/>
              </a:lnSpc>
              <a:buNone/>
            </a:pPr>
            <a:r>
              <a:rPr lang="en-US" sz="840" b="1" dirty="0">
                <a:solidFill>
                  <a:srgbClr val="1B5E72"/>
                </a:solidFill>
                <a:latin typeface="Calibri" pitchFamily="34" charset="0"/>
                <a:ea typeface="Calibri" pitchFamily="34" charset="-122"/>
                <a:cs typeface="Calibri" pitchFamily="34" charset="-120"/>
              </a:rPr>
              <a:t>Psychological safety is the foundation —</a:t>
            </a:r>
            <a:r>
              <a:rPr lang="en-US" sz="1200" dirty="0">
                <a:solidFill>
                  <a:srgbClr val="2C2C2C"/>
                </a:solidFill>
                <a:latin typeface="Calibri" pitchFamily="34" charset="0"/>
                <a:ea typeface="Calibri" pitchFamily="34" charset="-122"/>
                <a:cs typeface="Calibri" pitchFamily="34" charset="-120"/>
              </a:rPr>
              <a:t> </a:t>
            </a:r>
            <a:r>
              <a:rPr lang="en-US" sz="790" dirty="0">
                <a:solidFill>
                  <a:srgbClr val="4A4A4A"/>
                </a:solidFill>
                <a:latin typeface="Calibri" pitchFamily="34" charset="0"/>
                <a:ea typeface="Calibri" pitchFamily="34" charset="-122"/>
                <a:cs typeface="Calibri" pitchFamily="34" charset="-120"/>
              </a:rPr>
              <a:t>Team members perform best when they feel safe to ask questions, name concerns, and admit uncertainty without fear of judgment. This is built through consistent, non-reactive responses over time.</a:t>
            </a:r>
            <a:endParaRPr lang="en-US" sz="1200" dirty="0"/>
          </a:p>
        </p:txBody>
      </p:sp>
      <p:sp>
        <p:nvSpPr>
          <p:cNvPr id="12" name="Text 9"/>
          <p:cNvSpPr/>
          <p:nvPr/>
        </p:nvSpPr>
        <p:spPr>
          <a:xfrm>
            <a:off x="2943820" y="1263104"/>
            <a:ext cx="228600" cy="228600"/>
          </a:xfrm>
          <a:prstGeom prst="ellipse">
            <a:avLst/>
          </a:prstGeom>
          <a:solidFill>
            <a:srgbClr val="FAB753">
              <a:alpha val="13000"/>
            </a:srgbClr>
          </a:solidFill>
          <a:ln/>
        </p:spPr>
        <p:txBody>
          <a:bodyPr wrap="none" rtlCol="0" anchor="t"/>
          <a:lstStyle/>
          <a:p>
            <a:pPr marL="0" indent="0">
              <a:buNone/>
            </a:pPr>
            <a:endParaRPr lang="en-US" dirty="0"/>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91826" y="1311110"/>
            <a:ext cx="132588" cy="132588"/>
          </a:xfrm>
          <a:prstGeom prst="rect">
            <a:avLst/>
          </a:prstGeom>
        </p:spPr>
      </p:pic>
      <p:sp>
        <p:nvSpPr>
          <p:cNvPr id="14" name="Text 10"/>
          <p:cNvSpPr/>
          <p:nvPr/>
        </p:nvSpPr>
        <p:spPr>
          <a:xfrm>
            <a:off x="3272730" y="1249263"/>
            <a:ext cx="5609183" cy="384579"/>
          </a:xfrm>
          <a:prstGeom prst="rect">
            <a:avLst/>
          </a:prstGeom>
          <a:noFill/>
          <a:ln/>
        </p:spPr>
        <p:txBody>
          <a:bodyPr wrap="square" lIns="0" tIns="0" rIns="0" bIns="0" rtlCol="0" anchor="ctr"/>
          <a:lstStyle/>
          <a:p>
            <a:pPr marL="0" indent="0" algn="l">
              <a:lnSpc>
                <a:spcPts val="1740"/>
              </a:lnSpc>
              <a:buNone/>
            </a:pPr>
            <a:r>
              <a:rPr lang="en-US" sz="840" b="1" dirty="0">
                <a:solidFill>
                  <a:srgbClr val="1B5E72"/>
                </a:solidFill>
                <a:latin typeface="Calibri" pitchFamily="34" charset="0"/>
                <a:ea typeface="Calibri" pitchFamily="34" charset="-122"/>
                <a:cs typeface="Calibri" pitchFamily="34" charset="-120"/>
              </a:rPr>
              <a:t>Shared ownership, not isolated accountability —</a:t>
            </a:r>
            <a:r>
              <a:rPr lang="en-US" sz="1200" dirty="0">
                <a:solidFill>
                  <a:srgbClr val="2C2C2C"/>
                </a:solidFill>
                <a:latin typeface="Calibri" pitchFamily="34" charset="0"/>
                <a:ea typeface="Calibri" pitchFamily="34" charset="-122"/>
                <a:cs typeface="Calibri" pitchFamily="34" charset="-120"/>
              </a:rPr>
              <a:t> </a:t>
            </a:r>
            <a:r>
              <a:rPr lang="en-US" sz="790" dirty="0">
                <a:solidFill>
                  <a:srgbClr val="4A4A4A"/>
                </a:solidFill>
                <a:latin typeface="Calibri" pitchFamily="34" charset="0"/>
                <a:ea typeface="Calibri" pitchFamily="34" charset="-122"/>
                <a:cs typeface="Calibri" pitchFamily="34" charset="-120"/>
              </a:rPr>
              <a:t>When the team owns outcomes together — wins and setbacks both — collaboration strengthens and blame culture weakens. Show up for each other.</a:t>
            </a:r>
            <a:endParaRPr lang="en-US" sz="1200" dirty="0"/>
          </a:p>
        </p:txBody>
      </p:sp>
      <p:sp>
        <p:nvSpPr>
          <p:cNvPr id="15" name="Text 11"/>
          <p:cNvSpPr/>
          <p:nvPr/>
        </p:nvSpPr>
        <p:spPr>
          <a:xfrm>
            <a:off x="2943820" y="1721941"/>
            <a:ext cx="228600" cy="228600"/>
          </a:xfrm>
          <a:prstGeom prst="ellipse">
            <a:avLst/>
          </a:prstGeom>
          <a:solidFill>
            <a:srgbClr val="FAB753">
              <a:alpha val="13000"/>
            </a:srgbClr>
          </a:solidFill>
          <a:ln/>
        </p:spPr>
        <p:txBody>
          <a:bodyPr wrap="none" rtlCol="0" anchor="t"/>
          <a:lstStyle/>
          <a:p>
            <a:pPr marL="0" indent="0">
              <a:buNone/>
            </a:pPr>
            <a:endParaRPr lang="en-US" dirty="0"/>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991826" y="1769947"/>
            <a:ext cx="132588" cy="132588"/>
          </a:xfrm>
          <a:prstGeom prst="rect">
            <a:avLst/>
          </a:prstGeom>
        </p:spPr>
      </p:pic>
      <p:sp>
        <p:nvSpPr>
          <p:cNvPr id="17" name="Text 12"/>
          <p:cNvSpPr/>
          <p:nvPr/>
        </p:nvSpPr>
        <p:spPr>
          <a:xfrm>
            <a:off x="3272730" y="1708100"/>
            <a:ext cx="5609183" cy="384579"/>
          </a:xfrm>
          <a:prstGeom prst="rect">
            <a:avLst/>
          </a:prstGeom>
          <a:noFill/>
          <a:ln/>
        </p:spPr>
        <p:txBody>
          <a:bodyPr wrap="square" lIns="0" tIns="0" rIns="0" bIns="0" rtlCol="0" anchor="ctr"/>
          <a:lstStyle/>
          <a:p>
            <a:pPr marL="0" indent="0" algn="l">
              <a:lnSpc>
                <a:spcPts val="1740"/>
              </a:lnSpc>
              <a:buNone/>
            </a:pPr>
            <a:r>
              <a:rPr lang="en-US" sz="840" b="1" dirty="0">
                <a:solidFill>
                  <a:srgbClr val="1B5E72"/>
                </a:solidFill>
                <a:latin typeface="Calibri" pitchFamily="34" charset="0"/>
                <a:ea typeface="Calibri" pitchFamily="34" charset="-122"/>
                <a:cs typeface="Calibri" pitchFamily="34" charset="-120"/>
              </a:rPr>
              <a:t>Consistency with your team lead —</a:t>
            </a:r>
            <a:r>
              <a:rPr lang="en-US" sz="1200" dirty="0">
                <a:solidFill>
                  <a:srgbClr val="2C2C2C"/>
                </a:solidFill>
                <a:latin typeface="Calibri" pitchFamily="34" charset="0"/>
                <a:ea typeface="Calibri" pitchFamily="34" charset="-122"/>
                <a:cs typeface="Calibri" pitchFamily="34" charset="-120"/>
              </a:rPr>
              <a:t> </a:t>
            </a:r>
            <a:r>
              <a:rPr lang="en-US" sz="790" dirty="0">
                <a:solidFill>
                  <a:srgbClr val="4A4A4A"/>
                </a:solidFill>
                <a:latin typeface="Calibri" pitchFamily="34" charset="0"/>
                <a:ea typeface="Calibri" pitchFamily="34" charset="-122"/>
                <a:cs typeface="Calibri" pitchFamily="34" charset="-120"/>
              </a:rPr>
              <a:t>The same practices that build trust with schools and families build trust with leadership. Communicate proactively, follow through, and repair when needed.</a:t>
            </a:r>
            <a:endParaRPr lang="en-US" sz="1200" dirty="0"/>
          </a:p>
        </p:txBody>
      </p:sp>
      <p:sp>
        <p:nvSpPr>
          <p:cNvPr id="18" name="Text 13"/>
          <p:cNvSpPr/>
          <p:nvPr/>
        </p:nvSpPr>
        <p:spPr>
          <a:xfrm>
            <a:off x="2943820" y="2180779"/>
            <a:ext cx="228600" cy="228600"/>
          </a:xfrm>
          <a:prstGeom prst="ellipse">
            <a:avLst/>
          </a:prstGeom>
          <a:solidFill>
            <a:srgbClr val="FAB753">
              <a:alpha val="13000"/>
            </a:srgbClr>
          </a:solidFill>
          <a:ln/>
        </p:spPr>
        <p:txBody>
          <a:bodyPr wrap="none" rtlCol="0" anchor="t"/>
          <a:lstStyle/>
          <a:p>
            <a:pPr marL="0" indent="0">
              <a:buNone/>
            </a:pPr>
            <a:endParaRPr lang="en-US" dirty="0"/>
          </a:p>
        </p:txBody>
      </p:sp>
      <p:pic>
        <p:nvPicPr>
          <p:cNvPr id="1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991826" y="2228785"/>
            <a:ext cx="132588" cy="132588"/>
          </a:xfrm>
          <a:prstGeom prst="rect">
            <a:avLst/>
          </a:prstGeom>
        </p:spPr>
      </p:pic>
      <p:sp>
        <p:nvSpPr>
          <p:cNvPr id="20" name="Text 14"/>
          <p:cNvSpPr/>
          <p:nvPr/>
        </p:nvSpPr>
        <p:spPr>
          <a:xfrm>
            <a:off x="3272730" y="2166938"/>
            <a:ext cx="5609183" cy="384579"/>
          </a:xfrm>
          <a:prstGeom prst="rect">
            <a:avLst/>
          </a:prstGeom>
          <a:noFill/>
          <a:ln/>
        </p:spPr>
        <p:txBody>
          <a:bodyPr wrap="square" lIns="0" tIns="0" rIns="0" bIns="0" rtlCol="0" anchor="ctr"/>
          <a:lstStyle/>
          <a:p>
            <a:pPr marL="0" indent="0" algn="l">
              <a:lnSpc>
                <a:spcPts val="1740"/>
              </a:lnSpc>
              <a:buNone/>
            </a:pPr>
            <a:r>
              <a:rPr lang="en-US" sz="840" b="1" dirty="0">
                <a:solidFill>
                  <a:srgbClr val="1B5E72"/>
                </a:solidFill>
                <a:latin typeface="Calibri" pitchFamily="34" charset="0"/>
                <a:ea typeface="Calibri" pitchFamily="34" charset="-122"/>
                <a:cs typeface="Calibri" pitchFamily="34" charset="-120"/>
              </a:rPr>
              <a:t>Peer relationships are a clinical asset —</a:t>
            </a:r>
            <a:r>
              <a:rPr lang="en-US" sz="1200" dirty="0">
                <a:solidFill>
                  <a:srgbClr val="2C2C2C"/>
                </a:solidFill>
                <a:latin typeface="Calibri" pitchFamily="34" charset="0"/>
                <a:ea typeface="Calibri" pitchFamily="34" charset="-122"/>
                <a:cs typeface="Calibri" pitchFamily="34" charset="-120"/>
              </a:rPr>
              <a:t> </a:t>
            </a:r>
            <a:r>
              <a:rPr lang="en-US" sz="790" dirty="0">
                <a:solidFill>
                  <a:srgbClr val="4A4A4A"/>
                </a:solidFill>
                <a:latin typeface="Calibri" pitchFamily="34" charset="0"/>
                <a:ea typeface="Calibri" pitchFamily="34" charset="-122"/>
                <a:cs typeface="Calibri" pitchFamily="34" charset="-120"/>
              </a:rPr>
              <a:t>Peer modeling, shared problem-solving, and informal consultation improve clinical skill and reduce isolation. Invest in your colleagues.</a:t>
            </a:r>
            <a:endParaRPr lang="en-US" sz="1200" dirty="0"/>
          </a:p>
        </p:txBody>
      </p:sp>
      <p:sp>
        <p:nvSpPr>
          <p:cNvPr id="21" name="Text 15"/>
          <p:cNvSpPr/>
          <p:nvPr/>
        </p:nvSpPr>
        <p:spPr>
          <a:xfrm>
            <a:off x="2943820" y="2639616"/>
            <a:ext cx="228600" cy="228600"/>
          </a:xfrm>
          <a:prstGeom prst="ellipse">
            <a:avLst/>
          </a:prstGeom>
          <a:solidFill>
            <a:srgbClr val="FAB753">
              <a:alpha val="13000"/>
            </a:srgbClr>
          </a:solidFill>
          <a:ln/>
        </p:spPr>
        <p:txBody>
          <a:bodyPr wrap="none" rtlCol="0" anchor="t"/>
          <a:lstStyle/>
          <a:p>
            <a:pPr marL="0" indent="0">
              <a:buNone/>
            </a:pPr>
            <a:endParaRPr lang="en-US" dirty="0"/>
          </a:p>
        </p:txBody>
      </p:sp>
      <p:pic>
        <p:nvPicPr>
          <p:cNvPr id="2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991826" y="2687622"/>
            <a:ext cx="132588" cy="132588"/>
          </a:xfrm>
          <a:prstGeom prst="rect">
            <a:avLst/>
          </a:prstGeom>
        </p:spPr>
      </p:pic>
      <p:sp>
        <p:nvSpPr>
          <p:cNvPr id="23" name="Text 16"/>
          <p:cNvSpPr/>
          <p:nvPr/>
        </p:nvSpPr>
        <p:spPr>
          <a:xfrm>
            <a:off x="3272730" y="2625775"/>
            <a:ext cx="5609183" cy="384579"/>
          </a:xfrm>
          <a:prstGeom prst="rect">
            <a:avLst/>
          </a:prstGeom>
          <a:noFill/>
          <a:ln/>
        </p:spPr>
        <p:txBody>
          <a:bodyPr wrap="square" lIns="0" tIns="0" rIns="0" bIns="0" rtlCol="0" anchor="ctr"/>
          <a:lstStyle/>
          <a:p>
            <a:pPr marL="0" indent="0" algn="l">
              <a:lnSpc>
                <a:spcPts val="1740"/>
              </a:lnSpc>
              <a:buNone/>
            </a:pPr>
            <a:r>
              <a:rPr lang="en-US" sz="840" b="1" dirty="0">
                <a:solidFill>
                  <a:srgbClr val="1B5E72"/>
                </a:solidFill>
                <a:latin typeface="Calibri" pitchFamily="34" charset="0"/>
                <a:ea typeface="Calibri" pitchFamily="34" charset="-122"/>
                <a:cs typeface="Calibri" pitchFamily="34" charset="-120"/>
              </a:rPr>
              <a:t>Model what you want to see —</a:t>
            </a:r>
            <a:r>
              <a:rPr lang="en-US" sz="1200" dirty="0">
                <a:solidFill>
                  <a:srgbClr val="2C2C2C"/>
                </a:solidFill>
                <a:latin typeface="Calibri" pitchFamily="34" charset="0"/>
                <a:ea typeface="Calibri" pitchFamily="34" charset="-122"/>
                <a:cs typeface="Calibri" pitchFamily="34" charset="-120"/>
              </a:rPr>
              <a:t> </a:t>
            </a:r>
            <a:r>
              <a:rPr lang="en-US" sz="790" dirty="0">
                <a:solidFill>
                  <a:srgbClr val="4A4A4A"/>
                </a:solidFill>
                <a:latin typeface="Calibri" pitchFamily="34" charset="0"/>
                <a:ea typeface="Calibri" pitchFamily="34" charset="-122"/>
                <a:cs typeface="Calibri" pitchFamily="34" charset="-120"/>
              </a:rPr>
              <a:t>The relational climate of your team is shaped by every individual in it. What you bring into the room matters.</a:t>
            </a:r>
            <a:endParaRPr lang="en-US" sz="1200" dirty="0"/>
          </a:p>
        </p:txBody>
      </p:sp>
      <p:sp>
        <p:nvSpPr>
          <p:cNvPr id="24" name="Text 17"/>
          <p:cNvSpPr/>
          <p:nvPr/>
        </p:nvSpPr>
        <p:spPr>
          <a:xfrm>
            <a:off x="2571750" y="4813548"/>
            <a:ext cx="6572250" cy="329952"/>
          </a:xfrm>
          <a:prstGeom prst="rect">
            <a:avLst/>
          </a:prstGeom>
          <a:solidFill>
            <a:srgbClr val="FAB753"/>
          </a:solidFill>
          <a:ln/>
        </p:spPr>
        <p:txBody>
          <a:bodyPr wrap="square" rtlCol="0" anchor="t"/>
          <a:lstStyle/>
          <a:p>
            <a:pPr marL="0" indent="0">
              <a:buNone/>
            </a:pPr>
            <a:endParaRPr lang="en-US" dirty="0"/>
          </a:p>
        </p:txBody>
      </p:sp>
      <p:pic>
        <p:nvPicPr>
          <p:cNvPr id="2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925598" y="4912156"/>
            <a:ext cx="132588" cy="132588"/>
          </a:xfrm>
          <a:prstGeom prst="rect">
            <a:avLst/>
          </a:prstGeom>
        </p:spPr>
      </p:pic>
      <p:sp>
        <p:nvSpPr>
          <p:cNvPr id="26" name="Text 18"/>
          <p:cNvSpPr/>
          <p:nvPr/>
        </p:nvSpPr>
        <p:spPr>
          <a:xfrm>
            <a:off x="3126284" y="4906119"/>
            <a:ext cx="4066252" cy="144810"/>
          </a:xfrm>
          <a:prstGeom prst="rect">
            <a:avLst/>
          </a:prstGeom>
          <a:noFill/>
          <a:ln/>
        </p:spPr>
        <p:txBody>
          <a:bodyPr wrap="none" lIns="0" tIns="0" rIns="0" bIns="0" rtlCol="0" anchor="ctr"/>
          <a:lstStyle/>
          <a:p>
            <a:pPr marL="0" indent="0" algn="l">
              <a:lnSpc>
                <a:spcPts val="1140"/>
              </a:lnSpc>
              <a:buNone/>
            </a:pPr>
            <a:r>
              <a:rPr lang="en-US" sz="760" b="1" i="1" dirty="0">
                <a:solidFill>
                  <a:srgbClr val="1B2E35"/>
                </a:solidFill>
                <a:latin typeface="Calibri" pitchFamily="34" charset="0"/>
                <a:ea typeface="Calibri" pitchFamily="34" charset="-122"/>
                <a:cs typeface="Calibri" pitchFamily="34" charset="-120"/>
              </a:rPr>
              <a:t>"The relationships behind the scenes determine everything in front of clients."</a:t>
            </a:r>
            <a:endParaRPr lang="en-US" sz="760" dirty="0"/>
          </a:p>
        </p:txBody>
      </p:sp>
      <p:sp>
        <p:nvSpPr>
          <p:cNvPr id="27" name="Text 19"/>
          <p:cNvSpPr/>
          <p:nvPr/>
        </p:nvSpPr>
        <p:spPr>
          <a:xfrm>
            <a:off x="1428750" y="4000500"/>
            <a:ext cx="1572216" cy="1143000"/>
          </a:xfrm>
          <a:prstGeom prst="ellipse">
            <a:avLst/>
          </a:prstGeom>
          <a:solidFill>
            <a:srgbClr val="FFFFFF">
              <a:alpha val="4000"/>
            </a:srgbClr>
          </a:solidFill>
          <a:ln/>
        </p:spPr>
        <p:txBody>
          <a:bodyPr wrap="square" rtlCol="0" anchor="t"/>
          <a:lstStyle/>
          <a:p>
            <a:pPr marL="0" indent="0">
              <a:buNone/>
            </a:pPr>
            <a:endParaRPr lang="en-US" dirty="0"/>
          </a:p>
        </p:txBody>
      </p:sp>
      <p:sp>
        <p:nvSpPr>
          <p:cNvPr id="28" name="Text 20"/>
          <p:cNvSpPr/>
          <p:nvPr/>
        </p:nvSpPr>
        <p:spPr>
          <a:xfrm>
            <a:off x="0" y="0"/>
            <a:ext cx="857250" cy="857250"/>
          </a:xfrm>
          <a:prstGeom prst="ellipse">
            <a:avLst/>
          </a:prstGeom>
          <a:solidFill>
            <a:srgbClr val="FFFFFF">
              <a:alpha val="3000"/>
            </a:srgbClr>
          </a:solidFill>
          <a:ln/>
        </p:spPr>
        <p:txBody>
          <a:bodyPr wrap="square" rtlCol="0" anchor="t"/>
          <a:lstStyle/>
          <a:p>
            <a:pPr marL="0" indent="0">
              <a:buNone/>
            </a:pPr>
            <a:endParaRPr lang="en-US" dirty="0"/>
          </a:p>
        </p:txBody>
      </p:sp>
      <p:sp>
        <p:nvSpPr>
          <p:cNvPr id="29" name="Text 21"/>
          <p:cNvSpPr/>
          <p:nvPr/>
        </p:nvSpPr>
        <p:spPr>
          <a:xfrm>
            <a:off x="1028700" y="3771007"/>
            <a:ext cx="571500" cy="571500"/>
          </a:xfrm>
          <a:prstGeom prst="ellipse">
            <a:avLst/>
          </a:prstGeom>
          <a:solidFill>
            <a:srgbClr val="FAB753">
              <a:alpha val="8000"/>
            </a:srgbClr>
          </a:solidFill>
          <a:ln w="9525">
            <a:solidFill>
              <a:srgbClr val="FAB753">
                <a:alpha val="30000"/>
              </a:srgbClr>
            </a:solidFill>
          </a:ln>
        </p:spPr>
        <p:txBody>
          <a:bodyPr wrap="square" rtlCol="0" anchor="t"/>
          <a:lstStyle/>
          <a:p>
            <a:pPr marL="0" indent="0">
              <a:buNone/>
            </a:pPr>
            <a:endParaRPr lang="en-US" dirty="0"/>
          </a:p>
        </p:txBody>
      </p:sp>
      <p:pic>
        <p:nvPicPr>
          <p:cNvPr id="30"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217712" y="3960019"/>
            <a:ext cx="193328" cy="193328"/>
          </a:xfrm>
          <a:prstGeom prst="rect">
            <a:avLst/>
          </a:prstGeom>
        </p:spPr>
      </p:pic>
      <p:sp>
        <p:nvSpPr>
          <p:cNvPr id="31" name="Text 22"/>
          <p:cNvSpPr/>
          <p:nvPr/>
        </p:nvSpPr>
        <p:spPr>
          <a:xfrm>
            <a:off x="1120229" y="4470648"/>
            <a:ext cx="43160" cy="43160"/>
          </a:xfrm>
          <a:prstGeom prst="ellipse">
            <a:avLst/>
          </a:prstGeom>
          <a:solidFill>
            <a:srgbClr val="FAB753">
              <a:alpha val="35000"/>
            </a:srgbClr>
          </a:solidFill>
          <a:ln/>
        </p:spPr>
        <p:txBody>
          <a:bodyPr wrap="none" rtlCol="0" anchor="t"/>
          <a:lstStyle/>
          <a:p>
            <a:pPr marL="0" indent="0">
              <a:buNone/>
            </a:pPr>
            <a:endParaRPr lang="en-US" dirty="0"/>
          </a:p>
        </p:txBody>
      </p:sp>
      <p:sp>
        <p:nvSpPr>
          <p:cNvPr id="32" name="Text 23"/>
          <p:cNvSpPr/>
          <p:nvPr/>
        </p:nvSpPr>
        <p:spPr>
          <a:xfrm>
            <a:off x="1206550" y="4470648"/>
            <a:ext cx="43160" cy="43160"/>
          </a:xfrm>
          <a:prstGeom prst="ellipse">
            <a:avLst/>
          </a:prstGeom>
          <a:solidFill>
            <a:srgbClr val="FAB753"/>
          </a:solidFill>
          <a:ln/>
        </p:spPr>
        <p:txBody>
          <a:bodyPr wrap="none" rtlCol="0" anchor="t"/>
          <a:lstStyle/>
          <a:p>
            <a:pPr marL="0" indent="0">
              <a:buNone/>
            </a:pPr>
            <a:endParaRPr lang="en-US" dirty="0"/>
          </a:p>
        </p:txBody>
      </p:sp>
      <p:sp>
        <p:nvSpPr>
          <p:cNvPr id="33" name="Text 24"/>
          <p:cNvSpPr/>
          <p:nvPr/>
        </p:nvSpPr>
        <p:spPr>
          <a:xfrm>
            <a:off x="1292870" y="4470648"/>
            <a:ext cx="43160" cy="43160"/>
          </a:xfrm>
          <a:prstGeom prst="ellipse">
            <a:avLst/>
          </a:prstGeom>
          <a:solidFill>
            <a:srgbClr val="FAB753">
              <a:alpha val="35000"/>
            </a:srgbClr>
          </a:solidFill>
          <a:ln/>
        </p:spPr>
        <p:txBody>
          <a:bodyPr wrap="none" rtlCol="0" anchor="t"/>
          <a:lstStyle/>
          <a:p>
            <a:pPr marL="0" indent="0">
              <a:buNone/>
            </a:pPr>
            <a:endParaRPr lang="en-US" dirty="0"/>
          </a:p>
        </p:txBody>
      </p:sp>
      <p:sp>
        <p:nvSpPr>
          <p:cNvPr id="34" name="Text 25"/>
          <p:cNvSpPr/>
          <p:nvPr/>
        </p:nvSpPr>
        <p:spPr>
          <a:xfrm>
            <a:off x="1379190" y="4470648"/>
            <a:ext cx="43160" cy="43160"/>
          </a:xfrm>
          <a:prstGeom prst="ellipse">
            <a:avLst/>
          </a:prstGeom>
          <a:solidFill>
            <a:srgbClr val="FAB753"/>
          </a:solidFill>
          <a:ln/>
        </p:spPr>
        <p:txBody>
          <a:bodyPr wrap="none" rtlCol="0" anchor="t"/>
          <a:lstStyle/>
          <a:p>
            <a:pPr marL="0" indent="0">
              <a:buNone/>
            </a:pPr>
            <a:endParaRPr lang="en-US" dirty="0"/>
          </a:p>
        </p:txBody>
      </p:sp>
      <p:sp>
        <p:nvSpPr>
          <p:cNvPr id="35" name="Text 26"/>
          <p:cNvSpPr/>
          <p:nvPr/>
        </p:nvSpPr>
        <p:spPr>
          <a:xfrm>
            <a:off x="1465511" y="4470648"/>
            <a:ext cx="43160" cy="43160"/>
          </a:xfrm>
          <a:prstGeom prst="ellipse">
            <a:avLst/>
          </a:prstGeom>
          <a:solidFill>
            <a:srgbClr val="FAB753">
              <a:alpha val="35000"/>
            </a:srgbClr>
          </a:solidFill>
          <a:ln/>
        </p:spPr>
        <p:txBody>
          <a:bodyPr wrap="none" rtlCol="0" anchor="t"/>
          <a:lstStyle/>
          <a:p>
            <a:pPr marL="0" indent="0">
              <a:buNone/>
            </a:pPr>
            <a:endParaRPr lang="en-US" dirty="0"/>
          </a:p>
        </p:txBody>
      </p:sp>
      <p:sp>
        <p:nvSpPr>
          <p:cNvPr id="36" name="Text 27"/>
          <p:cNvSpPr/>
          <p:nvPr/>
        </p:nvSpPr>
        <p:spPr>
          <a:xfrm>
            <a:off x="827484" y="4627959"/>
            <a:ext cx="257770" cy="257770"/>
          </a:xfrm>
          <a:prstGeom prst="ellipse">
            <a:avLst/>
          </a:prstGeom>
          <a:solidFill>
            <a:srgbClr val="FFFFFF">
              <a:alpha val="7000"/>
            </a:srgbClr>
          </a:solidFill>
          <a:ln/>
        </p:spPr>
        <p:txBody>
          <a:bodyPr wrap="none" rtlCol="0" anchor="t"/>
          <a:lstStyle/>
          <a:p>
            <a:pPr marL="0" indent="0">
              <a:buNone/>
            </a:pPr>
            <a:endParaRPr lang="en-US" dirty="0"/>
          </a:p>
        </p:txBody>
      </p:sp>
      <p:pic>
        <p:nvPicPr>
          <p:cNvPr id="37"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90076" y="4690551"/>
            <a:ext cx="132588" cy="132588"/>
          </a:xfrm>
          <a:prstGeom prst="rect">
            <a:avLst/>
          </a:prstGeom>
        </p:spPr>
      </p:pic>
      <p:sp>
        <p:nvSpPr>
          <p:cNvPr id="38" name="Text 28"/>
          <p:cNvSpPr/>
          <p:nvPr/>
        </p:nvSpPr>
        <p:spPr>
          <a:xfrm>
            <a:off x="1185565" y="4627959"/>
            <a:ext cx="257770" cy="257770"/>
          </a:xfrm>
          <a:prstGeom prst="ellipse">
            <a:avLst/>
          </a:prstGeom>
          <a:solidFill>
            <a:srgbClr val="FFFFFF">
              <a:alpha val="7000"/>
            </a:srgbClr>
          </a:solidFill>
          <a:ln/>
        </p:spPr>
        <p:txBody>
          <a:bodyPr wrap="none" rtlCol="0" anchor="t"/>
          <a:lstStyle/>
          <a:p>
            <a:pPr marL="0" indent="0">
              <a:buNone/>
            </a:pPr>
            <a:endParaRPr lang="en-US" dirty="0"/>
          </a:p>
        </p:txBody>
      </p:sp>
      <p:pic>
        <p:nvPicPr>
          <p:cNvPr id="39"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248156" y="4690551"/>
            <a:ext cx="132588" cy="132588"/>
          </a:xfrm>
          <a:prstGeom prst="rect">
            <a:avLst/>
          </a:prstGeom>
        </p:spPr>
      </p:pic>
      <p:sp>
        <p:nvSpPr>
          <p:cNvPr id="40" name="Text 29"/>
          <p:cNvSpPr/>
          <p:nvPr/>
        </p:nvSpPr>
        <p:spPr>
          <a:xfrm>
            <a:off x="1543645" y="4627959"/>
            <a:ext cx="257770" cy="257770"/>
          </a:xfrm>
          <a:prstGeom prst="ellipse">
            <a:avLst/>
          </a:prstGeom>
          <a:solidFill>
            <a:srgbClr val="FFFFFF">
              <a:alpha val="7000"/>
            </a:srgbClr>
          </a:solidFill>
          <a:ln/>
        </p:spPr>
        <p:txBody>
          <a:bodyPr wrap="none" rtlCol="0" anchor="t"/>
          <a:lstStyle/>
          <a:p>
            <a:pPr marL="0" indent="0">
              <a:buNone/>
            </a:pPr>
            <a:endParaRPr lang="en-US" dirty="0"/>
          </a:p>
        </p:txBody>
      </p:sp>
      <p:pic>
        <p:nvPicPr>
          <p:cNvPr id="41"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606236" y="4690551"/>
            <a:ext cx="132588" cy="13258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43777"/>
          </a:xfrm>
          <a:prstGeom prst="rect">
            <a:avLst/>
          </a:prstGeom>
          <a:solidFill>
            <a:srgbClr val="1B5E72"/>
          </a:solidFill>
          <a:ln/>
        </p:spPr>
        <p:txBody>
          <a:bodyPr wrap="square" lIns="400050" tIns="143510" rIns="400050" bIns="128270" rtlCol="0" anchor="t"/>
          <a:lstStyle/>
          <a:p>
            <a:pPr marL="0" indent="0" algn="l">
              <a:buNone/>
            </a:pPr>
            <a:r>
              <a:rPr lang="en-US" sz="1690" b="1" kern="0" spc="17" dirty="0">
                <a:solidFill>
                  <a:srgbClr val="FFFFFF"/>
                </a:solidFill>
                <a:latin typeface="Calibri Light" pitchFamily="34" charset="0"/>
                <a:ea typeface="Calibri Light" pitchFamily="34" charset="-122"/>
                <a:cs typeface="Calibri Light" pitchFamily="34" charset="-120"/>
              </a:rPr>
              <a:t>Guided Activity — Perspective-Taking</a:t>
            </a:r>
            <a:endParaRPr lang="en-US" sz="1690" dirty="0"/>
          </a:p>
          <a:p>
            <a:pPr marL="0" indent="0" algn="l">
              <a:buNone/>
            </a:pPr>
            <a:r>
              <a:rPr lang="en-US" sz="900" b="1" kern="0" spc="18" dirty="0">
                <a:solidFill>
                  <a:srgbClr val="FAB753"/>
                </a:solidFill>
                <a:latin typeface="Calibri" pitchFamily="34" charset="0"/>
                <a:ea typeface="Calibri" pitchFamily="34" charset="-122"/>
                <a:cs typeface="Calibri" pitchFamily="34" charset="-120"/>
              </a:rPr>
              <a:t>Relational decision-making practiced out loud.</a:t>
            </a:r>
            <a:endParaRPr lang="en-US" sz="1690" dirty="0"/>
          </a:p>
        </p:txBody>
      </p:sp>
      <p:sp>
        <p:nvSpPr>
          <p:cNvPr id="3" name="Text 1"/>
          <p:cNvSpPr/>
          <p:nvPr/>
        </p:nvSpPr>
        <p:spPr>
          <a:xfrm>
            <a:off x="400050" y="922734"/>
            <a:ext cx="2667000" cy="2119908"/>
          </a:xfrm>
          <a:prstGeom prst="roundRect">
            <a:avLst>
              <a:gd name="adj" fmla="val 3355"/>
            </a:avLst>
          </a:prstGeom>
          <a:solidFill>
            <a:srgbClr val="EAF4F4"/>
          </a:solidFill>
          <a:ln/>
        </p:spPr>
        <p:txBody>
          <a:bodyPr wrap="square" rtlCol="0" anchor="t"/>
          <a:lstStyle/>
          <a:p>
            <a:pPr marL="0" indent="0">
              <a:buNone/>
            </a:pPr>
            <a:endParaRPr lang="en-US" dirty="0"/>
          </a:p>
        </p:txBody>
      </p:sp>
      <p:sp>
        <p:nvSpPr>
          <p:cNvPr id="4" name="Text 2"/>
          <p:cNvSpPr/>
          <p:nvPr/>
        </p:nvSpPr>
        <p:spPr>
          <a:xfrm>
            <a:off x="400050" y="922734"/>
            <a:ext cx="2667000" cy="28575"/>
          </a:xfrm>
          <a:custGeom>
            <a:avLst/>
            <a:gdLst/>
            <a:ahLst/>
            <a:cxnLst/>
            <a:rect l="l" t="t" r="r" b="b"/>
            <a:pathLst>
              <a:path w="2667000" h="28575">
                <a:moveTo>
                  <a:pt x="71120" y="0"/>
                </a:moveTo>
                <a:lnTo>
                  <a:pt x="48865" y="3572"/>
                </a:lnTo>
                <a:lnTo>
                  <a:pt x="40054" y="7144"/>
                </a:lnTo>
                <a:lnTo>
                  <a:pt x="33579" y="10716"/>
                </a:lnTo>
                <a:lnTo>
                  <a:pt x="28363" y="14288"/>
                </a:lnTo>
                <a:lnTo>
                  <a:pt x="23989" y="17859"/>
                </a:lnTo>
                <a:lnTo>
                  <a:pt x="20237" y="21431"/>
                </a:lnTo>
                <a:lnTo>
                  <a:pt x="16979" y="25003"/>
                </a:lnTo>
                <a:lnTo>
                  <a:pt x="14129" y="28575"/>
                </a:lnTo>
                <a:lnTo>
                  <a:pt x="2652871" y="28575"/>
                </a:lnTo>
                <a:lnTo>
                  <a:pt x="2650021" y="25003"/>
                </a:lnTo>
                <a:lnTo>
                  <a:pt x="2646763" y="21431"/>
                </a:lnTo>
                <a:lnTo>
                  <a:pt x="2643011" y="17859"/>
                </a:lnTo>
                <a:lnTo>
                  <a:pt x="2638637" y="14288"/>
                </a:lnTo>
                <a:lnTo>
                  <a:pt x="2633421" y="10716"/>
                </a:lnTo>
                <a:lnTo>
                  <a:pt x="2626946" y="7144"/>
                </a:lnTo>
                <a:lnTo>
                  <a:pt x="2618135" y="3572"/>
                </a:lnTo>
                <a:lnTo>
                  <a:pt x="2595880" y="0"/>
                </a:lnTo>
                <a:close/>
              </a:path>
            </a:pathLst>
          </a:custGeom>
          <a:solidFill>
            <a:srgbClr val="FAB753"/>
          </a:solidFill>
          <a:ln/>
        </p:spPr>
        <p:txBody>
          <a:bodyPr wrap="none" rtlCol="0" anchor="t"/>
          <a:lstStyle/>
          <a:p>
            <a:pPr marL="0" indent="0">
              <a:buNone/>
            </a:pPr>
            <a:endParaRPr lang="en-US" dirty="0"/>
          </a:p>
        </p:txBody>
      </p:sp>
      <p:sp>
        <p:nvSpPr>
          <p:cNvPr id="5" name="Text 3"/>
          <p:cNvSpPr/>
          <p:nvPr/>
        </p:nvSpPr>
        <p:spPr>
          <a:xfrm>
            <a:off x="2772221" y="1065609"/>
            <a:ext cx="178356" cy="299740"/>
          </a:xfrm>
          <a:prstGeom prst="rect">
            <a:avLst/>
          </a:prstGeom>
          <a:noFill/>
          <a:ln/>
        </p:spPr>
        <p:txBody>
          <a:bodyPr wrap="none" lIns="0" tIns="0" rIns="0" bIns="0" rtlCol="0" anchor="t"/>
          <a:lstStyle/>
          <a:p>
            <a:pPr marL="0" indent="0" algn="l">
              <a:lnSpc>
                <a:spcPts val="2360"/>
              </a:lnSpc>
              <a:buNone/>
            </a:pPr>
            <a:r>
              <a:rPr lang="en-US" sz="2360" b="1" dirty="0">
                <a:solidFill>
                  <a:srgbClr val="1B5E72">
                    <a:alpha val="8000"/>
                  </a:srgbClr>
                </a:solidFill>
                <a:latin typeface="Calibri Light" pitchFamily="34" charset="0"/>
                <a:ea typeface="Calibri Light" pitchFamily="34" charset="-122"/>
                <a:cs typeface="Calibri Light" pitchFamily="34" charset="-120"/>
              </a:rPr>
              <a:t>1</a:t>
            </a:r>
            <a:endParaRPr lang="en-US" sz="2360" dirty="0"/>
          </a:p>
        </p:txBody>
      </p:sp>
      <p:sp>
        <p:nvSpPr>
          <p:cNvPr id="6" name="Text 4"/>
          <p:cNvSpPr/>
          <p:nvPr/>
        </p:nvSpPr>
        <p:spPr>
          <a:xfrm>
            <a:off x="585341" y="1136600"/>
            <a:ext cx="356741" cy="356741"/>
          </a:xfrm>
          <a:prstGeom prst="ellipse">
            <a:avLst/>
          </a:prstGeom>
          <a:solidFill>
            <a:srgbClr val="1B5E72"/>
          </a:solidFill>
          <a:ln/>
        </p:spPr>
        <p:txBody>
          <a:bodyPr wrap="square" rtlCol="0" anchor="t"/>
          <a:lstStyle/>
          <a:p>
            <a:pPr marL="0" indent="0">
              <a:buNone/>
            </a:pPr>
            <a:endParaRPr lang="en-US"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4134" y="1245394"/>
            <a:ext cx="139005" cy="139005"/>
          </a:xfrm>
          <a:prstGeom prst="rect">
            <a:avLst/>
          </a:prstGeom>
        </p:spPr>
      </p:pic>
      <p:sp>
        <p:nvSpPr>
          <p:cNvPr id="8" name="Text 5"/>
          <p:cNvSpPr/>
          <p:nvPr/>
        </p:nvSpPr>
        <p:spPr>
          <a:xfrm>
            <a:off x="1042392" y="1169938"/>
            <a:ext cx="1323112" cy="118021"/>
          </a:xfrm>
          <a:prstGeom prst="rect">
            <a:avLst/>
          </a:prstGeom>
          <a:noFill/>
          <a:ln/>
        </p:spPr>
        <p:txBody>
          <a:bodyPr wrap="none" lIns="0" tIns="0" rIns="0" bIns="0" rtlCol="0" anchor="t"/>
          <a:lstStyle/>
          <a:p>
            <a:pPr marL="0" indent="0" algn="l">
              <a:lnSpc>
                <a:spcPts val="930"/>
              </a:lnSpc>
              <a:buNone/>
            </a:pPr>
            <a:r>
              <a:rPr lang="en-US" sz="620" b="1" kern="0" spc="74" dirty="0">
                <a:solidFill>
                  <a:srgbClr val="FAB753"/>
                </a:solidFill>
                <a:latin typeface="Calibri" pitchFamily="34" charset="0"/>
                <a:ea typeface="Calibri" pitchFamily="34" charset="-122"/>
                <a:cs typeface="Calibri" pitchFamily="34" charset="-120"/>
              </a:rPr>
              <a:t>SCHOOLS</a:t>
            </a:r>
            <a:endParaRPr lang="en-US" sz="620" dirty="0"/>
          </a:p>
        </p:txBody>
      </p:sp>
      <p:sp>
        <p:nvSpPr>
          <p:cNvPr id="9" name="Text 6"/>
          <p:cNvSpPr/>
          <p:nvPr/>
        </p:nvSpPr>
        <p:spPr>
          <a:xfrm>
            <a:off x="1042392" y="1287959"/>
            <a:ext cx="1323112" cy="172045"/>
          </a:xfrm>
          <a:prstGeom prst="rect">
            <a:avLst/>
          </a:prstGeom>
          <a:noFill/>
          <a:ln/>
        </p:spPr>
        <p:txBody>
          <a:bodyPr wrap="none" lIns="0" tIns="0" rIns="0" bIns="0" rtlCol="0" anchor="ctr"/>
          <a:lstStyle/>
          <a:p>
            <a:pPr marL="0" indent="0" algn="l">
              <a:lnSpc>
                <a:spcPts val="1356"/>
              </a:lnSpc>
              <a:buNone/>
            </a:pPr>
            <a:r>
              <a:rPr lang="en-US" sz="1130" b="1" dirty="0">
                <a:solidFill>
                  <a:srgbClr val="1B5E72"/>
                </a:solidFill>
                <a:latin typeface="Calibri Light" pitchFamily="34" charset="0"/>
                <a:ea typeface="Calibri Light" pitchFamily="34" charset="-122"/>
                <a:cs typeface="Calibri Light" pitchFamily="34" charset="-120"/>
              </a:rPr>
              <a:t>Schools Scenario</a:t>
            </a:r>
            <a:endParaRPr lang="en-US" sz="1130" dirty="0"/>
          </a:p>
        </p:txBody>
      </p:sp>
      <p:sp>
        <p:nvSpPr>
          <p:cNvPr id="10" name="Text 7"/>
          <p:cNvSpPr/>
          <p:nvPr/>
        </p:nvSpPr>
        <p:spPr>
          <a:xfrm>
            <a:off x="585341" y="1593652"/>
            <a:ext cx="257770"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11" name="Text 8"/>
          <p:cNvSpPr/>
          <p:nvPr/>
        </p:nvSpPr>
        <p:spPr>
          <a:xfrm>
            <a:off x="585341" y="1715542"/>
            <a:ext cx="2342346" cy="896206"/>
          </a:xfrm>
          <a:prstGeom prst="rect">
            <a:avLst/>
          </a:prstGeom>
          <a:noFill/>
          <a:ln/>
        </p:spPr>
        <p:txBody>
          <a:bodyPr wrap="square" lIns="0" tIns="0" rIns="0" bIns="0" rtlCol="0" anchor="ctr"/>
          <a:lstStyle/>
          <a:p>
            <a:pPr marL="0" indent="0" algn="l">
              <a:lnSpc>
                <a:spcPts val="1344"/>
              </a:lnSpc>
              <a:buNone/>
            </a:pPr>
            <a:r>
              <a:rPr lang="en-US" sz="840" dirty="0">
                <a:solidFill>
                  <a:srgbClr val="3A3A3A"/>
                </a:solidFill>
                <a:latin typeface="Calibri" pitchFamily="34" charset="0"/>
                <a:ea typeface="Calibri" pitchFamily="34" charset="-122"/>
                <a:cs typeface="Calibri" pitchFamily="34" charset="-120"/>
              </a:rPr>
              <a:t>A teacher approaches you in the hallway upset that a student who sees you is acting out in class. She wants to know what is going on. How do you respond in a way that </a:t>
            </a:r>
            <a:r>
              <a:rPr lang="en-US" sz="840" b="1" dirty="0">
                <a:solidFill>
                  <a:srgbClr val="3A3A3A"/>
                </a:solidFill>
                <a:latin typeface="Calibri" pitchFamily="34" charset="0"/>
                <a:ea typeface="Calibri" pitchFamily="34" charset="-122"/>
                <a:cs typeface="Calibri" pitchFamily="34" charset="-120"/>
              </a:rPr>
              <a:t>builds the relationship</a:t>
            </a:r>
            <a:r>
              <a:rPr lang="en-US" sz="840" dirty="0">
                <a:solidFill>
                  <a:srgbClr val="3A3A3A"/>
                </a:solidFill>
                <a:latin typeface="Calibri" pitchFamily="34" charset="0"/>
                <a:ea typeface="Calibri" pitchFamily="34" charset="-122"/>
                <a:cs typeface="Calibri" pitchFamily="34" charset="-120"/>
              </a:rPr>
              <a:t> and </a:t>
            </a:r>
            <a:r>
              <a:rPr lang="en-US" sz="840" b="1" dirty="0">
                <a:solidFill>
                  <a:srgbClr val="3A3A3A"/>
                </a:solidFill>
                <a:latin typeface="Calibri" pitchFamily="34" charset="0"/>
                <a:ea typeface="Calibri" pitchFamily="34" charset="-122"/>
                <a:cs typeface="Calibri" pitchFamily="34" charset="-120"/>
              </a:rPr>
              <a:t>protects confidentiality?</a:t>
            </a:r>
            <a:endParaRPr lang="en-US" sz="840" dirty="0"/>
          </a:p>
        </p:txBody>
      </p:sp>
      <p:sp>
        <p:nvSpPr>
          <p:cNvPr id="12" name="Text 9"/>
          <p:cNvSpPr/>
          <p:nvPr/>
        </p:nvSpPr>
        <p:spPr>
          <a:xfrm>
            <a:off x="585341" y="2669381"/>
            <a:ext cx="2342346" cy="215801"/>
          </a:xfrm>
          <a:prstGeom prst="roundRect">
            <a:avLst>
              <a:gd name="adj" fmla="val 66501"/>
            </a:avLst>
          </a:prstGeom>
          <a:solidFill>
            <a:srgbClr val="1B5E72">
              <a:alpha val="10000"/>
            </a:srgbClr>
          </a:solidFill>
          <a:ln/>
        </p:spPr>
        <p:txBody>
          <a:bodyPr wrap="none" lIns="199043" tIns="43180" rIns="86360" bIns="43180" rtlCol="0" anchor="ctr"/>
          <a:lstStyle/>
          <a:p>
            <a:pPr marL="0" indent="0" algn="l">
              <a:buNone/>
            </a:pPr>
            <a:r>
              <a:rPr lang="en-US" sz="680" b="1" kern="0" spc="27" dirty="0">
                <a:solidFill>
                  <a:srgbClr val="1B5E72"/>
                </a:solidFill>
                <a:latin typeface="Calibri" pitchFamily="34" charset="0"/>
                <a:ea typeface="Calibri" pitchFamily="34" charset="-122"/>
                <a:cs typeface="Calibri" pitchFamily="34" charset="-120"/>
              </a:rPr>
              <a:t>Discuss with your group</a:t>
            </a:r>
            <a:endParaRPr lang="en-US" sz="680" dirty="0"/>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0119" y="2710913"/>
            <a:ext cx="132588" cy="132588"/>
          </a:xfrm>
          <a:prstGeom prst="rect">
            <a:avLst/>
          </a:prstGeom>
        </p:spPr>
      </p:pic>
      <p:sp>
        <p:nvSpPr>
          <p:cNvPr id="14" name="Text 10"/>
          <p:cNvSpPr/>
          <p:nvPr/>
        </p:nvSpPr>
        <p:spPr>
          <a:xfrm>
            <a:off x="3238500" y="922734"/>
            <a:ext cx="2667000" cy="2119908"/>
          </a:xfrm>
          <a:prstGeom prst="roundRect">
            <a:avLst>
              <a:gd name="adj" fmla="val 3355"/>
            </a:avLst>
          </a:prstGeom>
          <a:solidFill>
            <a:srgbClr val="EAF4F4"/>
          </a:solidFill>
          <a:ln/>
        </p:spPr>
        <p:txBody>
          <a:bodyPr wrap="square" rtlCol="0" anchor="t"/>
          <a:lstStyle/>
          <a:p>
            <a:pPr marL="0" indent="0">
              <a:buNone/>
            </a:pPr>
            <a:endParaRPr lang="en-US" dirty="0"/>
          </a:p>
        </p:txBody>
      </p:sp>
      <p:sp>
        <p:nvSpPr>
          <p:cNvPr id="15" name="Text 11"/>
          <p:cNvSpPr/>
          <p:nvPr/>
        </p:nvSpPr>
        <p:spPr>
          <a:xfrm>
            <a:off x="3238500" y="922734"/>
            <a:ext cx="2667000" cy="28575"/>
          </a:xfrm>
          <a:custGeom>
            <a:avLst/>
            <a:gdLst/>
            <a:ahLst/>
            <a:cxnLst/>
            <a:rect l="l" t="t" r="r" b="b"/>
            <a:pathLst>
              <a:path w="2667000" h="28575">
                <a:moveTo>
                  <a:pt x="71120" y="0"/>
                </a:moveTo>
                <a:lnTo>
                  <a:pt x="48865" y="3572"/>
                </a:lnTo>
                <a:lnTo>
                  <a:pt x="40054" y="7144"/>
                </a:lnTo>
                <a:lnTo>
                  <a:pt x="33579" y="10716"/>
                </a:lnTo>
                <a:lnTo>
                  <a:pt x="28363" y="14288"/>
                </a:lnTo>
                <a:lnTo>
                  <a:pt x="23989" y="17859"/>
                </a:lnTo>
                <a:lnTo>
                  <a:pt x="20237" y="21431"/>
                </a:lnTo>
                <a:lnTo>
                  <a:pt x="16979" y="25003"/>
                </a:lnTo>
                <a:lnTo>
                  <a:pt x="14129" y="28575"/>
                </a:lnTo>
                <a:lnTo>
                  <a:pt x="2652871" y="28575"/>
                </a:lnTo>
                <a:lnTo>
                  <a:pt x="2650021" y="25003"/>
                </a:lnTo>
                <a:lnTo>
                  <a:pt x="2646763" y="21431"/>
                </a:lnTo>
                <a:lnTo>
                  <a:pt x="2643011" y="17859"/>
                </a:lnTo>
                <a:lnTo>
                  <a:pt x="2638637" y="14288"/>
                </a:lnTo>
                <a:lnTo>
                  <a:pt x="2633421" y="10716"/>
                </a:lnTo>
                <a:lnTo>
                  <a:pt x="2626946" y="7144"/>
                </a:lnTo>
                <a:lnTo>
                  <a:pt x="2618135" y="3572"/>
                </a:lnTo>
                <a:lnTo>
                  <a:pt x="2595880" y="0"/>
                </a:lnTo>
                <a:close/>
              </a:path>
            </a:pathLst>
          </a:custGeom>
          <a:solidFill>
            <a:srgbClr val="FAB753"/>
          </a:solidFill>
          <a:ln/>
        </p:spPr>
        <p:txBody>
          <a:bodyPr wrap="none" rtlCol="0" anchor="t"/>
          <a:lstStyle/>
          <a:p>
            <a:pPr marL="0" indent="0">
              <a:buNone/>
            </a:pPr>
            <a:endParaRPr lang="en-US" dirty="0"/>
          </a:p>
        </p:txBody>
      </p:sp>
      <p:sp>
        <p:nvSpPr>
          <p:cNvPr id="16" name="Text 12"/>
          <p:cNvSpPr/>
          <p:nvPr/>
        </p:nvSpPr>
        <p:spPr>
          <a:xfrm>
            <a:off x="5610671" y="1065609"/>
            <a:ext cx="178356" cy="299740"/>
          </a:xfrm>
          <a:prstGeom prst="rect">
            <a:avLst/>
          </a:prstGeom>
          <a:noFill/>
          <a:ln/>
        </p:spPr>
        <p:txBody>
          <a:bodyPr wrap="none" lIns="0" tIns="0" rIns="0" bIns="0" rtlCol="0" anchor="t"/>
          <a:lstStyle/>
          <a:p>
            <a:pPr marL="0" indent="0" algn="l">
              <a:lnSpc>
                <a:spcPts val="2360"/>
              </a:lnSpc>
              <a:buNone/>
            </a:pPr>
            <a:r>
              <a:rPr lang="en-US" sz="2360" b="1" dirty="0">
                <a:solidFill>
                  <a:srgbClr val="1B5E72">
                    <a:alpha val="8000"/>
                  </a:srgbClr>
                </a:solidFill>
                <a:latin typeface="Calibri Light" pitchFamily="34" charset="0"/>
                <a:ea typeface="Calibri Light" pitchFamily="34" charset="-122"/>
                <a:cs typeface="Calibri Light" pitchFamily="34" charset="-120"/>
              </a:rPr>
              <a:t>2</a:t>
            </a:r>
            <a:endParaRPr lang="en-US" sz="2360" dirty="0"/>
          </a:p>
        </p:txBody>
      </p:sp>
      <p:sp>
        <p:nvSpPr>
          <p:cNvPr id="17" name="Text 13"/>
          <p:cNvSpPr/>
          <p:nvPr/>
        </p:nvSpPr>
        <p:spPr>
          <a:xfrm>
            <a:off x="3423791" y="1136600"/>
            <a:ext cx="356741" cy="356741"/>
          </a:xfrm>
          <a:prstGeom prst="ellipse">
            <a:avLst/>
          </a:prstGeom>
          <a:solidFill>
            <a:srgbClr val="1B5E72"/>
          </a:solidFill>
          <a:ln/>
        </p:spPr>
        <p:txBody>
          <a:bodyPr wrap="square" rtlCol="0" anchor="t"/>
          <a:lstStyle/>
          <a:p>
            <a:pPr marL="0" indent="0">
              <a:buNone/>
            </a:pPr>
            <a:endParaRPr lang="en-US" dirty="0"/>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32584" y="1245394"/>
            <a:ext cx="139005" cy="139005"/>
          </a:xfrm>
          <a:prstGeom prst="rect">
            <a:avLst/>
          </a:prstGeom>
        </p:spPr>
      </p:pic>
      <p:sp>
        <p:nvSpPr>
          <p:cNvPr id="19" name="Text 14"/>
          <p:cNvSpPr/>
          <p:nvPr/>
        </p:nvSpPr>
        <p:spPr>
          <a:xfrm>
            <a:off x="3880842" y="1169938"/>
            <a:ext cx="1340793" cy="118021"/>
          </a:xfrm>
          <a:prstGeom prst="rect">
            <a:avLst/>
          </a:prstGeom>
          <a:noFill/>
          <a:ln/>
        </p:spPr>
        <p:txBody>
          <a:bodyPr wrap="none" lIns="0" tIns="0" rIns="0" bIns="0" rtlCol="0" anchor="t"/>
          <a:lstStyle/>
          <a:p>
            <a:pPr marL="0" indent="0" algn="l">
              <a:lnSpc>
                <a:spcPts val="930"/>
              </a:lnSpc>
              <a:buNone/>
            </a:pPr>
            <a:r>
              <a:rPr lang="en-US" sz="620" b="1" kern="0" spc="74" dirty="0">
                <a:solidFill>
                  <a:srgbClr val="FAB753"/>
                </a:solidFill>
                <a:latin typeface="Calibri" pitchFamily="34" charset="0"/>
                <a:ea typeface="Calibri" pitchFamily="34" charset="-122"/>
                <a:cs typeface="Calibri" pitchFamily="34" charset="-120"/>
              </a:rPr>
              <a:t>FAMILIES</a:t>
            </a:r>
            <a:endParaRPr lang="en-US" sz="620" dirty="0"/>
          </a:p>
        </p:txBody>
      </p:sp>
      <p:sp>
        <p:nvSpPr>
          <p:cNvPr id="20" name="Text 15"/>
          <p:cNvSpPr/>
          <p:nvPr/>
        </p:nvSpPr>
        <p:spPr>
          <a:xfrm>
            <a:off x="3880842" y="1287959"/>
            <a:ext cx="1340793" cy="172045"/>
          </a:xfrm>
          <a:prstGeom prst="rect">
            <a:avLst/>
          </a:prstGeom>
          <a:noFill/>
          <a:ln/>
        </p:spPr>
        <p:txBody>
          <a:bodyPr wrap="none" lIns="0" tIns="0" rIns="0" bIns="0" rtlCol="0" anchor="ctr"/>
          <a:lstStyle/>
          <a:p>
            <a:pPr marL="0" indent="0" algn="l">
              <a:lnSpc>
                <a:spcPts val="1356"/>
              </a:lnSpc>
              <a:buNone/>
            </a:pPr>
            <a:r>
              <a:rPr lang="en-US" sz="1130" b="1" dirty="0">
                <a:solidFill>
                  <a:srgbClr val="1B5E72"/>
                </a:solidFill>
                <a:latin typeface="Calibri Light" pitchFamily="34" charset="0"/>
                <a:ea typeface="Calibri Light" pitchFamily="34" charset="-122"/>
                <a:cs typeface="Calibri Light" pitchFamily="34" charset="-120"/>
              </a:rPr>
              <a:t>Families Scenario</a:t>
            </a:r>
            <a:endParaRPr lang="en-US" sz="1130" dirty="0"/>
          </a:p>
        </p:txBody>
      </p:sp>
      <p:sp>
        <p:nvSpPr>
          <p:cNvPr id="21" name="Text 16"/>
          <p:cNvSpPr/>
          <p:nvPr/>
        </p:nvSpPr>
        <p:spPr>
          <a:xfrm>
            <a:off x="3423791" y="1593652"/>
            <a:ext cx="257770"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22" name="Text 17"/>
          <p:cNvSpPr/>
          <p:nvPr/>
        </p:nvSpPr>
        <p:spPr>
          <a:xfrm>
            <a:off x="3423791" y="1715542"/>
            <a:ext cx="2342346" cy="716965"/>
          </a:xfrm>
          <a:prstGeom prst="rect">
            <a:avLst/>
          </a:prstGeom>
          <a:noFill/>
          <a:ln/>
        </p:spPr>
        <p:txBody>
          <a:bodyPr wrap="square" lIns="0" tIns="0" rIns="0" bIns="0" rtlCol="0" anchor="ctr"/>
          <a:lstStyle/>
          <a:p>
            <a:pPr marL="0" indent="0" algn="l">
              <a:lnSpc>
                <a:spcPts val="1344"/>
              </a:lnSpc>
              <a:buNone/>
            </a:pPr>
            <a:r>
              <a:rPr lang="en-US" sz="840" dirty="0">
                <a:solidFill>
                  <a:srgbClr val="3A3A3A"/>
                </a:solidFill>
                <a:latin typeface="Calibri" pitchFamily="34" charset="0"/>
                <a:ea typeface="Calibri" pitchFamily="34" charset="-122"/>
                <a:cs typeface="Calibri" pitchFamily="34" charset="-120"/>
              </a:rPr>
              <a:t>A caregiver stops returning your calls after three sessions. You know the student needs to continue. </a:t>
            </a:r>
            <a:r>
              <a:rPr lang="en-US" sz="840" b="1" dirty="0">
                <a:solidFill>
                  <a:srgbClr val="3A3A3A"/>
                </a:solidFill>
                <a:latin typeface="Calibri" pitchFamily="34" charset="0"/>
                <a:ea typeface="Calibri" pitchFamily="34" charset="-122"/>
                <a:cs typeface="Calibri" pitchFamily="34" charset="-120"/>
              </a:rPr>
              <a:t>What do you do</a:t>
            </a:r>
            <a:r>
              <a:rPr lang="en-US" sz="840" dirty="0">
                <a:solidFill>
                  <a:srgbClr val="3A3A3A"/>
                </a:solidFill>
                <a:latin typeface="Calibri" pitchFamily="34" charset="0"/>
                <a:ea typeface="Calibri" pitchFamily="34" charset="-122"/>
                <a:cs typeface="Calibri" pitchFamily="34" charset="-120"/>
              </a:rPr>
              <a:t> — and </a:t>
            </a:r>
            <a:r>
              <a:rPr lang="en-US" sz="840" b="1" dirty="0">
                <a:solidFill>
                  <a:srgbClr val="3A3A3A"/>
                </a:solidFill>
                <a:latin typeface="Calibri" pitchFamily="34" charset="0"/>
                <a:ea typeface="Calibri" pitchFamily="34" charset="-122"/>
                <a:cs typeface="Calibri" pitchFamily="34" charset="-120"/>
              </a:rPr>
              <a:t>what do you not do?</a:t>
            </a:r>
            <a:endParaRPr lang="en-US" sz="840" dirty="0"/>
          </a:p>
        </p:txBody>
      </p:sp>
      <p:sp>
        <p:nvSpPr>
          <p:cNvPr id="23" name="Text 18"/>
          <p:cNvSpPr/>
          <p:nvPr/>
        </p:nvSpPr>
        <p:spPr>
          <a:xfrm>
            <a:off x="3423791" y="2669381"/>
            <a:ext cx="2342346" cy="215801"/>
          </a:xfrm>
          <a:prstGeom prst="roundRect">
            <a:avLst>
              <a:gd name="adj" fmla="val 66501"/>
            </a:avLst>
          </a:prstGeom>
          <a:solidFill>
            <a:srgbClr val="1B5E72">
              <a:alpha val="10000"/>
            </a:srgbClr>
          </a:solidFill>
          <a:ln/>
        </p:spPr>
        <p:txBody>
          <a:bodyPr wrap="none" lIns="199043" tIns="43180" rIns="86360" bIns="43180" rtlCol="0" anchor="ctr"/>
          <a:lstStyle/>
          <a:p>
            <a:pPr marL="0" indent="0" algn="l">
              <a:buNone/>
            </a:pPr>
            <a:r>
              <a:rPr lang="en-US" sz="680" b="1" kern="0" spc="27" dirty="0">
                <a:solidFill>
                  <a:srgbClr val="1B5E72"/>
                </a:solidFill>
                <a:latin typeface="Calibri" pitchFamily="34" charset="0"/>
                <a:ea typeface="Calibri" pitchFamily="34" charset="-122"/>
                <a:cs typeface="Calibri" pitchFamily="34" charset="-120"/>
              </a:rPr>
              <a:t>Discuss with your group</a:t>
            </a:r>
            <a:endParaRPr lang="en-US" sz="680" dirty="0"/>
          </a:p>
        </p:txBody>
      </p:sp>
      <p:pic>
        <p:nvPicPr>
          <p:cNvPr id="2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78569" y="2710913"/>
            <a:ext cx="132588" cy="132588"/>
          </a:xfrm>
          <a:prstGeom prst="rect">
            <a:avLst/>
          </a:prstGeom>
        </p:spPr>
      </p:pic>
      <p:sp>
        <p:nvSpPr>
          <p:cNvPr id="25" name="Text 19"/>
          <p:cNvSpPr/>
          <p:nvPr/>
        </p:nvSpPr>
        <p:spPr>
          <a:xfrm>
            <a:off x="6076950" y="922734"/>
            <a:ext cx="2667000" cy="2119908"/>
          </a:xfrm>
          <a:prstGeom prst="roundRect">
            <a:avLst>
              <a:gd name="adj" fmla="val 3355"/>
            </a:avLst>
          </a:prstGeom>
          <a:solidFill>
            <a:srgbClr val="EAF4F4"/>
          </a:solidFill>
          <a:ln/>
        </p:spPr>
        <p:txBody>
          <a:bodyPr wrap="square" rtlCol="0" anchor="t"/>
          <a:lstStyle/>
          <a:p>
            <a:pPr marL="0" indent="0">
              <a:buNone/>
            </a:pPr>
            <a:endParaRPr lang="en-US" dirty="0"/>
          </a:p>
        </p:txBody>
      </p:sp>
      <p:sp>
        <p:nvSpPr>
          <p:cNvPr id="26" name="Text 20"/>
          <p:cNvSpPr/>
          <p:nvPr/>
        </p:nvSpPr>
        <p:spPr>
          <a:xfrm>
            <a:off x="6076950" y="922734"/>
            <a:ext cx="2667000" cy="28575"/>
          </a:xfrm>
          <a:custGeom>
            <a:avLst/>
            <a:gdLst/>
            <a:ahLst/>
            <a:cxnLst/>
            <a:rect l="l" t="t" r="r" b="b"/>
            <a:pathLst>
              <a:path w="2667000" h="28575">
                <a:moveTo>
                  <a:pt x="71120" y="0"/>
                </a:moveTo>
                <a:lnTo>
                  <a:pt x="48865" y="3572"/>
                </a:lnTo>
                <a:lnTo>
                  <a:pt x="40054" y="7144"/>
                </a:lnTo>
                <a:lnTo>
                  <a:pt x="33579" y="10716"/>
                </a:lnTo>
                <a:lnTo>
                  <a:pt x="28363" y="14288"/>
                </a:lnTo>
                <a:lnTo>
                  <a:pt x="23989" y="17859"/>
                </a:lnTo>
                <a:lnTo>
                  <a:pt x="20237" y="21431"/>
                </a:lnTo>
                <a:lnTo>
                  <a:pt x="16979" y="25003"/>
                </a:lnTo>
                <a:lnTo>
                  <a:pt x="14129" y="28575"/>
                </a:lnTo>
                <a:lnTo>
                  <a:pt x="2652871" y="28575"/>
                </a:lnTo>
                <a:lnTo>
                  <a:pt x="2650021" y="25003"/>
                </a:lnTo>
                <a:lnTo>
                  <a:pt x="2646763" y="21431"/>
                </a:lnTo>
                <a:lnTo>
                  <a:pt x="2643011" y="17859"/>
                </a:lnTo>
                <a:lnTo>
                  <a:pt x="2638637" y="14288"/>
                </a:lnTo>
                <a:lnTo>
                  <a:pt x="2633421" y="10716"/>
                </a:lnTo>
                <a:lnTo>
                  <a:pt x="2626946" y="7144"/>
                </a:lnTo>
                <a:lnTo>
                  <a:pt x="2618135" y="3572"/>
                </a:lnTo>
                <a:lnTo>
                  <a:pt x="2595880" y="0"/>
                </a:lnTo>
                <a:close/>
              </a:path>
            </a:pathLst>
          </a:custGeom>
          <a:solidFill>
            <a:srgbClr val="FAB753"/>
          </a:solidFill>
          <a:ln/>
        </p:spPr>
        <p:txBody>
          <a:bodyPr wrap="none" rtlCol="0" anchor="t"/>
          <a:lstStyle/>
          <a:p>
            <a:pPr marL="0" indent="0">
              <a:buNone/>
            </a:pPr>
            <a:endParaRPr lang="en-US" dirty="0"/>
          </a:p>
        </p:txBody>
      </p:sp>
      <p:sp>
        <p:nvSpPr>
          <p:cNvPr id="27" name="Text 21"/>
          <p:cNvSpPr/>
          <p:nvPr/>
        </p:nvSpPr>
        <p:spPr>
          <a:xfrm>
            <a:off x="8449121" y="1065609"/>
            <a:ext cx="178356" cy="299740"/>
          </a:xfrm>
          <a:prstGeom prst="rect">
            <a:avLst/>
          </a:prstGeom>
          <a:noFill/>
          <a:ln/>
        </p:spPr>
        <p:txBody>
          <a:bodyPr wrap="none" lIns="0" tIns="0" rIns="0" bIns="0" rtlCol="0" anchor="t"/>
          <a:lstStyle/>
          <a:p>
            <a:pPr marL="0" indent="0" algn="l">
              <a:lnSpc>
                <a:spcPts val="2360"/>
              </a:lnSpc>
              <a:buNone/>
            </a:pPr>
            <a:r>
              <a:rPr lang="en-US" sz="2360" b="1" dirty="0">
                <a:solidFill>
                  <a:srgbClr val="1B5E72">
                    <a:alpha val="8000"/>
                  </a:srgbClr>
                </a:solidFill>
                <a:latin typeface="Calibri Light" pitchFamily="34" charset="0"/>
                <a:ea typeface="Calibri Light" pitchFamily="34" charset="-122"/>
                <a:cs typeface="Calibri Light" pitchFamily="34" charset="-120"/>
              </a:rPr>
              <a:t>3</a:t>
            </a:r>
            <a:endParaRPr lang="en-US" sz="2360" dirty="0"/>
          </a:p>
        </p:txBody>
      </p:sp>
      <p:sp>
        <p:nvSpPr>
          <p:cNvPr id="28" name="Text 22"/>
          <p:cNvSpPr/>
          <p:nvPr/>
        </p:nvSpPr>
        <p:spPr>
          <a:xfrm>
            <a:off x="6262241" y="1136600"/>
            <a:ext cx="356741" cy="356741"/>
          </a:xfrm>
          <a:prstGeom prst="ellipse">
            <a:avLst/>
          </a:prstGeom>
          <a:solidFill>
            <a:srgbClr val="1B5E72"/>
          </a:solidFill>
          <a:ln/>
        </p:spPr>
        <p:txBody>
          <a:bodyPr wrap="square" rtlCol="0" anchor="t"/>
          <a:lstStyle/>
          <a:p>
            <a:pPr marL="0" indent="0">
              <a:buNone/>
            </a:pPr>
            <a:endParaRPr lang="en-US" dirty="0"/>
          </a:p>
        </p:txBody>
      </p:sp>
      <p:pic>
        <p:nvPicPr>
          <p:cNvPr id="29"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371034" y="1245394"/>
            <a:ext cx="139005" cy="139005"/>
          </a:xfrm>
          <a:prstGeom prst="rect">
            <a:avLst/>
          </a:prstGeom>
        </p:spPr>
      </p:pic>
      <p:sp>
        <p:nvSpPr>
          <p:cNvPr id="30" name="Text 23"/>
          <p:cNvSpPr/>
          <p:nvPr/>
        </p:nvSpPr>
        <p:spPr>
          <a:xfrm>
            <a:off x="6719292" y="1169938"/>
            <a:ext cx="1109960" cy="118021"/>
          </a:xfrm>
          <a:prstGeom prst="rect">
            <a:avLst/>
          </a:prstGeom>
          <a:noFill/>
          <a:ln/>
        </p:spPr>
        <p:txBody>
          <a:bodyPr wrap="none" lIns="0" tIns="0" rIns="0" bIns="0" rtlCol="0" anchor="t"/>
          <a:lstStyle/>
          <a:p>
            <a:pPr marL="0" indent="0" algn="l">
              <a:lnSpc>
                <a:spcPts val="930"/>
              </a:lnSpc>
              <a:buNone/>
            </a:pPr>
            <a:r>
              <a:rPr lang="en-US" sz="620" b="1" kern="0" spc="74" dirty="0">
                <a:solidFill>
                  <a:srgbClr val="FAB753"/>
                </a:solidFill>
                <a:latin typeface="Calibri" pitchFamily="34" charset="0"/>
                <a:ea typeface="Calibri" pitchFamily="34" charset="-122"/>
                <a:cs typeface="Calibri" pitchFamily="34" charset="-120"/>
              </a:rPr>
              <a:t>TEAM</a:t>
            </a:r>
            <a:endParaRPr lang="en-US" sz="620" dirty="0"/>
          </a:p>
        </p:txBody>
      </p:sp>
      <p:sp>
        <p:nvSpPr>
          <p:cNvPr id="31" name="Text 24"/>
          <p:cNvSpPr/>
          <p:nvPr/>
        </p:nvSpPr>
        <p:spPr>
          <a:xfrm>
            <a:off x="6719292" y="1287959"/>
            <a:ext cx="1109960" cy="172045"/>
          </a:xfrm>
          <a:prstGeom prst="rect">
            <a:avLst/>
          </a:prstGeom>
          <a:noFill/>
          <a:ln/>
        </p:spPr>
        <p:txBody>
          <a:bodyPr wrap="none" lIns="0" tIns="0" rIns="0" bIns="0" rtlCol="0" anchor="ctr"/>
          <a:lstStyle/>
          <a:p>
            <a:pPr marL="0" indent="0" algn="l">
              <a:lnSpc>
                <a:spcPts val="1356"/>
              </a:lnSpc>
              <a:buNone/>
            </a:pPr>
            <a:r>
              <a:rPr lang="en-US" sz="1130" b="1" dirty="0">
                <a:solidFill>
                  <a:srgbClr val="1B5E72"/>
                </a:solidFill>
                <a:latin typeface="Calibri Light" pitchFamily="34" charset="0"/>
                <a:ea typeface="Calibri Light" pitchFamily="34" charset="-122"/>
                <a:cs typeface="Calibri Light" pitchFamily="34" charset="-120"/>
              </a:rPr>
              <a:t>Team Scenario</a:t>
            </a:r>
            <a:endParaRPr lang="en-US" sz="1130" dirty="0"/>
          </a:p>
        </p:txBody>
      </p:sp>
      <p:sp>
        <p:nvSpPr>
          <p:cNvPr id="32" name="Text 25"/>
          <p:cNvSpPr/>
          <p:nvPr/>
        </p:nvSpPr>
        <p:spPr>
          <a:xfrm>
            <a:off x="6262241" y="1593652"/>
            <a:ext cx="257770"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33" name="Text 26"/>
          <p:cNvSpPr/>
          <p:nvPr/>
        </p:nvSpPr>
        <p:spPr>
          <a:xfrm>
            <a:off x="6262241" y="1715542"/>
            <a:ext cx="2342346" cy="896206"/>
          </a:xfrm>
          <a:prstGeom prst="rect">
            <a:avLst/>
          </a:prstGeom>
          <a:noFill/>
          <a:ln/>
        </p:spPr>
        <p:txBody>
          <a:bodyPr wrap="square" lIns="0" tIns="0" rIns="0" bIns="0" rtlCol="0" anchor="ctr"/>
          <a:lstStyle/>
          <a:p>
            <a:pPr marL="0" indent="0" algn="l">
              <a:lnSpc>
                <a:spcPts val="1344"/>
              </a:lnSpc>
              <a:buNone/>
            </a:pPr>
            <a:r>
              <a:rPr lang="en-US" sz="840" dirty="0">
                <a:solidFill>
                  <a:srgbClr val="3A3A3A"/>
                </a:solidFill>
                <a:latin typeface="Calibri" pitchFamily="34" charset="0"/>
                <a:ea typeface="Calibri" pitchFamily="34" charset="-122"/>
                <a:cs typeface="Calibri" pitchFamily="34" charset="-120"/>
              </a:rPr>
              <a:t>A colleague vents to you that they are overwhelmed and behind on notes. You have your own full caseload. How do you respond in a way that is </a:t>
            </a:r>
            <a:r>
              <a:rPr lang="en-US" sz="840" b="1" dirty="0">
                <a:solidFill>
                  <a:srgbClr val="3A3A3A"/>
                </a:solidFill>
                <a:latin typeface="Calibri" pitchFamily="34" charset="0"/>
                <a:ea typeface="Calibri" pitchFamily="34" charset="-122"/>
                <a:cs typeface="Calibri" pitchFamily="34" charset="-120"/>
              </a:rPr>
              <a:t>genuine and supportive</a:t>
            </a:r>
            <a:r>
              <a:rPr lang="en-US" sz="840" dirty="0">
                <a:solidFill>
                  <a:srgbClr val="3A3A3A"/>
                </a:solidFill>
                <a:latin typeface="Calibri" pitchFamily="34" charset="0"/>
                <a:ea typeface="Calibri" pitchFamily="34" charset="-122"/>
                <a:cs typeface="Calibri" pitchFamily="34" charset="-120"/>
              </a:rPr>
              <a:t> without </a:t>
            </a:r>
            <a:r>
              <a:rPr lang="en-US" sz="840" b="1" dirty="0">
                <a:solidFill>
                  <a:srgbClr val="3A3A3A"/>
                </a:solidFill>
                <a:latin typeface="Calibri" pitchFamily="34" charset="0"/>
                <a:ea typeface="Calibri" pitchFamily="34" charset="-122"/>
                <a:cs typeface="Calibri" pitchFamily="34" charset="-120"/>
              </a:rPr>
              <a:t>overextending yourself?</a:t>
            </a:r>
            <a:endParaRPr lang="en-US" sz="840" dirty="0"/>
          </a:p>
        </p:txBody>
      </p:sp>
      <p:sp>
        <p:nvSpPr>
          <p:cNvPr id="34" name="Text 27"/>
          <p:cNvSpPr/>
          <p:nvPr/>
        </p:nvSpPr>
        <p:spPr>
          <a:xfrm>
            <a:off x="6262241" y="2669381"/>
            <a:ext cx="2342346" cy="215801"/>
          </a:xfrm>
          <a:prstGeom prst="roundRect">
            <a:avLst>
              <a:gd name="adj" fmla="val 66501"/>
            </a:avLst>
          </a:prstGeom>
          <a:solidFill>
            <a:srgbClr val="1B5E72">
              <a:alpha val="10000"/>
            </a:srgbClr>
          </a:solidFill>
          <a:ln/>
        </p:spPr>
        <p:txBody>
          <a:bodyPr wrap="none" lIns="199043" tIns="43180" rIns="86360" bIns="43180" rtlCol="0" anchor="ctr"/>
          <a:lstStyle/>
          <a:p>
            <a:pPr marL="0" indent="0" algn="l">
              <a:buNone/>
            </a:pPr>
            <a:r>
              <a:rPr lang="en-US" sz="680" b="1" kern="0" spc="27" dirty="0">
                <a:solidFill>
                  <a:srgbClr val="1B5E72"/>
                </a:solidFill>
                <a:latin typeface="Calibri" pitchFamily="34" charset="0"/>
                <a:ea typeface="Calibri" pitchFamily="34" charset="-122"/>
                <a:cs typeface="Calibri" pitchFamily="34" charset="-120"/>
              </a:rPr>
              <a:t>Discuss with your group</a:t>
            </a:r>
            <a:endParaRPr lang="en-US" sz="680" dirty="0"/>
          </a:p>
        </p:txBody>
      </p:sp>
      <p:pic>
        <p:nvPicPr>
          <p:cNvPr id="3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317019" y="2710913"/>
            <a:ext cx="132588" cy="132588"/>
          </a:xfrm>
          <a:prstGeom prst="rect">
            <a:avLst/>
          </a:prstGeom>
        </p:spPr>
      </p:pic>
      <p:sp>
        <p:nvSpPr>
          <p:cNvPr id="36" name="Text 28"/>
          <p:cNvSpPr/>
          <p:nvPr/>
        </p:nvSpPr>
        <p:spPr>
          <a:xfrm>
            <a:off x="-91440" y="3214092"/>
            <a:ext cx="9326880" cy="388590"/>
          </a:xfrm>
          <a:prstGeom prst="rect">
            <a:avLst/>
          </a:prstGeom>
          <a:solidFill>
            <a:srgbClr val="FAB753"/>
          </a:solidFill>
          <a:ln/>
        </p:spPr>
        <p:txBody>
          <a:bodyPr wrap="none" lIns="400050" tIns="114300" rIns="400050" bIns="114300" rtlCol="0" anchor="t"/>
          <a:lstStyle/>
          <a:p>
            <a:pPr marL="0" indent="0" algn="ctr">
              <a:buNone/>
            </a:pPr>
            <a:r>
              <a:rPr lang="en-US" sz="840" b="1" kern="0" spc="8" dirty="0">
                <a:solidFill>
                  <a:srgbClr val="2C2C2C"/>
                </a:solidFill>
                <a:latin typeface="Calibri" pitchFamily="34" charset="0"/>
                <a:ea typeface="Calibri" pitchFamily="34" charset="-122"/>
                <a:cs typeface="Calibri" pitchFamily="34" charset="-120"/>
              </a:rPr>
              <a:t>There is no single right answer. The goal is to practice reasoning relationally — out loud, with your peers.</a:t>
            </a:r>
            <a:endParaRPr lang="en-US" sz="8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28650"/>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342900" y="113258"/>
            <a:ext cx="9050274" cy="220563"/>
          </a:xfrm>
          <a:prstGeom prst="rect">
            <a:avLst/>
          </a:prstGeom>
          <a:noFill/>
          <a:ln/>
        </p:spPr>
        <p:txBody>
          <a:bodyPr wrap="none" lIns="0" tIns="0" rIns="0" bIns="0" rtlCol="0" anchor="t"/>
          <a:lstStyle/>
          <a:p>
            <a:pPr marL="0" indent="0" algn="l">
              <a:lnSpc>
                <a:spcPts val="1738"/>
              </a:lnSpc>
              <a:buNone/>
            </a:pPr>
            <a:r>
              <a:rPr lang="en-US" sz="1580" b="1" kern="0" spc="16" dirty="0">
                <a:solidFill>
                  <a:srgbClr val="FFFFFF"/>
                </a:solidFill>
                <a:latin typeface="Calibri Light" pitchFamily="34" charset="0"/>
                <a:ea typeface="Calibri Light" pitchFamily="34" charset="-122"/>
                <a:cs typeface="Calibri Light" pitchFamily="34" charset="-120"/>
              </a:rPr>
              <a:t>What the Research Says</a:t>
            </a:r>
            <a:endParaRPr lang="en-US" sz="1580" dirty="0"/>
          </a:p>
        </p:txBody>
      </p:sp>
      <p:sp>
        <p:nvSpPr>
          <p:cNvPr id="4" name="Text 2"/>
          <p:cNvSpPr/>
          <p:nvPr/>
        </p:nvSpPr>
        <p:spPr>
          <a:xfrm>
            <a:off x="342900" y="355402"/>
            <a:ext cx="9304020" cy="159990"/>
          </a:xfrm>
          <a:prstGeom prst="rect">
            <a:avLst/>
          </a:prstGeom>
          <a:noFill/>
          <a:ln/>
        </p:spPr>
        <p:txBody>
          <a:bodyPr wrap="none" lIns="0" tIns="0" rIns="0" bIns="0" rtlCol="0" anchor="t"/>
          <a:lstStyle/>
          <a:p>
            <a:pPr marL="0" indent="0" algn="l">
              <a:lnSpc>
                <a:spcPts val="1260"/>
              </a:lnSpc>
              <a:spcBef>
                <a:spcPts val="170"/>
              </a:spcBef>
              <a:buNone/>
            </a:pPr>
            <a:r>
              <a:rPr lang="en-US" sz="840" kern="0" spc="8" dirty="0">
                <a:solidFill>
                  <a:srgbClr val="55A49C"/>
                </a:solidFill>
                <a:latin typeface="Calibri" pitchFamily="34" charset="0"/>
                <a:ea typeface="Calibri" pitchFamily="34" charset="-122"/>
                <a:cs typeface="Calibri" pitchFamily="34" charset="-120"/>
              </a:rPr>
              <a:t>Relationship building is not a soft skill — it is an evidence-based one.</a:t>
            </a:r>
            <a:endParaRPr lang="en-US" sz="840" dirty="0"/>
          </a:p>
        </p:txBody>
      </p:sp>
      <p:sp>
        <p:nvSpPr>
          <p:cNvPr id="5" name="Text 3"/>
          <p:cNvSpPr/>
          <p:nvPr/>
        </p:nvSpPr>
        <p:spPr>
          <a:xfrm>
            <a:off x="342900" y="772120"/>
            <a:ext cx="4157365" cy="313432"/>
          </a:xfrm>
          <a:prstGeom prst="roundRect">
            <a:avLst>
              <a:gd name="adj" fmla="val 18234"/>
            </a:avLst>
          </a:prstGeom>
          <a:solidFill>
            <a:srgbClr val="1B5E72"/>
          </a:solidFill>
          <a:ln/>
        </p:spPr>
        <p:txBody>
          <a:bodyPr wrap="square" rtlCol="0" anchor="t"/>
          <a:lstStyle/>
          <a:p>
            <a:pPr marL="0" indent="0">
              <a:buNone/>
            </a:pPr>
            <a:endParaRPr lang="en-US"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3878" y="862468"/>
            <a:ext cx="132588" cy="132588"/>
          </a:xfrm>
          <a:prstGeom prst="rect">
            <a:avLst/>
          </a:prstGeom>
        </p:spPr>
      </p:pic>
      <p:sp>
        <p:nvSpPr>
          <p:cNvPr id="7" name="Text 4"/>
          <p:cNvSpPr/>
          <p:nvPr/>
        </p:nvSpPr>
        <p:spPr>
          <a:xfrm>
            <a:off x="664964" y="843111"/>
            <a:ext cx="1783140" cy="171450"/>
          </a:xfrm>
          <a:prstGeom prst="rect">
            <a:avLst/>
          </a:prstGeom>
          <a:noFill/>
          <a:ln/>
        </p:spPr>
        <p:txBody>
          <a:bodyPr wrap="none" lIns="0" tIns="0" rIns="0" bIns="0" rtlCol="0" anchor="ctr"/>
          <a:lstStyle/>
          <a:p>
            <a:pPr marL="0" indent="0" algn="l">
              <a:lnSpc>
                <a:spcPts val="1350"/>
              </a:lnSpc>
              <a:buNone/>
            </a:pPr>
            <a:r>
              <a:rPr lang="en-US" sz="900" b="1" dirty="0">
                <a:solidFill>
                  <a:srgbClr val="FFFFFF"/>
                </a:solidFill>
                <a:latin typeface="Calibri" pitchFamily="34" charset="0"/>
                <a:ea typeface="Calibri" pitchFamily="34" charset="-122"/>
                <a:cs typeface="Calibri" pitchFamily="34" charset="-120"/>
              </a:rPr>
              <a:t>WHY IT WORKS CLINICALLY</a:t>
            </a:r>
            <a:endParaRPr lang="en-US" sz="900" dirty="0"/>
          </a:p>
        </p:txBody>
      </p:sp>
      <p:sp>
        <p:nvSpPr>
          <p:cNvPr id="8" name="Text 5"/>
          <p:cNvSpPr/>
          <p:nvPr/>
        </p:nvSpPr>
        <p:spPr>
          <a:xfrm>
            <a:off x="342900" y="1085552"/>
            <a:ext cx="4157365" cy="3314998"/>
          </a:xfrm>
          <a:prstGeom prst="rect">
            <a:avLst/>
          </a:prstGeom>
          <a:solidFill>
            <a:srgbClr val="EAF4F4"/>
          </a:solidFill>
          <a:ln/>
        </p:spPr>
        <p:txBody>
          <a:bodyPr wrap="square" rtlCol="0" anchor="t"/>
          <a:lstStyle/>
          <a:p>
            <a:pPr marL="0" indent="0">
              <a:buNone/>
            </a:pPr>
            <a:endParaRPr lang="en-US" dirty="0"/>
          </a:p>
        </p:txBody>
      </p:sp>
      <p:sp>
        <p:nvSpPr>
          <p:cNvPr id="9" name="Text 6"/>
          <p:cNvSpPr/>
          <p:nvPr/>
        </p:nvSpPr>
        <p:spPr>
          <a:xfrm>
            <a:off x="486370" y="1278434"/>
            <a:ext cx="128141"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10" name="Text 7"/>
          <p:cNvSpPr/>
          <p:nvPr/>
        </p:nvSpPr>
        <p:spPr>
          <a:xfrm>
            <a:off x="700832" y="1213693"/>
            <a:ext cx="3729082" cy="324728"/>
          </a:xfrm>
          <a:prstGeom prst="rect">
            <a:avLst/>
          </a:prstGeom>
          <a:noFill/>
          <a:ln/>
        </p:spPr>
        <p:txBody>
          <a:bodyPr wrap="square" lIns="0" tIns="0" rIns="0" bIns="0" rtlCol="0" anchor="t"/>
          <a:lstStyle/>
          <a:p>
            <a:pPr marL="0" indent="0" algn="l">
              <a:lnSpc>
                <a:spcPts val="1218"/>
              </a:lnSpc>
              <a:buNone/>
            </a:pPr>
            <a:r>
              <a:rPr lang="en-US" sz="840" dirty="0">
                <a:solidFill>
                  <a:srgbClr val="2C2C2C"/>
                </a:solidFill>
                <a:latin typeface="Calibri" pitchFamily="34" charset="0"/>
                <a:ea typeface="Calibri" pitchFamily="34" charset="-122"/>
                <a:cs typeface="Calibri" pitchFamily="34" charset="-120"/>
              </a:rPr>
              <a:t>Therapeutic alliance is consistently the </a:t>
            </a:r>
            <a:r>
              <a:rPr lang="en-US" sz="840" b="1" dirty="0">
                <a:solidFill>
                  <a:srgbClr val="2C2C2C"/>
                </a:solidFill>
                <a:latin typeface="Calibri" pitchFamily="34" charset="0"/>
                <a:ea typeface="Calibri" pitchFamily="34" charset="-122"/>
                <a:cs typeface="Calibri" pitchFamily="34" charset="-120"/>
              </a:rPr>
              <a:t>strongest predictor of client outcomes</a:t>
            </a:r>
            <a:r>
              <a:rPr lang="en-US" sz="840" dirty="0">
                <a:solidFill>
                  <a:srgbClr val="2C2C2C"/>
                </a:solidFill>
                <a:latin typeface="Calibri" pitchFamily="34" charset="0"/>
                <a:ea typeface="Calibri" pitchFamily="34" charset="-122"/>
                <a:cs typeface="Calibri" pitchFamily="34" charset="-120"/>
              </a:rPr>
              <a:t> across modalities and populations.</a:t>
            </a:r>
            <a:endParaRPr lang="en-US" sz="840" dirty="0"/>
          </a:p>
        </p:txBody>
      </p:sp>
      <p:sp>
        <p:nvSpPr>
          <p:cNvPr id="11" name="Text 8"/>
          <p:cNvSpPr/>
          <p:nvPr/>
        </p:nvSpPr>
        <p:spPr>
          <a:xfrm>
            <a:off x="486370" y="1680270"/>
            <a:ext cx="128141"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12" name="Text 9"/>
          <p:cNvSpPr/>
          <p:nvPr/>
        </p:nvSpPr>
        <p:spPr>
          <a:xfrm>
            <a:off x="700832" y="1615529"/>
            <a:ext cx="3729082" cy="324728"/>
          </a:xfrm>
          <a:prstGeom prst="rect">
            <a:avLst/>
          </a:prstGeom>
          <a:noFill/>
          <a:ln/>
        </p:spPr>
        <p:txBody>
          <a:bodyPr wrap="square" lIns="0" tIns="0" rIns="0" bIns="0" rtlCol="0" anchor="t"/>
          <a:lstStyle/>
          <a:p>
            <a:pPr marL="0" indent="0" algn="l">
              <a:lnSpc>
                <a:spcPts val="1218"/>
              </a:lnSpc>
              <a:buNone/>
            </a:pPr>
            <a:r>
              <a:rPr lang="en-US" sz="840" dirty="0">
                <a:solidFill>
                  <a:srgbClr val="2C2C2C"/>
                </a:solidFill>
                <a:latin typeface="Calibri" pitchFamily="34" charset="0"/>
                <a:ea typeface="Calibri" pitchFamily="34" charset="-122"/>
                <a:cs typeface="Calibri" pitchFamily="34" charset="-120"/>
              </a:rPr>
              <a:t>School-based therapists with strong school relationships report </a:t>
            </a:r>
            <a:r>
              <a:rPr lang="en-US" sz="840" b="1" dirty="0">
                <a:solidFill>
                  <a:srgbClr val="2C2C2C"/>
                </a:solidFill>
                <a:latin typeface="Calibri" pitchFamily="34" charset="0"/>
                <a:ea typeface="Calibri" pitchFamily="34" charset="-122"/>
                <a:cs typeface="Calibri" pitchFamily="34" charset="-120"/>
              </a:rPr>
              <a:t>fewer barriers to accessing students</a:t>
            </a:r>
            <a:r>
              <a:rPr lang="en-US" sz="840" dirty="0">
                <a:solidFill>
                  <a:srgbClr val="2C2C2C"/>
                </a:solidFill>
                <a:latin typeface="Calibri" pitchFamily="34" charset="0"/>
                <a:ea typeface="Calibri" pitchFamily="34" charset="-122"/>
                <a:cs typeface="Calibri" pitchFamily="34" charset="-120"/>
              </a:rPr>
              <a:t> and higher session completion rates.</a:t>
            </a:r>
            <a:endParaRPr lang="en-US" sz="840" dirty="0"/>
          </a:p>
        </p:txBody>
      </p:sp>
      <p:sp>
        <p:nvSpPr>
          <p:cNvPr id="13" name="Text 10"/>
          <p:cNvSpPr/>
          <p:nvPr/>
        </p:nvSpPr>
        <p:spPr>
          <a:xfrm>
            <a:off x="486370" y="2082105"/>
            <a:ext cx="128141"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14" name="Text 11"/>
          <p:cNvSpPr/>
          <p:nvPr/>
        </p:nvSpPr>
        <p:spPr>
          <a:xfrm>
            <a:off x="700832" y="2017365"/>
            <a:ext cx="3729082" cy="324728"/>
          </a:xfrm>
          <a:prstGeom prst="rect">
            <a:avLst/>
          </a:prstGeom>
          <a:noFill/>
          <a:ln/>
        </p:spPr>
        <p:txBody>
          <a:bodyPr wrap="square" lIns="0" tIns="0" rIns="0" bIns="0" rtlCol="0" anchor="t"/>
          <a:lstStyle/>
          <a:p>
            <a:pPr marL="0" indent="0" algn="l">
              <a:lnSpc>
                <a:spcPts val="1218"/>
              </a:lnSpc>
              <a:buNone/>
            </a:pPr>
            <a:r>
              <a:rPr lang="en-US" sz="840" dirty="0">
                <a:solidFill>
                  <a:srgbClr val="2C2C2C"/>
                </a:solidFill>
                <a:latin typeface="Calibri" pitchFamily="34" charset="0"/>
                <a:ea typeface="Calibri" pitchFamily="34" charset="-122"/>
                <a:cs typeface="Calibri" pitchFamily="34" charset="-120"/>
              </a:rPr>
              <a:t>Caregiver engagement is one of the most </a:t>
            </a:r>
            <a:r>
              <a:rPr lang="en-US" sz="840" b="1" dirty="0">
                <a:solidFill>
                  <a:srgbClr val="2C2C2C"/>
                </a:solidFill>
                <a:latin typeface="Calibri" pitchFamily="34" charset="0"/>
                <a:ea typeface="Calibri" pitchFamily="34" charset="-122"/>
                <a:cs typeface="Calibri" pitchFamily="34" charset="-120"/>
              </a:rPr>
              <a:t>robust predictors of treatment effectiveness</a:t>
            </a:r>
            <a:r>
              <a:rPr lang="en-US" sz="840" dirty="0">
                <a:solidFill>
                  <a:srgbClr val="2C2C2C"/>
                </a:solidFill>
                <a:latin typeface="Calibri" pitchFamily="34" charset="0"/>
                <a:ea typeface="Calibri" pitchFamily="34" charset="-122"/>
                <a:cs typeface="Calibri" pitchFamily="34" charset="-120"/>
              </a:rPr>
              <a:t> for children and adolescents.</a:t>
            </a:r>
            <a:endParaRPr lang="en-US" sz="840" dirty="0"/>
          </a:p>
        </p:txBody>
      </p:sp>
      <p:sp>
        <p:nvSpPr>
          <p:cNvPr id="15" name="Text 12"/>
          <p:cNvSpPr/>
          <p:nvPr/>
        </p:nvSpPr>
        <p:spPr>
          <a:xfrm>
            <a:off x="486370" y="2483941"/>
            <a:ext cx="128141"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16" name="Text 13"/>
          <p:cNvSpPr/>
          <p:nvPr/>
        </p:nvSpPr>
        <p:spPr>
          <a:xfrm>
            <a:off x="700832" y="2419201"/>
            <a:ext cx="3729082" cy="324728"/>
          </a:xfrm>
          <a:prstGeom prst="rect">
            <a:avLst/>
          </a:prstGeom>
          <a:noFill/>
          <a:ln/>
        </p:spPr>
        <p:txBody>
          <a:bodyPr wrap="square" lIns="0" tIns="0" rIns="0" bIns="0" rtlCol="0" anchor="t"/>
          <a:lstStyle/>
          <a:p>
            <a:pPr marL="0" indent="0" algn="l">
              <a:lnSpc>
                <a:spcPts val="1218"/>
              </a:lnSpc>
              <a:buNone/>
            </a:pPr>
            <a:r>
              <a:rPr lang="en-US" sz="840" dirty="0">
                <a:solidFill>
                  <a:srgbClr val="2C2C2C"/>
                </a:solidFill>
                <a:latin typeface="Calibri" pitchFamily="34" charset="0"/>
                <a:ea typeface="Calibri" pitchFamily="34" charset="-122"/>
                <a:cs typeface="Calibri" pitchFamily="34" charset="-120"/>
              </a:rPr>
              <a:t>Peer support and team cohesion are </a:t>
            </a:r>
            <a:r>
              <a:rPr lang="en-US" sz="840" b="1" dirty="0">
                <a:solidFill>
                  <a:srgbClr val="2C2C2C"/>
                </a:solidFill>
                <a:latin typeface="Calibri" pitchFamily="34" charset="0"/>
                <a:ea typeface="Calibri" pitchFamily="34" charset="-122"/>
                <a:cs typeface="Calibri" pitchFamily="34" charset="-120"/>
              </a:rPr>
              <a:t>protective factors against burnout and turnover</a:t>
            </a:r>
            <a:r>
              <a:rPr lang="en-US" sz="840" dirty="0">
                <a:solidFill>
                  <a:srgbClr val="2C2C2C"/>
                </a:solidFill>
                <a:latin typeface="Calibri" pitchFamily="34" charset="0"/>
                <a:ea typeface="Calibri" pitchFamily="34" charset="-122"/>
                <a:cs typeface="Calibri" pitchFamily="34" charset="-120"/>
              </a:rPr>
              <a:t> among early-career clinicians.</a:t>
            </a:r>
            <a:endParaRPr lang="en-US" sz="840" dirty="0"/>
          </a:p>
        </p:txBody>
      </p:sp>
      <p:sp>
        <p:nvSpPr>
          <p:cNvPr id="17" name="Text 14"/>
          <p:cNvSpPr/>
          <p:nvPr/>
        </p:nvSpPr>
        <p:spPr>
          <a:xfrm>
            <a:off x="4643735" y="772120"/>
            <a:ext cx="4157365" cy="313432"/>
          </a:xfrm>
          <a:prstGeom prst="roundRect">
            <a:avLst>
              <a:gd name="adj" fmla="val 18234"/>
            </a:avLst>
          </a:prstGeom>
          <a:solidFill>
            <a:srgbClr val="FAB753"/>
          </a:solidFill>
          <a:ln/>
        </p:spPr>
        <p:txBody>
          <a:bodyPr wrap="square" rtlCol="0" anchor="t"/>
          <a:lstStyle/>
          <a:p>
            <a:pPr marL="0" indent="0">
              <a:buNone/>
            </a:pPr>
            <a:endParaRPr lang="en-US" dirty="0"/>
          </a:p>
        </p:txBody>
      </p:sp>
      <p:pic>
        <p:nvPicPr>
          <p:cNvPr id="1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74713" y="862468"/>
            <a:ext cx="132588" cy="132588"/>
          </a:xfrm>
          <a:prstGeom prst="rect">
            <a:avLst/>
          </a:prstGeom>
        </p:spPr>
      </p:pic>
      <p:sp>
        <p:nvSpPr>
          <p:cNvPr id="19" name="Text 15"/>
          <p:cNvSpPr/>
          <p:nvPr/>
        </p:nvSpPr>
        <p:spPr>
          <a:xfrm>
            <a:off x="4965799" y="843111"/>
            <a:ext cx="1836673" cy="171450"/>
          </a:xfrm>
          <a:prstGeom prst="rect">
            <a:avLst/>
          </a:prstGeom>
          <a:noFill/>
          <a:ln/>
        </p:spPr>
        <p:txBody>
          <a:bodyPr wrap="none" lIns="0" tIns="0" rIns="0" bIns="0" rtlCol="0" anchor="ctr"/>
          <a:lstStyle/>
          <a:p>
            <a:pPr marL="0" indent="0" algn="l">
              <a:lnSpc>
                <a:spcPts val="1350"/>
              </a:lnSpc>
              <a:buNone/>
            </a:pPr>
            <a:r>
              <a:rPr lang="en-US" sz="900" b="1" dirty="0">
                <a:solidFill>
                  <a:srgbClr val="1B5E72"/>
                </a:solidFill>
                <a:latin typeface="Calibri" pitchFamily="34" charset="0"/>
                <a:ea typeface="Calibri" pitchFamily="34" charset="-122"/>
                <a:cs typeface="Calibri" pitchFamily="34" charset="-120"/>
              </a:rPr>
              <a:t>WHAT HAPPENS WITHOUT IT</a:t>
            </a:r>
            <a:endParaRPr lang="en-US" sz="900" dirty="0"/>
          </a:p>
        </p:txBody>
      </p:sp>
      <p:sp>
        <p:nvSpPr>
          <p:cNvPr id="20" name="Text 16"/>
          <p:cNvSpPr/>
          <p:nvPr/>
        </p:nvSpPr>
        <p:spPr>
          <a:xfrm>
            <a:off x="4643735" y="1085552"/>
            <a:ext cx="4157365" cy="3314998"/>
          </a:xfrm>
          <a:prstGeom prst="rect">
            <a:avLst/>
          </a:prstGeom>
          <a:solidFill>
            <a:srgbClr val="FFFFFF"/>
          </a:solidFill>
          <a:ln/>
        </p:spPr>
        <p:txBody>
          <a:bodyPr wrap="square" rtlCol="0" anchor="t"/>
          <a:lstStyle/>
          <a:p>
            <a:pPr marL="0" indent="0">
              <a:buNone/>
            </a:pPr>
            <a:endParaRPr lang="en-US" dirty="0"/>
          </a:p>
        </p:txBody>
      </p:sp>
      <p:sp>
        <p:nvSpPr>
          <p:cNvPr id="21" name="Text 17"/>
          <p:cNvSpPr/>
          <p:nvPr/>
        </p:nvSpPr>
        <p:spPr>
          <a:xfrm>
            <a:off x="4643735" y="1085552"/>
            <a:ext cx="9525" cy="3314998"/>
          </a:xfrm>
          <a:prstGeom prst="rect">
            <a:avLst/>
          </a:prstGeom>
          <a:solidFill>
            <a:srgbClr val="B2CECE"/>
          </a:solidFill>
          <a:ln/>
        </p:spPr>
        <p:txBody>
          <a:bodyPr wrap="square" rtlCol="0" anchor="t"/>
          <a:lstStyle/>
          <a:p>
            <a:pPr marL="0" indent="0">
              <a:buNone/>
            </a:pPr>
            <a:endParaRPr lang="en-US" dirty="0"/>
          </a:p>
        </p:txBody>
      </p:sp>
      <p:sp>
        <p:nvSpPr>
          <p:cNvPr id="22" name="Text 18"/>
          <p:cNvSpPr/>
          <p:nvPr/>
        </p:nvSpPr>
        <p:spPr>
          <a:xfrm>
            <a:off x="8791575" y="1085552"/>
            <a:ext cx="9525" cy="3314998"/>
          </a:xfrm>
          <a:prstGeom prst="rect">
            <a:avLst/>
          </a:prstGeom>
          <a:solidFill>
            <a:srgbClr val="B2CECE"/>
          </a:solidFill>
          <a:ln/>
        </p:spPr>
        <p:txBody>
          <a:bodyPr wrap="square" rtlCol="0" anchor="t"/>
          <a:lstStyle/>
          <a:p>
            <a:pPr marL="0" indent="0">
              <a:buNone/>
            </a:pPr>
            <a:endParaRPr lang="en-US" dirty="0"/>
          </a:p>
        </p:txBody>
      </p:sp>
      <p:sp>
        <p:nvSpPr>
          <p:cNvPr id="23" name="Text 19"/>
          <p:cNvSpPr/>
          <p:nvPr/>
        </p:nvSpPr>
        <p:spPr>
          <a:xfrm>
            <a:off x="4796730" y="1278434"/>
            <a:ext cx="128141" cy="21580"/>
          </a:xfrm>
          <a:prstGeom prst="roundRect">
            <a:avLst>
              <a:gd name="adj" fmla="val 64736"/>
            </a:avLst>
          </a:prstGeom>
          <a:solidFill>
            <a:srgbClr val="55A49C"/>
          </a:solidFill>
          <a:ln/>
        </p:spPr>
        <p:txBody>
          <a:bodyPr wrap="none" rtlCol="0" anchor="t"/>
          <a:lstStyle/>
          <a:p>
            <a:pPr marL="0" indent="0">
              <a:buNone/>
            </a:pPr>
            <a:endParaRPr lang="en-US" dirty="0"/>
          </a:p>
        </p:txBody>
      </p:sp>
      <p:sp>
        <p:nvSpPr>
          <p:cNvPr id="24" name="Text 20"/>
          <p:cNvSpPr/>
          <p:nvPr/>
        </p:nvSpPr>
        <p:spPr>
          <a:xfrm>
            <a:off x="5011192" y="1213693"/>
            <a:ext cx="3709651" cy="324728"/>
          </a:xfrm>
          <a:prstGeom prst="rect">
            <a:avLst/>
          </a:prstGeom>
          <a:noFill/>
          <a:ln/>
        </p:spPr>
        <p:txBody>
          <a:bodyPr wrap="square" lIns="0" tIns="0" rIns="0" bIns="0" rtlCol="0" anchor="t"/>
          <a:lstStyle/>
          <a:p>
            <a:pPr marL="0" indent="0" algn="l">
              <a:lnSpc>
                <a:spcPts val="1218"/>
              </a:lnSpc>
              <a:buNone/>
            </a:pPr>
            <a:r>
              <a:rPr lang="en-US" sz="840" dirty="0">
                <a:solidFill>
                  <a:srgbClr val="2C2C2C"/>
                </a:solidFill>
                <a:latin typeface="Calibri" pitchFamily="34" charset="0"/>
                <a:ea typeface="Calibri" pitchFamily="34" charset="-122"/>
                <a:cs typeface="Calibri" pitchFamily="34" charset="-120"/>
              </a:rPr>
              <a:t>Therapists not embedded in school culture face </a:t>
            </a:r>
            <a:r>
              <a:rPr lang="en-US" sz="840" b="1" dirty="0">
                <a:solidFill>
                  <a:srgbClr val="2C2C2C"/>
                </a:solidFill>
                <a:latin typeface="Calibri" pitchFamily="34" charset="0"/>
                <a:ea typeface="Calibri" pitchFamily="34" charset="-122"/>
                <a:cs typeface="Calibri" pitchFamily="34" charset="-120"/>
              </a:rPr>
              <a:t>access barriers, referral gaps, and low session attendance</a:t>
            </a:r>
            <a:r>
              <a:rPr lang="en-US" sz="840" dirty="0">
                <a:solidFill>
                  <a:srgbClr val="2C2C2C"/>
                </a:solidFill>
                <a:latin typeface="Calibri" pitchFamily="34" charset="0"/>
                <a:ea typeface="Calibri" pitchFamily="34" charset="-122"/>
                <a:cs typeface="Calibri" pitchFamily="34" charset="-120"/>
              </a:rPr>
              <a:t> more often.</a:t>
            </a:r>
            <a:endParaRPr lang="en-US" sz="840" dirty="0"/>
          </a:p>
        </p:txBody>
      </p:sp>
      <p:sp>
        <p:nvSpPr>
          <p:cNvPr id="25" name="Text 21"/>
          <p:cNvSpPr/>
          <p:nvPr/>
        </p:nvSpPr>
        <p:spPr>
          <a:xfrm>
            <a:off x="4796730" y="1680270"/>
            <a:ext cx="128141" cy="21580"/>
          </a:xfrm>
          <a:prstGeom prst="roundRect">
            <a:avLst>
              <a:gd name="adj" fmla="val 64736"/>
            </a:avLst>
          </a:prstGeom>
          <a:solidFill>
            <a:srgbClr val="55A49C"/>
          </a:solidFill>
          <a:ln/>
        </p:spPr>
        <p:txBody>
          <a:bodyPr wrap="none" rtlCol="0" anchor="t"/>
          <a:lstStyle/>
          <a:p>
            <a:pPr marL="0" indent="0">
              <a:buNone/>
            </a:pPr>
            <a:endParaRPr lang="en-US" dirty="0"/>
          </a:p>
        </p:txBody>
      </p:sp>
      <p:sp>
        <p:nvSpPr>
          <p:cNvPr id="26" name="Text 22"/>
          <p:cNvSpPr/>
          <p:nvPr/>
        </p:nvSpPr>
        <p:spPr>
          <a:xfrm>
            <a:off x="5011192" y="1615529"/>
            <a:ext cx="3709651" cy="324728"/>
          </a:xfrm>
          <a:prstGeom prst="rect">
            <a:avLst/>
          </a:prstGeom>
          <a:noFill/>
          <a:ln/>
        </p:spPr>
        <p:txBody>
          <a:bodyPr wrap="square" lIns="0" tIns="0" rIns="0" bIns="0" rtlCol="0" anchor="t"/>
          <a:lstStyle/>
          <a:p>
            <a:pPr marL="0" indent="0" algn="l">
              <a:lnSpc>
                <a:spcPts val="1218"/>
              </a:lnSpc>
              <a:buNone/>
            </a:pPr>
            <a:r>
              <a:rPr lang="en-US" sz="840" dirty="0">
                <a:solidFill>
                  <a:srgbClr val="2C2C2C"/>
                </a:solidFill>
                <a:latin typeface="Calibri" pitchFamily="34" charset="0"/>
                <a:ea typeface="Calibri" pitchFamily="34" charset="-122"/>
                <a:cs typeface="Calibri" pitchFamily="34" charset="-120"/>
              </a:rPr>
              <a:t>Families who feel like </a:t>
            </a:r>
            <a:r>
              <a:rPr lang="en-US" sz="840" b="1" dirty="0">
                <a:solidFill>
                  <a:srgbClr val="2C2C2C"/>
                </a:solidFill>
                <a:latin typeface="Calibri" pitchFamily="34" charset="0"/>
                <a:ea typeface="Calibri" pitchFamily="34" charset="-122"/>
                <a:cs typeface="Calibri" pitchFamily="34" charset="-120"/>
              </a:rPr>
              <a:t>administrative targets disengage</a:t>
            </a:r>
            <a:r>
              <a:rPr lang="en-US" sz="840" dirty="0">
                <a:solidFill>
                  <a:srgbClr val="2C2C2C"/>
                </a:solidFill>
                <a:latin typeface="Calibri" pitchFamily="34" charset="0"/>
                <a:ea typeface="Calibri" pitchFamily="34" charset="-122"/>
                <a:cs typeface="Calibri" pitchFamily="34" charset="-120"/>
              </a:rPr>
              <a:t> — even when their child needs care.</a:t>
            </a:r>
            <a:endParaRPr lang="en-US" sz="840" dirty="0"/>
          </a:p>
        </p:txBody>
      </p:sp>
      <p:sp>
        <p:nvSpPr>
          <p:cNvPr id="27" name="Text 23"/>
          <p:cNvSpPr/>
          <p:nvPr/>
        </p:nvSpPr>
        <p:spPr>
          <a:xfrm>
            <a:off x="4796730" y="2082105"/>
            <a:ext cx="128141" cy="21580"/>
          </a:xfrm>
          <a:prstGeom prst="roundRect">
            <a:avLst>
              <a:gd name="adj" fmla="val 64736"/>
            </a:avLst>
          </a:prstGeom>
          <a:solidFill>
            <a:srgbClr val="55A49C"/>
          </a:solidFill>
          <a:ln/>
        </p:spPr>
        <p:txBody>
          <a:bodyPr wrap="none" rtlCol="0" anchor="t"/>
          <a:lstStyle/>
          <a:p>
            <a:pPr marL="0" indent="0">
              <a:buNone/>
            </a:pPr>
            <a:endParaRPr lang="en-US" dirty="0"/>
          </a:p>
        </p:txBody>
      </p:sp>
      <p:sp>
        <p:nvSpPr>
          <p:cNvPr id="28" name="Text 24"/>
          <p:cNvSpPr/>
          <p:nvPr/>
        </p:nvSpPr>
        <p:spPr>
          <a:xfrm>
            <a:off x="5011192" y="2017365"/>
            <a:ext cx="3709651" cy="324728"/>
          </a:xfrm>
          <a:prstGeom prst="rect">
            <a:avLst/>
          </a:prstGeom>
          <a:noFill/>
          <a:ln/>
        </p:spPr>
        <p:txBody>
          <a:bodyPr wrap="square" lIns="0" tIns="0" rIns="0" bIns="0" rtlCol="0" anchor="t"/>
          <a:lstStyle/>
          <a:p>
            <a:pPr marL="0" indent="0" algn="l">
              <a:lnSpc>
                <a:spcPts val="1218"/>
              </a:lnSpc>
              <a:buNone/>
            </a:pPr>
            <a:r>
              <a:rPr lang="en-US" sz="840" dirty="0">
                <a:solidFill>
                  <a:srgbClr val="2C2C2C"/>
                </a:solidFill>
                <a:latin typeface="Calibri" pitchFamily="34" charset="0"/>
                <a:ea typeface="Calibri" pitchFamily="34" charset="-122"/>
                <a:cs typeface="Calibri" pitchFamily="34" charset="-120"/>
              </a:rPr>
              <a:t>Teams without psychological safety </a:t>
            </a:r>
            <a:r>
              <a:rPr lang="en-US" sz="840" b="1" dirty="0">
                <a:solidFill>
                  <a:srgbClr val="2C2C2C"/>
                </a:solidFill>
                <a:latin typeface="Calibri" pitchFamily="34" charset="0"/>
                <a:ea typeface="Calibri" pitchFamily="34" charset="-122"/>
                <a:cs typeface="Calibri" pitchFamily="34" charset="-120"/>
              </a:rPr>
              <a:t>underreport struggles, avoid consultation, and accumulate risk silently.</a:t>
            </a:r>
            <a:endParaRPr lang="en-US" sz="840" dirty="0"/>
          </a:p>
        </p:txBody>
      </p:sp>
      <p:sp>
        <p:nvSpPr>
          <p:cNvPr id="29" name="Text 25"/>
          <p:cNvSpPr/>
          <p:nvPr/>
        </p:nvSpPr>
        <p:spPr>
          <a:xfrm>
            <a:off x="4796730" y="2483941"/>
            <a:ext cx="128141" cy="21580"/>
          </a:xfrm>
          <a:prstGeom prst="roundRect">
            <a:avLst>
              <a:gd name="adj" fmla="val 64736"/>
            </a:avLst>
          </a:prstGeom>
          <a:solidFill>
            <a:srgbClr val="55A49C"/>
          </a:solidFill>
          <a:ln/>
        </p:spPr>
        <p:txBody>
          <a:bodyPr wrap="none" rtlCol="0" anchor="t"/>
          <a:lstStyle/>
          <a:p>
            <a:pPr marL="0" indent="0">
              <a:buNone/>
            </a:pPr>
            <a:endParaRPr lang="en-US" dirty="0"/>
          </a:p>
        </p:txBody>
      </p:sp>
      <p:sp>
        <p:nvSpPr>
          <p:cNvPr id="30" name="Text 26"/>
          <p:cNvSpPr/>
          <p:nvPr/>
        </p:nvSpPr>
        <p:spPr>
          <a:xfrm>
            <a:off x="5011192" y="2419201"/>
            <a:ext cx="3709651" cy="324728"/>
          </a:xfrm>
          <a:prstGeom prst="rect">
            <a:avLst/>
          </a:prstGeom>
          <a:noFill/>
          <a:ln/>
        </p:spPr>
        <p:txBody>
          <a:bodyPr wrap="square" lIns="0" tIns="0" rIns="0" bIns="0" rtlCol="0" anchor="t"/>
          <a:lstStyle/>
          <a:p>
            <a:pPr marL="0" indent="0" algn="l">
              <a:lnSpc>
                <a:spcPts val="1218"/>
              </a:lnSpc>
              <a:buNone/>
            </a:pPr>
            <a:r>
              <a:rPr lang="en-US" sz="840" dirty="0">
                <a:solidFill>
                  <a:srgbClr val="2C2C2C"/>
                </a:solidFill>
                <a:latin typeface="Calibri" pitchFamily="34" charset="0"/>
                <a:ea typeface="Calibri" pitchFamily="34" charset="-122"/>
                <a:cs typeface="Calibri" pitchFamily="34" charset="-120"/>
              </a:rPr>
              <a:t>Clinicians lacking peer connection are </a:t>
            </a:r>
            <a:r>
              <a:rPr lang="en-US" sz="840" b="1" dirty="0">
                <a:solidFill>
                  <a:srgbClr val="2C2C2C"/>
                </a:solidFill>
                <a:latin typeface="Calibri" pitchFamily="34" charset="0"/>
                <a:ea typeface="Calibri" pitchFamily="34" charset="-122"/>
                <a:cs typeface="Calibri" pitchFamily="34" charset="-120"/>
              </a:rPr>
              <a:t>significantly more likely to experience burnout</a:t>
            </a:r>
            <a:r>
              <a:rPr lang="en-US" sz="840" dirty="0">
                <a:solidFill>
                  <a:srgbClr val="2C2C2C"/>
                </a:solidFill>
                <a:latin typeface="Calibri" pitchFamily="34" charset="0"/>
                <a:ea typeface="Calibri" pitchFamily="34" charset="-122"/>
                <a:cs typeface="Calibri" pitchFamily="34" charset="-120"/>
              </a:rPr>
              <a:t> within the first three years.</a:t>
            </a:r>
            <a:endParaRPr lang="en-US" sz="840" dirty="0"/>
          </a:p>
        </p:txBody>
      </p:sp>
      <p:sp>
        <p:nvSpPr>
          <p:cNvPr id="31" name="Text 27"/>
          <p:cNvSpPr/>
          <p:nvPr/>
        </p:nvSpPr>
        <p:spPr>
          <a:xfrm>
            <a:off x="342900" y="4500860"/>
            <a:ext cx="8458200" cy="346412"/>
          </a:xfrm>
          <a:prstGeom prst="roundRect">
            <a:avLst>
              <a:gd name="adj" fmla="val 16498"/>
            </a:avLst>
          </a:prstGeom>
          <a:solidFill>
            <a:srgbClr val="EAF4F4"/>
          </a:solidFill>
          <a:ln/>
        </p:spPr>
        <p:txBody>
          <a:bodyPr wrap="none" lIns="0" tIns="0" rIns="0" bIns="0" rtlCol="0" anchor="ctr"/>
          <a:lstStyle/>
          <a:p>
            <a:pPr marL="0" indent="0" algn="ctr">
              <a:buNone/>
            </a:pPr>
            <a:r>
              <a:rPr lang="en-US" sz="870" b="1" kern="0" spc="9" dirty="0">
                <a:solidFill>
                  <a:srgbClr val="2C2C2C"/>
                </a:solidFill>
                <a:latin typeface="Calibri" pitchFamily="34" charset="0"/>
                <a:ea typeface="Calibri" pitchFamily="34" charset="-122"/>
                <a:cs typeface="Calibri" pitchFamily="34" charset="-120"/>
              </a:rPr>
              <a:t>Every relationship you build is a clinical intervention. Treat it that way.</a:t>
            </a:r>
            <a:endParaRPr lang="en-US" sz="87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5E72"/>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55A49C">
                  <a:alpha val="12000"/>
                </a:srgbClr>
              </a:gs>
              <a:gs pos="70000">
                <a:srgbClr val="000000">
                  <a:alpha val="0"/>
                </a:srgbClr>
              </a:gs>
            </a:gsLst>
            <a:path path="circle">
              <a:fillToRect l="85000" t="50000" r="15000" b="50000"/>
            </a:path>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FAB753">
                  <a:alpha val="6000"/>
                </a:srgbClr>
              </a:gs>
              <a:gs pos="60000">
                <a:srgbClr val="000000">
                  <a:alpha val="0"/>
                </a:srgbClr>
              </a:gs>
            </a:gsLst>
            <a:path path="circle">
              <a:fillToRect l="10000" t="80000" r="90000" b="20000"/>
            </a:path>
          </a:gradFill>
          <a:ln/>
        </p:spPr>
        <p:txBody>
          <a:bodyPr wrap="square" rtlCol="0" anchor="t"/>
          <a:lstStyle/>
          <a:p>
            <a:pPr marL="0" indent="0">
              <a:buNone/>
            </a:pPr>
            <a:endParaRPr lang="en-US" dirty="0"/>
          </a:p>
        </p:txBody>
      </p:sp>
      <p:sp>
        <p:nvSpPr>
          <p:cNvPr id="4" name="Text 2"/>
          <p:cNvSpPr/>
          <p:nvPr/>
        </p:nvSpPr>
        <p:spPr>
          <a:xfrm>
            <a:off x="0" y="0"/>
            <a:ext cx="9144000" cy="29170"/>
          </a:xfrm>
          <a:prstGeom prst="rect">
            <a:avLst/>
          </a:prstGeom>
          <a:gradFill rotWithShape="1">
            <a:gsLst>
              <a:gs pos="0">
                <a:srgbClr val="000000">
                  <a:alpha val="0"/>
                </a:srgbClr>
              </a:gs>
              <a:gs pos="20000">
                <a:srgbClr val="FAB753"/>
              </a:gs>
              <a:gs pos="80000">
                <a:srgbClr val="FAB753"/>
              </a:gs>
              <a:gs pos="100000">
                <a:srgbClr val="000000">
                  <a:alpha val="0"/>
                </a:srgbClr>
              </a:gs>
            </a:gsLst>
            <a:lin ang="0" scaled="1"/>
          </a:gradFill>
          <a:ln/>
        </p:spPr>
        <p:txBody>
          <a:bodyPr wrap="none" rtlCol="0" anchor="t"/>
          <a:lstStyle/>
          <a:p>
            <a:pPr marL="0" indent="0">
              <a:buNone/>
            </a:pPr>
            <a:endParaRPr lang="en-US" dirty="0"/>
          </a:p>
        </p:txBody>
      </p:sp>
      <p:sp>
        <p:nvSpPr>
          <p:cNvPr id="5" name="Text 3"/>
          <p:cNvSpPr/>
          <p:nvPr/>
        </p:nvSpPr>
        <p:spPr>
          <a:xfrm>
            <a:off x="0" y="5114330"/>
            <a:ext cx="9144000" cy="29170"/>
          </a:xfrm>
          <a:prstGeom prst="rect">
            <a:avLst/>
          </a:prstGeom>
          <a:gradFill rotWithShape="1">
            <a:gsLst>
              <a:gs pos="0">
                <a:srgbClr val="000000">
                  <a:alpha val="0"/>
                </a:srgbClr>
              </a:gs>
              <a:gs pos="20000">
                <a:srgbClr val="FAB753"/>
              </a:gs>
              <a:gs pos="80000">
                <a:srgbClr val="FAB753"/>
              </a:gs>
              <a:gs pos="100000">
                <a:srgbClr val="000000">
                  <a:alpha val="0"/>
                </a:srgbClr>
              </a:gs>
            </a:gsLst>
            <a:lin ang="0" scaled="1"/>
          </a:gradFill>
          <a:ln/>
        </p:spPr>
        <p:txBody>
          <a:bodyPr wrap="none" rtlCol="0" anchor="t"/>
          <a:lstStyle/>
          <a:p>
            <a:pPr marL="0" indent="0">
              <a:buNone/>
            </a:pPr>
            <a:endParaRPr lang="en-US" dirty="0"/>
          </a:p>
        </p:txBody>
      </p:sp>
      <p:sp>
        <p:nvSpPr>
          <p:cNvPr id="6" name="Text 4"/>
          <p:cNvSpPr/>
          <p:nvPr/>
        </p:nvSpPr>
        <p:spPr>
          <a:xfrm>
            <a:off x="342900" y="1785640"/>
            <a:ext cx="21580" cy="1572220"/>
          </a:xfrm>
          <a:prstGeom prst="roundRect">
            <a:avLst>
              <a:gd name="adj" fmla="val 64736"/>
            </a:avLst>
          </a:prstGeom>
          <a:gradFill rotWithShape="1">
            <a:gsLst>
              <a:gs pos="0">
                <a:srgbClr val="000000">
                  <a:alpha val="0"/>
                </a:srgbClr>
              </a:gs>
              <a:gs pos="30000">
                <a:srgbClr val="FAB753">
                  <a:alpha val="40000"/>
                </a:srgbClr>
              </a:gs>
              <a:gs pos="70000">
                <a:srgbClr val="FAB753">
                  <a:alpha val="40000"/>
                </a:srgbClr>
              </a:gs>
              <a:gs pos="100000">
                <a:srgbClr val="000000">
                  <a:alpha val="0"/>
                </a:srgbClr>
              </a:gs>
            </a:gsLst>
            <a:lin ang="5400000" scaled="1"/>
          </a:gradFill>
          <a:ln/>
        </p:spPr>
        <p:txBody>
          <a:bodyPr wrap="square" rtlCol="0" anchor="t"/>
          <a:lstStyle/>
          <a:p>
            <a:pPr marL="0" indent="0">
              <a:buNone/>
            </a:pPr>
            <a:endParaRPr lang="en-US" dirty="0"/>
          </a:p>
        </p:txBody>
      </p:sp>
      <p:sp>
        <p:nvSpPr>
          <p:cNvPr id="7" name="Text 5"/>
          <p:cNvSpPr/>
          <p:nvPr/>
        </p:nvSpPr>
        <p:spPr>
          <a:xfrm>
            <a:off x="8779520" y="1785640"/>
            <a:ext cx="21580" cy="1572220"/>
          </a:xfrm>
          <a:prstGeom prst="roundRect">
            <a:avLst>
              <a:gd name="adj" fmla="val 64736"/>
            </a:avLst>
          </a:prstGeom>
          <a:gradFill rotWithShape="1">
            <a:gsLst>
              <a:gs pos="0">
                <a:srgbClr val="000000">
                  <a:alpha val="0"/>
                </a:srgbClr>
              </a:gs>
              <a:gs pos="30000">
                <a:srgbClr val="FAB753">
                  <a:alpha val="40000"/>
                </a:srgbClr>
              </a:gs>
              <a:gs pos="70000">
                <a:srgbClr val="FAB753">
                  <a:alpha val="40000"/>
                </a:srgbClr>
              </a:gs>
              <a:gs pos="100000">
                <a:srgbClr val="000000">
                  <a:alpha val="0"/>
                </a:srgbClr>
              </a:gs>
            </a:gsLst>
            <a:lin ang="5400000" scaled="1"/>
          </a:gradFill>
          <a:ln/>
        </p:spPr>
        <p:txBody>
          <a:bodyPr wrap="square" rtlCol="0" anchor="t"/>
          <a:lstStyle/>
          <a:p>
            <a:pPr marL="0" indent="0">
              <a:buNone/>
            </a:pPr>
            <a:endParaRPr lang="en-US" dirty="0"/>
          </a:p>
        </p:txBody>
      </p:sp>
      <p:sp>
        <p:nvSpPr>
          <p:cNvPr id="8" name="Text 6"/>
          <p:cNvSpPr/>
          <p:nvPr/>
        </p:nvSpPr>
        <p:spPr>
          <a:xfrm>
            <a:off x="3989338" y="983754"/>
            <a:ext cx="1281857" cy="85725"/>
          </a:xfrm>
          <a:prstGeom prst="rect">
            <a:avLst/>
          </a:prstGeom>
          <a:noFill/>
          <a:ln/>
        </p:spPr>
        <p:txBody>
          <a:bodyPr wrap="none" lIns="0" tIns="0" rIns="0" bIns="0" rtlCol="0" anchor="ctr"/>
          <a:lstStyle/>
          <a:p>
            <a:pPr marL="0" indent="0" algn="l">
              <a:buNone/>
            </a:pPr>
            <a:r>
              <a:rPr lang="en-US" sz="620" b="1" kern="0" spc="124" dirty="0">
                <a:solidFill>
                  <a:srgbClr val="FAB753"/>
                </a:solidFill>
                <a:latin typeface="Calibri" pitchFamily="34" charset="0"/>
                <a:ea typeface="Calibri" pitchFamily="34" charset="-122"/>
                <a:cs typeface="Calibri" pitchFamily="34" charset="-120"/>
              </a:rPr>
              <a:t>CLOSING REFLECTION</a:t>
            </a:r>
            <a:endParaRPr lang="en-US" sz="620" dirty="0"/>
          </a:p>
        </p:txBody>
      </p:sp>
      <p:sp>
        <p:nvSpPr>
          <p:cNvPr id="9" name="Text 7"/>
          <p:cNvSpPr/>
          <p:nvPr/>
        </p:nvSpPr>
        <p:spPr>
          <a:xfrm>
            <a:off x="3719512" y="1015454"/>
            <a:ext cx="35421" cy="35421"/>
          </a:xfrm>
          <a:prstGeom prst="ellipse">
            <a:avLst/>
          </a:prstGeom>
          <a:solidFill>
            <a:srgbClr val="FAB753">
              <a:alpha val="60000"/>
            </a:srgbClr>
          </a:solidFill>
          <a:ln/>
        </p:spPr>
        <p:txBody>
          <a:bodyPr wrap="none" rtlCol="0" anchor="t"/>
          <a:lstStyle/>
          <a:p>
            <a:pPr marL="0" indent="0">
              <a:buNone/>
            </a:pPr>
            <a:endParaRPr lang="en-US" dirty="0"/>
          </a:p>
        </p:txBody>
      </p:sp>
      <p:sp>
        <p:nvSpPr>
          <p:cNvPr id="10" name="Text 8"/>
          <p:cNvSpPr/>
          <p:nvPr/>
        </p:nvSpPr>
        <p:spPr>
          <a:xfrm>
            <a:off x="3790355" y="1004590"/>
            <a:ext cx="57150" cy="57150"/>
          </a:xfrm>
          <a:prstGeom prst="ellipse">
            <a:avLst/>
          </a:prstGeom>
          <a:solidFill>
            <a:srgbClr val="FAB753"/>
          </a:solidFill>
          <a:ln/>
        </p:spPr>
        <p:txBody>
          <a:bodyPr wrap="none" rtlCol="0" anchor="t"/>
          <a:lstStyle/>
          <a:p>
            <a:pPr marL="0" indent="0">
              <a:buNone/>
            </a:pPr>
            <a:endParaRPr lang="en-US" dirty="0"/>
          </a:p>
        </p:txBody>
      </p:sp>
      <p:sp>
        <p:nvSpPr>
          <p:cNvPr id="11" name="Text 9"/>
          <p:cNvSpPr/>
          <p:nvPr/>
        </p:nvSpPr>
        <p:spPr>
          <a:xfrm>
            <a:off x="3882926" y="1015454"/>
            <a:ext cx="35421" cy="35421"/>
          </a:xfrm>
          <a:prstGeom prst="ellipse">
            <a:avLst/>
          </a:prstGeom>
          <a:solidFill>
            <a:srgbClr val="FAB753">
              <a:alpha val="60000"/>
            </a:srgbClr>
          </a:solidFill>
          <a:ln/>
        </p:spPr>
        <p:txBody>
          <a:bodyPr wrap="none" rtlCol="0" anchor="t"/>
          <a:lstStyle/>
          <a:p>
            <a:pPr marL="0" indent="0">
              <a:buNone/>
            </a:pPr>
            <a:endParaRPr lang="en-US" dirty="0"/>
          </a:p>
        </p:txBody>
      </p:sp>
      <p:sp>
        <p:nvSpPr>
          <p:cNvPr id="12" name="Text 10"/>
          <p:cNvSpPr/>
          <p:nvPr/>
        </p:nvSpPr>
        <p:spPr>
          <a:xfrm>
            <a:off x="5225653" y="1015454"/>
            <a:ext cx="35421" cy="35421"/>
          </a:xfrm>
          <a:prstGeom prst="ellipse">
            <a:avLst/>
          </a:prstGeom>
          <a:solidFill>
            <a:srgbClr val="FAB753">
              <a:alpha val="60000"/>
            </a:srgbClr>
          </a:solidFill>
          <a:ln/>
        </p:spPr>
        <p:txBody>
          <a:bodyPr wrap="none" rtlCol="0" anchor="t"/>
          <a:lstStyle/>
          <a:p>
            <a:pPr marL="0" indent="0">
              <a:buNone/>
            </a:pPr>
            <a:endParaRPr lang="en-US" dirty="0"/>
          </a:p>
        </p:txBody>
      </p:sp>
      <p:sp>
        <p:nvSpPr>
          <p:cNvPr id="13" name="Text 11"/>
          <p:cNvSpPr/>
          <p:nvPr/>
        </p:nvSpPr>
        <p:spPr>
          <a:xfrm>
            <a:off x="5296495" y="1004590"/>
            <a:ext cx="57150" cy="57150"/>
          </a:xfrm>
          <a:prstGeom prst="ellipse">
            <a:avLst/>
          </a:prstGeom>
          <a:solidFill>
            <a:srgbClr val="FAB753"/>
          </a:solidFill>
          <a:ln/>
        </p:spPr>
        <p:txBody>
          <a:bodyPr wrap="none" rtlCol="0" anchor="t"/>
          <a:lstStyle/>
          <a:p>
            <a:pPr marL="0" indent="0">
              <a:buNone/>
            </a:pPr>
            <a:endParaRPr lang="en-US" dirty="0"/>
          </a:p>
        </p:txBody>
      </p:sp>
      <p:sp>
        <p:nvSpPr>
          <p:cNvPr id="14" name="Text 12"/>
          <p:cNvSpPr/>
          <p:nvPr/>
        </p:nvSpPr>
        <p:spPr>
          <a:xfrm>
            <a:off x="5389066" y="1015454"/>
            <a:ext cx="35421" cy="35421"/>
          </a:xfrm>
          <a:prstGeom prst="ellipse">
            <a:avLst/>
          </a:prstGeom>
          <a:solidFill>
            <a:srgbClr val="FAB753">
              <a:alpha val="60000"/>
            </a:srgbClr>
          </a:solidFill>
          <a:ln/>
        </p:spPr>
        <p:txBody>
          <a:bodyPr wrap="none" rtlCol="0" anchor="t"/>
          <a:lstStyle/>
          <a:p>
            <a:pPr marL="0" indent="0">
              <a:buNone/>
            </a:pPr>
            <a:endParaRPr lang="en-US" dirty="0"/>
          </a:p>
        </p:txBody>
      </p:sp>
      <p:sp>
        <p:nvSpPr>
          <p:cNvPr id="15" name="Text 13"/>
          <p:cNvSpPr/>
          <p:nvPr/>
        </p:nvSpPr>
        <p:spPr>
          <a:xfrm>
            <a:off x="1438448" y="1163241"/>
            <a:ext cx="6267105" cy="611326"/>
          </a:xfrm>
          <a:prstGeom prst="rect">
            <a:avLst/>
          </a:prstGeom>
          <a:noFill/>
          <a:ln/>
        </p:spPr>
        <p:txBody>
          <a:bodyPr wrap="square" lIns="0" tIns="0" rIns="0" bIns="0" rtlCol="0" anchor="t"/>
          <a:lstStyle/>
          <a:p>
            <a:pPr marL="0" indent="0" algn="ctr">
              <a:lnSpc>
                <a:spcPts val="2292"/>
              </a:lnSpc>
              <a:spcAft>
                <a:spcPts val="790"/>
              </a:spcAft>
              <a:buNone/>
            </a:pPr>
            <a:r>
              <a:rPr lang="en-US" sz="1910" b="1" dirty="0">
                <a:solidFill>
                  <a:srgbClr val="FFFFFF"/>
                </a:solidFill>
                <a:latin typeface="Calibri Light" pitchFamily="34" charset="0"/>
                <a:ea typeface="Calibri Light" pitchFamily="34" charset="-122"/>
                <a:cs typeface="Calibri Light" pitchFamily="34" charset="-120"/>
              </a:rPr>
              <a:t>What Is One Intentional Relational Practice You Will Apply?</a:t>
            </a:r>
            <a:endParaRPr lang="en-US" sz="1910" dirty="0"/>
          </a:p>
        </p:txBody>
      </p:sp>
      <p:sp>
        <p:nvSpPr>
          <p:cNvPr id="16" name="Text 14"/>
          <p:cNvSpPr/>
          <p:nvPr/>
        </p:nvSpPr>
        <p:spPr>
          <a:xfrm>
            <a:off x="1803083" y="1845766"/>
            <a:ext cx="5537835" cy="370984"/>
          </a:xfrm>
          <a:prstGeom prst="rect">
            <a:avLst/>
          </a:prstGeom>
          <a:noFill/>
          <a:ln/>
        </p:spPr>
        <p:txBody>
          <a:bodyPr wrap="square" lIns="0" tIns="0" rIns="0" bIns="0" rtlCol="0" anchor="t"/>
          <a:lstStyle/>
          <a:p>
            <a:pPr marL="0" indent="0" algn="ctr">
              <a:lnSpc>
                <a:spcPts val="1392"/>
              </a:lnSpc>
              <a:spcAft>
                <a:spcPts val="1350"/>
              </a:spcAft>
              <a:buNone/>
            </a:pPr>
            <a:r>
              <a:rPr lang="en-US" sz="870" dirty="0">
                <a:solidFill>
                  <a:srgbClr val="FFFFFF">
                    <a:alpha val="88000"/>
                  </a:srgbClr>
                </a:solidFill>
                <a:latin typeface="Calibri" pitchFamily="34" charset="0"/>
                <a:ea typeface="Calibri" pitchFamily="34" charset="-122"/>
                <a:cs typeface="Calibri" pitchFamily="34" charset="-120"/>
              </a:rPr>
              <a:t>Before you leave today, identify one specific practice — with a school, a family, or your team — that you will do differently or more intentionally starting this week.</a:t>
            </a:r>
            <a:endParaRPr lang="en-US" sz="870" dirty="0"/>
          </a:p>
        </p:txBody>
      </p:sp>
      <p:sp>
        <p:nvSpPr>
          <p:cNvPr id="17" name="Text 15"/>
          <p:cNvSpPr/>
          <p:nvPr/>
        </p:nvSpPr>
        <p:spPr>
          <a:xfrm>
            <a:off x="1642765" y="2370534"/>
            <a:ext cx="5858470" cy="1516261"/>
          </a:xfrm>
          <a:prstGeom prst="roundRect">
            <a:avLst>
              <a:gd name="adj" fmla="val 5696"/>
            </a:avLst>
          </a:prstGeom>
          <a:solidFill>
            <a:srgbClr val="EAF4F4"/>
          </a:solidFill>
          <a:ln w="9525">
            <a:solidFill>
              <a:srgbClr val="55A49C"/>
            </a:solidFill>
          </a:ln>
        </p:spPr>
        <p:txBody>
          <a:bodyPr wrap="square" rtlCol="0" anchor="t"/>
          <a:lstStyle/>
          <a:p>
            <a:pPr marL="0" indent="0">
              <a:buNone/>
            </a:pPr>
            <a:endParaRPr lang="en-US" dirty="0"/>
          </a:p>
        </p:txBody>
      </p:sp>
      <p:sp>
        <p:nvSpPr>
          <p:cNvPr id="18" name="Text 16"/>
          <p:cNvSpPr/>
          <p:nvPr/>
        </p:nvSpPr>
        <p:spPr>
          <a:xfrm>
            <a:off x="1938040" y="2738140"/>
            <a:ext cx="57150" cy="57150"/>
          </a:xfrm>
          <a:prstGeom prst="ellipse">
            <a:avLst/>
          </a:prstGeom>
          <a:solidFill>
            <a:srgbClr val="FAB753"/>
          </a:solidFill>
          <a:ln/>
        </p:spPr>
        <p:txBody>
          <a:bodyPr wrap="none" rtlCol="0" anchor="t"/>
          <a:lstStyle/>
          <a:p>
            <a:pPr marL="0" indent="0">
              <a:buNone/>
            </a:pPr>
            <a:endParaRPr lang="en-US" dirty="0"/>
          </a:p>
        </p:txBody>
      </p:sp>
      <p:sp>
        <p:nvSpPr>
          <p:cNvPr id="19" name="Text 17"/>
          <p:cNvSpPr/>
          <p:nvPr/>
        </p:nvSpPr>
        <p:spPr>
          <a:xfrm>
            <a:off x="2066181" y="2680990"/>
            <a:ext cx="1021065" cy="158353"/>
          </a:xfrm>
          <a:prstGeom prst="rect">
            <a:avLst/>
          </a:prstGeom>
          <a:noFill/>
          <a:ln/>
        </p:spPr>
        <p:txBody>
          <a:bodyPr wrap="none" lIns="0" tIns="0" rIns="0" bIns="0" rtlCol="0" anchor="ctr"/>
          <a:lstStyle/>
          <a:p>
            <a:pPr marL="0" indent="0" algn="l">
              <a:lnSpc>
                <a:spcPts val="1248"/>
              </a:lnSpc>
              <a:buNone/>
            </a:pPr>
            <a:r>
              <a:rPr lang="en-US" sz="960" b="1" dirty="0">
                <a:solidFill>
                  <a:srgbClr val="2C2C2C"/>
                </a:solidFill>
                <a:latin typeface="Calibri" pitchFamily="34" charset="0"/>
                <a:ea typeface="Calibri" pitchFamily="34" charset="-122"/>
                <a:cs typeface="Calibri" pitchFamily="34" charset="-120"/>
              </a:rPr>
              <a:t>With a school:</a:t>
            </a:r>
            <a:endParaRPr lang="en-US" sz="960" dirty="0"/>
          </a:p>
        </p:txBody>
      </p:sp>
      <p:sp>
        <p:nvSpPr>
          <p:cNvPr id="20" name="Text 18"/>
          <p:cNvSpPr/>
          <p:nvPr/>
        </p:nvSpPr>
        <p:spPr>
          <a:xfrm>
            <a:off x="3065413" y="2785765"/>
            <a:ext cx="4140547" cy="9525"/>
          </a:xfrm>
          <a:prstGeom prst="rect">
            <a:avLst/>
          </a:prstGeom>
          <a:solidFill>
            <a:srgbClr val="55A49C"/>
          </a:solidFill>
          <a:ln/>
        </p:spPr>
        <p:txBody>
          <a:bodyPr wrap="none" rtlCol="0" anchor="t"/>
          <a:lstStyle/>
          <a:p>
            <a:pPr marL="0" indent="0">
              <a:buNone/>
            </a:pPr>
            <a:endParaRPr lang="en-US" dirty="0"/>
          </a:p>
        </p:txBody>
      </p:sp>
      <p:sp>
        <p:nvSpPr>
          <p:cNvPr id="21" name="Text 19"/>
          <p:cNvSpPr/>
          <p:nvPr/>
        </p:nvSpPr>
        <p:spPr>
          <a:xfrm>
            <a:off x="1938040" y="3106638"/>
            <a:ext cx="57150" cy="57150"/>
          </a:xfrm>
          <a:prstGeom prst="ellipse">
            <a:avLst/>
          </a:prstGeom>
          <a:solidFill>
            <a:srgbClr val="FAB753"/>
          </a:solidFill>
          <a:ln/>
        </p:spPr>
        <p:txBody>
          <a:bodyPr wrap="none" rtlCol="0" anchor="t"/>
          <a:lstStyle/>
          <a:p>
            <a:pPr marL="0" indent="0">
              <a:buNone/>
            </a:pPr>
            <a:endParaRPr lang="en-US" dirty="0"/>
          </a:p>
        </p:txBody>
      </p:sp>
      <p:sp>
        <p:nvSpPr>
          <p:cNvPr id="22" name="Text 20"/>
          <p:cNvSpPr/>
          <p:nvPr/>
        </p:nvSpPr>
        <p:spPr>
          <a:xfrm>
            <a:off x="2066181" y="3049488"/>
            <a:ext cx="1021065" cy="158353"/>
          </a:xfrm>
          <a:prstGeom prst="rect">
            <a:avLst/>
          </a:prstGeom>
          <a:noFill/>
          <a:ln/>
        </p:spPr>
        <p:txBody>
          <a:bodyPr wrap="none" lIns="0" tIns="0" rIns="0" bIns="0" rtlCol="0" anchor="ctr"/>
          <a:lstStyle/>
          <a:p>
            <a:pPr marL="0" indent="0" algn="l">
              <a:lnSpc>
                <a:spcPts val="1248"/>
              </a:lnSpc>
              <a:buNone/>
            </a:pPr>
            <a:r>
              <a:rPr lang="en-US" sz="960" b="1" dirty="0">
                <a:solidFill>
                  <a:srgbClr val="2C2C2C"/>
                </a:solidFill>
                <a:latin typeface="Calibri" pitchFamily="34" charset="0"/>
                <a:ea typeface="Calibri" pitchFamily="34" charset="-122"/>
                <a:cs typeface="Calibri" pitchFamily="34" charset="-120"/>
              </a:rPr>
              <a:t>With a family:</a:t>
            </a:r>
            <a:endParaRPr lang="en-US" sz="960" dirty="0"/>
          </a:p>
        </p:txBody>
      </p:sp>
      <p:sp>
        <p:nvSpPr>
          <p:cNvPr id="23" name="Text 21"/>
          <p:cNvSpPr/>
          <p:nvPr/>
        </p:nvSpPr>
        <p:spPr>
          <a:xfrm>
            <a:off x="3065413" y="3154263"/>
            <a:ext cx="4140547" cy="9525"/>
          </a:xfrm>
          <a:prstGeom prst="rect">
            <a:avLst/>
          </a:prstGeom>
          <a:solidFill>
            <a:srgbClr val="55A49C"/>
          </a:solidFill>
          <a:ln/>
        </p:spPr>
        <p:txBody>
          <a:bodyPr wrap="none" rtlCol="0" anchor="t"/>
          <a:lstStyle/>
          <a:p>
            <a:pPr marL="0" indent="0">
              <a:buNone/>
            </a:pPr>
            <a:endParaRPr lang="en-US" dirty="0"/>
          </a:p>
        </p:txBody>
      </p:sp>
      <p:sp>
        <p:nvSpPr>
          <p:cNvPr id="24" name="Text 22"/>
          <p:cNvSpPr/>
          <p:nvPr/>
        </p:nvSpPr>
        <p:spPr>
          <a:xfrm>
            <a:off x="1938040" y="3475137"/>
            <a:ext cx="57150" cy="57150"/>
          </a:xfrm>
          <a:prstGeom prst="ellipse">
            <a:avLst/>
          </a:prstGeom>
          <a:solidFill>
            <a:srgbClr val="FAB753"/>
          </a:solidFill>
          <a:ln/>
        </p:spPr>
        <p:txBody>
          <a:bodyPr wrap="none" rtlCol="0" anchor="t"/>
          <a:lstStyle/>
          <a:p>
            <a:pPr marL="0" indent="0">
              <a:buNone/>
            </a:pPr>
            <a:endParaRPr lang="en-US" dirty="0"/>
          </a:p>
        </p:txBody>
      </p:sp>
      <p:sp>
        <p:nvSpPr>
          <p:cNvPr id="25" name="Text 23"/>
          <p:cNvSpPr/>
          <p:nvPr/>
        </p:nvSpPr>
        <p:spPr>
          <a:xfrm>
            <a:off x="2066181" y="3417987"/>
            <a:ext cx="1021065" cy="158353"/>
          </a:xfrm>
          <a:prstGeom prst="rect">
            <a:avLst/>
          </a:prstGeom>
          <a:noFill/>
          <a:ln/>
        </p:spPr>
        <p:txBody>
          <a:bodyPr wrap="none" lIns="0" tIns="0" rIns="0" bIns="0" rtlCol="0" anchor="ctr"/>
          <a:lstStyle/>
          <a:p>
            <a:pPr marL="0" indent="0" algn="l">
              <a:lnSpc>
                <a:spcPts val="1248"/>
              </a:lnSpc>
              <a:buNone/>
            </a:pPr>
            <a:r>
              <a:rPr lang="en-US" sz="960" b="1" dirty="0">
                <a:solidFill>
                  <a:srgbClr val="2C2C2C"/>
                </a:solidFill>
                <a:latin typeface="Calibri" pitchFamily="34" charset="0"/>
                <a:ea typeface="Calibri" pitchFamily="34" charset="-122"/>
                <a:cs typeface="Calibri" pitchFamily="34" charset="-120"/>
              </a:rPr>
              <a:t>With my team:</a:t>
            </a:r>
            <a:endParaRPr lang="en-US" sz="960" dirty="0"/>
          </a:p>
        </p:txBody>
      </p:sp>
      <p:sp>
        <p:nvSpPr>
          <p:cNvPr id="26" name="Text 24"/>
          <p:cNvSpPr/>
          <p:nvPr/>
        </p:nvSpPr>
        <p:spPr>
          <a:xfrm>
            <a:off x="3065413" y="3522762"/>
            <a:ext cx="4140547" cy="9525"/>
          </a:xfrm>
          <a:prstGeom prst="rect">
            <a:avLst/>
          </a:prstGeom>
          <a:solidFill>
            <a:srgbClr val="55A49C"/>
          </a:solidFill>
          <a:ln/>
        </p:spPr>
        <p:txBody>
          <a:bodyPr wrap="none" rtlCol="0" anchor="t"/>
          <a:lstStyle/>
          <a:p>
            <a:pPr marL="0" indent="0">
              <a:buNone/>
            </a:pPr>
            <a:endParaRPr lang="en-US" dirty="0"/>
          </a:p>
        </p:txBody>
      </p:sp>
      <p:sp>
        <p:nvSpPr>
          <p:cNvPr id="27" name="Text 25"/>
          <p:cNvSpPr/>
          <p:nvPr/>
        </p:nvSpPr>
        <p:spPr>
          <a:xfrm>
            <a:off x="3115635" y="4030266"/>
            <a:ext cx="2912581" cy="139005"/>
          </a:xfrm>
          <a:prstGeom prst="rect">
            <a:avLst/>
          </a:prstGeom>
          <a:noFill/>
          <a:ln/>
        </p:spPr>
        <p:txBody>
          <a:bodyPr wrap="none" lIns="0" tIns="0" rIns="0" bIns="0" rtlCol="0" anchor="t"/>
          <a:lstStyle/>
          <a:p>
            <a:pPr marL="0" indent="0" algn="ctr">
              <a:lnSpc>
                <a:spcPts val="1095"/>
              </a:lnSpc>
              <a:buNone/>
            </a:pPr>
            <a:r>
              <a:rPr lang="en-US" sz="730" i="1" kern="0" spc="22" dirty="0">
                <a:solidFill>
                  <a:srgbClr val="FAB753"/>
                </a:solidFill>
                <a:latin typeface="Calibri" pitchFamily="34" charset="0"/>
                <a:ea typeface="Calibri" pitchFamily="34" charset="-122"/>
                <a:cs typeface="Calibri" pitchFamily="34" charset="-120"/>
              </a:rPr>
              <a:t>Write it down. Share it with a colleague. Revisit it in 30 days.</a:t>
            </a:r>
            <a:endParaRPr lang="en-US" sz="7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5E72"/>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FFFFFF">
                  <a:alpha val="2000"/>
                </a:srgbClr>
              </a:gs>
              <a:gs pos="33333">
                <a:srgbClr val="FFFFFF">
                  <a:alpha val="2000"/>
                </a:srgbClr>
              </a:gs>
              <a:gs pos="66667">
                <a:srgbClr val="000000">
                  <a:alpha val="0"/>
                </a:srgbClr>
              </a:gs>
              <a:gs pos="100000">
                <a:srgbClr val="000000">
                  <a:alpha val="0"/>
                </a:srgbClr>
              </a:gs>
            </a:gsLst>
            <a:lin ang="2700000" scaled="1"/>
          </a:gradFill>
          <a:ln/>
        </p:spPr>
        <p:txBody>
          <a:bodyPr wrap="square" rtlCol="0" anchor="t"/>
          <a:lstStyle/>
          <a:p>
            <a:pPr marL="0" indent="0">
              <a:buNone/>
            </a:pPr>
            <a:endParaRPr lang="en-US" dirty="0"/>
          </a:p>
        </p:txBody>
      </p:sp>
      <p:sp>
        <p:nvSpPr>
          <p:cNvPr id="3" name="Text 1"/>
          <p:cNvSpPr/>
          <p:nvPr/>
        </p:nvSpPr>
        <p:spPr>
          <a:xfrm>
            <a:off x="0" y="0"/>
            <a:ext cx="43160" cy="5143500"/>
          </a:xfrm>
          <a:prstGeom prst="rect">
            <a:avLst/>
          </a:prstGeom>
          <a:solidFill>
            <a:srgbClr val="FAB753"/>
          </a:solidFill>
          <a:ln/>
        </p:spPr>
        <p:txBody>
          <a:bodyPr wrap="square" rtlCol="0" anchor="t"/>
          <a:lstStyle/>
          <a:p>
            <a:pPr marL="0" indent="0">
              <a:buNone/>
            </a:pPr>
            <a:endParaRPr lang="en-US" dirty="0"/>
          </a:p>
        </p:txBody>
      </p:sp>
      <p:sp>
        <p:nvSpPr>
          <p:cNvPr id="4" name="Text 2"/>
          <p:cNvSpPr/>
          <p:nvPr/>
        </p:nvSpPr>
        <p:spPr>
          <a:xfrm>
            <a:off x="409575" y="990898"/>
            <a:ext cx="21580" cy="985990"/>
          </a:xfrm>
          <a:custGeom>
            <a:avLst/>
            <a:gdLst/>
            <a:ahLst/>
            <a:cxnLst/>
            <a:rect l="l" t="t" r="r" b="b"/>
            <a:pathLst>
              <a:path w="21580" h="985990">
                <a:moveTo>
                  <a:pt x="43180" y="0"/>
                </a:moveTo>
                <a:lnTo>
                  <a:pt x="21580" y="0"/>
                </a:lnTo>
                <a:lnTo>
                  <a:pt x="21580" y="985990"/>
                </a:lnTo>
                <a:lnTo>
                  <a:pt x="43180" y="985990"/>
                </a:lnTo>
                <a:lnTo>
                  <a:pt x="0" y="942810"/>
                </a:lnTo>
                <a:lnTo>
                  <a:pt x="830" y="951234"/>
                </a:lnTo>
                <a:lnTo>
                  <a:pt x="3287" y="959334"/>
                </a:lnTo>
                <a:lnTo>
                  <a:pt x="7277" y="966799"/>
                </a:lnTo>
                <a:lnTo>
                  <a:pt x="12647" y="973343"/>
                </a:lnTo>
                <a:lnTo>
                  <a:pt x="19190" y="978713"/>
                </a:lnTo>
                <a:lnTo>
                  <a:pt x="21580" y="982703"/>
                </a:lnTo>
                <a:lnTo>
                  <a:pt x="21580" y="985160"/>
                </a:lnTo>
                <a:lnTo>
                  <a:pt x="21580" y="985990"/>
                </a:lnTo>
                <a:lnTo>
                  <a:pt x="0" y="43180"/>
                </a:lnTo>
                <a:lnTo>
                  <a:pt x="21580" y="0"/>
                </a:lnTo>
                <a:lnTo>
                  <a:pt x="21580" y="830"/>
                </a:lnTo>
                <a:lnTo>
                  <a:pt x="21580" y="3287"/>
                </a:lnTo>
                <a:lnTo>
                  <a:pt x="19190" y="7277"/>
                </a:lnTo>
                <a:lnTo>
                  <a:pt x="12647" y="12647"/>
                </a:lnTo>
                <a:lnTo>
                  <a:pt x="7277" y="19190"/>
                </a:lnTo>
                <a:lnTo>
                  <a:pt x="3287" y="26656"/>
                </a:lnTo>
                <a:lnTo>
                  <a:pt x="830" y="34756"/>
                </a:lnTo>
                <a:lnTo>
                  <a:pt x="0" y="43180"/>
                </a:lnTo>
                <a:close/>
              </a:path>
            </a:pathLst>
          </a:custGeom>
          <a:solidFill>
            <a:srgbClr val="FAB753">
              <a:alpha val="85000"/>
            </a:srgbClr>
          </a:solidFill>
          <a:ln/>
        </p:spPr>
        <p:txBody>
          <a:bodyPr wrap="square" rtlCol="0" anchor="t"/>
          <a:lstStyle/>
          <a:p>
            <a:pPr marL="0" indent="0">
              <a:buNone/>
            </a:pPr>
            <a:endParaRPr lang="en-US" dirty="0"/>
          </a:p>
        </p:txBody>
      </p:sp>
      <p:sp>
        <p:nvSpPr>
          <p:cNvPr id="5" name="Text 3"/>
          <p:cNvSpPr/>
          <p:nvPr/>
        </p:nvSpPr>
        <p:spPr>
          <a:xfrm>
            <a:off x="3214539" y="990898"/>
            <a:ext cx="21580" cy="985990"/>
          </a:xfrm>
          <a:custGeom>
            <a:avLst/>
            <a:gdLst/>
            <a:ahLst/>
            <a:cxnLst/>
            <a:rect l="l" t="t" r="r" b="b"/>
            <a:pathLst>
              <a:path w="21580" h="985990">
                <a:moveTo>
                  <a:pt x="43180" y="0"/>
                </a:moveTo>
                <a:lnTo>
                  <a:pt x="21580" y="0"/>
                </a:lnTo>
                <a:lnTo>
                  <a:pt x="21580" y="985990"/>
                </a:lnTo>
                <a:lnTo>
                  <a:pt x="43180" y="985990"/>
                </a:lnTo>
                <a:lnTo>
                  <a:pt x="0" y="942810"/>
                </a:lnTo>
                <a:lnTo>
                  <a:pt x="830" y="951234"/>
                </a:lnTo>
                <a:lnTo>
                  <a:pt x="3287" y="959334"/>
                </a:lnTo>
                <a:lnTo>
                  <a:pt x="7277" y="966799"/>
                </a:lnTo>
                <a:lnTo>
                  <a:pt x="12647" y="973343"/>
                </a:lnTo>
                <a:lnTo>
                  <a:pt x="19190" y="978713"/>
                </a:lnTo>
                <a:lnTo>
                  <a:pt x="21580" y="982703"/>
                </a:lnTo>
                <a:lnTo>
                  <a:pt x="21580" y="985160"/>
                </a:lnTo>
                <a:lnTo>
                  <a:pt x="21580" y="985990"/>
                </a:lnTo>
                <a:lnTo>
                  <a:pt x="0" y="43180"/>
                </a:lnTo>
                <a:lnTo>
                  <a:pt x="21580" y="0"/>
                </a:lnTo>
                <a:lnTo>
                  <a:pt x="21580" y="830"/>
                </a:lnTo>
                <a:lnTo>
                  <a:pt x="21580" y="3287"/>
                </a:lnTo>
                <a:lnTo>
                  <a:pt x="19190" y="7277"/>
                </a:lnTo>
                <a:lnTo>
                  <a:pt x="12647" y="12647"/>
                </a:lnTo>
                <a:lnTo>
                  <a:pt x="7277" y="19190"/>
                </a:lnTo>
                <a:lnTo>
                  <a:pt x="3287" y="26656"/>
                </a:lnTo>
                <a:lnTo>
                  <a:pt x="830" y="34756"/>
                </a:lnTo>
                <a:lnTo>
                  <a:pt x="0" y="43180"/>
                </a:lnTo>
                <a:close/>
              </a:path>
            </a:pathLst>
          </a:custGeom>
          <a:solidFill>
            <a:srgbClr val="FAB753">
              <a:alpha val="85000"/>
            </a:srgbClr>
          </a:solidFill>
          <a:ln/>
        </p:spPr>
        <p:txBody>
          <a:bodyPr wrap="square" rtlCol="0" anchor="t"/>
          <a:lstStyle/>
          <a:p>
            <a:pPr marL="0" indent="0">
              <a:buNone/>
            </a:pPr>
            <a:endParaRPr lang="en-US" dirty="0"/>
          </a:p>
        </p:txBody>
      </p:sp>
      <p:sp>
        <p:nvSpPr>
          <p:cNvPr id="6" name="Text 4"/>
          <p:cNvSpPr/>
          <p:nvPr/>
        </p:nvSpPr>
        <p:spPr>
          <a:xfrm>
            <a:off x="6019502" y="990898"/>
            <a:ext cx="21580" cy="985990"/>
          </a:xfrm>
          <a:custGeom>
            <a:avLst/>
            <a:gdLst/>
            <a:ahLst/>
            <a:cxnLst/>
            <a:rect l="l" t="t" r="r" b="b"/>
            <a:pathLst>
              <a:path w="21580" h="985990">
                <a:moveTo>
                  <a:pt x="43180" y="0"/>
                </a:moveTo>
                <a:lnTo>
                  <a:pt x="21580" y="0"/>
                </a:lnTo>
                <a:lnTo>
                  <a:pt x="21580" y="985990"/>
                </a:lnTo>
                <a:lnTo>
                  <a:pt x="43180" y="985990"/>
                </a:lnTo>
                <a:lnTo>
                  <a:pt x="0" y="942810"/>
                </a:lnTo>
                <a:lnTo>
                  <a:pt x="830" y="951234"/>
                </a:lnTo>
                <a:lnTo>
                  <a:pt x="3287" y="959334"/>
                </a:lnTo>
                <a:lnTo>
                  <a:pt x="7277" y="966799"/>
                </a:lnTo>
                <a:lnTo>
                  <a:pt x="12647" y="973343"/>
                </a:lnTo>
                <a:lnTo>
                  <a:pt x="19190" y="978713"/>
                </a:lnTo>
                <a:lnTo>
                  <a:pt x="21580" y="982703"/>
                </a:lnTo>
                <a:lnTo>
                  <a:pt x="21580" y="985160"/>
                </a:lnTo>
                <a:lnTo>
                  <a:pt x="21580" y="985990"/>
                </a:lnTo>
                <a:lnTo>
                  <a:pt x="0" y="43180"/>
                </a:lnTo>
                <a:lnTo>
                  <a:pt x="21580" y="0"/>
                </a:lnTo>
                <a:lnTo>
                  <a:pt x="21580" y="830"/>
                </a:lnTo>
                <a:lnTo>
                  <a:pt x="21580" y="3287"/>
                </a:lnTo>
                <a:lnTo>
                  <a:pt x="19190" y="7277"/>
                </a:lnTo>
                <a:lnTo>
                  <a:pt x="12647" y="12647"/>
                </a:lnTo>
                <a:lnTo>
                  <a:pt x="7277" y="19190"/>
                </a:lnTo>
                <a:lnTo>
                  <a:pt x="3287" y="26656"/>
                </a:lnTo>
                <a:lnTo>
                  <a:pt x="830" y="34756"/>
                </a:lnTo>
                <a:lnTo>
                  <a:pt x="0" y="43180"/>
                </a:lnTo>
                <a:close/>
              </a:path>
            </a:pathLst>
          </a:custGeom>
          <a:solidFill>
            <a:srgbClr val="FAB753">
              <a:alpha val="85000"/>
            </a:srgbClr>
          </a:solidFill>
          <a:ln/>
        </p:spPr>
        <p:txBody>
          <a:bodyPr wrap="square" rtlCol="0" anchor="t"/>
          <a:lstStyle/>
          <a:p>
            <a:pPr marL="0" indent="0">
              <a:buNone/>
            </a:pPr>
            <a:endParaRPr lang="en-US" dirty="0"/>
          </a:p>
        </p:txBody>
      </p:sp>
      <p:sp>
        <p:nvSpPr>
          <p:cNvPr id="7" name="Text 5"/>
          <p:cNvSpPr/>
          <p:nvPr/>
        </p:nvSpPr>
        <p:spPr>
          <a:xfrm>
            <a:off x="409575" y="2066925"/>
            <a:ext cx="21580" cy="985990"/>
          </a:xfrm>
          <a:custGeom>
            <a:avLst/>
            <a:gdLst/>
            <a:ahLst/>
            <a:cxnLst/>
            <a:rect l="l" t="t" r="r" b="b"/>
            <a:pathLst>
              <a:path w="21580" h="985990">
                <a:moveTo>
                  <a:pt x="43180" y="0"/>
                </a:moveTo>
                <a:lnTo>
                  <a:pt x="21580" y="0"/>
                </a:lnTo>
                <a:lnTo>
                  <a:pt x="21580" y="985990"/>
                </a:lnTo>
                <a:lnTo>
                  <a:pt x="43180" y="985990"/>
                </a:lnTo>
                <a:lnTo>
                  <a:pt x="0" y="942810"/>
                </a:lnTo>
                <a:lnTo>
                  <a:pt x="830" y="951234"/>
                </a:lnTo>
                <a:lnTo>
                  <a:pt x="3287" y="959334"/>
                </a:lnTo>
                <a:lnTo>
                  <a:pt x="7277" y="966799"/>
                </a:lnTo>
                <a:lnTo>
                  <a:pt x="12647" y="973343"/>
                </a:lnTo>
                <a:lnTo>
                  <a:pt x="19190" y="978713"/>
                </a:lnTo>
                <a:lnTo>
                  <a:pt x="21580" y="982703"/>
                </a:lnTo>
                <a:lnTo>
                  <a:pt x="21580" y="985160"/>
                </a:lnTo>
                <a:lnTo>
                  <a:pt x="21580" y="985990"/>
                </a:lnTo>
                <a:lnTo>
                  <a:pt x="0" y="43180"/>
                </a:lnTo>
                <a:lnTo>
                  <a:pt x="21580" y="0"/>
                </a:lnTo>
                <a:lnTo>
                  <a:pt x="21580" y="830"/>
                </a:lnTo>
                <a:lnTo>
                  <a:pt x="21580" y="3287"/>
                </a:lnTo>
                <a:lnTo>
                  <a:pt x="19190" y="7277"/>
                </a:lnTo>
                <a:lnTo>
                  <a:pt x="12647" y="12647"/>
                </a:lnTo>
                <a:lnTo>
                  <a:pt x="7277" y="19190"/>
                </a:lnTo>
                <a:lnTo>
                  <a:pt x="3287" y="26656"/>
                </a:lnTo>
                <a:lnTo>
                  <a:pt x="830" y="34756"/>
                </a:lnTo>
                <a:lnTo>
                  <a:pt x="0" y="43180"/>
                </a:lnTo>
                <a:close/>
              </a:path>
            </a:pathLst>
          </a:custGeom>
          <a:solidFill>
            <a:srgbClr val="FAB753">
              <a:alpha val="85000"/>
            </a:srgbClr>
          </a:solidFill>
          <a:ln/>
        </p:spPr>
        <p:txBody>
          <a:bodyPr wrap="square" rtlCol="0" anchor="t"/>
          <a:lstStyle/>
          <a:p>
            <a:pPr marL="0" indent="0">
              <a:buNone/>
            </a:pPr>
            <a:endParaRPr lang="en-US" dirty="0"/>
          </a:p>
        </p:txBody>
      </p:sp>
      <p:sp>
        <p:nvSpPr>
          <p:cNvPr id="8" name="Text 6"/>
          <p:cNvSpPr/>
          <p:nvPr/>
        </p:nvSpPr>
        <p:spPr>
          <a:xfrm>
            <a:off x="3214539" y="2066925"/>
            <a:ext cx="21580" cy="985990"/>
          </a:xfrm>
          <a:custGeom>
            <a:avLst/>
            <a:gdLst/>
            <a:ahLst/>
            <a:cxnLst/>
            <a:rect l="l" t="t" r="r" b="b"/>
            <a:pathLst>
              <a:path w="21580" h="985990">
                <a:moveTo>
                  <a:pt x="43180" y="0"/>
                </a:moveTo>
                <a:lnTo>
                  <a:pt x="21580" y="0"/>
                </a:lnTo>
                <a:lnTo>
                  <a:pt x="21580" y="985990"/>
                </a:lnTo>
                <a:lnTo>
                  <a:pt x="43180" y="985990"/>
                </a:lnTo>
                <a:lnTo>
                  <a:pt x="0" y="942810"/>
                </a:lnTo>
                <a:lnTo>
                  <a:pt x="830" y="951234"/>
                </a:lnTo>
                <a:lnTo>
                  <a:pt x="3287" y="959334"/>
                </a:lnTo>
                <a:lnTo>
                  <a:pt x="7277" y="966799"/>
                </a:lnTo>
                <a:lnTo>
                  <a:pt x="12647" y="973343"/>
                </a:lnTo>
                <a:lnTo>
                  <a:pt x="19190" y="978713"/>
                </a:lnTo>
                <a:lnTo>
                  <a:pt x="21580" y="982703"/>
                </a:lnTo>
                <a:lnTo>
                  <a:pt x="21580" y="985160"/>
                </a:lnTo>
                <a:lnTo>
                  <a:pt x="21580" y="985990"/>
                </a:lnTo>
                <a:lnTo>
                  <a:pt x="0" y="43180"/>
                </a:lnTo>
                <a:lnTo>
                  <a:pt x="21580" y="0"/>
                </a:lnTo>
                <a:lnTo>
                  <a:pt x="21580" y="830"/>
                </a:lnTo>
                <a:lnTo>
                  <a:pt x="21580" y="3287"/>
                </a:lnTo>
                <a:lnTo>
                  <a:pt x="19190" y="7277"/>
                </a:lnTo>
                <a:lnTo>
                  <a:pt x="12647" y="12647"/>
                </a:lnTo>
                <a:lnTo>
                  <a:pt x="7277" y="19190"/>
                </a:lnTo>
                <a:lnTo>
                  <a:pt x="3287" y="26656"/>
                </a:lnTo>
                <a:lnTo>
                  <a:pt x="830" y="34756"/>
                </a:lnTo>
                <a:lnTo>
                  <a:pt x="0" y="43180"/>
                </a:lnTo>
                <a:close/>
              </a:path>
            </a:pathLst>
          </a:custGeom>
          <a:solidFill>
            <a:srgbClr val="FAB753">
              <a:alpha val="85000"/>
            </a:srgbClr>
          </a:solidFill>
          <a:ln/>
        </p:spPr>
        <p:txBody>
          <a:bodyPr wrap="square" rtlCol="0" anchor="t"/>
          <a:lstStyle/>
          <a:p>
            <a:pPr marL="0" indent="0">
              <a:buNone/>
            </a:pPr>
            <a:endParaRPr lang="en-US" dirty="0"/>
          </a:p>
        </p:txBody>
      </p:sp>
      <p:sp>
        <p:nvSpPr>
          <p:cNvPr id="9" name="Text 7"/>
          <p:cNvSpPr/>
          <p:nvPr/>
        </p:nvSpPr>
        <p:spPr>
          <a:xfrm>
            <a:off x="6019502" y="2066925"/>
            <a:ext cx="21580" cy="985990"/>
          </a:xfrm>
          <a:custGeom>
            <a:avLst/>
            <a:gdLst/>
            <a:ahLst/>
            <a:cxnLst/>
            <a:rect l="l" t="t" r="r" b="b"/>
            <a:pathLst>
              <a:path w="21580" h="985990">
                <a:moveTo>
                  <a:pt x="43180" y="0"/>
                </a:moveTo>
                <a:lnTo>
                  <a:pt x="21580" y="0"/>
                </a:lnTo>
                <a:lnTo>
                  <a:pt x="21580" y="985990"/>
                </a:lnTo>
                <a:lnTo>
                  <a:pt x="43180" y="985990"/>
                </a:lnTo>
                <a:lnTo>
                  <a:pt x="0" y="942810"/>
                </a:lnTo>
                <a:lnTo>
                  <a:pt x="830" y="951234"/>
                </a:lnTo>
                <a:lnTo>
                  <a:pt x="3287" y="959334"/>
                </a:lnTo>
                <a:lnTo>
                  <a:pt x="7277" y="966799"/>
                </a:lnTo>
                <a:lnTo>
                  <a:pt x="12647" y="973343"/>
                </a:lnTo>
                <a:lnTo>
                  <a:pt x="19190" y="978713"/>
                </a:lnTo>
                <a:lnTo>
                  <a:pt x="21580" y="982703"/>
                </a:lnTo>
                <a:lnTo>
                  <a:pt x="21580" y="985160"/>
                </a:lnTo>
                <a:lnTo>
                  <a:pt x="21580" y="985990"/>
                </a:lnTo>
                <a:lnTo>
                  <a:pt x="0" y="43180"/>
                </a:lnTo>
                <a:lnTo>
                  <a:pt x="21580" y="0"/>
                </a:lnTo>
                <a:lnTo>
                  <a:pt x="21580" y="830"/>
                </a:lnTo>
                <a:lnTo>
                  <a:pt x="21580" y="3287"/>
                </a:lnTo>
                <a:lnTo>
                  <a:pt x="19190" y="7277"/>
                </a:lnTo>
                <a:lnTo>
                  <a:pt x="12647" y="12647"/>
                </a:lnTo>
                <a:lnTo>
                  <a:pt x="7277" y="19190"/>
                </a:lnTo>
                <a:lnTo>
                  <a:pt x="3287" y="26656"/>
                </a:lnTo>
                <a:lnTo>
                  <a:pt x="830" y="34756"/>
                </a:lnTo>
                <a:lnTo>
                  <a:pt x="0" y="43180"/>
                </a:lnTo>
                <a:close/>
              </a:path>
            </a:pathLst>
          </a:custGeom>
          <a:solidFill>
            <a:srgbClr val="FAB753">
              <a:alpha val="85000"/>
            </a:srgbClr>
          </a:solidFill>
          <a:ln/>
        </p:spPr>
        <p:txBody>
          <a:bodyPr wrap="square" rtlCol="0" anchor="t"/>
          <a:lstStyle/>
          <a:p>
            <a:pPr marL="0" indent="0">
              <a:buNone/>
            </a:pPr>
            <a:endParaRPr lang="en-US" dirty="0"/>
          </a:p>
        </p:txBody>
      </p:sp>
      <p:sp>
        <p:nvSpPr>
          <p:cNvPr id="10" name="Text 8"/>
          <p:cNvSpPr/>
          <p:nvPr/>
        </p:nvSpPr>
        <p:spPr>
          <a:xfrm>
            <a:off x="0" y="871538"/>
            <a:ext cx="9144000" cy="9525"/>
          </a:xfrm>
          <a:prstGeom prst="rect">
            <a:avLst/>
          </a:prstGeom>
          <a:solidFill>
            <a:srgbClr val="FFFFFF">
              <a:alpha val="12000"/>
            </a:srgbClr>
          </a:solidFill>
          <a:ln/>
        </p:spPr>
        <p:txBody>
          <a:bodyPr wrap="none" rtlCol="0" anchor="t"/>
          <a:lstStyle/>
          <a:p>
            <a:pPr marL="0" indent="0">
              <a:buNone/>
            </a:pPr>
            <a:endParaRPr lang="en-US" dirty="0"/>
          </a:p>
        </p:txBody>
      </p:sp>
      <p:sp>
        <p:nvSpPr>
          <p:cNvPr id="11" name="Text 9"/>
          <p:cNvSpPr/>
          <p:nvPr/>
        </p:nvSpPr>
        <p:spPr>
          <a:xfrm>
            <a:off x="400050" y="200620"/>
            <a:ext cx="9178290" cy="118021"/>
          </a:xfrm>
          <a:prstGeom prst="rect">
            <a:avLst/>
          </a:prstGeom>
          <a:noFill/>
          <a:ln/>
        </p:spPr>
        <p:txBody>
          <a:bodyPr wrap="none" lIns="0" tIns="0" rIns="0" bIns="0" rtlCol="0" anchor="t"/>
          <a:lstStyle/>
          <a:p>
            <a:pPr marL="0" indent="0" algn="l">
              <a:lnSpc>
                <a:spcPts val="930"/>
              </a:lnSpc>
              <a:buNone/>
            </a:pPr>
            <a:r>
              <a:rPr lang="en-US" sz="620" b="1" kern="0" spc="112" dirty="0">
                <a:solidFill>
                  <a:srgbClr val="FAB753"/>
                </a:solidFill>
                <a:latin typeface="Calibri" pitchFamily="34" charset="0"/>
                <a:ea typeface="Calibri" pitchFamily="34" charset="-122"/>
                <a:cs typeface="Calibri" pitchFamily="34" charset="-120"/>
              </a:rPr>
              <a:t>KEY TAKEAWAYS</a:t>
            </a:r>
            <a:endParaRPr lang="en-US" sz="620" dirty="0"/>
          </a:p>
        </p:txBody>
      </p:sp>
      <p:sp>
        <p:nvSpPr>
          <p:cNvPr id="12" name="Text 10"/>
          <p:cNvSpPr/>
          <p:nvPr/>
        </p:nvSpPr>
        <p:spPr>
          <a:xfrm>
            <a:off x="400050" y="347811"/>
            <a:ext cx="4594409" cy="251371"/>
          </a:xfrm>
          <a:prstGeom prst="rect">
            <a:avLst/>
          </a:prstGeom>
          <a:noFill/>
          <a:ln/>
        </p:spPr>
        <p:txBody>
          <a:bodyPr wrap="none" lIns="0" tIns="0" rIns="0" bIns="0" rtlCol="0" anchor="t"/>
          <a:lstStyle/>
          <a:p>
            <a:pPr marL="0" indent="0" algn="l">
              <a:lnSpc>
                <a:spcPts val="1980"/>
              </a:lnSpc>
              <a:buNone/>
            </a:pPr>
            <a:r>
              <a:rPr lang="en-US" sz="1800" b="1" kern="0" spc="-18" dirty="0">
                <a:solidFill>
                  <a:srgbClr val="FFFFFF"/>
                </a:solidFill>
                <a:latin typeface="Calibri Light" pitchFamily="34" charset="0"/>
                <a:ea typeface="Calibri Light" pitchFamily="34" charset="-122"/>
                <a:cs typeface="Calibri Light" pitchFamily="34" charset="-120"/>
              </a:rPr>
              <a:t>Relationship Building — Key Takeaways</a:t>
            </a:r>
            <a:endParaRPr lang="en-US" sz="1800" dirty="0"/>
          </a:p>
        </p:txBody>
      </p:sp>
      <p:sp>
        <p:nvSpPr>
          <p:cNvPr id="13" name="Text 11"/>
          <p:cNvSpPr/>
          <p:nvPr/>
        </p:nvSpPr>
        <p:spPr>
          <a:xfrm>
            <a:off x="400050" y="620762"/>
            <a:ext cx="9178290" cy="150465"/>
          </a:xfrm>
          <a:prstGeom prst="rect">
            <a:avLst/>
          </a:prstGeom>
          <a:noFill/>
          <a:ln/>
        </p:spPr>
        <p:txBody>
          <a:bodyPr wrap="none" lIns="0" tIns="0" rIns="0" bIns="0" rtlCol="0" anchor="t"/>
          <a:lstStyle/>
          <a:p>
            <a:pPr marL="0" indent="0" algn="l">
              <a:lnSpc>
                <a:spcPts val="1185"/>
              </a:lnSpc>
              <a:buNone/>
            </a:pPr>
            <a:r>
              <a:rPr lang="en-US" sz="790" b="1" kern="0" spc="32" dirty="0">
                <a:solidFill>
                  <a:srgbClr val="FAB753"/>
                </a:solidFill>
                <a:latin typeface="Calibri" pitchFamily="34" charset="0"/>
                <a:ea typeface="Calibri" pitchFamily="34" charset="-122"/>
                <a:cs typeface="Calibri" pitchFamily="34" charset="-120"/>
              </a:rPr>
              <a:t>What to carry out of this room today.</a:t>
            </a:r>
            <a:endParaRPr lang="en-US" sz="790" dirty="0"/>
          </a:p>
        </p:txBody>
      </p:sp>
      <p:sp>
        <p:nvSpPr>
          <p:cNvPr id="14" name="Text 12"/>
          <p:cNvSpPr/>
          <p:nvPr/>
        </p:nvSpPr>
        <p:spPr>
          <a:xfrm>
            <a:off x="400050" y="981373"/>
            <a:ext cx="2733973" cy="1005036"/>
          </a:xfrm>
          <a:prstGeom prst="roundRect">
            <a:avLst>
              <a:gd name="adj" fmla="val 4296"/>
            </a:avLst>
          </a:prstGeom>
          <a:solidFill>
            <a:srgbClr val="FFFFFF">
              <a:alpha val="7000"/>
            </a:srgbClr>
          </a:solidFill>
          <a:ln w="9525">
            <a:solidFill>
              <a:srgbClr val="FFFFFF">
                <a:alpha val="13000"/>
              </a:srgbClr>
            </a:solidFill>
          </a:ln>
        </p:spPr>
        <p:txBody>
          <a:bodyPr wrap="square" rtlCol="0" anchor="t"/>
          <a:lstStyle/>
          <a:p>
            <a:pPr marL="0" indent="0">
              <a:buNone/>
            </a:pPr>
            <a:endParaRPr lang="en-US" dirty="0"/>
          </a:p>
        </p:txBody>
      </p:sp>
      <p:sp>
        <p:nvSpPr>
          <p:cNvPr id="15" name="Text 13"/>
          <p:cNvSpPr/>
          <p:nvPr/>
        </p:nvSpPr>
        <p:spPr>
          <a:xfrm>
            <a:off x="509885" y="1084808"/>
            <a:ext cx="200620" cy="200620"/>
          </a:xfrm>
          <a:prstGeom prst="ellipse">
            <a:avLst/>
          </a:prstGeom>
          <a:solidFill>
            <a:srgbClr val="FAB753">
              <a:alpha val="15000"/>
            </a:srgbClr>
          </a:solidFill>
          <a:ln/>
        </p:spPr>
        <p:txBody>
          <a:bodyPr wrap="none" rtlCol="0" anchor="t"/>
          <a:lstStyle/>
          <a:p>
            <a:pPr marL="0" indent="0">
              <a:buNone/>
            </a:pPr>
            <a:endParaRPr lang="en-US" dirty="0"/>
          </a:p>
        </p:txBody>
      </p:sp>
      <p:pic>
        <p:nvPicPr>
          <p:cNvPr id="1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3827" y="1118750"/>
            <a:ext cx="132588" cy="132588"/>
          </a:xfrm>
          <a:prstGeom prst="rect">
            <a:avLst/>
          </a:prstGeom>
        </p:spPr>
      </p:pic>
      <p:sp>
        <p:nvSpPr>
          <p:cNvPr id="17" name="Text 14"/>
          <p:cNvSpPr/>
          <p:nvPr/>
        </p:nvSpPr>
        <p:spPr>
          <a:xfrm>
            <a:off x="789236" y="1077218"/>
            <a:ext cx="2458447" cy="115788"/>
          </a:xfrm>
          <a:prstGeom prst="rect">
            <a:avLst/>
          </a:prstGeom>
          <a:noFill/>
          <a:ln/>
        </p:spPr>
        <p:txBody>
          <a:bodyPr wrap="none" lIns="0" tIns="0" rIns="0" bIns="0" rtlCol="0" anchor="t"/>
          <a:lstStyle/>
          <a:p>
            <a:pPr marL="0" indent="0" algn="l">
              <a:lnSpc>
                <a:spcPts val="912"/>
              </a:lnSpc>
              <a:buNone/>
            </a:pPr>
            <a:r>
              <a:rPr lang="en-US" sz="760" b="1" dirty="0">
                <a:solidFill>
                  <a:srgbClr val="FFFFFF"/>
                </a:solidFill>
                <a:latin typeface="Calibri" pitchFamily="34" charset="0"/>
                <a:ea typeface="Calibri" pitchFamily="34" charset="-122"/>
                <a:cs typeface="Calibri" pitchFamily="34" charset="-120"/>
              </a:rPr>
              <a:t>Relationships are the intervention.</a:t>
            </a:r>
            <a:endParaRPr lang="en-US" sz="760" dirty="0"/>
          </a:p>
        </p:txBody>
      </p:sp>
      <p:sp>
        <p:nvSpPr>
          <p:cNvPr id="18" name="Text 15"/>
          <p:cNvSpPr/>
          <p:nvPr/>
        </p:nvSpPr>
        <p:spPr>
          <a:xfrm>
            <a:off x="789236" y="1214586"/>
            <a:ext cx="2279651" cy="394268"/>
          </a:xfrm>
          <a:prstGeom prst="rect">
            <a:avLst/>
          </a:prstGeom>
          <a:noFill/>
          <a:ln/>
        </p:spPr>
        <p:txBody>
          <a:bodyPr wrap="square" lIns="0" tIns="0" rIns="0" bIns="0" rtlCol="0" anchor="t"/>
          <a:lstStyle/>
          <a:p>
            <a:pPr marL="0" indent="0" algn="l">
              <a:lnSpc>
                <a:spcPts val="986"/>
              </a:lnSpc>
              <a:buNone/>
            </a:pPr>
            <a:r>
              <a:rPr lang="en-US" sz="680" dirty="0">
                <a:solidFill>
                  <a:srgbClr val="FFFFFF">
                    <a:alpha val="78000"/>
                  </a:srgbClr>
                </a:solidFill>
                <a:latin typeface="Calibri" pitchFamily="34" charset="0"/>
                <a:ea typeface="Calibri" pitchFamily="34" charset="-122"/>
                <a:cs typeface="Calibri" pitchFamily="34" charset="-120"/>
              </a:rPr>
              <a:t>Therapeutic alliance, family engagement, and team trust are not background conditions for clinical work — they are the work.</a:t>
            </a:r>
            <a:endParaRPr lang="en-US" sz="680" dirty="0"/>
          </a:p>
        </p:txBody>
      </p:sp>
      <p:sp>
        <p:nvSpPr>
          <p:cNvPr id="19" name="Text 16"/>
          <p:cNvSpPr/>
          <p:nvPr/>
        </p:nvSpPr>
        <p:spPr>
          <a:xfrm>
            <a:off x="3205014" y="981373"/>
            <a:ext cx="2733973" cy="1005036"/>
          </a:xfrm>
          <a:prstGeom prst="roundRect">
            <a:avLst>
              <a:gd name="adj" fmla="val 4296"/>
            </a:avLst>
          </a:prstGeom>
          <a:solidFill>
            <a:srgbClr val="FFFFFF">
              <a:alpha val="7000"/>
            </a:srgbClr>
          </a:solidFill>
          <a:ln w="9525">
            <a:solidFill>
              <a:srgbClr val="FFFFFF">
                <a:alpha val="13000"/>
              </a:srgbClr>
            </a:solidFill>
          </a:ln>
        </p:spPr>
        <p:txBody>
          <a:bodyPr wrap="square" rtlCol="0" anchor="t"/>
          <a:lstStyle/>
          <a:p>
            <a:pPr marL="0" indent="0">
              <a:buNone/>
            </a:pPr>
            <a:endParaRPr lang="en-US" dirty="0"/>
          </a:p>
        </p:txBody>
      </p:sp>
      <p:sp>
        <p:nvSpPr>
          <p:cNvPr id="20" name="Text 17"/>
          <p:cNvSpPr/>
          <p:nvPr/>
        </p:nvSpPr>
        <p:spPr>
          <a:xfrm>
            <a:off x="3314849" y="1084808"/>
            <a:ext cx="200620" cy="200620"/>
          </a:xfrm>
          <a:prstGeom prst="ellipse">
            <a:avLst/>
          </a:prstGeom>
          <a:solidFill>
            <a:srgbClr val="FAB753">
              <a:alpha val="15000"/>
            </a:srgbClr>
          </a:solidFill>
          <a:ln/>
        </p:spPr>
        <p:txBody>
          <a:bodyPr wrap="none" rtlCol="0" anchor="t"/>
          <a:lstStyle/>
          <a:p>
            <a:pPr marL="0" indent="0">
              <a:buNone/>
            </a:pPr>
            <a:endParaRPr lang="en-US" dirty="0"/>
          </a:p>
        </p:txBody>
      </p:sp>
      <p:pic>
        <p:nvPicPr>
          <p:cNvPr id="2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8791" y="1118750"/>
            <a:ext cx="132588" cy="132588"/>
          </a:xfrm>
          <a:prstGeom prst="rect">
            <a:avLst/>
          </a:prstGeom>
        </p:spPr>
      </p:pic>
      <p:sp>
        <p:nvSpPr>
          <p:cNvPr id="22" name="Text 18"/>
          <p:cNvSpPr/>
          <p:nvPr/>
        </p:nvSpPr>
        <p:spPr>
          <a:xfrm>
            <a:off x="3594199" y="1077218"/>
            <a:ext cx="2458447" cy="115788"/>
          </a:xfrm>
          <a:prstGeom prst="rect">
            <a:avLst/>
          </a:prstGeom>
          <a:noFill/>
          <a:ln/>
        </p:spPr>
        <p:txBody>
          <a:bodyPr wrap="none" lIns="0" tIns="0" rIns="0" bIns="0" rtlCol="0" anchor="t"/>
          <a:lstStyle/>
          <a:p>
            <a:pPr marL="0" indent="0" algn="l">
              <a:lnSpc>
                <a:spcPts val="912"/>
              </a:lnSpc>
              <a:buNone/>
            </a:pPr>
            <a:r>
              <a:rPr lang="en-US" sz="760" b="1" dirty="0">
                <a:solidFill>
                  <a:srgbClr val="FFFFFF"/>
                </a:solidFill>
                <a:latin typeface="Calibri" pitchFamily="34" charset="0"/>
                <a:ea typeface="Calibri" pitchFamily="34" charset="-122"/>
                <a:cs typeface="Calibri" pitchFamily="34" charset="-120"/>
              </a:rPr>
              <a:t>First impressions are clinical moments.</a:t>
            </a:r>
            <a:endParaRPr lang="en-US" sz="760" dirty="0"/>
          </a:p>
        </p:txBody>
      </p:sp>
      <p:sp>
        <p:nvSpPr>
          <p:cNvPr id="23" name="Text 19"/>
          <p:cNvSpPr/>
          <p:nvPr/>
        </p:nvSpPr>
        <p:spPr>
          <a:xfrm>
            <a:off x="3594199" y="1214586"/>
            <a:ext cx="2279651" cy="394268"/>
          </a:xfrm>
          <a:prstGeom prst="rect">
            <a:avLst/>
          </a:prstGeom>
          <a:noFill/>
          <a:ln/>
        </p:spPr>
        <p:txBody>
          <a:bodyPr wrap="square" lIns="0" tIns="0" rIns="0" bIns="0" rtlCol="0" anchor="t"/>
          <a:lstStyle/>
          <a:p>
            <a:pPr marL="0" indent="0" algn="l">
              <a:lnSpc>
                <a:spcPts val="986"/>
              </a:lnSpc>
              <a:buNone/>
            </a:pPr>
            <a:r>
              <a:rPr lang="en-US" sz="680" dirty="0">
                <a:solidFill>
                  <a:srgbClr val="FFFFFF">
                    <a:alpha val="78000"/>
                  </a:srgbClr>
                </a:solidFill>
                <a:latin typeface="Calibri" pitchFamily="34" charset="0"/>
                <a:ea typeface="Calibri" pitchFamily="34" charset="-122"/>
                <a:cs typeface="Calibri" pitchFamily="34" charset="-120"/>
              </a:rPr>
              <a:t>Be intentional from the very first interaction — with schools, families, and colleagues. You do not get a second first impression.</a:t>
            </a:r>
            <a:endParaRPr lang="en-US" sz="680" dirty="0"/>
          </a:p>
        </p:txBody>
      </p:sp>
      <p:sp>
        <p:nvSpPr>
          <p:cNvPr id="24" name="Text 20"/>
          <p:cNvSpPr/>
          <p:nvPr/>
        </p:nvSpPr>
        <p:spPr>
          <a:xfrm>
            <a:off x="6009977" y="981373"/>
            <a:ext cx="2733973" cy="1005036"/>
          </a:xfrm>
          <a:prstGeom prst="roundRect">
            <a:avLst>
              <a:gd name="adj" fmla="val 4296"/>
            </a:avLst>
          </a:prstGeom>
          <a:solidFill>
            <a:srgbClr val="FFFFFF">
              <a:alpha val="7000"/>
            </a:srgbClr>
          </a:solidFill>
          <a:ln w="9525">
            <a:solidFill>
              <a:srgbClr val="FFFFFF">
                <a:alpha val="13000"/>
              </a:srgbClr>
            </a:solidFill>
          </a:ln>
        </p:spPr>
        <p:txBody>
          <a:bodyPr wrap="square" rtlCol="0" anchor="t"/>
          <a:lstStyle/>
          <a:p>
            <a:pPr marL="0" indent="0">
              <a:buNone/>
            </a:pPr>
            <a:endParaRPr lang="en-US" dirty="0"/>
          </a:p>
        </p:txBody>
      </p:sp>
      <p:sp>
        <p:nvSpPr>
          <p:cNvPr id="25" name="Text 21"/>
          <p:cNvSpPr/>
          <p:nvPr/>
        </p:nvSpPr>
        <p:spPr>
          <a:xfrm>
            <a:off x="6119813" y="1084808"/>
            <a:ext cx="200620" cy="200620"/>
          </a:xfrm>
          <a:prstGeom prst="ellipse">
            <a:avLst/>
          </a:prstGeom>
          <a:solidFill>
            <a:srgbClr val="FAB753">
              <a:alpha val="15000"/>
            </a:srgbClr>
          </a:solidFill>
          <a:ln/>
        </p:spPr>
        <p:txBody>
          <a:bodyPr wrap="none" rtlCol="0" anchor="t"/>
          <a:lstStyle/>
          <a:p>
            <a:pPr marL="0" indent="0">
              <a:buNone/>
            </a:pPr>
            <a:endParaRPr lang="en-US" dirty="0"/>
          </a:p>
        </p:txBody>
      </p:sp>
      <p:pic>
        <p:nvPicPr>
          <p:cNvPr id="2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53754" y="1118750"/>
            <a:ext cx="132588" cy="132588"/>
          </a:xfrm>
          <a:prstGeom prst="rect">
            <a:avLst/>
          </a:prstGeom>
        </p:spPr>
      </p:pic>
      <p:sp>
        <p:nvSpPr>
          <p:cNvPr id="27" name="Text 22"/>
          <p:cNvSpPr/>
          <p:nvPr/>
        </p:nvSpPr>
        <p:spPr>
          <a:xfrm>
            <a:off x="6399163" y="1077218"/>
            <a:ext cx="2458447" cy="115788"/>
          </a:xfrm>
          <a:prstGeom prst="rect">
            <a:avLst/>
          </a:prstGeom>
          <a:noFill/>
          <a:ln/>
        </p:spPr>
        <p:txBody>
          <a:bodyPr wrap="none" lIns="0" tIns="0" rIns="0" bIns="0" rtlCol="0" anchor="t"/>
          <a:lstStyle/>
          <a:p>
            <a:pPr marL="0" indent="0" algn="l">
              <a:lnSpc>
                <a:spcPts val="912"/>
              </a:lnSpc>
              <a:buNone/>
            </a:pPr>
            <a:r>
              <a:rPr lang="en-US" sz="760" b="1" dirty="0">
                <a:solidFill>
                  <a:srgbClr val="FFFFFF"/>
                </a:solidFill>
                <a:latin typeface="Calibri" pitchFamily="34" charset="0"/>
                <a:ea typeface="Calibri" pitchFamily="34" charset="-122"/>
                <a:cs typeface="Calibri" pitchFamily="34" charset="-120"/>
              </a:rPr>
              <a:t>Consistency matters more than intensity.</a:t>
            </a:r>
            <a:endParaRPr lang="en-US" sz="760" dirty="0"/>
          </a:p>
        </p:txBody>
      </p:sp>
      <p:sp>
        <p:nvSpPr>
          <p:cNvPr id="28" name="Text 23"/>
          <p:cNvSpPr/>
          <p:nvPr/>
        </p:nvSpPr>
        <p:spPr>
          <a:xfrm>
            <a:off x="6399163" y="1214586"/>
            <a:ext cx="2279651" cy="262845"/>
          </a:xfrm>
          <a:prstGeom prst="rect">
            <a:avLst/>
          </a:prstGeom>
          <a:noFill/>
          <a:ln/>
        </p:spPr>
        <p:txBody>
          <a:bodyPr wrap="square" lIns="0" tIns="0" rIns="0" bIns="0" rtlCol="0" anchor="t"/>
          <a:lstStyle/>
          <a:p>
            <a:pPr marL="0" indent="0" algn="l">
              <a:lnSpc>
                <a:spcPts val="986"/>
              </a:lnSpc>
              <a:buNone/>
            </a:pPr>
            <a:r>
              <a:rPr lang="en-US" sz="680" dirty="0">
                <a:solidFill>
                  <a:srgbClr val="FFFFFF">
                    <a:alpha val="78000"/>
                  </a:srgbClr>
                </a:solidFill>
                <a:latin typeface="Calibri" pitchFamily="34" charset="0"/>
                <a:ea typeface="Calibri" pitchFamily="34" charset="-122"/>
                <a:cs typeface="Calibri" pitchFamily="34" charset="-120"/>
              </a:rPr>
              <a:t>Show up the same way, every week. Reliability over time builds trust that no single impressive moment can create.</a:t>
            </a:r>
            <a:endParaRPr lang="en-US" sz="680" dirty="0"/>
          </a:p>
        </p:txBody>
      </p:sp>
      <p:sp>
        <p:nvSpPr>
          <p:cNvPr id="29" name="Text 24"/>
          <p:cNvSpPr/>
          <p:nvPr/>
        </p:nvSpPr>
        <p:spPr>
          <a:xfrm>
            <a:off x="400050" y="2057400"/>
            <a:ext cx="2733973" cy="1005036"/>
          </a:xfrm>
          <a:prstGeom prst="roundRect">
            <a:avLst>
              <a:gd name="adj" fmla="val 4296"/>
            </a:avLst>
          </a:prstGeom>
          <a:solidFill>
            <a:srgbClr val="FFFFFF">
              <a:alpha val="7000"/>
            </a:srgbClr>
          </a:solidFill>
          <a:ln w="9525">
            <a:solidFill>
              <a:srgbClr val="FFFFFF">
                <a:alpha val="13000"/>
              </a:srgbClr>
            </a:solidFill>
          </a:ln>
        </p:spPr>
        <p:txBody>
          <a:bodyPr wrap="square" rtlCol="0" anchor="t"/>
          <a:lstStyle/>
          <a:p>
            <a:pPr marL="0" indent="0">
              <a:buNone/>
            </a:pPr>
            <a:endParaRPr lang="en-US" dirty="0"/>
          </a:p>
        </p:txBody>
      </p:sp>
      <p:sp>
        <p:nvSpPr>
          <p:cNvPr id="30" name="Text 25"/>
          <p:cNvSpPr/>
          <p:nvPr/>
        </p:nvSpPr>
        <p:spPr>
          <a:xfrm>
            <a:off x="509885" y="2160836"/>
            <a:ext cx="200620" cy="200620"/>
          </a:xfrm>
          <a:prstGeom prst="ellipse">
            <a:avLst/>
          </a:prstGeom>
          <a:solidFill>
            <a:srgbClr val="FAB753">
              <a:alpha val="15000"/>
            </a:srgbClr>
          </a:solidFill>
          <a:ln/>
        </p:spPr>
        <p:txBody>
          <a:bodyPr wrap="none" rtlCol="0" anchor="t"/>
          <a:lstStyle/>
          <a:p>
            <a:pPr marL="0" indent="0">
              <a:buNone/>
            </a:pPr>
            <a:endParaRPr lang="en-US" dirty="0"/>
          </a:p>
        </p:txBody>
      </p:sp>
      <p:pic>
        <p:nvPicPr>
          <p:cNvPr id="3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3827" y="2194777"/>
            <a:ext cx="132588" cy="132588"/>
          </a:xfrm>
          <a:prstGeom prst="rect">
            <a:avLst/>
          </a:prstGeom>
        </p:spPr>
      </p:pic>
      <p:sp>
        <p:nvSpPr>
          <p:cNvPr id="32" name="Text 26"/>
          <p:cNvSpPr/>
          <p:nvPr/>
        </p:nvSpPr>
        <p:spPr>
          <a:xfrm>
            <a:off x="789236" y="2153245"/>
            <a:ext cx="2458447" cy="115788"/>
          </a:xfrm>
          <a:prstGeom prst="rect">
            <a:avLst/>
          </a:prstGeom>
          <a:noFill/>
          <a:ln/>
        </p:spPr>
        <p:txBody>
          <a:bodyPr wrap="none" lIns="0" tIns="0" rIns="0" bIns="0" rtlCol="0" anchor="t"/>
          <a:lstStyle/>
          <a:p>
            <a:pPr marL="0" indent="0" algn="l">
              <a:lnSpc>
                <a:spcPts val="912"/>
              </a:lnSpc>
              <a:buNone/>
            </a:pPr>
            <a:r>
              <a:rPr lang="en-US" sz="760" b="1" dirty="0">
                <a:solidFill>
                  <a:srgbClr val="FFFFFF"/>
                </a:solidFill>
                <a:latin typeface="Calibri" pitchFamily="34" charset="0"/>
                <a:ea typeface="Calibri" pitchFamily="34" charset="-122"/>
                <a:cs typeface="Calibri" pitchFamily="34" charset="-120"/>
              </a:rPr>
              <a:t>Curiosity is a relational skill.</a:t>
            </a:r>
            <a:endParaRPr lang="en-US" sz="760" dirty="0"/>
          </a:p>
        </p:txBody>
      </p:sp>
      <p:sp>
        <p:nvSpPr>
          <p:cNvPr id="33" name="Text 27"/>
          <p:cNvSpPr/>
          <p:nvPr/>
        </p:nvSpPr>
        <p:spPr>
          <a:xfrm>
            <a:off x="789236" y="2290614"/>
            <a:ext cx="2279651" cy="394268"/>
          </a:xfrm>
          <a:prstGeom prst="rect">
            <a:avLst/>
          </a:prstGeom>
          <a:noFill/>
          <a:ln/>
        </p:spPr>
        <p:txBody>
          <a:bodyPr wrap="square" lIns="0" tIns="0" rIns="0" bIns="0" rtlCol="0" anchor="t"/>
          <a:lstStyle/>
          <a:p>
            <a:pPr marL="0" indent="0" algn="l">
              <a:lnSpc>
                <a:spcPts val="986"/>
              </a:lnSpc>
              <a:buNone/>
            </a:pPr>
            <a:r>
              <a:rPr lang="en-US" sz="680" dirty="0">
                <a:solidFill>
                  <a:srgbClr val="FFFFFF">
                    <a:alpha val="78000"/>
                  </a:srgbClr>
                </a:solidFill>
                <a:latin typeface="Calibri" pitchFamily="34" charset="0"/>
                <a:ea typeface="Calibri" pitchFamily="34" charset="-122"/>
                <a:cs typeface="Calibri" pitchFamily="34" charset="-120"/>
              </a:rPr>
              <a:t>Ask before you assume. Seek to understand before you respond. This reduces defensiveness and strengthens collaboration across every system.</a:t>
            </a:r>
            <a:endParaRPr lang="en-US" sz="680" dirty="0"/>
          </a:p>
        </p:txBody>
      </p:sp>
      <p:sp>
        <p:nvSpPr>
          <p:cNvPr id="34" name="Text 28"/>
          <p:cNvSpPr/>
          <p:nvPr/>
        </p:nvSpPr>
        <p:spPr>
          <a:xfrm>
            <a:off x="3205014" y="2057400"/>
            <a:ext cx="2733973" cy="1005036"/>
          </a:xfrm>
          <a:prstGeom prst="roundRect">
            <a:avLst>
              <a:gd name="adj" fmla="val 4296"/>
            </a:avLst>
          </a:prstGeom>
          <a:solidFill>
            <a:srgbClr val="FFFFFF">
              <a:alpha val="7000"/>
            </a:srgbClr>
          </a:solidFill>
          <a:ln w="9525">
            <a:solidFill>
              <a:srgbClr val="FFFFFF">
                <a:alpha val="13000"/>
              </a:srgbClr>
            </a:solidFill>
          </a:ln>
        </p:spPr>
        <p:txBody>
          <a:bodyPr wrap="square" rtlCol="0" anchor="t"/>
          <a:lstStyle/>
          <a:p>
            <a:pPr marL="0" indent="0">
              <a:buNone/>
            </a:pPr>
            <a:endParaRPr lang="en-US" dirty="0"/>
          </a:p>
        </p:txBody>
      </p:sp>
      <p:sp>
        <p:nvSpPr>
          <p:cNvPr id="35" name="Text 29"/>
          <p:cNvSpPr/>
          <p:nvPr/>
        </p:nvSpPr>
        <p:spPr>
          <a:xfrm>
            <a:off x="3314849" y="2160836"/>
            <a:ext cx="200620" cy="200620"/>
          </a:xfrm>
          <a:prstGeom prst="ellipse">
            <a:avLst/>
          </a:prstGeom>
          <a:solidFill>
            <a:srgbClr val="FAB753">
              <a:alpha val="15000"/>
            </a:srgbClr>
          </a:solidFill>
          <a:ln/>
        </p:spPr>
        <p:txBody>
          <a:bodyPr wrap="none" rtlCol="0" anchor="t"/>
          <a:lstStyle/>
          <a:p>
            <a:pPr marL="0" indent="0">
              <a:buNone/>
            </a:pPr>
            <a:endParaRPr lang="en-US" dirty="0"/>
          </a:p>
        </p:txBody>
      </p:sp>
      <p:pic>
        <p:nvPicPr>
          <p:cNvPr id="3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348791" y="2194777"/>
            <a:ext cx="132588" cy="132588"/>
          </a:xfrm>
          <a:prstGeom prst="rect">
            <a:avLst/>
          </a:prstGeom>
        </p:spPr>
      </p:pic>
      <p:sp>
        <p:nvSpPr>
          <p:cNvPr id="37" name="Text 30"/>
          <p:cNvSpPr/>
          <p:nvPr/>
        </p:nvSpPr>
        <p:spPr>
          <a:xfrm>
            <a:off x="3594199" y="2153245"/>
            <a:ext cx="2458447" cy="115788"/>
          </a:xfrm>
          <a:prstGeom prst="rect">
            <a:avLst/>
          </a:prstGeom>
          <a:noFill/>
          <a:ln/>
        </p:spPr>
        <p:txBody>
          <a:bodyPr wrap="none" lIns="0" tIns="0" rIns="0" bIns="0" rtlCol="0" anchor="t"/>
          <a:lstStyle/>
          <a:p>
            <a:pPr marL="0" indent="0" algn="l">
              <a:lnSpc>
                <a:spcPts val="912"/>
              </a:lnSpc>
              <a:buNone/>
            </a:pPr>
            <a:r>
              <a:rPr lang="en-US" sz="760" b="1" dirty="0">
                <a:solidFill>
                  <a:srgbClr val="FFFFFF"/>
                </a:solidFill>
                <a:latin typeface="Calibri" pitchFamily="34" charset="0"/>
                <a:ea typeface="Calibri" pitchFamily="34" charset="-122"/>
                <a:cs typeface="Calibri" pitchFamily="34" charset="-120"/>
              </a:rPr>
              <a:t>Repair is not failure — it is relationship.</a:t>
            </a:r>
            <a:endParaRPr lang="en-US" sz="760" dirty="0"/>
          </a:p>
        </p:txBody>
      </p:sp>
      <p:sp>
        <p:nvSpPr>
          <p:cNvPr id="38" name="Text 31"/>
          <p:cNvSpPr/>
          <p:nvPr/>
        </p:nvSpPr>
        <p:spPr>
          <a:xfrm>
            <a:off x="3594199" y="2290614"/>
            <a:ext cx="2279651" cy="262845"/>
          </a:xfrm>
          <a:prstGeom prst="rect">
            <a:avLst/>
          </a:prstGeom>
          <a:noFill/>
          <a:ln/>
        </p:spPr>
        <p:txBody>
          <a:bodyPr wrap="square" lIns="0" tIns="0" rIns="0" bIns="0" rtlCol="0" anchor="t"/>
          <a:lstStyle/>
          <a:p>
            <a:pPr marL="0" indent="0" algn="l">
              <a:lnSpc>
                <a:spcPts val="986"/>
              </a:lnSpc>
              <a:buNone/>
            </a:pPr>
            <a:r>
              <a:rPr lang="en-US" sz="680" dirty="0">
                <a:solidFill>
                  <a:srgbClr val="FFFFFF">
                    <a:alpha val="78000"/>
                  </a:srgbClr>
                </a:solidFill>
                <a:latin typeface="Calibri" pitchFamily="34" charset="0"/>
                <a:ea typeface="Calibri" pitchFamily="34" charset="-122"/>
                <a:cs typeface="Calibri" pitchFamily="34" charset="-120"/>
              </a:rPr>
              <a:t>Missteps happen. Naming them and addressing them directly builds more trust than avoiding them ever could.</a:t>
            </a:r>
            <a:endParaRPr lang="en-US" sz="680" dirty="0"/>
          </a:p>
        </p:txBody>
      </p:sp>
      <p:sp>
        <p:nvSpPr>
          <p:cNvPr id="39" name="Text 32"/>
          <p:cNvSpPr/>
          <p:nvPr/>
        </p:nvSpPr>
        <p:spPr>
          <a:xfrm>
            <a:off x="6009977" y="2057400"/>
            <a:ext cx="2733973" cy="1005036"/>
          </a:xfrm>
          <a:prstGeom prst="roundRect">
            <a:avLst>
              <a:gd name="adj" fmla="val 4296"/>
            </a:avLst>
          </a:prstGeom>
          <a:solidFill>
            <a:srgbClr val="FFFFFF">
              <a:alpha val="7000"/>
            </a:srgbClr>
          </a:solidFill>
          <a:ln w="9525">
            <a:solidFill>
              <a:srgbClr val="FFFFFF">
                <a:alpha val="13000"/>
              </a:srgbClr>
            </a:solidFill>
          </a:ln>
        </p:spPr>
        <p:txBody>
          <a:bodyPr wrap="square" rtlCol="0" anchor="t"/>
          <a:lstStyle/>
          <a:p>
            <a:pPr marL="0" indent="0">
              <a:buNone/>
            </a:pPr>
            <a:endParaRPr lang="en-US" dirty="0"/>
          </a:p>
        </p:txBody>
      </p:sp>
      <p:sp>
        <p:nvSpPr>
          <p:cNvPr id="40" name="Text 33"/>
          <p:cNvSpPr/>
          <p:nvPr/>
        </p:nvSpPr>
        <p:spPr>
          <a:xfrm>
            <a:off x="6119813" y="2160836"/>
            <a:ext cx="200620" cy="200620"/>
          </a:xfrm>
          <a:prstGeom prst="ellipse">
            <a:avLst/>
          </a:prstGeom>
          <a:solidFill>
            <a:srgbClr val="FAB753">
              <a:alpha val="15000"/>
            </a:srgbClr>
          </a:solidFill>
          <a:ln/>
        </p:spPr>
        <p:txBody>
          <a:bodyPr wrap="none" rtlCol="0" anchor="t"/>
          <a:lstStyle/>
          <a:p>
            <a:pPr marL="0" indent="0">
              <a:buNone/>
            </a:pPr>
            <a:endParaRPr lang="en-US" dirty="0"/>
          </a:p>
        </p:txBody>
      </p:sp>
      <p:pic>
        <p:nvPicPr>
          <p:cNvPr id="4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153754" y="2194777"/>
            <a:ext cx="132588" cy="132588"/>
          </a:xfrm>
          <a:prstGeom prst="rect">
            <a:avLst/>
          </a:prstGeom>
        </p:spPr>
      </p:pic>
      <p:sp>
        <p:nvSpPr>
          <p:cNvPr id="42" name="Text 34"/>
          <p:cNvSpPr/>
          <p:nvPr/>
        </p:nvSpPr>
        <p:spPr>
          <a:xfrm>
            <a:off x="6399163" y="2153245"/>
            <a:ext cx="2458447" cy="115788"/>
          </a:xfrm>
          <a:prstGeom prst="rect">
            <a:avLst/>
          </a:prstGeom>
          <a:noFill/>
          <a:ln/>
        </p:spPr>
        <p:txBody>
          <a:bodyPr wrap="none" lIns="0" tIns="0" rIns="0" bIns="0" rtlCol="0" anchor="t"/>
          <a:lstStyle/>
          <a:p>
            <a:pPr marL="0" indent="0" algn="l">
              <a:lnSpc>
                <a:spcPts val="912"/>
              </a:lnSpc>
              <a:buNone/>
            </a:pPr>
            <a:r>
              <a:rPr lang="en-US" sz="760" b="1" dirty="0">
                <a:solidFill>
                  <a:srgbClr val="FFFFFF"/>
                </a:solidFill>
                <a:latin typeface="Calibri" pitchFamily="34" charset="0"/>
                <a:ea typeface="Calibri" pitchFamily="34" charset="-122"/>
                <a:cs typeface="Calibri" pitchFamily="34" charset="-120"/>
              </a:rPr>
              <a:t>You cannot pour from an empty relational cup.</a:t>
            </a:r>
            <a:endParaRPr lang="en-US" sz="760" dirty="0"/>
          </a:p>
        </p:txBody>
      </p:sp>
      <p:sp>
        <p:nvSpPr>
          <p:cNvPr id="43" name="Text 35"/>
          <p:cNvSpPr/>
          <p:nvPr/>
        </p:nvSpPr>
        <p:spPr>
          <a:xfrm>
            <a:off x="6399163" y="2290614"/>
            <a:ext cx="2279651" cy="262845"/>
          </a:xfrm>
          <a:prstGeom prst="rect">
            <a:avLst/>
          </a:prstGeom>
          <a:noFill/>
          <a:ln/>
        </p:spPr>
        <p:txBody>
          <a:bodyPr wrap="square" lIns="0" tIns="0" rIns="0" bIns="0" rtlCol="0" anchor="t"/>
          <a:lstStyle/>
          <a:p>
            <a:pPr marL="0" indent="0" algn="l">
              <a:lnSpc>
                <a:spcPts val="986"/>
              </a:lnSpc>
              <a:buNone/>
            </a:pPr>
            <a:r>
              <a:rPr lang="en-US" sz="680" dirty="0">
                <a:solidFill>
                  <a:srgbClr val="FFFFFF">
                    <a:alpha val="78000"/>
                  </a:srgbClr>
                </a:solidFill>
                <a:latin typeface="Calibri" pitchFamily="34" charset="0"/>
                <a:ea typeface="Calibri" pitchFamily="34" charset="-122"/>
                <a:cs typeface="Calibri" pitchFamily="34" charset="-120"/>
              </a:rPr>
              <a:t>Invest in your team relationships. Peer support and psychological safety protect you and your clients.</a:t>
            </a:r>
            <a:endParaRPr lang="en-US" sz="680" dirty="0"/>
          </a:p>
        </p:txBody>
      </p:sp>
      <p:sp>
        <p:nvSpPr>
          <p:cNvPr id="44" name="Text 36"/>
          <p:cNvSpPr/>
          <p:nvPr/>
        </p:nvSpPr>
        <p:spPr>
          <a:xfrm>
            <a:off x="0" y="4885730"/>
            <a:ext cx="9144000" cy="283547"/>
          </a:xfrm>
          <a:prstGeom prst="rect">
            <a:avLst/>
          </a:prstGeom>
          <a:solidFill>
            <a:srgbClr val="000000">
              <a:alpha val="18000"/>
            </a:srgbClr>
          </a:solidFill>
          <a:ln/>
        </p:spPr>
        <p:txBody>
          <a:bodyPr wrap="none" lIns="0" tIns="0" rIns="0" bIns="0" rtlCol="0" anchor="ctr"/>
          <a:lstStyle/>
          <a:p>
            <a:pPr marL="0" indent="0" algn="ctr">
              <a:buNone/>
            </a:pPr>
            <a:r>
              <a:rPr lang="en-US" sz="620" kern="0" spc="31" dirty="0">
                <a:solidFill>
                  <a:srgbClr val="FAB753"/>
                </a:solidFill>
                <a:latin typeface="Calibri" pitchFamily="34" charset="0"/>
                <a:ea typeface="Calibri" pitchFamily="34" charset="-122"/>
                <a:cs typeface="Calibri" pitchFamily="34" charset="-120"/>
              </a:rPr>
              <a:t>Centerstone Clinical Training Series  ·  Relationship Building  ·  June 2026</a:t>
            </a:r>
            <a:endParaRPr lang="en-US" sz="620" dirty="0"/>
          </a:p>
        </p:txBody>
      </p:sp>
      <p:sp>
        <p:nvSpPr>
          <p:cNvPr id="45" name="Text 37"/>
          <p:cNvSpPr/>
          <p:nvPr/>
        </p:nvSpPr>
        <p:spPr>
          <a:xfrm>
            <a:off x="0" y="4885730"/>
            <a:ext cx="9144000" cy="9525"/>
          </a:xfrm>
          <a:prstGeom prst="rect">
            <a:avLst/>
          </a:prstGeom>
          <a:solidFill>
            <a:srgbClr val="FFFFFF">
              <a:alpha val="10000"/>
            </a:srgbClr>
          </a:solidFill>
          <a:ln/>
        </p:spPr>
        <p:txBody>
          <a:bodyPr wrap="none" rtlCol="0" anchor="t"/>
          <a:lstStyle/>
          <a:p>
            <a:pPr marL="0" indent="0">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5E72"/>
        </a:solidFill>
        <a:effectLst/>
      </p:bgPr>
    </p:bg>
    <p:spTree>
      <p:nvGrpSpPr>
        <p:cNvPr id="1" name=""/>
        <p:cNvGrpSpPr/>
        <p:nvPr/>
      </p:nvGrpSpPr>
      <p:grpSpPr>
        <a:xfrm>
          <a:off x="0" y="0"/>
          <a:ext cx="0" cy="0"/>
          <a:chOff x="0" y="0"/>
          <a:chExt cx="0" cy="0"/>
        </a:xfrm>
      </p:grpSpPr>
      <p:sp>
        <p:nvSpPr>
          <p:cNvPr id="2" name="Text 0"/>
          <p:cNvSpPr/>
          <p:nvPr/>
        </p:nvSpPr>
        <p:spPr>
          <a:xfrm>
            <a:off x="6144220" y="0"/>
            <a:ext cx="2999780" cy="2857500"/>
          </a:xfrm>
          <a:prstGeom prst="ellipse">
            <a:avLst/>
          </a:prstGeom>
          <a:solidFill>
            <a:srgbClr val="FFFFFF">
              <a:alpha val="3000"/>
            </a:srgbClr>
          </a:solidFill>
          <a:ln/>
        </p:spPr>
        <p:txBody>
          <a:bodyPr wrap="square" rtlCol="0" anchor="t"/>
          <a:lstStyle/>
          <a:p>
            <a:pPr marL="0" indent="0">
              <a:buNone/>
            </a:pPr>
            <a:endParaRPr lang="en-US"/>
          </a:p>
        </p:txBody>
      </p:sp>
      <p:sp>
        <p:nvSpPr>
          <p:cNvPr id="3" name="Text 1"/>
          <p:cNvSpPr/>
          <p:nvPr/>
        </p:nvSpPr>
        <p:spPr>
          <a:xfrm>
            <a:off x="0" y="3572470"/>
            <a:ext cx="2000250" cy="1571030"/>
          </a:xfrm>
          <a:prstGeom prst="ellipse">
            <a:avLst/>
          </a:prstGeom>
          <a:solidFill>
            <a:srgbClr val="FFFFFF">
              <a:alpha val="3000"/>
            </a:srgbClr>
          </a:solidFill>
          <a:ln/>
        </p:spPr>
        <p:txBody>
          <a:bodyPr wrap="square" rtlCol="0" anchor="t"/>
          <a:lstStyle/>
          <a:p>
            <a:pPr marL="0" indent="0">
              <a:buNone/>
            </a:pPr>
            <a:endParaRPr lang="en-US"/>
          </a:p>
        </p:txBody>
      </p:sp>
      <p:sp>
        <p:nvSpPr>
          <p:cNvPr id="4" name="Text 2"/>
          <p:cNvSpPr/>
          <p:nvPr/>
        </p:nvSpPr>
        <p:spPr>
          <a:xfrm>
            <a:off x="5429250" y="0"/>
            <a:ext cx="3714750" cy="3571280"/>
          </a:xfrm>
          <a:prstGeom prst="ellipse">
            <a:avLst/>
          </a:prstGeom>
          <a:noFill/>
          <a:ln w="9525">
            <a:solidFill>
              <a:srgbClr val="FFFFFF">
                <a:alpha val="5000"/>
              </a:srgbClr>
            </a:solidFill>
          </a:ln>
        </p:spPr>
        <p:txBody>
          <a:bodyPr wrap="square" rtlCol="0" anchor="t"/>
          <a:lstStyle/>
          <a:p>
            <a:pPr marL="0" indent="0">
              <a:buNone/>
            </a:pPr>
            <a:endParaRPr lang="en-US"/>
          </a:p>
        </p:txBody>
      </p:sp>
      <p:sp>
        <p:nvSpPr>
          <p:cNvPr id="5" name="Text 3"/>
          <p:cNvSpPr/>
          <p:nvPr/>
        </p:nvSpPr>
        <p:spPr>
          <a:xfrm>
            <a:off x="0" y="3356521"/>
            <a:ext cx="2358479" cy="1786979"/>
          </a:xfrm>
          <a:prstGeom prst="ellipse">
            <a:avLst/>
          </a:prstGeom>
          <a:noFill/>
          <a:ln w="9525">
            <a:solidFill>
              <a:srgbClr val="FFFFFF">
                <a:alpha val="5000"/>
              </a:srgbClr>
            </a:solidFill>
          </a:ln>
        </p:spPr>
        <p:txBody>
          <a:bodyPr wrap="square" rtlCol="0" anchor="t"/>
          <a:lstStyle/>
          <a:p>
            <a:pPr marL="0" indent="0">
              <a:buNone/>
            </a:pPr>
            <a:endParaRPr lang="en-US"/>
          </a:p>
        </p:txBody>
      </p:sp>
      <p:sp>
        <p:nvSpPr>
          <p:cNvPr id="6" name="Text 4"/>
          <p:cNvSpPr/>
          <p:nvPr/>
        </p:nvSpPr>
        <p:spPr>
          <a:xfrm>
            <a:off x="429220" y="429220"/>
            <a:ext cx="2143720" cy="2143720"/>
          </a:xfrm>
          <a:prstGeom prst="ellipse">
            <a:avLst/>
          </a:prstGeom>
          <a:noFill/>
          <a:ln w="9525">
            <a:solidFill>
              <a:srgbClr val="FFFFFF">
                <a:alpha val="5000"/>
              </a:srgbClr>
            </a:solidFill>
          </a:ln>
        </p:spPr>
        <p:txBody>
          <a:bodyPr wrap="square" rtlCol="0" anchor="t"/>
          <a:lstStyle/>
          <a:p>
            <a:pPr marL="0" indent="0">
              <a:buNone/>
            </a:pPr>
            <a:endParaRPr lang="en-US"/>
          </a:p>
        </p:txBody>
      </p:sp>
      <p:sp>
        <p:nvSpPr>
          <p:cNvPr id="7" name="Text 5"/>
          <p:cNvSpPr/>
          <p:nvPr/>
        </p:nvSpPr>
        <p:spPr>
          <a:xfrm>
            <a:off x="0" y="0"/>
            <a:ext cx="29170" cy="5143500"/>
          </a:xfrm>
          <a:prstGeom prst="rect">
            <a:avLst/>
          </a:prstGeom>
          <a:gradFill rotWithShape="1">
            <a:gsLst>
              <a:gs pos="0">
                <a:srgbClr val="000000">
                  <a:alpha val="0"/>
                </a:srgbClr>
              </a:gs>
              <a:gs pos="30000">
                <a:srgbClr val="FAB753">
                  <a:alpha val="40000"/>
                </a:srgbClr>
              </a:gs>
              <a:gs pos="70000">
                <a:srgbClr val="FAB753">
                  <a:alpha val="40000"/>
                </a:srgbClr>
              </a:gs>
              <a:gs pos="100000">
                <a:srgbClr val="000000">
                  <a:alpha val="0"/>
                </a:srgbClr>
              </a:gs>
            </a:gsLst>
            <a:lin ang="5400000" scaled="1"/>
          </a:gradFill>
          <a:ln/>
        </p:spPr>
        <p:txBody>
          <a:bodyPr wrap="square" rtlCol="0" anchor="t"/>
          <a:lstStyle/>
          <a:p>
            <a:pPr marL="0" indent="0">
              <a:buNone/>
            </a:pPr>
            <a:endParaRPr lang="en-US"/>
          </a:p>
        </p:txBody>
      </p:sp>
      <p:sp>
        <p:nvSpPr>
          <p:cNvPr id="8" name="Eyebrow"/>
          <p:cNvSpPr/>
          <p:nvPr/>
        </p:nvSpPr>
        <p:spPr>
          <a:xfrm>
            <a:off x="3144441" y="627387"/>
            <a:ext cx="2999779" cy="99725"/>
          </a:xfrm>
          <a:prstGeom prst="rect">
            <a:avLst/>
          </a:prstGeom>
          <a:noFill/>
          <a:ln/>
        </p:spPr>
        <p:txBody>
          <a:bodyPr wrap="square" lIns="0" tIns="0" rIns="0" bIns="0" rtlCol="0" anchor="t"/>
          <a:lstStyle/>
          <a:p>
            <a:pPr marL="0" indent="0" algn="ctr">
              <a:lnSpc>
                <a:spcPts val="930"/>
              </a:lnSpc>
              <a:buNone/>
            </a:pPr>
            <a:r>
              <a:rPr lang="en-US" sz="620" b="1" kern="0" spc="155" dirty="0">
                <a:solidFill>
                  <a:srgbClr val="FAB753"/>
                </a:solidFill>
                <a:latin typeface="Calibri" pitchFamily="34" charset="0"/>
                <a:ea typeface="Calibri" pitchFamily="34" charset="-122"/>
                <a:cs typeface="Calibri" pitchFamily="34" charset="-120"/>
              </a:rPr>
              <a:t>CENTERSTONE SCHOOL-BASED CLINICAL TRAINING SERIES</a:t>
            </a:r>
            <a:endParaRPr lang="en-US" sz="620" dirty="0"/>
          </a:p>
        </p:txBody>
      </p:sp>
      <p:sp>
        <p:nvSpPr>
          <p:cNvPr id="9" name="Accent Line Top"/>
          <p:cNvSpPr/>
          <p:nvPr/>
        </p:nvSpPr>
        <p:spPr>
          <a:xfrm>
            <a:off x="4357390" y="931416"/>
            <a:ext cx="429220" cy="13841"/>
          </a:xfrm>
          <a:prstGeom prst="rect">
            <a:avLst/>
          </a:prstGeom>
          <a:solidFill>
            <a:srgbClr val="FAB753"/>
          </a:solidFill>
          <a:ln/>
        </p:spPr>
        <p:txBody>
          <a:bodyPr wrap="none" rtlCol="0" anchor="t"/>
          <a:lstStyle/>
          <a:p>
            <a:pPr marL="0" indent="0">
              <a:buNone/>
            </a:pPr>
            <a:endParaRPr lang="en-US"/>
          </a:p>
        </p:txBody>
      </p:sp>
      <p:sp>
        <p:nvSpPr>
          <p:cNvPr id="10" name="Title"/>
          <p:cNvSpPr/>
          <p:nvPr/>
        </p:nvSpPr>
        <p:spPr>
          <a:xfrm>
            <a:off x="1772123" y="1130000"/>
            <a:ext cx="5599606" cy="565696"/>
          </a:xfrm>
          <a:prstGeom prst="rect">
            <a:avLst/>
          </a:prstGeom>
          <a:noFill/>
          <a:ln/>
        </p:spPr>
        <p:txBody>
          <a:bodyPr wrap="square" lIns="0" tIns="0" rIns="0" bIns="0" rtlCol="0" anchor="t"/>
          <a:lstStyle/>
          <a:p>
            <a:pPr marL="0" indent="0" algn="ctr">
              <a:lnSpc>
                <a:spcPts val="4455"/>
              </a:lnSpc>
              <a:spcAft>
                <a:spcPts val="1580"/>
              </a:spcAft>
              <a:buNone/>
            </a:pPr>
            <a:r>
              <a:rPr lang="en-US" sz="4050" kern="0" spc="-40" dirty="0">
                <a:solidFill>
                  <a:srgbClr val="FFFFFF"/>
                </a:solidFill>
                <a:latin typeface="Calibri Light" pitchFamily="34" charset="0"/>
                <a:ea typeface="Calibri Light" pitchFamily="34" charset="-122"/>
                <a:cs typeface="Calibri Light" pitchFamily="34" charset="-120"/>
              </a:rPr>
              <a:t>Relationship Building</a:t>
            </a:r>
            <a:endParaRPr lang="en-US" sz="4050" dirty="0"/>
          </a:p>
        </p:txBody>
      </p:sp>
      <p:sp>
        <p:nvSpPr>
          <p:cNvPr id="11" name="Accent Line Bottom"/>
          <p:cNvSpPr/>
          <p:nvPr/>
        </p:nvSpPr>
        <p:spPr>
          <a:xfrm>
            <a:off x="4143375" y="1900000"/>
            <a:ext cx="857250" cy="7590"/>
          </a:xfrm>
          <a:prstGeom prst="rect">
            <a:avLst/>
          </a:prstGeom>
          <a:solidFill>
            <a:srgbClr val="FAB753">
              <a:alpha val="35000"/>
            </a:srgbClr>
          </a:solidFill>
          <a:ln/>
        </p:spPr>
        <p:txBody>
          <a:bodyPr wrap="none" rtlCol="0" anchor="t"/>
          <a:lstStyle/>
          <a:p>
            <a:pPr marL="0" indent="0">
              <a:buNone/>
            </a:pPr>
            <a:endParaRPr lang="en-US"/>
          </a:p>
        </p:txBody>
      </p:sp>
      <p:sp>
        <p:nvSpPr>
          <p:cNvPr id="12" name="Message"/>
          <p:cNvSpPr/>
          <p:nvPr/>
        </p:nvSpPr>
        <p:spPr>
          <a:xfrm>
            <a:off x="2072123" y="2040000"/>
            <a:ext cx="4999754" cy="400000"/>
          </a:xfrm>
          <a:prstGeom prst="rect">
            <a:avLst/>
          </a:prstGeom>
          <a:noFill/>
          <a:ln/>
        </p:spPr>
        <p:txBody>
          <a:bodyPr wrap="square" lIns="0" tIns="0" rIns="0" bIns="0" rtlCol="0" anchor="t"/>
          <a:lstStyle/>
          <a:p>
            <a:pPr marL="0" indent="0" algn="ctr">
              <a:lnSpc>
                <a:spcPts val="1860"/>
              </a:lnSpc>
              <a:buNone/>
            </a:pPr>
            <a:r>
              <a:rPr lang="en-US" sz="1240" kern="0" spc="50" dirty="0">
                <a:solidFill>
                  <a:srgbClr val="55A49C"/>
                </a:solidFill>
                <a:latin typeface="Calibri Light" pitchFamily="34" charset="0"/>
                <a:ea typeface="Calibri Light" pitchFamily="34" charset="-122"/>
                <a:cs typeface="Calibri Light" pitchFamily="34" charset="-120"/>
              </a:rPr>
              <a:t>Completion of this survey is required for attendance verification for today’s training.</a:t>
            </a:r>
            <a:endParaRPr lang="en-US" sz="1240" dirty="0"/>
          </a:p>
        </p:txBody>
      </p:sp>
      <p:sp>
        <p:nvSpPr>
          <p:cNvPr id="17" name="Survey Link Placeholder"/>
          <p:cNvSpPr/>
          <p:nvPr/>
        </p:nvSpPr>
        <p:spPr>
          <a:xfrm>
            <a:off x="2000250" y="4192872"/>
            <a:ext cx="4999754" cy="330000"/>
          </a:xfrm>
          <a:prstGeom prst="rect">
            <a:avLst/>
          </a:prstGeom>
          <a:noFill/>
          <a:ln/>
        </p:spPr>
        <p:txBody>
          <a:bodyPr wrap="square" lIns="0" tIns="0" rIns="0" bIns="0" rtlCol="0" anchor="t"/>
          <a:lstStyle/>
          <a:p>
            <a:pPr algn="ctr">
              <a:lnSpc>
                <a:spcPts val="1440"/>
              </a:lnSpc>
            </a:pPr>
            <a:r>
              <a:rPr lang="en-US" sz="1060" u="sng" dirty="0">
                <a:solidFill>
                  <a:srgbClr val="FBB753"/>
                </a:solidFill>
                <a:hlinkClick r:id="rId2">
                  <a:extLst>
                    <a:ext uri="{A12FA001-AC4F-418D-AE19-62706E023703}">
                      <ahyp:hlinkClr xmlns:ahyp="http://schemas.microsoft.com/office/drawing/2018/hyperlinkcolor" val="tx"/>
                    </a:ext>
                  </a:extLst>
                </a:hlinkClick>
              </a:rPr>
              <a:t>https://forms.office.com/r/EXVCQtPbti</a:t>
            </a:r>
            <a:endParaRPr lang="en-US" sz="1060" dirty="0">
              <a:solidFill>
                <a:srgbClr val="FBB753"/>
              </a:solidFill>
            </a:endParaRPr>
          </a:p>
          <a:p>
            <a:pPr marL="0" indent="0" algn="ctr">
              <a:lnSpc>
                <a:spcPts val="1440"/>
              </a:lnSpc>
              <a:buNone/>
            </a:pPr>
            <a:endParaRPr lang="en-US" sz="1050" dirty="0"/>
          </a:p>
        </p:txBody>
      </p:sp>
      <p:sp>
        <p:nvSpPr>
          <p:cNvPr id="15" name="Bottom Accent"/>
          <p:cNvSpPr/>
          <p:nvPr/>
        </p:nvSpPr>
        <p:spPr>
          <a:xfrm>
            <a:off x="0" y="5114330"/>
            <a:ext cx="9144000" cy="29170"/>
          </a:xfrm>
          <a:prstGeom prst="rect">
            <a:avLst/>
          </a:prstGeom>
          <a:gradFill rotWithShape="1">
            <a:gsLst>
              <a:gs pos="0">
                <a:srgbClr val="000000">
                  <a:alpha val="0"/>
                </a:srgbClr>
              </a:gs>
              <a:gs pos="30000">
                <a:srgbClr val="FAB753">
                  <a:alpha val="60000"/>
                </a:srgbClr>
              </a:gs>
              <a:gs pos="70000">
                <a:srgbClr val="FAB753">
                  <a:alpha val="60000"/>
                </a:srgbClr>
              </a:gs>
              <a:gs pos="100000">
                <a:srgbClr val="000000">
                  <a:alpha val="0"/>
                </a:srgbClr>
              </a:gs>
            </a:gsLst>
            <a:lin ang="0" scaled="1"/>
          </a:gradFill>
          <a:ln/>
        </p:spPr>
        <p:txBody>
          <a:bodyPr wrap="none" rtlCol="0" anchor="t"/>
          <a:lstStyle/>
          <a:p>
            <a:pPr marL="0" indent="0">
              <a:buNone/>
            </a:pPr>
            <a:endParaRPr lang="en-US"/>
          </a:p>
        </p:txBody>
      </p:sp>
      <p:pic>
        <p:nvPicPr>
          <p:cNvPr id="14" name="Picture 13">
            <a:extLst>
              <a:ext uri="{FF2B5EF4-FFF2-40B4-BE49-F238E27FC236}">
                <a16:creationId xmlns:a16="http://schemas.microsoft.com/office/drawing/2014/main" id="{E3F00BDF-A22A-92E6-20D7-10B4478873EF}"/>
              </a:ext>
            </a:extLst>
          </p:cNvPr>
          <p:cNvPicPr>
            <a:picLocks noChangeAspect="1"/>
          </p:cNvPicPr>
          <p:nvPr/>
        </p:nvPicPr>
        <p:blipFill>
          <a:blip r:embed="rId3"/>
          <a:stretch>
            <a:fillRect/>
          </a:stretch>
        </p:blipFill>
        <p:spPr>
          <a:xfrm>
            <a:off x="3820429" y="2676823"/>
            <a:ext cx="1359395" cy="135939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1980</Words>
  <Application>Microsoft Macintosh PowerPoint</Application>
  <PresentationFormat>On-screen Show (16:9)</PresentationFormat>
  <Paragraphs>181</Paragraphs>
  <Slides>15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subject>PptxGenJS Presentation</dc:subject>
  <dc:creator>docgen</dc:creator>
  <cp:lastModifiedBy>Topher Fuqua</cp:lastModifiedBy>
  <cp:revision>2</cp:revision>
  <dcterms:created xsi:type="dcterms:W3CDTF">2026-06-11T03:38:36Z</dcterms:created>
  <dcterms:modified xsi:type="dcterms:W3CDTF">2026-07-08T00:47:30Z</dcterms:modified>
</cp:coreProperties>
</file>