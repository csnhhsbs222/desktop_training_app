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9" r:id="rId6"/>
    <p:sldId id="260" r:id="rId7"/>
    <p:sldId id="261" r:id="rId8"/>
    <p:sldId id="262" r:id="rId9"/>
    <p:sldId id="263" r:id="rId10"/>
    <p:sldId id="264" r:id="rId11"/>
    <p:sldId id="265" r:id="rId12"/>
    <p:sldId id="266" r:id="rId13"/>
    <p:sldId id="272" r:id="rId14"/>
    <p:sldId id="273" r:id="rId15"/>
    <p:sldId id="274" r:id="rId16"/>
    <p:sldId id="267" r:id="rId17"/>
    <p:sldId id="268" r:id="rId18"/>
    <p:sldId id="270" r:id="rId19"/>
    <p:sldId id="271"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E5E7"/>
    <a:srgbClr val="1C6073"/>
    <a:srgbClr val="005E4A"/>
    <a:srgbClr val="E1876A"/>
    <a:srgbClr val="FF959E"/>
    <a:srgbClr val="E2BCFF"/>
    <a:srgbClr val="FFCFFB"/>
    <a:srgbClr val="E12C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08"/>
    <p:restoredTop sz="96313"/>
  </p:normalViewPr>
  <p:slideViewPr>
    <p:cSldViewPr snapToGrid="0" snapToObjects="1">
      <p:cViewPr>
        <p:scale>
          <a:sx n="124" d="100"/>
          <a:sy n="124" d="100"/>
        </p:scale>
        <p:origin x="920" y="1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pher Fuqua" userId="b06e452ca8d47646" providerId="LiveId" clId="{FDC30CCB-931D-5803-897A-9D7300DA2EAE}"/>
    <pc:docChg chg="modSld">
      <pc:chgData name="Topher Fuqua" userId="b06e452ca8d47646" providerId="LiveId" clId="{FDC30CCB-931D-5803-897A-9D7300DA2EAE}" dt="2026-06-22T20:27:12.363" v="0" actId="1076"/>
      <pc:docMkLst>
        <pc:docMk/>
      </pc:docMkLst>
      <pc:sldChg chg="modSp mod">
        <pc:chgData name="Topher Fuqua" userId="b06e452ca8d47646" providerId="LiveId" clId="{FDC30CCB-931D-5803-897A-9D7300DA2EAE}" dt="2026-06-22T20:27:12.363" v="0" actId="1076"/>
        <pc:sldMkLst>
          <pc:docMk/>
          <pc:sldMk cId="0" sldId="267"/>
        </pc:sldMkLst>
        <pc:spChg chg="mod">
          <ac:chgData name="Topher Fuqua" userId="b06e452ca8d47646" providerId="LiveId" clId="{FDC30CCB-931D-5803-897A-9D7300DA2EAE}" dt="2026-06-22T20:27:12.363" v="0" actId="1076"/>
          <ac:spMkLst>
            <pc:docMk/>
            <pc:sldMk cId="0" sldId="267"/>
            <ac:spMk id="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9473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Example: A therapist that enters the schedule in Avatar at the end of their week.  Adding sessions one by one takes time,  that task can easily take a couple of hours.  Setting your schedule as recurring from August – December and January – May means your only doing that twice vs 1-2 hours every week.  </a:t>
            </a:r>
          </a:p>
        </p:txBody>
      </p:sp>
    </p:spTree>
    <p:extLst>
      <p:ext uri="{BB962C8B-B14F-4D97-AF65-F5344CB8AC3E}">
        <p14:creationId xmlns:p14="http://schemas.microsoft.com/office/powerpoint/2010/main" val="42453406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activity your goal is to “schedule” to fill your day without going over 8 hours.  You must include at least 5.6 billable hours, account for clinical documentation, a one hour clinical supervision, and a thirty minute school collaboration meeting.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9.sv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svg"/></Relationships>
</file>

<file path=ppt/slides/_rels/slide12.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svg"/><Relationship Id="rId7" Type="http://schemas.openxmlformats.org/officeDocument/2006/relationships/image" Target="../media/image39.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4.svg"/><Relationship Id="rId5" Type="http://schemas.openxmlformats.org/officeDocument/2006/relationships/image" Target="../media/image43.svg"/><Relationship Id="rId4" Type="http://schemas.openxmlformats.org/officeDocument/2006/relationships/image" Target="../media/image42.svg"/></Relationships>
</file>

<file path=ppt/slides/_rels/slide18.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svg"/><Relationship Id="rId7" Type="http://schemas.openxmlformats.org/officeDocument/2006/relationships/image" Target="../media/image49.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8.svg"/><Relationship Id="rId5" Type="http://schemas.openxmlformats.org/officeDocument/2006/relationships/image" Target="../media/image47.svg"/><Relationship Id="rId4" Type="http://schemas.openxmlformats.org/officeDocument/2006/relationships/image" Target="../media/image46.svg"/></Relationships>
</file>

<file path=ppt/slides/_rels/slide19.xml.rels><?xml version="1.0" encoding="UTF-8" standalone="yes"?>
<Relationships xmlns="http://schemas.openxmlformats.org/package/2006/relationships"><Relationship Id="rId3" Type="http://schemas.openxmlformats.org/officeDocument/2006/relationships/hyperlink" Target="https://forms.office.com/r/EXVCQtPbti"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0" y="0"/>
            <a:ext cx="2286000" cy="2286000"/>
          </a:xfrm>
          <a:prstGeom prst="ellipse">
            <a:avLst/>
          </a:prstGeom>
          <a:noFill/>
          <a:ln w="9525">
            <a:solidFill>
              <a:srgbClr val="FFFFFF">
                <a:alpha val="7000"/>
              </a:srgbClr>
            </a:solidFill>
          </a:ln>
        </p:spPr>
        <p:txBody>
          <a:bodyPr wrap="square" rtlCol="0" anchor="t"/>
          <a:lstStyle/>
          <a:p>
            <a:pPr marL="0" indent="0">
              <a:buNone/>
            </a:pPr>
            <a:endParaRPr lang="en-US" dirty="0"/>
          </a:p>
        </p:txBody>
      </p:sp>
      <p:sp>
        <p:nvSpPr>
          <p:cNvPr id="3" name="Text 1"/>
          <p:cNvSpPr/>
          <p:nvPr/>
        </p:nvSpPr>
        <p:spPr>
          <a:xfrm>
            <a:off x="0" y="0"/>
            <a:ext cx="1714500" cy="1714500"/>
          </a:xfrm>
          <a:prstGeom prst="ellipse">
            <a:avLst/>
          </a:prstGeom>
          <a:noFill/>
          <a:ln w="9525">
            <a:solidFill>
              <a:srgbClr val="FFFFFF">
                <a:alpha val="5000"/>
              </a:srgbClr>
            </a:solidFill>
          </a:ln>
        </p:spPr>
        <p:txBody>
          <a:bodyPr wrap="square" rtlCol="0" anchor="t"/>
          <a:lstStyle/>
          <a:p>
            <a:pPr marL="0" indent="0">
              <a:buNone/>
            </a:pPr>
            <a:endParaRPr lang="en-US" dirty="0"/>
          </a:p>
        </p:txBody>
      </p:sp>
      <p:sp>
        <p:nvSpPr>
          <p:cNvPr id="4" name="Text 2"/>
          <p:cNvSpPr/>
          <p:nvPr/>
        </p:nvSpPr>
        <p:spPr>
          <a:xfrm>
            <a:off x="6572250" y="2571750"/>
            <a:ext cx="2571750" cy="2571750"/>
          </a:xfrm>
          <a:prstGeom prst="ellipse">
            <a:avLst/>
          </a:prstGeom>
          <a:noFill/>
          <a:ln w="9525">
            <a:solidFill>
              <a:srgbClr val="FFFFFF">
                <a:alpha val="6000"/>
              </a:srgbClr>
            </a:solidFill>
          </a:ln>
        </p:spPr>
        <p:txBody>
          <a:bodyPr wrap="square" rtlCol="0" anchor="t"/>
          <a:lstStyle/>
          <a:p>
            <a:pPr marL="0" indent="0">
              <a:buNone/>
            </a:pPr>
            <a:endParaRPr lang="en-US" dirty="0"/>
          </a:p>
        </p:txBody>
      </p:sp>
      <p:sp>
        <p:nvSpPr>
          <p:cNvPr id="5" name="Text 3"/>
          <p:cNvSpPr/>
          <p:nvPr/>
        </p:nvSpPr>
        <p:spPr>
          <a:xfrm>
            <a:off x="7286034" y="3285534"/>
            <a:ext cx="1857966" cy="1857966"/>
          </a:xfrm>
          <a:prstGeom prst="ellipse">
            <a:avLst/>
          </a:prstGeom>
          <a:noFill/>
          <a:ln w="9525">
            <a:solidFill>
              <a:srgbClr val="FAB753">
                <a:alpha val="10000"/>
              </a:srgbClr>
            </a:solidFill>
          </a:ln>
        </p:spPr>
        <p:txBody>
          <a:bodyPr wrap="square" rtlCol="0" anchor="t"/>
          <a:lstStyle/>
          <a:p>
            <a:pPr marL="0" indent="0">
              <a:buNone/>
            </a:pPr>
            <a:endParaRPr lang="en-US" dirty="0"/>
          </a:p>
        </p:txBody>
      </p:sp>
      <p:sp>
        <p:nvSpPr>
          <p:cNvPr id="6" name="Text 4"/>
          <p:cNvSpPr/>
          <p:nvPr/>
        </p:nvSpPr>
        <p:spPr>
          <a:xfrm>
            <a:off x="0" y="2571750"/>
            <a:ext cx="2286000" cy="2571750"/>
          </a:xfrm>
          <a:prstGeom prst="ellipse">
            <a:avLst/>
          </a:prstGeom>
          <a:noFill/>
          <a:ln w="9525">
            <a:solidFill>
              <a:srgbClr val="FFFFFF">
                <a:alpha val="4000"/>
              </a:srgbClr>
            </a:solidFill>
          </a:ln>
        </p:spPr>
        <p:txBody>
          <a:bodyPr wrap="square" rtlCol="0" anchor="t"/>
          <a:lstStyle/>
          <a:p>
            <a:pPr marL="0" indent="0">
              <a:buNone/>
            </a:pPr>
            <a:endParaRPr lang="en-US" dirty="0"/>
          </a:p>
        </p:txBody>
      </p:sp>
      <p:sp>
        <p:nvSpPr>
          <p:cNvPr id="7" name="Text 5"/>
          <p:cNvSpPr/>
          <p:nvPr/>
        </p:nvSpPr>
        <p:spPr>
          <a:xfrm>
            <a:off x="4572000" y="2571750"/>
            <a:ext cx="4572000" cy="2571750"/>
          </a:xfrm>
          <a:prstGeom prst="ellipse">
            <a:avLst/>
          </a:prstGeom>
          <a:gradFill rotWithShape="1">
            <a:gsLst>
              <a:gs pos="0">
                <a:srgbClr val="55A49C">
                  <a:alpha val="8000"/>
                </a:srgbClr>
              </a:gs>
              <a:gs pos="7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8" name="Text 6"/>
          <p:cNvSpPr/>
          <p:nvPr/>
        </p:nvSpPr>
        <p:spPr>
          <a:xfrm>
            <a:off x="0" y="0"/>
            <a:ext cx="9144000" cy="29170"/>
          </a:xfrm>
          <a:prstGeom prst="rect">
            <a:avLst/>
          </a:prstGeom>
          <a:gradFill rotWithShape="1">
            <a:gsLst>
              <a:gs pos="0">
                <a:srgbClr val="000000">
                  <a:alpha val="0"/>
                </a:srgbClr>
              </a:gs>
              <a:gs pos="30000">
                <a:srgbClr val="FAB753"/>
              </a:gs>
              <a:gs pos="70000">
                <a:srgbClr val="FAB753"/>
              </a:gs>
              <a:gs pos="100000">
                <a:srgbClr val="000000">
                  <a:alpha val="0"/>
                </a:srgbClr>
              </a:gs>
            </a:gsLst>
            <a:lin ang="0" scaled="1"/>
          </a:gradFill>
          <a:ln/>
        </p:spPr>
        <p:txBody>
          <a:bodyPr wrap="none" rtlCol="0" anchor="t"/>
          <a:lstStyle/>
          <a:p>
            <a:pPr marL="0" indent="0">
              <a:buNone/>
            </a:pPr>
            <a:endParaRPr lang="en-US" dirty="0"/>
          </a:p>
        </p:txBody>
      </p:sp>
      <p:sp>
        <p:nvSpPr>
          <p:cNvPr id="9" name="Text 7"/>
          <p:cNvSpPr/>
          <p:nvPr/>
        </p:nvSpPr>
        <p:spPr>
          <a:xfrm>
            <a:off x="0" y="5114330"/>
            <a:ext cx="9144000" cy="29170"/>
          </a:xfrm>
          <a:prstGeom prst="rect">
            <a:avLst/>
          </a:prstGeom>
          <a:gradFill rotWithShape="1">
            <a:gsLst>
              <a:gs pos="0">
                <a:srgbClr val="000000">
                  <a:alpha val="0"/>
                </a:srgbClr>
              </a:gs>
              <a:gs pos="30000">
                <a:srgbClr val="FAB753"/>
              </a:gs>
              <a:gs pos="70000">
                <a:srgbClr val="FAB753"/>
              </a:gs>
              <a:gs pos="100000">
                <a:srgbClr val="000000">
                  <a:alpha val="0"/>
                </a:srgbClr>
              </a:gs>
            </a:gsLst>
            <a:lin ang="0" scaled="1"/>
          </a:gradFill>
          <a:ln/>
        </p:spPr>
        <p:txBody>
          <a:bodyPr wrap="none" rtlCol="0" anchor="t"/>
          <a:lstStyle/>
          <a:p>
            <a:pPr marL="0" indent="0">
              <a:buNone/>
            </a:pPr>
            <a:endParaRPr lang="en-US" dirty="0"/>
          </a:p>
        </p:txBody>
      </p:sp>
      <p:sp>
        <p:nvSpPr>
          <p:cNvPr id="10" name="Text 8"/>
          <p:cNvSpPr/>
          <p:nvPr/>
        </p:nvSpPr>
        <p:spPr>
          <a:xfrm>
            <a:off x="0" y="29170"/>
            <a:ext cx="21580" cy="5085159"/>
          </a:xfrm>
          <a:prstGeom prst="rect">
            <a:avLst/>
          </a:prstGeom>
          <a:gradFill rotWithShape="1">
            <a:gsLst>
              <a:gs pos="0">
                <a:srgbClr val="000000">
                  <a:alpha val="0"/>
                </a:srgbClr>
              </a:gs>
              <a:gs pos="30000">
                <a:srgbClr val="FAB753">
                  <a:alpha val="35000"/>
                </a:srgbClr>
              </a:gs>
              <a:gs pos="70000">
                <a:srgbClr val="FAB753">
                  <a:alpha val="35000"/>
                </a:srgbClr>
              </a:gs>
              <a:gs pos="100000">
                <a:srgbClr val="000000">
                  <a:alpha val="0"/>
                </a:srgbClr>
              </a:gs>
            </a:gsLst>
            <a:lin ang="5400000" scaled="1"/>
          </a:gradFill>
          <a:ln/>
        </p:spPr>
        <p:txBody>
          <a:bodyPr wrap="square" rtlCol="0" anchor="t"/>
          <a:lstStyle/>
          <a:p>
            <a:pPr marL="0" indent="0">
              <a:buNone/>
            </a:pPr>
            <a:endParaRPr lang="en-US" dirty="0"/>
          </a:p>
        </p:txBody>
      </p:sp>
      <p:sp>
        <p:nvSpPr>
          <p:cNvPr id="11" name="Text 9"/>
          <p:cNvSpPr/>
          <p:nvPr/>
        </p:nvSpPr>
        <p:spPr>
          <a:xfrm>
            <a:off x="9122420" y="29170"/>
            <a:ext cx="21580" cy="5085159"/>
          </a:xfrm>
          <a:prstGeom prst="rect">
            <a:avLst/>
          </a:prstGeom>
          <a:gradFill rotWithShape="1">
            <a:gsLst>
              <a:gs pos="0">
                <a:srgbClr val="000000">
                  <a:alpha val="0"/>
                </a:srgbClr>
              </a:gs>
              <a:gs pos="30000">
                <a:srgbClr val="FAB753">
                  <a:alpha val="35000"/>
                </a:srgbClr>
              </a:gs>
              <a:gs pos="70000">
                <a:srgbClr val="FAB753">
                  <a:alpha val="35000"/>
                </a:srgbClr>
              </a:gs>
              <a:gs pos="100000">
                <a:srgbClr val="000000">
                  <a:alpha val="0"/>
                </a:srgbClr>
              </a:gs>
            </a:gsLst>
            <a:lin ang="5400000" scaled="1"/>
          </a:gradFill>
          <a:ln/>
        </p:spPr>
        <p:txBody>
          <a:bodyPr wrap="square" rtlCol="0" anchor="t"/>
          <a:lstStyle/>
          <a:p>
            <a:pPr marL="0" indent="0">
              <a:buNone/>
            </a:pPr>
            <a:endParaRPr lang="en-US" dirty="0"/>
          </a:p>
        </p:txBody>
      </p:sp>
      <p:sp>
        <p:nvSpPr>
          <p:cNvPr id="12" name="Text 10"/>
          <p:cNvSpPr/>
          <p:nvPr/>
        </p:nvSpPr>
        <p:spPr>
          <a:xfrm>
            <a:off x="3072408" y="1441698"/>
            <a:ext cx="2999184" cy="139005"/>
          </a:xfrm>
          <a:prstGeom prst="rect">
            <a:avLst/>
          </a:prstGeom>
          <a:noFill/>
          <a:ln/>
        </p:spPr>
        <p:txBody>
          <a:bodyPr wrap="none" lIns="0" tIns="0" rIns="0" bIns="0" rtlCol="0" anchor="t"/>
          <a:lstStyle/>
          <a:p>
            <a:pPr marL="0" indent="0" algn="ctr">
              <a:lnSpc>
                <a:spcPts val="1095"/>
              </a:lnSpc>
              <a:buNone/>
            </a:pPr>
            <a:r>
              <a:rPr lang="en-US" sz="730" b="1" kern="0" spc="161" dirty="0">
                <a:solidFill>
                  <a:srgbClr val="FAB753">
                    <a:alpha val="95000"/>
                  </a:srgbClr>
                </a:solidFill>
                <a:latin typeface="Calibri" pitchFamily="34" charset="0"/>
                <a:ea typeface="Calibri" pitchFamily="34" charset="-122"/>
                <a:cs typeface="Calibri" pitchFamily="34" charset="-120"/>
              </a:rPr>
              <a:t>CENTERSTONE SCHOOL-BASED CLINICAL TRAINING SERIES</a:t>
            </a:r>
            <a:endParaRPr lang="en-US" sz="730" dirty="0"/>
          </a:p>
        </p:txBody>
      </p:sp>
      <p:sp>
        <p:nvSpPr>
          <p:cNvPr id="13" name="Text 11"/>
          <p:cNvSpPr/>
          <p:nvPr/>
        </p:nvSpPr>
        <p:spPr>
          <a:xfrm>
            <a:off x="4357390" y="1838474"/>
            <a:ext cx="429220" cy="13841"/>
          </a:xfrm>
          <a:prstGeom prst="roundRect">
            <a:avLst>
              <a:gd name="adj" fmla="val 100932"/>
            </a:avLst>
          </a:prstGeom>
          <a:solidFill>
            <a:srgbClr val="FAB753"/>
          </a:solidFill>
          <a:ln/>
        </p:spPr>
        <p:txBody>
          <a:bodyPr wrap="none" rtlCol="0" anchor="t"/>
          <a:lstStyle/>
          <a:p>
            <a:pPr marL="0" indent="0">
              <a:buNone/>
            </a:pPr>
            <a:endParaRPr lang="en-US" dirty="0"/>
          </a:p>
        </p:txBody>
      </p:sp>
      <p:sp>
        <p:nvSpPr>
          <p:cNvPr id="14" name="Text 12"/>
          <p:cNvSpPr/>
          <p:nvPr/>
        </p:nvSpPr>
        <p:spPr>
          <a:xfrm>
            <a:off x="1292844" y="2110085"/>
            <a:ext cx="6558163" cy="614660"/>
          </a:xfrm>
          <a:prstGeom prst="rect">
            <a:avLst/>
          </a:prstGeom>
          <a:noFill/>
          <a:ln/>
        </p:spPr>
        <p:txBody>
          <a:bodyPr wrap="none" lIns="0" tIns="0" rIns="0" bIns="0" rtlCol="0" anchor="t"/>
          <a:lstStyle/>
          <a:p>
            <a:pPr marL="0" indent="0" algn="ctr">
              <a:lnSpc>
                <a:spcPts val="4841"/>
              </a:lnSpc>
              <a:spcAft>
                <a:spcPts val="1800"/>
              </a:spcAft>
              <a:buNone/>
            </a:pPr>
            <a:r>
              <a:rPr lang="en-US" sz="4610" kern="0" spc="46" dirty="0">
                <a:solidFill>
                  <a:srgbClr val="FFFFFF"/>
                </a:solidFill>
                <a:latin typeface="Calibri Light" pitchFamily="34" charset="0"/>
                <a:ea typeface="Calibri Light" pitchFamily="34" charset="-122"/>
                <a:cs typeface="Calibri Light" pitchFamily="34" charset="-120"/>
              </a:rPr>
              <a:t>Scheduling for Success</a:t>
            </a:r>
            <a:endParaRPr lang="en-US" sz="4610" dirty="0"/>
          </a:p>
        </p:txBody>
      </p:sp>
      <p:sp>
        <p:nvSpPr>
          <p:cNvPr id="15" name="Text 13"/>
          <p:cNvSpPr/>
          <p:nvPr/>
        </p:nvSpPr>
        <p:spPr>
          <a:xfrm>
            <a:off x="4429125" y="2953345"/>
            <a:ext cx="285750" cy="7590"/>
          </a:xfrm>
          <a:prstGeom prst="rect">
            <a:avLst/>
          </a:prstGeom>
          <a:solidFill>
            <a:srgbClr val="FFFFFF">
              <a:alpha val="30000"/>
            </a:srgbClr>
          </a:solidFill>
          <a:ln/>
        </p:spPr>
        <p:txBody>
          <a:bodyPr wrap="none" rtlCol="0" anchor="t"/>
          <a:lstStyle/>
          <a:p>
            <a:pPr marL="0" indent="0">
              <a:buNone/>
            </a:pPr>
            <a:endParaRPr lang="en-US" dirty="0"/>
          </a:p>
        </p:txBody>
      </p:sp>
      <p:sp>
        <p:nvSpPr>
          <p:cNvPr id="16" name="Text 14"/>
          <p:cNvSpPr/>
          <p:nvPr/>
        </p:nvSpPr>
        <p:spPr>
          <a:xfrm>
            <a:off x="2623520" y="3161556"/>
            <a:ext cx="3896811" cy="236190"/>
          </a:xfrm>
          <a:prstGeom prst="rect">
            <a:avLst/>
          </a:prstGeom>
          <a:noFill/>
          <a:ln/>
        </p:spPr>
        <p:txBody>
          <a:bodyPr wrap="none" lIns="0" tIns="0" rIns="0" bIns="0" rtlCol="0" anchor="t"/>
          <a:lstStyle/>
          <a:p>
            <a:pPr marL="0" indent="0" algn="ctr">
              <a:lnSpc>
                <a:spcPts val="1860"/>
              </a:lnSpc>
              <a:buNone/>
            </a:pPr>
            <a:r>
              <a:rPr lang="en-US" sz="1240" kern="0" spc="149" dirty="0">
                <a:solidFill>
                  <a:srgbClr val="55A49C"/>
                </a:solidFill>
                <a:latin typeface="Calibri" pitchFamily="34" charset="0"/>
                <a:ea typeface="Calibri" pitchFamily="34" charset="-122"/>
                <a:cs typeface="Calibri" pitchFamily="34" charset="-120"/>
              </a:rPr>
              <a:t>Budget  ·  Balance  ·  Time Management</a:t>
            </a:r>
            <a:endParaRPr lang="en-US" sz="1240" dirty="0"/>
          </a:p>
        </p:txBody>
      </p:sp>
      <p:sp>
        <p:nvSpPr>
          <p:cNvPr id="17" name="Text 15"/>
          <p:cNvSpPr/>
          <p:nvPr/>
        </p:nvSpPr>
        <p:spPr>
          <a:xfrm>
            <a:off x="3304885" y="3498056"/>
            <a:ext cx="2534082" cy="203746"/>
          </a:xfrm>
          <a:prstGeom prst="rect">
            <a:avLst/>
          </a:prstGeom>
          <a:noFill/>
          <a:ln/>
        </p:spPr>
        <p:txBody>
          <a:bodyPr wrap="none" lIns="0" tIns="0" rIns="0" bIns="0" rtlCol="0" anchor="t"/>
          <a:lstStyle/>
          <a:p>
            <a:pPr marL="0" indent="0" algn="ctr">
              <a:lnSpc>
                <a:spcPts val="1605"/>
              </a:lnSpc>
              <a:buNone/>
            </a:pPr>
            <a:r>
              <a:rPr lang="en-US" sz="1070" kern="0" spc="86" dirty="0">
                <a:solidFill>
                  <a:srgbClr val="FFFFFF">
                    <a:alpha val="82000"/>
                  </a:srgbClr>
                </a:solidFill>
                <a:latin typeface="Calibri Light" pitchFamily="34" charset="0"/>
                <a:ea typeface="Calibri Light" pitchFamily="34" charset="-122"/>
                <a:cs typeface="Calibri Light" pitchFamily="34" charset="-120"/>
              </a:rPr>
              <a:t>School-Based Therapist Training</a:t>
            </a:r>
            <a:endParaRPr lang="en-US" sz="1070" dirty="0"/>
          </a:p>
        </p:txBody>
      </p:sp>
      <p:sp>
        <p:nvSpPr>
          <p:cNvPr id="18" name="Text 16"/>
          <p:cNvSpPr/>
          <p:nvPr/>
        </p:nvSpPr>
        <p:spPr>
          <a:xfrm>
            <a:off x="8432899" y="4847034"/>
            <a:ext cx="530751" cy="139005"/>
          </a:xfrm>
          <a:prstGeom prst="rect">
            <a:avLst/>
          </a:prstGeom>
          <a:noFill/>
          <a:ln/>
        </p:spPr>
        <p:txBody>
          <a:bodyPr wrap="none" lIns="0" tIns="0" rIns="0" bIns="0" rtlCol="0" anchor="t"/>
          <a:lstStyle/>
          <a:p>
            <a:pPr marL="0" indent="0" algn="l">
              <a:lnSpc>
                <a:spcPts val="1095"/>
              </a:lnSpc>
              <a:buNone/>
            </a:pPr>
            <a:r>
              <a:rPr lang="en-US" sz="730" kern="0" spc="44" dirty="0">
                <a:solidFill>
                  <a:srgbClr val="FFFFFF">
                    <a:alpha val="60000"/>
                  </a:srgbClr>
                </a:solidFill>
                <a:latin typeface="Calibri" pitchFamily="34" charset="0"/>
                <a:ea typeface="Calibri" pitchFamily="34" charset="-122"/>
                <a:cs typeface="Calibri" pitchFamily="34" charset="-120"/>
              </a:rPr>
              <a:t>June 2026</a:t>
            </a:r>
            <a:endParaRPr lang="en-US" sz="730" dirty="0"/>
          </a:p>
        </p:txBody>
      </p:sp>
      <p:sp>
        <p:nvSpPr>
          <p:cNvPr id="19" name="Text 17"/>
          <p:cNvSpPr/>
          <p:nvPr/>
        </p:nvSpPr>
        <p:spPr>
          <a:xfrm>
            <a:off x="228600" y="4856559"/>
            <a:ext cx="819046" cy="129480"/>
          </a:xfrm>
          <a:prstGeom prst="rect">
            <a:avLst/>
          </a:prstGeom>
          <a:noFill/>
          <a:ln/>
        </p:spPr>
        <p:txBody>
          <a:bodyPr wrap="none" lIns="0" tIns="0" rIns="0" bIns="0" rtlCol="0" anchor="t"/>
          <a:lstStyle/>
          <a:p>
            <a:pPr marL="0" indent="0" algn="l">
              <a:lnSpc>
                <a:spcPts val="1020"/>
              </a:lnSpc>
              <a:buNone/>
            </a:pPr>
            <a:r>
              <a:rPr lang="en-US" sz="680" kern="0" spc="68" dirty="0">
                <a:solidFill>
                  <a:srgbClr val="FFFFFF">
                    <a:alpha val="28000"/>
                  </a:srgbClr>
                </a:solidFill>
                <a:latin typeface="Calibri" pitchFamily="34" charset="0"/>
                <a:ea typeface="Calibri" pitchFamily="34" charset="-122"/>
                <a:cs typeface="Calibri" pitchFamily="34" charset="-120"/>
              </a:rPr>
              <a:t>CENTERSTONE</a:t>
            </a:r>
            <a:endParaRPr lang="en-US" sz="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571750" cy="5143500"/>
          </a:xfrm>
          <a:prstGeom prst="rect">
            <a:avLst/>
          </a:prstGeom>
          <a:solidFill>
            <a:srgbClr val="1B5E72"/>
          </a:solidFill>
          <a:ln/>
        </p:spPr>
        <p:txBody>
          <a:bodyPr wrap="square" rtlCol="0" anchor="t"/>
          <a:lstStyle/>
          <a:p>
            <a:pPr marL="0" indent="0">
              <a:buNone/>
            </a:pPr>
            <a:endParaRPr lang="en-US" dirty="0"/>
          </a:p>
        </p:txBody>
      </p:sp>
      <p:sp>
        <p:nvSpPr>
          <p:cNvPr id="4" name="Text 2"/>
          <p:cNvSpPr/>
          <p:nvPr/>
        </p:nvSpPr>
        <p:spPr>
          <a:xfrm>
            <a:off x="314920" y="1742926"/>
            <a:ext cx="2168188" cy="118021"/>
          </a:xfrm>
          <a:prstGeom prst="rect">
            <a:avLst/>
          </a:prstGeom>
          <a:noFill/>
          <a:ln/>
        </p:spPr>
        <p:txBody>
          <a:bodyPr wrap="none" lIns="0" tIns="0" rIns="0" bIns="0" rtlCol="0" anchor="t"/>
          <a:lstStyle/>
          <a:p>
            <a:pPr marL="0" indent="0" algn="l">
              <a:lnSpc>
                <a:spcPts val="930"/>
              </a:lnSpc>
              <a:buNone/>
            </a:pPr>
            <a:r>
              <a:rPr lang="en-US" sz="620" b="1" kern="0" spc="112" dirty="0">
                <a:solidFill>
                  <a:srgbClr val="FAB753"/>
                </a:solidFill>
                <a:latin typeface="Calibri" pitchFamily="34" charset="0"/>
                <a:ea typeface="Calibri" pitchFamily="34" charset="-122"/>
                <a:cs typeface="Calibri" pitchFamily="34" charset="-120"/>
              </a:rPr>
              <a:t>PUTTING IT INTO PRACTICE</a:t>
            </a:r>
            <a:endParaRPr lang="en-US" sz="620" dirty="0"/>
          </a:p>
        </p:txBody>
      </p:sp>
      <p:sp>
        <p:nvSpPr>
          <p:cNvPr id="5" name="Text 3"/>
          <p:cNvSpPr/>
          <p:nvPr/>
        </p:nvSpPr>
        <p:spPr>
          <a:xfrm>
            <a:off x="314920" y="2004417"/>
            <a:ext cx="2010501" cy="585698"/>
          </a:xfrm>
          <a:prstGeom prst="rect">
            <a:avLst/>
          </a:prstGeom>
          <a:noFill/>
          <a:ln/>
        </p:spPr>
        <p:txBody>
          <a:bodyPr wrap="square" lIns="0" tIns="0" rIns="0" bIns="0" rtlCol="0" anchor="ctr"/>
          <a:lstStyle/>
          <a:p>
            <a:pPr marL="0" indent="0" algn="l">
              <a:lnSpc>
                <a:spcPts val="2197"/>
              </a:lnSpc>
              <a:buNone/>
            </a:pPr>
            <a:r>
              <a:rPr lang="en-US" sz="1910" b="1" dirty="0">
                <a:solidFill>
                  <a:srgbClr val="FFFFFF"/>
                </a:solidFill>
                <a:latin typeface="Calibri Light" pitchFamily="34" charset="0"/>
                <a:ea typeface="Calibri Light" pitchFamily="34" charset="-122"/>
                <a:cs typeface="Calibri Light" pitchFamily="34" charset="-120"/>
              </a:rPr>
              <a:t>Scheduling</a:t>
            </a:r>
            <a:br>
              <a:rPr dirty="0"/>
            </a:br>
            <a:r>
              <a:rPr lang="en-US" sz="1910" b="1" dirty="0">
                <a:solidFill>
                  <a:srgbClr val="FFFFFF"/>
                </a:solidFill>
                <a:latin typeface="Calibri Light" pitchFamily="34" charset="0"/>
                <a:ea typeface="Calibri Light" pitchFamily="34" charset="-122"/>
                <a:cs typeface="Calibri Light" pitchFamily="34" charset="-120"/>
              </a:rPr>
              <a:t>for Success</a:t>
            </a:r>
            <a:endParaRPr lang="en-US" sz="1910" dirty="0"/>
          </a:p>
        </p:txBody>
      </p:sp>
      <p:sp>
        <p:nvSpPr>
          <p:cNvPr id="6" name="Text 4"/>
          <p:cNvSpPr/>
          <p:nvPr/>
        </p:nvSpPr>
        <p:spPr>
          <a:xfrm>
            <a:off x="314920" y="2762845"/>
            <a:ext cx="2010501" cy="700088"/>
          </a:xfrm>
          <a:prstGeom prst="rect">
            <a:avLst/>
          </a:prstGeom>
          <a:noFill/>
          <a:ln/>
        </p:spPr>
        <p:txBody>
          <a:bodyPr wrap="square" lIns="0" tIns="0" rIns="0" bIns="0" rtlCol="0" anchor="t"/>
          <a:lstStyle/>
          <a:p>
            <a:pPr marL="0" indent="0" algn="l">
              <a:lnSpc>
                <a:spcPts val="1312"/>
              </a:lnSpc>
              <a:buNone/>
            </a:pPr>
            <a:r>
              <a:rPr lang="en-US" sz="820" dirty="0">
                <a:solidFill>
                  <a:srgbClr val="FFFFFF">
                    <a:alpha val="82000"/>
                  </a:srgbClr>
                </a:solidFill>
                <a:latin typeface="Calibri" pitchFamily="34" charset="0"/>
                <a:ea typeface="Calibri" pitchFamily="34" charset="-122"/>
                <a:cs typeface="Calibri" pitchFamily="34" charset="-120"/>
              </a:rPr>
              <a:t>This training includes hands-on reflection activities and research-informed strategies designed to serve as a reference and guide long after the session ends.</a:t>
            </a:r>
            <a:endParaRPr lang="en-US" sz="820" dirty="0"/>
          </a:p>
        </p:txBody>
      </p:sp>
      <p:sp>
        <p:nvSpPr>
          <p:cNvPr id="9" name="Text 6"/>
          <p:cNvSpPr/>
          <p:nvPr/>
        </p:nvSpPr>
        <p:spPr>
          <a:xfrm>
            <a:off x="0" y="4264670"/>
            <a:ext cx="2571750" cy="857250"/>
          </a:xfrm>
          <a:prstGeom prst="rect">
            <a:avLst/>
          </a:prstGeom>
          <a:solidFill>
            <a:srgbClr val="000000">
              <a:alpha val="12000"/>
            </a:srgbClr>
          </a:solidFill>
          <a:ln/>
        </p:spPr>
        <p:txBody>
          <a:bodyPr wrap="square" rtlCol="0" anchor="t"/>
          <a:lstStyle/>
          <a:p>
            <a:pPr marL="0" indent="0">
              <a:buNone/>
            </a:pPr>
            <a:endParaRPr lang="en-US" dirty="0"/>
          </a:p>
        </p:txBody>
      </p:sp>
      <p:sp>
        <p:nvSpPr>
          <p:cNvPr id="11" name="Text 8"/>
          <p:cNvSpPr/>
          <p:nvPr/>
        </p:nvSpPr>
        <p:spPr>
          <a:xfrm>
            <a:off x="2886670" y="1258580"/>
            <a:ext cx="6236077" cy="278160"/>
          </a:xfrm>
          <a:prstGeom prst="rect">
            <a:avLst/>
          </a:prstGeom>
          <a:noFill/>
          <a:ln/>
        </p:spPr>
        <p:txBody>
          <a:bodyPr wrap="none" lIns="0" tIns="0" rIns="0" bIns="0" rtlCol="0" anchor="t"/>
          <a:lstStyle/>
          <a:p>
            <a:pPr marL="0" indent="0" algn="l">
              <a:lnSpc>
                <a:spcPts val="2190"/>
              </a:lnSpc>
              <a:buNone/>
            </a:pPr>
            <a:r>
              <a:rPr lang="en-US" sz="1460" b="1" dirty="0">
                <a:solidFill>
                  <a:srgbClr val="1B5E72"/>
                </a:solidFill>
                <a:latin typeface="Calibri Light" pitchFamily="34" charset="0"/>
                <a:ea typeface="Calibri Light" pitchFamily="34" charset="-122"/>
                <a:cs typeface="Calibri Light" pitchFamily="34" charset="-120"/>
              </a:rPr>
              <a:t>Welcome to Today's Training</a:t>
            </a:r>
            <a:endParaRPr lang="en-US" sz="1460" dirty="0"/>
          </a:p>
        </p:txBody>
      </p:sp>
      <p:sp>
        <p:nvSpPr>
          <p:cNvPr id="12" name="Text 9"/>
          <p:cNvSpPr/>
          <p:nvPr/>
        </p:nvSpPr>
        <p:spPr>
          <a:xfrm>
            <a:off x="2886670" y="1607731"/>
            <a:ext cx="5769793" cy="326291"/>
          </a:xfrm>
          <a:prstGeom prst="rect">
            <a:avLst/>
          </a:prstGeom>
          <a:noFill/>
          <a:ln/>
        </p:spPr>
        <p:txBody>
          <a:bodyPr wrap="square" lIns="0" tIns="0" rIns="0" bIns="0" rtlCol="0" anchor="t"/>
          <a:lstStyle/>
          <a:p>
            <a:pPr marL="0" indent="0" algn="l">
              <a:lnSpc>
                <a:spcPts val="1225"/>
              </a:lnSpc>
              <a:buNone/>
            </a:pPr>
            <a:r>
              <a:rPr lang="en-US" sz="790" dirty="0">
                <a:solidFill>
                  <a:srgbClr val="2C2C2C"/>
                </a:solidFill>
                <a:latin typeface="Calibri" pitchFamily="34" charset="0"/>
                <a:ea typeface="Calibri" pitchFamily="34" charset="-122"/>
                <a:cs typeface="Calibri" pitchFamily="34" charset="-120"/>
              </a:rPr>
              <a:t>In this session we will explore how our budget works, why sustainable scheduling protects both you and your clients, and the practical strategies that help school-based therapists hit their targets consistently without burning out.</a:t>
            </a:r>
            <a:endParaRPr lang="en-US" sz="790" dirty="0"/>
          </a:p>
        </p:txBody>
      </p:sp>
      <p:sp>
        <p:nvSpPr>
          <p:cNvPr id="13" name="Text 10"/>
          <p:cNvSpPr/>
          <p:nvPr/>
        </p:nvSpPr>
        <p:spPr>
          <a:xfrm>
            <a:off x="2886670" y="2032784"/>
            <a:ext cx="6410920" cy="159990"/>
          </a:xfrm>
          <a:prstGeom prst="rect">
            <a:avLst/>
          </a:prstGeom>
          <a:noFill/>
          <a:ln/>
        </p:spPr>
        <p:txBody>
          <a:bodyPr wrap="none" lIns="0" tIns="0" rIns="0" bIns="0" rtlCol="0" anchor="t"/>
          <a:lstStyle/>
          <a:p>
            <a:pPr marL="0" indent="0" algn="l">
              <a:lnSpc>
                <a:spcPts val="1260"/>
              </a:lnSpc>
              <a:buNone/>
            </a:pPr>
            <a:r>
              <a:rPr lang="en-US" sz="840" b="1" dirty="0">
                <a:solidFill>
                  <a:srgbClr val="1B5E72"/>
                </a:solidFill>
                <a:latin typeface="Calibri" pitchFamily="34" charset="0"/>
                <a:ea typeface="Calibri" pitchFamily="34" charset="-122"/>
                <a:cs typeface="Calibri" pitchFamily="34" charset="-120"/>
              </a:rPr>
              <a:t>We have 3 Objectives Today:</a:t>
            </a:r>
            <a:endParaRPr lang="en-US" sz="840"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8448" y="2268462"/>
            <a:ext cx="132588" cy="132588"/>
          </a:xfrm>
          <a:prstGeom prst="rect">
            <a:avLst/>
          </a:prstGeom>
        </p:spPr>
      </p:pic>
      <p:sp>
        <p:nvSpPr>
          <p:cNvPr id="15" name="Text 11"/>
          <p:cNvSpPr/>
          <p:nvPr/>
        </p:nvSpPr>
        <p:spPr>
          <a:xfrm>
            <a:off x="3061543" y="2279095"/>
            <a:ext cx="3762732" cy="140047"/>
          </a:xfrm>
          <a:prstGeom prst="rect">
            <a:avLst/>
          </a:prstGeom>
          <a:noFill/>
          <a:ln/>
        </p:spPr>
        <p:txBody>
          <a:bodyPr wrap="none" lIns="0" tIns="0" rIns="0" bIns="0" rtlCol="0" anchor="ctr"/>
          <a:lstStyle/>
          <a:p>
            <a:pPr marL="0" indent="0" algn="l">
              <a:lnSpc>
                <a:spcPts val="1102"/>
              </a:lnSpc>
              <a:buNone/>
            </a:pPr>
            <a:r>
              <a:rPr lang="en-US" sz="760" b="1" dirty="0">
                <a:solidFill>
                  <a:srgbClr val="1B5E72"/>
                </a:solidFill>
                <a:latin typeface="Calibri" pitchFamily="34" charset="0"/>
                <a:ea typeface="Calibri" pitchFamily="34" charset="-122"/>
                <a:cs typeface="Calibri" pitchFamily="34" charset="-120"/>
              </a:rPr>
              <a:t>1.</a:t>
            </a:r>
            <a:r>
              <a:rPr lang="en-US" sz="760" dirty="0">
                <a:solidFill>
                  <a:srgbClr val="2C2C2C"/>
                </a:solidFill>
                <a:latin typeface="Calibri" pitchFamily="34" charset="0"/>
                <a:ea typeface="Calibri" pitchFamily="34" charset="-122"/>
                <a:cs typeface="Calibri" pitchFamily="34" charset="-120"/>
              </a:rPr>
              <a:t>Understand the significance of our budget and how it connects to our mission.</a:t>
            </a:r>
            <a:endParaRPr lang="en-US" sz="760"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68448" y="2473250"/>
            <a:ext cx="132588" cy="132588"/>
          </a:xfrm>
          <a:prstGeom prst="rect">
            <a:avLst/>
          </a:prstGeom>
        </p:spPr>
      </p:pic>
      <p:sp>
        <p:nvSpPr>
          <p:cNvPr id="17" name="Text 12"/>
          <p:cNvSpPr/>
          <p:nvPr/>
        </p:nvSpPr>
        <p:spPr>
          <a:xfrm>
            <a:off x="3061543" y="2483882"/>
            <a:ext cx="3726716" cy="140047"/>
          </a:xfrm>
          <a:prstGeom prst="rect">
            <a:avLst/>
          </a:prstGeom>
          <a:noFill/>
          <a:ln/>
        </p:spPr>
        <p:txBody>
          <a:bodyPr wrap="none" lIns="0" tIns="0" rIns="0" bIns="0" rtlCol="0" anchor="ctr"/>
          <a:lstStyle/>
          <a:p>
            <a:pPr marL="0" indent="0" algn="l">
              <a:lnSpc>
                <a:spcPts val="1102"/>
              </a:lnSpc>
              <a:buNone/>
            </a:pPr>
            <a:r>
              <a:rPr lang="en-US" sz="760" b="1" dirty="0">
                <a:solidFill>
                  <a:srgbClr val="1B5E72"/>
                </a:solidFill>
                <a:latin typeface="Calibri" pitchFamily="34" charset="0"/>
                <a:ea typeface="Calibri" pitchFamily="34" charset="-122"/>
                <a:cs typeface="Calibri" pitchFamily="34" charset="-120"/>
              </a:rPr>
              <a:t>2.</a:t>
            </a:r>
            <a:r>
              <a:rPr lang="en-US" sz="760" dirty="0">
                <a:solidFill>
                  <a:srgbClr val="2C2C2C"/>
                </a:solidFill>
                <a:latin typeface="Calibri" pitchFamily="34" charset="0"/>
                <a:ea typeface="Calibri" pitchFamily="34" charset="-122"/>
                <a:cs typeface="Calibri" pitchFamily="34" charset="-120"/>
              </a:rPr>
              <a:t>Prioritize necessary work tasks while maintaining a healthy work-life balance.</a:t>
            </a:r>
            <a:endParaRPr lang="en-US" sz="760" dirty="0"/>
          </a:p>
        </p:txBody>
      </p:sp>
      <p:pic>
        <p:nvPicPr>
          <p:cNvPr id="18"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68448" y="2678037"/>
            <a:ext cx="132588" cy="132588"/>
          </a:xfrm>
          <a:prstGeom prst="rect">
            <a:avLst/>
          </a:prstGeom>
        </p:spPr>
      </p:pic>
      <p:sp>
        <p:nvSpPr>
          <p:cNvPr id="19" name="Text 13"/>
          <p:cNvSpPr/>
          <p:nvPr/>
        </p:nvSpPr>
        <p:spPr>
          <a:xfrm>
            <a:off x="3061543" y="2688670"/>
            <a:ext cx="3858831" cy="140047"/>
          </a:xfrm>
          <a:prstGeom prst="rect">
            <a:avLst/>
          </a:prstGeom>
          <a:noFill/>
          <a:ln/>
        </p:spPr>
        <p:txBody>
          <a:bodyPr wrap="none" lIns="0" tIns="0" rIns="0" bIns="0" rtlCol="0" anchor="ctr"/>
          <a:lstStyle/>
          <a:p>
            <a:pPr marL="0" indent="0" algn="l">
              <a:lnSpc>
                <a:spcPts val="1102"/>
              </a:lnSpc>
              <a:buNone/>
            </a:pPr>
            <a:r>
              <a:rPr lang="en-US" sz="760" b="1" dirty="0">
                <a:solidFill>
                  <a:srgbClr val="1B5E72"/>
                </a:solidFill>
                <a:latin typeface="Calibri" pitchFamily="34" charset="0"/>
                <a:ea typeface="Calibri" pitchFamily="34" charset="-122"/>
                <a:cs typeface="Calibri" pitchFamily="34" charset="-120"/>
              </a:rPr>
              <a:t>3.</a:t>
            </a:r>
            <a:r>
              <a:rPr lang="en-US" sz="760" dirty="0">
                <a:solidFill>
                  <a:srgbClr val="2C2C2C"/>
                </a:solidFill>
                <a:latin typeface="Calibri" pitchFamily="34" charset="0"/>
                <a:ea typeface="Calibri" pitchFamily="34" charset="-122"/>
                <a:cs typeface="Calibri" pitchFamily="34" charset="-120"/>
              </a:rPr>
              <a:t>Learn strategies to effectively manage your time and hit your target consistently.</a:t>
            </a:r>
            <a:endParaRPr lang="en-US" sz="76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68448" y="2882825"/>
            <a:ext cx="132588" cy="132588"/>
          </a:xfrm>
          <a:prstGeom prst="rect">
            <a:avLst/>
          </a:prstGeom>
        </p:spPr>
      </p:pic>
      <p:sp>
        <p:nvSpPr>
          <p:cNvPr id="21" name="Text 14"/>
          <p:cNvSpPr/>
          <p:nvPr/>
        </p:nvSpPr>
        <p:spPr>
          <a:xfrm>
            <a:off x="3061543" y="2893457"/>
            <a:ext cx="3904997" cy="140047"/>
          </a:xfrm>
          <a:prstGeom prst="rect">
            <a:avLst/>
          </a:prstGeom>
          <a:noFill/>
          <a:ln/>
        </p:spPr>
        <p:txBody>
          <a:bodyPr wrap="none" lIns="0" tIns="0" rIns="0" bIns="0" rtlCol="0" anchor="ctr"/>
          <a:lstStyle/>
          <a:p>
            <a:pPr marL="0" indent="0" algn="l">
              <a:lnSpc>
                <a:spcPts val="1102"/>
              </a:lnSpc>
              <a:buNone/>
            </a:pPr>
            <a:r>
              <a:rPr lang="en-US" sz="760" b="1" dirty="0">
                <a:solidFill>
                  <a:srgbClr val="FAB753"/>
                </a:solidFill>
                <a:latin typeface="Calibri" pitchFamily="34" charset="0"/>
                <a:ea typeface="Calibri" pitchFamily="34" charset="-122"/>
                <a:cs typeface="Calibri" pitchFamily="34" charset="-120"/>
              </a:rPr>
              <a:t>Bonus Activity</a:t>
            </a:r>
            <a:r>
              <a:rPr lang="en-US" sz="760" dirty="0">
                <a:solidFill>
                  <a:srgbClr val="2C2C2C"/>
                </a:solidFill>
                <a:latin typeface="Calibri" pitchFamily="34" charset="0"/>
                <a:ea typeface="Calibri" pitchFamily="34" charset="-122"/>
                <a:cs typeface="Calibri" pitchFamily="34" charset="-120"/>
              </a:rPr>
              <a:t> — Creative problem solving for common barriers to daily workflow.</a:t>
            </a:r>
            <a:endParaRPr lang="en-US" sz="760" dirty="0"/>
          </a:p>
        </p:txBody>
      </p:sp>
      <p:sp>
        <p:nvSpPr>
          <p:cNvPr id="22" name="Text 15"/>
          <p:cNvSpPr/>
          <p:nvPr/>
        </p:nvSpPr>
        <p:spPr>
          <a:xfrm>
            <a:off x="2886670" y="3147805"/>
            <a:ext cx="5828109" cy="497282"/>
          </a:xfrm>
          <a:prstGeom prst="rect">
            <a:avLst/>
          </a:prstGeom>
          <a:noFill/>
          <a:ln/>
        </p:spPr>
        <p:txBody>
          <a:bodyPr wrap="square" lIns="0" tIns="92710" rIns="0" bIns="114300" rtlCol="0" anchor="t"/>
          <a:lstStyle/>
          <a:p>
            <a:pPr marL="0" indent="0" algn="l">
              <a:buNone/>
            </a:pPr>
            <a:r>
              <a:rPr lang="en-US" sz="700" dirty="0">
                <a:solidFill>
                  <a:srgbClr val="55A49C"/>
                </a:solidFill>
                <a:latin typeface="Calibri" pitchFamily="34" charset="0"/>
                <a:ea typeface="Calibri" pitchFamily="34" charset="-122"/>
                <a:cs typeface="Calibri" pitchFamily="34" charset="-120"/>
              </a:rPr>
              <a:t>This training includes interactive reflection and discussion activities followed by a research-informed overview designed to serve as a takeaway and reference after the session.</a:t>
            </a:r>
            <a:endParaRPr lang="en-US" sz="700" dirty="0"/>
          </a:p>
        </p:txBody>
      </p:sp>
      <p:sp>
        <p:nvSpPr>
          <p:cNvPr id="23" name="Text 16"/>
          <p:cNvSpPr/>
          <p:nvPr/>
        </p:nvSpPr>
        <p:spPr>
          <a:xfrm>
            <a:off x="2886670" y="3147805"/>
            <a:ext cx="5828109" cy="9525"/>
          </a:xfrm>
          <a:prstGeom prst="rect">
            <a:avLst/>
          </a:prstGeom>
          <a:solidFill>
            <a:srgbClr val="EAF4F4"/>
          </a:solidFill>
          <a:ln/>
        </p:spPr>
        <p:txBody>
          <a:bodyPr wrap="none" rtlCol="0" anchor="t"/>
          <a:lstStyle/>
          <a:p>
            <a:pPr marL="0" indent="0">
              <a:buNone/>
            </a:pPr>
            <a:endParaRPr lang="en-US" dirty="0"/>
          </a:p>
        </p:txBody>
      </p:sp>
      <p:sp>
        <p:nvSpPr>
          <p:cNvPr id="24" name="Text 17"/>
          <p:cNvSpPr/>
          <p:nvPr/>
        </p:nvSpPr>
        <p:spPr>
          <a:xfrm>
            <a:off x="2943820" y="5100340"/>
            <a:ext cx="5828109" cy="43160"/>
          </a:xfrm>
          <a:prstGeom prst="rect">
            <a:avLst/>
          </a:prstGeom>
          <a:solidFill>
            <a:srgbClr val="FAB753"/>
          </a:solidFill>
          <a:ln/>
        </p:spPr>
        <p:txBody>
          <a:bodyPr wrap="none" rtlCol="0" anchor="t"/>
          <a:lstStyle/>
          <a:p>
            <a:pPr marL="0" indent="0">
              <a:buNone/>
            </a:pPr>
            <a:endParaRPr lang="en-US" dirty="0"/>
          </a:p>
        </p:txBody>
      </p:sp>
      <p:sp>
        <p:nvSpPr>
          <p:cNvPr id="25" name="Text 18"/>
          <p:cNvSpPr/>
          <p:nvPr/>
        </p:nvSpPr>
        <p:spPr>
          <a:xfrm>
            <a:off x="2536184" y="0"/>
            <a:ext cx="43160" cy="5143500"/>
          </a:xfrm>
          <a:prstGeom prst="rect">
            <a:avLst/>
          </a:prstGeom>
          <a:solidFill>
            <a:srgbClr val="FAB753">
              <a:alpha val="85000"/>
            </a:srgbClr>
          </a:solidFill>
          <a:ln/>
        </p:spPr>
        <p:txBody>
          <a:bodyPr wrap="square" rtlCol="0" anchor="t"/>
          <a:lstStyle/>
          <a:p>
            <a:pPr marL="0"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43160"/>
          </a:xfrm>
          <a:prstGeom prst="rect">
            <a:avLst/>
          </a:prstGeom>
          <a:solidFill>
            <a:srgbClr val="1B5E72"/>
          </a:solidFill>
          <a:ln/>
        </p:spPr>
        <p:txBody>
          <a:bodyPr wrap="none" rtlCol="0" anchor="t"/>
          <a:lstStyle/>
          <a:p>
            <a:pPr marL="0" indent="0">
              <a:buNone/>
            </a:pPr>
            <a:endParaRPr lang="en-US" dirty="0"/>
          </a:p>
        </p:txBody>
      </p:sp>
      <p:sp>
        <p:nvSpPr>
          <p:cNvPr id="3" name="Text 1"/>
          <p:cNvSpPr/>
          <p:nvPr/>
        </p:nvSpPr>
        <p:spPr>
          <a:xfrm>
            <a:off x="0" y="4686300"/>
            <a:ext cx="9144000" cy="502920"/>
          </a:xfrm>
          <a:prstGeom prst="rect">
            <a:avLst/>
          </a:prstGeom>
          <a:solidFill>
            <a:srgbClr val="FAB753"/>
          </a:solidFill>
          <a:ln/>
        </p:spPr>
        <p:txBody>
          <a:bodyPr wrap="none" lIns="0" tIns="0" rIns="0" bIns="0" rtlCol="0" anchor="ctr"/>
          <a:lstStyle/>
          <a:p>
            <a:pPr marL="0" indent="0" algn="ctr">
              <a:buNone/>
            </a:pPr>
            <a:r>
              <a:rPr lang="en-US" sz="1130" b="1" kern="0" spc="10" dirty="0">
                <a:solidFill>
                  <a:srgbClr val="1B1B1B"/>
                </a:solidFill>
                <a:latin typeface="Calibri" pitchFamily="34" charset="0"/>
                <a:ea typeface="Calibri" pitchFamily="34" charset="-122"/>
                <a:cs typeface="Calibri" pitchFamily="34" charset="-120"/>
              </a:rPr>
              <a:t>Sustainable scheduling is not a bonus skill.  It is a clinical one.</a:t>
            </a:r>
            <a:endParaRPr lang="en-US" sz="1130" dirty="0"/>
          </a:p>
        </p:txBody>
      </p:sp>
      <p:sp>
        <p:nvSpPr>
          <p:cNvPr id="4" name="Text 2"/>
          <p:cNvSpPr/>
          <p:nvPr/>
        </p:nvSpPr>
        <p:spPr>
          <a:xfrm>
            <a:off x="8048923" y="362396"/>
            <a:ext cx="549756" cy="1572220"/>
          </a:xfrm>
          <a:prstGeom prst="rect">
            <a:avLst/>
          </a:prstGeom>
          <a:noFill/>
          <a:ln/>
        </p:spPr>
        <p:txBody>
          <a:bodyPr wrap="none" lIns="0" tIns="0" rIns="0" bIns="0" rtlCol="0" anchor="t"/>
          <a:lstStyle/>
          <a:p>
            <a:pPr marL="0" indent="0" algn="l">
              <a:lnSpc>
                <a:spcPts val="12380"/>
              </a:lnSpc>
              <a:buNone/>
            </a:pPr>
            <a:r>
              <a:rPr lang="en-US" sz="12380" dirty="0">
                <a:solidFill>
                  <a:srgbClr val="EAF4F4"/>
                </a:solidFill>
                <a:latin typeface="Calibri Light" pitchFamily="34" charset="0"/>
                <a:ea typeface="Calibri Light" pitchFamily="34" charset="-122"/>
                <a:cs typeface="Calibri Light" pitchFamily="34" charset="-120"/>
              </a:rPr>
              <a:t>“</a:t>
            </a:r>
            <a:endParaRPr lang="en-US" sz="12380" dirty="0"/>
          </a:p>
        </p:txBody>
      </p:sp>
      <p:sp>
        <p:nvSpPr>
          <p:cNvPr id="5" name="Text 3"/>
          <p:cNvSpPr/>
          <p:nvPr/>
        </p:nvSpPr>
        <p:spPr>
          <a:xfrm>
            <a:off x="2711860" y="908298"/>
            <a:ext cx="4013470" cy="362099"/>
          </a:xfrm>
          <a:prstGeom prst="rect">
            <a:avLst/>
          </a:prstGeom>
          <a:noFill/>
          <a:ln/>
        </p:spPr>
        <p:txBody>
          <a:bodyPr wrap="none" lIns="0" tIns="0" rIns="0" bIns="0" rtlCol="0" anchor="t"/>
          <a:lstStyle/>
          <a:p>
            <a:pPr marL="0" indent="0" algn="ctr">
              <a:lnSpc>
                <a:spcPts val="2852"/>
              </a:lnSpc>
              <a:spcAft>
                <a:spcPts val="2250"/>
              </a:spcAft>
              <a:buNone/>
            </a:pPr>
            <a:r>
              <a:rPr lang="en-US" sz="2480" b="1" kern="0" spc="-30" dirty="0">
                <a:solidFill>
                  <a:srgbClr val="1B5E72"/>
                </a:solidFill>
                <a:latin typeface="Calibri Light" pitchFamily="34" charset="0"/>
                <a:ea typeface="Calibri Light" pitchFamily="34" charset="-122"/>
                <a:cs typeface="Calibri Light" pitchFamily="34" charset="-120"/>
              </a:rPr>
              <a:t>Why This Training Matters</a:t>
            </a:r>
            <a:endParaRPr lang="en-US" sz="2480" dirty="0"/>
          </a:p>
        </p:txBody>
      </p:sp>
      <p:sp>
        <p:nvSpPr>
          <p:cNvPr id="6" name="Text 4"/>
          <p:cNvSpPr/>
          <p:nvPr/>
        </p:nvSpPr>
        <p:spPr>
          <a:xfrm>
            <a:off x="1039454" y="1384638"/>
            <a:ext cx="35421" cy="2040731"/>
          </a:xfrm>
          <a:prstGeom prst="roundRect">
            <a:avLst>
              <a:gd name="adj" fmla="val 82465"/>
            </a:avLst>
          </a:prstGeom>
          <a:solidFill>
            <a:srgbClr val="FAB753"/>
          </a:solidFill>
          <a:ln/>
        </p:spPr>
        <p:txBody>
          <a:bodyPr wrap="square" rtlCol="0" anchor="t"/>
          <a:lstStyle/>
          <a:p>
            <a:pPr marL="0" indent="0">
              <a:buNone/>
            </a:pPr>
            <a:endParaRPr lang="en-US" dirty="0"/>
          </a:p>
        </p:txBody>
      </p:sp>
      <p:sp>
        <p:nvSpPr>
          <p:cNvPr id="7" name="Text 5"/>
          <p:cNvSpPr/>
          <p:nvPr/>
        </p:nvSpPr>
        <p:spPr>
          <a:xfrm>
            <a:off x="1332645" y="1384638"/>
            <a:ext cx="6850559" cy="751761"/>
          </a:xfrm>
          <a:prstGeom prst="rect">
            <a:avLst/>
          </a:prstGeom>
          <a:noFill/>
          <a:ln/>
        </p:spPr>
        <p:txBody>
          <a:bodyPr wrap="square" lIns="0" tIns="0" rIns="0" bIns="0" rtlCol="0" anchor="ctr"/>
          <a:lstStyle/>
          <a:p>
            <a:pPr marL="0" indent="0" algn="l">
              <a:buNone/>
            </a:pPr>
            <a:r>
              <a:rPr lang="en-US" sz="1130" dirty="0">
                <a:solidFill>
                  <a:srgbClr val="2C2C2C"/>
                </a:solidFill>
                <a:latin typeface="Calibri" pitchFamily="34" charset="0"/>
                <a:ea typeface="Calibri" pitchFamily="34" charset="-122"/>
                <a:cs typeface="Calibri" pitchFamily="34" charset="-120"/>
              </a:rPr>
              <a:t>This training explains why our budget matters and how consistent time management directly supports both program sustainability and your individual success.</a:t>
            </a:r>
            <a:endParaRPr lang="en-US" sz="1130" dirty="0"/>
          </a:p>
        </p:txBody>
      </p:sp>
      <p:sp>
        <p:nvSpPr>
          <p:cNvPr id="8" name="Text 6"/>
          <p:cNvSpPr/>
          <p:nvPr/>
        </p:nvSpPr>
        <p:spPr>
          <a:xfrm>
            <a:off x="1332645" y="2058531"/>
            <a:ext cx="6850559" cy="9525"/>
          </a:xfrm>
          <a:prstGeom prst="rect">
            <a:avLst/>
          </a:prstGeom>
          <a:solidFill>
            <a:srgbClr val="E8E8E8"/>
          </a:solidFill>
          <a:ln/>
        </p:spPr>
        <p:txBody>
          <a:bodyPr wrap="none" rtlCol="0" anchor="t"/>
          <a:lstStyle/>
          <a:p>
            <a:pPr marL="0" indent="0">
              <a:buNone/>
            </a:pPr>
            <a:endParaRPr lang="en-US" dirty="0"/>
          </a:p>
        </p:txBody>
      </p:sp>
      <p:sp>
        <p:nvSpPr>
          <p:cNvPr id="9" name="Text 7"/>
          <p:cNvSpPr/>
          <p:nvPr/>
        </p:nvSpPr>
        <p:spPr>
          <a:xfrm>
            <a:off x="1332645" y="2068056"/>
            <a:ext cx="6850559" cy="751761"/>
          </a:xfrm>
          <a:prstGeom prst="rect">
            <a:avLst/>
          </a:prstGeom>
          <a:noFill/>
          <a:ln/>
        </p:spPr>
        <p:txBody>
          <a:bodyPr wrap="square" lIns="0" tIns="0" rIns="0" bIns="0" rtlCol="0" anchor="ctr"/>
          <a:lstStyle/>
          <a:p>
            <a:pPr marL="0" indent="0" algn="l">
              <a:buNone/>
            </a:pPr>
            <a:r>
              <a:rPr lang="en-US" sz="1130" dirty="0">
                <a:solidFill>
                  <a:srgbClr val="2C2C2C"/>
                </a:solidFill>
                <a:latin typeface="Calibri" pitchFamily="34" charset="0"/>
                <a:ea typeface="Calibri" pitchFamily="34" charset="-122"/>
                <a:cs typeface="Calibri" pitchFamily="34" charset="-120"/>
              </a:rPr>
              <a:t>You will learn practical strategies to manage your workload, prioritize key tasks, and meet your monthly targets without sacrificing work-life balance.</a:t>
            </a:r>
            <a:endParaRPr lang="en-US" sz="1130" dirty="0"/>
          </a:p>
        </p:txBody>
      </p:sp>
      <p:sp>
        <p:nvSpPr>
          <p:cNvPr id="10" name="Text 8"/>
          <p:cNvSpPr/>
          <p:nvPr/>
        </p:nvSpPr>
        <p:spPr>
          <a:xfrm>
            <a:off x="1332645" y="2741950"/>
            <a:ext cx="6850559" cy="9525"/>
          </a:xfrm>
          <a:prstGeom prst="rect">
            <a:avLst/>
          </a:prstGeom>
          <a:solidFill>
            <a:srgbClr val="E8E8E8"/>
          </a:solidFill>
          <a:ln/>
        </p:spPr>
        <p:txBody>
          <a:bodyPr wrap="none" rtlCol="0" anchor="t"/>
          <a:lstStyle/>
          <a:p>
            <a:pPr marL="0" indent="0">
              <a:buNone/>
            </a:pPr>
            <a:endParaRPr lang="en-US" dirty="0"/>
          </a:p>
        </p:txBody>
      </p:sp>
      <p:sp>
        <p:nvSpPr>
          <p:cNvPr id="11" name="Text 9"/>
          <p:cNvSpPr/>
          <p:nvPr/>
        </p:nvSpPr>
        <p:spPr>
          <a:xfrm>
            <a:off x="1332645" y="2751475"/>
            <a:ext cx="6987570" cy="707588"/>
          </a:xfrm>
          <a:prstGeom prst="rect">
            <a:avLst/>
          </a:prstGeom>
          <a:noFill/>
          <a:ln/>
        </p:spPr>
        <p:txBody>
          <a:bodyPr wrap="square" lIns="0" tIns="100330" rIns="0" bIns="100330" rtlCol="0" anchor="t"/>
          <a:lstStyle/>
          <a:p>
            <a:pPr marL="0" indent="0" algn="l">
              <a:lnSpc>
                <a:spcPts val="1865"/>
              </a:lnSpc>
              <a:buNone/>
            </a:pPr>
            <a:r>
              <a:rPr lang="en-US" sz="1130" dirty="0">
                <a:solidFill>
                  <a:srgbClr val="2C2C2C"/>
                </a:solidFill>
                <a:latin typeface="Calibri" pitchFamily="34" charset="0"/>
                <a:ea typeface="Calibri" pitchFamily="34" charset="-122"/>
                <a:cs typeface="Calibri" pitchFamily="34" charset="-120"/>
              </a:rPr>
              <a:t>These skills are essential for maintaining consistency and reducing stress in your role — and for sustaining the quality of care your clients deserve over the long term.</a:t>
            </a:r>
            <a:endParaRPr lang="en-US" sz="11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42947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85750" y="1665089"/>
            <a:ext cx="2043767" cy="118021"/>
          </a:xfrm>
          <a:prstGeom prst="rect">
            <a:avLst/>
          </a:prstGeom>
          <a:noFill/>
          <a:ln/>
        </p:spPr>
        <p:txBody>
          <a:bodyPr wrap="none" lIns="0" tIns="0" rIns="0" bIns="0" rtlCol="0" anchor="t"/>
          <a:lstStyle/>
          <a:p>
            <a:pPr marL="0" indent="0" algn="l">
              <a:lnSpc>
                <a:spcPts val="930"/>
              </a:lnSpc>
              <a:buNone/>
            </a:pPr>
            <a:r>
              <a:rPr lang="en-US" sz="620" b="1" kern="0" spc="112" dirty="0">
                <a:solidFill>
                  <a:srgbClr val="FAB753"/>
                </a:solidFill>
                <a:latin typeface="Calibri" pitchFamily="34" charset="0"/>
                <a:ea typeface="Calibri" pitchFamily="34" charset="-122"/>
                <a:cs typeface="Calibri" pitchFamily="34" charset="-120"/>
              </a:rPr>
              <a:t>OBJECTIVE 1</a:t>
            </a:r>
            <a:endParaRPr lang="en-US" sz="620" dirty="0"/>
          </a:p>
        </p:txBody>
      </p:sp>
      <p:sp>
        <p:nvSpPr>
          <p:cNvPr id="4" name="Text 2"/>
          <p:cNvSpPr/>
          <p:nvPr/>
        </p:nvSpPr>
        <p:spPr>
          <a:xfrm>
            <a:off x="285750" y="1883420"/>
            <a:ext cx="28575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5" name="Text 3"/>
          <p:cNvSpPr/>
          <p:nvPr/>
        </p:nvSpPr>
        <p:spPr>
          <a:xfrm>
            <a:off x="285750" y="2048470"/>
            <a:ext cx="1895130" cy="540693"/>
          </a:xfrm>
          <a:prstGeom prst="rect">
            <a:avLst/>
          </a:prstGeom>
          <a:noFill/>
          <a:ln/>
        </p:spPr>
        <p:txBody>
          <a:bodyPr wrap="square" lIns="0" tIns="0" rIns="0" bIns="0" rtlCol="0" anchor="ctr"/>
          <a:lstStyle/>
          <a:p>
            <a:pPr marL="0" indent="0" algn="l">
              <a:lnSpc>
                <a:spcPts val="2028"/>
              </a:lnSpc>
              <a:buNone/>
            </a:pPr>
            <a:r>
              <a:rPr lang="en-US" sz="1690" b="1" dirty="0">
                <a:solidFill>
                  <a:srgbClr val="FFFFFF"/>
                </a:solidFill>
                <a:latin typeface="Calibri Light" pitchFamily="34" charset="0"/>
                <a:ea typeface="Calibri Light" pitchFamily="34" charset="-122"/>
                <a:cs typeface="Calibri Light" pitchFamily="34" charset="-120"/>
              </a:rPr>
              <a:t>Understanding</a:t>
            </a:r>
            <a:br/>
            <a:r>
              <a:rPr lang="en-US" sz="1690" b="1" dirty="0">
                <a:solidFill>
                  <a:srgbClr val="FFFFFF"/>
                </a:solidFill>
                <a:latin typeface="Calibri Light" pitchFamily="34" charset="0"/>
                <a:ea typeface="Calibri Light" pitchFamily="34" charset="-122"/>
                <a:cs typeface="Calibri Light" pitchFamily="34" charset="-120"/>
              </a:rPr>
              <a:t>Our Budget</a:t>
            </a:r>
            <a:endParaRPr lang="en-US" sz="1690" dirty="0"/>
          </a:p>
        </p:txBody>
      </p:sp>
      <p:sp>
        <p:nvSpPr>
          <p:cNvPr id="6" name="Text 4"/>
          <p:cNvSpPr/>
          <p:nvPr/>
        </p:nvSpPr>
        <p:spPr>
          <a:xfrm>
            <a:off x="285750" y="2677716"/>
            <a:ext cx="1895130" cy="324728"/>
          </a:xfrm>
          <a:prstGeom prst="rect">
            <a:avLst/>
          </a:prstGeom>
          <a:noFill/>
          <a:ln/>
        </p:spPr>
        <p:txBody>
          <a:bodyPr wrap="square" lIns="0" tIns="0" rIns="0" bIns="0" rtlCol="0" anchor="ctr"/>
          <a:lstStyle/>
          <a:p>
            <a:pPr marL="0" indent="0" algn="l">
              <a:lnSpc>
                <a:spcPts val="1218"/>
              </a:lnSpc>
              <a:buNone/>
            </a:pPr>
            <a:r>
              <a:rPr lang="en-US" sz="840" i="1" dirty="0">
                <a:solidFill>
                  <a:srgbClr val="FFFFFF">
                    <a:alpha val="72000"/>
                  </a:srgbClr>
                </a:solidFill>
                <a:latin typeface="Calibri" pitchFamily="34" charset="0"/>
                <a:ea typeface="Calibri" pitchFamily="34" charset="-122"/>
                <a:cs typeface="Calibri" pitchFamily="34" charset="-120"/>
              </a:rPr>
              <a:t>"No Margin.</a:t>
            </a:r>
            <a:br/>
            <a:r>
              <a:rPr lang="en-US" sz="840" i="1" dirty="0">
                <a:solidFill>
                  <a:srgbClr val="FFFFFF">
                    <a:alpha val="72000"/>
                  </a:srgbClr>
                </a:solidFill>
                <a:latin typeface="Calibri" pitchFamily="34" charset="0"/>
                <a:ea typeface="Calibri" pitchFamily="34" charset="-122"/>
                <a:cs typeface="Calibri" pitchFamily="34" charset="-120"/>
              </a:rPr>
              <a:t>No Mission."</a:t>
            </a:r>
            <a:endParaRPr lang="en-US" sz="840" dirty="0"/>
          </a:p>
        </p:txBody>
      </p:sp>
      <p:sp>
        <p:nvSpPr>
          <p:cNvPr id="7" name="Text 5"/>
          <p:cNvSpPr/>
          <p:nvPr/>
        </p:nvSpPr>
        <p:spPr>
          <a:xfrm>
            <a:off x="285750" y="3215580"/>
            <a:ext cx="1857970" cy="262830"/>
          </a:xfrm>
          <a:prstGeom prst="roundRect">
            <a:avLst>
              <a:gd name="adj" fmla="val 16429"/>
            </a:avLst>
          </a:prstGeom>
          <a:solidFill>
            <a:srgbClr val="FAB753">
              <a:alpha val="15000"/>
            </a:srgbClr>
          </a:solidFill>
          <a:ln w="9525">
            <a:solidFill>
              <a:srgbClr val="FAB753">
                <a:alpha val="35000"/>
              </a:srgbClr>
            </a:solidFill>
          </a:ln>
        </p:spPr>
        <p:txBody>
          <a:bodyPr wrap="non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8164" y="3280702"/>
            <a:ext cx="132588" cy="132588"/>
          </a:xfrm>
          <a:prstGeom prst="rect">
            <a:avLst/>
          </a:prstGeom>
        </p:spPr>
      </p:pic>
      <p:sp>
        <p:nvSpPr>
          <p:cNvPr id="9" name="Text 6"/>
          <p:cNvSpPr/>
          <p:nvPr/>
        </p:nvSpPr>
        <p:spPr>
          <a:xfrm>
            <a:off x="524470" y="3282255"/>
            <a:ext cx="1144667" cy="129480"/>
          </a:xfrm>
          <a:prstGeom prst="rect">
            <a:avLst/>
          </a:prstGeom>
          <a:noFill/>
          <a:ln/>
        </p:spPr>
        <p:txBody>
          <a:bodyPr wrap="none" lIns="0" tIns="0" rIns="0" bIns="0" rtlCol="0" anchor="ctr"/>
          <a:lstStyle/>
          <a:p>
            <a:pPr marL="0" indent="0" algn="l">
              <a:lnSpc>
                <a:spcPts val="1020"/>
              </a:lnSpc>
              <a:buNone/>
            </a:pPr>
            <a:r>
              <a:rPr lang="en-US" sz="680" b="1" dirty="0">
                <a:solidFill>
                  <a:srgbClr val="FAB753"/>
                </a:solidFill>
                <a:latin typeface="Calibri" pitchFamily="34" charset="0"/>
                <a:ea typeface="Calibri" pitchFamily="34" charset="-122"/>
                <a:cs typeface="Calibri" pitchFamily="34" charset="-120"/>
              </a:rPr>
              <a:t>Financial Sustainability</a:t>
            </a:r>
            <a:endParaRPr lang="en-US" sz="680" dirty="0"/>
          </a:p>
        </p:txBody>
      </p:sp>
      <p:sp>
        <p:nvSpPr>
          <p:cNvPr id="10" name="Text 7"/>
          <p:cNvSpPr/>
          <p:nvPr/>
        </p:nvSpPr>
        <p:spPr>
          <a:xfrm>
            <a:off x="2651867" y="1208837"/>
            <a:ext cx="6206383" cy="316706"/>
          </a:xfrm>
          <a:prstGeom prst="rect">
            <a:avLst/>
          </a:prstGeom>
          <a:noFill/>
          <a:ln/>
        </p:spPr>
        <p:txBody>
          <a:bodyPr wrap="none" lIns="0" tIns="0" rIns="0" bIns="71120" rtlCol="0" anchor="t"/>
          <a:lstStyle/>
          <a:p>
            <a:pPr marL="0" indent="0" algn="l">
              <a:buNone/>
            </a:pPr>
            <a:r>
              <a:rPr lang="en-US" sz="1240" b="1" dirty="0">
                <a:solidFill>
                  <a:srgbClr val="1B5E72"/>
                </a:solidFill>
                <a:latin typeface="Calibri Light" pitchFamily="34" charset="0"/>
                <a:ea typeface="Calibri Light" pitchFamily="34" charset="-122"/>
                <a:cs typeface="Calibri Light" pitchFamily="34" charset="-120"/>
              </a:rPr>
              <a:t>What You Need to Know</a:t>
            </a:r>
            <a:endParaRPr lang="en-US" sz="1240" dirty="0"/>
          </a:p>
        </p:txBody>
      </p:sp>
      <p:sp>
        <p:nvSpPr>
          <p:cNvPr id="11" name="Text 8"/>
          <p:cNvSpPr/>
          <p:nvPr/>
        </p:nvSpPr>
        <p:spPr>
          <a:xfrm>
            <a:off x="2651867" y="1516018"/>
            <a:ext cx="6084689" cy="9525"/>
          </a:xfrm>
          <a:prstGeom prst="rect">
            <a:avLst/>
          </a:prstGeom>
          <a:solidFill>
            <a:srgbClr val="EAF4F4"/>
          </a:solidFill>
          <a:ln/>
        </p:spPr>
        <p:txBody>
          <a:bodyPr wrap="none" rtlCol="0" anchor="t"/>
          <a:lstStyle/>
          <a:p>
            <a:pPr marL="0" indent="0">
              <a:buNone/>
            </a:pPr>
            <a:endParaRPr lang="en-US" dirty="0"/>
          </a:p>
        </p:txBody>
      </p:sp>
      <p:sp>
        <p:nvSpPr>
          <p:cNvPr id="12" name="Text 9"/>
          <p:cNvSpPr/>
          <p:nvPr/>
        </p:nvSpPr>
        <p:spPr>
          <a:xfrm>
            <a:off x="2651867" y="1676604"/>
            <a:ext cx="257770" cy="257770"/>
          </a:xfrm>
          <a:prstGeom prst="roundRect">
            <a:avLst>
              <a:gd name="adj" fmla="val 22171"/>
            </a:avLst>
          </a:prstGeom>
          <a:solidFill>
            <a:srgbClr val="EAF4F4"/>
          </a:solidFill>
          <a:ln/>
        </p:spPr>
        <p:txBody>
          <a:bodyPr wrap="none" rtlCol="0" anchor="t"/>
          <a:lstStyle/>
          <a:p>
            <a:pPr marL="0" indent="0">
              <a:buNone/>
            </a:pPr>
            <a:endParaRPr lang="en-US"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14458" y="1739195"/>
            <a:ext cx="132588" cy="132588"/>
          </a:xfrm>
          <a:prstGeom prst="rect">
            <a:avLst/>
          </a:prstGeom>
        </p:spPr>
      </p:pic>
      <p:sp>
        <p:nvSpPr>
          <p:cNvPr id="14" name="Text 10"/>
          <p:cNvSpPr/>
          <p:nvPr/>
        </p:nvSpPr>
        <p:spPr>
          <a:xfrm>
            <a:off x="3009947" y="1669014"/>
            <a:ext cx="6299269" cy="135434"/>
          </a:xfrm>
          <a:prstGeom prst="rect">
            <a:avLst/>
          </a:prstGeom>
          <a:noFill/>
          <a:ln/>
        </p:spPr>
        <p:txBody>
          <a:bodyPr wrap="none" lIns="0" tIns="0" rIns="0" bIns="0" rtlCol="0" anchor="t"/>
          <a:lstStyle/>
          <a:p>
            <a:pPr marL="0" indent="0" algn="l">
              <a:lnSpc>
                <a:spcPts val="1066"/>
              </a:lnSpc>
              <a:buNone/>
            </a:pPr>
            <a:r>
              <a:rPr lang="en-US" sz="820" b="1" dirty="0">
                <a:solidFill>
                  <a:srgbClr val="1B5E72"/>
                </a:solidFill>
                <a:latin typeface="Calibri" pitchFamily="34" charset="0"/>
                <a:ea typeface="Calibri" pitchFamily="34" charset="-122"/>
                <a:cs typeface="Calibri" pitchFamily="34" charset="-120"/>
              </a:rPr>
              <a:t>The budget is a forecast</a:t>
            </a:r>
            <a:endParaRPr lang="en-US" sz="820" dirty="0"/>
          </a:p>
        </p:txBody>
      </p:sp>
      <p:sp>
        <p:nvSpPr>
          <p:cNvPr id="15" name="Text 11"/>
          <p:cNvSpPr/>
          <p:nvPr/>
        </p:nvSpPr>
        <p:spPr>
          <a:xfrm>
            <a:off x="3009947" y="1818288"/>
            <a:ext cx="5841141" cy="282223"/>
          </a:xfrm>
          <a:prstGeom prst="rect">
            <a:avLst/>
          </a:prstGeom>
          <a:noFill/>
          <a:ln/>
        </p:spPr>
        <p:txBody>
          <a:bodyPr wrap="square" lIns="0" tIns="0" rIns="0" bIns="0" rtlCol="0" anchor="t"/>
          <a:lstStyle/>
          <a:p>
            <a:pPr marL="0" indent="0" algn="l">
              <a:lnSpc>
                <a:spcPts val="1058"/>
              </a:lnSpc>
              <a:buNone/>
            </a:pPr>
            <a:r>
              <a:rPr lang="en-US" sz="730" dirty="0">
                <a:solidFill>
                  <a:srgbClr val="4A4A4A"/>
                </a:solidFill>
                <a:latin typeface="Calibri" pitchFamily="34" charset="0"/>
                <a:ea typeface="Calibri" pitchFamily="34" charset="-122"/>
                <a:cs typeface="Calibri" pitchFamily="34" charset="-120"/>
              </a:rPr>
              <a:t>Our budget reflects the services our program and organization are expected to provide during the upcoming fiscal year. Centerstone's fiscal year runs July through June.</a:t>
            </a:r>
            <a:endParaRPr lang="en-US" sz="730" dirty="0"/>
          </a:p>
        </p:txBody>
      </p:sp>
      <p:sp>
        <p:nvSpPr>
          <p:cNvPr id="16" name="Text 12"/>
          <p:cNvSpPr/>
          <p:nvPr/>
        </p:nvSpPr>
        <p:spPr>
          <a:xfrm>
            <a:off x="2651867" y="2187233"/>
            <a:ext cx="257770" cy="257770"/>
          </a:xfrm>
          <a:prstGeom prst="roundRect">
            <a:avLst>
              <a:gd name="adj" fmla="val 22171"/>
            </a:avLst>
          </a:prstGeom>
          <a:solidFill>
            <a:srgbClr val="EAF4F4"/>
          </a:solidFill>
          <a:ln/>
        </p:spPr>
        <p:txBody>
          <a:bodyPr wrap="non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14458" y="2249824"/>
            <a:ext cx="132588" cy="132588"/>
          </a:xfrm>
          <a:prstGeom prst="rect">
            <a:avLst/>
          </a:prstGeom>
        </p:spPr>
      </p:pic>
      <p:sp>
        <p:nvSpPr>
          <p:cNvPr id="18" name="Text 13"/>
          <p:cNvSpPr/>
          <p:nvPr/>
        </p:nvSpPr>
        <p:spPr>
          <a:xfrm>
            <a:off x="3009947" y="2179643"/>
            <a:ext cx="6299269" cy="135434"/>
          </a:xfrm>
          <a:prstGeom prst="rect">
            <a:avLst/>
          </a:prstGeom>
          <a:noFill/>
          <a:ln/>
        </p:spPr>
        <p:txBody>
          <a:bodyPr wrap="none" lIns="0" tIns="0" rIns="0" bIns="0" rtlCol="0" anchor="t"/>
          <a:lstStyle/>
          <a:p>
            <a:pPr marL="0" indent="0" algn="l">
              <a:lnSpc>
                <a:spcPts val="1066"/>
              </a:lnSpc>
              <a:buNone/>
            </a:pPr>
            <a:r>
              <a:rPr lang="en-US" sz="820" b="1" dirty="0">
                <a:solidFill>
                  <a:srgbClr val="1B5E72"/>
                </a:solidFill>
                <a:latin typeface="Calibri" pitchFamily="34" charset="0"/>
                <a:ea typeface="Calibri" pitchFamily="34" charset="-122"/>
                <a:cs typeface="Calibri" pitchFamily="34" charset="-120"/>
              </a:rPr>
              <a:t>When revenue is lowest</a:t>
            </a:r>
            <a:endParaRPr lang="en-US" sz="820" dirty="0"/>
          </a:p>
        </p:txBody>
      </p:sp>
      <p:sp>
        <p:nvSpPr>
          <p:cNvPr id="19" name="Text 14"/>
          <p:cNvSpPr/>
          <p:nvPr/>
        </p:nvSpPr>
        <p:spPr>
          <a:xfrm>
            <a:off x="3009947" y="2328917"/>
            <a:ext cx="5841141" cy="282223"/>
          </a:xfrm>
          <a:prstGeom prst="rect">
            <a:avLst/>
          </a:prstGeom>
          <a:noFill/>
          <a:ln/>
        </p:spPr>
        <p:txBody>
          <a:bodyPr wrap="square" lIns="0" tIns="0" rIns="0" bIns="0" rtlCol="0" anchor="t"/>
          <a:lstStyle/>
          <a:p>
            <a:pPr marL="0" indent="0" algn="l">
              <a:lnSpc>
                <a:spcPts val="1058"/>
              </a:lnSpc>
              <a:buNone/>
            </a:pPr>
            <a:r>
              <a:rPr lang="en-US" sz="730" dirty="0">
                <a:solidFill>
                  <a:srgbClr val="4A4A4A"/>
                </a:solidFill>
                <a:latin typeface="Calibri" pitchFamily="34" charset="0"/>
                <a:ea typeface="Calibri" pitchFamily="34" charset="-122"/>
                <a:cs typeface="Calibri" pitchFamily="34" charset="-120"/>
              </a:rPr>
              <a:t>Historically, the school-based service line generates the least revenue during the first and last months of the fiscal year. This makes the remaining ten months critical.</a:t>
            </a:r>
            <a:endParaRPr lang="en-US" sz="730" dirty="0"/>
          </a:p>
        </p:txBody>
      </p:sp>
      <p:sp>
        <p:nvSpPr>
          <p:cNvPr id="20" name="Text 15"/>
          <p:cNvSpPr/>
          <p:nvPr/>
        </p:nvSpPr>
        <p:spPr>
          <a:xfrm>
            <a:off x="2651867" y="2697862"/>
            <a:ext cx="257770" cy="257770"/>
          </a:xfrm>
          <a:prstGeom prst="roundRect">
            <a:avLst>
              <a:gd name="adj" fmla="val 22171"/>
            </a:avLst>
          </a:prstGeom>
          <a:solidFill>
            <a:srgbClr val="EAF4F4"/>
          </a:solidFill>
          <a:ln/>
        </p:spPr>
        <p:txBody>
          <a:bodyPr wrap="none" rtlCol="0" anchor="t"/>
          <a:lstStyle/>
          <a:p>
            <a:pPr marL="0" indent="0">
              <a:buNone/>
            </a:pPr>
            <a:endParaRPr lang="en-US"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14458" y="2760454"/>
            <a:ext cx="132588" cy="132588"/>
          </a:xfrm>
          <a:prstGeom prst="rect">
            <a:avLst/>
          </a:prstGeom>
        </p:spPr>
      </p:pic>
      <p:sp>
        <p:nvSpPr>
          <p:cNvPr id="22" name="Text 16"/>
          <p:cNvSpPr/>
          <p:nvPr/>
        </p:nvSpPr>
        <p:spPr>
          <a:xfrm>
            <a:off x="3009947" y="2690272"/>
            <a:ext cx="6299269" cy="135434"/>
          </a:xfrm>
          <a:prstGeom prst="rect">
            <a:avLst/>
          </a:prstGeom>
          <a:noFill/>
          <a:ln/>
        </p:spPr>
        <p:txBody>
          <a:bodyPr wrap="none" lIns="0" tIns="0" rIns="0" bIns="0" rtlCol="0" anchor="t"/>
          <a:lstStyle/>
          <a:p>
            <a:pPr marL="0" indent="0" algn="l">
              <a:lnSpc>
                <a:spcPts val="1066"/>
              </a:lnSpc>
              <a:buNone/>
            </a:pPr>
            <a:r>
              <a:rPr lang="en-US" sz="820" b="1" dirty="0">
                <a:solidFill>
                  <a:srgbClr val="1B5E72"/>
                </a:solidFill>
                <a:latin typeface="Calibri" pitchFamily="34" charset="0"/>
                <a:ea typeface="Calibri" pitchFamily="34" charset="-122"/>
                <a:cs typeface="Calibri" pitchFamily="34" charset="-120"/>
              </a:rPr>
              <a:t>Why it matters for a nonprofit</a:t>
            </a:r>
            <a:endParaRPr lang="en-US" sz="820" dirty="0"/>
          </a:p>
        </p:txBody>
      </p:sp>
      <p:sp>
        <p:nvSpPr>
          <p:cNvPr id="23" name="Text 17"/>
          <p:cNvSpPr/>
          <p:nvPr/>
        </p:nvSpPr>
        <p:spPr>
          <a:xfrm>
            <a:off x="3009947" y="2839547"/>
            <a:ext cx="5841141" cy="282223"/>
          </a:xfrm>
          <a:prstGeom prst="rect">
            <a:avLst/>
          </a:prstGeom>
          <a:noFill/>
          <a:ln/>
        </p:spPr>
        <p:txBody>
          <a:bodyPr wrap="square" lIns="0" tIns="0" rIns="0" bIns="0" rtlCol="0" anchor="t"/>
          <a:lstStyle/>
          <a:p>
            <a:pPr marL="0" indent="0" algn="l">
              <a:lnSpc>
                <a:spcPts val="1058"/>
              </a:lnSpc>
              <a:buNone/>
            </a:pPr>
            <a:r>
              <a:rPr lang="en-US" sz="730" dirty="0">
                <a:solidFill>
                  <a:srgbClr val="4A4A4A"/>
                </a:solidFill>
                <a:latin typeface="Calibri" pitchFamily="34" charset="0"/>
                <a:ea typeface="Calibri" pitchFamily="34" charset="-122"/>
                <a:cs typeface="Calibri" pitchFamily="34" charset="-120"/>
              </a:rPr>
              <a:t>Centerstone is a nonprofit. No margin, no mission — in order to fulfill our mission and serve our clients, we must remain financially sustainable. A strong budget allows us to manage resources responsibly and continue growing.</a:t>
            </a:r>
            <a:endParaRPr lang="en-US" sz="730" dirty="0"/>
          </a:p>
        </p:txBody>
      </p:sp>
      <p:sp>
        <p:nvSpPr>
          <p:cNvPr id="24" name="Text 18"/>
          <p:cNvSpPr/>
          <p:nvPr/>
        </p:nvSpPr>
        <p:spPr>
          <a:xfrm>
            <a:off x="2651867" y="3208492"/>
            <a:ext cx="257770" cy="257770"/>
          </a:xfrm>
          <a:prstGeom prst="roundRect">
            <a:avLst>
              <a:gd name="adj" fmla="val 22171"/>
            </a:avLst>
          </a:prstGeom>
          <a:solidFill>
            <a:srgbClr val="EAF4F4"/>
          </a:solidFill>
          <a:ln/>
        </p:spPr>
        <p:txBody>
          <a:bodyPr wrap="none" rtlCol="0" anchor="t"/>
          <a:lstStyle/>
          <a:p>
            <a:pPr marL="0" indent="0">
              <a:buNone/>
            </a:pPr>
            <a:endParaRPr lang="en-US"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14458" y="3271083"/>
            <a:ext cx="132588" cy="132588"/>
          </a:xfrm>
          <a:prstGeom prst="rect">
            <a:avLst/>
          </a:prstGeom>
        </p:spPr>
      </p:pic>
      <p:sp>
        <p:nvSpPr>
          <p:cNvPr id="26" name="Text 19"/>
          <p:cNvSpPr/>
          <p:nvPr/>
        </p:nvSpPr>
        <p:spPr>
          <a:xfrm>
            <a:off x="3009947" y="3200901"/>
            <a:ext cx="6299269" cy="135434"/>
          </a:xfrm>
          <a:prstGeom prst="rect">
            <a:avLst/>
          </a:prstGeom>
          <a:noFill/>
          <a:ln/>
        </p:spPr>
        <p:txBody>
          <a:bodyPr wrap="none" lIns="0" tIns="0" rIns="0" bIns="0" rtlCol="0" anchor="t"/>
          <a:lstStyle/>
          <a:p>
            <a:pPr marL="0" indent="0" algn="l">
              <a:lnSpc>
                <a:spcPts val="1066"/>
              </a:lnSpc>
              <a:buNone/>
            </a:pPr>
            <a:r>
              <a:rPr lang="en-US" sz="820" b="1" dirty="0">
                <a:solidFill>
                  <a:srgbClr val="1B5E72"/>
                </a:solidFill>
                <a:latin typeface="Calibri" pitchFamily="34" charset="0"/>
                <a:ea typeface="Calibri" pitchFamily="34" charset="-122"/>
                <a:cs typeface="Calibri" pitchFamily="34" charset="-120"/>
              </a:rPr>
              <a:t>Your productivity is not arbitrary</a:t>
            </a:r>
            <a:endParaRPr lang="en-US" sz="820" dirty="0"/>
          </a:p>
        </p:txBody>
      </p:sp>
      <p:sp>
        <p:nvSpPr>
          <p:cNvPr id="27" name="Text 20"/>
          <p:cNvSpPr/>
          <p:nvPr/>
        </p:nvSpPr>
        <p:spPr>
          <a:xfrm>
            <a:off x="3009947" y="3350176"/>
            <a:ext cx="5841141" cy="282223"/>
          </a:xfrm>
          <a:prstGeom prst="rect">
            <a:avLst/>
          </a:prstGeom>
          <a:noFill/>
          <a:ln/>
        </p:spPr>
        <p:txBody>
          <a:bodyPr wrap="square" lIns="0" tIns="0" rIns="0" bIns="0" rtlCol="0" anchor="t"/>
          <a:lstStyle/>
          <a:p>
            <a:pPr marL="0" indent="0" algn="l">
              <a:lnSpc>
                <a:spcPts val="1058"/>
              </a:lnSpc>
              <a:buNone/>
            </a:pPr>
            <a:r>
              <a:rPr lang="en-US" sz="730" dirty="0">
                <a:solidFill>
                  <a:srgbClr val="4A4A4A"/>
                </a:solidFill>
                <a:latin typeface="Calibri" pitchFamily="34" charset="0"/>
                <a:ea typeface="Calibri" pitchFamily="34" charset="-122"/>
                <a:cs typeface="Calibri" pitchFamily="34" charset="-120"/>
              </a:rPr>
              <a:t>Therapist productivity expectations are calculated to ensure each position is financially sustainable — covering salary, benefits, supervision, and operational support. This protects both the mission and the team.</a:t>
            </a:r>
            <a:endParaRPr lang="en-US" sz="730" dirty="0"/>
          </a:p>
        </p:txBody>
      </p:sp>
      <p:sp>
        <p:nvSpPr>
          <p:cNvPr id="28" name="Text 21"/>
          <p:cNvSpPr/>
          <p:nvPr/>
        </p:nvSpPr>
        <p:spPr>
          <a:xfrm>
            <a:off x="2683544" y="4822180"/>
            <a:ext cx="6206378" cy="321320"/>
          </a:xfrm>
          <a:prstGeom prst="rect">
            <a:avLst/>
          </a:prstGeom>
          <a:solidFill>
            <a:srgbClr val="EAF4F4"/>
          </a:solidFill>
          <a:ln/>
        </p:spPr>
        <p:txBody>
          <a:bodyPr wrap="none" lIns="228600" tIns="78740" rIns="228600" bIns="78740" rtlCol="0" anchor="t"/>
          <a:lstStyle/>
          <a:p>
            <a:pPr marL="0" indent="0" algn="ctr">
              <a:lnSpc>
                <a:spcPts val="1140"/>
              </a:lnSpc>
              <a:buNone/>
            </a:pPr>
            <a:r>
              <a:rPr lang="en-US" sz="760" b="1" kern="0" spc="8" dirty="0">
                <a:solidFill>
                  <a:srgbClr val="FAB753"/>
                </a:solidFill>
                <a:latin typeface="Calibri" pitchFamily="34" charset="0"/>
                <a:ea typeface="Calibri" pitchFamily="34" charset="-122"/>
                <a:cs typeface="Calibri" pitchFamily="34" charset="-120"/>
              </a:rPr>
              <a:t>Pro Tip:</a:t>
            </a:r>
            <a:r>
              <a:rPr lang="en-US" sz="760" b="1" kern="0" spc="8" dirty="0">
                <a:solidFill>
                  <a:srgbClr val="1B5E72"/>
                </a:solidFill>
                <a:latin typeface="Calibri" pitchFamily="34" charset="0"/>
                <a:ea typeface="Calibri" pitchFamily="34" charset="-122"/>
                <a:cs typeface="Calibri" pitchFamily="34" charset="-120"/>
              </a:rPr>
              <a:t> Set a meaningful goal that aligns with our mission. Prioritize client care — and the other goals will follow.</a:t>
            </a:r>
            <a:endParaRPr lang="en-US" sz="760" dirty="0"/>
          </a:p>
        </p:txBody>
      </p:sp>
      <p:sp>
        <p:nvSpPr>
          <p:cNvPr id="29" name="Text 22"/>
          <p:cNvSpPr/>
          <p:nvPr/>
        </p:nvSpPr>
        <p:spPr>
          <a:xfrm>
            <a:off x="2744391" y="4822180"/>
            <a:ext cx="6084689" cy="19050"/>
          </a:xfrm>
          <a:prstGeom prst="rect">
            <a:avLst/>
          </a:prstGeom>
          <a:solidFill>
            <a:srgbClr val="55A49C"/>
          </a:solidFill>
          <a:ln/>
        </p:spPr>
        <p:txBody>
          <a:bodyPr wrap="none" rtlCol="0" anchor="t"/>
          <a:lstStyle/>
          <a:p>
            <a:pPr marL="0" indent="0">
              <a:buNone/>
            </a:pPr>
            <a:endParaRPr lang="en-US" dirty="0"/>
          </a:p>
        </p:txBody>
      </p:sp>
      <p:sp>
        <p:nvSpPr>
          <p:cNvPr id="30" name="Text 23"/>
          <p:cNvSpPr/>
          <p:nvPr/>
        </p:nvSpPr>
        <p:spPr>
          <a:xfrm>
            <a:off x="1286466" y="4000500"/>
            <a:ext cx="1572216" cy="1143000"/>
          </a:xfrm>
          <a:prstGeom prst="ellipse">
            <a:avLst/>
          </a:prstGeom>
          <a:solidFill>
            <a:srgbClr val="FFFFFF">
              <a:alpha val="4000"/>
            </a:srgbClr>
          </a:solidFill>
          <a:ln/>
        </p:spPr>
        <p:txBody>
          <a:bodyPr wrap="square" rtlCol="0" anchor="t"/>
          <a:lstStyle/>
          <a:p>
            <a:pPr marL="0" indent="0">
              <a:buNone/>
            </a:pPr>
            <a:endParaRPr lang="en-US" dirty="0"/>
          </a:p>
        </p:txBody>
      </p:sp>
      <p:sp>
        <p:nvSpPr>
          <p:cNvPr id="31" name="Text 24"/>
          <p:cNvSpPr/>
          <p:nvPr/>
        </p:nvSpPr>
        <p:spPr>
          <a:xfrm>
            <a:off x="0" y="0"/>
            <a:ext cx="857250" cy="857250"/>
          </a:xfrm>
          <a:prstGeom prst="ellipse">
            <a:avLst/>
          </a:prstGeom>
          <a:solidFill>
            <a:srgbClr val="FFFFFF">
              <a:alpha val="3000"/>
            </a:srgbClr>
          </a:solidFill>
          <a:ln/>
        </p:spPr>
        <p:txBody>
          <a:bodyPr wrap="square" rtlCol="0" anchor="t"/>
          <a:lstStyle/>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57523"/>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400050" y="128141"/>
            <a:ext cx="4940451" cy="236041"/>
          </a:xfrm>
          <a:prstGeom prst="rect">
            <a:avLst/>
          </a:prstGeom>
          <a:noFill/>
          <a:ln/>
        </p:spPr>
        <p:txBody>
          <a:bodyPr wrap="none" lIns="0" tIns="0" rIns="0" bIns="0" rtlCol="0" anchor="t"/>
          <a:lstStyle/>
          <a:p>
            <a:pPr marL="0" indent="0" algn="l">
              <a:lnSpc>
                <a:spcPts val="1859"/>
              </a:lnSpc>
              <a:buNone/>
            </a:pPr>
            <a:r>
              <a:rPr lang="en-US" sz="1690" b="1" kern="0" spc="-20" dirty="0">
                <a:solidFill>
                  <a:srgbClr val="FFFFFF"/>
                </a:solidFill>
                <a:latin typeface="Calibri" pitchFamily="34" charset="0"/>
                <a:ea typeface="Calibri" pitchFamily="34" charset="-122"/>
                <a:cs typeface="Calibri" pitchFamily="34" charset="-120"/>
              </a:rPr>
              <a:t>Putting It All Together — The Math of Your Day</a:t>
            </a:r>
            <a:endParaRPr lang="en-US" sz="1690" dirty="0"/>
          </a:p>
        </p:txBody>
      </p:sp>
      <p:sp>
        <p:nvSpPr>
          <p:cNvPr id="4" name="Text 2"/>
          <p:cNvSpPr/>
          <p:nvPr/>
        </p:nvSpPr>
        <p:spPr>
          <a:xfrm>
            <a:off x="400050" y="385763"/>
            <a:ext cx="5078968" cy="171450"/>
          </a:xfrm>
          <a:prstGeom prst="rect">
            <a:avLst/>
          </a:prstGeom>
          <a:noFill/>
          <a:ln/>
        </p:spPr>
        <p:txBody>
          <a:bodyPr wrap="none" lIns="0" tIns="0" rIns="0" bIns="0" rtlCol="0" anchor="t"/>
          <a:lstStyle/>
          <a:p>
            <a:pPr marL="0" indent="0" algn="l">
              <a:lnSpc>
                <a:spcPts val="1350"/>
              </a:lnSpc>
              <a:buNone/>
            </a:pPr>
            <a:r>
              <a:rPr lang="en-US" sz="900" dirty="0">
                <a:solidFill>
                  <a:srgbClr val="9DD6D0"/>
                </a:solidFill>
                <a:latin typeface="Calibri Light" pitchFamily="34" charset="0"/>
                <a:ea typeface="Calibri Light" pitchFamily="34" charset="-122"/>
                <a:cs typeface="Calibri Light" pitchFamily="34" charset="-120"/>
              </a:rPr>
              <a:t>Understanding the connection between your schedule, your target, and your mission.</a:t>
            </a:r>
            <a:endParaRPr lang="en-US" sz="900" dirty="0"/>
          </a:p>
        </p:txBody>
      </p:sp>
      <p:sp>
        <p:nvSpPr>
          <p:cNvPr id="5" name="Text 3"/>
          <p:cNvSpPr/>
          <p:nvPr/>
        </p:nvSpPr>
        <p:spPr>
          <a:xfrm>
            <a:off x="342900" y="1157065"/>
            <a:ext cx="4085630" cy="376386"/>
          </a:xfrm>
          <a:prstGeom prst="roundRect">
            <a:avLst>
              <a:gd name="adj" fmla="val 15184"/>
            </a:avLst>
          </a:prstGeom>
          <a:solidFill>
            <a:srgbClr val="1B5E72"/>
          </a:solidFill>
          <a:ln/>
        </p:spPr>
        <p:txBody>
          <a:bodyPr wrap="square" rtlCol="0" anchor="t"/>
          <a:lstStyle/>
          <a:p>
            <a:pPr marL="0" indent="0">
              <a:buNone/>
            </a:pP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5290" y="1287264"/>
            <a:ext cx="132588" cy="132588"/>
          </a:xfrm>
          <a:prstGeom prst="rect">
            <a:avLst/>
          </a:prstGeom>
        </p:spPr>
      </p:pic>
      <p:sp>
        <p:nvSpPr>
          <p:cNvPr id="7" name="Text 4"/>
          <p:cNvSpPr/>
          <p:nvPr/>
        </p:nvSpPr>
        <p:spPr>
          <a:xfrm>
            <a:off x="738916" y="1230622"/>
            <a:ext cx="1799347" cy="203746"/>
          </a:xfrm>
          <a:prstGeom prst="rect">
            <a:avLst/>
          </a:prstGeom>
          <a:noFill/>
          <a:ln/>
        </p:spPr>
        <p:txBody>
          <a:bodyPr wrap="none" lIns="0" tIns="0" rIns="0" bIns="0" rtlCol="0" anchor="ctr"/>
          <a:lstStyle/>
          <a:p>
            <a:pPr marL="0" indent="0" algn="l">
              <a:lnSpc>
                <a:spcPts val="1605"/>
              </a:lnSpc>
              <a:buNone/>
            </a:pPr>
            <a:r>
              <a:rPr lang="en-US" sz="1070" b="1" dirty="0">
                <a:solidFill>
                  <a:srgbClr val="FFFFFF"/>
                </a:solidFill>
                <a:latin typeface="Calibri" pitchFamily="34" charset="0"/>
                <a:ea typeface="Calibri" pitchFamily="34" charset="-122"/>
                <a:cs typeface="Calibri" pitchFamily="34" charset="-120"/>
              </a:rPr>
              <a:t>What </a:t>
            </a:r>
            <a:r>
              <a:rPr lang="en-US" sz="1070" b="1">
                <a:solidFill>
                  <a:srgbClr val="FFFFFF"/>
                </a:solidFill>
                <a:latin typeface="Calibri" pitchFamily="34" charset="0"/>
                <a:ea typeface="Calibri" pitchFamily="34" charset="-122"/>
                <a:cs typeface="Calibri" pitchFamily="34" charset="-120"/>
              </a:rPr>
              <a:t>does your target cover?</a:t>
            </a:r>
            <a:endParaRPr lang="en-US" sz="1070" dirty="0"/>
          </a:p>
        </p:txBody>
      </p:sp>
      <p:sp>
        <p:nvSpPr>
          <p:cNvPr id="8" name="Text 5"/>
          <p:cNvSpPr/>
          <p:nvPr/>
        </p:nvSpPr>
        <p:spPr>
          <a:xfrm>
            <a:off x="342900" y="1545951"/>
            <a:ext cx="4085630" cy="2469878"/>
          </a:xfrm>
          <a:prstGeom prst="rect">
            <a:avLst/>
          </a:prstGeom>
          <a:solidFill>
            <a:srgbClr val="EAF4F4"/>
          </a:solidFill>
          <a:ln/>
        </p:spPr>
        <p:txBody>
          <a:bodyPr wrap="square" rtlCol="0" anchor="t"/>
          <a:lstStyle/>
          <a:p>
            <a:pPr marL="0" indent="0">
              <a:buNone/>
            </a:pPr>
            <a:endParaRPr lang="en-US" dirty="0"/>
          </a:p>
        </p:txBody>
      </p:sp>
      <p:sp>
        <p:nvSpPr>
          <p:cNvPr id="10" name="Text 7"/>
          <p:cNvSpPr/>
          <p:nvPr/>
        </p:nvSpPr>
        <p:spPr>
          <a:xfrm>
            <a:off x="514350" y="1639193"/>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FAB753"/>
                </a:solidFill>
                <a:latin typeface="Calibri" pitchFamily="34" charset="0"/>
                <a:ea typeface="Calibri" pitchFamily="34" charset="-122"/>
                <a:cs typeface="Calibri" pitchFamily="34" charset="-120"/>
              </a:rPr>
              <a:t>—</a:t>
            </a:r>
            <a:endParaRPr lang="en-US" sz="1130" dirty="0"/>
          </a:p>
        </p:txBody>
      </p:sp>
      <p:sp>
        <p:nvSpPr>
          <p:cNvPr id="11" name="Text 8"/>
          <p:cNvSpPr/>
          <p:nvPr/>
        </p:nvSpPr>
        <p:spPr>
          <a:xfrm>
            <a:off x="743992" y="1631603"/>
            <a:ext cx="1379428" cy="165646"/>
          </a:xfrm>
          <a:prstGeom prst="rect">
            <a:avLst/>
          </a:prstGeom>
          <a:noFill/>
          <a:ln/>
        </p:spPr>
        <p:txBody>
          <a:bodyPr wrap="none" lIns="0" tIns="0" rIns="0" bIns="0" rtlCol="0" anchor="ctr"/>
          <a:lstStyle/>
          <a:p>
            <a:pPr marL="0" indent="0" algn="l">
              <a:lnSpc>
                <a:spcPts val="1305"/>
              </a:lnSpc>
              <a:buNone/>
            </a:pPr>
            <a:r>
              <a:rPr lang="en-US" sz="900" dirty="0">
                <a:solidFill>
                  <a:srgbClr val="2C2C2C"/>
                </a:solidFill>
                <a:latin typeface="Calibri" pitchFamily="34" charset="0"/>
                <a:ea typeface="Calibri" pitchFamily="34" charset="-122"/>
                <a:cs typeface="Calibri" pitchFamily="34" charset="-120"/>
              </a:rPr>
              <a:t>Your salary and benefits.</a:t>
            </a:r>
            <a:endParaRPr lang="en-US" sz="900" dirty="0"/>
          </a:p>
        </p:txBody>
      </p:sp>
      <p:sp>
        <p:nvSpPr>
          <p:cNvPr id="12" name="Text 9"/>
          <p:cNvSpPr/>
          <p:nvPr/>
        </p:nvSpPr>
        <p:spPr>
          <a:xfrm>
            <a:off x="514350" y="1964234"/>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FAB753"/>
                </a:solidFill>
                <a:latin typeface="Calibri" pitchFamily="34" charset="0"/>
                <a:ea typeface="Calibri" pitchFamily="34" charset="-122"/>
                <a:cs typeface="Calibri" pitchFamily="34" charset="-120"/>
              </a:rPr>
              <a:t>—</a:t>
            </a:r>
            <a:endParaRPr lang="en-US" sz="1130" dirty="0"/>
          </a:p>
        </p:txBody>
      </p:sp>
      <p:sp>
        <p:nvSpPr>
          <p:cNvPr id="13" name="Text 10"/>
          <p:cNvSpPr/>
          <p:nvPr/>
        </p:nvSpPr>
        <p:spPr>
          <a:xfrm>
            <a:off x="743992" y="1956643"/>
            <a:ext cx="1383521" cy="165646"/>
          </a:xfrm>
          <a:prstGeom prst="rect">
            <a:avLst/>
          </a:prstGeom>
          <a:noFill/>
          <a:ln/>
        </p:spPr>
        <p:txBody>
          <a:bodyPr wrap="none" lIns="0" tIns="0" rIns="0" bIns="0" rtlCol="0" anchor="ctr"/>
          <a:lstStyle/>
          <a:p>
            <a:pPr marL="0" indent="0" algn="l">
              <a:lnSpc>
                <a:spcPts val="1305"/>
              </a:lnSpc>
              <a:buNone/>
            </a:pPr>
            <a:r>
              <a:rPr lang="en-US" sz="900" dirty="0">
                <a:solidFill>
                  <a:srgbClr val="2C2C2C"/>
                </a:solidFill>
                <a:latin typeface="Calibri" pitchFamily="34" charset="0"/>
                <a:ea typeface="Calibri" pitchFamily="34" charset="-122"/>
                <a:cs typeface="Calibri" pitchFamily="34" charset="-120"/>
              </a:rPr>
              <a:t>Clinical supervision time.</a:t>
            </a:r>
            <a:endParaRPr lang="en-US" sz="900" dirty="0"/>
          </a:p>
        </p:txBody>
      </p:sp>
      <p:sp>
        <p:nvSpPr>
          <p:cNvPr id="14" name="Text 11"/>
          <p:cNvSpPr/>
          <p:nvPr/>
        </p:nvSpPr>
        <p:spPr>
          <a:xfrm>
            <a:off x="514350" y="2289423"/>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FAB753"/>
                </a:solidFill>
                <a:latin typeface="Calibri" pitchFamily="34" charset="0"/>
                <a:ea typeface="Calibri" pitchFamily="34" charset="-122"/>
                <a:cs typeface="Calibri" pitchFamily="34" charset="-120"/>
              </a:rPr>
              <a:t>—</a:t>
            </a:r>
            <a:endParaRPr lang="en-US" sz="1130" dirty="0"/>
          </a:p>
        </p:txBody>
      </p:sp>
      <p:sp>
        <p:nvSpPr>
          <p:cNvPr id="15" name="Text 12"/>
          <p:cNvSpPr/>
          <p:nvPr/>
        </p:nvSpPr>
        <p:spPr>
          <a:xfrm>
            <a:off x="743992" y="2281833"/>
            <a:ext cx="1789197" cy="165646"/>
          </a:xfrm>
          <a:prstGeom prst="rect">
            <a:avLst/>
          </a:prstGeom>
          <a:noFill/>
          <a:ln/>
        </p:spPr>
        <p:txBody>
          <a:bodyPr wrap="none" lIns="0" tIns="0" rIns="0" bIns="0" rtlCol="0" anchor="ctr"/>
          <a:lstStyle/>
          <a:p>
            <a:pPr marL="0" indent="0" algn="l">
              <a:lnSpc>
                <a:spcPts val="1305"/>
              </a:lnSpc>
              <a:buNone/>
            </a:pPr>
            <a:r>
              <a:rPr lang="en-US" sz="900" dirty="0">
                <a:solidFill>
                  <a:srgbClr val="2C2C2C"/>
                </a:solidFill>
                <a:latin typeface="Calibri" pitchFamily="34" charset="0"/>
                <a:ea typeface="Calibri" pitchFamily="34" charset="-122"/>
                <a:cs typeface="Calibri" pitchFamily="34" charset="-120"/>
              </a:rPr>
              <a:t>Team meeting and training time.</a:t>
            </a:r>
            <a:endParaRPr lang="en-US" sz="900" dirty="0"/>
          </a:p>
        </p:txBody>
      </p:sp>
      <p:sp>
        <p:nvSpPr>
          <p:cNvPr id="16" name="Text 13"/>
          <p:cNvSpPr/>
          <p:nvPr/>
        </p:nvSpPr>
        <p:spPr>
          <a:xfrm>
            <a:off x="514350" y="2614613"/>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FAB753"/>
                </a:solidFill>
                <a:latin typeface="Calibri" pitchFamily="34" charset="0"/>
                <a:ea typeface="Calibri" pitchFamily="34" charset="-122"/>
                <a:cs typeface="Calibri" pitchFamily="34" charset="-120"/>
              </a:rPr>
              <a:t>—</a:t>
            </a:r>
            <a:endParaRPr lang="en-US" sz="1130" dirty="0"/>
          </a:p>
        </p:txBody>
      </p:sp>
      <p:sp>
        <p:nvSpPr>
          <p:cNvPr id="17" name="Text 14"/>
          <p:cNvSpPr/>
          <p:nvPr/>
        </p:nvSpPr>
        <p:spPr>
          <a:xfrm>
            <a:off x="743992" y="2607022"/>
            <a:ext cx="2180630" cy="165646"/>
          </a:xfrm>
          <a:prstGeom prst="rect">
            <a:avLst/>
          </a:prstGeom>
          <a:noFill/>
          <a:ln/>
        </p:spPr>
        <p:txBody>
          <a:bodyPr wrap="none" lIns="0" tIns="0" rIns="0" bIns="0" rtlCol="0" anchor="ctr"/>
          <a:lstStyle/>
          <a:p>
            <a:pPr marL="0" indent="0" algn="l">
              <a:lnSpc>
                <a:spcPts val="1305"/>
              </a:lnSpc>
              <a:buNone/>
            </a:pPr>
            <a:r>
              <a:rPr lang="en-US" sz="900" dirty="0">
                <a:solidFill>
                  <a:srgbClr val="2C2C2C"/>
                </a:solidFill>
                <a:latin typeface="Calibri" pitchFamily="34" charset="0"/>
                <a:ea typeface="Calibri" pitchFamily="34" charset="-122"/>
                <a:cs typeface="Calibri" pitchFamily="34" charset="-120"/>
              </a:rPr>
              <a:t>Administrative and operational support.</a:t>
            </a:r>
            <a:endParaRPr lang="en-US" sz="900" dirty="0"/>
          </a:p>
        </p:txBody>
      </p:sp>
      <p:sp>
        <p:nvSpPr>
          <p:cNvPr id="18" name="Text 15"/>
          <p:cNvSpPr/>
          <p:nvPr/>
        </p:nvSpPr>
        <p:spPr>
          <a:xfrm>
            <a:off x="514350" y="2939653"/>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FAB753"/>
                </a:solidFill>
                <a:latin typeface="Calibri" pitchFamily="34" charset="0"/>
                <a:ea typeface="Calibri" pitchFamily="34" charset="-122"/>
                <a:cs typeface="Calibri" pitchFamily="34" charset="-120"/>
              </a:rPr>
              <a:t>—</a:t>
            </a:r>
            <a:endParaRPr lang="en-US" sz="1130" dirty="0"/>
          </a:p>
        </p:txBody>
      </p:sp>
      <p:sp>
        <p:nvSpPr>
          <p:cNvPr id="19" name="Text 16"/>
          <p:cNvSpPr/>
          <p:nvPr/>
        </p:nvSpPr>
        <p:spPr>
          <a:xfrm>
            <a:off x="743992" y="2932063"/>
            <a:ext cx="2134463" cy="165646"/>
          </a:xfrm>
          <a:prstGeom prst="rect">
            <a:avLst/>
          </a:prstGeom>
          <a:noFill/>
          <a:ln/>
        </p:spPr>
        <p:txBody>
          <a:bodyPr wrap="none" lIns="0" tIns="0" rIns="0" bIns="0" rtlCol="0" anchor="ctr"/>
          <a:lstStyle/>
          <a:p>
            <a:pPr marL="0" indent="0" algn="l">
              <a:lnSpc>
                <a:spcPts val="1305"/>
              </a:lnSpc>
              <a:buNone/>
            </a:pPr>
            <a:r>
              <a:rPr lang="en-US" sz="900" dirty="0">
                <a:solidFill>
                  <a:srgbClr val="2C2C2C"/>
                </a:solidFill>
                <a:latin typeface="Calibri" pitchFamily="34" charset="0"/>
                <a:ea typeface="Calibri" pitchFamily="34" charset="-122"/>
                <a:cs typeface="Calibri" pitchFamily="34" charset="-120"/>
              </a:rPr>
              <a:t>The program's ability to grow and hire.</a:t>
            </a:r>
            <a:endParaRPr lang="en-US" sz="900" dirty="0"/>
          </a:p>
        </p:txBody>
      </p:sp>
      <p:sp>
        <p:nvSpPr>
          <p:cNvPr id="20" name="Text 17"/>
          <p:cNvSpPr/>
          <p:nvPr/>
        </p:nvSpPr>
        <p:spPr>
          <a:xfrm>
            <a:off x="514350" y="3264843"/>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FAB753"/>
                </a:solidFill>
                <a:latin typeface="Calibri" pitchFamily="34" charset="0"/>
                <a:ea typeface="Calibri" pitchFamily="34" charset="-122"/>
                <a:cs typeface="Calibri" pitchFamily="34" charset="-120"/>
              </a:rPr>
              <a:t>—</a:t>
            </a:r>
            <a:endParaRPr lang="en-US" sz="1130" dirty="0"/>
          </a:p>
        </p:txBody>
      </p:sp>
      <p:sp>
        <p:nvSpPr>
          <p:cNvPr id="21" name="Text 18"/>
          <p:cNvSpPr/>
          <p:nvPr/>
        </p:nvSpPr>
        <p:spPr>
          <a:xfrm>
            <a:off x="743992" y="3257252"/>
            <a:ext cx="2497901" cy="165646"/>
          </a:xfrm>
          <a:prstGeom prst="rect">
            <a:avLst/>
          </a:prstGeom>
          <a:noFill/>
          <a:ln/>
        </p:spPr>
        <p:txBody>
          <a:bodyPr wrap="none" lIns="0" tIns="0" rIns="0" bIns="0" rtlCol="0" anchor="ctr"/>
          <a:lstStyle/>
          <a:p>
            <a:pPr marL="0" indent="0" algn="l">
              <a:lnSpc>
                <a:spcPts val="1305"/>
              </a:lnSpc>
              <a:buNone/>
            </a:pPr>
            <a:r>
              <a:rPr lang="en-US" sz="900" dirty="0">
                <a:solidFill>
                  <a:srgbClr val="2C2C2C"/>
                </a:solidFill>
                <a:latin typeface="Calibri" pitchFamily="34" charset="0"/>
                <a:ea typeface="Calibri" pitchFamily="34" charset="-122"/>
                <a:cs typeface="Calibri" pitchFamily="34" charset="-120"/>
              </a:rPr>
              <a:t>Centerstone's capacity to serve more clients.</a:t>
            </a:r>
            <a:endParaRPr lang="en-US" sz="900" dirty="0"/>
          </a:p>
        </p:txBody>
      </p:sp>
      <p:sp>
        <p:nvSpPr>
          <p:cNvPr id="22" name="Text 19"/>
          <p:cNvSpPr/>
          <p:nvPr/>
        </p:nvSpPr>
        <p:spPr>
          <a:xfrm>
            <a:off x="514350" y="3625602"/>
            <a:ext cx="3817584" cy="259110"/>
          </a:xfrm>
          <a:prstGeom prst="rect">
            <a:avLst/>
          </a:prstGeom>
          <a:solidFill>
            <a:srgbClr val="1B5E72">
              <a:alpha val="10000"/>
            </a:srgbClr>
          </a:solidFill>
          <a:ln/>
        </p:spPr>
        <p:txBody>
          <a:bodyPr wrap="none" lIns="86360" tIns="57150" rIns="86360" bIns="57150" rtlCol="0" anchor="t"/>
          <a:lstStyle/>
          <a:p>
            <a:pPr marL="0" indent="0" algn="l">
              <a:buNone/>
            </a:pPr>
            <a:r>
              <a:rPr lang="en-US" sz="760" b="1" dirty="0">
                <a:solidFill>
                  <a:srgbClr val="1B5E72"/>
                </a:solidFill>
                <a:latin typeface="Calibri" pitchFamily="34" charset="0"/>
                <a:ea typeface="Calibri" pitchFamily="34" charset="-122"/>
                <a:cs typeface="Calibri" pitchFamily="34" charset="-120"/>
              </a:rPr>
              <a:t>Every session you deliver is an investment in the mission.</a:t>
            </a:r>
            <a:endParaRPr lang="en-US" sz="760" dirty="0"/>
          </a:p>
        </p:txBody>
      </p:sp>
      <p:sp>
        <p:nvSpPr>
          <p:cNvPr id="23" name="Text 20"/>
          <p:cNvSpPr/>
          <p:nvPr/>
        </p:nvSpPr>
        <p:spPr>
          <a:xfrm>
            <a:off x="514350" y="3625602"/>
            <a:ext cx="19050" cy="259110"/>
          </a:xfrm>
          <a:prstGeom prst="rect">
            <a:avLst/>
          </a:prstGeom>
          <a:solidFill>
            <a:srgbClr val="1B5E72"/>
          </a:solidFill>
          <a:ln/>
        </p:spPr>
        <p:txBody>
          <a:bodyPr wrap="none" rtlCol="0" anchor="t"/>
          <a:lstStyle/>
          <a:p>
            <a:pPr marL="0" indent="0">
              <a:buNone/>
            </a:pPr>
            <a:endParaRPr lang="en-US" dirty="0"/>
          </a:p>
        </p:txBody>
      </p:sp>
      <p:sp>
        <p:nvSpPr>
          <p:cNvPr id="24" name="Text 21"/>
          <p:cNvSpPr/>
          <p:nvPr/>
        </p:nvSpPr>
        <p:spPr>
          <a:xfrm>
            <a:off x="4715470" y="1169565"/>
            <a:ext cx="4085630" cy="376386"/>
          </a:xfrm>
          <a:prstGeom prst="roundRect">
            <a:avLst>
              <a:gd name="adj" fmla="val 15184"/>
            </a:avLst>
          </a:prstGeom>
          <a:solidFill>
            <a:srgbClr val="FAB753"/>
          </a:solidFill>
          <a:ln/>
        </p:spPr>
        <p:txBody>
          <a:bodyPr wrap="square" rtlCol="0" anchor="t"/>
          <a:lstStyle/>
          <a:p>
            <a:pPr marL="0" indent="0">
              <a:buNone/>
            </a:pPr>
            <a:endParaRPr lang="en-US" dirty="0"/>
          </a:p>
        </p:txBody>
      </p:sp>
      <p:pic>
        <p:nvPicPr>
          <p:cNvPr id="2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81475" y="1296451"/>
            <a:ext cx="132588" cy="132588"/>
          </a:xfrm>
          <a:prstGeom prst="rect">
            <a:avLst/>
          </a:prstGeom>
        </p:spPr>
      </p:pic>
      <p:sp>
        <p:nvSpPr>
          <p:cNvPr id="26" name="Text 22"/>
          <p:cNvSpPr/>
          <p:nvPr/>
        </p:nvSpPr>
        <p:spPr>
          <a:xfrm>
            <a:off x="5112417" y="1252086"/>
            <a:ext cx="1789524" cy="203746"/>
          </a:xfrm>
          <a:prstGeom prst="rect">
            <a:avLst/>
          </a:prstGeom>
          <a:noFill/>
          <a:ln/>
        </p:spPr>
        <p:txBody>
          <a:bodyPr wrap="none" lIns="0" tIns="0" rIns="0" bIns="0" rtlCol="0" anchor="ctr"/>
          <a:lstStyle/>
          <a:p>
            <a:pPr>
              <a:lnSpc>
                <a:spcPts val="1605"/>
              </a:lnSpc>
            </a:pPr>
            <a:r>
              <a:rPr lang="en-US" sz="1070" b="1" dirty="0">
                <a:solidFill>
                  <a:srgbClr val="1B2A1A"/>
                </a:solidFill>
                <a:latin typeface="Calibri" pitchFamily="34" charset="0"/>
                <a:ea typeface="Calibri" pitchFamily="34" charset="-122"/>
                <a:cs typeface="Calibri" pitchFamily="34" charset="-120"/>
              </a:rPr>
              <a:t>What </a:t>
            </a:r>
            <a:r>
              <a:rPr lang="en-US" sz="1070" b="1">
                <a:solidFill>
                  <a:srgbClr val="1B2A1A"/>
                </a:solidFill>
                <a:latin typeface="Calibri" pitchFamily="34" charset="0"/>
                <a:ea typeface="Calibri" pitchFamily="34" charset="-122"/>
                <a:cs typeface="Calibri" pitchFamily="34" charset="-120"/>
              </a:rPr>
              <a:t>helps you hit your target,  without burning out?</a:t>
            </a:r>
            <a:endParaRPr lang="en-US" sz="1070"/>
          </a:p>
        </p:txBody>
      </p:sp>
      <p:sp>
        <p:nvSpPr>
          <p:cNvPr id="27" name="Text 23"/>
          <p:cNvSpPr/>
          <p:nvPr/>
        </p:nvSpPr>
        <p:spPr>
          <a:xfrm>
            <a:off x="4715470" y="1553393"/>
            <a:ext cx="4085630" cy="2576290"/>
          </a:xfrm>
          <a:prstGeom prst="rect">
            <a:avLst/>
          </a:prstGeom>
          <a:solidFill>
            <a:srgbClr val="FFFFFF"/>
          </a:solidFill>
          <a:ln/>
        </p:spPr>
        <p:txBody>
          <a:bodyPr wrap="square" rtlCol="0" anchor="t"/>
          <a:lstStyle/>
          <a:p>
            <a:pPr marL="0" indent="0">
              <a:buNone/>
            </a:pPr>
            <a:endParaRPr lang="en-US" dirty="0"/>
          </a:p>
        </p:txBody>
      </p:sp>
      <p:sp>
        <p:nvSpPr>
          <p:cNvPr id="31" name="Text 27"/>
          <p:cNvSpPr/>
          <p:nvPr/>
        </p:nvSpPr>
        <p:spPr>
          <a:xfrm>
            <a:off x="4896445" y="1637109"/>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55A49C"/>
                </a:solidFill>
                <a:latin typeface="Calibri" pitchFamily="34" charset="0"/>
                <a:ea typeface="Calibri" pitchFamily="34" charset="-122"/>
                <a:cs typeface="Calibri" pitchFamily="34" charset="-120"/>
              </a:rPr>
              <a:t>—</a:t>
            </a:r>
            <a:endParaRPr lang="en-US" sz="1130" dirty="0"/>
          </a:p>
        </p:txBody>
      </p:sp>
      <p:sp>
        <p:nvSpPr>
          <p:cNvPr id="32" name="Text 28"/>
          <p:cNvSpPr/>
          <p:nvPr/>
        </p:nvSpPr>
        <p:spPr>
          <a:xfrm>
            <a:off x="5126087" y="1629519"/>
            <a:ext cx="2383304" cy="165646"/>
          </a:xfrm>
          <a:prstGeom prst="rect">
            <a:avLst/>
          </a:prstGeom>
          <a:noFill/>
          <a:ln/>
        </p:spPr>
        <p:txBody>
          <a:bodyPr wrap="none" lIns="0" tIns="0" rIns="0" bIns="0" rtlCol="0" anchor="ctr"/>
          <a:lstStyle/>
          <a:p>
            <a:pPr marL="0" indent="0" algn="l">
              <a:lnSpc>
                <a:spcPts val="1305"/>
              </a:lnSpc>
              <a:buNone/>
            </a:pPr>
            <a:r>
              <a:rPr lang="en-US" sz="900" dirty="0">
                <a:solidFill>
                  <a:srgbClr val="2C2C2C"/>
                </a:solidFill>
                <a:latin typeface="Calibri" pitchFamily="34" charset="0"/>
                <a:ea typeface="Calibri" pitchFamily="34" charset="-122"/>
                <a:cs typeface="Calibri" pitchFamily="34" charset="-120"/>
              </a:rPr>
              <a:t>A full schedule built before the week starts.</a:t>
            </a:r>
            <a:endParaRPr lang="en-US" sz="900" dirty="0"/>
          </a:p>
        </p:txBody>
      </p:sp>
      <p:sp>
        <p:nvSpPr>
          <p:cNvPr id="33" name="Text 29"/>
          <p:cNvSpPr/>
          <p:nvPr/>
        </p:nvSpPr>
        <p:spPr>
          <a:xfrm>
            <a:off x="4896445" y="1961108"/>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55A49C"/>
                </a:solidFill>
                <a:latin typeface="Calibri" pitchFamily="34" charset="0"/>
                <a:ea typeface="Calibri" pitchFamily="34" charset="-122"/>
                <a:cs typeface="Calibri" pitchFamily="34" charset="-120"/>
              </a:rPr>
              <a:t>—</a:t>
            </a:r>
            <a:endParaRPr lang="en-US" sz="1130" dirty="0"/>
          </a:p>
        </p:txBody>
      </p:sp>
      <p:sp>
        <p:nvSpPr>
          <p:cNvPr id="34" name="Text 30"/>
          <p:cNvSpPr/>
          <p:nvPr/>
        </p:nvSpPr>
        <p:spPr>
          <a:xfrm>
            <a:off x="5126087" y="1953518"/>
            <a:ext cx="2723331" cy="165646"/>
          </a:xfrm>
          <a:prstGeom prst="rect">
            <a:avLst/>
          </a:prstGeom>
          <a:noFill/>
          <a:ln/>
        </p:spPr>
        <p:txBody>
          <a:bodyPr wrap="none" lIns="0" tIns="0" rIns="0" bIns="0" rtlCol="0" anchor="ctr"/>
          <a:lstStyle/>
          <a:p>
            <a:pPr marL="0" indent="0" algn="l">
              <a:lnSpc>
                <a:spcPts val="1305"/>
              </a:lnSpc>
              <a:buNone/>
            </a:pPr>
            <a:r>
              <a:rPr lang="en-US" sz="900" dirty="0">
                <a:solidFill>
                  <a:srgbClr val="2C2C2C"/>
                </a:solidFill>
                <a:latin typeface="Calibri" pitchFamily="34" charset="0"/>
                <a:ea typeface="Calibri" pitchFamily="34" charset="-122"/>
                <a:cs typeface="Calibri" pitchFamily="34" charset="-120"/>
              </a:rPr>
              <a:t>Recurring appointments that create predictability.</a:t>
            </a:r>
            <a:endParaRPr lang="en-US" sz="900" dirty="0"/>
          </a:p>
        </p:txBody>
      </p:sp>
      <p:sp>
        <p:nvSpPr>
          <p:cNvPr id="35" name="Text 31"/>
          <p:cNvSpPr/>
          <p:nvPr/>
        </p:nvSpPr>
        <p:spPr>
          <a:xfrm>
            <a:off x="4896445" y="2285256"/>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55A49C"/>
                </a:solidFill>
                <a:latin typeface="Calibri" pitchFamily="34" charset="0"/>
                <a:ea typeface="Calibri" pitchFamily="34" charset="-122"/>
                <a:cs typeface="Calibri" pitchFamily="34" charset="-120"/>
              </a:rPr>
              <a:t>—</a:t>
            </a:r>
            <a:endParaRPr lang="en-US" sz="1130" dirty="0"/>
          </a:p>
        </p:txBody>
      </p:sp>
      <p:sp>
        <p:nvSpPr>
          <p:cNvPr id="36" name="Text 32"/>
          <p:cNvSpPr/>
          <p:nvPr/>
        </p:nvSpPr>
        <p:spPr>
          <a:xfrm>
            <a:off x="5126087" y="2277666"/>
            <a:ext cx="2390180" cy="165646"/>
          </a:xfrm>
          <a:prstGeom prst="rect">
            <a:avLst/>
          </a:prstGeom>
          <a:noFill/>
          <a:ln/>
        </p:spPr>
        <p:txBody>
          <a:bodyPr wrap="none" lIns="0" tIns="0" rIns="0" bIns="0" rtlCol="0" anchor="ctr"/>
          <a:lstStyle/>
          <a:p>
            <a:pPr marL="0" indent="0" algn="l">
              <a:lnSpc>
                <a:spcPts val="1305"/>
              </a:lnSpc>
              <a:buNone/>
            </a:pPr>
            <a:r>
              <a:rPr lang="en-US" sz="900" dirty="0">
                <a:solidFill>
                  <a:srgbClr val="2C2C2C"/>
                </a:solidFill>
                <a:latin typeface="Calibri" pitchFamily="34" charset="0"/>
                <a:ea typeface="Calibri" pitchFamily="34" charset="-122"/>
                <a:cs typeface="Calibri" pitchFamily="34" charset="-120"/>
              </a:rPr>
              <a:t>Notes completed in session — not at night.</a:t>
            </a:r>
            <a:endParaRPr lang="en-US" sz="900" dirty="0"/>
          </a:p>
        </p:txBody>
      </p:sp>
      <p:sp>
        <p:nvSpPr>
          <p:cNvPr id="37" name="Text 33"/>
          <p:cNvSpPr/>
          <p:nvPr/>
        </p:nvSpPr>
        <p:spPr>
          <a:xfrm>
            <a:off x="4896445" y="2609255"/>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55A49C"/>
                </a:solidFill>
                <a:latin typeface="Calibri" pitchFamily="34" charset="0"/>
                <a:ea typeface="Calibri" pitchFamily="34" charset="-122"/>
                <a:cs typeface="Calibri" pitchFamily="34" charset="-120"/>
              </a:rPr>
              <a:t>—</a:t>
            </a:r>
            <a:endParaRPr lang="en-US" sz="1130" dirty="0"/>
          </a:p>
        </p:txBody>
      </p:sp>
      <p:sp>
        <p:nvSpPr>
          <p:cNvPr id="38" name="Text 34"/>
          <p:cNvSpPr/>
          <p:nvPr/>
        </p:nvSpPr>
        <p:spPr>
          <a:xfrm>
            <a:off x="5126087" y="2601664"/>
            <a:ext cx="3334137" cy="165646"/>
          </a:xfrm>
          <a:prstGeom prst="rect">
            <a:avLst/>
          </a:prstGeom>
          <a:noFill/>
          <a:ln/>
        </p:spPr>
        <p:txBody>
          <a:bodyPr wrap="none" lIns="0" tIns="0" rIns="0" bIns="0" rtlCol="0" anchor="ctr"/>
          <a:lstStyle/>
          <a:p>
            <a:pPr marL="0" indent="0" algn="l">
              <a:lnSpc>
                <a:spcPts val="1305"/>
              </a:lnSpc>
              <a:buNone/>
            </a:pPr>
            <a:r>
              <a:rPr lang="en-US" sz="900">
                <a:solidFill>
                  <a:srgbClr val="2C2C2C"/>
                </a:solidFill>
                <a:latin typeface="Calibri" pitchFamily="34" charset="0"/>
                <a:cs typeface="Calibri" pitchFamily="34" charset="-120"/>
              </a:rPr>
              <a:t>Boundaries and the compassionate no.</a:t>
            </a:r>
            <a:endParaRPr lang="en-US" sz="900" dirty="0"/>
          </a:p>
        </p:txBody>
      </p:sp>
      <p:sp>
        <p:nvSpPr>
          <p:cNvPr id="39" name="Text 35"/>
          <p:cNvSpPr/>
          <p:nvPr/>
        </p:nvSpPr>
        <p:spPr>
          <a:xfrm>
            <a:off x="4896445" y="2933402"/>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55A49C"/>
                </a:solidFill>
                <a:latin typeface="Calibri" pitchFamily="34" charset="0"/>
                <a:ea typeface="Calibri" pitchFamily="34" charset="-122"/>
                <a:cs typeface="Calibri" pitchFamily="34" charset="-120"/>
              </a:rPr>
              <a:t>—</a:t>
            </a:r>
            <a:endParaRPr lang="en-US" sz="1130" dirty="0"/>
          </a:p>
        </p:txBody>
      </p:sp>
      <p:sp>
        <p:nvSpPr>
          <p:cNvPr id="40" name="Text 36"/>
          <p:cNvSpPr/>
          <p:nvPr/>
        </p:nvSpPr>
        <p:spPr>
          <a:xfrm>
            <a:off x="5126087" y="2925812"/>
            <a:ext cx="2585978" cy="165646"/>
          </a:xfrm>
          <a:prstGeom prst="rect">
            <a:avLst/>
          </a:prstGeom>
          <a:noFill/>
          <a:ln/>
        </p:spPr>
        <p:txBody>
          <a:bodyPr wrap="none" lIns="0" tIns="0" rIns="0" bIns="0" rtlCol="0" anchor="ctr"/>
          <a:lstStyle/>
          <a:p>
            <a:pPr marL="0" indent="0" algn="l">
              <a:lnSpc>
                <a:spcPts val="1305"/>
              </a:lnSpc>
              <a:buNone/>
            </a:pPr>
            <a:r>
              <a:rPr lang="en-US" sz="900">
                <a:solidFill>
                  <a:srgbClr val="2C2C2C"/>
                </a:solidFill>
                <a:latin typeface="Calibri" pitchFamily="34" charset="0"/>
                <a:ea typeface="Calibri" pitchFamily="34" charset="-122"/>
                <a:cs typeface="Calibri" pitchFamily="34" charset="-120"/>
              </a:rPr>
              <a:t>Understanding how to be strategic with your time</a:t>
            </a:r>
            <a:endParaRPr lang="en-US" sz="900" dirty="0"/>
          </a:p>
        </p:txBody>
      </p:sp>
      <p:sp>
        <p:nvSpPr>
          <p:cNvPr id="41" name="Text 37"/>
          <p:cNvSpPr/>
          <p:nvPr/>
        </p:nvSpPr>
        <p:spPr>
          <a:xfrm>
            <a:off x="4896445" y="3257401"/>
            <a:ext cx="157654" cy="200769"/>
          </a:xfrm>
          <a:prstGeom prst="rect">
            <a:avLst/>
          </a:prstGeom>
          <a:noFill/>
          <a:ln/>
        </p:spPr>
        <p:txBody>
          <a:bodyPr wrap="none" lIns="0" tIns="0" rIns="0" bIns="0" rtlCol="0" anchor="ctr"/>
          <a:lstStyle/>
          <a:p>
            <a:pPr marL="0" indent="0" algn="l">
              <a:lnSpc>
                <a:spcPts val="1582"/>
              </a:lnSpc>
              <a:buNone/>
            </a:pPr>
            <a:r>
              <a:rPr lang="en-US" sz="1130" b="1" dirty="0">
                <a:solidFill>
                  <a:srgbClr val="55A49C"/>
                </a:solidFill>
                <a:latin typeface="Calibri" pitchFamily="34" charset="0"/>
                <a:ea typeface="Calibri" pitchFamily="34" charset="-122"/>
                <a:cs typeface="Calibri" pitchFamily="34" charset="-120"/>
              </a:rPr>
              <a:t>—</a:t>
            </a:r>
            <a:endParaRPr lang="en-US" sz="1130" dirty="0"/>
          </a:p>
        </p:txBody>
      </p:sp>
      <p:sp>
        <p:nvSpPr>
          <p:cNvPr id="42" name="Text 38"/>
          <p:cNvSpPr/>
          <p:nvPr/>
        </p:nvSpPr>
        <p:spPr>
          <a:xfrm>
            <a:off x="5126087" y="3249811"/>
            <a:ext cx="2660466" cy="165646"/>
          </a:xfrm>
          <a:prstGeom prst="rect">
            <a:avLst/>
          </a:prstGeom>
          <a:noFill/>
          <a:ln/>
        </p:spPr>
        <p:txBody>
          <a:bodyPr wrap="none" lIns="0" tIns="0" rIns="0" bIns="0" rtlCol="0" anchor="ctr"/>
          <a:lstStyle/>
          <a:p>
            <a:pPr marL="0" indent="0" algn="l">
              <a:lnSpc>
                <a:spcPts val="1305"/>
              </a:lnSpc>
              <a:buNone/>
            </a:pPr>
            <a:r>
              <a:rPr lang="en-US" sz="900" dirty="0">
                <a:solidFill>
                  <a:srgbClr val="2C2C2C"/>
                </a:solidFill>
                <a:latin typeface="Calibri" pitchFamily="34" charset="0"/>
                <a:ea typeface="Calibri" pitchFamily="34" charset="-122"/>
                <a:cs typeface="Calibri" pitchFamily="34" charset="-120"/>
              </a:rPr>
              <a:t>A team lead who helps you problem-solve early.</a:t>
            </a:r>
            <a:endParaRPr lang="en-US" sz="900" dirty="0"/>
          </a:p>
        </p:txBody>
      </p:sp>
      <p:sp>
        <p:nvSpPr>
          <p:cNvPr id="43" name="Text 39"/>
          <p:cNvSpPr/>
          <p:nvPr/>
        </p:nvSpPr>
        <p:spPr>
          <a:xfrm>
            <a:off x="4896445" y="3617119"/>
            <a:ext cx="3798153" cy="259110"/>
          </a:xfrm>
          <a:prstGeom prst="rect">
            <a:avLst/>
          </a:prstGeom>
          <a:solidFill>
            <a:srgbClr val="FAB753">
              <a:alpha val="12000"/>
            </a:srgbClr>
          </a:solidFill>
          <a:ln/>
        </p:spPr>
        <p:txBody>
          <a:bodyPr wrap="none" lIns="86360" tIns="57150" rIns="86360" bIns="57150" rtlCol="0" anchor="t"/>
          <a:lstStyle/>
          <a:p>
            <a:pPr marL="0" indent="0" algn="l">
              <a:buNone/>
            </a:pPr>
            <a:r>
              <a:rPr lang="en-US" sz="760" b="1" dirty="0">
                <a:solidFill>
                  <a:srgbClr val="7A4A00"/>
                </a:solidFill>
                <a:latin typeface="Calibri" pitchFamily="34" charset="0"/>
                <a:ea typeface="Calibri" pitchFamily="34" charset="-122"/>
                <a:cs typeface="Calibri" pitchFamily="34" charset="-120"/>
              </a:rPr>
              <a:t>Habits built early become the foundation that carries you forward.</a:t>
            </a:r>
            <a:endParaRPr lang="en-US" sz="760" dirty="0"/>
          </a:p>
        </p:txBody>
      </p:sp>
      <p:sp>
        <p:nvSpPr>
          <p:cNvPr id="44" name="Text 40"/>
          <p:cNvSpPr/>
          <p:nvPr/>
        </p:nvSpPr>
        <p:spPr>
          <a:xfrm>
            <a:off x="4896445" y="3617119"/>
            <a:ext cx="19050" cy="259110"/>
          </a:xfrm>
          <a:prstGeom prst="rect">
            <a:avLst/>
          </a:prstGeom>
          <a:solidFill>
            <a:srgbClr val="FAB753"/>
          </a:solidFill>
          <a:ln/>
        </p:spPr>
        <p:txBody>
          <a:bodyPr wrap="none" rtlCol="0" anchor="t"/>
          <a:lstStyle/>
          <a:p>
            <a:pPr marL="0" indent="0">
              <a:buNone/>
            </a:pPr>
            <a:endParaRPr lang="en-US" dirty="0"/>
          </a:p>
        </p:txBody>
      </p:sp>
      <p:sp>
        <p:nvSpPr>
          <p:cNvPr id="45" name="Text 41"/>
          <p:cNvSpPr/>
          <p:nvPr/>
        </p:nvSpPr>
        <p:spPr>
          <a:xfrm>
            <a:off x="0" y="4647381"/>
            <a:ext cx="9144000" cy="446636"/>
          </a:xfrm>
          <a:prstGeom prst="rect">
            <a:avLst/>
          </a:prstGeom>
          <a:solidFill>
            <a:srgbClr val="FAB753"/>
          </a:solidFill>
          <a:ln/>
        </p:spPr>
        <p:txBody>
          <a:bodyPr wrap="square" rtlCol="0" anchor="t"/>
          <a:lstStyle/>
          <a:p>
            <a:pPr marL="0" indent="0">
              <a:buNone/>
            </a:pPr>
            <a:endParaRPr lang="en-US" dirty="0"/>
          </a:p>
        </p:txBody>
      </p:sp>
      <p:sp>
        <p:nvSpPr>
          <p:cNvPr id="47" name="Text 42"/>
          <p:cNvSpPr/>
          <p:nvPr/>
        </p:nvSpPr>
        <p:spPr>
          <a:xfrm>
            <a:off x="970864" y="4791009"/>
            <a:ext cx="7174632" cy="171450"/>
          </a:xfrm>
          <a:prstGeom prst="rect">
            <a:avLst/>
          </a:prstGeom>
          <a:noFill/>
          <a:ln/>
        </p:spPr>
        <p:txBody>
          <a:bodyPr wrap="none" lIns="0" tIns="0" rIns="0" bIns="0" rtlCol="0" anchor="ctr"/>
          <a:lstStyle/>
          <a:p>
            <a:pPr marL="0" indent="0" algn="ctr">
              <a:lnSpc>
                <a:spcPts val="1350"/>
              </a:lnSpc>
              <a:buNone/>
            </a:pPr>
            <a:r>
              <a:rPr lang="en-US" sz="900" b="1" i="1" dirty="0">
                <a:solidFill>
                  <a:srgbClr val="1A2A1A"/>
                </a:solidFill>
                <a:latin typeface="Calibri" pitchFamily="34" charset="0"/>
                <a:ea typeface="Calibri" pitchFamily="34" charset="-122"/>
                <a:cs typeface="Calibri" pitchFamily="34" charset="-120"/>
              </a:rPr>
              <a:t>"The goal is never the number. The goal is the client. The number is how we measure whether we are reaching them."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1"/>
          <p:cNvSpPr/>
          <p:nvPr/>
        </p:nvSpPr>
        <p:spPr>
          <a:xfrm>
            <a:off x="0" y="557213"/>
            <a:ext cx="9144000" cy="29170"/>
          </a:xfrm>
          <a:prstGeom prst="rect">
            <a:avLst/>
          </a:prstGeom>
          <a:solidFill>
            <a:srgbClr val="FAB753"/>
          </a:solidFill>
          <a:ln/>
        </p:spPr>
        <p:txBody>
          <a:bodyPr wrap="none" rtlCol="0" anchor="t"/>
          <a:lstStyle/>
          <a:p>
            <a:pPr marL="0" indent="0">
              <a:buNone/>
            </a:pPr>
            <a:endParaRPr lang="en-US" dirty="0"/>
          </a:p>
        </p:txBody>
      </p:sp>
      <p:sp>
        <p:nvSpPr>
          <p:cNvPr id="5" name="Text 2"/>
          <p:cNvSpPr/>
          <p:nvPr/>
        </p:nvSpPr>
        <p:spPr>
          <a:xfrm>
            <a:off x="0" y="0"/>
            <a:ext cx="9144000" cy="557213"/>
          </a:xfrm>
          <a:prstGeom prst="rect">
            <a:avLst/>
          </a:prstGeom>
          <a:solidFill>
            <a:srgbClr val="1B5E72"/>
          </a:solidFill>
          <a:ln/>
        </p:spPr>
        <p:txBody>
          <a:bodyPr wrap="square" rtlCol="0" anchor="t"/>
          <a:lstStyle/>
          <a:p>
            <a:pPr marL="0" indent="0">
              <a:buNone/>
            </a:pPr>
            <a:endParaRPr lang="en-US" dirty="0"/>
          </a:p>
        </p:txBody>
      </p:sp>
      <p:sp>
        <p:nvSpPr>
          <p:cNvPr id="6" name="Text 3"/>
          <p:cNvSpPr/>
          <p:nvPr/>
        </p:nvSpPr>
        <p:spPr>
          <a:xfrm>
            <a:off x="342900" y="190351"/>
            <a:ext cx="689372" cy="193997"/>
          </a:xfrm>
          <a:prstGeom prst="roundRect">
            <a:avLst>
              <a:gd name="adj" fmla="val 11129"/>
            </a:avLst>
          </a:prstGeom>
          <a:solidFill>
            <a:srgbClr val="FAB753"/>
          </a:solidFill>
          <a:ln/>
        </p:spPr>
        <p:txBody>
          <a:bodyPr wrap="none" lIns="0" tIns="0" rIns="0" bIns="0" rtlCol="0" anchor="ctr"/>
          <a:lstStyle/>
          <a:p>
            <a:pPr marL="0" indent="0" algn="ctr">
              <a:buNone/>
            </a:pPr>
            <a:r>
              <a:rPr lang="en-US" sz="620" b="1" dirty="0">
                <a:solidFill>
                  <a:srgbClr val="1B2B1A"/>
                </a:solidFill>
                <a:latin typeface="Calibri" pitchFamily="34" charset="0"/>
                <a:ea typeface="Calibri" pitchFamily="34" charset="-122"/>
                <a:cs typeface="Calibri" pitchFamily="34" charset="-120"/>
              </a:rPr>
              <a:t>ACTIVITY 1</a:t>
            </a:r>
            <a:endParaRPr lang="en-US" sz="620" dirty="0"/>
          </a:p>
        </p:txBody>
      </p:sp>
      <p:sp>
        <p:nvSpPr>
          <p:cNvPr id="7" name="Text 4"/>
          <p:cNvSpPr/>
          <p:nvPr/>
        </p:nvSpPr>
        <p:spPr>
          <a:xfrm>
            <a:off x="1175742" y="178296"/>
            <a:ext cx="13841" cy="200620"/>
          </a:xfrm>
          <a:prstGeom prst="rect">
            <a:avLst/>
          </a:prstGeom>
          <a:solidFill>
            <a:srgbClr val="FFFFFF">
              <a:alpha val="25000"/>
            </a:srgbClr>
          </a:solidFill>
          <a:ln/>
        </p:spPr>
        <p:txBody>
          <a:bodyPr wrap="none" rtlCol="0" anchor="t"/>
          <a:lstStyle/>
          <a:p>
            <a:pPr marL="0" indent="0">
              <a:buNone/>
            </a:pPr>
            <a:endParaRPr lang="en-US" dirty="0"/>
          </a:p>
        </p:txBody>
      </p:sp>
      <p:sp>
        <p:nvSpPr>
          <p:cNvPr id="8" name="Text 5"/>
          <p:cNvSpPr/>
          <p:nvPr/>
        </p:nvSpPr>
        <p:spPr>
          <a:xfrm>
            <a:off x="1333054" y="128141"/>
            <a:ext cx="2357001" cy="300930"/>
          </a:xfrm>
          <a:prstGeom prst="rect">
            <a:avLst/>
          </a:prstGeom>
          <a:noFill/>
          <a:ln/>
        </p:spPr>
        <p:txBody>
          <a:bodyPr wrap="none" lIns="0" tIns="0" rIns="0" bIns="0" rtlCol="0" anchor="ctr"/>
          <a:lstStyle/>
          <a:p>
            <a:pPr marL="0" indent="0" algn="l">
              <a:lnSpc>
                <a:spcPts val="2370"/>
              </a:lnSpc>
              <a:buNone/>
            </a:pPr>
            <a:r>
              <a:rPr lang="en-US" sz="1580" b="1" kern="0" spc="16" dirty="0">
                <a:solidFill>
                  <a:srgbClr val="FFFFFF"/>
                </a:solidFill>
                <a:latin typeface="Calibri Light" pitchFamily="34" charset="0"/>
                <a:ea typeface="Calibri Light" pitchFamily="34" charset="-122"/>
                <a:cs typeface="Calibri Light" pitchFamily="34" charset="-120"/>
              </a:rPr>
              <a:t>No Margin, No Mission</a:t>
            </a:r>
            <a:endParaRPr lang="en-US" sz="1580" dirty="0"/>
          </a:p>
        </p:txBody>
      </p:sp>
      <p:sp>
        <p:nvSpPr>
          <p:cNvPr id="9" name="Text 6"/>
          <p:cNvSpPr/>
          <p:nvPr/>
        </p:nvSpPr>
        <p:spPr>
          <a:xfrm>
            <a:off x="0" y="4566110"/>
            <a:ext cx="9144000" cy="580132"/>
          </a:xfrm>
          <a:prstGeom prst="rect">
            <a:avLst/>
          </a:prstGeom>
          <a:solidFill>
            <a:srgbClr val="EAF4F4"/>
          </a:solidFill>
          <a:ln/>
        </p:spPr>
        <p:txBody>
          <a:bodyPr wrap="square" rtlCol="0" anchor="t"/>
          <a:lstStyle/>
          <a:p>
            <a:pPr marL="0" indent="0">
              <a:buNone/>
            </a:pPr>
            <a:endParaRPr lang="en-US" dirty="0"/>
          </a:p>
        </p:txBody>
      </p:sp>
      <p:sp>
        <p:nvSpPr>
          <p:cNvPr id="10" name="Text 7"/>
          <p:cNvSpPr/>
          <p:nvPr/>
        </p:nvSpPr>
        <p:spPr>
          <a:xfrm>
            <a:off x="0" y="4563368"/>
            <a:ext cx="9144000" cy="19050"/>
          </a:xfrm>
          <a:prstGeom prst="rect">
            <a:avLst/>
          </a:prstGeom>
          <a:solidFill>
            <a:srgbClr val="7CBFB8"/>
          </a:solidFill>
          <a:ln/>
        </p:spPr>
        <p:txBody>
          <a:bodyPr wrap="none" rtlCol="0" anchor="t"/>
          <a:lstStyle/>
          <a:p>
            <a:pPr marL="0" indent="0">
              <a:buNone/>
            </a:pPr>
            <a:endParaRPr lang="en-US" dirty="0"/>
          </a:p>
        </p:txBody>
      </p:sp>
      <p:sp>
        <p:nvSpPr>
          <p:cNvPr id="11" name="Text 8"/>
          <p:cNvSpPr/>
          <p:nvPr/>
        </p:nvSpPr>
        <p:spPr>
          <a:xfrm>
            <a:off x="1996273" y="4791183"/>
            <a:ext cx="642446" cy="139005"/>
          </a:xfrm>
          <a:prstGeom prst="rect">
            <a:avLst/>
          </a:prstGeom>
          <a:noFill/>
          <a:ln/>
        </p:spPr>
        <p:txBody>
          <a:bodyPr wrap="none" lIns="0" tIns="0" rIns="0" bIns="0" rtlCol="0" anchor="ctr"/>
          <a:lstStyle/>
          <a:p>
            <a:pPr marL="0" indent="0" algn="l">
              <a:lnSpc>
                <a:spcPts val="1095"/>
              </a:lnSpc>
              <a:buNone/>
            </a:pPr>
            <a:r>
              <a:rPr lang="en-US" sz="730" b="1" dirty="0">
                <a:solidFill>
                  <a:srgbClr val="1B5E72"/>
                </a:solidFill>
                <a:latin typeface="Calibri" pitchFamily="34" charset="0"/>
                <a:ea typeface="Calibri" pitchFamily="34" charset="-122"/>
                <a:cs typeface="Calibri" pitchFamily="34" charset="-120"/>
              </a:rPr>
              <a:t>YOU WILL NEED</a:t>
            </a:r>
            <a:endParaRPr lang="en-US" sz="730" dirty="0"/>
          </a:p>
        </p:txBody>
      </p:sp>
      <p:sp>
        <p:nvSpPr>
          <p:cNvPr id="12" name="Text 9"/>
          <p:cNvSpPr/>
          <p:nvPr/>
        </p:nvSpPr>
        <p:spPr>
          <a:xfrm>
            <a:off x="2837197" y="4743921"/>
            <a:ext cx="13841" cy="257770"/>
          </a:xfrm>
          <a:prstGeom prst="rect">
            <a:avLst/>
          </a:prstGeom>
          <a:solidFill>
            <a:srgbClr val="7CBFB8"/>
          </a:solidFill>
          <a:ln/>
        </p:spPr>
        <p:txBody>
          <a:bodyPr wrap="none" rtlCol="0" anchor="t"/>
          <a:lstStyle/>
          <a:p>
            <a:pPr marL="0" indent="0">
              <a:buNone/>
            </a:pPr>
            <a:endParaRPr lang="en-US" dirty="0"/>
          </a:p>
        </p:txBody>
      </p:sp>
      <p:sp>
        <p:nvSpPr>
          <p:cNvPr id="13" name="Text 10"/>
          <p:cNvSpPr/>
          <p:nvPr/>
        </p:nvSpPr>
        <p:spPr>
          <a:xfrm>
            <a:off x="3150718" y="4831471"/>
            <a:ext cx="49411" cy="49411"/>
          </a:xfrm>
          <a:prstGeom prst="ellipse">
            <a:avLst/>
          </a:prstGeom>
          <a:solidFill>
            <a:srgbClr val="FAB753"/>
          </a:solidFill>
          <a:ln/>
        </p:spPr>
        <p:txBody>
          <a:bodyPr wrap="none" rtlCol="0" anchor="t"/>
          <a:lstStyle/>
          <a:p>
            <a:pPr marL="0" indent="0">
              <a:buNone/>
            </a:pPr>
            <a:endParaRPr lang="en-US" dirty="0"/>
          </a:p>
        </p:txBody>
      </p:sp>
      <p:sp>
        <p:nvSpPr>
          <p:cNvPr id="14" name="Text 11"/>
          <p:cNvSpPr/>
          <p:nvPr/>
        </p:nvSpPr>
        <p:spPr>
          <a:xfrm>
            <a:off x="3294993" y="4773428"/>
            <a:ext cx="1943904" cy="165646"/>
          </a:xfrm>
          <a:prstGeom prst="rect">
            <a:avLst/>
          </a:prstGeom>
          <a:noFill/>
          <a:ln/>
        </p:spPr>
        <p:txBody>
          <a:bodyPr wrap="none" lIns="0" tIns="0" rIns="0" bIns="0" rtlCol="0" anchor="ctr"/>
          <a:lstStyle/>
          <a:p>
            <a:pPr marL="0" indent="0" algn="l">
              <a:lnSpc>
                <a:spcPts val="1305"/>
              </a:lnSpc>
              <a:buNone/>
            </a:pPr>
            <a:r>
              <a:rPr lang="en-US" sz="870" b="1" dirty="0">
                <a:solidFill>
                  <a:srgbClr val="2C2C2C"/>
                </a:solidFill>
                <a:latin typeface="Calibri" pitchFamily="34" charset="0"/>
                <a:ea typeface="Calibri" pitchFamily="34" charset="-122"/>
                <a:cs typeface="Calibri" pitchFamily="34" charset="-120"/>
              </a:rPr>
              <a:t>No Margin, No Mission worksheet</a:t>
            </a:r>
            <a:endParaRPr lang="en-US" sz="870" dirty="0"/>
          </a:p>
        </p:txBody>
      </p:sp>
      <p:sp>
        <p:nvSpPr>
          <p:cNvPr id="15" name="Text 12"/>
          <p:cNvSpPr/>
          <p:nvPr/>
        </p:nvSpPr>
        <p:spPr>
          <a:xfrm>
            <a:off x="5161608" y="4848374"/>
            <a:ext cx="49411" cy="49411"/>
          </a:xfrm>
          <a:prstGeom prst="ellipse">
            <a:avLst/>
          </a:prstGeom>
          <a:solidFill>
            <a:srgbClr val="FAB753"/>
          </a:solidFill>
          <a:ln/>
        </p:spPr>
        <p:txBody>
          <a:bodyPr wrap="none" rtlCol="0" anchor="t"/>
          <a:lstStyle/>
          <a:p>
            <a:pPr marL="0" indent="0">
              <a:buNone/>
            </a:pPr>
            <a:endParaRPr lang="en-US" dirty="0"/>
          </a:p>
        </p:txBody>
      </p:sp>
      <p:sp>
        <p:nvSpPr>
          <p:cNvPr id="16" name="Text 13"/>
          <p:cNvSpPr/>
          <p:nvPr/>
        </p:nvSpPr>
        <p:spPr>
          <a:xfrm>
            <a:off x="3666827" y="4682728"/>
            <a:ext cx="841311" cy="165646"/>
          </a:xfrm>
          <a:prstGeom prst="rect">
            <a:avLst/>
          </a:prstGeom>
          <a:noFill/>
          <a:ln/>
        </p:spPr>
        <p:txBody>
          <a:bodyPr wrap="none" lIns="0" tIns="0" rIns="0" bIns="0" rtlCol="0" anchor="ctr"/>
          <a:lstStyle/>
          <a:p>
            <a:pPr marL="0" indent="0" algn="l">
              <a:lnSpc>
                <a:spcPts val="1305"/>
              </a:lnSpc>
              <a:buNone/>
            </a:pPr>
            <a:endParaRPr lang="en-US" sz="870" dirty="0"/>
          </a:p>
        </p:txBody>
      </p:sp>
      <p:sp>
        <p:nvSpPr>
          <p:cNvPr id="17" name="Text 14"/>
          <p:cNvSpPr/>
          <p:nvPr/>
        </p:nvSpPr>
        <p:spPr>
          <a:xfrm>
            <a:off x="5996329" y="4849947"/>
            <a:ext cx="45719" cy="45719"/>
          </a:xfrm>
          <a:prstGeom prst="ellipse">
            <a:avLst/>
          </a:prstGeom>
          <a:solidFill>
            <a:srgbClr val="FAB753"/>
          </a:solidFill>
          <a:ln/>
        </p:spPr>
        <p:txBody>
          <a:bodyPr wrap="none" rtlCol="0" anchor="t"/>
          <a:lstStyle/>
          <a:p>
            <a:pPr marL="0" indent="0">
              <a:buNone/>
            </a:pPr>
            <a:endParaRPr lang="en-US" dirty="0"/>
          </a:p>
        </p:txBody>
      </p:sp>
      <p:sp>
        <p:nvSpPr>
          <p:cNvPr id="18" name="Text 15"/>
          <p:cNvSpPr/>
          <p:nvPr/>
        </p:nvSpPr>
        <p:spPr>
          <a:xfrm>
            <a:off x="5271183" y="4773428"/>
            <a:ext cx="594107" cy="165646"/>
          </a:xfrm>
          <a:prstGeom prst="rect">
            <a:avLst/>
          </a:prstGeom>
          <a:noFill/>
          <a:ln/>
        </p:spPr>
        <p:txBody>
          <a:bodyPr wrap="none" lIns="0" tIns="0" rIns="0" bIns="0" rtlCol="0" anchor="ctr"/>
          <a:lstStyle/>
          <a:p>
            <a:pPr marL="0" indent="0" algn="l">
              <a:lnSpc>
                <a:spcPts val="1305"/>
              </a:lnSpc>
              <a:buNone/>
            </a:pPr>
            <a:r>
              <a:rPr lang="en-US" sz="870" b="1" dirty="0">
                <a:solidFill>
                  <a:srgbClr val="2C2C2C"/>
                </a:solidFill>
                <a:latin typeface="Calibri" pitchFamily="34" charset="0"/>
                <a:ea typeface="Calibri" pitchFamily="34" charset="-122"/>
                <a:cs typeface="Calibri" pitchFamily="34" charset="-120"/>
              </a:rPr>
              <a:t>Calculator</a:t>
            </a:r>
            <a:endParaRPr lang="en-US" sz="870" dirty="0"/>
          </a:p>
        </p:txBody>
      </p:sp>
      <p:sp>
        <p:nvSpPr>
          <p:cNvPr id="20" name="Text 17"/>
          <p:cNvSpPr/>
          <p:nvPr/>
        </p:nvSpPr>
        <p:spPr>
          <a:xfrm>
            <a:off x="6112966" y="4776331"/>
            <a:ext cx="1500770" cy="165646"/>
          </a:xfrm>
          <a:prstGeom prst="rect">
            <a:avLst/>
          </a:prstGeom>
          <a:noFill/>
          <a:ln/>
        </p:spPr>
        <p:txBody>
          <a:bodyPr wrap="none" lIns="0" tIns="0" rIns="0" bIns="0" rtlCol="0" anchor="ctr"/>
          <a:lstStyle/>
          <a:p>
            <a:pPr marL="0" indent="0" algn="l">
              <a:lnSpc>
                <a:spcPts val="1305"/>
              </a:lnSpc>
              <a:buNone/>
            </a:pPr>
            <a:r>
              <a:rPr lang="en-US" sz="870" b="1" dirty="0">
                <a:solidFill>
                  <a:srgbClr val="2C2C2C"/>
                </a:solidFill>
                <a:latin typeface="Calibri" pitchFamily="34" charset="0"/>
                <a:ea typeface="Calibri" pitchFamily="34" charset="-122"/>
                <a:cs typeface="Calibri" pitchFamily="34" charset="-120"/>
              </a:rPr>
              <a:t>2026-27 School/district calendar</a:t>
            </a:r>
            <a:endParaRPr lang="en-US" sz="870" dirty="0"/>
          </a:p>
        </p:txBody>
      </p:sp>
      <p:pic>
        <p:nvPicPr>
          <p:cNvPr id="22" name="Picture 21">
            <a:extLst>
              <a:ext uri="{FF2B5EF4-FFF2-40B4-BE49-F238E27FC236}">
                <a16:creationId xmlns:a16="http://schemas.microsoft.com/office/drawing/2014/main" id="{53038BB7-566C-CF4C-5BA1-0B108F5635E7}"/>
              </a:ext>
            </a:extLst>
          </p:cNvPr>
          <p:cNvPicPr>
            <a:picLocks noChangeAspect="1"/>
          </p:cNvPicPr>
          <p:nvPr/>
        </p:nvPicPr>
        <p:blipFill>
          <a:blip r:embed="rId3"/>
          <a:stretch>
            <a:fillRect/>
          </a:stretch>
        </p:blipFill>
        <p:spPr>
          <a:xfrm rot="16200000">
            <a:off x="2563326" y="17636"/>
            <a:ext cx="3889623" cy="5143500"/>
          </a:xfrm>
          <a:prstGeom prst="rect">
            <a:avLst/>
          </a:prstGeom>
        </p:spPr>
      </p:pic>
      <p:sp>
        <p:nvSpPr>
          <p:cNvPr id="101" name="AUG target"/>
          <p:cNvSpPr txBox="1">
            <a:spLocks noRot="1" noChangeAspect="1" noMove="1" noResize="1"/>
          </p:cNvSpPr>
          <p:nvPr/>
        </p:nvSpPr>
        <p:spPr>
          <a:xfrm>
            <a:off x="2559233" y="2709964"/>
            <a:ext cx="241102" cy="167254"/>
          </a:xfrm>
          <a:prstGeom prst="rect">
            <a:avLst/>
          </a:prstGeom>
          <a:noFill/>
        </p:spPr>
        <p:txBody>
          <a:bodyPr wrap="none" lIns="0" tIns="0" rIns="0" bIns="0" rtlCol="0" anchor="ctr"/>
          <a:lstStyle/>
          <a:p>
            <a:pPr algn="ctr">
              <a:buNone/>
            </a:pPr>
            <a:endParaRPr lang="en-US" sz="800" b="1">
              <a:solidFill>
                <a:srgbClr val="1B5E72"/>
              </a:solidFill>
              <a:latin typeface="Calibri" pitchFamily="34" charset="0"/>
            </a:endParaRPr>
          </a:p>
        </p:txBody>
      </p:sp>
      <p:sp>
        <p:nvSpPr>
          <p:cNvPr id="102" name="SEP target"/>
          <p:cNvSpPr txBox="1">
            <a:spLocks noRot="1" noChangeAspect="1" noMove="1" noResize="1"/>
          </p:cNvSpPr>
          <p:nvPr/>
        </p:nvSpPr>
        <p:spPr>
          <a:xfrm>
            <a:off x="2981161" y="2709964"/>
            <a:ext cx="251147" cy="167254"/>
          </a:xfrm>
          <a:prstGeom prst="rect">
            <a:avLst/>
          </a:prstGeom>
          <a:noFill/>
        </p:spPr>
        <p:txBody>
          <a:bodyPr wrap="none" lIns="0" tIns="0" rIns="0" bIns="0" rtlCol="0" anchor="ctr"/>
          <a:lstStyle/>
          <a:p>
            <a:pPr algn="ctr">
              <a:buNone/>
            </a:pPr>
            <a:endParaRPr lang="en-US" sz="800" b="1">
              <a:solidFill>
                <a:srgbClr val="1B5E72"/>
              </a:solidFill>
              <a:latin typeface="Calibri" pitchFamily="34" charset="0"/>
            </a:endParaRPr>
          </a:p>
        </p:txBody>
      </p:sp>
      <p:sp>
        <p:nvSpPr>
          <p:cNvPr id="103" name="OCT target"/>
          <p:cNvSpPr txBox="1">
            <a:spLocks noRot="1" noChangeAspect="1" noMove="1" noResize="1"/>
          </p:cNvSpPr>
          <p:nvPr/>
        </p:nvSpPr>
        <p:spPr>
          <a:xfrm>
            <a:off x="3413135" y="2709964"/>
            <a:ext cx="251147" cy="167254"/>
          </a:xfrm>
          <a:prstGeom prst="rect">
            <a:avLst/>
          </a:prstGeom>
          <a:noFill/>
        </p:spPr>
        <p:txBody>
          <a:bodyPr wrap="none" lIns="0" tIns="0" rIns="0" bIns="0" rtlCol="0" anchor="ctr"/>
          <a:lstStyle/>
          <a:p>
            <a:pPr algn="ctr">
              <a:buNone/>
            </a:pPr>
            <a:endParaRPr lang="en-US" sz="800" b="1">
              <a:solidFill>
                <a:srgbClr val="1B5E72"/>
              </a:solidFill>
              <a:latin typeface="Calibri" pitchFamily="34" charset="0"/>
            </a:endParaRPr>
          </a:p>
        </p:txBody>
      </p:sp>
      <p:sp>
        <p:nvSpPr>
          <p:cNvPr id="104" name="NOV target"/>
          <p:cNvSpPr txBox="1">
            <a:spLocks noRot="1" noChangeAspect="1" noMove="1" noResize="1"/>
          </p:cNvSpPr>
          <p:nvPr/>
        </p:nvSpPr>
        <p:spPr>
          <a:xfrm>
            <a:off x="3825016" y="2709964"/>
            <a:ext cx="231056" cy="167254"/>
          </a:xfrm>
          <a:prstGeom prst="rect">
            <a:avLst/>
          </a:prstGeom>
          <a:noFill/>
        </p:spPr>
        <p:txBody>
          <a:bodyPr wrap="none" lIns="0" tIns="0" rIns="0" bIns="0" rtlCol="0" anchor="ctr"/>
          <a:lstStyle/>
          <a:p>
            <a:pPr algn="ctr">
              <a:buNone/>
            </a:pPr>
            <a:endParaRPr lang="en-US" sz="800" b="1">
              <a:solidFill>
                <a:srgbClr val="1B5E72"/>
              </a:solidFill>
              <a:latin typeface="Calibri" pitchFamily="34" charset="0"/>
            </a:endParaRPr>
          </a:p>
        </p:txBody>
      </p:sp>
      <p:sp>
        <p:nvSpPr>
          <p:cNvPr id="105" name="DEC target"/>
          <p:cNvSpPr txBox="1">
            <a:spLocks noRot="1" noChangeAspect="1" noMove="1" noResize="1"/>
          </p:cNvSpPr>
          <p:nvPr/>
        </p:nvSpPr>
        <p:spPr>
          <a:xfrm>
            <a:off x="4196715" y="2709964"/>
            <a:ext cx="231056" cy="167254"/>
          </a:xfrm>
          <a:prstGeom prst="rect">
            <a:avLst/>
          </a:prstGeom>
          <a:noFill/>
        </p:spPr>
        <p:txBody>
          <a:bodyPr wrap="none" lIns="0" tIns="0" rIns="0" bIns="0" rtlCol="0" anchor="ctr"/>
          <a:lstStyle/>
          <a:p>
            <a:pPr algn="ctr">
              <a:buNone/>
            </a:pPr>
            <a:endParaRPr lang="en-US" sz="800" b="1">
              <a:solidFill>
                <a:srgbClr val="1B5E72"/>
              </a:solidFill>
              <a:latin typeface="Calibri" pitchFamily="34" charset="0"/>
            </a:endParaRPr>
          </a:p>
        </p:txBody>
      </p:sp>
      <p:sp>
        <p:nvSpPr>
          <p:cNvPr id="106" name="JAN target"/>
          <p:cNvSpPr txBox="1">
            <a:spLocks noRot="1" noChangeAspect="1" noMove="1" noResize="1"/>
          </p:cNvSpPr>
          <p:nvPr/>
        </p:nvSpPr>
        <p:spPr>
          <a:xfrm>
            <a:off x="4558367" y="2709964"/>
            <a:ext cx="231056" cy="167254"/>
          </a:xfrm>
          <a:prstGeom prst="rect">
            <a:avLst/>
          </a:prstGeom>
          <a:noFill/>
        </p:spPr>
        <p:txBody>
          <a:bodyPr wrap="none" lIns="0" tIns="0" rIns="0" bIns="0" rtlCol="0" anchor="ctr"/>
          <a:lstStyle/>
          <a:p>
            <a:pPr algn="ctr">
              <a:buNone/>
            </a:pPr>
            <a:endParaRPr lang="en-US" sz="800" b="1">
              <a:solidFill>
                <a:srgbClr val="1B5E72"/>
              </a:solidFill>
              <a:latin typeface="Calibri" pitchFamily="34" charset="0"/>
            </a:endParaRPr>
          </a:p>
        </p:txBody>
      </p:sp>
      <p:sp>
        <p:nvSpPr>
          <p:cNvPr id="107" name="FEB target"/>
          <p:cNvSpPr txBox="1">
            <a:spLocks noRot="1" noChangeAspect="1" noMove="1" noResize="1"/>
          </p:cNvSpPr>
          <p:nvPr/>
        </p:nvSpPr>
        <p:spPr>
          <a:xfrm>
            <a:off x="4920019" y="2709964"/>
            <a:ext cx="231056" cy="167254"/>
          </a:xfrm>
          <a:prstGeom prst="rect">
            <a:avLst/>
          </a:prstGeom>
          <a:noFill/>
        </p:spPr>
        <p:txBody>
          <a:bodyPr wrap="none" lIns="0" tIns="0" rIns="0" bIns="0" rtlCol="0" anchor="ctr"/>
          <a:lstStyle/>
          <a:p>
            <a:pPr algn="ctr">
              <a:buNone/>
            </a:pPr>
            <a:endParaRPr lang="en-US" sz="800" b="1">
              <a:solidFill>
                <a:srgbClr val="1B5E72"/>
              </a:solidFill>
              <a:latin typeface="Calibri" pitchFamily="34" charset="0"/>
            </a:endParaRPr>
          </a:p>
        </p:txBody>
      </p:sp>
      <p:sp>
        <p:nvSpPr>
          <p:cNvPr id="108" name="MAR target"/>
          <p:cNvSpPr txBox="1">
            <a:spLocks noRot="1" noChangeAspect="1" noMove="1" noResize="1"/>
          </p:cNvSpPr>
          <p:nvPr/>
        </p:nvSpPr>
        <p:spPr>
          <a:xfrm>
            <a:off x="5281672" y="2709964"/>
            <a:ext cx="231056" cy="167254"/>
          </a:xfrm>
          <a:prstGeom prst="rect">
            <a:avLst/>
          </a:prstGeom>
          <a:noFill/>
        </p:spPr>
        <p:txBody>
          <a:bodyPr wrap="none" lIns="0" tIns="0" rIns="0" bIns="0" rtlCol="0" anchor="ctr"/>
          <a:lstStyle/>
          <a:p>
            <a:pPr algn="ctr">
              <a:buNone/>
            </a:pPr>
            <a:endParaRPr lang="en-US" sz="800" b="1">
              <a:solidFill>
                <a:srgbClr val="1B5E72"/>
              </a:solidFill>
              <a:latin typeface="Calibri" pitchFamily="34" charset="0"/>
            </a:endParaRPr>
          </a:p>
        </p:txBody>
      </p:sp>
      <p:sp>
        <p:nvSpPr>
          <p:cNvPr id="109" name="APR target"/>
          <p:cNvSpPr txBox="1">
            <a:spLocks noRot="1" noChangeAspect="1" noMove="1" noResize="1"/>
          </p:cNvSpPr>
          <p:nvPr/>
        </p:nvSpPr>
        <p:spPr>
          <a:xfrm>
            <a:off x="5653370" y="2709964"/>
            <a:ext cx="221010" cy="167254"/>
          </a:xfrm>
          <a:prstGeom prst="rect">
            <a:avLst/>
          </a:prstGeom>
          <a:noFill/>
        </p:spPr>
        <p:txBody>
          <a:bodyPr wrap="none" lIns="0" tIns="0" rIns="0" bIns="0" rtlCol="0" anchor="ctr"/>
          <a:lstStyle/>
          <a:p>
            <a:pPr algn="ctr">
              <a:buNone/>
            </a:pPr>
            <a:endParaRPr lang="en-US" sz="800" b="1" dirty="0">
              <a:solidFill>
                <a:srgbClr val="1B5E72"/>
              </a:solidFill>
              <a:latin typeface="Calibri" pitchFamily="34" charset="0"/>
            </a:endParaRPr>
          </a:p>
        </p:txBody>
      </p:sp>
      <p:sp>
        <p:nvSpPr>
          <p:cNvPr id="110" name="MAY target"/>
          <p:cNvSpPr txBox="1">
            <a:spLocks noRot="1" noChangeAspect="1" noMove="1" noResize="1"/>
          </p:cNvSpPr>
          <p:nvPr/>
        </p:nvSpPr>
        <p:spPr>
          <a:xfrm>
            <a:off x="6015022" y="2709964"/>
            <a:ext cx="231056" cy="167254"/>
          </a:xfrm>
          <a:prstGeom prst="rect">
            <a:avLst/>
          </a:prstGeom>
          <a:noFill/>
        </p:spPr>
        <p:txBody>
          <a:bodyPr wrap="none" lIns="0" tIns="0" rIns="0" bIns="0" rtlCol="0" anchor="ctr"/>
          <a:lstStyle/>
          <a:p>
            <a:pPr algn="ctr">
              <a:buNone/>
            </a:pPr>
            <a:endParaRPr lang="en-US" sz="800" b="1">
              <a:solidFill>
                <a:srgbClr val="1B5E72"/>
              </a:solidFill>
              <a:latin typeface="Calibri" pitchFamily="34" charset="0"/>
            </a:endParaRPr>
          </a:p>
        </p:txBody>
      </p:sp>
      <p:sp>
        <p:nvSpPr>
          <p:cNvPr id="27" name="TextBox 26">
            <a:extLst>
              <a:ext uri="{FF2B5EF4-FFF2-40B4-BE49-F238E27FC236}">
                <a16:creationId xmlns:a16="http://schemas.microsoft.com/office/drawing/2014/main" id="{BEA1FE30-C020-C383-B55B-9AE722F40D0A}"/>
              </a:ext>
            </a:extLst>
          </p:cNvPr>
          <p:cNvSpPr txBox="1"/>
          <p:nvPr/>
        </p:nvSpPr>
        <p:spPr>
          <a:xfrm>
            <a:off x="4660537" y="2814215"/>
            <a:ext cx="352238" cy="215444"/>
          </a:xfrm>
          <a:prstGeom prst="rect">
            <a:avLst/>
          </a:prstGeom>
          <a:noFill/>
        </p:spPr>
        <p:txBody>
          <a:bodyPr wrap="square" rtlCol="0">
            <a:spAutoFit/>
          </a:bodyPr>
          <a:lstStyle/>
          <a:p>
            <a:r>
              <a:rPr lang="en-US" sz="800" dirty="0"/>
              <a:t>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22846"/>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342900" y="128141"/>
            <a:ext cx="9050274" cy="220563"/>
          </a:xfrm>
          <a:prstGeom prst="rect">
            <a:avLst/>
          </a:prstGeom>
          <a:noFill/>
          <a:ln/>
        </p:spPr>
        <p:txBody>
          <a:bodyPr wrap="none" lIns="0" tIns="0" rIns="0" bIns="0" rtlCol="0" anchor="t"/>
          <a:lstStyle/>
          <a:p>
            <a:pPr marL="0" indent="0" algn="l">
              <a:lnSpc>
                <a:spcPts val="1738"/>
              </a:lnSpc>
              <a:buNone/>
            </a:pPr>
            <a:r>
              <a:rPr lang="en-US" sz="1580" b="1" kern="0" spc="16" dirty="0">
                <a:solidFill>
                  <a:srgbClr val="FFFFFF"/>
                </a:solidFill>
                <a:latin typeface="Calibri" pitchFamily="34" charset="0"/>
                <a:ea typeface="Calibri" pitchFamily="34" charset="-122"/>
                <a:cs typeface="Calibri" pitchFamily="34" charset="-120"/>
              </a:rPr>
              <a:t>What Is Your Target?</a:t>
            </a:r>
            <a:endParaRPr lang="en-US" sz="1580" dirty="0"/>
          </a:p>
        </p:txBody>
      </p:sp>
      <p:sp>
        <p:nvSpPr>
          <p:cNvPr id="4" name="Text 2"/>
          <p:cNvSpPr/>
          <p:nvPr/>
        </p:nvSpPr>
        <p:spPr>
          <a:xfrm>
            <a:off x="342900" y="362545"/>
            <a:ext cx="9304020" cy="159990"/>
          </a:xfrm>
          <a:prstGeom prst="rect">
            <a:avLst/>
          </a:prstGeom>
          <a:noFill/>
          <a:ln/>
        </p:spPr>
        <p:txBody>
          <a:bodyPr wrap="none" lIns="0" tIns="0" rIns="0" bIns="0" rtlCol="0" anchor="t"/>
          <a:lstStyle/>
          <a:p>
            <a:pPr marL="0" indent="0" algn="l">
              <a:lnSpc>
                <a:spcPts val="1260"/>
              </a:lnSpc>
              <a:buNone/>
            </a:pPr>
            <a:r>
              <a:rPr lang="en-US" sz="840" b="1" kern="0" spc="8" dirty="0">
                <a:solidFill>
                  <a:srgbClr val="FAB753"/>
                </a:solidFill>
                <a:latin typeface="Calibri" pitchFamily="34" charset="0"/>
                <a:ea typeface="Calibri" pitchFamily="34" charset="-122"/>
                <a:cs typeface="Calibri" pitchFamily="34" charset="-120"/>
              </a:rPr>
              <a:t>Monthly targets are based on available working days — here is how to think about it.</a:t>
            </a:r>
            <a:endParaRPr lang="en-US" sz="840" dirty="0"/>
          </a:p>
        </p:txBody>
      </p:sp>
      <p:sp>
        <p:nvSpPr>
          <p:cNvPr id="5" name="Text 3"/>
          <p:cNvSpPr/>
          <p:nvPr/>
        </p:nvSpPr>
        <p:spPr>
          <a:xfrm>
            <a:off x="285750" y="750987"/>
            <a:ext cx="2772073" cy="1528316"/>
          </a:xfrm>
          <a:prstGeom prst="roundRect">
            <a:avLst>
              <a:gd name="adj" fmla="val 4653"/>
            </a:avLst>
          </a:prstGeom>
          <a:solidFill>
            <a:srgbClr val="EAF4F4"/>
          </a:solidFill>
          <a:ln/>
        </p:spPr>
        <p:txBody>
          <a:bodyPr wrap="square" rtlCol="0" anchor="t"/>
          <a:lstStyle/>
          <a:p>
            <a:pPr marL="0" indent="0">
              <a:buNone/>
            </a:pPr>
            <a:endParaRPr lang="en-US" dirty="0"/>
          </a:p>
        </p:txBody>
      </p:sp>
      <p:sp>
        <p:nvSpPr>
          <p:cNvPr id="6" name="Text 4"/>
          <p:cNvSpPr/>
          <p:nvPr/>
        </p:nvSpPr>
        <p:spPr>
          <a:xfrm>
            <a:off x="285750" y="750987"/>
            <a:ext cx="2772073" cy="28575"/>
          </a:xfrm>
          <a:custGeom>
            <a:avLst/>
            <a:gdLst/>
            <a:ahLst/>
            <a:cxnLst/>
            <a:rect l="l" t="t" r="r" b="b"/>
            <a:pathLst>
              <a:path w="2772073"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757944" y="28575"/>
                </a:lnTo>
                <a:lnTo>
                  <a:pt x="2755094" y="25003"/>
                </a:lnTo>
                <a:lnTo>
                  <a:pt x="2751836" y="21431"/>
                </a:lnTo>
                <a:lnTo>
                  <a:pt x="2748084" y="17859"/>
                </a:lnTo>
                <a:lnTo>
                  <a:pt x="2743709" y="14288"/>
                </a:lnTo>
                <a:lnTo>
                  <a:pt x="2738494" y="10716"/>
                </a:lnTo>
                <a:lnTo>
                  <a:pt x="2732019" y="7144"/>
                </a:lnTo>
                <a:lnTo>
                  <a:pt x="2723208" y="3572"/>
                </a:lnTo>
                <a:lnTo>
                  <a:pt x="2700953" y="0"/>
                </a:lnTo>
                <a:close/>
              </a:path>
            </a:pathLst>
          </a:custGeom>
          <a:solidFill>
            <a:srgbClr val="FAB753"/>
          </a:solidFill>
          <a:ln/>
        </p:spPr>
        <p:txBody>
          <a:bodyPr wrap="none" rtlCol="0" anchor="t"/>
          <a:lstStyle/>
          <a:p>
            <a:pPr marL="0" indent="0">
              <a:buNone/>
            </a:pPr>
            <a:endParaRPr lang="en-US" dirty="0"/>
          </a:p>
        </p:txBody>
      </p:sp>
      <p:sp>
        <p:nvSpPr>
          <p:cNvPr id="7" name="Text 5"/>
          <p:cNvSpPr/>
          <p:nvPr/>
        </p:nvSpPr>
        <p:spPr>
          <a:xfrm>
            <a:off x="443210" y="923032"/>
            <a:ext cx="314920" cy="314920"/>
          </a:xfrm>
          <a:prstGeom prst="ellipse">
            <a:avLst/>
          </a:prstGeom>
          <a:solidFill>
            <a:srgbClr val="FAB753"/>
          </a:solidFill>
          <a:ln/>
        </p:spPr>
        <p:txBody>
          <a:bodyPr wrap="squar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4302" y="1014124"/>
            <a:ext cx="132588" cy="132588"/>
          </a:xfrm>
          <a:prstGeom prst="rect">
            <a:avLst/>
          </a:prstGeom>
        </p:spPr>
      </p:pic>
      <p:sp>
        <p:nvSpPr>
          <p:cNvPr id="9" name="Text 6"/>
          <p:cNvSpPr/>
          <p:nvPr/>
        </p:nvSpPr>
        <p:spPr>
          <a:xfrm>
            <a:off x="443210" y="1308943"/>
            <a:ext cx="2702868" cy="146149"/>
          </a:xfrm>
          <a:prstGeom prst="rect">
            <a:avLst/>
          </a:prstGeom>
          <a:noFill/>
          <a:ln/>
        </p:spPr>
        <p:txBody>
          <a:bodyPr wrap="none" lIns="0" tIns="0" rIns="0" bIns="0" rtlCol="0" anchor="t"/>
          <a:lstStyle/>
          <a:p>
            <a:pPr marL="0" indent="0" algn="l">
              <a:lnSpc>
                <a:spcPts val="1152"/>
              </a:lnSpc>
              <a:buNone/>
            </a:pPr>
            <a:r>
              <a:rPr lang="en-US" sz="960" b="1" dirty="0">
                <a:solidFill>
                  <a:srgbClr val="1B5E72"/>
                </a:solidFill>
                <a:latin typeface="Calibri" pitchFamily="34" charset="0"/>
                <a:ea typeface="Calibri" pitchFamily="34" charset="-122"/>
                <a:cs typeface="Calibri" pitchFamily="34" charset="-120"/>
              </a:rPr>
              <a:t>Budgeted Billable Days</a:t>
            </a:r>
            <a:endParaRPr lang="en-US" sz="960" dirty="0"/>
          </a:p>
        </p:txBody>
      </p:sp>
      <p:sp>
        <p:nvSpPr>
          <p:cNvPr id="10" name="Text 7"/>
          <p:cNvSpPr/>
          <p:nvPr/>
        </p:nvSpPr>
        <p:spPr>
          <a:xfrm>
            <a:off x="443210" y="1526084"/>
            <a:ext cx="2506295" cy="492249"/>
          </a:xfrm>
          <a:prstGeom prst="rect">
            <a:avLst/>
          </a:prstGeom>
          <a:noFill/>
          <a:ln/>
        </p:spPr>
        <p:txBody>
          <a:bodyPr wrap="square" lIns="0" tIns="0" rIns="0" bIns="0" rtlCol="0" anchor="t"/>
          <a:lstStyle/>
          <a:p>
            <a:pPr marL="0" indent="0" algn="l">
              <a:lnSpc>
                <a:spcPts val="1230"/>
              </a:lnSpc>
              <a:buNone/>
            </a:pPr>
            <a:r>
              <a:rPr lang="en-US" sz="820" dirty="0">
                <a:solidFill>
                  <a:srgbClr val="2C2C2C"/>
                </a:solidFill>
                <a:latin typeface="Calibri" pitchFamily="34" charset="0"/>
                <a:ea typeface="Calibri" pitchFamily="34" charset="-122"/>
                <a:cs typeface="Calibri" pitchFamily="34" charset="-120"/>
              </a:rPr>
              <a:t>These are days when Centerstone is open. In school-based, there are instances when schools are closed even though Centerstone remains open.</a:t>
            </a:r>
            <a:endParaRPr lang="en-US" sz="820" dirty="0"/>
          </a:p>
        </p:txBody>
      </p:sp>
      <p:sp>
        <p:nvSpPr>
          <p:cNvPr id="11" name="Text 8"/>
          <p:cNvSpPr/>
          <p:nvPr/>
        </p:nvSpPr>
        <p:spPr>
          <a:xfrm>
            <a:off x="3185964" y="750987"/>
            <a:ext cx="2772073" cy="1528316"/>
          </a:xfrm>
          <a:prstGeom prst="roundRect">
            <a:avLst>
              <a:gd name="adj" fmla="val 4653"/>
            </a:avLst>
          </a:prstGeom>
          <a:solidFill>
            <a:srgbClr val="EAF4F4"/>
          </a:solidFill>
          <a:ln/>
        </p:spPr>
        <p:txBody>
          <a:bodyPr wrap="square" rtlCol="0" anchor="t"/>
          <a:lstStyle/>
          <a:p>
            <a:pPr marL="0" indent="0">
              <a:buNone/>
            </a:pPr>
            <a:endParaRPr lang="en-US" dirty="0"/>
          </a:p>
        </p:txBody>
      </p:sp>
      <p:sp>
        <p:nvSpPr>
          <p:cNvPr id="12" name="Text 9"/>
          <p:cNvSpPr/>
          <p:nvPr/>
        </p:nvSpPr>
        <p:spPr>
          <a:xfrm>
            <a:off x="3185964" y="750987"/>
            <a:ext cx="2772073" cy="28575"/>
          </a:xfrm>
          <a:custGeom>
            <a:avLst/>
            <a:gdLst/>
            <a:ahLst/>
            <a:cxnLst/>
            <a:rect l="l" t="t" r="r" b="b"/>
            <a:pathLst>
              <a:path w="2772073"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757944" y="28575"/>
                </a:lnTo>
                <a:lnTo>
                  <a:pt x="2755094" y="25003"/>
                </a:lnTo>
                <a:lnTo>
                  <a:pt x="2751836" y="21431"/>
                </a:lnTo>
                <a:lnTo>
                  <a:pt x="2748084" y="17859"/>
                </a:lnTo>
                <a:lnTo>
                  <a:pt x="2743709" y="14288"/>
                </a:lnTo>
                <a:lnTo>
                  <a:pt x="2738494" y="10716"/>
                </a:lnTo>
                <a:lnTo>
                  <a:pt x="2732019" y="7144"/>
                </a:lnTo>
                <a:lnTo>
                  <a:pt x="2723208" y="3572"/>
                </a:lnTo>
                <a:lnTo>
                  <a:pt x="2700953" y="0"/>
                </a:lnTo>
                <a:close/>
              </a:path>
            </a:pathLst>
          </a:custGeom>
          <a:solidFill>
            <a:srgbClr val="FAB753"/>
          </a:solidFill>
          <a:ln/>
        </p:spPr>
        <p:txBody>
          <a:bodyPr wrap="none" rtlCol="0" anchor="t"/>
          <a:lstStyle/>
          <a:p>
            <a:pPr marL="0" indent="0">
              <a:buNone/>
            </a:pPr>
            <a:endParaRPr lang="en-US" dirty="0"/>
          </a:p>
        </p:txBody>
      </p:sp>
      <p:sp>
        <p:nvSpPr>
          <p:cNvPr id="13" name="Text 10"/>
          <p:cNvSpPr/>
          <p:nvPr/>
        </p:nvSpPr>
        <p:spPr>
          <a:xfrm>
            <a:off x="3343424" y="923032"/>
            <a:ext cx="314920" cy="314920"/>
          </a:xfrm>
          <a:prstGeom prst="ellipse">
            <a:avLst/>
          </a:prstGeom>
          <a:solidFill>
            <a:srgbClr val="FAB753"/>
          </a:solidFill>
          <a:ln/>
        </p:spPr>
        <p:txBody>
          <a:bodyPr wrap="square" rtlCol="0" anchor="t"/>
          <a:lstStyle/>
          <a:p>
            <a:pPr marL="0" indent="0">
              <a:buNone/>
            </a:pPr>
            <a:endParaRPr lang="en-US" dirty="0"/>
          </a:p>
        </p:txBody>
      </p:sp>
      <p:pic>
        <p:nvPicPr>
          <p:cNvPr id="1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34516" y="1014124"/>
            <a:ext cx="132588" cy="132588"/>
          </a:xfrm>
          <a:prstGeom prst="rect">
            <a:avLst/>
          </a:prstGeom>
        </p:spPr>
      </p:pic>
      <p:sp>
        <p:nvSpPr>
          <p:cNvPr id="15" name="Text 11"/>
          <p:cNvSpPr/>
          <p:nvPr/>
        </p:nvSpPr>
        <p:spPr>
          <a:xfrm>
            <a:off x="3343424" y="1308943"/>
            <a:ext cx="2702868" cy="146149"/>
          </a:xfrm>
          <a:prstGeom prst="rect">
            <a:avLst/>
          </a:prstGeom>
          <a:noFill/>
          <a:ln/>
        </p:spPr>
        <p:txBody>
          <a:bodyPr wrap="none" lIns="0" tIns="0" rIns="0" bIns="0" rtlCol="0" anchor="t"/>
          <a:lstStyle/>
          <a:p>
            <a:pPr marL="0" indent="0" algn="l">
              <a:lnSpc>
                <a:spcPts val="1152"/>
              </a:lnSpc>
              <a:buNone/>
            </a:pPr>
            <a:r>
              <a:rPr lang="en-US" sz="960" b="1" dirty="0">
                <a:solidFill>
                  <a:srgbClr val="1B5E72"/>
                </a:solidFill>
                <a:latin typeface="Calibri" pitchFamily="34" charset="0"/>
                <a:ea typeface="Calibri" pitchFamily="34" charset="-122"/>
                <a:cs typeface="Calibri" pitchFamily="34" charset="-120"/>
              </a:rPr>
              <a:t>School Days Are Priority</a:t>
            </a:r>
            <a:endParaRPr lang="en-US" sz="960" dirty="0"/>
          </a:p>
        </p:txBody>
      </p:sp>
      <p:sp>
        <p:nvSpPr>
          <p:cNvPr id="16" name="Text 12"/>
          <p:cNvSpPr/>
          <p:nvPr/>
        </p:nvSpPr>
        <p:spPr>
          <a:xfrm>
            <a:off x="3343424" y="1526084"/>
            <a:ext cx="2506295" cy="656332"/>
          </a:xfrm>
          <a:prstGeom prst="rect">
            <a:avLst/>
          </a:prstGeom>
          <a:noFill/>
          <a:ln/>
        </p:spPr>
        <p:txBody>
          <a:bodyPr wrap="square" lIns="0" tIns="0" rIns="0" bIns="0" rtlCol="0" anchor="t"/>
          <a:lstStyle/>
          <a:p>
            <a:pPr marL="0" indent="0" algn="l">
              <a:lnSpc>
                <a:spcPts val="1230"/>
              </a:lnSpc>
              <a:buNone/>
            </a:pPr>
            <a:r>
              <a:rPr lang="en-US" sz="820" dirty="0">
                <a:solidFill>
                  <a:srgbClr val="2C2C2C"/>
                </a:solidFill>
                <a:latin typeface="Calibri" pitchFamily="34" charset="0"/>
                <a:ea typeface="Calibri" pitchFamily="34" charset="-122"/>
                <a:cs typeface="Calibri" pitchFamily="34" charset="-120"/>
              </a:rPr>
              <a:t>Schedule and see enough clients on days when students are present to meet your monthly goal. This accounts for the common barriers of school-based therapy.</a:t>
            </a:r>
            <a:endParaRPr lang="en-US" sz="820" dirty="0"/>
          </a:p>
        </p:txBody>
      </p:sp>
      <p:sp>
        <p:nvSpPr>
          <p:cNvPr id="17" name="Text 13"/>
          <p:cNvSpPr/>
          <p:nvPr/>
        </p:nvSpPr>
        <p:spPr>
          <a:xfrm>
            <a:off x="6086177" y="750987"/>
            <a:ext cx="2772073" cy="1528316"/>
          </a:xfrm>
          <a:prstGeom prst="roundRect">
            <a:avLst>
              <a:gd name="adj" fmla="val 4653"/>
            </a:avLst>
          </a:prstGeom>
          <a:solidFill>
            <a:srgbClr val="EAF4F4"/>
          </a:solidFill>
          <a:ln/>
        </p:spPr>
        <p:txBody>
          <a:bodyPr wrap="square" rtlCol="0" anchor="t"/>
          <a:lstStyle/>
          <a:p>
            <a:pPr marL="0" indent="0">
              <a:buNone/>
            </a:pPr>
            <a:endParaRPr lang="en-US" dirty="0"/>
          </a:p>
        </p:txBody>
      </p:sp>
      <p:sp>
        <p:nvSpPr>
          <p:cNvPr id="18" name="Text 14"/>
          <p:cNvSpPr/>
          <p:nvPr/>
        </p:nvSpPr>
        <p:spPr>
          <a:xfrm>
            <a:off x="6086177" y="750987"/>
            <a:ext cx="2772073" cy="28575"/>
          </a:xfrm>
          <a:custGeom>
            <a:avLst/>
            <a:gdLst/>
            <a:ahLst/>
            <a:cxnLst/>
            <a:rect l="l" t="t" r="r" b="b"/>
            <a:pathLst>
              <a:path w="2772073" h="28575">
                <a:moveTo>
                  <a:pt x="71120" y="0"/>
                </a:moveTo>
                <a:lnTo>
                  <a:pt x="48865" y="3572"/>
                </a:lnTo>
                <a:lnTo>
                  <a:pt x="40054" y="7144"/>
                </a:lnTo>
                <a:lnTo>
                  <a:pt x="33579" y="10716"/>
                </a:lnTo>
                <a:lnTo>
                  <a:pt x="28363" y="14288"/>
                </a:lnTo>
                <a:lnTo>
                  <a:pt x="23989" y="17859"/>
                </a:lnTo>
                <a:lnTo>
                  <a:pt x="20237" y="21431"/>
                </a:lnTo>
                <a:lnTo>
                  <a:pt x="16979" y="25003"/>
                </a:lnTo>
                <a:lnTo>
                  <a:pt x="14129" y="28575"/>
                </a:lnTo>
                <a:lnTo>
                  <a:pt x="2757944" y="28575"/>
                </a:lnTo>
                <a:lnTo>
                  <a:pt x="2755094" y="25003"/>
                </a:lnTo>
                <a:lnTo>
                  <a:pt x="2751836" y="21431"/>
                </a:lnTo>
                <a:lnTo>
                  <a:pt x="2748084" y="17859"/>
                </a:lnTo>
                <a:lnTo>
                  <a:pt x="2743709" y="14288"/>
                </a:lnTo>
                <a:lnTo>
                  <a:pt x="2738494" y="10716"/>
                </a:lnTo>
                <a:lnTo>
                  <a:pt x="2732019" y="7144"/>
                </a:lnTo>
                <a:lnTo>
                  <a:pt x="2723208" y="3572"/>
                </a:lnTo>
                <a:lnTo>
                  <a:pt x="2700953" y="0"/>
                </a:lnTo>
                <a:close/>
              </a:path>
            </a:pathLst>
          </a:custGeom>
          <a:solidFill>
            <a:srgbClr val="FAB753"/>
          </a:solidFill>
          <a:ln/>
        </p:spPr>
        <p:txBody>
          <a:bodyPr wrap="none" rtlCol="0" anchor="t"/>
          <a:lstStyle/>
          <a:p>
            <a:pPr marL="0" indent="0">
              <a:buNone/>
            </a:pPr>
            <a:endParaRPr lang="en-US" dirty="0"/>
          </a:p>
        </p:txBody>
      </p:sp>
      <p:sp>
        <p:nvSpPr>
          <p:cNvPr id="19" name="Text 15"/>
          <p:cNvSpPr/>
          <p:nvPr/>
        </p:nvSpPr>
        <p:spPr>
          <a:xfrm>
            <a:off x="6243638" y="923032"/>
            <a:ext cx="314920" cy="314920"/>
          </a:xfrm>
          <a:prstGeom prst="ellipse">
            <a:avLst/>
          </a:prstGeom>
          <a:solidFill>
            <a:srgbClr val="FAB753"/>
          </a:solidFill>
          <a:ln/>
        </p:spPr>
        <p:txBody>
          <a:bodyPr wrap="square" rtlCol="0" anchor="t"/>
          <a:lstStyle/>
          <a:p>
            <a:pPr marL="0" indent="0">
              <a:buNone/>
            </a:pPr>
            <a:endParaRPr lang="en-US" dirty="0"/>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34729" y="1014124"/>
            <a:ext cx="132588" cy="132588"/>
          </a:xfrm>
          <a:prstGeom prst="rect">
            <a:avLst/>
          </a:prstGeom>
        </p:spPr>
      </p:pic>
      <p:sp>
        <p:nvSpPr>
          <p:cNvPr id="21" name="Text 16"/>
          <p:cNvSpPr/>
          <p:nvPr/>
        </p:nvSpPr>
        <p:spPr>
          <a:xfrm>
            <a:off x="6243638" y="1308943"/>
            <a:ext cx="2702868" cy="146149"/>
          </a:xfrm>
          <a:prstGeom prst="rect">
            <a:avLst/>
          </a:prstGeom>
          <a:noFill/>
          <a:ln/>
        </p:spPr>
        <p:txBody>
          <a:bodyPr wrap="none" lIns="0" tIns="0" rIns="0" bIns="0" rtlCol="0" anchor="t"/>
          <a:lstStyle/>
          <a:p>
            <a:pPr marL="0" indent="0" algn="l">
              <a:lnSpc>
                <a:spcPts val="1152"/>
              </a:lnSpc>
              <a:buNone/>
            </a:pPr>
            <a:r>
              <a:rPr lang="en-US" sz="960" b="1" dirty="0">
                <a:solidFill>
                  <a:srgbClr val="1B5E72"/>
                </a:solidFill>
                <a:latin typeface="Calibri" pitchFamily="34" charset="0"/>
                <a:cs typeface="Calibri" pitchFamily="34" charset="-120"/>
              </a:rPr>
              <a:t>Sessions on days out = easier month</a:t>
            </a:r>
            <a:endParaRPr lang="en-US" sz="960" dirty="0"/>
          </a:p>
        </p:txBody>
      </p:sp>
      <p:sp>
        <p:nvSpPr>
          <p:cNvPr id="22" name="Text 17"/>
          <p:cNvSpPr/>
          <p:nvPr/>
        </p:nvSpPr>
        <p:spPr>
          <a:xfrm>
            <a:off x="6243638" y="1526084"/>
            <a:ext cx="2506295" cy="656332"/>
          </a:xfrm>
          <a:prstGeom prst="rect">
            <a:avLst/>
          </a:prstGeom>
          <a:noFill/>
          <a:ln/>
        </p:spPr>
        <p:txBody>
          <a:bodyPr wrap="square" lIns="0" tIns="0" rIns="0" bIns="0" rtlCol="0" anchor="t"/>
          <a:lstStyle/>
          <a:p>
            <a:pPr marL="0" indent="0" algn="l">
              <a:lnSpc>
                <a:spcPts val="1230"/>
              </a:lnSpc>
              <a:buNone/>
            </a:pPr>
            <a:r>
              <a:rPr lang="en-US" sz="820" dirty="0">
                <a:solidFill>
                  <a:srgbClr val="2C2C2C"/>
                </a:solidFill>
                <a:latin typeface="Calibri" pitchFamily="34" charset="0"/>
                <a:cs typeface="Calibri" pitchFamily="34" charset="-120"/>
              </a:rPr>
              <a:t>What can you do proactively to increase engagement on days out and during breaks?  </a:t>
            </a:r>
            <a:endParaRPr lang="en-US" sz="820" dirty="0"/>
          </a:p>
        </p:txBody>
      </p:sp>
      <p:sp>
        <p:nvSpPr>
          <p:cNvPr id="23" name="Text 18"/>
          <p:cNvSpPr/>
          <p:nvPr/>
        </p:nvSpPr>
        <p:spPr>
          <a:xfrm>
            <a:off x="285750" y="2379613"/>
            <a:ext cx="8572500" cy="1324868"/>
          </a:xfrm>
          <a:prstGeom prst="roundRect">
            <a:avLst>
              <a:gd name="adj" fmla="val 5368"/>
            </a:avLst>
          </a:prstGeom>
          <a:solidFill>
            <a:srgbClr val="EAF4F4"/>
          </a:solidFill>
          <a:ln w="9525">
            <a:solidFill>
              <a:srgbClr val="A8D5D1"/>
            </a:solidFill>
          </a:ln>
        </p:spPr>
        <p:txBody>
          <a:bodyPr wrap="square" rtlCol="0" anchor="t"/>
          <a:lstStyle/>
          <a:p>
            <a:pPr marL="0" indent="0">
              <a:buNone/>
            </a:pPr>
            <a:endParaRPr lang="en-US" dirty="0"/>
          </a:p>
        </p:txBody>
      </p:sp>
      <p:sp>
        <p:nvSpPr>
          <p:cNvPr id="24" name="Text 19"/>
          <p:cNvSpPr/>
          <p:nvPr/>
        </p:nvSpPr>
        <p:spPr>
          <a:xfrm>
            <a:off x="466725" y="2489448"/>
            <a:ext cx="9031605" cy="171450"/>
          </a:xfrm>
          <a:prstGeom prst="rect">
            <a:avLst/>
          </a:prstGeom>
          <a:noFill/>
          <a:ln/>
        </p:spPr>
        <p:txBody>
          <a:bodyPr wrap="none" lIns="0" tIns="0" rIns="0" bIns="0" rtlCol="0" anchor="t"/>
          <a:lstStyle/>
          <a:p>
            <a:pPr marL="0" indent="0" algn="l">
              <a:lnSpc>
                <a:spcPts val="1350"/>
              </a:lnSpc>
              <a:spcAft>
                <a:spcPts val="450"/>
              </a:spcAft>
              <a:buNone/>
            </a:pPr>
            <a:r>
              <a:rPr lang="en-US" sz="900" b="1" dirty="0">
                <a:solidFill>
                  <a:srgbClr val="1B5E72"/>
                </a:solidFill>
                <a:latin typeface="Calibri" pitchFamily="34" charset="0"/>
                <a:ea typeface="Calibri" pitchFamily="34" charset="-122"/>
                <a:cs typeface="Calibri" pitchFamily="34" charset="-120"/>
              </a:rPr>
              <a:t>26–27 Productivity Grid</a:t>
            </a:r>
            <a:endParaRPr lang="en-US" sz="900" dirty="0"/>
          </a:p>
        </p:txBody>
      </p:sp>
      <p:sp>
        <p:nvSpPr>
          <p:cNvPr id="25" name="Text 20"/>
          <p:cNvSpPr/>
          <p:nvPr/>
        </p:nvSpPr>
        <p:spPr>
          <a:xfrm>
            <a:off x="466725" y="2718048"/>
            <a:ext cx="571500" cy="228302"/>
          </a:xfrm>
          <a:prstGeom prst="rect">
            <a:avLst/>
          </a:prstGeom>
          <a:solidFill>
            <a:srgbClr val="1B5E72"/>
          </a:solidFill>
          <a:ln/>
        </p:spPr>
        <p:txBody>
          <a:bodyPr wrap="none" rtlCol="0" anchor="t"/>
          <a:lstStyle/>
          <a:p>
            <a:pPr marL="0" indent="0">
              <a:buNone/>
            </a:pPr>
            <a:endParaRPr lang="en-US" dirty="0"/>
          </a:p>
        </p:txBody>
      </p:sp>
      <p:sp>
        <p:nvSpPr>
          <p:cNvPr id="26" name="Text 21"/>
          <p:cNvSpPr/>
          <p:nvPr/>
        </p:nvSpPr>
        <p:spPr>
          <a:xfrm>
            <a:off x="1028700" y="2718048"/>
            <a:ext cx="9525" cy="228302"/>
          </a:xfrm>
          <a:prstGeom prst="rect">
            <a:avLst/>
          </a:prstGeom>
          <a:solidFill>
            <a:srgbClr val="FFFFFF">
              <a:alpha val="20000"/>
            </a:srgbClr>
          </a:solidFill>
          <a:ln/>
        </p:spPr>
        <p:txBody>
          <a:bodyPr wrap="none" rtlCol="0" anchor="t"/>
          <a:lstStyle/>
          <a:p>
            <a:pPr marL="0" indent="0">
              <a:buNone/>
            </a:pPr>
            <a:endParaRPr lang="en-US" dirty="0"/>
          </a:p>
        </p:txBody>
      </p:sp>
      <p:sp>
        <p:nvSpPr>
          <p:cNvPr id="27" name="Text 22"/>
          <p:cNvSpPr/>
          <p:nvPr/>
        </p:nvSpPr>
        <p:spPr>
          <a:xfrm>
            <a:off x="1030577" y="2718048"/>
            <a:ext cx="780124" cy="228302"/>
          </a:xfrm>
          <a:prstGeom prst="rect">
            <a:avLst/>
          </a:prstGeom>
          <a:solidFill>
            <a:srgbClr val="1B5E72"/>
          </a:solidFill>
          <a:ln/>
        </p:spPr>
        <p:txBody>
          <a:bodyPr wrap="none" lIns="29210" tIns="49530" rIns="2921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AUG</a:t>
            </a:r>
            <a:endParaRPr lang="en-US" sz="680" dirty="0"/>
          </a:p>
        </p:txBody>
      </p:sp>
      <p:sp>
        <p:nvSpPr>
          <p:cNvPr id="28" name="Text 23"/>
          <p:cNvSpPr/>
          <p:nvPr/>
        </p:nvSpPr>
        <p:spPr>
          <a:xfrm>
            <a:off x="1793528" y="2718048"/>
            <a:ext cx="9525" cy="228302"/>
          </a:xfrm>
          <a:prstGeom prst="rect">
            <a:avLst/>
          </a:prstGeom>
          <a:solidFill>
            <a:srgbClr val="FFFFFF">
              <a:alpha val="20000"/>
            </a:srgbClr>
          </a:solidFill>
          <a:ln/>
        </p:spPr>
        <p:txBody>
          <a:bodyPr wrap="none" rtlCol="0" anchor="t"/>
          <a:lstStyle/>
          <a:p>
            <a:pPr marL="0" indent="0">
              <a:buNone/>
            </a:pPr>
            <a:endParaRPr lang="en-US" dirty="0"/>
          </a:p>
        </p:txBody>
      </p:sp>
      <p:sp>
        <p:nvSpPr>
          <p:cNvPr id="29" name="Text 24"/>
          <p:cNvSpPr/>
          <p:nvPr/>
        </p:nvSpPr>
        <p:spPr>
          <a:xfrm>
            <a:off x="1795403" y="2718048"/>
            <a:ext cx="780276" cy="228302"/>
          </a:xfrm>
          <a:prstGeom prst="rect">
            <a:avLst/>
          </a:prstGeom>
          <a:solidFill>
            <a:srgbClr val="1B5E72"/>
          </a:solidFill>
          <a:ln/>
        </p:spPr>
        <p:txBody>
          <a:bodyPr wrap="none" lIns="29210" tIns="49530" rIns="2921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SEPT</a:t>
            </a:r>
            <a:endParaRPr lang="en-US" sz="680" dirty="0"/>
          </a:p>
        </p:txBody>
      </p:sp>
      <p:sp>
        <p:nvSpPr>
          <p:cNvPr id="30" name="Text 25"/>
          <p:cNvSpPr/>
          <p:nvPr/>
        </p:nvSpPr>
        <p:spPr>
          <a:xfrm>
            <a:off x="2558504" y="2718048"/>
            <a:ext cx="9525" cy="228302"/>
          </a:xfrm>
          <a:prstGeom prst="rect">
            <a:avLst/>
          </a:prstGeom>
          <a:solidFill>
            <a:srgbClr val="FFFFFF">
              <a:alpha val="20000"/>
            </a:srgbClr>
          </a:solidFill>
          <a:ln/>
        </p:spPr>
        <p:txBody>
          <a:bodyPr wrap="none" rtlCol="0" anchor="t"/>
          <a:lstStyle/>
          <a:p>
            <a:pPr marL="0" indent="0">
              <a:buNone/>
            </a:pPr>
            <a:endParaRPr lang="en-US" dirty="0"/>
          </a:p>
        </p:txBody>
      </p:sp>
      <p:sp>
        <p:nvSpPr>
          <p:cNvPr id="31" name="Text 26"/>
          <p:cNvSpPr/>
          <p:nvPr/>
        </p:nvSpPr>
        <p:spPr>
          <a:xfrm>
            <a:off x="2560381" y="2718048"/>
            <a:ext cx="780124" cy="228302"/>
          </a:xfrm>
          <a:prstGeom prst="rect">
            <a:avLst/>
          </a:prstGeom>
          <a:solidFill>
            <a:srgbClr val="1B5E72"/>
          </a:solidFill>
          <a:ln/>
        </p:spPr>
        <p:txBody>
          <a:bodyPr wrap="none" lIns="29210" tIns="49530" rIns="2921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OCT</a:t>
            </a:r>
            <a:endParaRPr lang="en-US" sz="680" dirty="0"/>
          </a:p>
        </p:txBody>
      </p:sp>
      <p:sp>
        <p:nvSpPr>
          <p:cNvPr id="32" name="Text 27"/>
          <p:cNvSpPr/>
          <p:nvPr/>
        </p:nvSpPr>
        <p:spPr>
          <a:xfrm>
            <a:off x="3323332" y="2718048"/>
            <a:ext cx="9525" cy="228302"/>
          </a:xfrm>
          <a:prstGeom prst="rect">
            <a:avLst/>
          </a:prstGeom>
          <a:solidFill>
            <a:srgbClr val="FFFFFF">
              <a:alpha val="20000"/>
            </a:srgbClr>
          </a:solidFill>
          <a:ln/>
        </p:spPr>
        <p:txBody>
          <a:bodyPr wrap="none" rtlCol="0" anchor="t"/>
          <a:lstStyle/>
          <a:p>
            <a:pPr marL="0" indent="0">
              <a:buNone/>
            </a:pPr>
            <a:endParaRPr lang="en-US" dirty="0"/>
          </a:p>
        </p:txBody>
      </p:sp>
      <p:sp>
        <p:nvSpPr>
          <p:cNvPr id="33" name="Text 28"/>
          <p:cNvSpPr/>
          <p:nvPr/>
        </p:nvSpPr>
        <p:spPr>
          <a:xfrm>
            <a:off x="3325207" y="2718048"/>
            <a:ext cx="780276" cy="228302"/>
          </a:xfrm>
          <a:prstGeom prst="rect">
            <a:avLst/>
          </a:prstGeom>
          <a:solidFill>
            <a:srgbClr val="1B5E72"/>
          </a:solidFill>
          <a:ln/>
        </p:spPr>
        <p:txBody>
          <a:bodyPr wrap="none" lIns="29210" tIns="49530" rIns="2921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NOV</a:t>
            </a:r>
            <a:endParaRPr lang="en-US" sz="680" dirty="0"/>
          </a:p>
        </p:txBody>
      </p:sp>
      <p:sp>
        <p:nvSpPr>
          <p:cNvPr id="34" name="Text 29"/>
          <p:cNvSpPr/>
          <p:nvPr/>
        </p:nvSpPr>
        <p:spPr>
          <a:xfrm>
            <a:off x="4088309" y="2718048"/>
            <a:ext cx="9525" cy="228302"/>
          </a:xfrm>
          <a:prstGeom prst="rect">
            <a:avLst/>
          </a:prstGeom>
          <a:solidFill>
            <a:srgbClr val="FFFFFF">
              <a:alpha val="20000"/>
            </a:srgbClr>
          </a:solidFill>
          <a:ln/>
        </p:spPr>
        <p:txBody>
          <a:bodyPr wrap="none" rtlCol="0" anchor="t"/>
          <a:lstStyle/>
          <a:p>
            <a:pPr marL="0" indent="0">
              <a:buNone/>
            </a:pPr>
            <a:endParaRPr lang="en-US" dirty="0"/>
          </a:p>
        </p:txBody>
      </p:sp>
      <p:sp>
        <p:nvSpPr>
          <p:cNvPr id="35" name="Text 30"/>
          <p:cNvSpPr/>
          <p:nvPr/>
        </p:nvSpPr>
        <p:spPr>
          <a:xfrm>
            <a:off x="4090185" y="2718048"/>
            <a:ext cx="780124" cy="228302"/>
          </a:xfrm>
          <a:prstGeom prst="rect">
            <a:avLst/>
          </a:prstGeom>
          <a:solidFill>
            <a:srgbClr val="1B5E72"/>
          </a:solidFill>
          <a:ln/>
        </p:spPr>
        <p:txBody>
          <a:bodyPr wrap="none" lIns="29210" tIns="49530" rIns="2921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DEC</a:t>
            </a:r>
            <a:endParaRPr lang="en-US" sz="680" dirty="0"/>
          </a:p>
        </p:txBody>
      </p:sp>
      <p:sp>
        <p:nvSpPr>
          <p:cNvPr id="36" name="Text 31"/>
          <p:cNvSpPr/>
          <p:nvPr/>
        </p:nvSpPr>
        <p:spPr>
          <a:xfrm>
            <a:off x="4853136" y="2718048"/>
            <a:ext cx="9525" cy="228302"/>
          </a:xfrm>
          <a:prstGeom prst="rect">
            <a:avLst/>
          </a:prstGeom>
          <a:solidFill>
            <a:srgbClr val="FFFFFF">
              <a:alpha val="20000"/>
            </a:srgbClr>
          </a:solidFill>
          <a:ln/>
        </p:spPr>
        <p:txBody>
          <a:bodyPr wrap="none" rtlCol="0" anchor="t"/>
          <a:lstStyle/>
          <a:p>
            <a:pPr marL="0" indent="0">
              <a:buNone/>
            </a:pPr>
            <a:endParaRPr lang="en-US" dirty="0"/>
          </a:p>
        </p:txBody>
      </p:sp>
      <p:sp>
        <p:nvSpPr>
          <p:cNvPr id="37" name="Text 32"/>
          <p:cNvSpPr/>
          <p:nvPr/>
        </p:nvSpPr>
        <p:spPr>
          <a:xfrm>
            <a:off x="4855013" y="2718048"/>
            <a:ext cx="780124" cy="228302"/>
          </a:xfrm>
          <a:prstGeom prst="rect">
            <a:avLst/>
          </a:prstGeom>
          <a:solidFill>
            <a:srgbClr val="1B5E72"/>
          </a:solidFill>
          <a:ln/>
        </p:spPr>
        <p:txBody>
          <a:bodyPr wrap="none" lIns="29210" tIns="49530" rIns="2921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JAN</a:t>
            </a:r>
            <a:endParaRPr lang="en-US" sz="680" dirty="0"/>
          </a:p>
        </p:txBody>
      </p:sp>
      <p:sp>
        <p:nvSpPr>
          <p:cNvPr id="38" name="Text 33"/>
          <p:cNvSpPr/>
          <p:nvPr/>
        </p:nvSpPr>
        <p:spPr>
          <a:xfrm>
            <a:off x="5617964" y="2718048"/>
            <a:ext cx="9525" cy="228302"/>
          </a:xfrm>
          <a:prstGeom prst="rect">
            <a:avLst/>
          </a:prstGeom>
          <a:solidFill>
            <a:srgbClr val="FFFFFF">
              <a:alpha val="20000"/>
            </a:srgbClr>
          </a:solidFill>
          <a:ln/>
        </p:spPr>
        <p:txBody>
          <a:bodyPr wrap="none" rtlCol="0" anchor="t"/>
          <a:lstStyle/>
          <a:p>
            <a:pPr marL="0" indent="0">
              <a:buNone/>
            </a:pPr>
            <a:endParaRPr lang="en-US" dirty="0"/>
          </a:p>
        </p:txBody>
      </p:sp>
      <p:sp>
        <p:nvSpPr>
          <p:cNvPr id="39" name="Text 34"/>
          <p:cNvSpPr/>
          <p:nvPr/>
        </p:nvSpPr>
        <p:spPr>
          <a:xfrm>
            <a:off x="5619841" y="2718048"/>
            <a:ext cx="780124" cy="228302"/>
          </a:xfrm>
          <a:prstGeom prst="rect">
            <a:avLst/>
          </a:prstGeom>
          <a:solidFill>
            <a:srgbClr val="1B5E72"/>
          </a:solidFill>
          <a:ln/>
        </p:spPr>
        <p:txBody>
          <a:bodyPr wrap="none" lIns="29210" tIns="49530" rIns="2921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FEB</a:t>
            </a:r>
            <a:endParaRPr lang="en-US" sz="680" dirty="0"/>
          </a:p>
        </p:txBody>
      </p:sp>
      <p:sp>
        <p:nvSpPr>
          <p:cNvPr id="40" name="Text 35"/>
          <p:cNvSpPr/>
          <p:nvPr/>
        </p:nvSpPr>
        <p:spPr>
          <a:xfrm>
            <a:off x="6382792" y="2718048"/>
            <a:ext cx="9525" cy="228302"/>
          </a:xfrm>
          <a:prstGeom prst="rect">
            <a:avLst/>
          </a:prstGeom>
          <a:solidFill>
            <a:srgbClr val="FFFFFF">
              <a:alpha val="20000"/>
            </a:srgbClr>
          </a:solidFill>
          <a:ln/>
        </p:spPr>
        <p:txBody>
          <a:bodyPr wrap="none" rtlCol="0" anchor="t"/>
          <a:lstStyle/>
          <a:p>
            <a:pPr marL="0" indent="0">
              <a:buNone/>
            </a:pPr>
            <a:endParaRPr lang="en-US" dirty="0"/>
          </a:p>
        </p:txBody>
      </p:sp>
      <p:sp>
        <p:nvSpPr>
          <p:cNvPr id="41" name="Text 36"/>
          <p:cNvSpPr/>
          <p:nvPr/>
        </p:nvSpPr>
        <p:spPr>
          <a:xfrm>
            <a:off x="6384669" y="2718048"/>
            <a:ext cx="780124" cy="228302"/>
          </a:xfrm>
          <a:prstGeom prst="rect">
            <a:avLst/>
          </a:prstGeom>
          <a:solidFill>
            <a:srgbClr val="1B5E72"/>
          </a:solidFill>
          <a:ln/>
        </p:spPr>
        <p:txBody>
          <a:bodyPr wrap="none" lIns="29210" tIns="49530" rIns="2921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MAR</a:t>
            </a:r>
            <a:endParaRPr lang="en-US" sz="680" dirty="0"/>
          </a:p>
        </p:txBody>
      </p:sp>
      <p:sp>
        <p:nvSpPr>
          <p:cNvPr id="42" name="Text 37"/>
          <p:cNvSpPr/>
          <p:nvPr/>
        </p:nvSpPr>
        <p:spPr>
          <a:xfrm>
            <a:off x="7147620" y="2718048"/>
            <a:ext cx="9525" cy="228302"/>
          </a:xfrm>
          <a:prstGeom prst="rect">
            <a:avLst/>
          </a:prstGeom>
          <a:solidFill>
            <a:srgbClr val="FFFFFF">
              <a:alpha val="20000"/>
            </a:srgbClr>
          </a:solidFill>
          <a:ln/>
        </p:spPr>
        <p:txBody>
          <a:bodyPr wrap="none" rtlCol="0" anchor="t"/>
          <a:lstStyle/>
          <a:p>
            <a:pPr marL="0" indent="0">
              <a:buNone/>
            </a:pPr>
            <a:endParaRPr lang="en-US" dirty="0"/>
          </a:p>
        </p:txBody>
      </p:sp>
      <p:sp>
        <p:nvSpPr>
          <p:cNvPr id="43" name="Text 38"/>
          <p:cNvSpPr/>
          <p:nvPr/>
        </p:nvSpPr>
        <p:spPr>
          <a:xfrm>
            <a:off x="7149496" y="2718048"/>
            <a:ext cx="780124" cy="228302"/>
          </a:xfrm>
          <a:prstGeom prst="rect">
            <a:avLst/>
          </a:prstGeom>
          <a:solidFill>
            <a:srgbClr val="1B5E72"/>
          </a:solidFill>
          <a:ln/>
        </p:spPr>
        <p:txBody>
          <a:bodyPr wrap="none" lIns="29210" tIns="49530" rIns="2921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APR</a:t>
            </a:r>
            <a:endParaRPr lang="en-US" sz="680" dirty="0"/>
          </a:p>
        </p:txBody>
      </p:sp>
      <p:sp>
        <p:nvSpPr>
          <p:cNvPr id="44" name="Text 39"/>
          <p:cNvSpPr/>
          <p:nvPr/>
        </p:nvSpPr>
        <p:spPr>
          <a:xfrm>
            <a:off x="7912447" y="2718048"/>
            <a:ext cx="9525" cy="228302"/>
          </a:xfrm>
          <a:prstGeom prst="rect">
            <a:avLst/>
          </a:prstGeom>
          <a:solidFill>
            <a:srgbClr val="FFFFFF">
              <a:alpha val="20000"/>
            </a:srgbClr>
          </a:solidFill>
          <a:ln/>
        </p:spPr>
        <p:txBody>
          <a:bodyPr wrap="none" rtlCol="0" anchor="t"/>
          <a:lstStyle/>
          <a:p>
            <a:pPr marL="0" indent="0">
              <a:buNone/>
            </a:pPr>
            <a:endParaRPr lang="en-US" dirty="0"/>
          </a:p>
        </p:txBody>
      </p:sp>
      <p:sp>
        <p:nvSpPr>
          <p:cNvPr id="45" name="Text 40"/>
          <p:cNvSpPr/>
          <p:nvPr/>
        </p:nvSpPr>
        <p:spPr>
          <a:xfrm>
            <a:off x="7921972" y="2718048"/>
            <a:ext cx="755303" cy="228303"/>
          </a:xfrm>
          <a:custGeom>
            <a:avLst/>
            <a:gdLst/>
            <a:ahLst/>
            <a:cxnLst/>
            <a:rect l="l" t="t" r="r" b="b"/>
            <a:pathLst>
              <a:path w="755303" h="228303">
                <a:moveTo>
                  <a:pt x="0" y="0"/>
                </a:moveTo>
                <a:lnTo>
                  <a:pt x="0" y="228303"/>
                </a:lnTo>
                <a:lnTo>
                  <a:pt x="755303" y="228303"/>
                </a:lnTo>
                <a:lnTo>
                  <a:pt x="755303" y="43180"/>
                </a:lnTo>
                <a:lnTo>
                  <a:pt x="754473" y="34756"/>
                </a:lnTo>
                <a:lnTo>
                  <a:pt x="752016" y="26656"/>
                </a:lnTo>
                <a:lnTo>
                  <a:pt x="748026" y="19190"/>
                </a:lnTo>
                <a:lnTo>
                  <a:pt x="742656" y="12647"/>
                </a:lnTo>
                <a:lnTo>
                  <a:pt x="736112" y="7277"/>
                </a:lnTo>
                <a:lnTo>
                  <a:pt x="728647" y="3287"/>
                </a:lnTo>
                <a:lnTo>
                  <a:pt x="720547" y="830"/>
                </a:lnTo>
                <a:lnTo>
                  <a:pt x="712123" y="0"/>
                </a:lnTo>
                <a:close/>
              </a:path>
            </a:pathLst>
          </a:custGeom>
          <a:solidFill>
            <a:srgbClr val="1B5E72"/>
          </a:solidFill>
          <a:ln/>
        </p:spPr>
        <p:txBody>
          <a:bodyPr wrap="none" rtlCol="0" anchor="t"/>
          <a:lstStyle/>
          <a:p>
            <a:pPr marL="0" indent="0">
              <a:buNone/>
            </a:pPr>
            <a:endParaRPr lang="en-US" dirty="0"/>
          </a:p>
        </p:txBody>
      </p:sp>
      <p:sp>
        <p:nvSpPr>
          <p:cNvPr id="46" name="Text 41"/>
          <p:cNvSpPr/>
          <p:nvPr/>
        </p:nvSpPr>
        <p:spPr>
          <a:xfrm>
            <a:off x="7914419" y="2718048"/>
            <a:ext cx="770409" cy="228303"/>
          </a:xfrm>
          <a:prstGeom prst="rect">
            <a:avLst/>
          </a:prstGeom>
          <a:noFill/>
          <a:ln/>
        </p:spPr>
        <p:txBody>
          <a:bodyPr wrap="none" lIns="29210" tIns="49530" rIns="29210" bIns="49530" rtlCol="0" anchor="t"/>
          <a:lstStyle/>
          <a:p>
            <a:pPr marL="0" indent="0" algn="ctr">
              <a:buNone/>
            </a:pPr>
            <a:r>
              <a:rPr lang="en-US" sz="680" b="1" dirty="0">
                <a:solidFill>
                  <a:srgbClr val="FFFFFF"/>
                </a:solidFill>
                <a:latin typeface="Calibri" pitchFamily="34" charset="0"/>
                <a:ea typeface="Calibri" pitchFamily="34" charset="-122"/>
                <a:cs typeface="Calibri" pitchFamily="34" charset="-120"/>
              </a:rPr>
              <a:t>MAY</a:t>
            </a:r>
            <a:endParaRPr lang="en-US" sz="680" dirty="0"/>
          </a:p>
        </p:txBody>
      </p:sp>
      <p:sp>
        <p:nvSpPr>
          <p:cNvPr id="47" name="Text 42"/>
          <p:cNvSpPr/>
          <p:nvPr/>
        </p:nvSpPr>
        <p:spPr>
          <a:xfrm>
            <a:off x="466725" y="2946350"/>
            <a:ext cx="8210550" cy="9525"/>
          </a:xfrm>
          <a:prstGeom prst="rect">
            <a:avLst/>
          </a:prstGeom>
          <a:solidFill>
            <a:srgbClr val="A8D5D1"/>
          </a:solidFill>
          <a:ln/>
        </p:spPr>
        <p:txBody>
          <a:bodyPr wrap="none" rtlCol="0" anchor="t"/>
          <a:lstStyle/>
          <a:p>
            <a:pPr marL="0" indent="0">
              <a:buNone/>
            </a:pPr>
            <a:endParaRPr lang="en-US" dirty="0"/>
          </a:p>
        </p:txBody>
      </p:sp>
      <p:sp>
        <p:nvSpPr>
          <p:cNvPr id="48" name="Text 43"/>
          <p:cNvSpPr/>
          <p:nvPr/>
        </p:nvSpPr>
        <p:spPr>
          <a:xfrm>
            <a:off x="466725" y="2955875"/>
            <a:ext cx="582930" cy="228302"/>
          </a:xfrm>
          <a:prstGeom prst="rect">
            <a:avLst/>
          </a:prstGeom>
          <a:solidFill>
            <a:srgbClr val="FFFFFF"/>
          </a:solidFill>
          <a:ln/>
        </p:spPr>
        <p:txBody>
          <a:bodyPr wrap="none" lIns="71120" tIns="49530" rIns="71120" bIns="49530" rtlCol="0" anchor="t"/>
          <a:lstStyle/>
          <a:p>
            <a:pPr marL="0" indent="0" algn="l">
              <a:buNone/>
            </a:pPr>
            <a:r>
              <a:rPr lang="en-US" sz="680" b="1" dirty="0">
                <a:solidFill>
                  <a:srgbClr val="1B5E72"/>
                </a:solidFill>
                <a:latin typeface="Calibri" pitchFamily="34" charset="0"/>
                <a:ea typeface="Calibri" pitchFamily="34" charset="-122"/>
                <a:cs typeface="Calibri" pitchFamily="34" charset="-120"/>
              </a:rPr>
              <a:t>TARGET</a:t>
            </a:r>
            <a:endParaRPr lang="en-US" sz="680" dirty="0"/>
          </a:p>
        </p:txBody>
      </p:sp>
      <p:sp>
        <p:nvSpPr>
          <p:cNvPr id="49" name="Text 44"/>
          <p:cNvSpPr/>
          <p:nvPr/>
        </p:nvSpPr>
        <p:spPr>
          <a:xfrm>
            <a:off x="1028700" y="2955875"/>
            <a:ext cx="9525" cy="228302"/>
          </a:xfrm>
          <a:prstGeom prst="rect">
            <a:avLst/>
          </a:prstGeom>
          <a:solidFill>
            <a:srgbClr val="A8D5D1"/>
          </a:solidFill>
          <a:ln/>
        </p:spPr>
        <p:txBody>
          <a:bodyPr wrap="none" rtlCol="0" anchor="t"/>
          <a:lstStyle/>
          <a:p>
            <a:pPr marL="0" indent="0">
              <a:buNone/>
            </a:pPr>
            <a:endParaRPr lang="en-US" dirty="0"/>
          </a:p>
        </p:txBody>
      </p:sp>
      <p:sp>
        <p:nvSpPr>
          <p:cNvPr id="50" name="Text 45"/>
          <p:cNvSpPr/>
          <p:nvPr/>
        </p:nvSpPr>
        <p:spPr>
          <a:xfrm>
            <a:off x="1030577" y="2955875"/>
            <a:ext cx="780124" cy="228302"/>
          </a:xfrm>
          <a:prstGeom prst="rect">
            <a:avLst/>
          </a:prstGeom>
          <a:solidFill>
            <a:srgbClr val="FFFFFF"/>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51" name="Text 46"/>
          <p:cNvSpPr/>
          <p:nvPr/>
        </p:nvSpPr>
        <p:spPr>
          <a:xfrm>
            <a:off x="1793528" y="2955875"/>
            <a:ext cx="9525" cy="228302"/>
          </a:xfrm>
          <a:prstGeom prst="rect">
            <a:avLst/>
          </a:prstGeom>
          <a:solidFill>
            <a:srgbClr val="A8D5D1"/>
          </a:solidFill>
          <a:ln/>
        </p:spPr>
        <p:txBody>
          <a:bodyPr wrap="none" rtlCol="0" anchor="t"/>
          <a:lstStyle/>
          <a:p>
            <a:pPr marL="0" indent="0">
              <a:buNone/>
            </a:pPr>
            <a:endParaRPr lang="en-US" dirty="0"/>
          </a:p>
        </p:txBody>
      </p:sp>
      <p:sp>
        <p:nvSpPr>
          <p:cNvPr id="52" name="Text 47"/>
          <p:cNvSpPr/>
          <p:nvPr/>
        </p:nvSpPr>
        <p:spPr>
          <a:xfrm>
            <a:off x="1795403" y="2955875"/>
            <a:ext cx="780276" cy="228302"/>
          </a:xfrm>
          <a:prstGeom prst="rect">
            <a:avLst/>
          </a:prstGeom>
          <a:solidFill>
            <a:srgbClr val="FFFFFF"/>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53" name="Text 48"/>
          <p:cNvSpPr/>
          <p:nvPr/>
        </p:nvSpPr>
        <p:spPr>
          <a:xfrm>
            <a:off x="2558504" y="2955875"/>
            <a:ext cx="9525" cy="228302"/>
          </a:xfrm>
          <a:prstGeom prst="rect">
            <a:avLst/>
          </a:prstGeom>
          <a:solidFill>
            <a:srgbClr val="A8D5D1"/>
          </a:solidFill>
          <a:ln/>
        </p:spPr>
        <p:txBody>
          <a:bodyPr wrap="none" rtlCol="0" anchor="t"/>
          <a:lstStyle/>
          <a:p>
            <a:pPr marL="0" indent="0">
              <a:buNone/>
            </a:pPr>
            <a:endParaRPr lang="en-US" dirty="0"/>
          </a:p>
        </p:txBody>
      </p:sp>
      <p:sp>
        <p:nvSpPr>
          <p:cNvPr id="54" name="Text 49"/>
          <p:cNvSpPr/>
          <p:nvPr/>
        </p:nvSpPr>
        <p:spPr>
          <a:xfrm>
            <a:off x="2560381" y="2955875"/>
            <a:ext cx="780124" cy="228302"/>
          </a:xfrm>
          <a:prstGeom prst="rect">
            <a:avLst/>
          </a:prstGeom>
          <a:solidFill>
            <a:srgbClr val="FFFFFF"/>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55" name="Text 50"/>
          <p:cNvSpPr/>
          <p:nvPr/>
        </p:nvSpPr>
        <p:spPr>
          <a:xfrm>
            <a:off x="3323332" y="2955875"/>
            <a:ext cx="9525" cy="228302"/>
          </a:xfrm>
          <a:prstGeom prst="rect">
            <a:avLst/>
          </a:prstGeom>
          <a:solidFill>
            <a:srgbClr val="A8D5D1"/>
          </a:solidFill>
          <a:ln/>
        </p:spPr>
        <p:txBody>
          <a:bodyPr wrap="none" rtlCol="0" anchor="t"/>
          <a:lstStyle/>
          <a:p>
            <a:pPr marL="0" indent="0">
              <a:buNone/>
            </a:pPr>
            <a:endParaRPr lang="en-US" dirty="0"/>
          </a:p>
        </p:txBody>
      </p:sp>
      <p:sp>
        <p:nvSpPr>
          <p:cNvPr id="56" name="Text 51"/>
          <p:cNvSpPr/>
          <p:nvPr/>
        </p:nvSpPr>
        <p:spPr>
          <a:xfrm>
            <a:off x="3325207" y="2955875"/>
            <a:ext cx="780276" cy="228302"/>
          </a:xfrm>
          <a:prstGeom prst="rect">
            <a:avLst/>
          </a:prstGeom>
          <a:solidFill>
            <a:srgbClr val="FFFFFF"/>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57" name="Text 52"/>
          <p:cNvSpPr/>
          <p:nvPr/>
        </p:nvSpPr>
        <p:spPr>
          <a:xfrm>
            <a:off x="4088309" y="2955875"/>
            <a:ext cx="9525" cy="228302"/>
          </a:xfrm>
          <a:prstGeom prst="rect">
            <a:avLst/>
          </a:prstGeom>
          <a:solidFill>
            <a:srgbClr val="A8D5D1"/>
          </a:solidFill>
          <a:ln/>
        </p:spPr>
        <p:txBody>
          <a:bodyPr wrap="none" rtlCol="0" anchor="t"/>
          <a:lstStyle/>
          <a:p>
            <a:pPr marL="0" indent="0">
              <a:buNone/>
            </a:pPr>
            <a:endParaRPr lang="en-US" dirty="0"/>
          </a:p>
        </p:txBody>
      </p:sp>
      <p:sp>
        <p:nvSpPr>
          <p:cNvPr id="58" name="Text 53"/>
          <p:cNvSpPr/>
          <p:nvPr/>
        </p:nvSpPr>
        <p:spPr>
          <a:xfrm>
            <a:off x="4090185" y="2955875"/>
            <a:ext cx="780124" cy="228302"/>
          </a:xfrm>
          <a:prstGeom prst="rect">
            <a:avLst/>
          </a:prstGeom>
          <a:solidFill>
            <a:srgbClr val="FFFFFF"/>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59" name="Text 54"/>
          <p:cNvSpPr/>
          <p:nvPr/>
        </p:nvSpPr>
        <p:spPr>
          <a:xfrm>
            <a:off x="4853136" y="2955875"/>
            <a:ext cx="9525" cy="228302"/>
          </a:xfrm>
          <a:prstGeom prst="rect">
            <a:avLst/>
          </a:prstGeom>
          <a:solidFill>
            <a:srgbClr val="A8D5D1"/>
          </a:solidFill>
          <a:ln/>
        </p:spPr>
        <p:txBody>
          <a:bodyPr wrap="none" rtlCol="0" anchor="t"/>
          <a:lstStyle/>
          <a:p>
            <a:pPr marL="0" indent="0">
              <a:buNone/>
            </a:pPr>
            <a:endParaRPr lang="en-US" dirty="0"/>
          </a:p>
        </p:txBody>
      </p:sp>
      <p:sp>
        <p:nvSpPr>
          <p:cNvPr id="60" name="Text 55"/>
          <p:cNvSpPr/>
          <p:nvPr/>
        </p:nvSpPr>
        <p:spPr>
          <a:xfrm>
            <a:off x="4855013" y="2955875"/>
            <a:ext cx="780124" cy="228302"/>
          </a:xfrm>
          <a:prstGeom prst="rect">
            <a:avLst/>
          </a:prstGeom>
          <a:solidFill>
            <a:srgbClr val="FFFFFF"/>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61" name="Text 56"/>
          <p:cNvSpPr/>
          <p:nvPr/>
        </p:nvSpPr>
        <p:spPr>
          <a:xfrm>
            <a:off x="5617964" y="2955875"/>
            <a:ext cx="9525" cy="228302"/>
          </a:xfrm>
          <a:prstGeom prst="rect">
            <a:avLst/>
          </a:prstGeom>
          <a:solidFill>
            <a:srgbClr val="A8D5D1"/>
          </a:solidFill>
          <a:ln/>
        </p:spPr>
        <p:txBody>
          <a:bodyPr wrap="none" rtlCol="0" anchor="t"/>
          <a:lstStyle/>
          <a:p>
            <a:pPr marL="0" indent="0">
              <a:buNone/>
            </a:pPr>
            <a:endParaRPr lang="en-US" dirty="0"/>
          </a:p>
        </p:txBody>
      </p:sp>
      <p:sp>
        <p:nvSpPr>
          <p:cNvPr id="62" name="Text 57"/>
          <p:cNvSpPr/>
          <p:nvPr/>
        </p:nvSpPr>
        <p:spPr>
          <a:xfrm>
            <a:off x="5619841" y="2955875"/>
            <a:ext cx="780124" cy="228302"/>
          </a:xfrm>
          <a:prstGeom prst="rect">
            <a:avLst/>
          </a:prstGeom>
          <a:solidFill>
            <a:srgbClr val="FFFFFF"/>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63" name="Text 58"/>
          <p:cNvSpPr/>
          <p:nvPr/>
        </p:nvSpPr>
        <p:spPr>
          <a:xfrm>
            <a:off x="6382792" y="2955875"/>
            <a:ext cx="9525" cy="228302"/>
          </a:xfrm>
          <a:prstGeom prst="rect">
            <a:avLst/>
          </a:prstGeom>
          <a:solidFill>
            <a:srgbClr val="A8D5D1"/>
          </a:solidFill>
          <a:ln/>
        </p:spPr>
        <p:txBody>
          <a:bodyPr wrap="none" rtlCol="0" anchor="t"/>
          <a:lstStyle/>
          <a:p>
            <a:pPr marL="0" indent="0">
              <a:buNone/>
            </a:pPr>
            <a:endParaRPr lang="en-US" dirty="0"/>
          </a:p>
        </p:txBody>
      </p:sp>
      <p:sp>
        <p:nvSpPr>
          <p:cNvPr id="64" name="Text 59"/>
          <p:cNvSpPr/>
          <p:nvPr/>
        </p:nvSpPr>
        <p:spPr>
          <a:xfrm>
            <a:off x="6384669" y="2955875"/>
            <a:ext cx="780124" cy="228302"/>
          </a:xfrm>
          <a:prstGeom prst="rect">
            <a:avLst/>
          </a:prstGeom>
          <a:solidFill>
            <a:srgbClr val="FFFFFF"/>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65" name="Text 60"/>
          <p:cNvSpPr/>
          <p:nvPr/>
        </p:nvSpPr>
        <p:spPr>
          <a:xfrm>
            <a:off x="7147620" y="2955875"/>
            <a:ext cx="9525" cy="228302"/>
          </a:xfrm>
          <a:prstGeom prst="rect">
            <a:avLst/>
          </a:prstGeom>
          <a:solidFill>
            <a:srgbClr val="A8D5D1"/>
          </a:solidFill>
          <a:ln/>
        </p:spPr>
        <p:txBody>
          <a:bodyPr wrap="none" rtlCol="0" anchor="t"/>
          <a:lstStyle/>
          <a:p>
            <a:pPr marL="0" indent="0">
              <a:buNone/>
            </a:pPr>
            <a:endParaRPr lang="en-US" dirty="0"/>
          </a:p>
        </p:txBody>
      </p:sp>
      <p:sp>
        <p:nvSpPr>
          <p:cNvPr id="66" name="Text 61"/>
          <p:cNvSpPr/>
          <p:nvPr/>
        </p:nvSpPr>
        <p:spPr>
          <a:xfrm>
            <a:off x="7149496" y="2955875"/>
            <a:ext cx="780124" cy="228302"/>
          </a:xfrm>
          <a:prstGeom prst="rect">
            <a:avLst/>
          </a:prstGeom>
          <a:solidFill>
            <a:srgbClr val="FFFFFF"/>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67" name="Text 62"/>
          <p:cNvSpPr/>
          <p:nvPr/>
        </p:nvSpPr>
        <p:spPr>
          <a:xfrm>
            <a:off x="7912447" y="2955875"/>
            <a:ext cx="9525" cy="228302"/>
          </a:xfrm>
          <a:prstGeom prst="rect">
            <a:avLst/>
          </a:prstGeom>
          <a:solidFill>
            <a:srgbClr val="A8D5D1"/>
          </a:solidFill>
          <a:ln/>
        </p:spPr>
        <p:txBody>
          <a:bodyPr wrap="none" rtlCol="0" anchor="t"/>
          <a:lstStyle/>
          <a:p>
            <a:pPr marL="0" indent="0">
              <a:buNone/>
            </a:pPr>
            <a:endParaRPr lang="en-US" dirty="0"/>
          </a:p>
        </p:txBody>
      </p:sp>
      <p:sp>
        <p:nvSpPr>
          <p:cNvPr id="68" name="Text 63"/>
          <p:cNvSpPr/>
          <p:nvPr/>
        </p:nvSpPr>
        <p:spPr>
          <a:xfrm>
            <a:off x="7914419" y="2955875"/>
            <a:ext cx="770409" cy="228303"/>
          </a:xfrm>
          <a:prstGeom prst="rect">
            <a:avLst/>
          </a:prstGeom>
          <a:solidFill>
            <a:srgbClr val="FFFFFF"/>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69" name="Text 64"/>
          <p:cNvSpPr/>
          <p:nvPr/>
        </p:nvSpPr>
        <p:spPr>
          <a:xfrm>
            <a:off x="466725" y="3184178"/>
            <a:ext cx="8210550" cy="9525"/>
          </a:xfrm>
          <a:prstGeom prst="rect">
            <a:avLst/>
          </a:prstGeom>
          <a:solidFill>
            <a:srgbClr val="A8D5D1"/>
          </a:solidFill>
          <a:ln/>
        </p:spPr>
        <p:txBody>
          <a:bodyPr wrap="none" rtlCol="0" anchor="t"/>
          <a:lstStyle/>
          <a:p>
            <a:pPr marL="0" indent="0">
              <a:buNone/>
            </a:pPr>
            <a:endParaRPr lang="en-US" dirty="0"/>
          </a:p>
        </p:txBody>
      </p:sp>
      <p:sp>
        <p:nvSpPr>
          <p:cNvPr id="70" name="Text 65"/>
          <p:cNvSpPr/>
          <p:nvPr/>
        </p:nvSpPr>
        <p:spPr>
          <a:xfrm>
            <a:off x="466725" y="3193703"/>
            <a:ext cx="571500" cy="228302"/>
          </a:xfrm>
          <a:custGeom>
            <a:avLst/>
            <a:gdLst/>
            <a:ahLst/>
            <a:cxnLst/>
            <a:rect l="l" t="t" r="r" b="b"/>
            <a:pathLst>
              <a:path w="571500" h="228302">
                <a:moveTo>
                  <a:pt x="0" y="0"/>
                </a:moveTo>
                <a:lnTo>
                  <a:pt x="0" y="185122"/>
                </a:lnTo>
                <a:lnTo>
                  <a:pt x="830" y="193546"/>
                </a:lnTo>
                <a:lnTo>
                  <a:pt x="3287" y="201647"/>
                </a:lnTo>
                <a:lnTo>
                  <a:pt x="7277" y="209112"/>
                </a:lnTo>
                <a:lnTo>
                  <a:pt x="12647" y="215655"/>
                </a:lnTo>
                <a:lnTo>
                  <a:pt x="19190" y="221025"/>
                </a:lnTo>
                <a:lnTo>
                  <a:pt x="26656" y="225015"/>
                </a:lnTo>
                <a:lnTo>
                  <a:pt x="34756" y="227473"/>
                </a:lnTo>
                <a:lnTo>
                  <a:pt x="43180" y="228302"/>
                </a:lnTo>
                <a:lnTo>
                  <a:pt x="571500" y="228302"/>
                </a:lnTo>
                <a:lnTo>
                  <a:pt x="571500" y="0"/>
                </a:lnTo>
                <a:close/>
              </a:path>
            </a:pathLst>
          </a:custGeom>
          <a:solidFill>
            <a:srgbClr val="F4FAFA"/>
          </a:solidFill>
          <a:ln/>
        </p:spPr>
        <p:txBody>
          <a:bodyPr wrap="none" rtlCol="0" anchor="t"/>
          <a:lstStyle/>
          <a:p>
            <a:pPr marL="0" indent="0">
              <a:buNone/>
            </a:pPr>
            <a:endParaRPr lang="en-US" dirty="0"/>
          </a:p>
        </p:txBody>
      </p:sp>
      <p:sp>
        <p:nvSpPr>
          <p:cNvPr id="71" name="Text 66"/>
          <p:cNvSpPr/>
          <p:nvPr/>
        </p:nvSpPr>
        <p:spPr>
          <a:xfrm>
            <a:off x="466725" y="3193703"/>
            <a:ext cx="582930" cy="228302"/>
          </a:xfrm>
          <a:prstGeom prst="rect">
            <a:avLst/>
          </a:prstGeom>
          <a:noFill/>
          <a:ln/>
        </p:spPr>
        <p:txBody>
          <a:bodyPr wrap="none" lIns="71120" tIns="49530" rIns="71120" bIns="49530" rtlCol="0" anchor="t"/>
          <a:lstStyle/>
          <a:p>
            <a:pPr marL="0" indent="0" algn="l">
              <a:buNone/>
            </a:pPr>
            <a:r>
              <a:rPr lang="en-US" sz="680" b="1" dirty="0">
                <a:solidFill>
                  <a:srgbClr val="1B5E72"/>
                </a:solidFill>
                <a:latin typeface="Calibri" pitchFamily="34" charset="0"/>
                <a:ea typeface="Calibri" pitchFamily="34" charset="-122"/>
                <a:cs typeface="Calibri" pitchFamily="34" charset="-120"/>
              </a:rPr>
              <a:t>DAYS</a:t>
            </a:r>
            <a:endParaRPr lang="en-US" sz="680" dirty="0"/>
          </a:p>
        </p:txBody>
      </p:sp>
      <p:sp>
        <p:nvSpPr>
          <p:cNvPr id="72" name="Text 67"/>
          <p:cNvSpPr/>
          <p:nvPr/>
        </p:nvSpPr>
        <p:spPr>
          <a:xfrm>
            <a:off x="1028700" y="3193703"/>
            <a:ext cx="9525" cy="228302"/>
          </a:xfrm>
          <a:prstGeom prst="rect">
            <a:avLst/>
          </a:prstGeom>
          <a:solidFill>
            <a:srgbClr val="A8D5D1"/>
          </a:solidFill>
          <a:ln/>
        </p:spPr>
        <p:txBody>
          <a:bodyPr wrap="none" rtlCol="0" anchor="t"/>
          <a:lstStyle/>
          <a:p>
            <a:pPr marL="0" indent="0">
              <a:buNone/>
            </a:pPr>
            <a:endParaRPr lang="en-US" dirty="0"/>
          </a:p>
        </p:txBody>
      </p:sp>
      <p:sp>
        <p:nvSpPr>
          <p:cNvPr id="73" name="Text 68"/>
          <p:cNvSpPr/>
          <p:nvPr/>
        </p:nvSpPr>
        <p:spPr>
          <a:xfrm>
            <a:off x="1030577" y="3193703"/>
            <a:ext cx="780125" cy="228302"/>
          </a:xfrm>
          <a:prstGeom prst="rect">
            <a:avLst/>
          </a:prstGeom>
          <a:solidFill>
            <a:srgbClr val="F4FAFA"/>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74" name="Text 69"/>
          <p:cNvSpPr/>
          <p:nvPr/>
        </p:nvSpPr>
        <p:spPr>
          <a:xfrm>
            <a:off x="1793528" y="3193703"/>
            <a:ext cx="9525" cy="228302"/>
          </a:xfrm>
          <a:prstGeom prst="rect">
            <a:avLst/>
          </a:prstGeom>
          <a:solidFill>
            <a:srgbClr val="A8D5D1"/>
          </a:solidFill>
          <a:ln/>
        </p:spPr>
        <p:txBody>
          <a:bodyPr wrap="none" rtlCol="0" anchor="t"/>
          <a:lstStyle/>
          <a:p>
            <a:pPr marL="0" indent="0">
              <a:buNone/>
            </a:pPr>
            <a:endParaRPr lang="en-US" dirty="0"/>
          </a:p>
        </p:txBody>
      </p:sp>
      <p:sp>
        <p:nvSpPr>
          <p:cNvPr id="75" name="Text 70"/>
          <p:cNvSpPr/>
          <p:nvPr/>
        </p:nvSpPr>
        <p:spPr>
          <a:xfrm>
            <a:off x="1795403" y="3193703"/>
            <a:ext cx="780276" cy="228302"/>
          </a:xfrm>
          <a:prstGeom prst="rect">
            <a:avLst/>
          </a:prstGeom>
          <a:solidFill>
            <a:srgbClr val="F4FAFA"/>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76" name="Text 71"/>
          <p:cNvSpPr/>
          <p:nvPr/>
        </p:nvSpPr>
        <p:spPr>
          <a:xfrm>
            <a:off x="2558504" y="3193703"/>
            <a:ext cx="9525" cy="228302"/>
          </a:xfrm>
          <a:prstGeom prst="rect">
            <a:avLst/>
          </a:prstGeom>
          <a:solidFill>
            <a:srgbClr val="A8D5D1"/>
          </a:solidFill>
          <a:ln/>
        </p:spPr>
        <p:txBody>
          <a:bodyPr wrap="none" rtlCol="0" anchor="t"/>
          <a:lstStyle/>
          <a:p>
            <a:pPr marL="0" indent="0">
              <a:buNone/>
            </a:pPr>
            <a:endParaRPr lang="en-US" dirty="0"/>
          </a:p>
        </p:txBody>
      </p:sp>
      <p:sp>
        <p:nvSpPr>
          <p:cNvPr id="77" name="Text 72"/>
          <p:cNvSpPr/>
          <p:nvPr/>
        </p:nvSpPr>
        <p:spPr>
          <a:xfrm>
            <a:off x="2560381" y="3193703"/>
            <a:ext cx="780125" cy="228302"/>
          </a:xfrm>
          <a:prstGeom prst="rect">
            <a:avLst/>
          </a:prstGeom>
          <a:solidFill>
            <a:srgbClr val="F4FAFA"/>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78" name="Text 73"/>
          <p:cNvSpPr/>
          <p:nvPr/>
        </p:nvSpPr>
        <p:spPr>
          <a:xfrm>
            <a:off x="3323332" y="3193703"/>
            <a:ext cx="9525" cy="228302"/>
          </a:xfrm>
          <a:prstGeom prst="rect">
            <a:avLst/>
          </a:prstGeom>
          <a:solidFill>
            <a:srgbClr val="A8D5D1"/>
          </a:solidFill>
          <a:ln/>
        </p:spPr>
        <p:txBody>
          <a:bodyPr wrap="none" rtlCol="0" anchor="t"/>
          <a:lstStyle/>
          <a:p>
            <a:pPr marL="0" indent="0">
              <a:buNone/>
            </a:pPr>
            <a:endParaRPr lang="en-US" dirty="0"/>
          </a:p>
        </p:txBody>
      </p:sp>
      <p:sp>
        <p:nvSpPr>
          <p:cNvPr id="79" name="Text 74"/>
          <p:cNvSpPr/>
          <p:nvPr/>
        </p:nvSpPr>
        <p:spPr>
          <a:xfrm>
            <a:off x="3325207" y="3193703"/>
            <a:ext cx="780276" cy="228302"/>
          </a:xfrm>
          <a:prstGeom prst="rect">
            <a:avLst/>
          </a:prstGeom>
          <a:solidFill>
            <a:srgbClr val="F4FAFA"/>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80" name="Text 75"/>
          <p:cNvSpPr/>
          <p:nvPr/>
        </p:nvSpPr>
        <p:spPr>
          <a:xfrm>
            <a:off x="4088309" y="3193703"/>
            <a:ext cx="9525" cy="228302"/>
          </a:xfrm>
          <a:prstGeom prst="rect">
            <a:avLst/>
          </a:prstGeom>
          <a:solidFill>
            <a:srgbClr val="A8D5D1"/>
          </a:solidFill>
          <a:ln/>
        </p:spPr>
        <p:txBody>
          <a:bodyPr wrap="none" rtlCol="0" anchor="t"/>
          <a:lstStyle/>
          <a:p>
            <a:pPr marL="0" indent="0">
              <a:buNone/>
            </a:pPr>
            <a:endParaRPr lang="en-US" dirty="0"/>
          </a:p>
        </p:txBody>
      </p:sp>
      <p:sp>
        <p:nvSpPr>
          <p:cNvPr id="81" name="Text 76"/>
          <p:cNvSpPr/>
          <p:nvPr/>
        </p:nvSpPr>
        <p:spPr>
          <a:xfrm>
            <a:off x="4090185" y="3193703"/>
            <a:ext cx="780125" cy="228302"/>
          </a:xfrm>
          <a:prstGeom prst="rect">
            <a:avLst/>
          </a:prstGeom>
          <a:solidFill>
            <a:srgbClr val="F4FAFA"/>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82" name="Text 77"/>
          <p:cNvSpPr/>
          <p:nvPr/>
        </p:nvSpPr>
        <p:spPr>
          <a:xfrm>
            <a:off x="4853136" y="3193703"/>
            <a:ext cx="9525" cy="228302"/>
          </a:xfrm>
          <a:prstGeom prst="rect">
            <a:avLst/>
          </a:prstGeom>
          <a:solidFill>
            <a:srgbClr val="A8D5D1"/>
          </a:solidFill>
          <a:ln/>
        </p:spPr>
        <p:txBody>
          <a:bodyPr wrap="none" rtlCol="0" anchor="t"/>
          <a:lstStyle/>
          <a:p>
            <a:pPr marL="0" indent="0">
              <a:buNone/>
            </a:pPr>
            <a:endParaRPr lang="en-US" dirty="0"/>
          </a:p>
        </p:txBody>
      </p:sp>
      <p:sp>
        <p:nvSpPr>
          <p:cNvPr id="83" name="Text 78"/>
          <p:cNvSpPr/>
          <p:nvPr/>
        </p:nvSpPr>
        <p:spPr>
          <a:xfrm>
            <a:off x="4855013" y="3193703"/>
            <a:ext cx="780125" cy="228302"/>
          </a:xfrm>
          <a:prstGeom prst="rect">
            <a:avLst/>
          </a:prstGeom>
          <a:solidFill>
            <a:srgbClr val="F4FAFA"/>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84" name="Text 79"/>
          <p:cNvSpPr/>
          <p:nvPr/>
        </p:nvSpPr>
        <p:spPr>
          <a:xfrm>
            <a:off x="5617964" y="3193703"/>
            <a:ext cx="9525" cy="228302"/>
          </a:xfrm>
          <a:prstGeom prst="rect">
            <a:avLst/>
          </a:prstGeom>
          <a:solidFill>
            <a:srgbClr val="A8D5D1"/>
          </a:solidFill>
          <a:ln/>
        </p:spPr>
        <p:txBody>
          <a:bodyPr wrap="none" rtlCol="0" anchor="t"/>
          <a:lstStyle/>
          <a:p>
            <a:pPr marL="0" indent="0">
              <a:buNone/>
            </a:pPr>
            <a:endParaRPr lang="en-US" dirty="0"/>
          </a:p>
        </p:txBody>
      </p:sp>
      <p:sp>
        <p:nvSpPr>
          <p:cNvPr id="85" name="Text 80"/>
          <p:cNvSpPr/>
          <p:nvPr/>
        </p:nvSpPr>
        <p:spPr>
          <a:xfrm>
            <a:off x="5619841" y="3193703"/>
            <a:ext cx="780125" cy="228302"/>
          </a:xfrm>
          <a:prstGeom prst="rect">
            <a:avLst/>
          </a:prstGeom>
          <a:solidFill>
            <a:srgbClr val="F4FAFA"/>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86" name="Text 81"/>
          <p:cNvSpPr/>
          <p:nvPr/>
        </p:nvSpPr>
        <p:spPr>
          <a:xfrm>
            <a:off x="6382792" y="3193703"/>
            <a:ext cx="9525" cy="228302"/>
          </a:xfrm>
          <a:prstGeom prst="rect">
            <a:avLst/>
          </a:prstGeom>
          <a:solidFill>
            <a:srgbClr val="A8D5D1"/>
          </a:solidFill>
          <a:ln/>
        </p:spPr>
        <p:txBody>
          <a:bodyPr wrap="none" rtlCol="0" anchor="t"/>
          <a:lstStyle/>
          <a:p>
            <a:pPr marL="0" indent="0">
              <a:buNone/>
            </a:pPr>
            <a:endParaRPr lang="en-US" dirty="0"/>
          </a:p>
        </p:txBody>
      </p:sp>
      <p:sp>
        <p:nvSpPr>
          <p:cNvPr id="87" name="Text 82"/>
          <p:cNvSpPr/>
          <p:nvPr/>
        </p:nvSpPr>
        <p:spPr>
          <a:xfrm>
            <a:off x="6384669" y="3193703"/>
            <a:ext cx="780125" cy="228302"/>
          </a:xfrm>
          <a:prstGeom prst="rect">
            <a:avLst/>
          </a:prstGeom>
          <a:solidFill>
            <a:srgbClr val="F4FAFA"/>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88" name="Text 83"/>
          <p:cNvSpPr/>
          <p:nvPr/>
        </p:nvSpPr>
        <p:spPr>
          <a:xfrm>
            <a:off x="7147620" y="3193703"/>
            <a:ext cx="9525" cy="228302"/>
          </a:xfrm>
          <a:prstGeom prst="rect">
            <a:avLst/>
          </a:prstGeom>
          <a:solidFill>
            <a:srgbClr val="A8D5D1"/>
          </a:solidFill>
          <a:ln/>
        </p:spPr>
        <p:txBody>
          <a:bodyPr wrap="none" rtlCol="0" anchor="t"/>
          <a:lstStyle/>
          <a:p>
            <a:pPr marL="0" indent="0">
              <a:buNone/>
            </a:pPr>
            <a:endParaRPr lang="en-US" dirty="0"/>
          </a:p>
        </p:txBody>
      </p:sp>
      <p:sp>
        <p:nvSpPr>
          <p:cNvPr id="89" name="Text 84"/>
          <p:cNvSpPr/>
          <p:nvPr/>
        </p:nvSpPr>
        <p:spPr>
          <a:xfrm>
            <a:off x="7149496" y="3193703"/>
            <a:ext cx="780125" cy="228302"/>
          </a:xfrm>
          <a:prstGeom prst="rect">
            <a:avLst/>
          </a:prstGeom>
          <a:solidFill>
            <a:srgbClr val="F4FAFA"/>
          </a:solid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90" name="Text 85"/>
          <p:cNvSpPr/>
          <p:nvPr/>
        </p:nvSpPr>
        <p:spPr>
          <a:xfrm>
            <a:off x="7912447" y="3193703"/>
            <a:ext cx="9525" cy="228302"/>
          </a:xfrm>
          <a:prstGeom prst="rect">
            <a:avLst/>
          </a:prstGeom>
          <a:solidFill>
            <a:srgbClr val="A8D5D1"/>
          </a:solidFill>
          <a:ln/>
        </p:spPr>
        <p:txBody>
          <a:bodyPr wrap="none" rtlCol="0" anchor="t"/>
          <a:lstStyle/>
          <a:p>
            <a:pPr marL="0" indent="0">
              <a:buNone/>
            </a:pPr>
            <a:endParaRPr lang="en-US" dirty="0"/>
          </a:p>
        </p:txBody>
      </p:sp>
      <p:sp>
        <p:nvSpPr>
          <p:cNvPr id="91" name="Text 86"/>
          <p:cNvSpPr/>
          <p:nvPr/>
        </p:nvSpPr>
        <p:spPr>
          <a:xfrm>
            <a:off x="7921972" y="3193703"/>
            <a:ext cx="755303" cy="228302"/>
          </a:xfrm>
          <a:custGeom>
            <a:avLst/>
            <a:gdLst/>
            <a:ahLst/>
            <a:cxnLst/>
            <a:rect l="l" t="t" r="r" b="b"/>
            <a:pathLst>
              <a:path w="755303" h="228302">
                <a:moveTo>
                  <a:pt x="0" y="0"/>
                </a:moveTo>
                <a:lnTo>
                  <a:pt x="0" y="228302"/>
                </a:lnTo>
                <a:lnTo>
                  <a:pt x="712123" y="228302"/>
                </a:lnTo>
                <a:lnTo>
                  <a:pt x="720547" y="227473"/>
                </a:lnTo>
                <a:lnTo>
                  <a:pt x="728647" y="225015"/>
                </a:lnTo>
                <a:lnTo>
                  <a:pt x="736112" y="221025"/>
                </a:lnTo>
                <a:lnTo>
                  <a:pt x="742656" y="215655"/>
                </a:lnTo>
                <a:lnTo>
                  <a:pt x="748026" y="209112"/>
                </a:lnTo>
                <a:lnTo>
                  <a:pt x="752016" y="201647"/>
                </a:lnTo>
                <a:lnTo>
                  <a:pt x="754473" y="193546"/>
                </a:lnTo>
                <a:lnTo>
                  <a:pt x="755303" y="185122"/>
                </a:lnTo>
                <a:lnTo>
                  <a:pt x="755303" y="0"/>
                </a:lnTo>
                <a:close/>
              </a:path>
            </a:pathLst>
          </a:custGeom>
          <a:solidFill>
            <a:srgbClr val="F4FAFA"/>
          </a:solidFill>
          <a:ln/>
        </p:spPr>
        <p:txBody>
          <a:bodyPr wrap="none" rtlCol="0" anchor="t"/>
          <a:lstStyle/>
          <a:p>
            <a:pPr marL="0" indent="0">
              <a:buNone/>
            </a:pPr>
            <a:endParaRPr lang="en-US" dirty="0"/>
          </a:p>
        </p:txBody>
      </p:sp>
      <p:sp>
        <p:nvSpPr>
          <p:cNvPr id="92" name="Text 87"/>
          <p:cNvSpPr/>
          <p:nvPr/>
        </p:nvSpPr>
        <p:spPr>
          <a:xfrm>
            <a:off x="7914419" y="3193703"/>
            <a:ext cx="770409" cy="228302"/>
          </a:xfrm>
          <a:prstGeom prst="rect">
            <a:avLst/>
          </a:prstGeom>
          <a:noFill/>
          <a:ln/>
        </p:spPr>
        <p:txBody>
          <a:bodyPr wrap="none" lIns="29210" tIns="49530" rIns="29210" bIns="49530" rtlCol="0" anchor="t"/>
          <a:lstStyle/>
          <a:p>
            <a:pPr marL="0" indent="0" algn="ctr">
              <a:buNone/>
            </a:pPr>
            <a:r>
              <a:rPr lang="en-US" sz="680" dirty="0">
                <a:solidFill>
                  <a:srgbClr val="999999"/>
                </a:solidFill>
                <a:latin typeface="Calibri" pitchFamily="34" charset="0"/>
                <a:ea typeface="Calibri" pitchFamily="34" charset="-122"/>
                <a:cs typeface="Calibri" pitchFamily="34" charset="-120"/>
              </a:rPr>
              <a:t>—</a:t>
            </a:r>
            <a:endParaRPr lang="en-US" sz="680" dirty="0"/>
          </a:p>
        </p:txBody>
      </p:sp>
      <p:sp>
        <p:nvSpPr>
          <p:cNvPr id="93" name="Text 88"/>
          <p:cNvSpPr/>
          <p:nvPr/>
        </p:nvSpPr>
        <p:spPr>
          <a:xfrm>
            <a:off x="466725" y="3465165"/>
            <a:ext cx="9031605" cy="129480"/>
          </a:xfrm>
          <a:prstGeom prst="rect">
            <a:avLst/>
          </a:prstGeom>
          <a:noFill/>
          <a:ln/>
        </p:spPr>
        <p:txBody>
          <a:bodyPr wrap="none" lIns="0" tIns="0" rIns="0" bIns="0" rtlCol="0" anchor="t"/>
          <a:lstStyle/>
          <a:p>
            <a:pPr marL="0" indent="0" algn="l">
              <a:lnSpc>
                <a:spcPts val="1020"/>
              </a:lnSpc>
              <a:spcBef>
                <a:spcPts val="340"/>
              </a:spcBef>
              <a:buNone/>
            </a:pPr>
            <a:r>
              <a:rPr lang="en-US" sz="680" i="1" dirty="0">
                <a:solidFill>
                  <a:srgbClr val="888888"/>
                </a:solidFill>
                <a:latin typeface="Calibri" pitchFamily="34" charset="0"/>
                <a:ea typeface="Calibri" pitchFamily="34" charset="-122"/>
                <a:cs typeface="Calibri" pitchFamily="34" charset="-120"/>
              </a:rPr>
              <a:t>PLACEHOLDER — Monthly target and available school days grid to be inserted prior to training.</a:t>
            </a:r>
            <a:endParaRPr lang="en-US" sz="680" dirty="0"/>
          </a:p>
        </p:txBody>
      </p:sp>
      <p:sp>
        <p:nvSpPr>
          <p:cNvPr id="94" name="Text 89"/>
          <p:cNvSpPr/>
          <p:nvPr/>
        </p:nvSpPr>
        <p:spPr>
          <a:xfrm>
            <a:off x="0" y="4814590"/>
            <a:ext cx="9144000" cy="328910"/>
          </a:xfrm>
          <a:prstGeom prst="rect">
            <a:avLst/>
          </a:prstGeom>
          <a:solidFill>
            <a:srgbClr val="FAB753"/>
          </a:solidFill>
          <a:ln/>
        </p:spPr>
        <p:txBody>
          <a:bodyPr wrap="square" rtlCol="0" anchor="t"/>
          <a:lstStyle/>
          <a:p>
            <a:pPr marL="0" indent="0">
              <a:buNone/>
            </a:pPr>
            <a:endParaRPr lang="en-US" dirty="0"/>
          </a:p>
        </p:txBody>
      </p:sp>
      <p:pic>
        <p:nvPicPr>
          <p:cNvPr id="9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14696" y="4912751"/>
            <a:ext cx="132588" cy="132588"/>
          </a:xfrm>
          <a:prstGeom prst="rect">
            <a:avLst/>
          </a:prstGeom>
        </p:spPr>
      </p:pic>
      <p:sp>
        <p:nvSpPr>
          <p:cNvPr id="96" name="Text 90"/>
          <p:cNvSpPr/>
          <p:nvPr/>
        </p:nvSpPr>
        <p:spPr>
          <a:xfrm>
            <a:off x="2630604" y="4893320"/>
            <a:ext cx="4065106" cy="171450"/>
          </a:xfrm>
          <a:prstGeom prst="rect">
            <a:avLst/>
          </a:prstGeom>
          <a:noFill/>
          <a:ln/>
        </p:spPr>
        <p:txBody>
          <a:bodyPr wrap="none" lIns="0" tIns="0" rIns="0" bIns="0" rtlCol="0" anchor="ctr"/>
          <a:lstStyle/>
          <a:p>
            <a:pPr marL="0" indent="0" algn="ctr">
              <a:lnSpc>
                <a:spcPts val="1350"/>
              </a:lnSpc>
              <a:buNone/>
            </a:pPr>
            <a:r>
              <a:rPr lang="en-US" sz="900" b="1" dirty="0">
                <a:solidFill>
                  <a:srgbClr val="2C2C2C"/>
                </a:solidFill>
                <a:latin typeface="Calibri" pitchFamily="34" charset="0"/>
                <a:ea typeface="Calibri" pitchFamily="34" charset="-122"/>
                <a:cs typeface="Calibri" pitchFamily="34" charset="-120"/>
              </a:rPr>
              <a:t>Calculate your daily target: Monthly target ÷ number of school days.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60499"/>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372070" y="128141"/>
            <a:ext cx="8987850" cy="246757"/>
          </a:xfrm>
          <a:prstGeom prst="rect">
            <a:avLst/>
          </a:prstGeom>
          <a:noFill/>
          <a:ln/>
        </p:spPr>
        <p:txBody>
          <a:bodyPr wrap="none" lIns="0" tIns="0" rIns="0" bIns="0" rtlCol="0" anchor="t"/>
          <a:lstStyle/>
          <a:p>
            <a:pPr marL="0" indent="0" algn="l">
              <a:lnSpc>
                <a:spcPts val="1943"/>
              </a:lnSpc>
              <a:buNone/>
            </a:pPr>
            <a:r>
              <a:rPr lang="en-US" sz="1690" b="1" kern="0" spc="-10" dirty="0">
                <a:solidFill>
                  <a:srgbClr val="FFFFFF"/>
                </a:solidFill>
                <a:latin typeface="Calibri Light" pitchFamily="34" charset="0"/>
                <a:ea typeface="Calibri Light" pitchFamily="34" charset="-122"/>
                <a:cs typeface="Calibri Light" pitchFamily="34" charset="-120"/>
              </a:rPr>
              <a:t>Ramping Up — How Your First 6 Months Looks</a:t>
            </a:r>
            <a:endParaRPr lang="en-US" sz="1690" dirty="0"/>
          </a:p>
        </p:txBody>
      </p:sp>
      <p:sp>
        <p:nvSpPr>
          <p:cNvPr id="4" name="Text 2"/>
          <p:cNvSpPr/>
          <p:nvPr/>
        </p:nvSpPr>
        <p:spPr>
          <a:xfrm>
            <a:off x="372070" y="388739"/>
            <a:ext cx="9239845" cy="171450"/>
          </a:xfrm>
          <a:prstGeom prst="rect">
            <a:avLst/>
          </a:prstGeom>
          <a:noFill/>
          <a:ln/>
        </p:spPr>
        <p:txBody>
          <a:bodyPr wrap="none" lIns="0" tIns="0" rIns="0" bIns="0" rtlCol="0" anchor="t"/>
          <a:lstStyle/>
          <a:p>
            <a:pPr marL="0" indent="0" algn="l">
              <a:lnSpc>
                <a:spcPts val="1350"/>
              </a:lnSpc>
              <a:buNone/>
            </a:pPr>
            <a:r>
              <a:rPr lang="en-US" sz="900" kern="0" spc="20" dirty="0">
                <a:solidFill>
                  <a:srgbClr val="FAB753"/>
                </a:solidFill>
                <a:latin typeface="Calibri" pitchFamily="34" charset="0"/>
                <a:ea typeface="Calibri" pitchFamily="34" charset="-122"/>
                <a:cs typeface="Calibri" pitchFamily="34" charset="-120"/>
              </a:rPr>
              <a:t>Steady, sustainable growth is the goal.</a:t>
            </a:r>
            <a:endParaRPr lang="en-US" sz="900" dirty="0"/>
          </a:p>
        </p:txBody>
      </p:sp>
      <p:sp>
        <p:nvSpPr>
          <p:cNvPr id="5" name="Text 3"/>
          <p:cNvSpPr/>
          <p:nvPr/>
        </p:nvSpPr>
        <p:spPr>
          <a:xfrm>
            <a:off x="529530" y="831949"/>
            <a:ext cx="21580" cy="3330029"/>
          </a:xfrm>
          <a:prstGeom prst="rect">
            <a:avLst/>
          </a:prstGeom>
          <a:gradFill rotWithShape="1">
            <a:gsLst>
              <a:gs pos="0">
                <a:srgbClr val="FAB753"/>
              </a:gs>
              <a:gs pos="33000">
                <a:srgbClr val="55A49C"/>
              </a:gs>
              <a:gs pos="66000">
                <a:srgbClr val="FAB753"/>
              </a:gs>
              <a:gs pos="100000">
                <a:srgbClr val="55A49C"/>
              </a:gs>
            </a:gsLst>
            <a:lin ang="5400000" scaled="1"/>
          </a:gradFill>
          <a:ln/>
        </p:spPr>
        <p:txBody>
          <a:bodyPr wrap="square" rtlCol="0" anchor="t"/>
          <a:lstStyle/>
          <a:p>
            <a:pPr marL="0" indent="0">
              <a:buNone/>
            </a:pPr>
            <a:endParaRPr lang="en-US" dirty="0"/>
          </a:p>
        </p:txBody>
      </p:sp>
      <p:sp>
        <p:nvSpPr>
          <p:cNvPr id="6" name="Text 4"/>
          <p:cNvSpPr/>
          <p:nvPr/>
        </p:nvSpPr>
        <p:spPr>
          <a:xfrm>
            <a:off x="372070" y="4205139"/>
            <a:ext cx="8399859" cy="242441"/>
          </a:xfrm>
          <a:prstGeom prst="roundRect">
            <a:avLst>
              <a:gd name="adj" fmla="val 23573"/>
            </a:avLst>
          </a:prstGeom>
          <a:noFill/>
          <a:ln w="9525">
            <a:solidFill>
              <a:srgbClr val="D0E8E8"/>
            </a:solidFill>
          </a:ln>
        </p:spPr>
        <p:txBody>
          <a:bodyPr wrap="none" rtlCol="0" anchor="t"/>
          <a:lstStyle/>
          <a:p>
            <a:pPr marL="0" indent="0">
              <a:buNone/>
            </a:pPr>
            <a:endParaRPr lang="en-US" dirty="0"/>
          </a:p>
        </p:txBody>
      </p:sp>
      <p:sp>
        <p:nvSpPr>
          <p:cNvPr id="7" name="Text 5"/>
          <p:cNvSpPr/>
          <p:nvPr/>
        </p:nvSpPr>
        <p:spPr>
          <a:xfrm>
            <a:off x="381595" y="4214664"/>
            <a:ext cx="670322" cy="245730"/>
          </a:xfrm>
          <a:prstGeom prst="rect">
            <a:avLst/>
          </a:prstGeom>
          <a:solidFill>
            <a:srgbClr val="FFF3DC"/>
          </a:solidFill>
          <a:ln/>
        </p:spPr>
        <p:txBody>
          <a:bodyPr wrap="none" lIns="0" tIns="0" rIns="0" bIns="0" rtlCol="0" anchor="ctr"/>
          <a:lstStyle/>
          <a:p>
            <a:pPr marL="0" indent="0" algn="ctr">
              <a:buNone/>
            </a:pPr>
            <a:r>
              <a:rPr lang="en-US" sz="680" b="1" kern="0" spc="20" dirty="0">
                <a:solidFill>
                  <a:srgbClr val="B87C1A"/>
                </a:solidFill>
                <a:latin typeface="Calibri" pitchFamily="34" charset="0"/>
                <a:ea typeface="Calibri" pitchFamily="34" charset="-122"/>
                <a:cs typeface="Calibri" pitchFamily="34" charset="-120"/>
              </a:rPr>
              <a:t>M1     0%</a:t>
            </a:r>
            <a:endParaRPr lang="en-US" sz="680" dirty="0"/>
          </a:p>
        </p:txBody>
      </p:sp>
      <p:sp>
        <p:nvSpPr>
          <p:cNvPr id="8" name="Text 6"/>
          <p:cNvSpPr/>
          <p:nvPr/>
        </p:nvSpPr>
        <p:spPr>
          <a:xfrm>
            <a:off x="1042392" y="4214664"/>
            <a:ext cx="9525" cy="223391"/>
          </a:xfrm>
          <a:prstGeom prst="rect">
            <a:avLst/>
          </a:prstGeom>
          <a:solidFill>
            <a:srgbClr val="D0E8E8"/>
          </a:solidFill>
          <a:ln/>
        </p:spPr>
        <p:txBody>
          <a:bodyPr wrap="none" rtlCol="0" anchor="t"/>
          <a:lstStyle/>
          <a:p>
            <a:pPr marL="0" indent="0">
              <a:buNone/>
            </a:pPr>
            <a:endParaRPr lang="en-US" dirty="0"/>
          </a:p>
        </p:txBody>
      </p:sp>
      <p:sp>
        <p:nvSpPr>
          <p:cNvPr id="9" name="Text 7"/>
          <p:cNvSpPr/>
          <p:nvPr/>
        </p:nvSpPr>
        <p:spPr>
          <a:xfrm>
            <a:off x="1051917" y="4214664"/>
            <a:ext cx="921841" cy="245730"/>
          </a:xfrm>
          <a:prstGeom prst="rect">
            <a:avLst/>
          </a:prstGeom>
          <a:solidFill>
            <a:srgbClr val="D4ECEB"/>
          </a:solidFill>
          <a:ln/>
        </p:spPr>
        <p:txBody>
          <a:bodyPr wrap="none" lIns="0" tIns="0" rIns="0" bIns="0" rtlCol="0" anchor="ctr"/>
          <a:lstStyle/>
          <a:p>
            <a:pPr marL="0" indent="0" algn="ctr">
              <a:buNone/>
            </a:pPr>
            <a:r>
              <a:rPr lang="en-US" sz="680" b="1" kern="0" spc="20" dirty="0">
                <a:solidFill>
                  <a:srgbClr val="1B5E72"/>
                </a:solidFill>
                <a:latin typeface="Calibri" pitchFamily="34" charset="0"/>
                <a:ea typeface="Calibri" pitchFamily="34" charset="-122"/>
                <a:cs typeface="Calibri" pitchFamily="34" charset="-120"/>
              </a:rPr>
              <a:t>M2    25%</a:t>
            </a:r>
            <a:endParaRPr lang="en-US" sz="680" dirty="0"/>
          </a:p>
        </p:txBody>
      </p:sp>
      <p:sp>
        <p:nvSpPr>
          <p:cNvPr id="10" name="Text 8"/>
          <p:cNvSpPr/>
          <p:nvPr/>
        </p:nvSpPr>
        <p:spPr>
          <a:xfrm>
            <a:off x="1964234" y="4214664"/>
            <a:ext cx="9525" cy="223391"/>
          </a:xfrm>
          <a:prstGeom prst="rect">
            <a:avLst/>
          </a:prstGeom>
          <a:solidFill>
            <a:srgbClr val="D0E8E8"/>
          </a:solidFill>
          <a:ln/>
        </p:spPr>
        <p:txBody>
          <a:bodyPr wrap="none" rtlCol="0" anchor="t"/>
          <a:lstStyle/>
          <a:p>
            <a:pPr marL="0" indent="0">
              <a:buNone/>
            </a:pPr>
            <a:endParaRPr lang="en-US" dirty="0"/>
          </a:p>
        </p:txBody>
      </p:sp>
      <p:sp>
        <p:nvSpPr>
          <p:cNvPr id="11" name="Text 9"/>
          <p:cNvSpPr/>
          <p:nvPr/>
        </p:nvSpPr>
        <p:spPr>
          <a:xfrm>
            <a:off x="1973759" y="4214664"/>
            <a:ext cx="921841" cy="245730"/>
          </a:xfrm>
          <a:prstGeom prst="rect">
            <a:avLst/>
          </a:prstGeom>
          <a:solidFill>
            <a:srgbClr val="C2E3E1"/>
          </a:solidFill>
          <a:ln/>
        </p:spPr>
        <p:txBody>
          <a:bodyPr wrap="none" lIns="0" tIns="0" rIns="0" bIns="0" rtlCol="0" anchor="ctr"/>
          <a:lstStyle/>
          <a:p>
            <a:pPr marL="0" indent="0" algn="ctr">
              <a:buNone/>
            </a:pPr>
            <a:r>
              <a:rPr lang="en-US" sz="680" b="1" kern="0" spc="20" dirty="0">
                <a:solidFill>
                  <a:srgbClr val="1B5E72"/>
                </a:solidFill>
                <a:latin typeface="Calibri" pitchFamily="34" charset="0"/>
                <a:ea typeface="Calibri" pitchFamily="34" charset="-122"/>
                <a:cs typeface="Calibri" pitchFamily="34" charset="-120"/>
              </a:rPr>
              <a:t>M3     50%</a:t>
            </a:r>
            <a:endParaRPr lang="en-US" sz="680" dirty="0"/>
          </a:p>
        </p:txBody>
      </p:sp>
      <p:sp>
        <p:nvSpPr>
          <p:cNvPr id="12" name="Text 10"/>
          <p:cNvSpPr/>
          <p:nvPr/>
        </p:nvSpPr>
        <p:spPr>
          <a:xfrm>
            <a:off x="2886075" y="4214664"/>
            <a:ext cx="9525" cy="223391"/>
          </a:xfrm>
          <a:prstGeom prst="rect">
            <a:avLst/>
          </a:prstGeom>
          <a:solidFill>
            <a:srgbClr val="D0E8E8"/>
          </a:solidFill>
          <a:ln/>
        </p:spPr>
        <p:txBody>
          <a:bodyPr wrap="none" rtlCol="0" anchor="t"/>
          <a:lstStyle/>
          <a:p>
            <a:pPr marL="0" indent="0">
              <a:buNone/>
            </a:pPr>
            <a:endParaRPr lang="en-US" dirty="0"/>
          </a:p>
        </p:txBody>
      </p:sp>
      <p:sp>
        <p:nvSpPr>
          <p:cNvPr id="13" name="Text 11"/>
          <p:cNvSpPr/>
          <p:nvPr/>
        </p:nvSpPr>
        <p:spPr>
          <a:xfrm>
            <a:off x="2895600" y="4214664"/>
            <a:ext cx="921841" cy="245730"/>
          </a:xfrm>
          <a:prstGeom prst="rect">
            <a:avLst/>
          </a:prstGeom>
          <a:solidFill>
            <a:srgbClr val="AFD9D7"/>
          </a:solidFill>
          <a:ln/>
        </p:spPr>
        <p:txBody>
          <a:bodyPr wrap="none" lIns="0" tIns="0" rIns="0" bIns="0" rtlCol="0" anchor="ctr"/>
          <a:lstStyle/>
          <a:p>
            <a:pPr marL="0" indent="0" algn="ctr">
              <a:buNone/>
            </a:pPr>
            <a:r>
              <a:rPr lang="en-US" sz="680" b="1" kern="0" spc="20" dirty="0">
                <a:solidFill>
                  <a:srgbClr val="1B5E72"/>
                </a:solidFill>
                <a:latin typeface="Calibri" pitchFamily="34" charset="0"/>
                <a:ea typeface="Calibri" pitchFamily="34" charset="-122"/>
                <a:cs typeface="Calibri" pitchFamily="34" charset="-120"/>
              </a:rPr>
              <a:t>M4      75%</a:t>
            </a:r>
            <a:endParaRPr lang="en-US" sz="680" dirty="0"/>
          </a:p>
        </p:txBody>
      </p:sp>
      <p:sp>
        <p:nvSpPr>
          <p:cNvPr id="14" name="Text 12"/>
          <p:cNvSpPr/>
          <p:nvPr/>
        </p:nvSpPr>
        <p:spPr>
          <a:xfrm>
            <a:off x="3807916" y="4214664"/>
            <a:ext cx="9525" cy="223391"/>
          </a:xfrm>
          <a:prstGeom prst="rect">
            <a:avLst/>
          </a:prstGeom>
          <a:solidFill>
            <a:srgbClr val="D0E8E8"/>
          </a:solidFill>
          <a:ln/>
        </p:spPr>
        <p:txBody>
          <a:bodyPr wrap="none" rtlCol="0" anchor="t"/>
          <a:lstStyle/>
          <a:p>
            <a:pPr marL="0" indent="0">
              <a:buNone/>
            </a:pPr>
            <a:endParaRPr lang="en-US" dirty="0"/>
          </a:p>
        </p:txBody>
      </p:sp>
      <p:sp>
        <p:nvSpPr>
          <p:cNvPr id="15" name="Text 13"/>
          <p:cNvSpPr/>
          <p:nvPr/>
        </p:nvSpPr>
        <p:spPr>
          <a:xfrm>
            <a:off x="3817441" y="4214664"/>
            <a:ext cx="921841" cy="245730"/>
          </a:xfrm>
          <a:prstGeom prst="rect">
            <a:avLst/>
          </a:prstGeom>
          <a:solidFill>
            <a:srgbClr val="9BD0CD"/>
          </a:solidFill>
          <a:ln/>
        </p:spPr>
        <p:txBody>
          <a:bodyPr wrap="none" lIns="0" tIns="0" rIns="0" bIns="0" rtlCol="0" anchor="ctr"/>
          <a:lstStyle/>
          <a:p>
            <a:pPr marL="0" indent="0" algn="ctr">
              <a:buNone/>
            </a:pPr>
            <a:r>
              <a:rPr lang="en-US" sz="680" b="1" kern="0" spc="20" dirty="0">
                <a:solidFill>
                  <a:srgbClr val="1B5E72"/>
                </a:solidFill>
                <a:latin typeface="Calibri" pitchFamily="34" charset="0"/>
                <a:ea typeface="Calibri" pitchFamily="34" charset="-122"/>
                <a:cs typeface="Calibri" pitchFamily="34" charset="-120"/>
              </a:rPr>
              <a:t>M5     75%</a:t>
            </a:r>
            <a:endParaRPr lang="en-US" sz="680" dirty="0"/>
          </a:p>
        </p:txBody>
      </p:sp>
      <p:sp>
        <p:nvSpPr>
          <p:cNvPr id="16" name="Text 14"/>
          <p:cNvSpPr/>
          <p:nvPr/>
        </p:nvSpPr>
        <p:spPr>
          <a:xfrm>
            <a:off x="4729758" y="4214664"/>
            <a:ext cx="9525" cy="223391"/>
          </a:xfrm>
          <a:prstGeom prst="rect">
            <a:avLst/>
          </a:prstGeom>
          <a:solidFill>
            <a:srgbClr val="D0E8E8"/>
          </a:solidFill>
          <a:ln/>
        </p:spPr>
        <p:txBody>
          <a:bodyPr wrap="none" rtlCol="0" anchor="t"/>
          <a:lstStyle/>
          <a:p>
            <a:pPr marL="0" indent="0">
              <a:buNone/>
            </a:pPr>
            <a:endParaRPr lang="en-US" dirty="0"/>
          </a:p>
        </p:txBody>
      </p:sp>
      <p:sp>
        <p:nvSpPr>
          <p:cNvPr id="17" name="Text 15"/>
          <p:cNvSpPr/>
          <p:nvPr/>
        </p:nvSpPr>
        <p:spPr>
          <a:xfrm>
            <a:off x="4739283" y="4214664"/>
            <a:ext cx="1173212" cy="245730"/>
          </a:xfrm>
          <a:prstGeom prst="rect">
            <a:avLst/>
          </a:prstGeom>
          <a:solidFill>
            <a:srgbClr val="1B5E72"/>
          </a:solidFill>
          <a:ln/>
        </p:spPr>
        <p:txBody>
          <a:bodyPr wrap="none" lIns="0" tIns="0" rIns="0" bIns="0" rtlCol="0" anchor="ctr"/>
          <a:lstStyle/>
          <a:p>
            <a:pPr marL="0" indent="0" algn="ctr">
              <a:buNone/>
            </a:pPr>
            <a:r>
              <a:rPr lang="en-US" sz="680" b="1" kern="0" spc="20" dirty="0">
                <a:solidFill>
                  <a:srgbClr val="FFFFFF"/>
                </a:solidFill>
                <a:latin typeface="Calibri" pitchFamily="34" charset="0"/>
                <a:ea typeface="Calibri" pitchFamily="34" charset="-122"/>
                <a:cs typeface="Calibri" pitchFamily="34" charset="-120"/>
              </a:rPr>
              <a:t>M6      100%</a:t>
            </a:r>
            <a:endParaRPr lang="en-US" sz="680" dirty="0"/>
          </a:p>
        </p:txBody>
      </p:sp>
      <p:sp>
        <p:nvSpPr>
          <p:cNvPr id="18" name="Text 16"/>
          <p:cNvSpPr/>
          <p:nvPr/>
        </p:nvSpPr>
        <p:spPr>
          <a:xfrm>
            <a:off x="5902970" y="4214664"/>
            <a:ext cx="9525" cy="223391"/>
          </a:xfrm>
          <a:prstGeom prst="rect">
            <a:avLst/>
          </a:prstGeom>
          <a:solidFill>
            <a:srgbClr val="155267"/>
          </a:solidFill>
          <a:ln/>
        </p:spPr>
        <p:txBody>
          <a:bodyPr wrap="none" rtlCol="0" anchor="t"/>
          <a:lstStyle/>
          <a:p>
            <a:pPr marL="0" indent="0">
              <a:buNone/>
            </a:pPr>
            <a:endParaRPr lang="en-US" dirty="0"/>
          </a:p>
        </p:txBody>
      </p:sp>
      <p:sp>
        <p:nvSpPr>
          <p:cNvPr id="19" name="Text 17"/>
          <p:cNvSpPr/>
          <p:nvPr/>
        </p:nvSpPr>
        <p:spPr>
          <a:xfrm>
            <a:off x="5912495" y="4214664"/>
            <a:ext cx="2849910" cy="245730"/>
          </a:xfrm>
          <a:prstGeom prst="rect">
            <a:avLst/>
          </a:prstGeom>
          <a:solidFill>
            <a:srgbClr val="FAB753"/>
          </a:solidFill>
          <a:ln/>
        </p:spPr>
        <p:txBody>
          <a:bodyPr wrap="none" lIns="0" tIns="0" rIns="0" bIns="0" rtlCol="0" anchor="ctr"/>
          <a:lstStyle/>
          <a:p>
            <a:pPr marL="0" indent="0" algn="ctr">
              <a:buNone/>
            </a:pPr>
            <a:r>
              <a:rPr lang="en-US" sz="680" b="1" kern="0" spc="20" dirty="0">
                <a:solidFill>
                  <a:srgbClr val="5A3800"/>
                </a:solidFill>
                <a:latin typeface="Calibri" pitchFamily="34" charset="0"/>
                <a:ea typeface="Calibri" pitchFamily="34" charset="-122"/>
                <a:cs typeface="Calibri" pitchFamily="34" charset="-120"/>
              </a:rPr>
              <a:t>★  Earn incentive for hitting 100% of your full target</a:t>
            </a:r>
            <a:endParaRPr lang="en-US" sz="680" dirty="0"/>
          </a:p>
        </p:txBody>
      </p:sp>
      <p:sp>
        <p:nvSpPr>
          <p:cNvPr id="20" name="Text 18"/>
          <p:cNvSpPr/>
          <p:nvPr/>
        </p:nvSpPr>
        <p:spPr>
          <a:xfrm>
            <a:off x="-91440" y="4841528"/>
            <a:ext cx="9326880" cy="301972"/>
          </a:xfrm>
          <a:prstGeom prst="rect">
            <a:avLst/>
          </a:prstGeom>
          <a:solidFill>
            <a:srgbClr val="FAB753"/>
          </a:solidFill>
          <a:ln/>
        </p:spPr>
        <p:txBody>
          <a:bodyPr wrap="none" lIns="372110" tIns="71120" rIns="372110" bIns="71120" rtlCol="0" anchor="ctr"/>
          <a:lstStyle/>
          <a:p>
            <a:pPr marL="0" indent="0" algn="ctr">
              <a:buNone/>
            </a:pPr>
            <a:r>
              <a:rPr lang="en-US" sz="840" b="1" dirty="0">
                <a:solidFill>
                  <a:srgbClr val="2C2C2C"/>
                </a:solidFill>
                <a:latin typeface="Calibri" pitchFamily="34" charset="0"/>
                <a:ea typeface="Calibri" pitchFamily="34" charset="-122"/>
                <a:cs typeface="Calibri" pitchFamily="34" charset="-120"/>
              </a:rPr>
              <a:t>Research on skill development shows that consistent, incremental growth builds both confidence and competence.</a:t>
            </a:r>
            <a:endParaRPr lang="en-US" sz="840" dirty="0"/>
          </a:p>
        </p:txBody>
      </p:sp>
      <p:sp>
        <p:nvSpPr>
          <p:cNvPr id="21" name="Text 19"/>
          <p:cNvSpPr/>
          <p:nvPr/>
        </p:nvSpPr>
        <p:spPr>
          <a:xfrm>
            <a:off x="700980" y="1168301"/>
            <a:ext cx="228600" cy="21580"/>
          </a:xfrm>
          <a:prstGeom prst="rect">
            <a:avLst/>
          </a:prstGeom>
          <a:solidFill>
            <a:srgbClr val="D0E8E8"/>
          </a:solidFill>
          <a:ln/>
        </p:spPr>
        <p:txBody>
          <a:bodyPr wrap="none" rtlCol="0" anchor="t"/>
          <a:lstStyle/>
          <a:p>
            <a:pPr marL="0" indent="0">
              <a:buNone/>
            </a:pPr>
            <a:endParaRPr lang="en-US" dirty="0"/>
          </a:p>
        </p:txBody>
      </p:sp>
      <p:sp>
        <p:nvSpPr>
          <p:cNvPr id="22" name="Text 20"/>
          <p:cNvSpPr/>
          <p:nvPr/>
        </p:nvSpPr>
        <p:spPr>
          <a:xfrm>
            <a:off x="929580" y="831949"/>
            <a:ext cx="7842349" cy="694432"/>
          </a:xfrm>
          <a:prstGeom prst="roundRect">
            <a:avLst>
              <a:gd name="adj" fmla="val 10241"/>
            </a:avLst>
          </a:prstGeom>
          <a:solidFill>
            <a:srgbClr val="EAF4F4"/>
          </a:solidFill>
          <a:ln/>
        </p:spPr>
        <p:txBody>
          <a:bodyPr wrap="square" rtlCol="0" anchor="t"/>
          <a:lstStyle/>
          <a:p>
            <a:pPr marL="0" indent="0">
              <a:buNone/>
            </a:pPr>
            <a:endParaRPr lang="en-US" dirty="0"/>
          </a:p>
        </p:txBody>
      </p:sp>
      <p:sp>
        <p:nvSpPr>
          <p:cNvPr id="23" name="Text 21"/>
          <p:cNvSpPr/>
          <p:nvPr/>
        </p:nvSpPr>
        <p:spPr>
          <a:xfrm>
            <a:off x="929580" y="831949"/>
            <a:ext cx="28575" cy="694432"/>
          </a:xfrm>
          <a:custGeom>
            <a:avLst/>
            <a:gdLst/>
            <a:ahLst/>
            <a:cxnLst/>
            <a:rect l="l" t="t" r="r" b="b"/>
            <a:pathLst>
              <a:path w="28575" h="694432">
                <a:moveTo>
                  <a:pt x="0" y="71120"/>
                </a:moveTo>
                <a:lnTo>
                  <a:pt x="3572" y="48865"/>
                </a:lnTo>
                <a:lnTo>
                  <a:pt x="7144" y="40054"/>
                </a:lnTo>
                <a:lnTo>
                  <a:pt x="10716" y="33579"/>
                </a:lnTo>
                <a:lnTo>
                  <a:pt x="14288" y="28363"/>
                </a:lnTo>
                <a:lnTo>
                  <a:pt x="17859" y="23989"/>
                </a:lnTo>
                <a:lnTo>
                  <a:pt x="21431" y="20237"/>
                </a:lnTo>
                <a:lnTo>
                  <a:pt x="25003" y="16979"/>
                </a:lnTo>
                <a:lnTo>
                  <a:pt x="28575" y="14129"/>
                </a:lnTo>
                <a:lnTo>
                  <a:pt x="28575" y="680303"/>
                </a:lnTo>
                <a:lnTo>
                  <a:pt x="25003" y="677453"/>
                </a:lnTo>
                <a:lnTo>
                  <a:pt x="21431" y="674195"/>
                </a:lnTo>
                <a:lnTo>
                  <a:pt x="17859" y="670443"/>
                </a:lnTo>
                <a:lnTo>
                  <a:pt x="14288" y="666069"/>
                </a:lnTo>
                <a:lnTo>
                  <a:pt x="10716" y="660854"/>
                </a:lnTo>
                <a:lnTo>
                  <a:pt x="7144" y="654378"/>
                </a:lnTo>
                <a:lnTo>
                  <a:pt x="3572" y="645567"/>
                </a:lnTo>
                <a:lnTo>
                  <a:pt x="0" y="623312"/>
                </a:lnTo>
                <a:close/>
              </a:path>
            </a:pathLst>
          </a:custGeom>
          <a:solidFill>
            <a:srgbClr val="FAB753"/>
          </a:solidFill>
          <a:ln/>
        </p:spPr>
        <p:txBody>
          <a:bodyPr wrap="square" rtlCol="0" anchor="t"/>
          <a:lstStyle/>
          <a:p>
            <a:pPr marL="0" indent="0">
              <a:buNone/>
            </a:pPr>
            <a:endParaRPr lang="en-US" dirty="0"/>
          </a:p>
        </p:txBody>
      </p:sp>
      <p:sp>
        <p:nvSpPr>
          <p:cNvPr id="24" name="Text 22"/>
          <p:cNvSpPr/>
          <p:nvPr/>
        </p:nvSpPr>
        <p:spPr>
          <a:xfrm>
            <a:off x="1101625" y="977280"/>
            <a:ext cx="8279517" cy="159990"/>
          </a:xfrm>
          <a:prstGeom prst="rect">
            <a:avLst/>
          </a:prstGeom>
          <a:noFill/>
          <a:ln/>
        </p:spPr>
        <p:txBody>
          <a:bodyPr wrap="none" lIns="0" tIns="0" rIns="0" bIns="0" rtlCol="0" anchor="t"/>
          <a:lstStyle/>
          <a:p>
            <a:pPr marL="0" indent="0" algn="l">
              <a:lnSpc>
                <a:spcPts val="1260"/>
              </a:lnSpc>
              <a:buNone/>
            </a:pPr>
            <a:r>
              <a:rPr lang="en-US" sz="800" b="1" kern="0" spc="10" dirty="0">
                <a:solidFill>
                  <a:srgbClr val="B87C1A"/>
                </a:solidFill>
                <a:latin typeface="Calibri" pitchFamily="34" charset="0"/>
                <a:ea typeface="Calibri" pitchFamily="34" charset="-122"/>
                <a:cs typeface="Calibri" pitchFamily="34" charset="-120"/>
              </a:rPr>
              <a:t>MONTH</a:t>
            </a:r>
            <a:r>
              <a:rPr lang="en-US" sz="840" b="1" kern="0" spc="10" dirty="0">
                <a:solidFill>
                  <a:srgbClr val="B87C1A"/>
                </a:solidFill>
                <a:latin typeface="Calibri" pitchFamily="34" charset="0"/>
                <a:ea typeface="Calibri" pitchFamily="34" charset="-122"/>
                <a:cs typeface="Calibri" pitchFamily="34" charset="-120"/>
              </a:rPr>
              <a:t> 1 – Hire month 0%</a:t>
            </a:r>
            <a:endParaRPr lang="en-US" sz="840" dirty="0"/>
          </a:p>
        </p:txBody>
      </p:sp>
      <p:sp>
        <p:nvSpPr>
          <p:cNvPr id="25" name="Text 23"/>
          <p:cNvSpPr/>
          <p:nvPr/>
        </p:nvSpPr>
        <p:spPr>
          <a:xfrm>
            <a:off x="1079450" y="1119485"/>
            <a:ext cx="8279517" cy="146149"/>
          </a:xfrm>
          <a:prstGeom prst="rect">
            <a:avLst/>
          </a:prstGeom>
          <a:noFill/>
          <a:ln/>
        </p:spPr>
        <p:txBody>
          <a:bodyPr wrap="none" lIns="0" tIns="0" rIns="0" bIns="0" rtlCol="0" anchor="t"/>
          <a:lstStyle/>
          <a:p>
            <a:pPr marL="0" indent="0" algn="l">
              <a:lnSpc>
                <a:spcPts val="1152"/>
              </a:lnSpc>
              <a:buNone/>
            </a:pPr>
            <a:endParaRPr lang="en-US" sz="960" dirty="0"/>
          </a:p>
        </p:txBody>
      </p:sp>
      <p:sp>
        <p:nvSpPr>
          <p:cNvPr id="26" name="Text 24"/>
          <p:cNvSpPr/>
          <p:nvPr/>
        </p:nvSpPr>
        <p:spPr>
          <a:xfrm>
            <a:off x="1101625" y="1176454"/>
            <a:ext cx="8279517" cy="151061"/>
          </a:xfrm>
          <a:prstGeom prst="rect">
            <a:avLst/>
          </a:prstGeom>
          <a:noFill/>
          <a:ln/>
        </p:spPr>
        <p:txBody>
          <a:bodyPr wrap="none" lIns="0" tIns="0" rIns="0" bIns="0" rtlCol="0" anchor="t"/>
          <a:lstStyle/>
          <a:p>
            <a:pPr marL="0" indent="0" algn="l">
              <a:lnSpc>
                <a:spcPts val="1189"/>
              </a:lnSpc>
              <a:buNone/>
            </a:pPr>
            <a:r>
              <a:rPr lang="en-US" sz="820" dirty="0">
                <a:solidFill>
                  <a:srgbClr val="444444"/>
                </a:solidFill>
                <a:latin typeface="Calibri" pitchFamily="34" charset="0"/>
                <a:ea typeface="Calibri" pitchFamily="34" charset="-122"/>
                <a:cs typeface="Calibri" pitchFamily="34" charset="-120"/>
              </a:rPr>
              <a:t>Your first month will be learning the expectations, and how to meet them.  Focus on learning how to use all the resources and tools provided in trainings.</a:t>
            </a:r>
            <a:endParaRPr lang="en-US" sz="820" dirty="0"/>
          </a:p>
        </p:txBody>
      </p:sp>
      <p:sp>
        <p:nvSpPr>
          <p:cNvPr id="27" name="Text 25"/>
          <p:cNvSpPr/>
          <p:nvPr/>
        </p:nvSpPr>
        <p:spPr>
          <a:xfrm>
            <a:off x="700980" y="1963043"/>
            <a:ext cx="228600" cy="21580"/>
          </a:xfrm>
          <a:prstGeom prst="rect">
            <a:avLst/>
          </a:prstGeom>
          <a:solidFill>
            <a:srgbClr val="D0E8E8"/>
          </a:solidFill>
          <a:ln/>
        </p:spPr>
        <p:txBody>
          <a:bodyPr wrap="none" rtlCol="0" anchor="t"/>
          <a:lstStyle/>
          <a:p>
            <a:pPr marL="0" indent="0">
              <a:buNone/>
            </a:pPr>
            <a:endParaRPr lang="en-US" dirty="0"/>
          </a:p>
        </p:txBody>
      </p:sp>
      <p:sp>
        <p:nvSpPr>
          <p:cNvPr id="28" name="Text 26"/>
          <p:cNvSpPr/>
          <p:nvPr/>
        </p:nvSpPr>
        <p:spPr>
          <a:xfrm>
            <a:off x="929580" y="1626691"/>
            <a:ext cx="7842349" cy="694432"/>
          </a:xfrm>
          <a:prstGeom prst="roundRect">
            <a:avLst>
              <a:gd name="adj" fmla="val 10241"/>
            </a:avLst>
          </a:prstGeom>
          <a:solidFill>
            <a:srgbClr val="EAF4F4"/>
          </a:solidFill>
          <a:ln/>
        </p:spPr>
        <p:txBody>
          <a:bodyPr wrap="square" rtlCol="0" anchor="t"/>
          <a:lstStyle/>
          <a:p>
            <a:pPr marL="0" indent="0">
              <a:buNone/>
            </a:pPr>
            <a:endParaRPr lang="en-US" dirty="0"/>
          </a:p>
        </p:txBody>
      </p:sp>
      <p:sp>
        <p:nvSpPr>
          <p:cNvPr id="29" name="Text 27"/>
          <p:cNvSpPr/>
          <p:nvPr/>
        </p:nvSpPr>
        <p:spPr>
          <a:xfrm>
            <a:off x="929580" y="1626691"/>
            <a:ext cx="28575" cy="694432"/>
          </a:xfrm>
          <a:custGeom>
            <a:avLst/>
            <a:gdLst/>
            <a:ahLst/>
            <a:cxnLst/>
            <a:rect l="l" t="t" r="r" b="b"/>
            <a:pathLst>
              <a:path w="28575" h="694432">
                <a:moveTo>
                  <a:pt x="0" y="71120"/>
                </a:moveTo>
                <a:lnTo>
                  <a:pt x="3572" y="48865"/>
                </a:lnTo>
                <a:lnTo>
                  <a:pt x="7144" y="40054"/>
                </a:lnTo>
                <a:lnTo>
                  <a:pt x="10716" y="33579"/>
                </a:lnTo>
                <a:lnTo>
                  <a:pt x="14288" y="28363"/>
                </a:lnTo>
                <a:lnTo>
                  <a:pt x="17859" y="23989"/>
                </a:lnTo>
                <a:lnTo>
                  <a:pt x="21431" y="20237"/>
                </a:lnTo>
                <a:lnTo>
                  <a:pt x="25003" y="16979"/>
                </a:lnTo>
                <a:lnTo>
                  <a:pt x="28575" y="14129"/>
                </a:lnTo>
                <a:lnTo>
                  <a:pt x="28575" y="680303"/>
                </a:lnTo>
                <a:lnTo>
                  <a:pt x="25003" y="677453"/>
                </a:lnTo>
                <a:lnTo>
                  <a:pt x="21431" y="674195"/>
                </a:lnTo>
                <a:lnTo>
                  <a:pt x="17859" y="670443"/>
                </a:lnTo>
                <a:lnTo>
                  <a:pt x="14288" y="666069"/>
                </a:lnTo>
                <a:lnTo>
                  <a:pt x="10716" y="660854"/>
                </a:lnTo>
                <a:lnTo>
                  <a:pt x="7144" y="654378"/>
                </a:lnTo>
                <a:lnTo>
                  <a:pt x="3572" y="645567"/>
                </a:lnTo>
                <a:lnTo>
                  <a:pt x="0" y="623312"/>
                </a:lnTo>
                <a:close/>
              </a:path>
            </a:pathLst>
          </a:custGeom>
          <a:solidFill>
            <a:srgbClr val="55A49C"/>
          </a:solidFill>
          <a:ln/>
        </p:spPr>
        <p:txBody>
          <a:bodyPr wrap="square" rtlCol="0" anchor="t"/>
          <a:lstStyle/>
          <a:p>
            <a:pPr marL="0" indent="0">
              <a:buNone/>
            </a:pPr>
            <a:endParaRPr lang="en-US" dirty="0"/>
          </a:p>
        </p:txBody>
      </p:sp>
      <p:sp>
        <p:nvSpPr>
          <p:cNvPr id="30" name="Text 28"/>
          <p:cNvSpPr/>
          <p:nvPr/>
        </p:nvSpPr>
        <p:spPr>
          <a:xfrm>
            <a:off x="1090462" y="1663560"/>
            <a:ext cx="8279517" cy="159990"/>
          </a:xfrm>
          <a:prstGeom prst="rect">
            <a:avLst/>
          </a:prstGeom>
          <a:noFill/>
          <a:ln/>
        </p:spPr>
        <p:txBody>
          <a:bodyPr wrap="none" lIns="0" tIns="0" rIns="0" bIns="0" rtlCol="0" anchor="t"/>
          <a:lstStyle/>
          <a:p>
            <a:pPr marL="0" indent="0" algn="l">
              <a:lnSpc>
                <a:spcPts val="1260"/>
              </a:lnSpc>
              <a:buNone/>
            </a:pPr>
            <a:r>
              <a:rPr lang="en-US" sz="800" b="1" kern="0" spc="10" dirty="0">
                <a:solidFill>
                  <a:srgbClr val="1B5E72"/>
                </a:solidFill>
                <a:latin typeface="Calibri" pitchFamily="34" charset="0"/>
                <a:ea typeface="Calibri" pitchFamily="34" charset="-122"/>
                <a:cs typeface="Calibri" pitchFamily="34" charset="-120"/>
              </a:rPr>
              <a:t>MONTH 2 -- +25%</a:t>
            </a:r>
            <a:endParaRPr lang="en-US" sz="800" dirty="0"/>
          </a:p>
        </p:txBody>
      </p:sp>
      <p:sp>
        <p:nvSpPr>
          <p:cNvPr id="31" name="Text 29"/>
          <p:cNvSpPr/>
          <p:nvPr/>
        </p:nvSpPr>
        <p:spPr>
          <a:xfrm>
            <a:off x="1593996" y="1692141"/>
            <a:ext cx="588095" cy="146149"/>
          </a:xfrm>
          <a:prstGeom prst="rect">
            <a:avLst/>
          </a:prstGeom>
          <a:noFill/>
          <a:ln/>
        </p:spPr>
        <p:txBody>
          <a:bodyPr wrap="none" lIns="0" tIns="0" rIns="0" bIns="0" rtlCol="0" anchor="t"/>
          <a:lstStyle/>
          <a:p>
            <a:pPr marL="0" indent="0" algn="l">
              <a:lnSpc>
                <a:spcPts val="1152"/>
              </a:lnSpc>
              <a:buNone/>
            </a:pPr>
            <a:endParaRPr lang="en-US" sz="960" dirty="0"/>
          </a:p>
        </p:txBody>
      </p:sp>
      <p:sp>
        <p:nvSpPr>
          <p:cNvPr id="32" name="Text 30"/>
          <p:cNvSpPr/>
          <p:nvPr/>
        </p:nvSpPr>
        <p:spPr>
          <a:xfrm>
            <a:off x="1101625" y="1834009"/>
            <a:ext cx="8279517" cy="151061"/>
          </a:xfrm>
          <a:prstGeom prst="rect">
            <a:avLst/>
          </a:prstGeom>
          <a:noFill/>
          <a:ln/>
        </p:spPr>
        <p:txBody>
          <a:bodyPr wrap="none" lIns="0" tIns="0" rIns="0" bIns="0" rtlCol="0" anchor="t"/>
          <a:lstStyle/>
          <a:p>
            <a:pPr marL="0" indent="0" algn="l">
              <a:lnSpc>
                <a:spcPts val="1189"/>
              </a:lnSpc>
              <a:buNone/>
            </a:pPr>
            <a:r>
              <a:rPr lang="en-US" sz="820" dirty="0">
                <a:solidFill>
                  <a:srgbClr val="444444"/>
                </a:solidFill>
                <a:latin typeface="Calibri" pitchFamily="34" charset="0"/>
                <a:ea typeface="Calibri" pitchFamily="34" charset="-122"/>
                <a:cs typeface="Calibri" pitchFamily="34" charset="-120"/>
              </a:rPr>
              <a:t>As you become acclimated to your school’s culture, it is crucial that you build rapport with parents, balance scheduling individual sessions and family or parenting sessions, </a:t>
            </a:r>
          </a:p>
          <a:p>
            <a:pPr marL="0" indent="0" algn="l">
              <a:lnSpc>
                <a:spcPts val="1189"/>
              </a:lnSpc>
              <a:buNone/>
            </a:pPr>
            <a:r>
              <a:rPr lang="en-US" sz="820" dirty="0">
                <a:solidFill>
                  <a:srgbClr val="444444"/>
                </a:solidFill>
                <a:latin typeface="Calibri" pitchFamily="34" charset="0"/>
                <a:cs typeface="Calibri" pitchFamily="34" charset="-120"/>
              </a:rPr>
              <a:t>And run groups.  If starting with a caseload lower than 15, it is important you are actively growing your caseload and aiming to complete 3-4 intakes per month during the </a:t>
            </a:r>
          </a:p>
          <a:p>
            <a:pPr marL="0" indent="0" algn="l">
              <a:lnSpc>
                <a:spcPts val="1189"/>
              </a:lnSpc>
              <a:buNone/>
            </a:pPr>
            <a:r>
              <a:rPr lang="en-US" sz="820" dirty="0">
                <a:solidFill>
                  <a:srgbClr val="444444"/>
                </a:solidFill>
                <a:latin typeface="Calibri" pitchFamily="34" charset="0"/>
                <a:cs typeface="Calibri" pitchFamily="34" charset="-120"/>
              </a:rPr>
              <a:t>ramp up period.</a:t>
            </a:r>
            <a:endParaRPr lang="en-US" sz="820" dirty="0"/>
          </a:p>
        </p:txBody>
      </p:sp>
      <p:sp>
        <p:nvSpPr>
          <p:cNvPr id="33" name="Text 31"/>
          <p:cNvSpPr/>
          <p:nvPr/>
        </p:nvSpPr>
        <p:spPr>
          <a:xfrm>
            <a:off x="700980" y="2757785"/>
            <a:ext cx="228600" cy="21580"/>
          </a:xfrm>
          <a:prstGeom prst="rect">
            <a:avLst/>
          </a:prstGeom>
          <a:solidFill>
            <a:srgbClr val="D0E8E8"/>
          </a:solidFill>
          <a:ln/>
        </p:spPr>
        <p:txBody>
          <a:bodyPr wrap="none" rtlCol="0" anchor="t"/>
          <a:lstStyle/>
          <a:p>
            <a:pPr marL="0" indent="0">
              <a:buNone/>
            </a:pPr>
            <a:endParaRPr lang="en-US" dirty="0"/>
          </a:p>
        </p:txBody>
      </p:sp>
      <p:sp>
        <p:nvSpPr>
          <p:cNvPr id="34" name="Text 32"/>
          <p:cNvSpPr/>
          <p:nvPr/>
        </p:nvSpPr>
        <p:spPr>
          <a:xfrm>
            <a:off x="929580" y="2421434"/>
            <a:ext cx="7842349" cy="694432"/>
          </a:xfrm>
          <a:prstGeom prst="roundRect">
            <a:avLst>
              <a:gd name="adj" fmla="val 10241"/>
            </a:avLst>
          </a:prstGeom>
          <a:solidFill>
            <a:srgbClr val="EAF4F4"/>
          </a:solidFill>
          <a:ln/>
        </p:spPr>
        <p:txBody>
          <a:bodyPr wrap="square" rtlCol="0" anchor="t"/>
          <a:lstStyle/>
          <a:p>
            <a:pPr marL="0" indent="0">
              <a:buNone/>
            </a:pPr>
            <a:endParaRPr lang="en-US" dirty="0"/>
          </a:p>
        </p:txBody>
      </p:sp>
      <p:sp>
        <p:nvSpPr>
          <p:cNvPr id="35" name="Text 33"/>
          <p:cNvSpPr/>
          <p:nvPr/>
        </p:nvSpPr>
        <p:spPr>
          <a:xfrm>
            <a:off x="929580" y="2421434"/>
            <a:ext cx="28575" cy="694432"/>
          </a:xfrm>
          <a:custGeom>
            <a:avLst/>
            <a:gdLst/>
            <a:ahLst/>
            <a:cxnLst/>
            <a:rect l="l" t="t" r="r" b="b"/>
            <a:pathLst>
              <a:path w="28575" h="694432">
                <a:moveTo>
                  <a:pt x="0" y="71120"/>
                </a:moveTo>
                <a:lnTo>
                  <a:pt x="3572" y="48865"/>
                </a:lnTo>
                <a:lnTo>
                  <a:pt x="7144" y="40054"/>
                </a:lnTo>
                <a:lnTo>
                  <a:pt x="10716" y="33579"/>
                </a:lnTo>
                <a:lnTo>
                  <a:pt x="14288" y="28363"/>
                </a:lnTo>
                <a:lnTo>
                  <a:pt x="17859" y="23989"/>
                </a:lnTo>
                <a:lnTo>
                  <a:pt x="21431" y="20237"/>
                </a:lnTo>
                <a:lnTo>
                  <a:pt x="25003" y="16979"/>
                </a:lnTo>
                <a:lnTo>
                  <a:pt x="28575" y="14129"/>
                </a:lnTo>
                <a:lnTo>
                  <a:pt x="28575" y="680303"/>
                </a:lnTo>
                <a:lnTo>
                  <a:pt x="25003" y="677453"/>
                </a:lnTo>
                <a:lnTo>
                  <a:pt x="21431" y="674195"/>
                </a:lnTo>
                <a:lnTo>
                  <a:pt x="17859" y="670443"/>
                </a:lnTo>
                <a:lnTo>
                  <a:pt x="14288" y="666069"/>
                </a:lnTo>
                <a:lnTo>
                  <a:pt x="10716" y="660854"/>
                </a:lnTo>
                <a:lnTo>
                  <a:pt x="7144" y="654378"/>
                </a:lnTo>
                <a:lnTo>
                  <a:pt x="3572" y="645567"/>
                </a:lnTo>
                <a:lnTo>
                  <a:pt x="0" y="623312"/>
                </a:lnTo>
                <a:close/>
              </a:path>
            </a:pathLst>
          </a:custGeom>
          <a:solidFill>
            <a:srgbClr val="FAB753"/>
          </a:solidFill>
          <a:ln/>
        </p:spPr>
        <p:txBody>
          <a:bodyPr wrap="square" rtlCol="0" anchor="t"/>
          <a:lstStyle/>
          <a:p>
            <a:pPr marL="0" indent="0">
              <a:buNone/>
            </a:pPr>
            <a:endParaRPr lang="en-US" dirty="0"/>
          </a:p>
        </p:txBody>
      </p:sp>
      <p:sp>
        <p:nvSpPr>
          <p:cNvPr id="36" name="Text 34"/>
          <p:cNvSpPr/>
          <p:nvPr/>
        </p:nvSpPr>
        <p:spPr>
          <a:xfrm>
            <a:off x="1101626" y="2514005"/>
            <a:ext cx="8279517" cy="159990"/>
          </a:xfrm>
          <a:prstGeom prst="rect">
            <a:avLst/>
          </a:prstGeom>
          <a:noFill/>
          <a:ln/>
        </p:spPr>
        <p:txBody>
          <a:bodyPr wrap="none" lIns="0" tIns="0" rIns="0" bIns="0" rtlCol="0" anchor="t"/>
          <a:lstStyle/>
          <a:p>
            <a:pPr marL="0" indent="0" algn="l">
              <a:lnSpc>
                <a:spcPts val="1260"/>
              </a:lnSpc>
              <a:buNone/>
            </a:pPr>
            <a:r>
              <a:rPr lang="en-US" sz="840" b="1" kern="0" spc="10" dirty="0">
                <a:solidFill>
                  <a:srgbClr val="B87C1A"/>
                </a:solidFill>
                <a:latin typeface="Calibri" pitchFamily="34" charset="0"/>
                <a:ea typeface="Calibri" pitchFamily="34" charset="-122"/>
                <a:cs typeface="Calibri" pitchFamily="34" charset="-120"/>
              </a:rPr>
              <a:t>Month 3 – 50%     Month 4-5 – 75%</a:t>
            </a:r>
            <a:endParaRPr lang="en-US" sz="840" dirty="0"/>
          </a:p>
        </p:txBody>
      </p:sp>
      <p:sp>
        <p:nvSpPr>
          <p:cNvPr id="37" name="Text 35"/>
          <p:cNvSpPr/>
          <p:nvPr/>
        </p:nvSpPr>
        <p:spPr>
          <a:xfrm>
            <a:off x="1101626" y="2703165"/>
            <a:ext cx="8279517" cy="146149"/>
          </a:xfrm>
          <a:prstGeom prst="rect">
            <a:avLst/>
          </a:prstGeom>
          <a:noFill/>
          <a:ln/>
        </p:spPr>
        <p:txBody>
          <a:bodyPr wrap="none" lIns="0" tIns="0" rIns="0" bIns="0" rtlCol="0" anchor="t"/>
          <a:lstStyle/>
          <a:p>
            <a:pPr marL="0" indent="0" algn="l">
              <a:lnSpc>
                <a:spcPts val="1152"/>
              </a:lnSpc>
              <a:buNone/>
            </a:pPr>
            <a:endParaRPr lang="en-US" sz="960" dirty="0"/>
          </a:p>
        </p:txBody>
      </p:sp>
      <p:sp>
        <p:nvSpPr>
          <p:cNvPr id="38" name="Text 36"/>
          <p:cNvSpPr/>
          <p:nvPr/>
        </p:nvSpPr>
        <p:spPr>
          <a:xfrm>
            <a:off x="1101625" y="2712871"/>
            <a:ext cx="8279517" cy="151061"/>
          </a:xfrm>
          <a:prstGeom prst="rect">
            <a:avLst/>
          </a:prstGeom>
          <a:noFill/>
          <a:ln/>
        </p:spPr>
        <p:txBody>
          <a:bodyPr wrap="none" lIns="0" tIns="0" rIns="0" bIns="0" rtlCol="0" anchor="t"/>
          <a:lstStyle/>
          <a:p>
            <a:pPr marL="0" indent="0" algn="l">
              <a:lnSpc>
                <a:spcPts val="1189"/>
              </a:lnSpc>
              <a:buNone/>
            </a:pPr>
            <a:r>
              <a:rPr lang="en-US" sz="820" dirty="0">
                <a:solidFill>
                  <a:srgbClr val="444444"/>
                </a:solidFill>
                <a:latin typeface="Calibri" pitchFamily="34" charset="0"/>
                <a:ea typeface="Calibri" pitchFamily="34" charset="-122"/>
                <a:cs typeface="Calibri" pitchFamily="34" charset="-120"/>
              </a:rPr>
              <a:t>This is where you need to be intentional with your time, the habits you set aren’t as easy to break.  Challenge yourself.  Set goals for yourself.  And celebrate win you</a:t>
            </a:r>
          </a:p>
          <a:p>
            <a:pPr marL="0" indent="0" algn="l">
              <a:lnSpc>
                <a:spcPts val="1189"/>
              </a:lnSpc>
              <a:buNone/>
            </a:pPr>
            <a:r>
              <a:rPr lang="en-US" sz="820" dirty="0">
                <a:solidFill>
                  <a:srgbClr val="444444"/>
                </a:solidFill>
                <a:latin typeface="Calibri" pitchFamily="34" charset="0"/>
                <a:ea typeface="Calibri" pitchFamily="34" charset="-122"/>
                <a:cs typeface="Calibri" pitchFamily="34" charset="-120"/>
              </a:rPr>
              <a:t>Achieve them!</a:t>
            </a:r>
          </a:p>
        </p:txBody>
      </p:sp>
      <p:sp>
        <p:nvSpPr>
          <p:cNvPr id="39" name="Text 37"/>
          <p:cNvSpPr/>
          <p:nvPr/>
        </p:nvSpPr>
        <p:spPr>
          <a:xfrm>
            <a:off x="700980" y="3628132"/>
            <a:ext cx="228600" cy="21580"/>
          </a:xfrm>
          <a:prstGeom prst="rect">
            <a:avLst/>
          </a:prstGeom>
          <a:solidFill>
            <a:srgbClr val="D0E8E8"/>
          </a:solidFill>
          <a:ln/>
        </p:spPr>
        <p:txBody>
          <a:bodyPr wrap="none" rtlCol="0" anchor="t"/>
          <a:lstStyle/>
          <a:p>
            <a:pPr marL="0" indent="0">
              <a:buNone/>
            </a:pPr>
            <a:endParaRPr lang="en-US" dirty="0"/>
          </a:p>
        </p:txBody>
      </p:sp>
      <p:sp>
        <p:nvSpPr>
          <p:cNvPr id="40" name="Text 38"/>
          <p:cNvSpPr/>
          <p:nvPr/>
        </p:nvSpPr>
        <p:spPr>
          <a:xfrm>
            <a:off x="929580" y="3216176"/>
            <a:ext cx="7842349" cy="845493"/>
          </a:xfrm>
          <a:prstGeom prst="roundRect">
            <a:avLst>
              <a:gd name="adj" fmla="val 8412"/>
            </a:avLst>
          </a:prstGeom>
          <a:solidFill>
            <a:srgbClr val="EAF4F4"/>
          </a:solidFill>
          <a:ln/>
        </p:spPr>
        <p:txBody>
          <a:bodyPr wrap="square" rtlCol="0" anchor="t"/>
          <a:lstStyle/>
          <a:p>
            <a:pPr marL="0" indent="0">
              <a:buNone/>
            </a:pPr>
            <a:endParaRPr lang="en-US" dirty="0"/>
          </a:p>
        </p:txBody>
      </p:sp>
      <p:sp>
        <p:nvSpPr>
          <p:cNvPr id="41" name="Text 39"/>
          <p:cNvSpPr/>
          <p:nvPr/>
        </p:nvSpPr>
        <p:spPr>
          <a:xfrm>
            <a:off x="929580" y="3216176"/>
            <a:ext cx="28575" cy="845493"/>
          </a:xfrm>
          <a:custGeom>
            <a:avLst/>
            <a:gdLst/>
            <a:ahLst/>
            <a:cxnLst/>
            <a:rect l="l" t="t" r="r" b="b"/>
            <a:pathLst>
              <a:path w="28575" h="845493">
                <a:moveTo>
                  <a:pt x="0" y="71120"/>
                </a:moveTo>
                <a:lnTo>
                  <a:pt x="3572" y="48865"/>
                </a:lnTo>
                <a:lnTo>
                  <a:pt x="7144" y="40054"/>
                </a:lnTo>
                <a:lnTo>
                  <a:pt x="10716" y="33579"/>
                </a:lnTo>
                <a:lnTo>
                  <a:pt x="14288" y="28363"/>
                </a:lnTo>
                <a:lnTo>
                  <a:pt x="17859" y="23989"/>
                </a:lnTo>
                <a:lnTo>
                  <a:pt x="21431" y="20237"/>
                </a:lnTo>
                <a:lnTo>
                  <a:pt x="25003" y="16979"/>
                </a:lnTo>
                <a:lnTo>
                  <a:pt x="28575" y="14129"/>
                </a:lnTo>
                <a:lnTo>
                  <a:pt x="28575" y="831364"/>
                </a:lnTo>
                <a:lnTo>
                  <a:pt x="25003" y="828514"/>
                </a:lnTo>
                <a:lnTo>
                  <a:pt x="21431" y="825256"/>
                </a:lnTo>
                <a:lnTo>
                  <a:pt x="17859" y="821504"/>
                </a:lnTo>
                <a:lnTo>
                  <a:pt x="14288" y="817129"/>
                </a:lnTo>
                <a:lnTo>
                  <a:pt x="10716" y="811914"/>
                </a:lnTo>
                <a:lnTo>
                  <a:pt x="7144" y="805439"/>
                </a:lnTo>
                <a:lnTo>
                  <a:pt x="3572" y="796628"/>
                </a:lnTo>
                <a:lnTo>
                  <a:pt x="0" y="774373"/>
                </a:lnTo>
                <a:close/>
              </a:path>
            </a:pathLst>
          </a:custGeom>
          <a:solidFill>
            <a:srgbClr val="55A49C"/>
          </a:solidFill>
          <a:ln/>
        </p:spPr>
        <p:txBody>
          <a:bodyPr wrap="square" rtlCol="0" anchor="t"/>
          <a:lstStyle/>
          <a:p>
            <a:pPr marL="0" indent="0">
              <a:buNone/>
            </a:pPr>
            <a:endParaRPr lang="en-US" dirty="0"/>
          </a:p>
        </p:txBody>
      </p:sp>
      <p:sp>
        <p:nvSpPr>
          <p:cNvPr id="42" name="Text 40"/>
          <p:cNvSpPr/>
          <p:nvPr/>
        </p:nvSpPr>
        <p:spPr>
          <a:xfrm>
            <a:off x="1101626" y="3308747"/>
            <a:ext cx="8279517" cy="159990"/>
          </a:xfrm>
          <a:prstGeom prst="rect">
            <a:avLst/>
          </a:prstGeom>
          <a:noFill/>
          <a:ln/>
        </p:spPr>
        <p:txBody>
          <a:bodyPr wrap="none" lIns="0" tIns="0" rIns="0" bIns="0" rtlCol="0" anchor="t"/>
          <a:lstStyle/>
          <a:p>
            <a:pPr marL="0" indent="0" algn="l">
              <a:lnSpc>
                <a:spcPts val="1260"/>
              </a:lnSpc>
              <a:buNone/>
            </a:pPr>
            <a:r>
              <a:rPr lang="en-US" sz="840" b="1" kern="0" spc="10" dirty="0">
                <a:solidFill>
                  <a:srgbClr val="1B5E72"/>
                </a:solidFill>
                <a:latin typeface="Calibri" pitchFamily="34" charset="0"/>
                <a:ea typeface="Calibri" pitchFamily="34" charset="-122"/>
                <a:cs typeface="Calibri" pitchFamily="34" charset="-120"/>
              </a:rPr>
              <a:t>Month 6 – 100% (Full expectation)</a:t>
            </a:r>
            <a:endParaRPr lang="en-US" sz="840" dirty="0"/>
          </a:p>
        </p:txBody>
      </p:sp>
      <p:sp>
        <p:nvSpPr>
          <p:cNvPr id="43" name="Text 41"/>
          <p:cNvSpPr/>
          <p:nvPr/>
        </p:nvSpPr>
        <p:spPr>
          <a:xfrm>
            <a:off x="1101626" y="3497907"/>
            <a:ext cx="8279517" cy="146149"/>
          </a:xfrm>
          <a:prstGeom prst="rect">
            <a:avLst/>
          </a:prstGeom>
          <a:noFill/>
          <a:ln/>
        </p:spPr>
        <p:txBody>
          <a:bodyPr wrap="none" lIns="0" tIns="0" rIns="0" bIns="0" rtlCol="0" anchor="t"/>
          <a:lstStyle/>
          <a:p>
            <a:pPr marL="0" indent="0" algn="l">
              <a:lnSpc>
                <a:spcPts val="1152"/>
              </a:lnSpc>
              <a:buNone/>
            </a:pPr>
            <a:r>
              <a:rPr lang="en-US" sz="960" b="1" dirty="0">
                <a:solidFill>
                  <a:srgbClr val="1B5E72"/>
                </a:solidFill>
                <a:latin typeface="Calibri Light" pitchFamily="34" charset="0"/>
                <a:ea typeface="Calibri Light" pitchFamily="34" charset="-122"/>
                <a:cs typeface="Calibri Light" pitchFamily="34" charset="-120"/>
              </a:rPr>
              <a:t>Incentive Eligible — Your Work Pays Off</a:t>
            </a:r>
            <a:endParaRPr lang="en-US" sz="960" dirty="0"/>
          </a:p>
        </p:txBody>
      </p:sp>
      <p:sp>
        <p:nvSpPr>
          <p:cNvPr id="44" name="Text 42"/>
          <p:cNvSpPr/>
          <p:nvPr/>
        </p:nvSpPr>
        <p:spPr>
          <a:xfrm>
            <a:off x="1101626" y="3673227"/>
            <a:ext cx="7677370" cy="317227"/>
          </a:xfrm>
          <a:prstGeom prst="rect">
            <a:avLst/>
          </a:prstGeom>
          <a:noFill/>
          <a:ln/>
        </p:spPr>
        <p:txBody>
          <a:bodyPr wrap="square" lIns="0" tIns="0" rIns="0" bIns="0" rtlCol="0" anchor="t"/>
          <a:lstStyle/>
          <a:p>
            <a:pPr marL="0" indent="0" algn="l">
              <a:lnSpc>
                <a:spcPts val="1189"/>
              </a:lnSpc>
              <a:buNone/>
            </a:pPr>
            <a:r>
              <a:rPr lang="en-US" sz="820" dirty="0">
                <a:solidFill>
                  <a:srgbClr val="444444"/>
                </a:solidFill>
                <a:latin typeface="Calibri" pitchFamily="34" charset="0"/>
                <a:ea typeface="Calibri" pitchFamily="34" charset="-122"/>
                <a:cs typeface="Calibri" pitchFamily="34" charset="-120"/>
              </a:rPr>
              <a:t>Once ramp-up is complete and you are at full expectation, you become eligible for monthly incentives. Non-school day sessions count toward your incentive calculation.</a:t>
            </a:r>
            <a:endParaRPr lang="en-US" sz="820" dirty="0"/>
          </a:p>
        </p:txBody>
      </p:sp>
      <p:sp>
        <p:nvSpPr>
          <p:cNvPr id="45" name="Text 43"/>
          <p:cNvSpPr/>
          <p:nvPr/>
        </p:nvSpPr>
        <p:spPr>
          <a:xfrm>
            <a:off x="372070" y="831949"/>
            <a:ext cx="328910" cy="328910"/>
          </a:xfrm>
          <a:prstGeom prst="ellipse">
            <a:avLst/>
          </a:prstGeom>
          <a:solidFill>
            <a:srgbClr val="FAB753"/>
          </a:solidFill>
          <a:ln w="19050">
            <a:solidFill>
              <a:srgbClr val="E8A030"/>
            </a:solidFill>
          </a:ln>
          <a:effectLst>
            <a:outerShdw blurRad="71120" dist="13970" dir="5400000" algn="bl" rotWithShape="0">
              <a:srgbClr val="000000">
                <a:alpha val="13000"/>
              </a:srgbClr>
            </a:outerShdw>
          </a:effectLst>
        </p:spPr>
        <p:txBody>
          <a:bodyPr wrap="square" rtlCol="0" anchor="t"/>
          <a:lstStyle/>
          <a:p>
            <a:pPr marL="0" indent="0">
              <a:buNone/>
            </a:pPr>
            <a:endParaRPr lang="en-US" dirty="0"/>
          </a:p>
        </p:txBody>
      </p:sp>
      <p:pic>
        <p:nvPicPr>
          <p:cNvPr id="4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0157" y="930036"/>
            <a:ext cx="132588" cy="132588"/>
          </a:xfrm>
          <a:prstGeom prst="rect">
            <a:avLst/>
          </a:prstGeom>
        </p:spPr>
      </p:pic>
      <p:sp>
        <p:nvSpPr>
          <p:cNvPr id="47" name="Text 44"/>
          <p:cNvSpPr/>
          <p:nvPr/>
        </p:nvSpPr>
        <p:spPr>
          <a:xfrm>
            <a:off x="372070" y="1626691"/>
            <a:ext cx="328910" cy="328910"/>
          </a:xfrm>
          <a:prstGeom prst="ellipse">
            <a:avLst/>
          </a:prstGeom>
          <a:solidFill>
            <a:srgbClr val="1B5E72"/>
          </a:solidFill>
          <a:ln w="19050">
            <a:solidFill>
              <a:srgbClr val="155267"/>
            </a:solidFill>
          </a:ln>
          <a:effectLst>
            <a:outerShdw blurRad="71120" dist="13970" dir="5400000" algn="bl" rotWithShape="0">
              <a:srgbClr val="000000">
                <a:alpha val="13000"/>
              </a:srgbClr>
            </a:outerShdw>
          </a:effectLst>
        </p:spPr>
        <p:txBody>
          <a:bodyPr wrap="square" rtlCol="0" anchor="t"/>
          <a:lstStyle/>
          <a:p>
            <a:pPr marL="0" indent="0">
              <a:buNone/>
            </a:pPr>
            <a:endParaRPr lang="en-US" dirty="0"/>
          </a:p>
        </p:txBody>
      </p:sp>
      <p:pic>
        <p:nvPicPr>
          <p:cNvPr id="4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157" y="1724778"/>
            <a:ext cx="132588" cy="132588"/>
          </a:xfrm>
          <a:prstGeom prst="rect">
            <a:avLst/>
          </a:prstGeom>
        </p:spPr>
      </p:pic>
      <p:sp>
        <p:nvSpPr>
          <p:cNvPr id="49" name="Text 45"/>
          <p:cNvSpPr/>
          <p:nvPr/>
        </p:nvSpPr>
        <p:spPr>
          <a:xfrm>
            <a:off x="372070" y="2421434"/>
            <a:ext cx="328910" cy="328910"/>
          </a:xfrm>
          <a:prstGeom prst="ellipse">
            <a:avLst/>
          </a:prstGeom>
          <a:solidFill>
            <a:srgbClr val="FAB753"/>
          </a:solidFill>
          <a:ln w="19050">
            <a:solidFill>
              <a:srgbClr val="E8A030"/>
            </a:solidFill>
          </a:ln>
          <a:effectLst>
            <a:outerShdw blurRad="71120" dist="13970" dir="5400000" algn="bl" rotWithShape="0">
              <a:srgbClr val="000000">
                <a:alpha val="13000"/>
              </a:srgbClr>
            </a:outerShdw>
          </a:effectLst>
        </p:spPr>
        <p:txBody>
          <a:bodyPr wrap="square" rtlCol="0" anchor="t"/>
          <a:lstStyle/>
          <a:p>
            <a:pPr marL="0" indent="0">
              <a:buNone/>
            </a:pPr>
            <a:endParaRPr lang="en-US" dirty="0"/>
          </a:p>
        </p:txBody>
      </p:sp>
      <p:pic>
        <p:nvPicPr>
          <p:cNvPr id="5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157" y="2519520"/>
            <a:ext cx="132588" cy="132588"/>
          </a:xfrm>
          <a:prstGeom prst="rect">
            <a:avLst/>
          </a:prstGeom>
        </p:spPr>
      </p:pic>
      <p:sp>
        <p:nvSpPr>
          <p:cNvPr id="51" name="Text 46"/>
          <p:cNvSpPr/>
          <p:nvPr/>
        </p:nvSpPr>
        <p:spPr>
          <a:xfrm>
            <a:off x="372070" y="3216176"/>
            <a:ext cx="328910" cy="328910"/>
          </a:xfrm>
          <a:prstGeom prst="ellipse">
            <a:avLst/>
          </a:prstGeom>
          <a:solidFill>
            <a:srgbClr val="1B5E72"/>
          </a:solidFill>
          <a:ln w="19050">
            <a:solidFill>
              <a:srgbClr val="155267"/>
            </a:solidFill>
          </a:ln>
          <a:effectLst>
            <a:outerShdw blurRad="71120" dist="13970" dir="5400000" algn="bl" rotWithShape="0">
              <a:srgbClr val="000000">
                <a:alpha val="13000"/>
              </a:srgbClr>
            </a:outerShdw>
          </a:effectLst>
        </p:spPr>
        <p:txBody>
          <a:bodyPr wrap="square" rtlCol="0" anchor="t"/>
          <a:lstStyle/>
          <a:p>
            <a:pPr marL="0" indent="0">
              <a:buNone/>
            </a:pPr>
            <a:endParaRPr lang="en-US" dirty="0"/>
          </a:p>
        </p:txBody>
      </p:sp>
      <p:pic>
        <p:nvPicPr>
          <p:cNvPr id="5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0157" y="3314262"/>
            <a:ext cx="132588" cy="1325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42947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85750" y="342900"/>
            <a:ext cx="804476" cy="129480"/>
          </a:xfrm>
          <a:prstGeom prst="rect">
            <a:avLst/>
          </a:prstGeom>
          <a:noFill/>
          <a:ln/>
        </p:spPr>
        <p:txBody>
          <a:bodyPr wrap="none" lIns="0" tIns="0" rIns="0" bIns="0" rtlCol="0" anchor="ctr"/>
          <a:lstStyle/>
          <a:p>
            <a:pPr marL="0" indent="0" algn="l">
              <a:lnSpc>
                <a:spcPts val="1020"/>
              </a:lnSpc>
              <a:buNone/>
            </a:pPr>
            <a:r>
              <a:rPr lang="en-US" sz="680" b="1" dirty="0">
                <a:solidFill>
                  <a:srgbClr val="FAB753"/>
                </a:solidFill>
                <a:latin typeface="Calibri" pitchFamily="34" charset="0"/>
                <a:ea typeface="Calibri" pitchFamily="34" charset="-122"/>
                <a:cs typeface="Calibri" pitchFamily="34" charset="-120"/>
              </a:rPr>
              <a:t>OBJECTIVE 2</a:t>
            </a:r>
            <a:endParaRPr lang="en-US" sz="680" dirty="0"/>
          </a:p>
        </p:txBody>
      </p:sp>
      <p:sp>
        <p:nvSpPr>
          <p:cNvPr id="4" name="Text 2"/>
          <p:cNvSpPr/>
          <p:nvPr/>
        </p:nvSpPr>
        <p:spPr>
          <a:xfrm>
            <a:off x="285750" y="600521"/>
            <a:ext cx="285750" cy="29170"/>
          </a:xfrm>
          <a:prstGeom prst="roundRect">
            <a:avLst>
              <a:gd name="adj" fmla="val 47892"/>
            </a:avLst>
          </a:prstGeom>
          <a:solidFill>
            <a:srgbClr val="FAB753"/>
          </a:solidFill>
          <a:ln/>
        </p:spPr>
        <p:txBody>
          <a:bodyPr wrap="none" rtlCol="0" anchor="t"/>
          <a:lstStyle/>
          <a:p>
            <a:pPr marL="0" indent="0">
              <a:buNone/>
            </a:pPr>
            <a:endParaRPr lang="en-US" dirty="0"/>
          </a:p>
        </p:txBody>
      </p:sp>
      <p:sp>
        <p:nvSpPr>
          <p:cNvPr id="5" name="Text 3"/>
          <p:cNvSpPr/>
          <p:nvPr/>
        </p:nvSpPr>
        <p:spPr>
          <a:xfrm>
            <a:off x="285750" y="787152"/>
            <a:ext cx="1923669" cy="540693"/>
          </a:xfrm>
          <a:prstGeom prst="rect">
            <a:avLst/>
          </a:prstGeom>
          <a:noFill/>
          <a:ln/>
        </p:spPr>
        <p:txBody>
          <a:bodyPr wrap="square" lIns="0" tIns="0" rIns="0" bIns="0" rtlCol="0" anchor="t"/>
          <a:lstStyle/>
          <a:p>
            <a:pPr marL="0" indent="0" algn="l">
              <a:lnSpc>
                <a:spcPts val="2028"/>
              </a:lnSpc>
              <a:buNone/>
            </a:pPr>
            <a:r>
              <a:rPr lang="en-US" sz="1690" b="1" dirty="0">
                <a:solidFill>
                  <a:srgbClr val="FFFFFF"/>
                </a:solidFill>
                <a:latin typeface="Calibri Light" pitchFamily="34" charset="0"/>
                <a:ea typeface="Calibri Light" pitchFamily="34" charset="-122"/>
                <a:cs typeface="Calibri Light" pitchFamily="34" charset="-120"/>
              </a:rPr>
              <a:t>Work-Life Balance Is a Clinical Skill</a:t>
            </a:r>
            <a:endParaRPr lang="en-US" sz="1690" dirty="0"/>
          </a:p>
        </p:txBody>
      </p:sp>
      <p:sp>
        <p:nvSpPr>
          <p:cNvPr id="6" name="Text 4"/>
          <p:cNvSpPr/>
          <p:nvPr/>
        </p:nvSpPr>
        <p:spPr>
          <a:xfrm>
            <a:off x="285750" y="1445568"/>
            <a:ext cx="1923669" cy="525066"/>
          </a:xfrm>
          <a:prstGeom prst="rect">
            <a:avLst/>
          </a:prstGeom>
          <a:noFill/>
          <a:ln/>
        </p:spPr>
        <p:txBody>
          <a:bodyPr wrap="square" lIns="0" tIns="0" rIns="0" bIns="0" rtlCol="0" anchor="t"/>
          <a:lstStyle/>
          <a:p>
            <a:pPr marL="0" indent="0" algn="l">
              <a:lnSpc>
                <a:spcPts val="1312"/>
              </a:lnSpc>
              <a:buNone/>
            </a:pPr>
            <a:r>
              <a:rPr lang="en-US" sz="820" i="1" dirty="0">
                <a:solidFill>
                  <a:srgbClr val="FFFFFF">
                    <a:alpha val="72000"/>
                  </a:srgbClr>
                </a:solidFill>
                <a:latin typeface="Calibri" pitchFamily="34" charset="0"/>
                <a:ea typeface="Calibri" pitchFamily="34" charset="-122"/>
                <a:cs typeface="Calibri" pitchFamily="34" charset="-120"/>
              </a:rPr>
              <a:t>Protecting balance early is not about doing less — it is about making productivity sustainable.</a:t>
            </a:r>
            <a:endParaRPr lang="en-US" sz="820" dirty="0"/>
          </a:p>
        </p:txBody>
      </p:sp>
      <p:sp>
        <p:nvSpPr>
          <p:cNvPr id="7" name="Text 5"/>
          <p:cNvSpPr/>
          <p:nvPr/>
        </p:nvSpPr>
        <p:spPr>
          <a:xfrm>
            <a:off x="942975" y="4286250"/>
            <a:ext cx="571500" cy="571500"/>
          </a:xfrm>
          <a:prstGeom prst="ellipse">
            <a:avLst/>
          </a:prstGeom>
          <a:solidFill>
            <a:srgbClr val="FAB753">
              <a:alpha val="15000"/>
            </a:srgbClr>
          </a:solidFill>
          <a:ln w="9525">
            <a:solidFill>
              <a:srgbClr val="FAB753">
                <a:alpha val="35000"/>
              </a:srgbClr>
            </a:solidFill>
          </a:ln>
        </p:spPr>
        <p:txBody>
          <a:bodyPr wrap="square" rtlCol="0" anchor="t"/>
          <a:lstStyle/>
          <a:p>
            <a:pPr marL="0" indent="0">
              <a:buNone/>
            </a:pPr>
            <a:endParaRPr lang="en-US"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1569" y="4464844"/>
            <a:ext cx="214313" cy="214313"/>
          </a:xfrm>
          <a:prstGeom prst="rect">
            <a:avLst/>
          </a:prstGeom>
        </p:spPr>
      </p:pic>
      <p:sp>
        <p:nvSpPr>
          <p:cNvPr id="9" name="Text 6"/>
          <p:cNvSpPr/>
          <p:nvPr/>
        </p:nvSpPr>
        <p:spPr>
          <a:xfrm>
            <a:off x="2429470" y="0"/>
            <a:ext cx="6714530" cy="5143500"/>
          </a:xfrm>
          <a:prstGeom prst="rect">
            <a:avLst/>
          </a:prstGeom>
          <a:solidFill>
            <a:srgbClr val="FFFFFF"/>
          </a:solidFill>
          <a:ln/>
        </p:spPr>
        <p:txBody>
          <a:bodyPr wrap="square" rtlCol="0" anchor="t"/>
          <a:lstStyle/>
          <a:p>
            <a:pPr marL="0" indent="0">
              <a:buNone/>
            </a:pPr>
            <a:endParaRPr lang="en-US" dirty="0"/>
          </a:p>
        </p:txBody>
      </p:sp>
      <p:sp>
        <p:nvSpPr>
          <p:cNvPr id="10" name="Text 7"/>
          <p:cNvSpPr/>
          <p:nvPr/>
        </p:nvSpPr>
        <p:spPr>
          <a:xfrm>
            <a:off x="2744391" y="257770"/>
            <a:ext cx="6206383" cy="353020"/>
          </a:xfrm>
          <a:prstGeom prst="rect">
            <a:avLst/>
          </a:prstGeom>
          <a:noFill/>
          <a:ln/>
        </p:spPr>
        <p:txBody>
          <a:bodyPr wrap="none" lIns="0" tIns="0" rIns="0" bIns="86360" rtlCol="0" anchor="t"/>
          <a:lstStyle/>
          <a:p>
            <a:pPr marL="0" indent="0" algn="l">
              <a:buNone/>
            </a:pPr>
            <a:r>
              <a:rPr lang="en-US" sz="1350" b="1" dirty="0">
                <a:solidFill>
                  <a:srgbClr val="1B5E72"/>
                </a:solidFill>
                <a:latin typeface="Calibri Light" pitchFamily="34" charset="0"/>
                <a:ea typeface="Calibri Light" pitchFamily="34" charset="-122"/>
                <a:cs typeface="Calibri Light" pitchFamily="34" charset="-120"/>
              </a:rPr>
              <a:t>Why This Belongs in a Scheduling Training</a:t>
            </a:r>
            <a:endParaRPr lang="en-US" sz="1350" dirty="0"/>
          </a:p>
        </p:txBody>
      </p:sp>
      <p:sp>
        <p:nvSpPr>
          <p:cNvPr id="11" name="Text 8"/>
          <p:cNvSpPr/>
          <p:nvPr/>
        </p:nvSpPr>
        <p:spPr>
          <a:xfrm>
            <a:off x="2744391" y="601266"/>
            <a:ext cx="6084689" cy="9525"/>
          </a:xfrm>
          <a:prstGeom prst="rect">
            <a:avLst/>
          </a:prstGeom>
          <a:solidFill>
            <a:srgbClr val="EAF4F4"/>
          </a:solidFill>
          <a:ln/>
        </p:spPr>
        <p:txBody>
          <a:bodyPr wrap="none" rtlCol="0" anchor="t"/>
          <a:lstStyle/>
          <a:p>
            <a:pPr marL="0" indent="0">
              <a:buNone/>
            </a:pPr>
            <a:endParaRPr lang="en-US" dirty="0"/>
          </a:p>
        </p:txBody>
      </p:sp>
      <p:sp>
        <p:nvSpPr>
          <p:cNvPr id="12" name="Text 9"/>
          <p:cNvSpPr/>
          <p:nvPr/>
        </p:nvSpPr>
        <p:spPr>
          <a:xfrm>
            <a:off x="2744391" y="789831"/>
            <a:ext cx="271760" cy="271760"/>
          </a:xfrm>
          <a:prstGeom prst="ellipse">
            <a:avLst/>
          </a:prstGeom>
          <a:solidFill>
            <a:srgbClr val="FAB753">
              <a:alpha val="15000"/>
            </a:srgbClr>
          </a:solidFill>
          <a:ln/>
        </p:spPr>
        <p:txBody>
          <a:bodyPr wrap="none" rtlCol="0" anchor="t"/>
          <a:lstStyle/>
          <a:p>
            <a:pPr marL="0" indent="0">
              <a:buNone/>
            </a:pPr>
            <a:endParaRPr lang="en-US"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3902" y="859343"/>
            <a:ext cx="132588" cy="132588"/>
          </a:xfrm>
          <a:prstGeom prst="rect">
            <a:avLst/>
          </a:prstGeom>
        </p:spPr>
      </p:pic>
      <p:sp>
        <p:nvSpPr>
          <p:cNvPr id="14" name="Text 10"/>
          <p:cNvSpPr/>
          <p:nvPr/>
        </p:nvSpPr>
        <p:spPr>
          <a:xfrm>
            <a:off x="3130451" y="782241"/>
            <a:ext cx="6268492"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Early patterns become permanent norms</a:t>
            </a:r>
            <a:endParaRPr lang="en-US" sz="870" dirty="0"/>
          </a:p>
        </p:txBody>
      </p:sp>
      <p:sp>
        <p:nvSpPr>
          <p:cNvPr id="15" name="Text 11"/>
          <p:cNvSpPr/>
          <p:nvPr/>
        </p:nvSpPr>
        <p:spPr>
          <a:xfrm>
            <a:off x="3130451" y="954881"/>
            <a:ext cx="5812601" cy="314102"/>
          </a:xfrm>
          <a:prstGeom prst="rect">
            <a:avLst/>
          </a:prstGeom>
          <a:noFill/>
          <a:ln/>
        </p:spPr>
        <p:txBody>
          <a:bodyPr wrap="square" lIns="0" tIns="0" rIns="0" bIns="0" rtlCol="0" anchor="t"/>
          <a:lstStyle/>
          <a:p>
            <a:pPr marL="0" indent="0" algn="l">
              <a:lnSpc>
                <a:spcPts val="1178"/>
              </a:lnSpc>
              <a:buNone/>
            </a:pPr>
            <a:r>
              <a:rPr lang="en-US" sz="760" dirty="0">
                <a:solidFill>
                  <a:srgbClr val="444444"/>
                </a:solidFill>
                <a:latin typeface="Calibri" pitchFamily="34" charset="0"/>
                <a:ea typeface="Calibri" pitchFamily="34" charset="-122"/>
                <a:cs typeface="Calibri" pitchFamily="34" charset="-120"/>
              </a:rPr>
              <a:t>Research shows that how clinicians structure and protect their time early in their career sets expectations that are difficult to undo. APA notes that early boundary setting is a protective factor against burnout.</a:t>
            </a:r>
            <a:endParaRPr lang="en-US" sz="760" dirty="0"/>
          </a:p>
        </p:txBody>
      </p:sp>
      <p:sp>
        <p:nvSpPr>
          <p:cNvPr id="16" name="Text 12"/>
          <p:cNvSpPr/>
          <p:nvPr/>
        </p:nvSpPr>
        <p:spPr>
          <a:xfrm>
            <a:off x="2744391" y="1389757"/>
            <a:ext cx="271760" cy="271760"/>
          </a:xfrm>
          <a:prstGeom prst="ellipse">
            <a:avLst/>
          </a:prstGeom>
          <a:solidFill>
            <a:srgbClr val="FAB753">
              <a:alpha val="15000"/>
            </a:srgbClr>
          </a:solidFill>
          <a:ln/>
        </p:spPr>
        <p:txBody>
          <a:bodyPr wrap="non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13902" y="1459269"/>
            <a:ext cx="132588" cy="132588"/>
          </a:xfrm>
          <a:prstGeom prst="rect">
            <a:avLst/>
          </a:prstGeom>
        </p:spPr>
      </p:pic>
      <p:sp>
        <p:nvSpPr>
          <p:cNvPr id="18" name="Text 13"/>
          <p:cNvSpPr/>
          <p:nvPr/>
        </p:nvSpPr>
        <p:spPr>
          <a:xfrm>
            <a:off x="3130451" y="1382167"/>
            <a:ext cx="6268492"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Quality of care declines when balance is reactive</a:t>
            </a:r>
            <a:endParaRPr lang="en-US" sz="870" dirty="0"/>
          </a:p>
        </p:txBody>
      </p:sp>
      <p:sp>
        <p:nvSpPr>
          <p:cNvPr id="19" name="Text 14"/>
          <p:cNvSpPr/>
          <p:nvPr/>
        </p:nvSpPr>
        <p:spPr>
          <a:xfrm>
            <a:off x="3130451" y="1554807"/>
            <a:ext cx="5812601" cy="471153"/>
          </a:xfrm>
          <a:prstGeom prst="rect">
            <a:avLst/>
          </a:prstGeom>
          <a:noFill/>
          <a:ln/>
        </p:spPr>
        <p:txBody>
          <a:bodyPr wrap="square" lIns="0" tIns="0" rIns="0" bIns="0" rtlCol="0" anchor="t"/>
          <a:lstStyle/>
          <a:p>
            <a:pPr marL="0" indent="0" algn="l">
              <a:lnSpc>
                <a:spcPts val="1178"/>
              </a:lnSpc>
              <a:buNone/>
            </a:pPr>
            <a:r>
              <a:rPr lang="en-US" sz="760" dirty="0">
                <a:solidFill>
                  <a:srgbClr val="444444"/>
                </a:solidFill>
                <a:latin typeface="Calibri" pitchFamily="34" charset="0"/>
                <a:ea typeface="Calibri" pitchFamily="34" charset="-122"/>
                <a:cs typeface="Calibri" pitchFamily="34" charset="-120"/>
              </a:rPr>
              <a:t>Burnout research consistently shows that emotional exhaustion reduces empathy, attention, and clinical effectiveness — even when service hours are technically being met. The American Psychological Association explicitly states that boundaries are not just self-care — they are necessary for effective therapy and ethical practice.</a:t>
            </a:r>
            <a:endParaRPr lang="en-US" sz="760" dirty="0"/>
          </a:p>
        </p:txBody>
      </p:sp>
      <p:sp>
        <p:nvSpPr>
          <p:cNvPr id="20" name="Text 15"/>
          <p:cNvSpPr/>
          <p:nvPr/>
        </p:nvSpPr>
        <p:spPr>
          <a:xfrm>
            <a:off x="2744391" y="2139255"/>
            <a:ext cx="271760" cy="271760"/>
          </a:xfrm>
          <a:prstGeom prst="ellipse">
            <a:avLst/>
          </a:prstGeom>
          <a:solidFill>
            <a:srgbClr val="FAB753">
              <a:alpha val="15000"/>
            </a:srgbClr>
          </a:solidFill>
          <a:ln/>
        </p:spPr>
        <p:txBody>
          <a:bodyPr wrap="none" rtlCol="0" anchor="t"/>
          <a:lstStyle/>
          <a:p>
            <a:pPr marL="0" indent="0">
              <a:buNone/>
            </a:pPr>
            <a:endParaRPr lang="en-US"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13902" y="2208767"/>
            <a:ext cx="132588" cy="132588"/>
          </a:xfrm>
          <a:prstGeom prst="rect">
            <a:avLst/>
          </a:prstGeom>
        </p:spPr>
      </p:pic>
      <p:sp>
        <p:nvSpPr>
          <p:cNvPr id="22" name="Text 16"/>
          <p:cNvSpPr/>
          <p:nvPr/>
        </p:nvSpPr>
        <p:spPr>
          <a:xfrm>
            <a:off x="3130451" y="2131665"/>
            <a:ext cx="6268492" cy="143470"/>
          </a:xfrm>
          <a:prstGeom prst="rect">
            <a:avLst/>
          </a:prstGeom>
          <a:noFill/>
          <a:ln/>
        </p:spPr>
        <p:txBody>
          <a:bodyPr wrap="none" lIns="0" tIns="0" rIns="0" bIns="0" rtlCol="0" anchor="t"/>
          <a:lstStyle/>
          <a:p>
            <a:pPr marL="0" indent="0" algn="l">
              <a:lnSpc>
                <a:spcPts val="1131"/>
              </a:lnSpc>
              <a:buNone/>
            </a:pPr>
            <a:r>
              <a:rPr lang="en-US" sz="870" b="1" dirty="0">
                <a:solidFill>
                  <a:srgbClr val="1B5E72"/>
                </a:solidFill>
                <a:latin typeface="Calibri" pitchFamily="34" charset="0"/>
                <a:ea typeface="Calibri" pitchFamily="34" charset="-122"/>
                <a:cs typeface="Calibri" pitchFamily="34" charset="-120"/>
              </a:rPr>
              <a:t>Early balance increases long-term productivity</a:t>
            </a:r>
            <a:endParaRPr lang="en-US" sz="870" dirty="0"/>
          </a:p>
        </p:txBody>
      </p:sp>
      <p:sp>
        <p:nvSpPr>
          <p:cNvPr id="23" name="Text 17"/>
          <p:cNvSpPr/>
          <p:nvPr/>
        </p:nvSpPr>
        <p:spPr>
          <a:xfrm>
            <a:off x="3130451" y="2304306"/>
            <a:ext cx="5812601" cy="471153"/>
          </a:xfrm>
          <a:prstGeom prst="rect">
            <a:avLst/>
          </a:prstGeom>
          <a:noFill/>
          <a:ln/>
        </p:spPr>
        <p:txBody>
          <a:bodyPr wrap="square" lIns="0" tIns="0" rIns="0" bIns="0" rtlCol="0" anchor="t"/>
          <a:lstStyle/>
          <a:p>
            <a:pPr marL="0" indent="0" algn="l">
              <a:lnSpc>
                <a:spcPts val="1178"/>
              </a:lnSpc>
              <a:buNone/>
            </a:pPr>
            <a:r>
              <a:rPr lang="en-US" sz="760" dirty="0">
                <a:solidFill>
                  <a:srgbClr val="444444"/>
                </a:solidFill>
                <a:latin typeface="Calibri" pitchFamily="34" charset="0"/>
                <a:ea typeface="Calibri" pitchFamily="34" charset="-122"/>
                <a:cs typeface="Calibri" pitchFamily="34" charset="-120"/>
              </a:rPr>
              <a:t>Research on early-career clinicians shows that work-life integration established early predicts career longevity, job satisfaction, and sustained performance. Lack of schedule control is directly linked to burnout and reduced career satisfaction — while early structure and support improve outcomes.</a:t>
            </a:r>
            <a:endParaRPr lang="en-US" sz="760" dirty="0"/>
          </a:p>
        </p:txBody>
      </p:sp>
      <p:sp>
        <p:nvSpPr>
          <p:cNvPr id="24" name="Text 18"/>
          <p:cNvSpPr/>
          <p:nvPr/>
        </p:nvSpPr>
        <p:spPr>
          <a:xfrm>
            <a:off x="2429470" y="4802088"/>
            <a:ext cx="6714530" cy="341412"/>
          </a:xfrm>
          <a:prstGeom prst="rect">
            <a:avLst/>
          </a:prstGeom>
          <a:solidFill>
            <a:srgbClr val="EAF4F4"/>
          </a:solidFill>
          <a:ln/>
        </p:spPr>
        <p:txBody>
          <a:bodyPr wrap="square" rtlCol="0" anchor="t"/>
          <a:lstStyle/>
          <a:p>
            <a:pPr marL="0" indent="0">
              <a:buNone/>
            </a:pPr>
            <a:endParaRPr lang="en-US" dirty="0"/>
          </a:p>
        </p:txBody>
      </p:sp>
      <p:sp>
        <p:nvSpPr>
          <p:cNvPr id="25" name="Text 19"/>
          <p:cNvSpPr/>
          <p:nvPr/>
        </p:nvSpPr>
        <p:spPr>
          <a:xfrm>
            <a:off x="2429470" y="4802088"/>
            <a:ext cx="28575" cy="341412"/>
          </a:xfrm>
          <a:prstGeom prst="rect">
            <a:avLst/>
          </a:prstGeom>
          <a:solidFill>
            <a:srgbClr val="FAB753"/>
          </a:solidFill>
          <a:ln/>
        </p:spPr>
        <p:txBody>
          <a:bodyPr wrap="square" rtlCol="0" anchor="t"/>
          <a:lstStyle/>
          <a:p>
            <a:pPr marL="0" indent="0">
              <a:buNone/>
            </a:pPr>
            <a:endParaRPr lang="en-US" dirty="0"/>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43818" y="4906500"/>
            <a:ext cx="132588" cy="132588"/>
          </a:xfrm>
          <a:prstGeom prst="rect">
            <a:avLst/>
          </a:prstGeom>
        </p:spPr>
      </p:pic>
      <p:sp>
        <p:nvSpPr>
          <p:cNvPr id="27" name="Text 20"/>
          <p:cNvSpPr/>
          <p:nvPr/>
        </p:nvSpPr>
        <p:spPr>
          <a:xfrm>
            <a:off x="4079632" y="4894659"/>
            <a:ext cx="3641914" cy="156270"/>
          </a:xfrm>
          <a:prstGeom prst="rect">
            <a:avLst/>
          </a:prstGeom>
          <a:noFill/>
          <a:ln/>
        </p:spPr>
        <p:txBody>
          <a:bodyPr wrap="none" lIns="0" tIns="0" rIns="0" bIns="0" rtlCol="0" anchor="ctr"/>
          <a:lstStyle/>
          <a:p>
            <a:pPr marL="0" indent="0" algn="ctr">
              <a:lnSpc>
                <a:spcPts val="1230"/>
              </a:lnSpc>
              <a:buNone/>
            </a:pPr>
            <a:r>
              <a:rPr lang="en-US" sz="820" b="1" dirty="0">
                <a:solidFill>
                  <a:srgbClr val="2C2C2C"/>
                </a:solidFill>
                <a:latin typeface="Calibri" pitchFamily="34" charset="0"/>
                <a:ea typeface="Calibri" pitchFamily="34" charset="-122"/>
                <a:cs typeface="Calibri" pitchFamily="34" charset="-120"/>
              </a:rPr>
              <a:t>Boundaries protect your clients just as much as they protect you.</a:t>
            </a:r>
            <a:endParaRPr lang="en-US" sz="820" dirty="0"/>
          </a:p>
        </p:txBody>
      </p:sp>
      <p:sp>
        <p:nvSpPr>
          <p:cNvPr id="28" name="Text 21"/>
          <p:cNvSpPr/>
          <p:nvPr/>
        </p:nvSpPr>
        <p:spPr>
          <a:xfrm>
            <a:off x="1286466" y="4000500"/>
            <a:ext cx="1572216" cy="1143000"/>
          </a:xfrm>
          <a:prstGeom prst="ellipse">
            <a:avLst/>
          </a:prstGeom>
          <a:solidFill>
            <a:srgbClr val="FFFFFF">
              <a:alpha val="4000"/>
            </a:srgbClr>
          </a:solidFill>
          <a:ln/>
        </p:spPr>
        <p:txBody>
          <a:bodyPr wrap="square" rtlCol="0" anchor="t"/>
          <a:lstStyle/>
          <a:p>
            <a:pPr marL="0" indent="0">
              <a:buNone/>
            </a:pPr>
            <a:endParaRPr lang="en-US" dirty="0"/>
          </a:p>
        </p:txBody>
      </p:sp>
      <p:sp>
        <p:nvSpPr>
          <p:cNvPr id="29" name="Text 22"/>
          <p:cNvSpPr/>
          <p:nvPr/>
        </p:nvSpPr>
        <p:spPr>
          <a:xfrm>
            <a:off x="0" y="0"/>
            <a:ext cx="857250" cy="857250"/>
          </a:xfrm>
          <a:prstGeom prst="ellipse">
            <a:avLst/>
          </a:prstGeom>
          <a:solidFill>
            <a:srgbClr val="FFFFFF">
              <a:alpha val="3000"/>
            </a:srgbClr>
          </a:solidFill>
          <a:ln/>
        </p:spPr>
        <p:txBody>
          <a:bodyPr wrap="square" rtlCol="0" anchor="t"/>
          <a:lstStyle/>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F2D37"/>
        </a:solidFill>
        <a:effectLst/>
      </p:bgPr>
    </p:bg>
    <p:spTree>
      <p:nvGrpSpPr>
        <p:cNvPr id="1" name=""/>
        <p:cNvGrpSpPr/>
        <p:nvPr/>
      </p:nvGrpSpPr>
      <p:grpSpPr>
        <a:xfrm>
          <a:off x="0" y="0"/>
          <a:ext cx="0" cy="0"/>
          <a:chOff x="0" y="0"/>
          <a:chExt cx="0" cy="0"/>
        </a:xfrm>
      </p:grpSpPr>
      <p:sp>
        <p:nvSpPr>
          <p:cNvPr id="30" name="Hour 12 AM"/>
          <p:cNvSpPr/>
          <p:nvPr/>
        </p:nvSpPr>
        <p:spPr>
          <a:xfrm>
            <a:off x="3092000" y="950000"/>
            <a:ext cx="2960000" cy="2960000"/>
          </a:xfrm>
          <a:prstGeom prst="pie">
            <a:avLst>
              <a:gd name="adj1" fmla="val 15750000"/>
              <a:gd name="adj2" fmla="val 16650000"/>
            </a:avLst>
          </a:prstGeom>
          <a:solidFill>
            <a:srgbClr val="FFFFFF"/>
          </a:solidFill>
          <a:ln w="6350">
            <a:solidFill>
              <a:srgbClr val="3F6670"/>
            </a:solidFill>
          </a:ln>
        </p:spPr>
        <p:txBody>
          <a:bodyPr/>
          <a:lstStyle/>
          <a:p>
            <a:pPr>
              <a:buNone/>
            </a:pPr>
            <a:endParaRPr lang="en-US"/>
          </a:p>
        </p:txBody>
      </p:sp>
      <p:sp>
        <p:nvSpPr>
          <p:cNvPr id="31" name="Hour 1 AM"/>
          <p:cNvSpPr/>
          <p:nvPr/>
        </p:nvSpPr>
        <p:spPr>
          <a:xfrm>
            <a:off x="3092000" y="950000"/>
            <a:ext cx="2960000" cy="2960000"/>
          </a:xfrm>
          <a:prstGeom prst="pie">
            <a:avLst>
              <a:gd name="adj1" fmla="val 16650000"/>
              <a:gd name="adj2" fmla="val 17550000"/>
            </a:avLst>
          </a:prstGeom>
          <a:solidFill>
            <a:srgbClr val="FFFFFF"/>
          </a:solidFill>
          <a:ln w="6350">
            <a:solidFill>
              <a:srgbClr val="3F6670"/>
            </a:solidFill>
          </a:ln>
        </p:spPr>
        <p:txBody>
          <a:bodyPr/>
          <a:lstStyle/>
          <a:p>
            <a:pPr>
              <a:buNone/>
            </a:pPr>
            <a:endParaRPr lang="en-US"/>
          </a:p>
        </p:txBody>
      </p:sp>
      <p:sp>
        <p:nvSpPr>
          <p:cNvPr id="32" name="Hour 2 AM"/>
          <p:cNvSpPr/>
          <p:nvPr/>
        </p:nvSpPr>
        <p:spPr>
          <a:xfrm>
            <a:off x="3092000" y="950000"/>
            <a:ext cx="2960000" cy="2960000"/>
          </a:xfrm>
          <a:prstGeom prst="pie">
            <a:avLst>
              <a:gd name="adj1" fmla="val 17550000"/>
              <a:gd name="adj2" fmla="val 18450000"/>
            </a:avLst>
          </a:prstGeom>
          <a:solidFill>
            <a:srgbClr val="FFFFFF"/>
          </a:solidFill>
          <a:ln w="6350">
            <a:solidFill>
              <a:srgbClr val="3F6670"/>
            </a:solidFill>
          </a:ln>
        </p:spPr>
        <p:txBody>
          <a:bodyPr/>
          <a:lstStyle/>
          <a:p>
            <a:pPr>
              <a:buNone/>
            </a:pPr>
            <a:endParaRPr lang="en-US"/>
          </a:p>
        </p:txBody>
      </p:sp>
      <p:sp>
        <p:nvSpPr>
          <p:cNvPr id="33" name="Hour 3 AM"/>
          <p:cNvSpPr/>
          <p:nvPr/>
        </p:nvSpPr>
        <p:spPr>
          <a:xfrm>
            <a:off x="3092000" y="950000"/>
            <a:ext cx="2960000" cy="2960000"/>
          </a:xfrm>
          <a:prstGeom prst="pie">
            <a:avLst>
              <a:gd name="adj1" fmla="val 18450000"/>
              <a:gd name="adj2" fmla="val 19350000"/>
            </a:avLst>
          </a:prstGeom>
          <a:solidFill>
            <a:srgbClr val="FFFFFF"/>
          </a:solidFill>
          <a:ln w="6350">
            <a:solidFill>
              <a:srgbClr val="3F6670"/>
            </a:solidFill>
          </a:ln>
        </p:spPr>
        <p:txBody>
          <a:bodyPr/>
          <a:lstStyle/>
          <a:p>
            <a:pPr>
              <a:buNone/>
            </a:pPr>
            <a:endParaRPr lang="en-US"/>
          </a:p>
        </p:txBody>
      </p:sp>
      <p:sp>
        <p:nvSpPr>
          <p:cNvPr id="34" name="Hour 4 AM"/>
          <p:cNvSpPr/>
          <p:nvPr/>
        </p:nvSpPr>
        <p:spPr>
          <a:xfrm>
            <a:off x="3092000" y="950000"/>
            <a:ext cx="2960000" cy="2960000"/>
          </a:xfrm>
          <a:prstGeom prst="pie">
            <a:avLst>
              <a:gd name="adj1" fmla="val 19350000"/>
              <a:gd name="adj2" fmla="val 20250000"/>
            </a:avLst>
          </a:prstGeom>
          <a:solidFill>
            <a:srgbClr val="FFFFFF"/>
          </a:solidFill>
          <a:ln w="6350">
            <a:solidFill>
              <a:srgbClr val="3F6670"/>
            </a:solidFill>
          </a:ln>
        </p:spPr>
        <p:txBody>
          <a:bodyPr/>
          <a:lstStyle/>
          <a:p>
            <a:pPr>
              <a:buNone/>
            </a:pPr>
            <a:endParaRPr lang="en-US"/>
          </a:p>
        </p:txBody>
      </p:sp>
      <p:sp>
        <p:nvSpPr>
          <p:cNvPr id="35" name="Hour 5 AM"/>
          <p:cNvSpPr/>
          <p:nvPr/>
        </p:nvSpPr>
        <p:spPr>
          <a:xfrm>
            <a:off x="3092000" y="950000"/>
            <a:ext cx="2960000" cy="2960000"/>
          </a:xfrm>
          <a:prstGeom prst="pie">
            <a:avLst>
              <a:gd name="adj1" fmla="val 20250000"/>
              <a:gd name="adj2" fmla="val 21150000"/>
            </a:avLst>
          </a:prstGeom>
          <a:solidFill>
            <a:srgbClr val="FFFFFF"/>
          </a:solidFill>
          <a:ln w="6350">
            <a:solidFill>
              <a:srgbClr val="3F6670"/>
            </a:solidFill>
          </a:ln>
        </p:spPr>
        <p:txBody>
          <a:bodyPr/>
          <a:lstStyle/>
          <a:p>
            <a:pPr>
              <a:buNone/>
            </a:pPr>
            <a:endParaRPr lang="en-US"/>
          </a:p>
        </p:txBody>
      </p:sp>
      <p:sp>
        <p:nvSpPr>
          <p:cNvPr id="36" name="Hour 6 AM"/>
          <p:cNvSpPr/>
          <p:nvPr/>
        </p:nvSpPr>
        <p:spPr>
          <a:xfrm>
            <a:off x="3092000" y="950000"/>
            <a:ext cx="2960000" cy="2960000"/>
          </a:xfrm>
          <a:prstGeom prst="pie">
            <a:avLst>
              <a:gd name="adj1" fmla="val 21150000"/>
              <a:gd name="adj2" fmla="val 450000"/>
            </a:avLst>
          </a:prstGeom>
          <a:solidFill>
            <a:srgbClr val="FFFFFF"/>
          </a:solidFill>
          <a:ln w="6350">
            <a:solidFill>
              <a:srgbClr val="3F6670"/>
            </a:solidFill>
          </a:ln>
        </p:spPr>
        <p:txBody>
          <a:bodyPr/>
          <a:lstStyle/>
          <a:p>
            <a:pPr>
              <a:buNone/>
            </a:pPr>
            <a:endParaRPr lang="en-US"/>
          </a:p>
        </p:txBody>
      </p:sp>
      <p:sp>
        <p:nvSpPr>
          <p:cNvPr id="37" name="Hour 7 AM"/>
          <p:cNvSpPr/>
          <p:nvPr/>
        </p:nvSpPr>
        <p:spPr>
          <a:xfrm>
            <a:off x="3092000" y="950000"/>
            <a:ext cx="2960000" cy="2960000"/>
          </a:xfrm>
          <a:prstGeom prst="pie">
            <a:avLst>
              <a:gd name="adj1" fmla="val 450000"/>
              <a:gd name="adj2" fmla="val 1350000"/>
            </a:avLst>
          </a:prstGeom>
          <a:solidFill>
            <a:srgbClr val="FFFFFF"/>
          </a:solidFill>
          <a:ln w="6350">
            <a:solidFill>
              <a:srgbClr val="3F6670"/>
            </a:solidFill>
          </a:ln>
        </p:spPr>
        <p:txBody>
          <a:bodyPr/>
          <a:lstStyle/>
          <a:p>
            <a:pPr>
              <a:buNone/>
            </a:pPr>
            <a:endParaRPr lang="en-US"/>
          </a:p>
        </p:txBody>
      </p:sp>
      <p:sp>
        <p:nvSpPr>
          <p:cNvPr id="38" name="Hour 8 AM"/>
          <p:cNvSpPr/>
          <p:nvPr/>
        </p:nvSpPr>
        <p:spPr>
          <a:xfrm>
            <a:off x="3092000" y="950000"/>
            <a:ext cx="2960000" cy="2960000"/>
          </a:xfrm>
          <a:prstGeom prst="pie">
            <a:avLst>
              <a:gd name="adj1" fmla="val 1350000"/>
              <a:gd name="adj2" fmla="val 2250000"/>
            </a:avLst>
          </a:prstGeom>
          <a:solidFill>
            <a:srgbClr val="FFFFFF"/>
          </a:solidFill>
          <a:ln w="6350">
            <a:solidFill>
              <a:srgbClr val="3F6670"/>
            </a:solidFill>
          </a:ln>
        </p:spPr>
        <p:txBody>
          <a:bodyPr/>
          <a:lstStyle/>
          <a:p>
            <a:pPr>
              <a:buNone/>
            </a:pPr>
            <a:endParaRPr lang="en-US"/>
          </a:p>
        </p:txBody>
      </p:sp>
      <p:sp>
        <p:nvSpPr>
          <p:cNvPr id="39" name="Hour 9 AM"/>
          <p:cNvSpPr/>
          <p:nvPr/>
        </p:nvSpPr>
        <p:spPr>
          <a:xfrm>
            <a:off x="3092000" y="950000"/>
            <a:ext cx="2960000" cy="2960000"/>
          </a:xfrm>
          <a:prstGeom prst="pie">
            <a:avLst>
              <a:gd name="adj1" fmla="val 2250000"/>
              <a:gd name="adj2" fmla="val 3150000"/>
            </a:avLst>
          </a:prstGeom>
          <a:solidFill>
            <a:srgbClr val="FFFFFF"/>
          </a:solidFill>
          <a:ln w="6350">
            <a:solidFill>
              <a:srgbClr val="3F6670"/>
            </a:solidFill>
          </a:ln>
        </p:spPr>
        <p:txBody>
          <a:bodyPr/>
          <a:lstStyle/>
          <a:p>
            <a:pPr>
              <a:buNone/>
            </a:pPr>
            <a:endParaRPr lang="en-US"/>
          </a:p>
        </p:txBody>
      </p:sp>
      <p:sp>
        <p:nvSpPr>
          <p:cNvPr id="40" name="Hour 10 AM"/>
          <p:cNvSpPr/>
          <p:nvPr/>
        </p:nvSpPr>
        <p:spPr>
          <a:xfrm>
            <a:off x="3092000" y="950000"/>
            <a:ext cx="2960000" cy="2960000"/>
          </a:xfrm>
          <a:prstGeom prst="pie">
            <a:avLst>
              <a:gd name="adj1" fmla="val 3150000"/>
              <a:gd name="adj2" fmla="val 4050000"/>
            </a:avLst>
          </a:prstGeom>
          <a:solidFill>
            <a:srgbClr val="FFFFFF"/>
          </a:solidFill>
          <a:ln w="6350">
            <a:solidFill>
              <a:srgbClr val="3F6670"/>
            </a:solidFill>
          </a:ln>
        </p:spPr>
        <p:txBody>
          <a:bodyPr/>
          <a:lstStyle/>
          <a:p>
            <a:pPr>
              <a:buNone/>
            </a:pPr>
            <a:endParaRPr lang="en-US"/>
          </a:p>
        </p:txBody>
      </p:sp>
      <p:sp>
        <p:nvSpPr>
          <p:cNvPr id="41" name="Hour 11 AM"/>
          <p:cNvSpPr/>
          <p:nvPr/>
        </p:nvSpPr>
        <p:spPr>
          <a:xfrm>
            <a:off x="3092000" y="950000"/>
            <a:ext cx="2960000" cy="2960000"/>
          </a:xfrm>
          <a:prstGeom prst="pie">
            <a:avLst>
              <a:gd name="adj1" fmla="val 4050000"/>
              <a:gd name="adj2" fmla="val 4950000"/>
            </a:avLst>
          </a:prstGeom>
          <a:solidFill>
            <a:srgbClr val="FFFFFF"/>
          </a:solidFill>
          <a:ln w="6350">
            <a:solidFill>
              <a:srgbClr val="3F6670"/>
            </a:solidFill>
          </a:ln>
        </p:spPr>
        <p:txBody>
          <a:bodyPr/>
          <a:lstStyle/>
          <a:p>
            <a:pPr>
              <a:buNone/>
            </a:pPr>
            <a:endParaRPr lang="en-US"/>
          </a:p>
        </p:txBody>
      </p:sp>
      <p:sp>
        <p:nvSpPr>
          <p:cNvPr id="42" name="Hour 12 PM"/>
          <p:cNvSpPr/>
          <p:nvPr/>
        </p:nvSpPr>
        <p:spPr>
          <a:xfrm>
            <a:off x="3092000" y="950000"/>
            <a:ext cx="2960000" cy="2960000"/>
          </a:xfrm>
          <a:prstGeom prst="pie">
            <a:avLst>
              <a:gd name="adj1" fmla="val 4950000"/>
              <a:gd name="adj2" fmla="val 5850000"/>
            </a:avLst>
          </a:prstGeom>
          <a:solidFill>
            <a:srgbClr val="FFFFFF"/>
          </a:solidFill>
          <a:ln w="6350">
            <a:solidFill>
              <a:srgbClr val="3F6670"/>
            </a:solidFill>
          </a:ln>
        </p:spPr>
        <p:txBody>
          <a:bodyPr/>
          <a:lstStyle/>
          <a:p>
            <a:pPr>
              <a:buNone/>
            </a:pPr>
            <a:endParaRPr lang="en-US"/>
          </a:p>
        </p:txBody>
      </p:sp>
      <p:sp>
        <p:nvSpPr>
          <p:cNvPr id="43" name="Hour 1 PM"/>
          <p:cNvSpPr/>
          <p:nvPr/>
        </p:nvSpPr>
        <p:spPr>
          <a:xfrm>
            <a:off x="3092000" y="950000"/>
            <a:ext cx="2960000" cy="2960000"/>
          </a:xfrm>
          <a:prstGeom prst="pie">
            <a:avLst>
              <a:gd name="adj1" fmla="val 5850000"/>
              <a:gd name="adj2" fmla="val 6750000"/>
            </a:avLst>
          </a:prstGeom>
          <a:solidFill>
            <a:srgbClr val="FFFFFF"/>
          </a:solidFill>
          <a:ln w="6350">
            <a:solidFill>
              <a:srgbClr val="3F6670"/>
            </a:solidFill>
          </a:ln>
        </p:spPr>
        <p:txBody>
          <a:bodyPr/>
          <a:lstStyle/>
          <a:p>
            <a:pPr>
              <a:buNone/>
            </a:pPr>
            <a:endParaRPr lang="en-US"/>
          </a:p>
        </p:txBody>
      </p:sp>
      <p:sp>
        <p:nvSpPr>
          <p:cNvPr id="44" name="Hour 2 PM"/>
          <p:cNvSpPr/>
          <p:nvPr/>
        </p:nvSpPr>
        <p:spPr>
          <a:xfrm>
            <a:off x="3092000" y="950000"/>
            <a:ext cx="2960000" cy="2960000"/>
          </a:xfrm>
          <a:prstGeom prst="pie">
            <a:avLst>
              <a:gd name="adj1" fmla="val 6750000"/>
              <a:gd name="adj2" fmla="val 7650000"/>
            </a:avLst>
          </a:prstGeom>
          <a:solidFill>
            <a:srgbClr val="FFFFFF"/>
          </a:solidFill>
          <a:ln w="6350">
            <a:solidFill>
              <a:srgbClr val="3F6670"/>
            </a:solidFill>
          </a:ln>
        </p:spPr>
        <p:txBody>
          <a:bodyPr/>
          <a:lstStyle/>
          <a:p>
            <a:pPr>
              <a:buNone/>
            </a:pPr>
            <a:endParaRPr lang="en-US"/>
          </a:p>
        </p:txBody>
      </p:sp>
      <p:sp>
        <p:nvSpPr>
          <p:cNvPr id="45" name="Hour 3 PM"/>
          <p:cNvSpPr/>
          <p:nvPr/>
        </p:nvSpPr>
        <p:spPr>
          <a:xfrm>
            <a:off x="3092000" y="950000"/>
            <a:ext cx="2960000" cy="2960000"/>
          </a:xfrm>
          <a:prstGeom prst="pie">
            <a:avLst>
              <a:gd name="adj1" fmla="val 7650000"/>
              <a:gd name="adj2" fmla="val 8550000"/>
            </a:avLst>
          </a:prstGeom>
          <a:solidFill>
            <a:srgbClr val="FFFFFF"/>
          </a:solidFill>
          <a:ln w="6350">
            <a:solidFill>
              <a:srgbClr val="3F6670"/>
            </a:solidFill>
          </a:ln>
        </p:spPr>
        <p:txBody>
          <a:bodyPr/>
          <a:lstStyle/>
          <a:p>
            <a:pPr>
              <a:buNone/>
            </a:pPr>
            <a:endParaRPr lang="en-US"/>
          </a:p>
        </p:txBody>
      </p:sp>
      <p:sp>
        <p:nvSpPr>
          <p:cNvPr id="46" name="Hour 4 PM"/>
          <p:cNvSpPr/>
          <p:nvPr/>
        </p:nvSpPr>
        <p:spPr>
          <a:xfrm>
            <a:off x="3092000" y="950000"/>
            <a:ext cx="2960000" cy="2960000"/>
          </a:xfrm>
          <a:prstGeom prst="pie">
            <a:avLst>
              <a:gd name="adj1" fmla="val 8550000"/>
              <a:gd name="adj2" fmla="val 9450000"/>
            </a:avLst>
          </a:prstGeom>
          <a:solidFill>
            <a:srgbClr val="FFFFFF"/>
          </a:solidFill>
          <a:ln w="6350">
            <a:solidFill>
              <a:srgbClr val="3F6670"/>
            </a:solidFill>
          </a:ln>
        </p:spPr>
        <p:txBody>
          <a:bodyPr/>
          <a:lstStyle/>
          <a:p>
            <a:pPr>
              <a:buNone/>
            </a:pPr>
            <a:endParaRPr lang="en-US"/>
          </a:p>
        </p:txBody>
      </p:sp>
      <p:sp>
        <p:nvSpPr>
          <p:cNvPr id="47" name="Hour 5 PM"/>
          <p:cNvSpPr/>
          <p:nvPr/>
        </p:nvSpPr>
        <p:spPr>
          <a:xfrm>
            <a:off x="3092000" y="950000"/>
            <a:ext cx="2960000" cy="2960000"/>
          </a:xfrm>
          <a:prstGeom prst="pie">
            <a:avLst>
              <a:gd name="adj1" fmla="val 9450000"/>
              <a:gd name="adj2" fmla="val 10350000"/>
            </a:avLst>
          </a:prstGeom>
          <a:solidFill>
            <a:srgbClr val="FFFFFF"/>
          </a:solidFill>
          <a:ln w="6350">
            <a:solidFill>
              <a:srgbClr val="3F6670"/>
            </a:solidFill>
          </a:ln>
        </p:spPr>
        <p:txBody>
          <a:bodyPr/>
          <a:lstStyle/>
          <a:p>
            <a:pPr>
              <a:buNone/>
            </a:pPr>
            <a:endParaRPr lang="en-US"/>
          </a:p>
        </p:txBody>
      </p:sp>
      <p:sp>
        <p:nvSpPr>
          <p:cNvPr id="48" name="Hour 6 PM"/>
          <p:cNvSpPr/>
          <p:nvPr/>
        </p:nvSpPr>
        <p:spPr>
          <a:xfrm>
            <a:off x="3092000" y="950000"/>
            <a:ext cx="2960000" cy="2960000"/>
          </a:xfrm>
          <a:prstGeom prst="pie">
            <a:avLst>
              <a:gd name="adj1" fmla="val 10350000"/>
              <a:gd name="adj2" fmla="val 11250000"/>
            </a:avLst>
          </a:prstGeom>
          <a:solidFill>
            <a:srgbClr val="FFFFFF"/>
          </a:solidFill>
          <a:ln w="6350">
            <a:solidFill>
              <a:srgbClr val="3F6670"/>
            </a:solidFill>
          </a:ln>
        </p:spPr>
        <p:txBody>
          <a:bodyPr/>
          <a:lstStyle/>
          <a:p>
            <a:pPr>
              <a:buNone/>
            </a:pPr>
            <a:endParaRPr lang="en-US"/>
          </a:p>
        </p:txBody>
      </p:sp>
      <p:sp>
        <p:nvSpPr>
          <p:cNvPr id="49" name="Hour 7 PM"/>
          <p:cNvSpPr/>
          <p:nvPr/>
        </p:nvSpPr>
        <p:spPr>
          <a:xfrm>
            <a:off x="3092000" y="950000"/>
            <a:ext cx="2960000" cy="2960000"/>
          </a:xfrm>
          <a:prstGeom prst="pie">
            <a:avLst>
              <a:gd name="adj1" fmla="val 11250000"/>
              <a:gd name="adj2" fmla="val 12150000"/>
            </a:avLst>
          </a:prstGeom>
          <a:solidFill>
            <a:srgbClr val="FFFFFF"/>
          </a:solidFill>
          <a:ln w="6350">
            <a:solidFill>
              <a:srgbClr val="3F6670"/>
            </a:solidFill>
          </a:ln>
        </p:spPr>
        <p:txBody>
          <a:bodyPr/>
          <a:lstStyle/>
          <a:p>
            <a:pPr>
              <a:buNone/>
            </a:pPr>
            <a:endParaRPr lang="en-US"/>
          </a:p>
        </p:txBody>
      </p:sp>
      <p:sp>
        <p:nvSpPr>
          <p:cNvPr id="50" name="Hour 8 PM"/>
          <p:cNvSpPr/>
          <p:nvPr/>
        </p:nvSpPr>
        <p:spPr>
          <a:xfrm>
            <a:off x="3092000" y="950000"/>
            <a:ext cx="2960000" cy="2960000"/>
          </a:xfrm>
          <a:prstGeom prst="pie">
            <a:avLst>
              <a:gd name="adj1" fmla="val 12150000"/>
              <a:gd name="adj2" fmla="val 13050000"/>
            </a:avLst>
          </a:prstGeom>
          <a:solidFill>
            <a:srgbClr val="FFFFFF"/>
          </a:solidFill>
          <a:ln w="6350">
            <a:solidFill>
              <a:srgbClr val="3F6670"/>
            </a:solidFill>
          </a:ln>
        </p:spPr>
        <p:txBody>
          <a:bodyPr/>
          <a:lstStyle/>
          <a:p>
            <a:pPr>
              <a:buNone/>
            </a:pPr>
            <a:endParaRPr lang="en-US"/>
          </a:p>
        </p:txBody>
      </p:sp>
      <p:sp>
        <p:nvSpPr>
          <p:cNvPr id="51" name="Hour 9 PM"/>
          <p:cNvSpPr/>
          <p:nvPr/>
        </p:nvSpPr>
        <p:spPr>
          <a:xfrm>
            <a:off x="3092000" y="950000"/>
            <a:ext cx="2960000" cy="2960000"/>
          </a:xfrm>
          <a:prstGeom prst="pie">
            <a:avLst>
              <a:gd name="adj1" fmla="val 13050000"/>
              <a:gd name="adj2" fmla="val 13950000"/>
            </a:avLst>
          </a:prstGeom>
          <a:solidFill>
            <a:srgbClr val="FFFFFF"/>
          </a:solidFill>
          <a:ln w="6350">
            <a:solidFill>
              <a:srgbClr val="3F6670"/>
            </a:solidFill>
          </a:ln>
        </p:spPr>
        <p:txBody>
          <a:bodyPr/>
          <a:lstStyle/>
          <a:p>
            <a:pPr>
              <a:buNone/>
            </a:pPr>
            <a:endParaRPr lang="en-US"/>
          </a:p>
        </p:txBody>
      </p:sp>
      <p:sp>
        <p:nvSpPr>
          <p:cNvPr id="52" name="Hour 10 PM"/>
          <p:cNvSpPr/>
          <p:nvPr/>
        </p:nvSpPr>
        <p:spPr>
          <a:xfrm>
            <a:off x="3092000" y="950000"/>
            <a:ext cx="2960000" cy="2960000"/>
          </a:xfrm>
          <a:prstGeom prst="pie">
            <a:avLst>
              <a:gd name="adj1" fmla="val 13950000"/>
              <a:gd name="adj2" fmla="val 14850000"/>
            </a:avLst>
          </a:prstGeom>
          <a:solidFill>
            <a:srgbClr val="FFFFFF"/>
          </a:solidFill>
          <a:ln w="6350">
            <a:solidFill>
              <a:srgbClr val="3F6670"/>
            </a:solidFill>
          </a:ln>
        </p:spPr>
        <p:txBody>
          <a:bodyPr/>
          <a:lstStyle/>
          <a:p>
            <a:pPr>
              <a:buNone/>
            </a:pPr>
            <a:endParaRPr lang="en-US"/>
          </a:p>
        </p:txBody>
      </p:sp>
      <p:sp>
        <p:nvSpPr>
          <p:cNvPr id="53" name="Hour 11 PM"/>
          <p:cNvSpPr/>
          <p:nvPr/>
        </p:nvSpPr>
        <p:spPr>
          <a:xfrm>
            <a:off x="3092000" y="950000"/>
            <a:ext cx="2960000" cy="2960000"/>
          </a:xfrm>
          <a:prstGeom prst="pie">
            <a:avLst>
              <a:gd name="adj1" fmla="val 14850000"/>
              <a:gd name="adj2" fmla="val 15750000"/>
            </a:avLst>
          </a:prstGeom>
          <a:solidFill>
            <a:srgbClr val="FFFFFF"/>
          </a:solidFill>
          <a:ln w="6350">
            <a:solidFill>
              <a:srgbClr val="3F6670"/>
            </a:solidFill>
          </a:ln>
        </p:spPr>
        <p:txBody>
          <a:bodyPr/>
          <a:lstStyle/>
          <a:p>
            <a:pPr>
              <a:buNone/>
            </a:pPr>
            <a:endParaRPr lang="en-US"/>
          </a:p>
        </p:txBody>
      </p:sp>
      <p:sp>
        <p:nvSpPr>
          <p:cNvPr id="54" name="Label 12 AM"/>
          <p:cNvSpPr/>
          <p:nvPr/>
        </p:nvSpPr>
        <p:spPr>
          <a:xfrm>
            <a:off x="4352000" y="7100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12 AM</a:t>
            </a:r>
            <a:endParaRPr lang="en-US" sz="900"/>
          </a:p>
        </p:txBody>
      </p:sp>
      <p:sp>
        <p:nvSpPr>
          <p:cNvPr id="55" name="Label 1 AM"/>
          <p:cNvSpPr/>
          <p:nvPr/>
        </p:nvSpPr>
        <p:spPr>
          <a:xfrm>
            <a:off x="4771287" y="7652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1 AM</a:t>
            </a:r>
            <a:endParaRPr lang="en-US" sz="900"/>
          </a:p>
        </p:txBody>
      </p:sp>
      <p:sp>
        <p:nvSpPr>
          <p:cNvPr id="56" name="Label 2 AM"/>
          <p:cNvSpPr/>
          <p:nvPr/>
        </p:nvSpPr>
        <p:spPr>
          <a:xfrm>
            <a:off x="5162000" y="927039"/>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2 AM</a:t>
            </a:r>
            <a:endParaRPr lang="en-US" sz="900"/>
          </a:p>
        </p:txBody>
      </p:sp>
      <p:sp>
        <p:nvSpPr>
          <p:cNvPr id="57" name="Label 3 AM"/>
          <p:cNvSpPr/>
          <p:nvPr/>
        </p:nvSpPr>
        <p:spPr>
          <a:xfrm>
            <a:off x="5497513" y="1184487"/>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3 AM</a:t>
            </a:r>
            <a:endParaRPr lang="en-US" sz="900"/>
          </a:p>
        </p:txBody>
      </p:sp>
      <p:sp>
        <p:nvSpPr>
          <p:cNvPr id="58" name="Label 4 AM"/>
          <p:cNvSpPr/>
          <p:nvPr/>
        </p:nvSpPr>
        <p:spPr>
          <a:xfrm>
            <a:off x="5754961" y="15200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4 AM</a:t>
            </a:r>
            <a:endParaRPr lang="en-US" sz="900"/>
          </a:p>
        </p:txBody>
      </p:sp>
      <p:sp>
        <p:nvSpPr>
          <p:cNvPr id="59" name="Label 5 AM"/>
          <p:cNvSpPr/>
          <p:nvPr/>
        </p:nvSpPr>
        <p:spPr>
          <a:xfrm>
            <a:off x="5916800" y="1910713"/>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5 AM</a:t>
            </a:r>
            <a:endParaRPr lang="en-US" sz="900"/>
          </a:p>
        </p:txBody>
      </p:sp>
      <p:sp>
        <p:nvSpPr>
          <p:cNvPr id="60" name="Label 6 AM"/>
          <p:cNvSpPr/>
          <p:nvPr/>
        </p:nvSpPr>
        <p:spPr>
          <a:xfrm>
            <a:off x="5972000" y="23300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6 AM</a:t>
            </a:r>
            <a:endParaRPr lang="en-US" sz="900"/>
          </a:p>
        </p:txBody>
      </p:sp>
      <p:sp>
        <p:nvSpPr>
          <p:cNvPr id="61" name="Label 7 AM"/>
          <p:cNvSpPr/>
          <p:nvPr/>
        </p:nvSpPr>
        <p:spPr>
          <a:xfrm>
            <a:off x="5916800" y="2749287"/>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7 AM</a:t>
            </a:r>
            <a:endParaRPr lang="en-US" sz="900"/>
          </a:p>
        </p:txBody>
      </p:sp>
      <p:sp>
        <p:nvSpPr>
          <p:cNvPr id="62" name="Label 8 AM"/>
          <p:cNvSpPr/>
          <p:nvPr/>
        </p:nvSpPr>
        <p:spPr>
          <a:xfrm>
            <a:off x="5754961" y="31400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8 AM</a:t>
            </a:r>
            <a:endParaRPr lang="en-US" sz="900"/>
          </a:p>
        </p:txBody>
      </p:sp>
      <p:sp>
        <p:nvSpPr>
          <p:cNvPr id="63" name="Label 9 AM"/>
          <p:cNvSpPr/>
          <p:nvPr/>
        </p:nvSpPr>
        <p:spPr>
          <a:xfrm>
            <a:off x="5497513" y="3475513"/>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9 AM</a:t>
            </a:r>
            <a:endParaRPr lang="en-US" sz="900"/>
          </a:p>
        </p:txBody>
      </p:sp>
      <p:sp>
        <p:nvSpPr>
          <p:cNvPr id="64" name="Label 10 AM"/>
          <p:cNvSpPr/>
          <p:nvPr/>
        </p:nvSpPr>
        <p:spPr>
          <a:xfrm>
            <a:off x="5162000" y="3732961"/>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10 AM</a:t>
            </a:r>
            <a:endParaRPr lang="en-US" sz="900"/>
          </a:p>
        </p:txBody>
      </p:sp>
      <p:sp>
        <p:nvSpPr>
          <p:cNvPr id="65" name="Label 11 AM"/>
          <p:cNvSpPr/>
          <p:nvPr/>
        </p:nvSpPr>
        <p:spPr>
          <a:xfrm>
            <a:off x="4771287" y="38948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11 AM</a:t>
            </a:r>
            <a:endParaRPr lang="en-US" sz="900"/>
          </a:p>
        </p:txBody>
      </p:sp>
      <p:sp>
        <p:nvSpPr>
          <p:cNvPr id="66" name="Label 12 PM"/>
          <p:cNvSpPr/>
          <p:nvPr/>
        </p:nvSpPr>
        <p:spPr>
          <a:xfrm>
            <a:off x="4352000" y="39500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12 PM</a:t>
            </a:r>
            <a:endParaRPr lang="en-US" sz="900"/>
          </a:p>
        </p:txBody>
      </p:sp>
      <p:sp>
        <p:nvSpPr>
          <p:cNvPr id="67" name="Label 1 PM"/>
          <p:cNvSpPr/>
          <p:nvPr/>
        </p:nvSpPr>
        <p:spPr>
          <a:xfrm>
            <a:off x="3932713" y="38948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1 PM</a:t>
            </a:r>
            <a:endParaRPr lang="en-US" sz="900"/>
          </a:p>
        </p:txBody>
      </p:sp>
      <p:sp>
        <p:nvSpPr>
          <p:cNvPr id="68" name="Label 2 PM"/>
          <p:cNvSpPr/>
          <p:nvPr/>
        </p:nvSpPr>
        <p:spPr>
          <a:xfrm>
            <a:off x="3542000" y="3732961"/>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2 PM</a:t>
            </a:r>
            <a:endParaRPr lang="en-US" sz="900"/>
          </a:p>
        </p:txBody>
      </p:sp>
      <p:sp>
        <p:nvSpPr>
          <p:cNvPr id="69" name="Label 3 PM"/>
          <p:cNvSpPr/>
          <p:nvPr/>
        </p:nvSpPr>
        <p:spPr>
          <a:xfrm>
            <a:off x="3206487" y="3475513"/>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3 PM</a:t>
            </a:r>
            <a:endParaRPr lang="en-US" sz="900"/>
          </a:p>
        </p:txBody>
      </p:sp>
      <p:sp>
        <p:nvSpPr>
          <p:cNvPr id="70" name="Label 4 PM"/>
          <p:cNvSpPr/>
          <p:nvPr/>
        </p:nvSpPr>
        <p:spPr>
          <a:xfrm>
            <a:off x="2949039" y="31400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4 PM</a:t>
            </a:r>
            <a:endParaRPr lang="en-US" sz="900"/>
          </a:p>
        </p:txBody>
      </p:sp>
      <p:sp>
        <p:nvSpPr>
          <p:cNvPr id="71" name="Label 5 PM"/>
          <p:cNvSpPr/>
          <p:nvPr/>
        </p:nvSpPr>
        <p:spPr>
          <a:xfrm>
            <a:off x="2787200" y="2749287"/>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5 PM</a:t>
            </a:r>
            <a:endParaRPr lang="en-US" sz="900"/>
          </a:p>
        </p:txBody>
      </p:sp>
      <p:sp>
        <p:nvSpPr>
          <p:cNvPr id="72" name="Label 6 PM"/>
          <p:cNvSpPr/>
          <p:nvPr/>
        </p:nvSpPr>
        <p:spPr>
          <a:xfrm>
            <a:off x="2732000" y="23300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6 PM</a:t>
            </a:r>
            <a:endParaRPr lang="en-US" sz="900"/>
          </a:p>
        </p:txBody>
      </p:sp>
      <p:sp>
        <p:nvSpPr>
          <p:cNvPr id="73" name="Label 7 PM"/>
          <p:cNvSpPr/>
          <p:nvPr/>
        </p:nvSpPr>
        <p:spPr>
          <a:xfrm>
            <a:off x="2787200" y="1910713"/>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7 PM</a:t>
            </a:r>
            <a:endParaRPr lang="en-US" sz="900"/>
          </a:p>
        </p:txBody>
      </p:sp>
      <p:sp>
        <p:nvSpPr>
          <p:cNvPr id="74" name="Label 8 PM"/>
          <p:cNvSpPr/>
          <p:nvPr/>
        </p:nvSpPr>
        <p:spPr>
          <a:xfrm>
            <a:off x="2949039" y="15200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8 PM</a:t>
            </a:r>
            <a:endParaRPr lang="en-US" sz="900"/>
          </a:p>
        </p:txBody>
      </p:sp>
      <p:sp>
        <p:nvSpPr>
          <p:cNvPr id="75" name="Label 9 PM"/>
          <p:cNvSpPr/>
          <p:nvPr/>
        </p:nvSpPr>
        <p:spPr>
          <a:xfrm>
            <a:off x="3206487" y="1184487"/>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9 PM</a:t>
            </a:r>
            <a:endParaRPr lang="en-US" sz="900"/>
          </a:p>
        </p:txBody>
      </p:sp>
      <p:sp>
        <p:nvSpPr>
          <p:cNvPr id="76" name="Label 10 PM"/>
          <p:cNvSpPr/>
          <p:nvPr/>
        </p:nvSpPr>
        <p:spPr>
          <a:xfrm>
            <a:off x="3542000" y="927039"/>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10 PM</a:t>
            </a:r>
            <a:endParaRPr lang="en-US" sz="900"/>
          </a:p>
        </p:txBody>
      </p:sp>
      <p:sp>
        <p:nvSpPr>
          <p:cNvPr id="77" name="Label 11 PM"/>
          <p:cNvSpPr/>
          <p:nvPr/>
        </p:nvSpPr>
        <p:spPr>
          <a:xfrm>
            <a:off x="3932713" y="765200"/>
            <a:ext cx="440000" cy="200000"/>
          </a:xfrm>
          <a:prstGeom prst="rect">
            <a:avLst/>
          </a:prstGeom>
          <a:noFill/>
        </p:spPr>
        <p:txBody>
          <a:bodyPr wrap="none" lIns="0" tIns="0" rIns="0" bIns="0" rtlCol="0" anchor="ctr"/>
          <a:lstStyle/>
          <a:p>
            <a:pPr marL="0" indent="0" algn="ctr">
              <a:buNone/>
            </a:pPr>
            <a:r>
              <a:rPr lang="en-US" sz="900" b="1">
                <a:solidFill>
                  <a:srgbClr val="EAF4F4"/>
                </a:solidFill>
                <a:latin typeface="Calibri" pitchFamily="34" charset="0"/>
              </a:rPr>
              <a:t>11 PM</a:t>
            </a:r>
            <a:endParaRPr lang="en-US" sz="900"/>
          </a:p>
        </p:txBody>
      </p:sp>
      <p:sp>
        <p:nvSpPr>
          <p:cNvPr id="78" name="Wheel Hub"/>
          <p:cNvSpPr/>
          <p:nvPr/>
        </p:nvSpPr>
        <p:spPr>
          <a:xfrm>
            <a:off x="4526000" y="2384000"/>
            <a:ext cx="92000" cy="92000"/>
          </a:xfrm>
          <a:prstGeom prst="ellipse">
            <a:avLst/>
          </a:prstGeom>
          <a:solidFill>
            <a:srgbClr val="1B5E72"/>
          </a:solidFill>
          <a:ln w="9525">
            <a:solidFill>
              <a:srgbClr val="FAB753"/>
            </a:solidFill>
          </a:ln>
        </p:spPr>
        <p:txBody>
          <a:bodyPr/>
          <a:lstStyle/>
          <a:p>
            <a:pPr>
              <a:buNone/>
            </a:pPr>
            <a:endParaRPr lang="en-US"/>
          </a:p>
        </p:txBody>
      </p:sp>
      <p:sp>
        <p:nvSpPr>
          <p:cNvPr id="5" name="Text 2"/>
          <p:cNvSpPr/>
          <p:nvPr/>
        </p:nvSpPr>
        <p:spPr>
          <a:xfrm>
            <a:off x="0" y="0"/>
            <a:ext cx="9144000" cy="514350"/>
          </a:xfrm>
          <a:prstGeom prst="rect">
            <a:avLst/>
          </a:prstGeom>
          <a:solidFill>
            <a:srgbClr val="1B5E72"/>
          </a:solidFill>
          <a:ln/>
        </p:spPr>
        <p:txBody>
          <a:bodyPr wrap="square" rtlCol="0" anchor="t"/>
          <a:lstStyle/>
          <a:p>
            <a:pPr marL="0" indent="0">
              <a:buNone/>
            </a:pPr>
            <a:endParaRPr lang="en-US" dirty="0"/>
          </a:p>
        </p:txBody>
      </p:sp>
      <p:sp>
        <p:nvSpPr>
          <p:cNvPr id="6" name="Text 3"/>
          <p:cNvSpPr/>
          <p:nvPr/>
        </p:nvSpPr>
        <p:spPr>
          <a:xfrm>
            <a:off x="342900" y="163264"/>
            <a:ext cx="721965" cy="206603"/>
          </a:xfrm>
          <a:prstGeom prst="roundRect">
            <a:avLst>
              <a:gd name="adj" fmla="val 10450"/>
            </a:avLst>
          </a:prstGeom>
          <a:solidFill>
            <a:srgbClr val="FAB753"/>
          </a:solidFill>
          <a:ln/>
        </p:spPr>
        <p:txBody>
          <a:bodyPr wrap="none" lIns="0" tIns="0" rIns="0" bIns="0" rtlCol="0" anchor="ctr"/>
          <a:lstStyle/>
          <a:p>
            <a:pPr marL="0" indent="0" algn="ctr">
              <a:buNone/>
            </a:pPr>
            <a:r>
              <a:rPr lang="en-US" sz="680" b="1" dirty="0">
                <a:solidFill>
                  <a:srgbClr val="1B3A22"/>
                </a:solidFill>
                <a:latin typeface="Calibri" pitchFamily="34" charset="0"/>
                <a:ea typeface="Calibri" pitchFamily="34" charset="-122"/>
                <a:cs typeface="Calibri" pitchFamily="34" charset="-120"/>
              </a:rPr>
              <a:t>ACTIVITY 2</a:t>
            </a:r>
            <a:endParaRPr lang="en-US" sz="680" dirty="0"/>
          </a:p>
        </p:txBody>
      </p:sp>
      <p:sp>
        <p:nvSpPr>
          <p:cNvPr id="7" name="Text 4"/>
          <p:cNvSpPr/>
          <p:nvPr/>
        </p:nvSpPr>
        <p:spPr>
          <a:xfrm>
            <a:off x="1208336" y="145852"/>
            <a:ext cx="3593070" cy="222498"/>
          </a:xfrm>
          <a:prstGeom prst="rect">
            <a:avLst/>
          </a:prstGeom>
          <a:noFill/>
          <a:ln/>
        </p:spPr>
        <p:txBody>
          <a:bodyPr wrap="none" lIns="0" tIns="0" rIns="0" bIns="0" rtlCol="0" anchor="ctr"/>
          <a:lstStyle/>
          <a:p>
            <a:pPr marL="0" indent="0" algn="l">
              <a:lnSpc>
                <a:spcPts val="1752"/>
              </a:lnSpc>
              <a:buNone/>
            </a:pPr>
            <a:r>
              <a:rPr lang="en-US" sz="1460" b="1" kern="0" spc="15" dirty="0">
                <a:solidFill>
                  <a:srgbClr val="FFFFFF"/>
                </a:solidFill>
                <a:latin typeface="Calibri Light" pitchFamily="34" charset="0"/>
                <a:ea typeface="Calibri Light" pitchFamily="34" charset="-122"/>
                <a:cs typeface="Calibri Light" pitchFamily="34" charset="-120"/>
              </a:rPr>
              <a:t>It Is All About That Work-Life Balance</a:t>
            </a:r>
            <a:endParaRPr lang="en-US" sz="1460" dirty="0"/>
          </a:p>
        </p:txBody>
      </p:sp>
      <p:sp>
        <p:nvSpPr>
          <p:cNvPr id="8" name="Text 5"/>
          <p:cNvSpPr/>
          <p:nvPr/>
        </p:nvSpPr>
        <p:spPr>
          <a:xfrm>
            <a:off x="0" y="514350"/>
            <a:ext cx="9144000" cy="29170"/>
          </a:xfrm>
          <a:prstGeom prst="rect">
            <a:avLst/>
          </a:prstGeom>
          <a:solidFill>
            <a:srgbClr val="FAB753"/>
          </a:solidFill>
          <a:ln/>
        </p:spPr>
        <p:txBody>
          <a:bodyPr wrap="none" rtlCol="0" anchor="t"/>
          <a:lstStyle/>
          <a:p>
            <a:pPr marL="0" indent="0">
              <a:buNone/>
            </a:pPr>
            <a:endParaRPr lang="en-US" dirty="0"/>
          </a:p>
        </p:txBody>
      </p:sp>
      <p:sp>
        <p:nvSpPr>
          <p:cNvPr id="9" name="How To Card"/>
          <p:cNvSpPr/>
          <p:nvPr/>
        </p:nvSpPr>
        <p:spPr>
          <a:xfrm>
            <a:off x="3241241" y="4254613"/>
            <a:ext cx="2569518" cy="789974"/>
          </a:xfrm>
          <a:prstGeom prst="roundRect">
            <a:avLst>
              <a:gd name="adj" fmla="val 8000"/>
            </a:avLst>
          </a:prstGeom>
          <a:solidFill>
            <a:srgbClr val="EAF4F4"/>
          </a:solidFill>
          <a:ln w="9525">
            <a:solidFill>
              <a:srgbClr val="55A49C"/>
            </a:solidFill>
          </a:ln>
          <a:effectLst>
            <a:outerShdw blurRad="171450" dist="29210" dir="5400000" algn="bl" rotWithShape="0">
              <a:srgbClr val="1B5E72">
                <a:alpha val="22000"/>
              </a:srgbClr>
            </a:outerShdw>
          </a:effectLst>
        </p:spPr>
        <p:txBody>
          <a:bodyPr wrap="square" lIns="91440" tIns="54000" rIns="91440" bIns="36000" rtlCol="0" anchor="t"/>
          <a:lstStyle/>
          <a:p>
            <a:pPr marL="0" indent="0" algn="ctr">
              <a:spcBef>
                <a:spcPts val="75"/>
              </a:spcBef>
              <a:buNone/>
            </a:pPr>
            <a:r>
              <a:rPr lang="en-US" sz="650" b="1" kern="0" spc="74" dirty="0">
                <a:solidFill>
                  <a:srgbClr val="55A49C"/>
                </a:solidFill>
                <a:latin typeface="Calibri" pitchFamily="34" charset="0"/>
              </a:rPr>
              <a:t>HOW TO COLOR YOUR WHEEL</a:t>
            </a:r>
            <a:endParaRPr lang="en-US" sz="650" dirty="0"/>
          </a:p>
          <a:p>
            <a:pPr marL="171450" indent="-171450" algn="l">
              <a:spcBef>
                <a:spcPts val="75"/>
              </a:spcBef>
              <a:buNone/>
            </a:pPr>
            <a:r>
              <a:rPr lang="en-US" sz="650" b="1" kern="0" dirty="0">
                <a:solidFill>
                  <a:srgbClr val="E1876A"/>
                </a:solidFill>
                <a:latin typeface="Calibri" pitchFamily="34" charset="0"/>
              </a:rPr>
              <a:t>1</a:t>
            </a:r>
            <a:r>
              <a:rPr lang="en-US" sz="650" b="1" kern="0" dirty="0">
                <a:solidFill>
                  <a:srgbClr val="C2762A"/>
                </a:solidFill>
                <a:latin typeface="Calibri" pitchFamily="34" charset="0"/>
              </a:rPr>
              <a:t>  </a:t>
            </a:r>
            <a:r>
              <a:rPr lang="en-US" sz="650" kern="0" dirty="0">
                <a:solidFill>
                  <a:schemeClr val="tx1">
                    <a:lumMod val="75000"/>
                    <a:lumOff val="25000"/>
                  </a:schemeClr>
                </a:solidFill>
                <a:latin typeface="Calibri" pitchFamily="34" charset="0"/>
              </a:rPr>
              <a:t>Update the needs on the right (if needed)</a:t>
            </a:r>
            <a:endParaRPr lang="en-US" sz="650" dirty="0"/>
          </a:p>
          <a:p>
            <a:pPr marL="171450" indent="-171450" algn="l">
              <a:spcBef>
                <a:spcPts val="75"/>
              </a:spcBef>
              <a:buNone/>
            </a:pPr>
            <a:r>
              <a:rPr lang="en-US" sz="650" b="1" kern="0" dirty="0">
                <a:solidFill>
                  <a:srgbClr val="E1876A"/>
                </a:solidFill>
                <a:latin typeface="Calibri" pitchFamily="34" charset="0"/>
              </a:rPr>
              <a:t>2</a:t>
            </a:r>
            <a:r>
              <a:rPr lang="en-US" sz="650" b="1" kern="0" dirty="0">
                <a:solidFill>
                  <a:srgbClr val="C2762A"/>
                </a:solidFill>
                <a:latin typeface="Calibri" pitchFamily="34" charset="0"/>
              </a:rPr>
              <a:t>  </a:t>
            </a:r>
            <a:r>
              <a:rPr lang="en-US" sz="650" kern="0" dirty="0">
                <a:solidFill>
                  <a:srgbClr val="2C2C2C"/>
                </a:solidFill>
                <a:latin typeface="Calibri" pitchFamily="34" charset="0"/>
              </a:rPr>
              <a:t>Select a need/color from the options to the right</a:t>
            </a:r>
            <a:endParaRPr lang="en-US" sz="650" dirty="0"/>
          </a:p>
          <a:p>
            <a:pPr marL="171450" indent="-171450">
              <a:spcBef>
                <a:spcPts val="75"/>
              </a:spcBef>
            </a:pPr>
            <a:r>
              <a:rPr lang="en-US" sz="650" b="1" kern="0" dirty="0">
                <a:solidFill>
                  <a:srgbClr val="E1876A"/>
                </a:solidFill>
                <a:latin typeface="Calibri" pitchFamily="34" charset="0"/>
              </a:rPr>
              <a:t>3</a:t>
            </a:r>
            <a:r>
              <a:rPr lang="en-US" sz="650" b="1" kern="0" dirty="0">
                <a:solidFill>
                  <a:srgbClr val="2C2C2C"/>
                </a:solidFill>
                <a:latin typeface="Calibri" pitchFamily="34" charset="0"/>
              </a:rPr>
              <a:t>  </a:t>
            </a:r>
            <a:r>
              <a:rPr lang="en-US" sz="650" kern="0" dirty="0">
                <a:solidFill>
                  <a:srgbClr val="2C2C2C"/>
                </a:solidFill>
                <a:latin typeface="Calibri" pitchFamily="34" charset="0"/>
              </a:rPr>
              <a:t>On the Home tab, double-click Format Painter (paint brush icon)</a:t>
            </a:r>
            <a:endParaRPr lang="en-US" sz="650" dirty="0"/>
          </a:p>
          <a:p>
            <a:pPr algn="l">
              <a:spcBef>
                <a:spcPts val="75"/>
              </a:spcBef>
            </a:pPr>
            <a:r>
              <a:rPr lang="en-US" sz="650" b="1" kern="0" dirty="0">
                <a:solidFill>
                  <a:srgbClr val="E1876A"/>
                </a:solidFill>
                <a:latin typeface="Calibri" pitchFamily="34" charset="0"/>
              </a:rPr>
              <a:t>4</a:t>
            </a:r>
            <a:r>
              <a:rPr lang="en-US" sz="650" b="1" kern="0" dirty="0">
                <a:solidFill>
                  <a:srgbClr val="C2762A"/>
                </a:solidFill>
                <a:latin typeface="Calibri" pitchFamily="34" charset="0"/>
              </a:rPr>
              <a:t>  </a:t>
            </a:r>
            <a:r>
              <a:rPr lang="en-US" sz="650" kern="0" dirty="0">
                <a:solidFill>
                  <a:srgbClr val="2C2C2C"/>
                </a:solidFill>
                <a:latin typeface="Calibri" pitchFamily="34" charset="0"/>
              </a:rPr>
              <a:t>Click on each wedge you want represented by that color</a:t>
            </a:r>
          </a:p>
          <a:p>
            <a:pPr>
              <a:spcBef>
                <a:spcPts val="75"/>
              </a:spcBef>
            </a:pPr>
            <a:r>
              <a:rPr lang="en-US" sz="650" b="1" kern="0" dirty="0">
                <a:solidFill>
                  <a:srgbClr val="E1876A"/>
                </a:solidFill>
                <a:latin typeface="Calibri" pitchFamily="34" charset="0"/>
              </a:rPr>
              <a:t>5  </a:t>
            </a:r>
            <a:r>
              <a:rPr lang="en-US" sz="650" kern="0" dirty="0">
                <a:solidFill>
                  <a:srgbClr val="2C2C2C"/>
                </a:solidFill>
                <a:latin typeface="Calibri" pitchFamily="34" charset="0"/>
              </a:rPr>
              <a:t>To change color, press esc and repeat steps 2-4</a:t>
            </a:r>
          </a:p>
          <a:p>
            <a:pPr>
              <a:spcBef>
                <a:spcPts val="75"/>
              </a:spcBef>
            </a:pPr>
            <a:endParaRPr lang="en-US" sz="700" dirty="0"/>
          </a:p>
        </p:txBody>
      </p:sp>
      <p:sp>
        <p:nvSpPr>
          <p:cNvPr id="200" name="Pillars Card"/>
          <p:cNvSpPr/>
          <p:nvPr/>
        </p:nvSpPr>
        <p:spPr>
          <a:xfrm>
            <a:off x="285400" y="1027039"/>
            <a:ext cx="2129600" cy="3034621"/>
          </a:xfrm>
          <a:prstGeom prst="roundRect">
            <a:avLst>
              <a:gd name="adj" fmla="val 5000"/>
            </a:avLst>
          </a:prstGeom>
          <a:solidFill>
            <a:srgbClr val="EAF4F4"/>
          </a:solidFill>
          <a:ln w="9525">
            <a:solidFill>
              <a:srgbClr val="55A49C"/>
            </a:solidFill>
          </a:ln>
          <a:effectLst>
            <a:outerShdw blurRad="120000" dist="25000" dir="5400000" algn="bl" rotWithShape="0">
              <a:srgbClr val="000000">
                <a:alpha val="28000"/>
              </a:srgbClr>
            </a:outerShdw>
          </a:effectLst>
        </p:spPr>
        <p:txBody>
          <a:bodyPr wrap="square" lIns="118000" tIns="110000" rIns="118000" bIns="110000" rtlCol="0" anchor="t">
            <a:normAutofit fontScale="92500" lnSpcReduction="10000"/>
          </a:bodyPr>
          <a:lstStyle/>
          <a:p>
            <a:pPr marL="0" indent="0">
              <a:buNone/>
            </a:pPr>
            <a:r>
              <a:rPr lang="en-US" sz="1300" b="1" dirty="0">
                <a:solidFill>
                  <a:srgbClr val="1B5E72"/>
                </a:solidFill>
                <a:latin typeface="Calibri" pitchFamily="34" charset="0"/>
              </a:rPr>
              <a:t>Protecting Three Pillars of Time</a:t>
            </a:r>
          </a:p>
          <a:p>
            <a:pPr marL="0" indent="0">
              <a:spcBef>
                <a:spcPts val="600"/>
              </a:spcBef>
              <a:buNone/>
            </a:pPr>
            <a:r>
              <a:rPr lang="en-US" sz="1000" b="1" dirty="0">
                <a:solidFill>
                  <a:srgbClr val="1B5E72"/>
                </a:solidFill>
                <a:latin typeface="Calibri" pitchFamily="34" charset="0"/>
              </a:rPr>
              <a:t>Your clients' time — </a:t>
            </a:r>
            <a:r>
              <a:rPr lang="en-US" sz="1000" dirty="0">
                <a:solidFill>
                  <a:srgbClr val="2C2C2C"/>
                </a:solidFill>
                <a:latin typeface="Calibri" pitchFamily="34" charset="0"/>
              </a:rPr>
              <a:t>what is considered client’s time?  Session? Writing a note? Finalizing a care plan? Parent check-in?</a:t>
            </a:r>
          </a:p>
          <a:p>
            <a:pPr marL="0" indent="0">
              <a:spcBef>
                <a:spcPts val="500"/>
              </a:spcBef>
              <a:buNone/>
            </a:pPr>
            <a:r>
              <a:rPr lang="en-US" sz="1000" b="1" dirty="0">
                <a:solidFill>
                  <a:srgbClr val="1B5E72"/>
                </a:solidFill>
                <a:latin typeface="Calibri" pitchFamily="34" charset="0"/>
              </a:rPr>
              <a:t>Your time outside clinical hours — </a:t>
            </a:r>
            <a:r>
              <a:rPr lang="en-US" sz="1000" dirty="0">
                <a:solidFill>
                  <a:srgbClr val="2C2C2C"/>
                </a:solidFill>
                <a:latin typeface="Calibri" pitchFamily="34" charset="0"/>
              </a:rPr>
              <a:t>there aren’t many of these hours in the work week, protect them for the tasks you can’t do in session, like supervision, team meetings, collaborating with schools.</a:t>
            </a:r>
          </a:p>
          <a:p>
            <a:pPr marL="0" indent="0">
              <a:spcBef>
                <a:spcPts val="500"/>
              </a:spcBef>
              <a:buNone/>
            </a:pPr>
            <a:r>
              <a:rPr lang="en-US" sz="1000" b="1" dirty="0">
                <a:solidFill>
                  <a:srgbClr val="1B5E72"/>
                </a:solidFill>
                <a:latin typeface="Calibri" pitchFamily="34" charset="0"/>
              </a:rPr>
              <a:t>Your personal time — </a:t>
            </a:r>
            <a:r>
              <a:rPr lang="en-US" sz="1000" dirty="0">
                <a:solidFill>
                  <a:srgbClr val="2C2C2C"/>
                </a:solidFill>
                <a:latin typeface="Calibri" pitchFamily="34" charset="0"/>
              </a:rPr>
              <a:t>keep space for rest, relationships, and recovery and leave work at work.</a:t>
            </a:r>
          </a:p>
          <a:p>
            <a:pPr marL="0" indent="0">
              <a:spcBef>
                <a:spcPts val="700"/>
              </a:spcBef>
              <a:buNone/>
            </a:pPr>
            <a:r>
              <a:rPr lang="en-US" sz="1000" b="1" dirty="0">
                <a:solidFill>
                  <a:srgbClr val="C2762A"/>
                </a:solidFill>
                <a:latin typeface="Calibri" pitchFamily="34" charset="0"/>
              </a:rPr>
              <a:t>Why it matters: </a:t>
            </a:r>
            <a:r>
              <a:rPr lang="en-US" sz="1000" dirty="0">
                <a:solidFill>
                  <a:srgbClr val="2C2C2C"/>
                </a:solidFill>
                <a:latin typeface="Calibri" pitchFamily="34" charset="0"/>
              </a:rPr>
              <a:t>protecting all three builds career longevity, reduces burnout, and improves client care.</a:t>
            </a:r>
          </a:p>
        </p:txBody>
      </p:sp>
      <p:sp>
        <p:nvSpPr>
          <p:cNvPr id="209" name="Legend Heading"/>
          <p:cNvSpPr/>
          <p:nvPr/>
        </p:nvSpPr>
        <p:spPr>
          <a:xfrm>
            <a:off x="6500000" y="600000"/>
            <a:ext cx="2480000" cy="240000"/>
          </a:xfrm>
          <a:prstGeom prst="rect">
            <a:avLst/>
          </a:prstGeom>
          <a:noFill/>
        </p:spPr>
        <p:txBody>
          <a:bodyPr wrap="square" lIns="0" tIns="0" rIns="0" bIns="0" rtlCol="0" anchor="ctr"/>
          <a:lstStyle/>
          <a:p>
            <a:pPr marL="0" indent="0" algn="ctr">
              <a:buNone/>
            </a:pPr>
            <a:r>
              <a:rPr lang="en-US" sz="1000" b="1">
                <a:solidFill>
                  <a:srgbClr val="FAB753"/>
                </a:solidFill>
                <a:latin typeface="Calibri" pitchFamily="34" charset="0"/>
              </a:rPr>
              <a:t>BASIC NEEDS + WORK TIME</a:t>
            </a:r>
            <a:endParaRPr lang="en-US" sz="1000"/>
          </a:p>
        </p:txBody>
      </p:sp>
      <p:sp>
        <p:nvSpPr>
          <p:cNvPr id="210" name="Oval Sleep"/>
          <p:cNvSpPr/>
          <p:nvPr/>
        </p:nvSpPr>
        <p:spPr>
          <a:xfrm>
            <a:off x="6500000" y="900000"/>
            <a:ext cx="1200000" cy="700000"/>
          </a:xfrm>
          <a:prstGeom prst="ellipse">
            <a:avLst/>
          </a:prstGeom>
          <a:solidFill>
            <a:schemeClr val="accent1">
              <a:lumMod val="75000"/>
            </a:schemeClr>
          </a:solidFill>
          <a:ln w="6350">
            <a:solidFill>
              <a:srgbClr val="3F6670"/>
            </a:solidFill>
          </a:ln>
        </p:spPr>
        <p:txBody>
          <a:bodyPr wrap="square" lIns="36000" tIns="18000" rIns="36000" bIns="18000" rtlCol="0" anchor="ctr"/>
          <a:lstStyle/>
          <a:p>
            <a:pPr marL="0" indent="0" algn="ctr">
              <a:buNone/>
            </a:pPr>
            <a:r>
              <a:rPr lang="en-US" sz="1100" b="1" dirty="0">
                <a:solidFill>
                  <a:schemeClr val="accent1">
                    <a:lumMod val="20000"/>
                    <a:lumOff val="80000"/>
                  </a:schemeClr>
                </a:solidFill>
                <a:latin typeface="Calibri" pitchFamily="34" charset="0"/>
              </a:rPr>
              <a:t>Sleep</a:t>
            </a:r>
            <a:endParaRPr lang="en-US" sz="1100" dirty="0">
              <a:solidFill>
                <a:schemeClr val="accent1">
                  <a:lumMod val="20000"/>
                  <a:lumOff val="80000"/>
                </a:schemeClr>
              </a:solidFill>
            </a:endParaRPr>
          </a:p>
        </p:txBody>
      </p:sp>
      <p:sp>
        <p:nvSpPr>
          <p:cNvPr id="211" name="Oval Eat"/>
          <p:cNvSpPr/>
          <p:nvPr/>
        </p:nvSpPr>
        <p:spPr>
          <a:xfrm>
            <a:off x="7780000" y="900000"/>
            <a:ext cx="1200000" cy="700000"/>
          </a:xfrm>
          <a:prstGeom prst="ellipse">
            <a:avLst/>
          </a:prstGeom>
          <a:solidFill>
            <a:schemeClr val="accent6">
              <a:lumMod val="75000"/>
            </a:schemeClr>
          </a:solidFill>
          <a:ln w="6350">
            <a:solidFill>
              <a:schemeClr val="accent6">
                <a:lumMod val="75000"/>
              </a:schemeClr>
            </a:solidFill>
          </a:ln>
        </p:spPr>
        <p:txBody>
          <a:bodyPr wrap="square" lIns="36000" tIns="18000" rIns="36000" bIns="18000" rtlCol="0" anchor="ctr"/>
          <a:lstStyle/>
          <a:p>
            <a:pPr marL="0" indent="0" algn="ctr">
              <a:buNone/>
            </a:pPr>
            <a:r>
              <a:rPr lang="en-US" sz="1100" b="1" dirty="0">
                <a:solidFill>
                  <a:schemeClr val="accent6">
                    <a:lumMod val="20000"/>
                    <a:lumOff val="80000"/>
                  </a:schemeClr>
                </a:solidFill>
                <a:latin typeface="Calibri" pitchFamily="34" charset="0"/>
              </a:rPr>
              <a:t>Eat</a:t>
            </a:r>
            <a:endParaRPr lang="en-US" sz="1100" dirty="0">
              <a:solidFill>
                <a:schemeClr val="accent6">
                  <a:lumMod val="20000"/>
                  <a:lumOff val="80000"/>
                </a:schemeClr>
              </a:solidFill>
            </a:endParaRPr>
          </a:p>
        </p:txBody>
      </p:sp>
      <p:sp>
        <p:nvSpPr>
          <p:cNvPr id="212" name="Oval Connection"/>
          <p:cNvSpPr/>
          <p:nvPr/>
        </p:nvSpPr>
        <p:spPr>
          <a:xfrm>
            <a:off x="6500000" y="1760000"/>
            <a:ext cx="1200000" cy="700000"/>
          </a:xfrm>
          <a:prstGeom prst="ellipse">
            <a:avLst/>
          </a:prstGeom>
          <a:solidFill>
            <a:srgbClr val="E12CCA"/>
          </a:solidFill>
          <a:ln w="6350">
            <a:solidFill>
              <a:srgbClr val="3F6670"/>
            </a:solidFill>
          </a:ln>
        </p:spPr>
        <p:txBody>
          <a:bodyPr wrap="square" lIns="36000" tIns="18000" rIns="36000" bIns="18000" rtlCol="0" anchor="ctr"/>
          <a:lstStyle/>
          <a:p>
            <a:pPr marL="0" indent="0" algn="ctr">
              <a:buNone/>
            </a:pPr>
            <a:r>
              <a:rPr lang="en-US" sz="1100" b="1" dirty="0">
                <a:solidFill>
                  <a:srgbClr val="FFCFFB"/>
                </a:solidFill>
                <a:latin typeface="Calibri" pitchFamily="34" charset="0"/>
              </a:rPr>
              <a:t>Connection</a:t>
            </a:r>
            <a:endParaRPr lang="en-US" sz="1100" dirty="0">
              <a:solidFill>
                <a:srgbClr val="FFCFFB"/>
              </a:solidFill>
            </a:endParaRPr>
          </a:p>
        </p:txBody>
      </p:sp>
      <p:sp>
        <p:nvSpPr>
          <p:cNvPr id="213" name="Oval Movement"/>
          <p:cNvSpPr/>
          <p:nvPr/>
        </p:nvSpPr>
        <p:spPr>
          <a:xfrm>
            <a:off x="7780000" y="1760000"/>
            <a:ext cx="1200000" cy="700000"/>
          </a:xfrm>
          <a:prstGeom prst="ellipse">
            <a:avLst/>
          </a:prstGeom>
          <a:solidFill>
            <a:schemeClr val="accent4">
              <a:lumMod val="60000"/>
              <a:lumOff val="40000"/>
            </a:schemeClr>
          </a:solidFill>
          <a:ln w="6350">
            <a:solidFill>
              <a:srgbClr val="3F6670"/>
            </a:solidFill>
          </a:ln>
        </p:spPr>
        <p:txBody>
          <a:bodyPr wrap="square" lIns="36000" tIns="18000" rIns="36000" bIns="18000" rtlCol="0" anchor="ctr"/>
          <a:lstStyle/>
          <a:p>
            <a:pPr marL="0" indent="0" algn="ctr">
              <a:buNone/>
            </a:pPr>
            <a:r>
              <a:rPr lang="en-US" sz="1100" b="1">
                <a:solidFill>
                  <a:schemeClr val="accent4">
                    <a:lumMod val="75000"/>
                  </a:schemeClr>
                </a:solidFill>
                <a:latin typeface="Calibri" pitchFamily="34" charset="0"/>
              </a:rPr>
              <a:t>Movement</a:t>
            </a:r>
            <a:endParaRPr lang="en-US" sz="1100">
              <a:solidFill>
                <a:schemeClr val="accent4">
                  <a:lumMod val="75000"/>
                </a:schemeClr>
              </a:solidFill>
            </a:endParaRPr>
          </a:p>
        </p:txBody>
      </p:sp>
      <p:sp>
        <p:nvSpPr>
          <p:cNvPr id="214" name="Oval Rest"/>
          <p:cNvSpPr/>
          <p:nvPr/>
        </p:nvSpPr>
        <p:spPr>
          <a:xfrm>
            <a:off x="6500000" y="2620000"/>
            <a:ext cx="1200000" cy="700000"/>
          </a:xfrm>
          <a:prstGeom prst="ellipse">
            <a:avLst/>
          </a:prstGeom>
          <a:solidFill>
            <a:srgbClr val="7030A0"/>
          </a:solidFill>
          <a:ln w="6350">
            <a:solidFill>
              <a:srgbClr val="3F6670"/>
            </a:solidFill>
          </a:ln>
        </p:spPr>
        <p:txBody>
          <a:bodyPr wrap="square" lIns="36000" tIns="18000" rIns="36000" bIns="18000" rtlCol="0" anchor="ctr"/>
          <a:lstStyle/>
          <a:p>
            <a:pPr marL="0" indent="0" algn="ctr">
              <a:buNone/>
            </a:pPr>
            <a:r>
              <a:rPr lang="en-US" sz="1100" b="1" dirty="0">
                <a:solidFill>
                  <a:srgbClr val="E2BCFF"/>
                </a:solidFill>
                <a:latin typeface="Calibri" pitchFamily="34" charset="0"/>
              </a:rPr>
              <a:t>Hobby</a:t>
            </a:r>
            <a:endParaRPr lang="en-US" sz="1100" dirty="0">
              <a:solidFill>
                <a:srgbClr val="E2BCFF"/>
              </a:solidFill>
            </a:endParaRPr>
          </a:p>
        </p:txBody>
      </p:sp>
      <p:sp>
        <p:nvSpPr>
          <p:cNvPr id="215" name="Oval Self-Care"/>
          <p:cNvSpPr/>
          <p:nvPr/>
        </p:nvSpPr>
        <p:spPr>
          <a:xfrm>
            <a:off x="7780000" y="2620000"/>
            <a:ext cx="1200000" cy="700000"/>
          </a:xfrm>
          <a:prstGeom prst="ellipse">
            <a:avLst/>
          </a:prstGeom>
          <a:solidFill>
            <a:schemeClr val="accent6">
              <a:lumMod val="40000"/>
              <a:lumOff val="60000"/>
            </a:schemeClr>
          </a:solidFill>
          <a:ln w="6350">
            <a:solidFill>
              <a:srgbClr val="3F6670"/>
            </a:solidFill>
          </a:ln>
        </p:spPr>
        <p:txBody>
          <a:bodyPr wrap="square" lIns="36000" tIns="18000" rIns="36000" bIns="18000" rtlCol="0" anchor="ctr"/>
          <a:lstStyle/>
          <a:p>
            <a:pPr marL="0" indent="0" algn="ctr">
              <a:buNone/>
            </a:pPr>
            <a:r>
              <a:rPr lang="en-US" sz="1100" b="1">
                <a:solidFill>
                  <a:schemeClr val="accent6">
                    <a:lumMod val="50000"/>
                  </a:schemeClr>
                </a:solidFill>
                <a:latin typeface="Calibri" pitchFamily="34" charset="0"/>
              </a:rPr>
              <a:t>Self-Care</a:t>
            </a:r>
            <a:endParaRPr lang="en-US" sz="1100">
              <a:solidFill>
                <a:schemeClr val="accent6">
                  <a:lumMod val="50000"/>
                </a:schemeClr>
              </a:solidFill>
            </a:endParaRPr>
          </a:p>
        </p:txBody>
      </p:sp>
      <p:sp>
        <p:nvSpPr>
          <p:cNvPr id="216" name="Oval Clinical Hours"/>
          <p:cNvSpPr/>
          <p:nvPr/>
        </p:nvSpPr>
        <p:spPr>
          <a:xfrm>
            <a:off x="6500000" y="3480000"/>
            <a:ext cx="1200000" cy="700000"/>
          </a:xfrm>
          <a:prstGeom prst="ellipse">
            <a:avLst/>
          </a:prstGeom>
          <a:solidFill>
            <a:srgbClr val="FF959E"/>
          </a:solidFill>
          <a:ln w="6350">
            <a:solidFill>
              <a:srgbClr val="3F6670"/>
            </a:solidFill>
          </a:ln>
        </p:spPr>
        <p:txBody>
          <a:bodyPr wrap="square" lIns="36000" tIns="18000" rIns="36000" bIns="18000" rtlCol="0" anchor="ctr"/>
          <a:lstStyle/>
          <a:p>
            <a:pPr marL="0" indent="0" algn="ctr">
              <a:buNone/>
            </a:pPr>
            <a:r>
              <a:rPr lang="en-US" sz="1050" b="1" dirty="0">
                <a:solidFill>
                  <a:srgbClr val="C00000"/>
                </a:solidFill>
                <a:latin typeface="Calibri" pitchFamily="34" charset="0"/>
              </a:rPr>
              <a:t>8 hour</a:t>
            </a:r>
          </a:p>
          <a:p>
            <a:pPr marL="0" indent="0" algn="ctr">
              <a:buNone/>
            </a:pPr>
            <a:r>
              <a:rPr lang="en-US" sz="1050" b="1" dirty="0">
                <a:solidFill>
                  <a:srgbClr val="C00000"/>
                </a:solidFill>
                <a:latin typeface="Calibri" pitchFamily="34" charset="0"/>
              </a:rPr>
              <a:t>workday</a:t>
            </a:r>
            <a:endParaRPr lang="en-US" sz="1050" dirty="0">
              <a:solidFill>
                <a:srgbClr val="C00000"/>
              </a:solidFill>
            </a:endParaRPr>
          </a:p>
        </p:txBody>
      </p:sp>
      <p:sp>
        <p:nvSpPr>
          <p:cNvPr id="217" name="Oval Administrative Time"/>
          <p:cNvSpPr/>
          <p:nvPr/>
        </p:nvSpPr>
        <p:spPr>
          <a:xfrm>
            <a:off x="7780000" y="3480000"/>
            <a:ext cx="1200000" cy="700000"/>
          </a:xfrm>
          <a:prstGeom prst="ellipse">
            <a:avLst/>
          </a:prstGeom>
          <a:solidFill>
            <a:schemeClr val="accent2">
              <a:lumMod val="40000"/>
              <a:lumOff val="60000"/>
            </a:schemeClr>
          </a:solidFill>
          <a:ln w="6350">
            <a:solidFill>
              <a:srgbClr val="3F6670"/>
            </a:solidFill>
          </a:ln>
        </p:spPr>
        <p:txBody>
          <a:bodyPr wrap="square" lIns="36000" tIns="18000" rIns="36000" bIns="18000" rtlCol="0" anchor="ctr"/>
          <a:lstStyle/>
          <a:p>
            <a:pPr algn="ctr"/>
            <a:r>
              <a:rPr lang="en-US" sz="1100" b="1" dirty="0">
                <a:solidFill>
                  <a:schemeClr val="accent2"/>
                </a:solidFill>
                <a:latin typeface="Calibri" pitchFamily="34" charset="0"/>
              </a:rPr>
              <a:t>Cooking/</a:t>
            </a:r>
          </a:p>
          <a:p>
            <a:pPr algn="ctr"/>
            <a:r>
              <a:rPr lang="en-US" sz="1100" b="1" dirty="0">
                <a:solidFill>
                  <a:schemeClr val="accent2"/>
                </a:solidFill>
                <a:latin typeface="Calibri" pitchFamily="34" charset="0"/>
              </a:rPr>
              <a:t>Cleaning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356991"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1357461" y="0"/>
            <a:ext cx="1428750" cy="999530"/>
          </a:xfrm>
          <a:prstGeom prst="ellipse">
            <a:avLst/>
          </a:prstGeom>
          <a:solidFill>
            <a:srgbClr val="FFFFFF">
              <a:alpha val="4000"/>
            </a:srgbClr>
          </a:solidFill>
          <a:ln/>
        </p:spPr>
        <p:txBody>
          <a:bodyPr wrap="square" rtlCol="0" anchor="t"/>
          <a:lstStyle/>
          <a:p>
            <a:pPr marL="0" indent="0">
              <a:buNone/>
            </a:pPr>
            <a:endParaRPr lang="en-US" dirty="0"/>
          </a:p>
        </p:txBody>
      </p:sp>
      <p:sp>
        <p:nvSpPr>
          <p:cNvPr id="4" name="Text 2"/>
          <p:cNvSpPr/>
          <p:nvPr/>
        </p:nvSpPr>
        <p:spPr>
          <a:xfrm>
            <a:off x="0" y="3928170"/>
            <a:ext cx="714970" cy="1000720"/>
          </a:xfrm>
          <a:prstGeom prst="ellipse">
            <a:avLst/>
          </a:prstGeom>
          <a:solidFill>
            <a:srgbClr val="FFFFFF">
              <a:alpha val="5000"/>
            </a:srgbClr>
          </a:solidFill>
          <a:ln/>
        </p:spPr>
        <p:txBody>
          <a:bodyPr wrap="square" rtlCol="0" anchor="t"/>
          <a:lstStyle/>
          <a:p>
            <a:pPr marL="0" indent="0">
              <a:buNone/>
            </a:pPr>
            <a:endParaRPr lang="en-US" dirty="0"/>
          </a:p>
        </p:txBody>
      </p:sp>
      <p:sp>
        <p:nvSpPr>
          <p:cNvPr id="5" name="Text 3"/>
          <p:cNvSpPr/>
          <p:nvPr/>
        </p:nvSpPr>
        <p:spPr>
          <a:xfrm>
            <a:off x="257770" y="1418630"/>
            <a:ext cx="314920" cy="346412"/>
          </a:xfrm>
          <a:prstGeom prst="ellipse">
            <a:avLst/>
          </a:prstGeom>
          <a:solidFill>
            <a:srgbClr val="FAB753"/>
          </a:solidFill>
          <a:ln/>
        </p:spPr>
        <p:txBody>
          <a:bodyPr wrap="none" lIns="0" tIns="0" rIns="0" bIns="0" rtlCol="0" anchor="ctr"/>
          <a:lstStyle/>
          <a:p>
            <a:pPr marL="0" indent="0" algn="ctr">
              <a:buNone/>
            </a:pPr>
            <a:r>
              <a:rPr lang="en-US" sz="1010" b="1" dirty="0">
                <a:solidFill>
                  <a:srgbClr val="1B3A45"/>
                </a:solidFill>
                <a:latin typeface="Calibri" pitchFamily="34" charset="0"/>
                <a:ea typeface="Calibri" pitchFamily="34" charset="-122"/>
                <a:cs typeface="Calibri" pitchFamily="34" charset="-120"/>
              </a:rPr>
              <a:t>3</a:t>
            </a:r>
            <a:endParaRPr lang="en-US" sz="1010" dirty="0"/>
          </a:p>
        </p:txBody>
      </p:sp>
      <p:sp>
        <p:nvSpPr>
          <p:cNvPr id="6" name="Text 4"/>
          <p:cNvSpPr/>
          <p:nvPr/>
        </p:nvSpPr>
        <p:spPr>
          <a:xfrm>
            <a:off x="643682" y="1453009"/>
            <a:ext cx="733589" cy="118021"/>
          </a:xfrm>
          <a:prstGeom prst="rect">
            <a:avLst/>
          </a:prstGeom>
          <a:noFill/>
          <a:ln/>
        </p:spPr>
        <p:txBody>
          <a:bodyPr wrap="none" lIns="0" tIns="0" rIns="0" bIns="0" rtlCol="0" anchor="ctr"/>
          <a:lstStyle/>
          <a:p>
            <a:pPr marL="0" indent="0" algn="l">
              <a:lnSpc>
                <a:spcPts val="930"/>
              </a:lnSpc>
              <a:buNone/>
            </a:pPr>
            <a:r>
              <a:rPr lang="en-US" sz="620" b="1" kern="0" spc="112" dirty="0">
                <a:solidFill>
                  <a:srgbClr val="FAB753"/>
                </a:solidFill>
                <a:latin typeface="Calibri" pitchFamily="34" charset="0"/>
                <a:ea typeface="Calibri" pitchFamily="34" charset="-122"/>
                <a:cs typeface="Calibri" pitchFamily="34" charset="-120"/>
              </a:rPr>
              <a:t>OBJECTIVE 3</a:t>
            </a:r>
            <a:endParaRPr lang="en-US" sz="620" dirty="0"/>
          </a:p>
        </p:txBody>
      </p:sp>
      <p:sp>
        <p:nvSpPr>
          <p:cNvPr id="7" name="Text 5"/>
          <p:cNvSpPr/>
          <p:nvPr/>
        </p:nvSpPr>
        <p:spPr>
          <a:xfrm>
            <a:off x="257770" y="1891010"/>
            <a:ext cx="1878279" cy="729935"/>
          </a:xfrm>
          <a:prstGeom prst="rect">
            <a:avLst/>
          </a:prstGeom>
          <a:noFill/>
          <a:ln/>
        </p:spPr>
        <p:txBody>
          <a:bodyPr wrap="square" lIns="0" tIns="0" rIns="0" bIns="0" rtlCol="0" anchor="t"/>
          <a:lstStyle/>
          <a:p>
            <a:pPr marL="0" indent="0" algn="l">
              <a:lnSpc>
                <a:spcPts val="1825"/>
              </a:lnSpc>
              <a:buNone/>
            </a:pPr>
            <a:r>
              <a:rPr lang="en-US" sz="1460" b="1" dirty="0">
                <a:solidFill>
                  <a:srgbClr val="FFFFFF"/>
                </a:solidFill>
                <a:latin typeface="Calibri Light" pitchFamily="34" charset="0"/>
                <a:ea typeface="Calibri Light" pitchFamily="34" charset="-122"/>
                <a:cs typeface="Calibri Light" pitchFamily="34" charset="-120"/>
              </a:rPr>
              <a:t>Time Management for School-Based Providers</a:t>
            </a:r>
            <a:endParaRPr lang="en-US" sz="1460" dirty="0"/>
          </a:p>
        </p:txBody>
      </p:sp>
      <p:sp>
        <p:nvSpPr>
          <p:cNvPr id="8" name="Text 6"/>
          <p:cNvSpPr/>
          <p:nvPr/>
        </p:nvSpPr>
        <p:spPr>
          <a:xfrm>
            <a:off x="257770" y="2729657"/>
            <a:ext cx="28575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9" name="Text 7"/>
          <p:cNvSpPr/>
          <p:nvPr/>
        </p:nvSpPr>
        <p:spPr>
          <a:xfrm>
            <a:off x="257770" y="2894707"/>
            <a:ext cx="1878279" cy="301600"/>
          </a:xfrm>
          <a:prstGeom prst="rect">
            <a:avLst/>
          </a:prstGeom>
          <a:noFill/>
          <a:ln/>
        </p:spPr>
        <p:txBody>
          <a:bodyPr wrap="square" lIns="0" tIns="0" rIns="0" bIns="0" rtlCol="0" anchor="t"/>
          <a:lstStyle/>
          <a:p>
            <a:pPr marL="0" indent="0" algn="l">
              <a:lnSpc>
                <a:spcPts val="1132"/>
              </a:lnSpc>
              <a:buNone/>
            </a:pPr>
            <a:r>
              <a:rPr lang="en-US" sz="730" i="1" dirty="0">
                <a:solidFill>
                  <a:srgbClr val="FFFFFF">
                    <a:alpha val="72000"/>
                  </a:srgbClr>
                </a:solidFill>
                <a:latin typeface="Calibri" pitchFamily="34" charset="0"/>
                <a:ea typeface="Calibri" pitchFamily="34" charset="-122"/>
                <a:cs typeface="Calibri" pitchFamily="34" charset="-120"/>
              </a:rPr>
              <a:t>Strategies that are research-informed and field-tested.</a:t>
            </a:r>
            <a:endParaRPr lang="en-US" sz="730" dirty="0"/>
          </a:p>
        </p:txBody>
      </p:sp>
      <p:pic>
        <p:nvPicPr>
          <p:cNvPr id="10" name="Image 0" descr="preencoded.png"/>
          <p:cNvPicPr>
            <a:picLocks noChangeAspect="1"/>
          </p:cNvPicPr>
          <p:nvPr/>
        </p:nvPicPr>
        <p:blipFill>
          <a:blip>
            <a:alphaModFix amt="18000"/>
            <a:extLst>
              <a:ext uri="{96DAC541-7B7A-43D3-8B79-37D633B846F1}">
                <asvg:svgBlip xmlns:asvg="http://schemas.microsoft.com/office/drawing/2016/SVG/main" r:embed="rId3"/>
              </a:ext>
            </a:extLst>
          </a:blip>
          <a:stretch>
            <a:fillRect/>
          </a:stretch>
        </p:blipFill>
        <p:spPr>
          <a:xfrm>
            <a:off x="257770" y="3467695"/>
            <a:ext cx="257175" cy="257175"/>
          </a:xfrm>
          <a:prstGeom prst="rect">
            <a:avLst/>
          </a:prstGeom>
        </p:spPr>
      </p:pic>
      <p:sp>
        <p:nvSpPr>
          <p:cNvPr id="11" name="Text 8"/>
          <p:cNvSpPr/>
          <p:nvPr/>
        </p:nvSpPr>
        <p:spPr>
          <a:xfrm>
            <a:off x="2671911" y="257770"/>
            <a:ext cx="6280312" cy="302865"/>
          </a:xfrm>
          <a:prstGeom prst="rect">
            <a:avLst/>
          </a:prstGeom>
          <a:noFill/>
          <a:ln/>
        </p:spPr>
        <p:txBody>
          <a:bodyPr wrap="none" lIns="0" tIns="0" rIns="0" bIns="57150" rtlCol="0" anchor="t"/>
          <a:lstStyle/>
          <a:p>
            <a:pPr marL="0" indent="0" algn="l">
              <a:buNone/>
            </a:pPr>
            <a:r>
              <a:rPr lang="en-US" sz="1240" b="1" dirty="0">
                <a:solidFill>
                  <a:srgbClr val="1B5E72"/>
                </a:solidFill>
                <a:latin typeface="Calibri Light" pitchFamily="34" charset="0"/>
                <a:ea typeface="Calibri Light" pitchFamily="34" charset="-122"/>
                <a:cs typeface="Calibri Light" pitchFamily="34" charset="-120"/>
              </a:rPr>
              <a:t>The Top Strategies</a:t>
            </a:r>
            <a:endParaRPr lang="en-US" sz="1240" dirty="0"/>
          </a:p>
        </p:txBody>
      </p:sp>
      <p:sp>
        <p:nvSpPr>
          <p:cNvPr id="12" name="Text 9"/>
          <p:cNvSpPr/>
          <p:nvPr/>
        </p:nvSpPr>
        <p:spPr>
          <a:xfrm>
            <a:off x="2671911" y="551111"/>
            <a:ext cx="6157168" cy="9525"/>
          </a:xfrm>
          <a:prstGeom prst="rect">
            <a:avLst/>
          </a:prstGeom>
          <a:solidFill>
            <a:srgbClr val="EAF4F4"/>
          </a:solidFill>
          <a:ln/>
        </p:spPr>
        <p:txBody>
          <a:bodyPr wrap="none" rtlCol="0" anchor="t"/>
          <a:lstStyle/>
          <a:p>
            <a:pPr marL="0" indent="0">
              <a:buNone/>
            </a:pPr>
            <a:endParaRPr lang="en-US" dirty="0"/>
          </a:p>
        </p:txBody>
      </p:sp>
      <p:sp>
        <p:nvSpPr>
          <p:cNvPr id="13" name="Text 10"/>
          <p:cNvSpPr/>
          <p:nvPr/>
        </p:nvSpPr>
        <p:spPr>
          <a:xfrm>
            <a:off x="2671911" y="660797"/>
            <a:ext cx="6157168" cy="519410"/>
          </a:xfrm>
          <a:prstGeom prst="roundRect">
            <a:avLst>
              <a:gd name="adj" fmla="val 8313"/>
            </a:avLst>
          </a:prstGeom>
          <a:solidFill>
            <a:srgbClr val="F7FBFB"/>
          </a:solidFill>
          <a:ln/>
        </p:spPr>
        <p:txBody>
          <a:bodyPr wrap="square" rtlCol="0" anchor="t"/>
          <a:lstStyle/>
          <a:p>
            <a:pPr marL="0" indent="0">
              <a:buNone/>
            </a:pPr>
            <a:endParaRPr lang="en-US" dirty="0"/>
          </a:p>
        </p:txBody>
      </p:sp>
      <p:sp>
        <p:nvSpPr>
          <p:cNvPr id="14" name="Text 11"/>
          <p:cNvSpPr/>
          <p:nvPr/>
        </p:nvSpPr>
        <p:spPr>
          <a:xfrm>
            <a:off x="2758232" y="725537"/>
            <a:ext cx="200620" cy="200620"/>
          </a:xfrm>
          <a:prstGeom prst="roundRect">
            <a:avLst>
              <a:gd name="adj" fmla="val 21523"/>
            </a:avLst>
          </a:prstGeom>
          <a:solidFill>
            <a:srgbClr val="FAB753"/>
          </a:solidFill>
          <a:ln/>
        </p:spPr>
        <p:txBody>
          <a:bodyPr wrap="none" rtlCol="0" anchor="t"/>
          <a:lstStyle/>
          <a:p>
            <a:pPr marL="0" indent="0">
              <a:buNone/>
            </a:pPr>
            <a:endParaRPr lang="en-US"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2173" y="759479"/>
            <a:ext cx="132588" cy="132588"/>
          </a:xfrm>
          <a:prstGeom prst="rect">
            <a:avLst/>
          </a:prstGeom>
        </p:spPr>
      </p:pic>
      <p:sp>
        <p:nvSpPr>
          <p:cNvPr id="16" name="Text 12"/>
          <p:cNvSpPr/>
          <p:nvPr/>
        </p:nvSpPr>
        <p:spPr>
          <a:xfrm>
            <a:off x="3045172" y="717947"/>
            <a:ext cx="5811539" cy="425366"/>
          </a:xfrm>
          <a:prstGeom prst="rect">
            <a:avLst/>
          </a:prstGeom>
          <a:noFill/>
          <a:ln/>
        </p:spPr>
        <p:txBody>
          <a:bodyPr wrap="square" lIns="0" tIns="0" rIns="0" bIns="0" rtlCol="0" anchor="ctr"/>
          <a:lstStyle/>
          <a:p>
            <a:pPr marL="0" indent="0" algn="l">
              <a:lnSpc>
                <a:spcPts val="1102"/>
              </a:lnSpc>
              <a:buNone/>
            </a:pPr>
            <a:r>
              <a:rPr lang="en-US" sz="760" b="1" dirty="0">
                <a:solidFill>
                  <a:srgbClr val="1B5E72"/>
                </a:solidFill>
                <a:latin typeface="Calibri" pitchFamily="34" charset="0"/>
                <a:ea typeface="Calibri" pitchFamily="34" charset="-122"/>
                <a:cs typeface="Calibri" pitchFamily="34" charset="-120"/>
              </a:rPr>
              <a:t>Eleos and collaborative documentation</a:t>
            </a:r>
            <a:r>
              <a:rPr lang="en-US" sz="760" dirty="0">
                <a:solidFill>
                  <a:srgbClr val="2C2C2C"/>
                </a:solidFill>
                <a:latin typeface="Calibri" pitchFamily="34" charset="0"/>
                <a:ea typeface="Calibri" pitchFamily="34" charset="-122"/>
                <a:cs typeface="Calibri" pitchFamily="34" charset="-120"/>
              </a:rPr>
              <a:t> </a:t>
            </a:r>
            <a:r>
              <a:rPr lang="en-US" sz="700" dirty="0">
                <a:solidFill>
                  <a:srgbClr val="4A4A4A"/>
                </a:solidFill>
                <a:latin typeface="Calibri" pitchFamily="34" charset="0"/>
                <a:ea typeface="Calibri" pitchFamily="34" charset="-122"/>
                <a:cs typeface="Calibri" pitchFamily="34" charset="-120"/>
              </a:rPr>
              <a:t>Treat documentation as part of the intervention. Completing notes with the client improves engagement, strengthens the alliance, and significantly reduces after-session admin time.</a:t>
            </a:r>
            <a:endParaRPr lang="en-US" sz="760" dirty="0"/>
          </a:p>
        </p:txBody>
      </p:sp>
      <p:sp>
        <p:nvSpPr>
          <p:cNvPr id="17" name="Text 13"/>
          <p:cNvSpPr/>
          <p:nvPr/>
        </p:nvSpPr>
        <p:spPr>
          <a:xfrm>
            <a:off x="2758232" y="1244947"/>
            <a:ext cx="200620" cy="200620"/>
          </a:xfrm>
          <a:prstGeom prst="roundRect">
            <a:avLst>
              <a:gd name="adj" fmla="val 21523"/>
            </a:avLst>
          </a:prstGeom>
          <a:solidFill>
            <a:srgbClr val="FAB753"/>
          </a:solidFill>
          <a:ln/>
        </p:spPr>
        <p:txBody>
          <a:bodyPr wrap="none" rtlCol="0" anchor="t"/>
          <a:lstStyle/>
          <a:p>
            <a:pPr marL="0" indent="0">
              <a:buNone/>
            </a:pPr>
            <a:endParaRPr lang="en-US" dirty="0"/>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92173" y="1278889"/>
            <a:ext cx="132588" cy="132588"/>
          </a:xfrm>
          <a:prstGeom prst="rect">
            <a:avLst/>
          </a:prstGeom>
        </p:spPr>
      </p:pic>
      <p:sp>
        <p:nvSpPr>
          <p:cNvPr id="19" name="Text 14"/>
          <p:cNvSpPr/>
          <p:nvPr/>
        </p:nvSpPr>
        <p:spPr>
          <a:xfrm>
            <a:off x="3045172" y="1237357"/>
            <a:ext cx="5811539" cy="425366"/>
          </a:xfrm>
          <a:prstGeom prst="rect">
            <a:avLst/>
          </a:prstGeom>
          <a:noFill/>
          <a:ln/>
        </p:spPr>
        <p:txBody>
          <a:bodyPr wrap="square" lIns="0" tIns="0" rIns="0" bIns="0" rtlCol="0" anchor="ctr"/>
          <a:lstStyle/>
          <a:p>
            <a:pPr marL="0" indent="0" algn="l">
              <a:lnSpc>
                <a:spcPts val="1102"/>
              </a:lnSpc>
              <a:buNone/>
            </a:pPr>
            <a:r>
              <a:rPr lang="en-US" sz="760" b="1" dirty="0">
                <a:solidFill>
                  <a:srgbClr val="1B5E72"/>
                </a:solidFill>
                <a:latin typeface="Calibri" pitchFamily="34" charset="0"/>
                <a:ea typeface="Calibri" pitchFamily="34" charset="-122"/>
                <a:cs typeface="Calibri" pitchFamily="34" charset="-120"/>
              </a:rPr>
              <a:t>Integrate parent contact into sessions</a:t>
            </a:r>
            <a:r>
              <a:rPr lang="en-US" sz="760" dirty="0">
                <a:solidFill>
                  <a:srgbClr val="2C2C2C"/>
                </a:solidFill>
                <a:latin typeface="Calibri" pitchFamily="34" charset="0"/>
                <a:ea typeface="Calibri" pitchFamily="34" charset="-122"/>
                <a:cs typeface="Calibri" pitchFamily="34" charset="-120"/>
              </a:rPr>
              <a:t> </a:t>
            </a:r>
            <a:r>
              <a:rPr lang="en-US" sz="700" dirty="0">
                <a:solidFill>
                  <a:srgbClr val="4A4A4A"/>
                </a:solidFill>
                <a:latin typeface="Calibri" pitchFamily="34" charset="0"/>
                <a:ea typeface="Calibri" pitchFamily="34" charset="-122"/>
                <a:cs typeface="Calibri" pitchFamily="34" charset="-120"/>
              </a:rPr>
              <a:t>Call parents with the client present to celebrate progress, update the care plan, and assign homework. Family involvement is consistently linked to stronger outcomes.</a:t>
            </a:r>
            <a:endParaRPr lang="en-US" sz="760" dirty="0"/>
          </a:p>
        </p:txBody>
      </p:sp>
      <p:sp>
        <p:nvSpPr>
          <p:cNvPr id="20" name="Text 15"/>
          <p:cNvSpPr/>
          <p:nvPr/>
        </p:nvSpPr>
        <p:spPr>
          <a:xfrm>
            <a:off x="2671911" y="1699617"/>
            <a:ext cx="6157168" cy="519410"/>
          </a:xfrm>
          <a:prstGeom prst="roundRect">
            <a:avLst>
              <a:gd name="adj" fmla="val 8313"/>
            </a:avLst>
          </a:prstGeom>
          <a:solidFill>
            <a:srgbClr val="F7FBFB"/>
          </a:solidFill>
          <a:ln/>
        </p:spPr>
        <p:txBody>
          <a:bodyPr wrap="square" rtlCol="0" anchor="t"/>
          <a:lstStyle/>
          <a:p>
            <a:pPr marL="0" indent="0">
              <a:buNone/>
            </a:pPr>
            <a:endParaRPr lang="en-US" dirty="0"/>
          </a:p>
        </p:txBody>
      </p:sp>
      <p:sp>
        <p:nvSpPr>
          <p:cNvPr id="21" name="Text 16"/>
          <p:cNvSpPr/>
          <p:nvPr/>
        </p:nvSpPr>
        <p:spPr>
          <a:xfrm>
            <a:off x="2758232" y="1764357"/>
            <a:ext cx="200620" cy="200620"/>
          </a:xfrm>
          <a:prstGeom prst="roundRect">
            <a:avLst>
              <a:gd name="adj" fmla="val 21523"/>
            </a:avLst>
          </a:prstGeom>
          <a:solidFill>
            <a:srgbClr val="FAB753"/>
          </a:solidFill>
          <a:ln/>
        </p:spPr>
        <p:txBody>
          <a:bodyPr wrap="none" rtlCol="0" anchor="t"/>
          <a:lstStyle/>
          <a:p>
            <a:pPr marL="0" indent="0">
              <a:buNone/>
            </a:pPr>
            <a:endParaRPr lang="en-US"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92173" y="1798299"/>
            <a:ext cx="132588" cy="132588"/>
          </a:xfrm>
          <a:prstGeom prst="rect">
            <a:avLst/>
          </a:prstGeom>
        </p:spPr>
      </p:pic>
      <p:sp>
        <p:nvSpPr>
          <p:cNvPr id="23" name="Text 17"/>
          <p:cNvSpPr/>
          <p:nvPr/>
        </p:nvSpPr>
        <p:spPr>
          <a:xfrm>
            <a:off x="3045172" y="1756767"/>
            <a:ext cx="5811539" cy="425366"/>
          </a:xfrm>
          <a:prstGeom prst="rect">
            <a:avLst/>
          </a:prstGeom>
          <a:noFill/>
          <a:ln/>
        </p:spPr>
        <p:txBody>
          <a:bodyPr wrap="square" lIns="0" tIns="0" rIns="0" bIns="0" rtlCol="0" anchor="ctr"/>
          <a:lstStyle/>
          <a:p>
            <a:pPr marL="0" indent="0" algn="l">
              <a:lnSpc>
                <a:spcPts val="1102"/>
              </a:lnSpc>
              <a:buNone/>
            </a:pPr>
            <a:r>
              <a:rPr lang="en-US" sz="760" b="1" dirty="0">
                <a:solidFill>
                  <a:srgbClr val="1B5E72"/>
                </a:solidFill>
                <a:latin typeface="Calibri" pitchFamily="34" charset="0"/>
                <a:ea typeface="Calibri" pitchFamily="34" charset="-122"/>
                <a:cs typeface="Calibri" pitchFamily="34" charset="-120"/>
              </a:rPr>
              <a:t>Complete your schedule before team meeting</a:t>
            </a:r>
            <a:r>
              <a:rPr lang="en-US" sz="760" dirty="0">
                <a:solidFill>
                  <a:srgbClr val="2C2C2C"/>
                </a:solidFill>
                <a:latin typeface="Calibri" pitchFamily="34" charset="0"/>
                <a:ea typeface="Calibri" pitchFamily="34" charset="-122"/>
                <a:cs typeface="Calibri" pitchFamily="34" charset="-120"/>
              </a:rPr>
              <a:t> </a:t>
            </a:r>
            <a:r>
              <a:rPr lang="en-US" sz="700" dirty="0">
                <a:solidFill>
                  <a:srgbClr val="4A4A4A"/>
                </a:solidFill>
                <a:latin typeface="Calibri" pitchFamily="34" charset="0"/>
                <a:ea typeface="Calibri" pitchFamily="34" charset="-122"/>
                <a:cs typeface="Calibri" pitchFamily="34" charset="-120"/>
              </a:rPr>
              <a:t>Entering the week with a full schedule allows your team lead to help you problem-solve early. Planning ahead reduces cognitive load and supports consistency.</a:t>
            </a:r>
            <a:endParaRPr lang="en-US" sz="760" dirty="0"/>
          </a:p>
        </p:txBody>
      </p:sp>
      <p:sp>
        <p:nvSpPr>
          <p:cNvPr id="24" name="Text 18"/>
          <p:cNvSpPr/>
          <p:nvPr/>
        </p:nvSpPr>
        <p:spPr>
          <a:xfrm>
            <a:off x="2758232" y="2283768"/>
            <a:ext cx="200620" cy="200620"/>
          </a:xfrm>
          <a:prstGeom prst="roundRect">
            <a:avLst>
              <a:gd name="adj" fmla="val 21523"/>
            </a:avLst>
          </a:prstGeom>
          <a:solidFill>
            <a:srgbClr val="FAB753"/>
          </a:solidFill>
          <a:ln/>
        </p:spPr>
        <p:txBody>
          <a:bodyPr wrap="none" rtlCol="0" anchor="t"/>
          <a:lstStyle/>
          <a:p>
            <a:pPr marL="0" indent="0">
              <a:buNone/>
            </a:pPr>
            <a:endParaRPr lang="en-US"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92173" y="2317709"/>
            <a:ext cx="132588" cy="132588"/>
          </a:xfrm>
          <a:prstGeom prst="rect">
            <a:avLst/>
          </a:prstGeom>
        </p:spPr>
      </p:pic>
      <p:sp>
        <p:nvSpPr>
          <p:cNvPr id="26" name="Text 19"/>
          <p:cNvSpPr/>
          <p:nvPr/>
        </p:nvSpPr>
        <p:spPr>
          <a:xfrm>
            <a:off x="3045172" y="2276177"/>
            <a:ext cx="5811539" cy="425366"/>
          </a:xfrm>
          <a:prstGeom prst="rect">
            <a:avLst/>
          </a:prstGeom>
          <a:noFill/>
          <a:ln/>
        </p:spPr>
        <p:txBody>
          <a:bodyPr wrap="square" lIns="0" tIns="0" rIns="0" bIns="0" rtlCol="0" anchor="ctr"/>
          <a:lstStyle/>
          <a:p>
            <a:pPr marL="0" indent="0" algn="l">
              <a:lnSpc>
                <a:spcPts val="1102"/>
              </a:lnSpc>
              <a:buNone/>
            </a:pPr>
            <a:r>
              <a:rPr lang="en-US" sz="760" b="1" dirty="0">
                <a:solidFill>
                  <a:srgbClr val="1B5E72"/>
                </a:solidFill>
                <a:latin typeface="Calibri" pitchFamily="34" charset="0"/>
                <a:ea typeface="Calibri" pitchFamily="34" charset="-122"/>
                <a:cs typeface="Calibri" pitchFamily="34" charset="-120"/>
              </a:rPr>
              <a:t>Use recurring sessions</a:t>
            </a:r>
            <a:r>
              <a:rPr lang="en-US" sz="760" dirty="0">
                <a:solidFill>
                  <a:srgbClr val="2C2C2C"/>
                </a:solidFill>
                <a:latin typeface="Calibri" pitchFamily="34" charset="0"/>
                <a:ea typeface="Calibri" pitchFamily="34" charset="-122"/>
                <a:cs typeface="Calibri" pitchFamily="34" charset="-120"/>
              </a:rPr>
              <a:t> </a:t>
            </a:r>
            <a:r>
              <a:rPr lang="en-US" sz="700" dirty="0">
                <a:solidFill>
                  <a:srgbClr val="4A4A4A"/>
                </a:solidFill>
                <a:latin typeface="Calibri" pitchFamily="34" charset="0"/>
                <a:ea typeface="Calibri" pitchFamily="34" charset="-122"/>
                <a:cs typeface="Calibri" pitchFamily="34" charset="-120"/>
              </a:rPr>
              <a:t>Recurring appointments reduce scheduling time and help clients build predictable routines — which increases attendance and therapeutic momentum.</a:t>
            </a:r>
            <a:endParaRPr lang="en-US" sz="760" dirty="0"/>
          </a:p>
        </p:txBody>
      </p:sp>
      <p:sp>
        <p:nvSpPr>
          <p:cNvPr id="27" name="Text 20"/>
          <p:cNvSpPr/>
          <p:nvPr/>
        </p:nvSpPr>
        <p:spPr>
          <a:xfrm>
            <a:off x="2671911" y="2738438"/>
            <a:ext cx="6157168" cy="390674"/>
          </a:xfrm>
          <a:prstGeom prst="roundRect">
            <a:avLst>
              <a:gd name="adj" fmla="val 11053"/>
            </a:avLst>
          </a:prstGeom>
          <a:solidFill>
            <a:srgbClr val="F7FBFB"/>
          </a:solidFill>
          <a:ln/>
        </p:spPr>
        <p:txBody>
          <a:bodyPr wrap="square" rtlCol="0" anchor="t"/>
          <a:lstStyle/>
          <a:p>
            <a:pPr marL="0" indent="0">
              <a:buNone/>
            </a:pPr>
            <a:endParaRPr lang="en-US" dirty="0"/>
          </a:p>
        </p:txBody>
      </p:sp>
      <p:sp>
        <p:nvSpPr>
          <p:cNvPr id="28" name="Text 21"/>
          <p:cNvSpPr/>
          <p:nvPr/>
        </p:nvSpPr>
        <p:spPr>
          <a:xfrm>
            <a:off x="2758232" y="2803178"/>
            <a:ext cx="200620" cy="200620"/>
          </a:xfrm>
          <a:prstGeom prst="roundRect">
            <a:avLst>
              <a:gd name="adj" fmla="val 21523"/>
            </a:avLst>
          </a:prstGeom>
          <a:solidFill>
            <a:srgbClr val="FAB753"/>
          </a:solidFill>
          <a:ln/>
        </p:spPr>
        <p:txBody>
          <a:bodyPr wrap="none" rtlCol="0" anchor="t"/>
          <a:lstStyle/>
          <a:p>
            <a:pPr marL="0" indent="0">
              <a:buNone/>
            </a:pPr>
            <a:endParaRPr lang="en-US" dirty="0"/>
          </a:p>
        </p:txBody>
      </p:sp>
      <p:pic>
        <p:nvPicPr>
          <p:cNvPr id="2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92173" y="2837119"/>
            <a:ext cx="132588" cy="132588"/>
          </a:xfrm>
          <a:prstGeom prst="rect">
            <a:avLst/>
          </a:prstGeom>
        </p:spPr>
      </p:pic>
      <p:sp>
        <p:nvSpPr>
          <p:cNvPr id="30" name="Text 22"/>
          <p:cNvSpPr/>
          <p:nvPr/>
        </p:nvSpPr>
        <p:spPr>
          <a:xfrm>
            <a:off x="3045172" y="2795588"/>
            <a:ext cx="5811539" cy="290193"/>
          </a:xfrm>
          <a:prstGeom prst="rect">
            <a:avLst/>
          </a:prstGeom>
          <a:noFill/>
          <a:ln/>
        </p:spPr>
        <p:txBody>
          <a:bodyPr wrap="square" lIns="0" tIns="0" rIns="0" bIns="0" rtlCol="0" anchor="ctr"/>
          <a:lstStyle/>
          <a:p>
            <a:pPr marL="0" indent="0" algn="l">
              <a:lnSpc>
                <a:spcPts val="1102"/>
              </a:lnSpc>
              <a:buNone/>
            </a:pPr>
            <a:r>
              <a:rPr lang="en-US" sz="760" b="1" dirty="0">
                <a:solidFill>
                  <a:srgbClr val="1B5E72"/>
                </a:solidFill>
                <a:latin typeface="Calibri" pitchFamily="34" charset="0"/>
                <a:ea typeface="Calibri" pitchFamily="34" charset="-122"/>
                <a:cs typeface="Calibri" pitchFamily="34" charset="-120"/>
              </a:rPr>
              <a:t>Confirm the next session every time</a:t>
            </a:r>
            <a:r>
              <a:rPr lang="en-US" sz="760" dirty="0">
                <a:solidFill>
                  <a:srgbClr val="2C2C2C"/>
                </a:solidFill>
                <a:latin typeface="Calibri" pitchFamily="34" charset="0"/>
                <a:ea typeface="Calibri" pitchFamily="34" charset="-122"/>
                <a:cs typeface="Calibri" pitchFamily="34" charset="-120"/>
              </a:rPr>
              <a:t> </a:t>
            </a:r>
            <a:r>
              <a:rPr lang="en-US" sz="700" dirty="0">
                <a:solidFill>
                  <a:srgbClr val="4A4A4A"/>
                </a:solidFill>
                <a:latin typeface="Calibri" pitchFamily="34" charset="0"/>
                <a:ea typeface="Calibri" pitchFamily="34" charset="-122"/>
                <a:cs typeface="Calibri" pitchFamily="34" charset="-120"/>
              </a:rPr>
              <a:t>Before the client leaves, confirm the next appointment. This habit reduces no-shows and prevents scheduling gaps.</a:t>
            </a:r>
            <a:endParaRPr lang="en-US" sz="760" dirty="0"/>
          </a:p>
        </p:txBody>
      </p:sp>
      <p:sp>
        <p:nvSpPr>
          <p:cNvPr id="31" name="Text 23"/>
          <p:cNvSpPr/>
          <p:nvPr/>
        </p:nvSpPr>
        <p:spPr>
          <a:xfrm>
            <a:off x="2758232" y="3193852"/>
            <a:ext cx="200620" cy="200620"/>
          </a:xfrm>
          <a:prstGeom prst="roundRect">
            <a:avLst>
              <a:gd name="adj" fmla="val 21523"/>
            </a:avLst>
          </a:prstGeom>
          <a:solidFill>
            <a:srgbClr val="FAB753"/>
          </a:solidFill>
          <a:ln/>
        </p:spPr>
        <p:txBody>
          <a:bodyPr wrap="none" rtlCol="0" anchor="t"/>
          <a:lstStyle/>
          <a:p>
            <a:pPr marL="0" indent="0">
              <a:buNone/>
            </a:pPr>
            <a:endParaRPr lang="en-US" dirty="0"/>
          </a:p>
        </p:txBody>
      </p:sp>
      <p:pic>
        <p:nvPicPr>
          <p:cNvPr id="32"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792173" y="3227793"/>
            <a:ext cx="132588" cy="132588"/>
          </a:xfrm>
          <a:prstGeom prst="rect">
            <a:avLst/>
          </a:prstGeom>
        </p:spPr>
      </p:pic>
      <p:sp>
        <p:nvSpPr>
          <p:cNvPr id="33" name="Text 24"/>
          <p:cNvSpPr/>
          <p:nvPr/>
        </p:nvSpPr>
        <p:spPr>
          <a:xfrm>
            <a:off x="3045172" y="3186261"/>
            <a:ext cx="5811539" cy="290193"/>
          </a:xfrm>
          <a:prstGeom prst="rect">
            <a:avLst/>
          </a:prstGeom>
          <a:noFill/>
          <a:ln/>
        </p:spPr>
        <p:txBody>
          <a:bodyPr wrap="square" lIns="0" tIns="0" rIns="0" bIns="0" rtlCol="0" anchor="ctr"/>
          <a:lstStyle/>
          <a:p>
            <a:pPr marL="0" indent="0" algn="l">
              <a:lnSpc>
                <a:spcPts val="1102"/>
              </a:lnSpc>
              <a:buNone/>
            </a:pPr>
            <a:r>
              <a:rPr lang="en-US" sz="760" b="1" dirty="0">
                <a:solidFill>
                  <a:srgbClr val="1B5E72"/>
                </a:solidFill>
                <a:latin typeface="Calibri" pitchFamily="34" charset="0"/>
                <a:ea typeface="Calibri" pitchFamily="34" charset="-122"/>
                <a:cs typeface="Calibri" pitchFamily="34" charset="-120"/>
              </a:rPr>
              <a:t>Allow your schedule to flex</a:t>
            </a:r>
            <a:r>
              <a:rPr lang="en-US" sz="760" dirty="0">
                <a:solidFill>
                  <a:srgbClr val="2C2C2C"/>
                </a:solidFill>
                <a:latin typeface="Calibri" pitchFamily="34" charset="0"/>
                <a:ea typeface="Calibri" pitchFamily="34" charset="-122"/>
                <a:cs typeface="Calibri" pitchFamily="34" charset="-120"/>
              </a:rPr>
              <a:t> </a:t>
            </a:r>
            <a:r>
              <a:rPr lang="en-US" sz="700" dirty="0">
                <a:solidFill>
                  <a:srgbClr val="4A4A4A"/>
                </a:solidFill>
                <a:latin typeface="Calibri" pitchFamily="34" charset="0"/>
                <a:ea typeface="Calibri" pitchFamily="34" charset="-122"/>
                <a:cs typeface="Calibri" pitchFamily="34" charset="-120"/>
              </a:rPr>
              <a:t>Drag and drop in Avatar beats rebuilding a week from scratch. Flexibility is part of school-based work — use it strategically.</a:t>
            </a:r>
            <a:endParaRPr lang="en-US" sz="760" dirty="0"/>
          </a:p>
        </p:txBody>
      </p:sp>
      <p:sp>
        <p:nvSpPr>
          <p:cNvPr id="34" name="Text 25"/>
          <p:cNvSpPr/>
          <p:nvPr/>
        </p:nvSpPr>
        <p:spPr>
          <a:xfrm>
            <a:off x="2356991" y="4835575"/>
            <a:ext cx="6787009" cy="307925"/>
          </a:xfrm>
          <a:prstGeom prst="rect">
            <a:avLst/>
          </a:prstGeom>
          <a:solidFill>
            <a:srgbClr val="FAB753"/>
          </a:solidFill>
          <a:ln/>
        </p:spPr>
        <p:txBody>
          <a:bodyPr wrap="square" rtlCol="0" anchor="t"/>
          <a:lstStyle/>
          <a:p>
            <a:pPr marL="0" indent="0">
              <a:buNone/>
            </a:pPr>
            <a:endParaRPr lang="en-US" dirty="0"/>
          </a:p>
        </p:txBody>
      </p:sp>
      <p:pic>
        <p:nvPicPr>
          <p:cNvPr id="3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75047" y="4923169"/>
            <a:ext cx="132588" cy="132588"/>
          </a:xfrm>
          <a:prstGeom prst="rect">
            <a:avLst/>
          </a:prstGeom>
        </p:spPr>
      </p:pic>
      <p:sp>
        <p:nvSpPr>
          <p:cNvPr id="36" name="Text 26"/>
          <p:cNvSpPr/>
          <p:nvPr/>
        </p:nvSpPr>
        <p:spPr>
          <a:xfrm>
            <a:off x="4545672" y="4914305"/>
            <a:ext cx="2409498" cy="150465"/>
          </a:xfrm>
          <a:prstGeom prst="rect">
            <a:avLst/>
          </a:prstGeom>
          <a:noFill/>
          <a:ln/>
        </p:spPr>
        <p:txBody>
          <a:bodyPr wrap="none" lIns="0" tIns="0" rIns="0" bIns="0" rtlCol="0" anchor="ctr"/>
          <a:lstStyle/>
          <a:p>
            <a:pPr marL="0" indent="0" algn="ctr">
              <a:lnSpc>
                <a:spcPts val="1185"/>
              </a:lnSpc>
              <a:buNone/>
            </a:pPr>
            <a:r>
              <a:rPr lang="en-US" sz="790" b="1" dirty="0">
                <a:solidFill>
                  <a:srgbClr val="1B3A45"/>
                </a:solidFill>
                <a:latin typeface="Calibri" pitchFamily="34" charset="0"/>
                <a:ea typeface="Calibri" pitchFamily="34" charset="-122"/>
                <a:cs typeface="Calibri" pitchFamily="34" charset="-120"/>
              </a:rPr>
              <a:t>The right habits compound. Build them early.</a:t>
            </a:r>
            <a:endParaRPr lang="en-US" sz="790" dirty="0"/>
          </a:p>
        </p:txBody>
      </p:sp>
      <p:pic>
        <p:nvPicPr>
          <p:cNvPr id="37"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93207" y="4923169"/>
            <a:ext cx="132588" cy="132588"/>
          </a:xfrm>
          <a:prstGeom prst="rect">
            <a:avLst/>
          </a:prstGeom>
        </p:spPr>
      </p:pic>
      <p:sp>
        <p:nvSpPr>
          <p:cNvPr id="38" name="Text 27"/>
          <p:cNvSpPr/>
          <p:nvPr/>
        </p:nvSpPr>
        <p:spPr>
          <a:xfrm>
            <a:off x="0" y="5108077"/>
            <a:ext cx="2356990" cy="35421"/>
          </a:xfrm>
          <a:prstGeom prst="rect">
            <a:avLst/>
          </a:prstGeom>
          <a:solidFill>
            <a:srgbClr val="FAB753"/>
          </a:solidFill>
          <a:ln/>
        </p:spPr>
        <p:txBody>
          <a:bodyPr wrap="none" rtlCol="0" anchor="t"/>
          <a:lstStyle/>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9144000" cy="615404"/>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342900" y="114300"/>
            <a:ext cx="9050274" cy="222498"/>
          </a:xfrm>
          <a:prstGeom prst="rect">
            <a:avLst/>
          </a:prstGeom>
          <a:noFill/>
          <a:ln/>
        </p:spPr>
        <p:txBody>
          <a:bodyPr wrap="none" lIns="0" tIns="0" rIns="0" bIns="0" rtlCol="0" anchor="t"/>
          <a:lstStyle/>
          <a:p>
            <a:pPr marL="0" indent="0" algn="l">
              <a:lnSpc>
                <a:spcPts val="1752"/>
              </a:lnSpc>
              <a:buNone/>
            </a:pPr>
            <a:r>
              <a:rPr lang="en-US" sz="1460" b="1" kern="0" spc="15" dirty="0">
                <a:solidFill>
                  <a:srgbClr val="FFFFFF"/>
                </a:solidFill>
                <a:latin typeface="Calibri Light" pitchFamily="34" charset="0"/>
                <a:ea typeface="Calibri Light" pitchFamily="34" charset="-122"/>
                <a:cs typeface="Calibri Light" pitchFamily="34" charset="-120"/>
              </a:rPr>
              <a:t>More Strategies Worth Building Into Your Practice</a:t>
            </a:r>
            <a:endParaRPr lang="en-US" sz="1460" dirty="0"/>
          </a:p>
        </p:txBody>
      </p:sp>
      <p:sp>
        <p:nvSpPr>
          <p:cNvPr id="4" name="Text 2"/>
          <p:cNvSpPr/>
          <p:nvPr/>
        </p:nvSpPr>
        <p:spPr>
          <a:xfrm>
            <a:off x="342900" y="350639"/>
            <a:ext cx="9304020" cy="150465"/>
          </a:xfrm>
          <a:prstGeom prst="rect">
            <a:avLst/>
          </a:prstGeom>
          <a:noFill/>
          <a:ln/>
        </p:spPr>
        <p:txBody>
          <a:bodyPr wrap="none" lIns="0" tIns="0" rIns="0" bIns="0" rtlCol="0" anchor="t"/>
          <a:lstStyle/>
          <a:p>
            <a:pPr marL="0" indent="0" algn="l">
              <a:lnSpc>
                <a:spcPts val="1185"/>
              </a:lnSpc>
              <a:buNone/>
            </a:pPr>
            <a:r>
              <a:rPr lang="en-US" sz="790" kern="0" spc="24" dirty="0">
                <a:solidFill>
                  <a:srgbClr val="FAB753"/>
                </a:solidFill>
                <a:latin typeface="Calibri" pitchFamily="34" charset="0"/>
                <a:ea typeface="Calibri" pitchFamily="34" charset="-122"/>
                <a:cs typeface="Calibri" pitchFamily="34" charset="-120"/>
              </a:rPr>
              <a:t>Research-informed. Field-tested. Adapt them to your style.</a:t>
            </a:r>
            <a:endParaRPr lang="en-US" sz="790" dirty="0"/>
          </a:p>
        </p:txBody>
      </p:sp>
      <p:sp>
        <p:nvSpPr>
          <p:cNvPr id="5" name="Text 3"/>
          <p:cNvSpPr/>
          <p:nvPr/>
        </p:nvSpPr>
        <p:spPr>
          <a:xfrm>
            <a:off x="314920" y="743545"/>
            <a:ext cx="2771180" cy="933748"/>
          </a:xfrm>
          <a:prstGeom prst="roundRect">
            <a:avLst>
              <a:gd name="adj" fmla="val 7617"/>
            </a:avLst>
          </a:prstGeom>
          <a:solidFill>
            <a:srgbClr val="EAF4F4"/>
          </a:solidFill>
          <a:ln w="9525">
            <a:solidFill>
              <a:srgbClr val="B2D8D8"/>
            </a:solidFill>
          </a:ln>
        </p:spPr>
        <p:txBody>
          <a:bodyPr wrap="square" rtlCol="0" anchor="t"/>
          <a:lstStyle/>
          <a:p>
            <a:pPr marL="0" indent="0">
              <a:buNone/>
            </a:pPr>
            <a:endParaRPr lang="en-US" dirty="0"/>
          </a:p>
        </p:txBody>
      </p:sp>
      <p:sp>
        <p:nvSpPr>
          <p:cNvPr id="6" name="Text 4"/>
          <p:cNvSpPr/>
          <p:nvPr/>
        </p:nvSpPr>
        <p:spPr>
          <a:xfrm>
            <a:off x="452586" y="881211"/>
            <a:ext cx="285750" cy="285750"/>
          </a:xfrm>
          <a:prstGeom prst="roundRect">
            <a:avLst>
              <a:gd name="adj" fmla="val 20000"/>
            </a:avLst>
          </a:prstGeom>
          <a:solidFill>
            <a:srgbClr val="FFFFFF"/>
          </a:solidFill>
          <a:ln w="9525">
            <a:solidFill>
              <a:srgbClr val="FAB753"/>
            </a:solidFill>
          </a:ln>
        </p:spPr>
        <p:txBody>
          <a:bodyPr wrap="square" rtlCol="0" anchor="t"/>
          <a:lstStyle/>
          <a:p>
            <a:pPr marL="0" indent="0">
              <a:buNone/>
            </a:pPr>
            <a:endParaRPr lang="en-US"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9093" y="957718"/>
            <a:ext cx="132588" cy="132588"/>
          </a:xfrm>
          <a:prstGeom prst="rect">
            <a:avLst/>
          </a:prstGeom>
        </p:spPr>
      </p:pic>
      <p:sp>
        <p:nvSpPr>
          <p:cNvPr id="8" name="Text 5"/>
          <p:cNvSpPr/>
          <p:nvPr/>
        </p:nvSpPr>
        <p:spPr>
          <a:xfrm>
            <a:off x="838646" y="867370"/>
            <a:ext cx="2320766" cy="133350"/>
          </a:xfrm>
          <a:prstGeom prst="rect">
            <a:avLst/>
          </a:prstGeom>
          <a:noFill/>
          <a:ln/>
        </p:spPr>
        <p:txBody>
          <a:bodyPr wrap="none" lIns="0" tIns="0" rIns="0" bIns="0" rtlCol="0" anchor="t"/>
          <a:lstStyle/>
          <a:p>
            <a:pPr marL="0" indent="0" algn="l">
              <a:lnSpc>
                <a:spcPts val="1050"/>
              </a:lnSpc>
              <a:buNone/>
            </a:pPr>
            <a:r>
              <a:rPr lang="en-US" sz="840" b="1" dirty="0">
                <a:solidFill>
                  <a:srgbClr val="1B5E72"/>
                </a:solidFill>
                <a:latin typeface="Calibri" pitchFamily="34" charset="0"/>
                <a:ea typeface="Calibri" pitchFamily="34" charset="-122"/>
                <a:cs typeface="Calibri" pitchFamily="34" charset="-120"/>
              </a:rPr>
              <a:t>Ramp at a Sustainable Pace</a:t>
            </a:r>
            <a:endParaRPr lang="en-US" sz="840" dirty="0"/>
          </a:p>
        </p:txBody>
      </p:sp>
      <p:sp>
        <p:nvSpPr>
          <p:cNvPr id="9" name="Text 6"/>
          <p:cNvSpPr/>
          <p:nvPr/>
        </p:nvSpPr>
        <p:spPr>
          <a:xfrm>
            <a:off x="838646" y="1029891"/>
            <a:ext cx="2151983" cy="564446"/>
          </a:xfrm>
          <a:prstGeom prst="rect">
            <a:avLst/>
          </a:prstGeom>
          <a:noFill/>
          <a:ln/>
        </p:spPr>
        <p:txBody>
          <a:bodyPr wrap="square" lIns="0" tIns="0" rIns="0" bIns="0" rtlCol="0" anchor="t"/>
          <a:lstStyle/>
          <a:p>
            <a:pPr marL="0" indent="0" algn="l">
              <a:lnSpc>
                <a:spcPts val="1058"/>
              </a:lnSpc>
              <a:buNone/>
            </a:pPr>
            <a:r>
              <a:rPr lang="en-US" sz="730" dirty="0">
                <a:solidFill>
                  <a:srgbClr val="2C2C2C"/>
                </a:solidFill>
                <a:latin typeface="Calibri" pitchFamily="34" charset="0"/>
                <a:ea typeface="Calibri" pitchFamily="34" charset="-122"/>
                <a:cs typeface="Calibri" pitchFamily="34" charset="-120"/>
              </a:rPr>
              <a:t>Gradually increase your pace while maintaining quality. Consistent incremental growth builds confidence and competence — do not sprint out of the gate.</a:t>
            </a:r>
            <a:endParaRPr lang="en-US" sz="730" dirty="0"/>
          </a:p>
        </p:txBody>
      </p:sp>
      <p:sp>
        <p:nvSpPr>
          <p:cNvPr id="10" name="Text 7"/>
          <p:cNvSpPr/>
          <p:nvPr/>
        </p:nvSpPr>
        <p:spPr>
          <a:xfrm>
            <a:off x="3186410" y="743545"/>
            <a:ext cx="2771180" cy="933748"/>
          </a:xfrm>
          <a:prstGeom prst="roundRect">
            <a:avLst>
              <a:gd name="adj" fmla="val 7617"/>
            </a:avLst>
          </a:prstGeom>
          <a:solidFill>
            <a:srgbClr val="EAF4F4"/>
          </a:solidFill>
          <a:ln w="9525">
            <a:solidFill>
              <a:srgbClr val="B2D8D8"/>
            </a:solidFill>
          </a:ln>
        </p:spPr>
        <p:txBody>
          <a:bodyPr wrap="square" rtlCol="0" anchor="t"/>
          <a:lstStyle/>
          <a:p>
            <a:pPr marL="0" indent="0">
              <a:buNone/>
            </a:pPr>
            <a:endParaRPr lang="en-US" dirty="0"/>
          </a:p>
        </p:txBody>
      </p:sp>
      <p:sp>
        <p:nvSpPr>
          <p:cNvPr id="11" name="Text 8"/>
          <p:cNvSpPr/>
          <p:nvPr/>
        </p:nvSpPr>
        <p:spPr>
          <a:xfrm>
            <a:off x="3324076" y="881211"/>
            <a:ext cx="285750" cy="285750"/>
          </a:xfrm>
          <a:prstGeom prst="roundRect">
            <a:avLst>
              <a:gd name="adj" fmla="val 20000"/>
            </a:avLst>
          </a:prstGeom>
          <a:solidFill>
            <a:srgbClr val="FFFFFF"/>
          </a:solidFill>
          <a:ln w="9525">
            <a:solidFill>
              <a:srgbClr val="FAB753"/>
            </a:solidFill>
          </a:ln>
        </p:spPr>
        <p:txBody>
          <a:bodyPr wrap="square" rtlCol="0" anchor="t"/>
          <a:lstStyle/>
          <a:p>
            <a:pPr marL="0" indent="0">
              <a:buNone/>
            </a:pPr>
            <a:endParaRPr lang="en-US" dirty="0"/>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00583" y="957718"/>
            <a:ext cx="132588" cy="132588"/>
          </a:xfrm>
          <a:prstGeom prst="rect">
            <a:avLst/>
          </a:prstGeom>
        </p:spPr>
      </p:pic>
      <p:sp>
        <p:nvSpPr>
          <p:cNvPr id="13" name="Text 9"/>
          <p:cNvSpPr/>
          <p:nvPr/>
        </p:nvSpPr>
        <p:spPr>
          <a:xfrm>
            <a:off x="3710136" y="867370"/>
            <a:ext cx="2320766" cy="133350"/>
          </a:xfrm>
          <a:prstGeom prst="rect">
            <a:avLst/>
          </a:prstGeom>
          <a:noFill/>
          <a:ln/>
        </p:spPr>
        <p:txBody>
          <a:bodyPr wrap="none" lIns="0" tIns="0" rIns="0" bIns="0" rtlCol="0" anchor="t"/>
          <a:lstStyle/>
          <a:p>
            <a:pPr marL="0" indent="0" algn="l">
              <a:lnSpc>
                <a:spcPts val="1050"/>
              </a:lnSpc>
              <a:buNone/>
            </a:pPr>
            <a:r>
              <a:rPr lang="en-US" sz="840" b="1" dirty="0">
                <a:solidFill>
                  <a:srgbClr val="1B5E72"/>
                </a:solidFill>
                <a:latin typeface="Calibri" pitchFamily="34" charset="0"/>
                <a:ea typeface="Calibri" pitchFamily="34" charset="-122"/>
                <a:cs typeface="Calibri" pitchFamily="34" charset="-120"/>
              </a:rPr>
              <a:t>Quality of Care First</a:t>
            </a:r>
            <a:endParaRPr lang="en-US" sz="840" dirty="0"/>
          </a:p>
        </p:txBody>
      </p:sp>
      <p:sp>
        <p:nvSpPr>
          <p:cNvPr id="14" name="Text 10"/>
          <p:cNvSpPr/>
          <p:nvPr/>
        </p:nvSpPr>
        <p:spPr>
          <a:xfrm>
            <a:off x="3710136" y="1029891"/>
            <a:ext cx="2151983" cy="423334"/>
          </a:xfrm>
          <a:prstGeom prst="rect">
            <a:avLst/>
          </a:prstGeom>
          <a:noFill/>
          <a:ln/>
        </p:spPr>
        <p:txBody>
          <a:bodyPr wrap="square" lIns="0" tIns="0" rIns="0" bIns="0" rtlCol="0" anchor="t"/>
          <a:lstStyle/>
          <a:p>
            <a:pPr marL="0" indent="0" algn="l">
              <a:lnSpc>
                <a:spcPts val="1058"/>
              </a:lnSpc>
              <a:buNone/>
            </a:pPr>
            <a:r>
              <a:rPr lang="en-US" sz="730" dirty="0">
                <a:solidFill>
                  <a:srgbClr val="2C2C2C"/>
                </a:solidFill>
                <a:latin typeface="Calibri" pitchFamily="34" charset="0"/>
                <a:ea typeface="Calibri" pitchFamily="34" charset="-122"/>
                <a:cs typeface="Calibri" pitchFamily="34" charset="-120"/>
              </a:rPr>
              <a:t>When you provide strong, relationship-centered care, the numbers follow. The right caseload mix naturally supports hitting your target.</a:t>
            </a:r>
            <a:endParaRPr lang="en-US" sz="730" dirty="0"/>
          </a:p>
        </p:txBody>
      </p:sp>
      <p:sp>
        <p:nvSpPr>
          <p:cNvPr id="15" name="Text 11"/>
          <p:cNvSpPr/>
          <p:nvPr/>
        </p:nvSpPr>
        <p:spPr>
          <a:xfrm>
            <a:off x="6057900" y="743545"/>
            <a:ext cx="2771180" cy="933748"/>
          </a:xfrm>
          <a:prstGeom prst="roundRect">
            <a:avLst>
              <a:gd name="adj" fmla="val 7617"/>
            </a:avLst>
          </a:prstGeom>
          <a:solidFill>
            <a:srgbClr val="EAF4F4"/>
          </a:solidFill>
          <a:ln w="9525">
            <a:solidFill>
              <a:srgbClr val="B2D8D8"/>
            </a:solidFill>
          </a:ln>
        </p:spPr>
        <p:txBody>
          <a:bodyPr wrap="square" rtlCol="0" anchor="t"/>
          <a:lstStyle/>
          <a:p>
            <a:pPr marL="0" indent="0">
              <a:buNone/>
            </a:pPr>
            <a:endParaRPr lang="en-US" dirty="0"/>
          </a:p>
        </p:txBody>
      </p:sp>
      <p:sp>
        <p:nvSpPr>
          <p:cNvPr id="16" name="Text 12"/>
          <p:cNvSpPr/>
          <p:nvPr/>
        </p:nvSpPr>
        <p:spPr>
          <a:xfrm>
            <a:off x="6195566" y="881211"/>
            <a:ext cx="285750" cy="285750"/>
          </a:xfrm>
          <a:prstGeom prst="roundRect">
            <a:avLst>
              <a:gd name="adj" fmla="val 20000"/>
            </a:avLst>
          </a:prstGeom>
          <a:solidFill>
            <a:srgbClr val="FFFFFF"/>
          </a:solidFill>
          <a:ln w="9525">
            <a:solidFill>
              <a:srgbClr val="FAB753"/>
            </a:solidFill>
          </a:ln>
        </p:spPr>
        <p:txBody>
          <a:bodyPr wrap="square" rtlCol="0" anchor="t"/>
          <a:lstStyle/>
          <a:p>
            <a:pPr marL="0" indent="0">
              <a:buNone/>
            </a:pPr>
            <a:endParaRPr lang="en-US" dirty="0"/>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72073" y="957718"/>
            <a:ext cx="132588" cy="132588"/>
          </a:xfrm>
          <a:prstGeom prst="rect">
            <a:avLst/>
          </a:prstGeom>
        </p:spPr>
      </p:pic>
      <p:sp>
        <p:nvSpPr>
          <p:cNvPr id="18" name="Text 13"/>
          <p:cNvSpPr/>
          <p:nvPr/>
        </p:nvSpPr>
        <p:spPr>
          <a:xfrm>
            <a:off x="6581626" y="867370"/>
            <a:ext cx="2320766" cy="133350"/>
          </a:xfrm>
          <a:prstGeom prst="rect">
            <a:avLst/>
          </a:prstGeom>
          <a:noFill/>
          <a:ln/>
        </p:spPr>
        <p:txBody>
          <a:bodyPr wrap="none" lIns="0" tIns="0" rIns="0" bIns="0" rtlCol="0" anchor="t"/>
          <a:lstStyle/>
          <a:p>
            <a:pPr marL="0" indent="0" algn="l">
              <a:lnSpc>
                <a:spcPts val="1050"/>
              </a:lnSpc>
              <a:buNone/>
            </a:pPr>
            <a:r>
              <a:rPr lang="en-US" sz="840" b="1" dirty="0">
                <a:solidFill>
                  <a:srgbClr val="1B5E72"/>
                </a:solidFill>
                <a:latin typeface="Calibri" pitchFamily="34" charset="0"/>
                <a:ea typeface="Calibri" pitchFamily="34" charset="-122"/>
                <a:cs typeface="Calibri" pitchFamily="34" charset="-120"/>
              </a:rPr>
              <a:t>Learn from Peers</a:t>
            </a:r>
            <a:endParaRPr lang="en-US" sz="840" dirty="0"/>
          </a:p>
        </p:txBody>
      </p:sp>
      <p:sp>
        <p:nvSpPr>
          <p:cNvPr id="19" name="Text 14"/>
          <p:cNvSpPr/>
          <p:nvPr/>
        </p:nvSpPr>
        <p:spPr>
          <a:xfrm>
            <a:off x="6581626" y="1029891"/>
            <a:ext cx="2151983" cy="423334"/>
          </a:xfrm>
          <a:prstGeom prst="rect">
            <a:avLst/>
          </a:prstGeom>
          <a:noFill/>
          <a:ln/>
        </p:spPr>
        <p:txBody>
          <a:bodyPr wrap="square" lIns="0" tIns="0" rIns="0" bIns="0" rtlCol="0" anchor="t"/>
          <a:lstStyle/>
          <a:p>
            <a:pPr marL="0" indent="0" algn="l">
              <a:lnSpc>
                <a:spcPts val="1058"/>
              </a:lnSpc>
              <a:buNone/>
            </a:pPr>
            <a:r>
              <a:rPr lang="en-US" sz="730" dirty="0">
                <a:solidFill>
                  <a:srgbClr val="2C2C2C"/>
                </a:solidFill>
                <a:latin typeface="Calibri" pitchFamily="34" charset="0"/>
                <a:ea typeface="Calibri" pitchFamily="34" charset="-122"/>
                <a:cs typeface="Calibri" pitchFamily="34" charset="-120"/>
              </a:rPr>
              <a:t>Peer modeling is one of the most effective ways new clinicians build skill and confidence. Observe, borrow, and adapt strategies to your style.</a:t>
            </a:r>
            <a:endParaRPr lang="en-US" sz="730" dirty="0"/>
          </a:p>
        </p:txBody>
      </p:sp>
      <p:sp>
        <p:nvSpPr>
          <p:cNvPr id="20" name="Text 15"/>
          <p:cNvSpPr/>
          <p:nvPr/>
        </p:nvSpPr>
        <p:spPr>
          <a:xfrm>
            <a:off x="314920" y="1777603"/>
            <a:ext cx="2771180" cy="933748"/>
          </a:xfrm>
          <a:prstGeom prst="roundRect">
            <a:avLst>
              <a:gd name="adj" fmla="val 7617"/>
            </a:avLst>
          </a:prstGeom>
          <a:solidFill>
            <a:srgbClr val="EAF4F4"/>
          </a:solidFill>
          <a:ln w="9525">
            <a:solidFill>
              <a:srgbClr val="B2D8D8"/>
            </a:solidFill>
          </a:ln>
        </p:spPr>
        <p:txBody>
          <a:bodyPr wrap="square" rtlCol="0" anchor="t"/>
          <a:lstStyle/>
          <a:p>
            <a:pPr marL="0" indent="0">
              <a:buNone/>
            </a:pPr>
            <a:endParaRPr lang="en-US" dirty="0"/>
          </a:p>
        </p:txBody>
      </p:sp>
      <p:sp>
        <p:nvSpPr>
          <p:cNvPr id="21" name="Text 16"/>
          <p:cNvSpPr/>
          <p:nvPr/>
        </p:nvSpPr>
        <p:spPr>
          <a:xfrm>
            <a:off x="452586" y="1915269"/>
            <a:ext cx="285750" cy="285750"/>
          </a:xfrm>
          <a:prstGeom prst="roundRect">
            <a:avLst>
              <a:gd name="adj" fmla="val 20000"/>
            </a:avLst>
          </a:prstGeom>
          <a:solidFill>
            <a:srgbClr val="FFFFFF"/>
          </a:solidFill>
          <a:ln w="9525">
            <a:solidFill>
              <a:srgbClr val="FAB753"/>
            </a:solidFill>
          </a:ln>
        </p:spPr>
        <p:txBody>
          <a:bodyPr wrap="square" rtlCol="0" anchor="t"/>
          <a:lstStyle/>
          <a:p>
            <a:pPr marL="0" indent="0">
              <a:buNone/>
            </a:pPr>
            <a:endParaRPr lang="en-US" dirty="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9093" y="1991776"/>
            <a:ext cx="132588" cy="132588"/>
          </a:xfrm>
          <a:prstGeom prst="rect">
            <a:avLst/>
          </a:prstGeom>
        </p:spPr>
      </p:pic>
      <p:sp>
        <p:nvSpPr>
          <p:cNvPr id="23" name="Text 17"/>
          <p:cNvSpPr/>
          <p:nvPr/>
        </p:nvSpPr>
        <p:spPr>
          <a:xfrm>
            <a:off x="838646" y="1901428"/>
            <a:ext cx="2320766" cy="133350"/>
          </a:xfrm>
          <a:prstGeom prst="rect">
            <a:avLst/>
          </a:prstGeom>
          <a:noFill/>
          <a:ln/>
        </p:spPr>
        <p:txBody>
          <a:bodyPr wrap="none" lIns="0" tIns="0" rIns="0" bIns="0" rtlCol="0" anchor="t"/>
          <a:lstStyle/>
          <a:p>
            <a:pPr marL="0" indent="0" algn="l">
              <a:lnSpc>
                <a:spcPts val="1050"/>
              </a:lnSpc>
              <a:buNone/>
            </a:pPr>
            <a:r>
              <a:rPr lang="en-US" sz="840" b="1" dirty="0">
                <a:solidFill>
                  <a:srgbClr val="1B5E72"/>
                </a:solidFill>
                <a:latin typeface="Calibri" pitchFamily="34" charset="0"/>
                <a:ea typeface="Calibri" pitchFamily="34" charset="-122"/>
                <a:cs typeface="Calibri" pitchFamily="34" charset="-120"/>
              </a:rPr>
              <a:t>Experiment and Stay Open</a:t>
            </a:r>
            <a:endParaRPr lang="en-US" sz="840" dirty="0"/>
          </a:p>
        </p:txBody>
      </p:sp>
      <p:sp>
        <p:nvSpPr>
          <p:cNvPr id="24" name="Text 18"/>
          <p:cNvSpPr/>
          <p:nvPr/>
        </p:nvSpPr>
        <p:spPr>
          <a:xfrm>
            <a:off x="838646" y="2063948"/>
            <a:ext cx="2151983" cy="423334"/>
          </a:xfrm>
          <a:prstGeom prst="rect">
            <a:avLst/>
          </a:prstGeom>
          <a:noFill/>
          <a:ln/>
        </p:spPr>
        <p:txBody>
          <a:bodyPr wrap="square" lIns="0" tIns="0" rIns="0" bIns="0" rtlCol="0" anchor="t"/>
          <a:lstStyle/>
          <a:p>
            <a:pPr marL="0" indent="0" algn="l">
              <a:lnSpc>
                <a:spcPts val="1058"/>
              </a:lnSpc>
              <a:buNone/>
            </a:pPr>
            <a:r>
              <a:rPr lang="en-US" sz="730" dirty="0">
                <a:solidFill>
                  <a:srgbClr val="2C2C2C"/>
                </a:solidFill>
                <a:latin typeface="Calibri" pitchFamily="34" charset="0"/>
                <a:ea typeface="Calibri" pitchFamily="34" charset="-122"/>
                <a:cs typeface="Calibri" pitchFamily="34" charset="-120"/>
              </a:rPr>
              <a:t>Every therapist finds their flow. Try different scheduling rhythms and documentation habits until you discover what works for you.</a:t>
            </a:r>
            <a:endParaRPr lang="en-US" sz="730" dirty="0"/>
          </a:p>
        </p:txBody>
      </p:sp>
      <p:sp>
        <p:nvSpPr>
          <p:cNvPr id="25" name="Text 19"/>
          <p:cNvSpPr/>
          <p:nvPr/>
        </p:nvSpPr>
        <p:spPr>
          <a:xfrm>
            <a:off x="3186410" y="1777603"/>
            <a:ext cx="2771180" cy="933748"/>
          </a:xfrm>
          <a:prstGeom prst="roundRect">
            <a:avLst>
              <a:gd name="adj" fmla="val 7617"/>
            </a:avLst>
          </a:prstGeom>
          <a:solidFill>
            <a:srgbClr val="EAF4F4"/>
          </a:solidFill>
          <a:ln w="9525">
            <a:solidFill>
              <a:srgbClr val="B2D8D8"/>
            </a:solidFill>
          </a:ln>
        </p:spPr>
        <p:txBody>
          <a:bodyPr wrap="square" rtlCol="0" anchor="t"/>
          <a:lstStyle/>
          <a:p>
            <a:pPr marL="0" indent="0">
              <a:buNone/>
            </a:pPr>
            <a:endParaRPr lang="en-US" dirty="0"/>
          </a:p>
        </p:txBody>
      </p:sp>
      <p:sp>
        <p:nvSpPr>
          <p:cNvPr id="26" name="Text 20"/>
          <p:cNvSpPr/>
          <p:nvPr/>
        </p:nvSpPr>
        <p:spPr>
          <a:xfrm>
            <a:off x="3324076" y="1915269"/>
            <a:ext cx="285750" cy="285750"/>
          </a:xfrm>
          <a:prstGeom prst="roundRect">
            <a:avLst>
              <a:gd name="adj" fmla="val 20000"/>
            </a:avLst>
          </a:prstGeom>
          <a:solidFill>
            <a:srgbClr val="FFFFFF"/>
          </a:solidFill>
          <a:ln w="9525">
            <a:solidFill>
              <a:srgbClr val="FAB753"/>
            </a:solidFill>
          </a:ln>
        </p:spPr>
        <p:txBody>
          <a:bodyPr wrap="square" rtlCol="0" anchor="t"/>
          <a:lstStyle/>
          <a:p>
            <a:pPr marL="0" indent="0">
              <a:buNone/>
            </a:pPr>
            <a:endParaRPr lang="en-US" dirty="0"/>
          </a:p>
        </p:txBody>
      </p:sp>
      <p:pic>
        <p:nvPicPr>
          <p:cNvPr id="2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00583" y="1991776"/>
            <a:ext cx="132588" cy="132588"/>
          </a:xfrm>
          <a:prstGeom prst="rect">
            <a:avLst/>
          </a:prstGeom>
        </p:spPr>
      </p:pic>
      <p:sp>
        <p:nvSpPr>
          <p:cNvPr id="28" name="Text 21"/>
          <p:cNvSpPr/>
          <p:nvPr/>
        </p:nvSpPr>
        <p:spPr>
          <a:xfrm>
            <a:off x="3710136" y="1901428"/>
            <a:ext cx="2320766" cy="133350"/>
          </a:xfrm>
          <a:prstGeom prst="rect">
            <a:avLst/>
          </a:prstGeom>
          <a:noFill/>
          <a:ln/>
        </p:spPr>
        <p:txBody>
          <a:bodyPr wrap="none" lIns="0" tIns="0" rIns="0" bIns="0" rtlCol="0" anchor="t"/>
          <a:lstStyle/>
          <a:p>
            <a:pPr marL="0" indent="0" algn="l">
              <a:lnSpc>
                <a:spcPts val="1050"/>
              </a:lnSpc>
              <a:buNone/>
            </a:pPr>
            <a:r>
              <a:rPr lang="en-US" sz="840" b="1" dirty="0">
                <a:solidFill>
                  <a:srgbClr val="1B5E72"/>
                </a:solidFill>
                <a:latin typeface="Calibri" pitchFamily="34" charset="0"/>
                <a:ea typeface="Calibri" pitchFamily="34" charset="-122"/>
                <a:cs typeface="Calibri" pitchFamily="34" charset="-120"/>
              </a:rPr>
              <a:t>Have Fun in the Work</a:t>
            </a:r>
            <a:endParaRPr lang="en-US" sz="840" dirty="0"/>
          </a:p>
        </p:txBody>
      </p:sp>
      <p:sp>
        <p:nvSpPr>
          <p:cNvPr id="29" name="Text 22"/>
          <p:cNvSpPr/>
          <p:nvPr/>
        </p:nvSpPr>
        <p:spPr>
          <a:xfrm>
            <a:off x="3710136" y="2063948"/>
            <a:ext cx="2151983" cy="423334"/>
          </a:xfrm>
          <a:prstGeom prst="rect">
            <a:avLst/>
          </a:prstGeom>
          <a:noFill/>
          <a:ln/>
        </p:spPr>
        <p:txBody>
          <a:bodyPr wrap="square" lIns="0" tIns="0" rIns="0" bIns="0" rtlCol="0" anchor="t"/>
          <a:lstStyle/>
          <a:p>
            <a:pPr marL="0" indent="0" algn="l">
              <a:lnSpc>
                <a:spcPts val="1058"/>
              </a:lnSpc>
              <a:buNone/>
            </a:pPr>
            <a:r>
              <a:rPr lang="en-US" sz="730" dirty="0">
                <a:solidFill>
                  <a:srgbClr val="2C2C2C"/>
                </a:solidFill>
                <a:latin typeface="Calibri" pitchFamily="34" charset="0"/>
                <a:ea typeface="Calibri" pitchFamily="34" charset="-122"/>
                <a:cs typeface="Calibri" pitchFamily="34" charset="-120"/>
              </a:rPr>
              <a:t>Joy protects against burnout and strengthens connection. You get to build relationships, play, and support growth every single day.</a:t>
            </a:r>
            <a:endParaRPr lang="en-US" sz="730" dirty="0"/>
          </a:p>
        </p:txBody>
      </p:sp>
      <p:sp>
        <p:nvSpPr>
          <p:cNvPr id="30" name="Text 23"/>
          <p:cNvSpPr/>
          <p:nvPr/>
        </p:nvSpPr>
        <p:spPr>
          <a:xfrm>
            <a:off x="6057900" y="1777603"/>
            <a:ext cx="2771180" cy="933748"/>
          </a:xfrm>
          <a:prstGeom prst="roundRect">
            <a:avLst>
              <a:gd name="adj" fmla="val 7617"/>
            </a:avLst>
          </a:prstGeom>
          <a:solidFill>
            <a:srgbClr val="EAF4F4"/>
          </a:solidFill>
          <a:ln w="9525">
            <a:solidFill>
              <a:srgbClr val="B2D8D8"/>
            </a:solidFill>
          </a:ln>
        </p:spPr>
        <p:txBody>
          <a:bodyPr wrap="square" rtlCol="0" anchor="t"/>
          <a:lstStyle/>
          <a:p>
            <a:pPr marL="0" indent="0">
              <a:buNone/>
            </a:pPr>
            <a:endParaRPr lang="en-US" dirty="0"/>
          </a:p>
        </p:txBody>
      </p:sp>
      <p:sp>
        <p:nvSpPr>
          <p:cNvPr id="31" name="Text 24"/>
          <p:cNvSpPr/>
          <p:nvPr/>
        </p:nvSpPr>
        <p:spPr>
          <a:xfrm>
            <a:off x="6195566" y="1915269"/>
            <a:ext cx="285750" cy="285750"/>
          </a:xfrm>
          <a:prstGeom prst="roundRect">
            <a:avLst>
              <a:gd name="adj" fmla="val 20000"/>
            </a:avLst>
          </a:prstGeom>
          <a:solidFill>
            <a:srgbClr val="FFFFFF"/>
          </a:solidFill>
          <a:ln w="9525">
            <a:solidFill>
              <a:srgbClr val="FAB753"/>
            </a:solidFill>
          </a:ln>
        </p:spPr>
        <p:txBody>
          <a:bodyPr wrap="square" rtlCol="0" anchor="t"/>
          <a:lstStyle/>
          <a:p>
            <a:pPr marL="0" indent="0">
              <a:buNone/>
            </a:pPr>
            <a:endParaRPr lang="en-US" dirty="0"/>
          </a:p>
        </p:txBody>
      </p:sp>
      <p:pic>
        <p:nvPicPr>
          <p:cNvPr id="3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72073" y="1991776"/>
            <a:ext cx="132588" cy="132588"/>
          </a:xfrm>
          <a:prstGeom prst="rect">
            <a:avLst/>
          </a:prstGeom>
        </p:spPr>
      </p:pic>
      <p:sp>
        <p:nvSpPr>
          <p:cNvPr id="33" name="Text 25"/>
          <p:cNvSpPr/>
          <p:nvPr/>
        </p:nvSpPr>
        <p:spPr>
          <a:xfrm>
            <a:off x="6581626" y="1901428"/>
            <a:ext cx="2320766" cy="133350"/>
          </a:xfrm>
          <a:prstGeom prst="rect">
            <a:avLst/>
          </a:prstGeom>
          <a:noFill/>
          <a:ln/>
        </p:spPr>
        <p:txBody>
          <a:bodyPr wrap="none" lIns="0" tIns="0" rIns="0" bIns="0" rtlCol="0" anchor="t"/>
          <a:lstStyle/>
          <a:p>
            <a:pPr marL="0" indent="0" algn="l">
              <a:lnSpc>
                <a:spcPts val="1050"/>
              </a:lnSpc>
              <a:buNone/>
            </a:pPr>
            <a:r>
              <a:rPr lang="en-US" sz="840" b="1" dirty="0">
                <a:solidFill>
                  <a:srgbClr val="1B5E72"/>
                </a:solidFill>
                <a:latin typeface="Calibri" pitchFamily="34" charset="0"/>
                <a:ea typeface="Calibri" pitchFamily="34" charset="-122"/>
                <a:cs typeface="Calibri" pitchFamily="34" charset="-120"/>
              </a:rPr>
              <a:t>Set a Meaningful Goal</a:t>
            </a:r>
            <a:endParaRPr lang="en-US" sz="840" dirty="0"/>
          </a:p>
        </p:txBody>
      </p:sp>
      <p:sp>
        <p:nvSpPr>
          <p:cNvPr id="34" name="Text 26"/>
          <p:cNvSpPr/>
          <p:nvPr/>
        </p:nvSpPr>
        <p:spPr>
          <a:xfrm>
            <a:off x="6581626" y="2063948"/>
            <a:ext cx="2151983" cy="423334"/>
          </a:xfrm>
          <a:prstGeom prst="rect">
            <a:avLst/>
          </a:prstGeom>
          <a:noFill/>
          <a:ln/>
        </p:spPr>
        <p:txBody>
          <a:bodyPr wrap="square" lIns="0" tIns="0" rIns="0" bIns="0" rtlCol="0" anchor="t"/>
          <a:lstStyle/>
          <a:p>
            <a:pPr marL="0" indent="0" algn="l">
              <a:lnSpc>
                <a:spcPts val="1058"/>
              </a:lnSpc>
              <a:buNone/>
            </a:pPr>
            <a:r>
              <a:rPr lang="en-US" sz="730" dirty="0">
                <a:solidFill>
                  <a:srgbClr val="2C2C2C"/>
                </a:solidFill>
                <a:latin typeface="Calibri" pitchFamily="34" charset="0"/>
                <a:ea typeface="Calibri" pitchFamily="34" charset="-122"/>
                <a:cs typeface="Calibri" pitchFamily="34" charset="-120"/>
              </a:rPr>
              <a:t>Align your personal goal with the mission. On the hard days, that connection is what keeps you going.</a:t>
            </a:r>
            <a:endParaRPr lang="en-US" sz="730" dirty="0"/>
          </a:p>
        </p:txBody>
      </p:sp>
      <p:sp>
        <p:nvSpPr>
          <p:cNvPr id="35" name="Text 27"/>
          <p:cNvSpPr/>
          <p:nvPr/>
        </p:nvSpPr>
        <p:spPr>
          <a:xfrm>
            <a:off x="-91440" y="4826050"/>
            <a:ext cx="9326880" cy="317450"/>
          </a:xfrm>
          <a:prstGeom prst="rect">
            <a:avLst/>
          </a:prstGeom>
          <a:solidFill>
            <a:srgbClr val="FAB753"/>
          </a:solidFill>
          <a:ln/>
        </p:spPr>
        <p:txBody>
          <a:bodyPr wrap="none" lIns="342900" tIns="78740" rIns="342900" bIns="78740" rtlCol="0" anchor="ctr"/>
          <a:lstStyle/>
          <a:p>
            <a:pPr marL="0" indent="0" algn="ctr">
              <a:buNone/>
            </a:pPr>
            <a:r>
              <a:rPr lang="en-US" sz="840" b="1" kern="0" spc="8" dirty="0">
                <a:solidFill>
                  <a:srgbClr val="1B2A1A"/>
                </a:solidFill>
                <a:latin typeface="Calibri" pitchFamily="34" charset="0"/>
                <a:ea typeface="Calibri" pitchFamily="34" charset="-122"/>
                <a:cs typeface="Calibri" pitchFamily="34" charset="-120"/>
              </a:rPr>
              <a:t>You will find your rhythm. Give yourself grace while you do.</a:t>
            </a:r>
            <a:endParaRPr lang="en-US" sz="840" dirty="0"/>
          </a:p>
        </p:txBody>
      </p:sp>
      <p:sp>
        <p:nvSpPr>
          <p:cNvPr id="36" name="Text 28"/>
          <p:cNvSpPr/>
          <p:nvPr/>
        </p:nvSpPr>
        <p:spPr>
          <a:xfrm>
            <a:off x="324445" y="753070"/>
            <a:ext cx="29170" cy="914697"/>
          </a:xfrm>
          <a:custGeom>
            <a:avLst/>
            <a:gdLst/>
            <a:ahLst/>
            <a:cxnLst/>
            <a:rect l="l" t="t" r="r" b="b"/>
            <a:pathLst>
              <a:path w="29170" h="914697">
                <a:moveTo>
                  <a:pt x="0" y="71120"/>
                </a:moveTo>
                <a:lnTo>
                  <a:pt x="3646" y="48640"/>
                </a:lnTo>
                <a:lnTo>
                  <a:pt x="7293" y="39749"/>
                </a:lnTo>
                <a:lnTo>
                  <a:pt x="10939" y="33222"/>
                </a:lnTo>
                <a:lnTo>
                  <a:pt x="14585" y="27971"/>
                </a:lnTo>
                <a:lnTo>
                  <a:pt x="18231" y="23572"/>
                </a:lnTo>
                <a:lnTo>
                  <a:pt x="21878" y="19805"/>
                </a:lnTo>
                <a:lnTo>
                  <a:pt x="25524" y="16539"/>
                </a:lnTo>
                <a:lnTo>
                  <a:pt x="29170" y="13689"/>
                </a:lnTo>
                <a:lnTo>
                  <a:pt x="29170" y="901008"/>
                </a:lnTo>
                <a:lnTo>
                  <a:pt x="25524" y="898158"/>
                </a:lnTo>
                <a:lnTo>
                  <a:pt x="21878" y="894892"/>
                </a:lnTo>
                <a:lnTo>
                  <a:pt x="18231" y="891126"/>
                </a:lnTo>
                <a:lnTo>
                  <a:pt x="14585" y="886727"/>
                </a:lnTo>
                <a:lnTo>
                  <a:pt x="10939" y="881476"/>
                </a:lnTo>
                <a:lnTo>
                  <a:pt x="7293" y="874948"/>
                </a:lnTo>
                <a:lnTo>
                  <a:pt x="3646" y="866057"/>
                </a:lnTo>
                <a:lnTo>
                  <a:pt x="0" y="843577"/>
                </a:lnTo>
                <a:close/>
              </a:path>
            </a:pathLst>
          </a:custGeom>
          <a:solidFill>
            <a:srgbClr val="FAB753"/>
          </a:solidFill>
          <a:ln/>
        </p:spPr>
        <p:txBody>
          <a:bodyPr wrap="square" rtlCol="0" anchor="t"/>
          <a:lstStyle/>
          <a:p>
            <a:pPr marL="0" indent="0">
              <a:buNone/>
            </a:pPr>
            <a:endParaRPr lang="en-US" dirty="0"/>
          </a:p>
        </p:txBody>
      </p:sp>
      <p:sp>
        <p:nvSpPr>
          <p:cNvPr id="37" name="Text 29"/>
          <p:cNvSpPr/>
          <p:nvPr/>
        </p:nvSpPr>
        <p:spPr>
          <a:xfrm>
            <a:off x="3195935" y="753070"/>
            <a:ext cx="29170" cy="914697"/>
          </a:xfrm>
          <a:custGeom>
            <a:avLst/>
            <a:gdLst/>
            <a:ahLst/>
            <a:cxnLst/>
            <a:rect l="l" t="t" r="r" b="b"/>
            <a:pathLst>
              <a:path w="29170" h="914697">
                <a:moveTo>
                  <a:pt x="0" y="71120"/>
                </a:moveTo>
                <a:lnTo>
                  <a:pt x="3646" y="48640"/>
                </a:lnTo>
                <a:lnTo>
                  <a:pt x="7293" y="39749"/>
                </a:lnTo>
                <a:lnTo>
                  <a:pt x="10939" y="33222"/>
                </a:lnTo>
                <a:lnTo>
                  <a:pt x="14585" y="27971"/>
                </a:lnTo>
                <a:lnTo>
                  <a:pt x="18231" y="23572"/>
                </a:lnTo>
                <a:lnTo>
                  <a:pt x="21878" y="19805"/>
                </a:lnTo>
                <a:lnTo>
                  <a:pt x="25524" y="16539"/>
                </a:lnTo>
                <a:lnTo>
                  <a:pt x="29170" y="13689"/>
                </a:lnTo>
                <a:lnTo>
                  <a:pt x="29170" y="901008"/>
                </a:lnTo>
                <a:lnTo>
                  <a:pt x="25524" y="898158"/>
                </a:lnTo>
                <a:lnTo>
                  <a:pt x="21878" y="894892"/>
                </a:lnTo>
                <a:lnTo>
                  <a:pt x="18231" y="891126"/>
                </a:lnTo>
                <a:lnTo>
                  <a:pt x="14585" y="886727"/>
                </a:lnTo>
                <a:lnTo>
                  <a:pt x="10939" y="881476"/>
                </a:lnTo>
                <a:lnTo>
                  <a:pt x="7293" y="874948"/>
                </a:lnTo>
                <a:lnTo>
                  <a:pt x="3646" y="866057"/>
                </a:lnTo>
                <a:lnTo>
                  <a:pt x="0" y="843577"/>
                </a:lnTo>
                <a:close/>
              </a:path>
            </a:pathLst>
          </a:custGeom>
          <a:solidFill>
            <a:srgbClr val="FAB753"/>
          </a:solidFill>
          <a:ln/>
        </p:spPr>
        <p:txBody>
          <a:bodyPr wrap="square" rtlCol="0" anchor="t"/>
          <a:lstStyle/>
          <a:p>
            <a:pPr marL="0" indent="0">
              <a:buNone/>
            </a:pPr>
            <a:endParaRPr lang="en-US" dirty="0"/>
          </a:p>
        </p:txBody>
      </p:sp>
      <p:sp>
        <p:nvSpPr>
          <p:cNvPr id="38" name="Text 30"/>
          <p:cNvSpPr/>
          <p:nvPr/>
        </p:nvSpPr>
        <p:spPr>
          <a:xfrm>
            <a:off x="6067425" y="753070"/>
            <a:ext cx="29170" cy="914697"/>
          </a:xfrm>
          <a:custGeom>
            <a:avLst/>
            <a:gdLst/>
            <a:ahLst/>
            <a:cxnLst/>
            <a:rect l="l" t="t" r="r" b="b"/>
            <a:pathLst>
              <a:path w="29170" h="914697">
                <a:moveTo>
                  <a:pt x="0" y="71120"/>
                </a:moveTo>
                <a:lnTo>
                  <a:pt x="3646" y="48640"/>
                </a:lnTo>
                <a:lnTo>
                  <a:pt x="7293" y="39749"/>
                </a:lnTo>
                <a:lnTo>
                  <a:pt x="10939" y="33222"/>
                </a:lnTo>
                <a:lnTo>
                  <a:pt x="14585" y="27971"/>
                </a:lnTo>
                <a:lnTo>
                  <a:pt x="18231" y="23572"/>
                </a:lnTo>
                <a:lnTo>
                  <a:pt x="21878" y="19805"/>
                </a:lnTo>
                <a:lnTo>
                  <a:pt x="25524" y="16539"/>
                </a:lnTo>
                <a:lnTo>
                  <a:pt x="29170" y="13689"/>
                </a:lnTo>
                <a:lnTo>
                  <a:pt x="29170" y="901008"/>
                </a:lnTo>
                <a:lnTo>
                  <a:pt x="25524" y="898158"/>
                </a:lnTo>
                <a:lnTo>
                  <a:pt x="21878" y="894892"/>
                </a:lnTo>
                <a:lnTo>
                  <a:pt x="18231" y="891126"/>
                </a:lnTo>
                <a:lnTo>
                  <a:pt x="14585" y="886727"/>
                </a:lnTo>
                <a:lnTo>
                  <a:pt x="10939" y="881476"/>
                </a:lnTo>
                <a:lnTo>
                  <a:pt x="7293" y="874948"/>
                </a:lnTo>
                <a:lnTo>
                  <a:pt x="3646" y="866057"/>
                </a:lnTo>
                <a:lnTo>
                  <a:pt x="0" y="843577"/>
                </a:lnTo>
                <a:close/>
              </a:path>
            </a:pathLst>
          </a:custGeom>
          <a:solidFill>
            <a:srgbClr val="FAB753"/>
          </a:solidFill>
          <a:ln/>
        </p:spPr>
        <p:txBody>
          <a:bodyPr wrap="square" rtlCol="0" anchor="t"/>
          <a:lstStyle/>
          <a:p>
            <a:pPr marL="0" indent="0">
              <a:buNone/>
            </a:pPr>
            <a:endParaRPr lang="en-US" dirty="0"/>
          </a:p>
        </p:txBody>
      </p:sp>
      <p:sp>
        <p:nvSpPr>
          <p:cNvPr id="39" name="Text 31"/>
          <p:cNvSpPr/>
          <p:nvPr/>
        </p:nvSpPr>
        <p:spPr>
          <a:xfrm>
            <a:off x="324445" y="1787128"/>
            <a:ext cx="29170" cy="914697"/>
          </a:xfrm>
          <a:custGeom>
            <a:avLst/>
            <a:gdLst/>
            <a:ahLst/>
            <a:cxnLst/>
            <a:rect l="l" t="t" r="r" b="b"/>
            <a:pathLst>
              <a:path w="29170" h="914697">
                <a:moveTo>
                  <a:pt x="0" y="71120"/>
                </a:moveTo>
                <a:lnTo>
                  <a:pt x="3646" y="48640"/>
                </a:lnTo>
                <a:lnTo>
                  <a:pt x="7293" y="39749"/>
                </a:lnTo>
                <a:lnTo>
                  <a:pt x="10939" y="33222"/>
                </a:lnTo>
                <a:lnTo>
                  <a:pt x="14585" y="27971"/>
                </a:lnTo>
                <a:lnTo>
                  <a:pt x="18231" y="23572"/>
                </a:lnTo>
                <a:lnTo>
                  <a:pt x="21878" y="19805"/>
                </a:lnTo>
                <a:lnTo>
                  <a:pt x="25524" y="16539"/>
                </a:lnTo>
                <a:lnTo>
                  <a:pt x="29170" y="13689"/>
                </a:lnTo>
                <a:lnTo>
                  <a:pt x="29170" y="901008"/>
                </a:lnTo>
                <a:lnTo>
                  <a:pt x="25524" y="898158"/>
                </a:lnTo>
                <a:lnTo>
                  <a:pt x="21878" y="894892"/>
                </a:lnTo>
                <a:lnTo>
                  <a:pt x="18231" y="891126"/>
                </a:lnTo>
                <a:lnTo>
                  <a:pt x="14585" y="886727"/>
                </a:lnTo>
                <a:lnTo>
                  <a:pt x="10939" y="881476"/>
                </a:lnTo>
                <a:lnTo>
                  <a:pt x="7293" y="874948"/>
                </a:lnTo>
                <a:lnTo>
                  <a:pt x="3646" y="866057"/>
                </a:lnTo>
                <a:lnTo>
                  <a:pt x="0" y="843577"/>
                </a:lnTo>
                <a:close/>
              </a:path>
            </a:pathLst>
          </a:custGeom>
          <a:solidFill>
            <a:srgbClr val="FAB753"/>
          </a:solidFill>
          <a:ln/>
        </p:spPr>
        <p:txBody>
          <a:bodyPr wrap="square" rtlCol="0" anchor="t"/>
          <a:lstStyle/>
          <a:p>
            <a:pPr marL="0" indent="0">
              <a:buNone/>
            </a:pPr>
            <a:endParaRPr lang="en-US" dirty="0"/>
          </a:p>
        </p:txBody>
      </p:sp>
      <p:sp>
        <p:nvSpPr>
          <p:cNvPr id="40" name="Text 32"/>
          <p:cNvSpPr/>
          <p:nvPr/>
        </p:nvSpPr>
        <p:spPr>
          <a:xfrm>
            <a:off x="3195935" y="1787128"/>
            <a:ext cx="29170" cy="914697"/>
          </a:xfrm>
          <a:custGeom>
            <a:avLst/>
            <a:gdLst/>
            <a:ahLst/>
            <a:cxnLst/>
            <a:rect l="l" t="t" r="r" b="b"/>
            <a:pathLst>
              <a:path w="29170" h="914697">
                <a:moveTo>
                  <a:pt x="0" y="71120"/>
                </a:moveTo>
                <a:lnTo>
                  <a:pt x="3646" y="48640"/>
                </a:lnTo>
                <a:lnTo>
                  <a:pt x="7293" y="39749"/>
                </a:lnTo>
                <a:lnTo>
                  <a:pt x="10939" y="33222"/>
                </a:lnTo>
                <a:lnTo>
                  <a:pt x="14585" y="27971"/>
                </a:lnTo>
                <a:lnTo>
                  <a:pt x="18231" y="23572"/>
                </a:lnTo>
                <a:lnTo>
                  <a:pt x="21878" y="19805"/>
                </a:lnTo>
                <a:lnTo>
                  <a:pt x="25524" y="16539"/>
                </a:lnTo>
                <a:lnTo>
                  <a:pt x="29170" y="13689"/>
                </a:lnTo>
                <a:lnTo>
                  <a:pt x="29170" y="901008"/>
                </a:lnTo>
                <a:lnTo>
                  <a:pt x="25524" y="898158"/>
                </a:lnTo>
                <a:lnTo>
                  <a:pt x="21878" y="894892"/>
                </a:lnTo>
                <a:lnTo>
                  <a:pt x="18231" y="891126"/>
                </a:lnTo>
                <a:lnTo>
                  <a:pt x="14585" y="886727"/>
                </a:lnTo>
                <a:lnTo>
                  <a:pt x="10939" y="881476"/>
                </a:lnTo>
                <a:lnTo>
                  <a:pt x="7293" y="874948"/>
                </a:lnTo>
                <a:lnTo>
                  <a:pt x="3646" y="866057"/>
                </a:lnTo>
                <a:lnTo>
                  <a:pt x="0" y="843577"/>
                </a:lnTo>
                <a:close/>
              </a:path>
            </a:pathLst>
          </a:custGeom>
          <a:solidFill>
            <a:srgbClr val="FAB753"/>
          </a:solidFill>
          <a:ln/>
        </p:spPr>
        <p:txBody>
          <a:bodyPr wrap="square" rtlCol="0" anchor="t"/>
          <a:lstStyle/>
          <a:p>
            <a:pPr marL="0" indent="0">
              <a:buNone/>
            </a:pPr>
            <a:endParaRPr lang="en-US" dirty="0"/>
          </a:p>
        </p:txBody>
      </p:sp>
      <p:sp>
        <p:nvSpPr>
          <p:cNvPr id="41" name="Text 33"/>
          <p:cNvSpPr/>
          <p:nvPr/>
        </p:nvSpPr>
        <p:spPr>
          <a:xfrm>
            <a:off x="6067425" y="1787128"/>
            <a:ext cx="29170" cy="914697"/>
          </a:xfrm>
          <a:custGeom>
            <a:avLst/>
            <a:gdLst/>
            <a:ahLst/>
            <a:cxnLst/>
            <a:rect l="l" t="t" r="r" b="b"/>
            <a:pathLst>
              <a:path w="29170" h="914697">
                <a:moveTo>
                  <a:pt x="0" y="71120"/>
                </a:moveTo>
                <a:lnTo>
                  <a:pt x="3646" y="48640"/>
                </a:lnTo>
                <a:lnTo>
                  <a:pt x="7293" y="39749"/>
                </a:lnTo>
                <a:lnTo>
                  <a:pt x="10939" y="33222"/>
                </a:lnTo>
                <a:lnTo>
                  <a:pt x="14585" y="27971"/>
                </a:lnTo>
                <a:lnTo>
                  <a:pt x="18231" y="23572"/>
                </a:lnTo>
                <a:lnTo>
                  <a:pt x="21878" y="19805"/>
                </a:lnTo>
                <a:lnTo>
                  <a:pt x="25524" y="16539"/>
                </a:lnTo>
                <a:lnTo>
                  <a:pt x="29170" y="13689"/>
                </a:lnTo>
                <a:lnTo>
                  <a:pt x="29170" y="901008"/>
                </a:lnTo>
                <a:lnTo>
                  <a:pt x="25524" y="898158"/>
                </a:lnTo>
                <a:lnTo>
                  <a:pt x="21878" y="894892"/>
                </a:lnTo>
                <a:lnTo>
                  <a:pt x="18231" y="891126"/>
                </a:lnTo>
                <a:lnTo>
                  <a:pt x="14585" y="886727"/>
                </a:lnTo>
                <a:lnTo>
                  <a:pt x="10939" y="881476"/>
                </a:lnTo>
                <a:lnTo>
                  <a:pt x="7293" y="874948"/>
                </a:lnTo>
                <a:lnTo>
                  <a:pt x="3646" y="866057"/>
                </a:lnTo>
                <a:lnTo>
                  <a:pt x="0" y="843577"/>
                </a:lnTo>
                <a:close/>
              </a:path>
            </a:pathLst>
          </a:custGeom>
          <a:solidFill>
            <a:srgbClr val="FAB753"/>
          </a:solidFill>
          <a:ln/>
        </p:spPr>
        <p:txBody>
          <a:bodyPr wrap="square" rtlCol="0" anchor="t"/>
          <a:lstStyle/>
          <a:p>
            <a:pPr marL="0" indent="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9144000" cy="43160"/>
          </a:xfrm>
          <a:prstGeom prst="rect">
            <a:avLst/>
          </a:prstGeom>
          <a:solidFill>
            <a:srgbClr val="1B5E72"/>
          </a:solidFill>
          <a:ln/>
        </p:spPr>
        <p:txBody>
          <a:bodyPr wrap="none" rtlCol="0" anchor="t"/>
          <a:lstStyle/>
          <a:p>
            <a:pPr marL="0" indent="0">
              <a:buNone/>
            </a:pPr>
            <a:endParaRPr lang="en-US"/>
          </a:p>
        </p:txBody>
      </p:sp>
      <p:sp>
        <p:nvSpPr>
          <p:cNvPr id="3" name="Title"/>
          <p:cNvSpPr/>
          <p:nvPr/>
        </p:nvSpPr>
        <p:spPr>
          <a:xfrm>
            <a:off x="457200" y="250000"/>
            <a:ext cx="8229600" cy="470000"/>
          </a:xfrm>
          <a:prstGeom prst="rect">
            <a:avLst/>
          </a:prstGeom>
          <a:noFill/>
          <a:ln/>
        </p:spPr>
        <p:txBody>
          <a:bodyPr wrap="square" lIns="0" tIns="0" rIns="0" bIns="0" rtlCol="0" anchor="ctr"/>
          <a:lstStyle/>
          <a:p>
            <a:pPr marL="0" indent="0" algn="ctr">
              <a:buNone/>
            </a:pPr>
            <a:r>
              <a:rPr lang="en-US" sz="2400" b="1" kern="0" spc="-30">
                <a:solidFill>
                  <a:srgbClr val="1B5E72"/>
                </a:solidFill>
                <a:latin typeface="Calibri Light" pitchFamily="34" charset="0"/>
                <a:ea typeface="Calibri Light" pitchFamily="34" charset="-122"/>
                <a:cs typeface="Calibri Light" pitchFamily="34" charset="-120"/>
              </a:rPr>
              <a:t>Making Your 8-Hour Day Add Up</a:t>
            </a:r>
            <a:endParaRPr lang="en-US" sz="2400"/>
          </a:p>
        </p:txBody>
      </p:sp>
      <p:sp>
        <p:nvSpPr>
          <p:cNvPr id="4" name="Intro Accent Bar"/>
          <p:cNvSpPr/>
          <p:nvPr/>
        </p:nvSpPr>
        <p:spPr>
          <a:xfrm>
            <a:off x="1039454" y="880000"/>
            <a:ext cx="35421" cy="560000"/>
          </a:xfrm>
          <a:prstGeom prst="roundRect">
            <a:avLst>
              <a:gd name="adj" fmla="val 50000"/>
            </a:avLst>
          </a:prstGeom>
          <a:solidFill>
            <a:srgbClr val="FAB753"/>
          </a:solidFill>
          <a:ln/>
        </p:spPr>
        <p:txBody>
          <a:bodyPr wrap="square" rtlCol="0" anchor="t"/>
          <a:lstStyle/>
          <a:p>
            <a:pPr marL="0" indent="0">
              <a:buNone/>
            </a:pPr>
            <a:endParaRPr lang="en-US"/>
          </a:p>
        </p:txBody>
      </p:sp>
      <p:sp>
        <p:nvSpPr>
          <p:cNvPr id="5" name="Intro Text"/>
          <p:cNvSpPr/>
          <p:nvPr/>
        </p:nvSpPr>
        <p:spPr>
          <a:xfrm>
            <a:off x="1332645" y="880000"/>
            <a:ext cx="6850559" cy="560000"/>
          </a:xfrm>
          <a:prstGeom prst="rect">
            <a:avLst/>
          </a:prstGeom>
          <a:noFill/>
          <a:ln/>
        </p:spPr>
        <p:txBody>
          <a:bodyPr wrap="square" lIns="0" tIns="0" rIns="0" bIns="0" rtlCol="0" anchor="ctr"/>
          <a:lstStyle/>
          <a:p>
            <a:pPr marL="0" indent="0" algn="l">
              <a:buNone/>
            </a:pPr>
            <a:r>
              <a:rPr lang="en-US" sz="1200">
                <a:solidFill>
                  <a:srgbClr val="2C2C2C"/>
                </a:solidFill>
                <a:latin typeface="Calibri" pitchFamily="34" charset="0"/>
                <a:ea typeface="Calibri" pitchFamily="34" charset="-122"/>
                <a:cs typeface="Calibri" pitchFamily="34" charset="-120"/>
              </a:rPr>
              <a:t>The goal: complete all your work in an 8-hour day, take off your therapy hat, and spend the remaining 16 hours resting, connecting with loved ones, engaging in hobbies, or working a second job because Nashville is so expensive.</a:t>
            </a:r>
            <a:endParaRPr lang="en-US" sz="1200"/>
          </a:p>
        </p:txBody>
      </p:sp>
      <p:sp>
        <p:nvSpPr>
          <p:cNvPr id="6" name="Stat Card 1"/>
          <p:cNvSpPr/>
          <p:nvPr/>
        </p:nvSpPr>
        <p:spPr>
          <a:xfrm>
            <a:off x="700000" y="1560000"/>
            <a:ext cx="2448000" cy="820000"/>
          </a:xfrm>
          <a:prstGeom prst="roundRect">
            <a:avLst>
              <a:gd name="adj" fmla="val 8000"/>
            </a:avLst>
          </a:prstGeom>
          <a:solidFill>
            <a:srgbClr val="1B5E72"/>
          </a:solidFill>
          <a:ln/>
        </p:spPr>
        <p:txBody>
          <a:bodyPr wrap="square" lIns="45720" tIns="45720" rIns="45720" bIns="45720" rtlCol="0" anchor="ctr"/>
          <a:lstStyle/>
          <a:p>
            <a:pPr marL="0" indent="0" algn="ctr">
              <a:buNone/>
            </a:pPr>
            <a:r>
              <a:rPr lang="en-US" sz="2400" b="1" kern="0">
                <a:solidFill>
                  <a:srgbClr val="FFFFFF"/>
                </a:solidFill>
                <a:latin typeface="Calibri Light" pitchFamily="34" charset="0"/>
                <a:ea typeface="Calibri Light" pitchFamily="34" charset="-122"/>
                <a:cs typeface="Calibri Light" pitchFamily="34" charset="-120"/>
              </a:rPr>
              <a:t>8 hrs</a:t>
            </a:r>
          </a:p>
          <a:p>
            <a:pPr marL="0" indent="0" algn="ctr">
              <a:buNone/>
            </a:pPr>
            <a:r>
              <a:rPr lang="en-US" sz="1100" spc="20">
                <a:solidFill>
                  <a:srgbClr val="EAF4F4"/>
                </a:solidFill>
                <a:latin typeface="Calibri" pitchFamily="34" charset="0"/>
                <a:ea typeface="Calibri" pitchFamily="34" charset="-122"/>
                <a:cs typeface="Calibri" pitchFamily="34" charset="-120"/>
              </a:rPr>
              <a:t>Full work day</a:t>
            </a:r>
            <a:endParaRPr lang="en-US" sz="1100"/>
          </a:p>
        </p:txBody>
      </p:sp>
      <p:sp>
        <p:nvSpPr>
          <p:cNvPr id="7" name="Stat Card 2"/>
          <p:cNvSpPr/>
          <p:nvPr/>
        </p:nvSpPr>
        <p:spPr>
          <a:xfrm>
            <a:off x="3348000" y="1560000"/>
            <a:ext cx="2448000" cy="820000"/>
          </a:xfrm>
          <a:prstGeom prst="roundRect">
            <a:avLst>
              <a:gd name="adj" fmla="val 8000"/>
            </a:avLst>
          </a:prstGeom>
          <a:solidFill>
            <a:srgbClr val="1B5E72"/>
          </a:solidFill>
          <a:ln/>
        </p:spPr>
        <p:txBody>
          <a:bodyPr wrap="square" lIns="45720" tIns="45720" rIns="45720" bIns="45720" rtlCol="0" anchor="ctr"/>
          <a:lstStyle/>
          <a:p>
            <a:pPr marL="0" indent="0" algn="ctr">
              <a:buNone/>
            </a:pPr>
            <a:r>
              <a:rPr lang="en-US" sz="2400" b="1" kern="0">
                <a:solidFill>
                  <a:srgbClr val="FFFFFF"/>
                </a:solidFill>
                <a:latin typeface="Calibri Light" pitchFamily="34" charset="0"/>
                <a:ea typeface="Calibri Light" pitchFamily="34" charset="-122"/>
                <a:cs typeface="Calibri Light" pitchFamily="34" charset="-120"/>
              </a:rPr>
              <a:t>5.6 hrs</a:t>
            </a:r>
          </a:p>
          <a:p>
            <a:pPr marL="0" indent="0" algn="ctr">
              <a:buNone/>
            </a:pPr>
            <a:r>
              <a:rPr lang="en-US" sz="1100" spc="20">
                <a:solidFill>
                  <a:srgbClr val="EAF4F4"/>
                </a:solidFill>
                <a:latin typeface="Calibri" pitchFamily="34" charset="0"/>
                <a:ea typeface="Calibri" pitchFamily="34" charset="-122"/>
                <a:cs typeface="Calibri" pitchFamily="34" charset="-120"/>
              </a:rPr>
              <a:t>In session</a:t>
            </a:r>
            <a:endParaRPr lang="en-US" sz="1100"/>
          </a:p>
        </p:txBody>
      </p:sp>
      <p:sp>
        <p:nvSpPr>
          <p:cNvPr id="8" name="Stat Card 3"/>
          <p:cNvSpPr/>
          <p:nvPr/>
        </p:nvSpPr>
        <p:spPr>
          <a:xfrm>
            <a:off x="5996000" y="1560000"/>
            <a:ext cx="2448000" cy="820000"/>
          </a:xfrm>
          <a:prstGeom prst="roundRect">
            <a:avLst>
              <a:gd name="adj" fmla="val 8000"/>
            </a:avLst>
          </a:prstGeom>
          <a:solidFill>
            <a:srgbClr val="FAB753"/>
          </a:solidFill>
          <a:ln/>
        </p:spPr>
        <p:txBody>
          <a:bodyPr wrap="square" lIns="45720" tIns="45720" rIns="45720" bIns="45720" rtlCol="0" anchor="ctr"/>
          <a:lstStyle/>
          <a:p>
            <a:pPr marL="0" indent="0" algn="ctr">
              <a:buNone/>
            </a:pPr>
            <a:r>
              <a:rPr lang="en-US" sz="2400" b="1" kern="0">
                <a:solidFill>
                  <a:srgbClr val="1B1B1B"/>
                </a:solidFill>
                <a:latin typeface="Calibri Light" pitchFamily="34" charset="0"/>
                <a:ea typeface="Calibri Light" pitchFamily="34" charset="-122"/>
                <a:cs typeface="Calibri Light" pitchFamily="34" charset="-120"/>
              </a:rPr>
              <a:t>2.4 hrs</a:t>
            </a:r>
          </a:p>
          <a:p>
            <a:pPr marL="0" indent="0" algn="ctr">
              <a:buNone/>
            </a:pPr>
            <a:r>
              <a:rPr lang="en-US" sz="1100" spc="20">
                <a:solidFill>
                  <a:srgbClr val="1B1B1B"/>
                </a:solidFill>
                <a:latin typeface="Calibri" pitchFamily="34" charset="0"/>
                <a:ea typeface="Calibri" pitchFamily="34" charset="-122"/>
                <a:cs typeface="Calibri" pitchFamily="34" charset="-120"/>
              </a:rPr>
              <a:t>Remaining</a:t>
            </a:r>
            <a:endParaRPr lang="en-US" sz="1100"/>
          </a:p>
        </p:txBody>
      </p:sp>
      <p:sp>
        <p:nvSpPr>
          <p:cNvPr id="9" name="Body Text"/>
          <p:cNvSpPr/>
          <p:nvPr/>
        </p:nvSpPr>
        <p:spPr>
          <a:xfrm>
            <a:off x="700000" y="2620000"/>
            <a:ext cx="7744000" cy="1820000"/>
          </a:xfrm>
          <a:prstGeom prst="rect">
            <a:avLst/>
          </a:prstGeom>
          <a:noFill/>
          <a:ln/>
        </p:spPr>
        <p:txBody>
          <a:bodyPr wrap="square" lIns="0" tIns="0" rIns="0" bIns="0" rtlCol="0" anchor="t"/>
          <a:lstStyle/>
          <a:p>
            <a:pPr marL="0" indent="0" algn="l">
              <a:spcAft>
                <a:spcPts val="900"/>
              </a:spcAft>
              <a:buNone/>
            </a:pPr>
            <a:r>
              <a:rPr lang="en-US" sz="1150">
                <a:solidFill>
                  <a:srgbClr val="2C2C2C"/>
                </a:solidFill>
                <a:latin typeface="Calibri" pitchFamily="34" charset="0"/>
                <a:ea typeface="Calibri" pitchFamily="34" charset="-122"/>
                <a:cs typeface="Calibri" pitchFamily="34" charset="-120"/>
              </a:rPr>
              <a:t>Tasks that easily fill the rest of your workday: collaboration with your school(s), team meetings, clinical supervision, and communication like responding to texts and emails.</a:t>
            </a:r>
          </a:p>
          <a:p>
            <a:pPr marL="0" indent="0" algn="l">
              <a:buNone/>
            </a:pPr>
            <a:r>
              <a:rPr lang="en-US" sz="1150" b="1">
                <a:solidFill>
                  <a:srgbClr val="1B5E72"/>
                </a:solidFill>
                <a:latin typeface="Calibri" pitchFamily="34" charset="0"/>
                <a:ea typeface="Calibri" pitchFamily="34" charset="-122"/>
                <a:cs typeface="Calibri" pitchFamily="34" charset="-120"/>
              </a:rPr>
              <a:t>Pro tip: </a:t>
            </a:r>
            <a:r>
              <a:rPr lang="en-US" sz="1150">
                <a:solidFill>
                  <a:srgbClr val="2C2C2C"/>
                </a:solidFill>
                <a:latin typeface="Calibri" pitchFamily="34" charset="0"/>
                <a:ea typeface="Calibri" pitchFamily="34" charset="-122"/>
                <a:cs typeface="Calibri" pitchFamily="34" charset="-120"/>
              </a:rPr>
              <a:t>be mindful early on of what you are doing and how long it takes. If a task eats away at your time, work with your team lead or reach out to me for strategies.</a:t>
            </a:r>
            <a:endParaRPr lang="en-US" sz="1150"/>
          </a:p>
        </p:txBody>
      </p:sp>
      <p:sp>
        <p:nvSpPr>
          <p:cNvPr id="10" name="Footer Bar"/>
          <p:cNvSpPr/>
          <p:nvPr/>
        </p:nvSpPr>
        <p:spPr>
          <a:xfrm>
            <a:off x="0" y="4640580"/>
            <a:ext cx="9144000" cy="502920"/>
          </a:xfrm>
          <a:prstGeom prst="rect">
            <a:avLst/>
          </a:prstGeom>
          <a:solidFill>
            <a:srgbClr val="FAB753"/>
          </a:solidFill>
          <a:ln/>
        </p:spPr>
        <p:txBody>
          <a:bodyPr wrap="none" lIns="0" tIns="0" rIns="0" bIns="0" rtlCol="0" anchor="ctr"/>
          <a:lstStyle/>
          <a:p>
            <a:pPr marL="0" indent="0" algn="ctr">
              <a:buNone/>
            </a:pPr>
            <a:r>
              <a:rPr lang="en-US" sz="1130" b="1" kern="0" spc="10">
                <a:solidFill>
                  <a:srgbClr val="1B1B1B"/>
                </a:solidFill>
                <a:latin typeface="Calibri" pitchFamily="34" charset="0"/>
                <a:ea typeface="Calibri" pitchFamily="34" charset="-122"/>
                <a:cs typeface="Calibri" pitchFamily="34" charset="-120"/>
              </a:rPr>
              <a:t>There are two practices to walk away with today — and integrate into your everyday work.</a:t>
            </a:r>
            <a:endParaRPr lang="en-US" sz="113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op Bar"/>
          <p:cNvSpPr/>
          <p:nvPr/>
        </p:nvSpPr>
        <p:spPr>
          <a:xfrm>
            <a:off x="0" y="0"/>
            <a:ext cx="9144000" cy="43160"/>
          </a:xfrm>
          <a:prstGeom prst="rect">
            <a:avLst/>
          </a:prstGeom>
          <a:solidFill>
            <a:srgbClr val="1B5E72"/>
          </a:solidFill>
          <a:ln/>
        </p:spPr>
        <p:txBody>
          <a:bodyPr wrap="none" rtlCol="0" anchor="t"/>
          <a:lstStyle/>
          <a:p>
            <a:pPr marL="0" indent="0">
              <a:buNone/>
            </a:pPr>
            <a:endParaRPr lang="en-US"/>
          </a:p>
        </p:txBody>
      </p:sp>
      <p:sp>
        <p:nvSpPr>
          <p:cNvPr id="3" name="Quote Mark"/>
          <p:cNvSpPr/>
          <p:nvPr/>
        </p:nvSpPr>
        <p:spPr>
          <a:xfrm>
            <a:off x="8048923" y="362396"/>
            <a:ext cx="549756" cy="1572220"/>
          </a:xfrm>
          <a:prstGeom prst="rect">
            <a:avLst/>
          </a:prstGeom>
          <a:noFill/>
          <a:ln/>
        </p:spPr>
        <p:txBody>
          <a:bodyPr wrap="none" lIns="0" tIns="0" rIns="0" bIns="0" rtlCol="0" anchor="t"/>
          <a:lstStyle/>
          <a:p>
            <a:pPr marL="0" indent="0" algn="l">
              <a:lnSpc>
                <a:spcPts val="12380"/>
              </a:lnSpc>
              <a:buNone/>
            </a:pPr>
            <a:r>
              <a:rPr lang="en-US" sz="12380">
                <a:solidFill>
                  <a:srgbClr val="EAF4F4"/>
                </a:solidFill>
                <a:latin typeface="Calibri Light" pitchFamily="34" charset="0"/>
                <a:ea typeface="Calibri Light" pitchFamily="34" charset="-122"/>
                <a:cs typeface="Calibri Light" pitchFamily="34" charset="-120"/>
              </a:rPr>
              <a:t>“</a:t>
            </a:r>
            <a:endParaRPr lang="en-US" sz="12380"/>
          </a:p>
        </p:txBody>
      </p:sp>
      <p:sp>
        <p:nvSpPr>
          <p:cNvPr id="4" name="Title"/>
          <p:cNvSpPr/>
          <p:nvPr/>
        </p:nvSpPr>
        <p:spPr>
          <a:xfrm>
            <a:off x="457200" y="760000"/>
            <a:ext cx="8229600" cy="470000"/>
          </a:xfrm>
          <a:prstGeom prst="rect">
            <a:avLst/>
          </a:prstGeom>
          <a:noFill/>
          <a:ln/>
        </p:spPr>
        <p:txBody>
          <a:bodyPr wrap="square" lIns="0" tIns="0" rIns="0" bIns="0" rtlCol="0" anchor="ctr"/>
          <a:lstStyle/>
          <a:p>
            <a:pPr marL="0" indent="0" algn="ctr">
              <a:buNone/>
            </a:pPr>
            <a:r>
              <a:rPr lang="en-US" sz="2480" b="1" kern="0" spc="-30">
                <a:solidFill>
                  <a:srgbClr val="1B5E72"/>
                </a:solidFill>
                <a:latin typeface="Calibri Light" pitchFamily="34" charset="0"/>
                <a:ea typeface="Calibri Light" pitchFamily="34" charset="-122"/>
                <a:cs typeface="Calibri Light" pitchFamily="34" charset="-120"/>
              </a:rPr>
              <a:t>Documentation in Session, Not After</a:t>
            </a:r>
            <a:endParaRPr lang="en-US" sz="2480"/>
          </a:p>
        </p:txBody>
      </p:sp>
      <p:sp>
        <p:nvSpPr>
          <p:cNvPr id="5" name="Accent Bar"/>
          <p:cNvSpPr/>
          <p:nvPr/>
        </p:nvSpPr>
        <p:spPr>
          <a:xfrm>
            <a:off x="1039454" y="1560000"/>
            <a:ext cx="35421" cy="2150000"/>
          </a:xfrm>
          <a:prstGeom prst="roundRect">
            <a:avLst>
              <a:gd name="adj" fmla="val 82465"/>
            </a:avLst>
          </a:prstGeom>
          <a:solidFill>
            <a:srgbClr val="FAB753"/>
          </a:solidFill>
          <a:ln/>
        </p:spPr>
        <p:txBody>
          <a:bodyPr wrap="square" rtlCol="0" anchor="t"/>
          <a:lstStyle/>
          <a:p>
            <a:pPr marL="0" indent="0">
              <a:buNone/>
            </a:pPr>
            <a:endParaRPr lang="en-US"/>
          </a:p>
        </p:txBody>
      </p:sp>
      <p:sp>
        <p:nvSpPr>
          <p:cNvPr id="6" name="Body 1"/>
          <p:cNvSpPr/>
          <p:nvPr/>
        </p:nvSpPr>
        <p:spPr>
          <a:xfrm>
            <a:off x="1332645" y="1560000"/>
            <a:ext cx="6850559" cy="960000"/>
          </a:xfrm>
          <a:prstGeom prst="rect">
            <a:avLst/>
          </a:prstGeom>
          <a:noFill/>
          <a:ln/>
        </p:spPr>
        <p:txBody>
          <a:bodyPr wrap="square" lIns="0" tIns="0" rIns="0" bIns="0" rtlCol="0" anchor="ctr"/>
          <a:lstStyle/>
          <a:p>
            <a:pPr marL="0" indent="0" algn="l">
              <a:buNone/>
            </a:pPr>
            <a:r>
              <a:rPr lang="en-US" sz="1200">
                <a:solidFill>
                  <a:srgbClr val="2C2C2C"/>
                </a:solidFill>
                <a:latin typeface="Calibri" pitchFamily="34" charset="0"/>
                <a:ea typeface="Calibri" pitchFamily="34" charset="-122"/>
                <a:cs typeface="Calibri" pitchFamily="34" charset="-120"/>
              </a:rPr>
              <a:t>Writing progress notes and finalizing care plan updates can easily become the biggest drain on a therapist’s time. Finishing them in session reduces administrative burden, improves the quality of documentation, lets your client collaborate on what is in their chart, and increases billable hours.</a:t>
            </a:r>
            <a:endParaRPr lang="en-US" sz="1200"/>
          </a:p>
        </p:txBody>
      </p:sp>
      <p:sp>
        <p:nvSpPr>
          <p:cNvPr id="7" name="Divider"/>
          <p:cNvSpPr/>
          <p:nvPr/>
        </p:nvSpPr>
        <p:spPr>
          <a:xfrm>
            <a:off x="1332645" y="2620000"/>
            <a:ext cx="6850559" cy="9525"/>
          </a:xfrm>
          <a:prstGeom prst="rect">
            <a:avLst/>
          </a:prstGeom>
          <a:solidFill>
            <a:srgbClr val="E8E8E8"/>
          </a:solidFill>
          <a:ln/>
        </p:spPr>
        <p:txBody>
          <a:bodyPr wrap="none" rtlCol="0" anchor="t"/>
          <a:lstStyle/>
          <a:p>
            <a:pPr marL="0" indent="0">
              <a:buNone/>
            </a:pPr>
            <a:endParaRPr lang="en-US"/>
          </a:p>
        </p:txBody>
      </p:sp>
      <p:sp>
        <p:nvSpPr>
          <p:cNvPr id="8" name="Body 2"/>
          <p:cNvSpPr/>
          <p:nvPr/>
        </p:nvSpPr>
        <p:spPr>
          <a:xfrm>
            <a:off x="1332645" y="2720000"/>
            <a:ext cx="6850559" cy="990000"/>
          </a:xfrm>
          <a:prstGeom prst="rect">
            <a:avLst/>
          </a:prstGeom>
          <a:noFill/>
          <a:ln/>
        </p:spPr>
        <p:txBody>
          <a:bodyPr wrap="square" lIns="0" tIns="0" rIns="0" bIns="0" rtlCol="0" anchor="ctr"/>
          <a:lstStyle/>
          <a:p>
            <a:pPr marL="0" indent="0" algn="l">
              <a:buNone/>
            </a:pPr>
            <a:r>
              <a:rPr lang="en-US" sz="1200">
                <a:solidFill>
                  <a:srgbClr val="2C2C2C"/>
                </a:solidFill>
                <a:latin typeface="Calibri" pitchFamily="34" charset="0"/>
                <a:ea typeface="Calibri" pitchFamily="34" charset="-122"/>
                <a:cs typeface="Calibri" pitchFamily="34" charset="-120"/>
              </a:rPr>
              <a:t>That frees up more of your time to use however you want or need to — seeing more clients to help cover that Nashville rent, knocking out Relias trainings that keep creeping closer, or simply slowing down on your days out because you are already ahead on the days school is in session.</a:t>
            </a:r>
            <a:endParaRPr lang="en-US" sz="1200"/>
          </a:p>
        </p:txBody>
      </p:sp>
      <p:sp>
        <p:nvSpPr>
          <p:cNvPr id="9" name="Footer Bar"/>
          <p:cNvSpPr/>
          <p:nvPr/>
        </p:nvSpPr>
        <p:spPr>
          <a:xfrm>
            <a:off x="0" y="4640580"/>
            <a:ext cx="9144000" cy="502920"/>
          </a:xfrm>
          <a:prstGeom prst="rect">
            <a:avLst/>
          </a:prstGeom>
          <a:solidFill>
            <a:srgbClr val="FAB753"/>
          </a:solidFill>
          <a:ln/>
        </p:spPr>
        <p:txBody>
          <a:bodyPr wrap="none" lIns="0" tIns="0" rIns="0" bIns="0" rtlCol="0" anchor="ctr"/>
          <a:lstStyle/>
          <a:p>
            <a:pPr marL="0" indent="0" algn="ctr">
              <a:buNone/>
            </a:pPr>
            <a:r>
              <a:rPr lang="en-US" sz="1130" b="1" kern="0" spc="10">
                <a:solidFill>
                  <a:srgbClr val="1B1B1B"/>
                </a:solidFill>
                <a:latin typeface="Calibri" pitchFamily="34" charset="0"/>
                <a:ea typeface="Calibri" pitchFamily="34" charset="-122"/>
                <a:cs typeface="Calibri" pitchFamily="34" charset="-120"/>
              </a:rPr>
              <a:t>Finish the note in the room.  Reclaim the time that is yours.</a:t>
            </a:r>
            <a:endParaRPr lang="en-US" sz="113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0">
            <a:extLst>
              <a:ext uri="{FF2B5EF4-FFF2-40B4-BE49-F238E27FC236}">
                <a16:creationId xmlns:a16="http://schemas.microsoft.com/office/drawing/2014/main" id="{054819D8-96E5-D877-7E61-80455AE47AC1}"/>
              </a:ext>
            </a:extLst>
          </p:cNvPr>
          <p:cNvSpPr/>
          <p:nvPr/>
        </p:nvSpPr>
        <p:spPr>
          <a:xfrm>
            <a:off x="0" y="0"/>
            <a:ext cx="9144000" cy="657523"/>
          </a:xfrm>
          <a:prstGeom prst="rect">
            <a:avLst/>
          </a:prstGeom>
          <a:solidFill>
            <a:srgbClr val="1B5E72"/>
          </a:solidFill>
          <a:ln/>
        </p:spPr>
        <p:txBody>
          <a:bodyPr wrap="square" rtlCol="0" anchor="t"/>
          <a:lstStyle/>
          <a:p>
            <a:pPr marL="0" indent="0">
              <a:buNone/>
            </a:pPr>
            <a:endParaRPr lang="en-US" dirty="0"/>
          </a:p>
        </p:txBody>
      </p:sp>
      <p:grpSp>
        <p:nvGrpSpPr>
          <p:cNvPr id="21" name="back3">
            <a:extLst>
              <a:ext uri="{FF2B5EF4-FFF2-40B4-BE49-F238E27FC236}">
                <a16:creationId xmlns:a16="http://schemas.microsoft.com/office/drawing/2014/main" id="{9EDF3A60-486D-7BA3-188F-4DD553D152FD}"/>
              </a:ext>
            </a:extLst>
          </p:cNvPr>
          <p:cNvGrpSpPr/>
          <p:nvPr/>
        </p:nvGrpSpPr>
        <p:grpSpPr>
          <a:xfrm>
            <a:off x="6057900" y="1359995"/>
            <a:ext cx="2771180" cy="2523636"/>
            <a:chOff x="6057900" y="1359995"/>
            <a:chExt cx="2771180" cy="2523636"/>
          </a:xfrm>
        </p:grpSpPr>
        <p:sp>
          <p:nvSpPr>
            <p:cNvPr id="6" name="Text 11">
              <a:extLst>
                <a:ext uri="{FF2B5EF4-FFF2-40B4-BE49-F238E27FC236}">
                  <a16:creationId xmlns:a16="http://schemas.microsoft.com/office/drawing/2014/main" id="{0E996167-6DAF-E0FC-8570-C2E5DE34F3C2}"/>
                </a:ext>
              </a:extLst>
            </p:cNvPr>
            <p:cNvSpPr/>
            <p:nvPr/>
          </p:nvSpPr>
          <p:spPr>
            <a:xfrm>
              <a:off x="6057900" y="1359995"/>
              <a:ext cx="2771180" cy="2523636"/>
            </a:xfrm>
            <a:prstGeom prst="roundRect">
              <a:avLst>
                <a:gd name="adj" fmla="val 7617"/>
              </a:avLst>
            </a:prstGeom>
            <a:solidFill>
              <a:srgbClr val="EAF4F4"/>
            </a:solidFill>
            <a:ln w="9525">
              <a:solidFill>
                <a:srgbClr val="B2D8D8"/>
              </a:solidFill>
            </a:ln>
          </p:spPr>
          <p:txBody>
            <a:bodyPr wrap="square" rtlCol="0" anchor="t"/>
            <a:lstStyle/>
            <a:p>
              <a:pPr lvl="1"/>
              <a:r>
                <a:rPr lang="en-US" sz="1200" dirty="0"/>
                <a:t>Imagine seeing 6 or more clients back-to-back that all have high acuity symptoms, with no break.</a:t>
              </a:r>
            </a:p>
            <a:p>
              <a:pPr lvl="1"/>
              <a:endParaRPr lang="en-US" sz="1200" dirty="0"/>
            </a:p>
            <a:p>
              <a:pPr lvl="1"/>
              <a:r>
                <a:rPr lang="en-US" sz="1200" dirty="0"/>
                <a:t>That’s fast track to compassion fatigue and burnout.</a:t>
              </a:r>
            </a:p>
          </p:txBody>
        </p:sp>
        <p:sp>
          <p:nvSpPr>
            <p:cNvPr id="9" name="Text 28">
              <a:extLst>
                <a:ext uri="{FF2B5EF4-FFF2-40B4-BE49-F238E27FC236}">
                  <a16:creationId xmlns:a16="http://schemas.microsoft.com/office/drawing/2014/main" id="{1EC93470-7C2B-63DB-E644-3A6C9684FA0B}"/>
                </a:ext>
              </a:extLst>
            </p:cNvPr>
            <p:cNvSpPr/>
            <p:nvPr/>
          </p:nvSpPr>
          <p:spPr>
            <a:xfrm>
              <a:off x="6185490" y="1439417"/>
              <a:ext cx="45719" cy="2259369"/>
            </a:xfrm>
            <a:custGeom>
              <a:avLst/>
              <a:gdLst/>
              <a:ahLst/>
              <a:cxnLst/>
              <a:rect l="l" t="t" r="r" b="b"/>
              <a:pathLst>
                <a:path w="29170" h="914697">
                  <a:moveTo>
                    <a:pt x="0" y="71120"/>
                  </a:moveTo>
                  <a:lnTo>
                    <a:pt x="3646" y="48640"/>
                  </a:lnTo>
                  <a:lnTo>
                    <a:pt x="7293" y="39749"/>
                  </a:lnTo>
                  <a:lnTo>
                    <a:pt x="10939" y="33222"/>
                  </a:lnTo>
                  <a:lnTo>
                    <a:pt x="14585" y="27971"/>
                  </a:lnTo>
                  <a:lnTo>
                    <a:pt x="18231" y="23572"/>
                  </a:lnTo>
                  <a:lnTo>
                    <a:pt x="21878" y="19805"/>
                  </a:lnTo>
                  <a:lnTo>
                    <a:pt x="25524" y="16539"/>
                  </a:lnTo>
                  <a:lnTo>
                    <a:pt x="29170" y="13689"/>
                  </a:lnTo>
                  <a:lnTo>
                    <a:pt x="29170" y="901008"/>
                  </a:lnTo>
                  <a:lnTo>
                    <a:pt x="25524" y="898158"/>
                  </a:lnTo>
                  <a:lnTo>
                    <a:pt x="21878" y="894892"/>
                  </a:lnTo>
                  <a:lnTo>
                    <a:pt x="18231" y="891126"/>
                  </a:lnTo>
                  <a:lnTo>
                    <a:pt x="14585" y="886727"/>
                  </a:lnTo>
                  <a:lnTo>
                    <a:pt x="10939" y="881476"/>
                  </a:lnTo>
                  <a:lnTo>
                    <a:pt x="7293" y="874948"/>
                  </a:lnTo>
                  <a:lnTo>
                    <a:pt x="3646" y="866057"/>
                  </a:lnTo>
                  <a:lnTo>
                    <a:pt x="0" y="843577"/>
                  </a:lnTo>
                  <a:close/>
                </a:path>
              </a:pathLst>
            </a:custGeom>
            <a:solidFill>
              <a:srgbClr val="FAB753"/>
            </a:solidFill>
            <a:ln/>
          </p:spPr>
          <p:txBody>
            <a:bodyPr wrap="square" rtlCol="0" anchor="t"/>
            <a:lstStyle/>
            <a:p>
              <a:pPr marL="0" indent="0">
                <a:buNone/>
              </a:pPr>
              <a:endParaRPr lang="en-US" dirty="0"/>
            </a:p>
          </p:txBody>
        </p:sp>
      </p:grpSp>
      <p:grpSp>
        <p:nvGrpSpPr>
          <p:cNvPr id="18" name="front3">
            <a:extLst>
              <a:ext uri="{FF2B5EF4-FFF2-40B4-BE49-F238E27FC236}">
                <a16:creationId xmlns:a16="http://schemas.microsoft.com/office/drawing/2014/main" id="{278CD80C-7DBB-6437-5938-AAC79B7B0D19}"/>
              </a:ext>
            </a:extLst>
          </p:cNvPr>
          <p:cNvGrpSpPr/>
          <p:nvPr/>
        </p:nvGrpSpPr>
        <p:grpSpPr>
          <a:xfrm>
            <a:off x="6073475" y="1364736"/>
            <a:ext cx="2771180" cy="2518895"/>
            <a:chOff x="6057900" y="1346034"/>
            <a:chExt cx="2771180" cy="2020203"/>
          </a:xfrm>
        </p:grpSpPr>
        <p:sp>
          <p:nvSpPr>
            <p:cNvPr id="11" name="Text 11">
              <a:extLst>
                <a:ext uri="{FF2B5EF4-FFF2-40B4-BE49-F238E27FC236}">
                  <a16:creationId xmlns:a16="http://schemas.microsoft.com/office/drawing/2014/main" id="{4CCDBD72-6530-F097-60EB-E009F048C100}"/>
                </a:ext>
              </a:extLst>
            </p:cNvPr>
            <p:cNvSpPr/>
            <p:nvPr/>
          </p:nvSpPr>
          <p:spPr>
            <a:xfrm>
              <a:off x="6057900" y="1346034"/>
              <a:ext cx="2771180" cy="2020203"/>
            </a:xfrm>
            <a:prstGeom prst="roundRect">
              <a:avLst>
                <a:gd name="adj" fmla="val 7617"/>
              </a:avLst>
            </a:prstGeom>
            <a:solidFill>
              <a:srgbClr val="1C6073"/>
            </a:solidFill>
            <a:ln w="9525">
              <a:solidFill>
                <a:srgbClr val="B2D8D8"/>
              </a:solidFill>
            </a:ln>
          </p:spPr>
          <p:txBody>
            <a:bodyPr wrap="square" rtlCol="0" anchor="t"/>
            <a:lstStyle/>
            <a:p>
              <a:pPr lvl="1"/>
              <a:endParaRPr lang="en-US" sz="1200" dirty="0">
                <a:solidFill>
                  <a:srgbClr val="D5E5E7"/>
                </a:solidFill>
              </a:endParaRPr>
            </a:p>
          </p:txBody>
        </p:sp>
        <p:sp>
          <p:nvSpPr>
            <p:cNvPr id="15" name="TextBox 14">
              <a:extLst>
                <a:ext uri="{FF2B5EF4-FFF2-40B4-BE49-F238E27FC236}">
                  <a16:creationId xmlns:a16="http://schemas.microsoft.com/office/drawing/2014/main" id="{60235C52-A4CC-B46F-5071-DFE9C5B9DA97}"/>
                </a:ext>
              </a:extLst>
            </p:cNvPr>
            <p:cNvSpPr txBox="1"/>
            <p:nvPr/>
          </p:nvSpPr>
          <p:spPr>
            <a:xfrm>
              <a:off x="6260791" y="1636054"/>
              <a:ext cx="1874228" cy="1015663"/>
            </a:xfrm>
            <a:prstGeom prst="rect">
              <a:avLst/>
            </a:prstGeom>
            <a:noFill/>
          </p:spPr>
          <p:txBody>
            <a:bodyPr wrap="square" rtlCol="0">
              <a:spAutoFit/>
            </a:bodyPr>
            <a:lstStyle/>
            <a:p>
              <a:r>
                <a:rPr lang="en-US" sz="1200" dirty="0">
                  <a:solidFill>
                    <a:schemeClr val="bg1"/>
                  </a:solidFill>
                </a:rPr>
                <a:t>Planning your day to day based on client availability and symptom acuity.</a:t>
              </a:r>
            </a:p>
            <a:p>
              <a:endParaRPr lang="en-US" sz="1200" dirty="0">
                <a:solidFill>
                  <a:schemeClr val="bg1"/>
                </a:solidFill>
              </a:endParaRPr>
            </a:p>
            <a:p>
              <a:r>
                <a:rPr lang="en-US" sz="1200" b="1" dirty="0">
                  <a:solidFill>
                    <a:schemeClr val="bg1"/>
                  </a:solidFill>
                </a:rPr>
                <a:t>Why is this important?</a:t>
              </a:r>
            </a:p>
          </p:txBody>
        </p:sp>
      </p:grpSp>
      <p:grpSp>
        <p:nvGrpSpPr>
          <p:cNvPr id="23" name="back 2">
            <a:extLst>
              <a:ext uri="{FF2B5EF4-FFF2-40B4-BE49-F238E27FC236}">
                <a16:creationId xmlns:a16="http://schemas.microsoft.com/office/drawing/2014/main" id="{39F22B5B-666D-05DF-2682-F5660BB8E0DA}"/>
              </a:ext>
            </a:extLst>
          </p:cNvPr>
          <p:cNvGrpSpPr/>
          <p:nvPr/>
        </p:nvGrpSpPr>
        <p:grpSpPr>
          <a:xfrm>
            <a:off x="3160369" y="1359995"/>
            <a:ext cx="2797221" cy="2523636"/>
            <a:chOff x="3160369" y="1359995"/>
            <a:chExt cx="2797221" cy="2523636"/>
          </a:xfrm>
        </p:grpSpPr>
        <p:sp>
          <p:nvSpPr>
            <p:cNvPr id="5" name="Text 7">
              <a:extLst>
                <a:ext uri="{FF2B5EF4-FFF2-40B4-BE49-F238E27FC236}">
                  <a16:creationId xmlns:a16="http://schemas.microsoft.com/office/drawing/2014/main" id="{DE9AD5B4-AD4B-B410-7A02-2150A16620C3}"/>
                </a:ext>
              </a:extLst>
            </p:cNvPr>
            <p:cNvSpPr/>
            <p:nvPr/>
          </p:nvSpPr>
          <p:spPr>
            <a:xfrm>
              <a:off x="3160369" y="1359995"/>
              <a:ext cx="2797221" cy="2523636"/>
            </a:xfrm>
            <a:prstGeom prst="roundRect">
              <a:avLst>
                <a:gd name="adj" fmla="val 7617"/>
              </a:avLst>
            </a:prstGeom>
            <a:solidFill>
              <a:srgbClr val="EAF4F4"/>
            </a:solidFill>
            <a:ln w="9525">
              <a:solidFill>
                <a:srgbClr val="B2D8D8"/>
              </a:solidFill>
            </a:ln>
          </p:spPr>
          <p:txBody>
            <a:bodyPr wrap="square" rtlCol="0" anchor="t"/>
            <a:lstStyle/>
            <a:p>
              <a:pPr lvl="1"/>
              <a:r>
                <a:rPr lang="en-US" sz="1200" b="1" dirty="0"/>
                <a:t>Where to start:</a:t>
              </a:r>
            </a:p>
            <a:p>
              <a:pPr lvl="1"/>
              <a:r>
                <a:rPr lang="en-US" sz="1200" dirty="0"/>
                <a:t>-Schedule your team meetings and clinical supervision as recurring.  </a:t>
              </a:r>
            </a:p>
            <a:p>
              <a:pPr lvl="1"/>
              <a:r>
                <a:rPr lang="en-US" sz="1200" dirty="0"/>
                <a:t>-Schedule high risk clients, and difficult to schedule clients.</a:t>
              </a:r>
            </a:p>
            <a:p>
              <a:pPr lvl="1"/>
              <a:r>
                <a:rPr lang="en-US" sz="1200" dirty="0"/>
                <a:t>-Fill in the more flexible (easy to schedule session next.</a:t>
              </a:r>
            </a:p>
            <a:p>
              <a:pPr lvl="1"/>
              <a:r>
                <a:rPr lang="en-US" sz="1200" dirty="0"/>
                <a:t>-Allow breathing room. </a:t>
              </a:r>
            </a:p>
            <a:p>
              <a:pPr lvl="1"/>
              <a:r>
                <a:rPr lang="en-US" sz="1200" dirty="0"/>
                <a:t>-Hard to fill times?  Try offering those to parents to do in-person or virtual.</a:t>
              </a:r>
            </a:p>
          </p:txBody>
        </p:sp>
        <p:sp>
          <p:nvSpPr>
            <p:cNvPr id="8" name="Text 28">
              <a:extLst>
                <a:ext uri="{FF2B5EF4-FFF2-40B4-BE49-F238E27FC236}">
                  <a16:creationId xmlns:a16="http://schemas.microsoft.com/office/drawing/2014/main" id="{433E6BAE-11B5-D6B5-5366-541FBCE0AB36}"/>
                </a:ext>
              </a:extLst>
            </p:cNvPr>
            <p:cNvSpPr/>
            <p:nvPr/>
          </p:nvSpPr>
          <p:spPr>
            <a:xfrm>
              <a:off x="3303797" y="1409908"/>
              <a:ext cx="45719" cy="2387830"/>
            </a:xfrm>
            <a:custGeom>
              <a:avLst/>
              <a:gdLst/>
              <a:ahLst/>
              <a:cxnLst/>
              <a:rect l="l" t="t" r="r" b="b"/>
              <a:pathLst>
                <a:path w="29170" h="914697">
                  <a:moveTo>
                    <a:pt x="0" y="71120"/>
                  </a:moveTo>
                  <a:lnTo>
                    <a:pt x="3646" y="48640"/>
                  </a:lnTo>
                  <a:lnTo>
                    <a:pt x="7293" y="39749"/>
                  </a:lnTo>
                  <a:lnTo>
                    <a:pt x="10939" y="33222"/>
                  </a:lnTo>
                  <a:lnTo>
                    <a:pt x="14585" y="27971"/>
                  </a:lnTo>
                  <a:lnTo>
                    <a:pt x="18231" y="23572"/>
                  </a:lnTo>
                  <a:lnTo>
                    <a:pt x="21878" y="19805"/>
                  </a:lnTo>
                  <a:lnTo>
                    <a:pt x="25524" y="16539"/>
                  </a:lnTo>
                  <a:lnTo>
                    <a:pt x="29170" y="13689"/>
                  </a:lnTo>
                  <a:lnTo>
                    <a:pt x="29170" y="901008"/>
                  </a:lnTo>
                  <a:lnTo>
                    <a:pt x="25524" y="898158"/>
                  </a:lnTo>
                  <a:lnTo>
                    <a:pt x="21878" y="894892"/>
                  </a:lnTo>
                  <a:lnTo>
                    <a:pt x="18231" y="891126"/>
                  </a:lnTo>
                  <a:lnTo>
                    <a:pt x="14585" y="886727"/>
                  </a:lnTo>
                  <a:lnTo>
                    <a:pt x="10939" y="881476"/>
                  </a:lnTo>
                  <a:lnTo>
                    <a:pt x="7293" y="874948"/>
                  </a:lnTo>
                  <a:lnTo>
                    <a:pt x="3646" y="866057"/>
                  </a:lnTo>
                  <a:lnTo>
                    <a:pt x="0" y="843577"/>
                  </a:lnTo>
                  <a:close/>
                </a:path>
              </a:pathLst>
            </a:custGeom>
            <a:solidFill>
              <a:srgbClr val="FAB753"/>
            </a:solidFill>
            <a:ln/>
          </p:spPr>
          <p:txBody>
            <a:bodyPr wrap="square" rtlCol="0" anchor="t"/>
            <a:lstStyle/>
            <a:p>
              <a:pPr marL="0" indent="0">
                <a:buNone/>
              </a:pPr>
              <a:endParaRPr lang="en-US" dirty="0"/>
            </a:p>
          </p:txBody>
        </p:sp>
      </p:grpSp>
      <p:grpSp>
        <p:nvGrpSpPr>
          <p:cNvPr id="19" name="front 2">
            <a:extLst>
              <a:ext uri="{FF2B5EF4-FFF2-40B4-BE49-F238E27FC236}">
                <a16:creationId xmlns:a16="http://schemas.microsoft.com/office/drawing/2014/main" id="{276F8964-EE59-9645-306B-857671679CA7}"/>
              </a:ext>
            </a:extLst>
          </p:cNvPr>
          <p:cNvGrpSpPr/>
          <p:nvPr/>
        </p:nvGrpSpPr>
        <p:grpSpPr>
          <a:xfrm>
            <a:off x="3131806" y="1357770"/>
            <a:ext cx="2822321" cy="2518895"/>
            <a:chOff x="3160368" y="1359993"/>
            <a:chExt cx="2822321" cy="2518895"/>
          </a:xfrm>
        </p:grpSpPr>
        <p:sp>
          <p:nvSpPr>
            <p:cNvPr id="17" name="Text 3">
              <a:extLst>
                <a:ext uri="{FF2B5EF4-FFF2-40B4-BE49-F238E27FC236}">
                  <a16:creationId xmlns:a16="http://schemas.microsoft.com/office/drawing/2014/main" id="{CA96763F-8715-D508-F288-90B63F181E6D}"/>
                </a:ext>
              </a:extLst>
            </p:cNvPr>
            <p:cNvSpPr/>
            <p:nvPr/>
          </p:nvSpPr>
          <p:spPr>
            <a:xfrm>
              <a:off x="3160368" y="1359993"/>
              <a:ext cx="2822321" cy="2518895"/>
            </a:xfrm>
            <a:prstGeom prst="roundRect">
              <a:avLst>
                <a:gd name="adj" fmla="val 7617"/>
              </a:avLst>
            </a:prstGeom>
            <a:solidFill>
              <a:srgbClr val="1C6073"/>
            </a:solidFill>
            <a:ln w="9525">
              <a:solidFill>
                <a:srgbClr val="B2D8D8"/>
              </a:solidFill>
            </a:ln>
          </p:spPr>
          <p:txBody>
            <a:bodyPr wrap="square" rtlCol="0" anchor="t"/>
            <a:lstStyle/>
            <a:p>
              <a:pPr lvl="1"/>
              <a:endParaRPr lang="en-US" sz="1200" dirty="0"/>
            </a:p>
          </p:txBody>
        </p:sp>
        <p:sp>
          <p:nvSpPr>
            <p:cNvPr id="16" name="TextBox 15">
              <a:extLst>
                <a:ext uri="{FF2B5EF4-FFF2-40B4-BE49-F238E27FC236}">
                  <a16:creationId xmlns:a16="http://schemas.microsoft.com/office/drawing/2014/main" id="{CA780534-72C7-5989-C6C7-1E883B359E1C}"/>
                </a:ext>
              </a:extLst>
            </p:cNvPr>
            <p:cNvSpPr txBox="1"/>
            <p:nvPr/>
          </p:nvSpPr>
          <p:spPr>
            <a:xfrm>
              <a:off x="3308279" y="1578839"/>
              <a:ext cx="2527442" cy="1477328"/>
            </a:xfrm>
            <a:prstGeom prst="rect">
              <a:avLst/>
            </a:prstGeom>
            <a:noFill/>
          </p:spPr>
          <p:txBody>
            <a:bodyPr wrap="square" rtlCol="0">
              <a:spAutoFit/>
            </a:bodyPr>
            <a:lstStyle/>
            <a:p>
              <a:r>
                <a:rPr lang="en-US" sz="1200" dirty="0">
                  <a:solidFill>
                    <a:schemeClr val="bg1"/>
                  </a:solidFill>
                </a:rPr>
                <a:t>Set your schedule as recurring.  This allows you to easily know when you can pivot (write those schedules in pencil, not pen)</a:t>
              </a:r>
            </a:p>
            <a:p>
              <a:endParaRPr lang="en-US" sz="1200" dirty="0">
                <a:solidFill>
                  <a:schemeClr val="bg1"/>
                </a:solidFill>
              </a:endParaRPr>
            </a:p>
            <a:p>
              <a:r>
                <a:rPr lang="en-US" sz="1200" b="1" dirty="0">
                  <a:solidFill>
                    <a:schemeClr val="bg1"/>
                  </a:solidFill>
                </a:rPr>
                <a:t>How is this helpful?</a:t>
              </a:r>
            </a:p>
            <a:p>
              <a:endParaRPr lang="en-US" dirty="0"/>
            </a:p>
          </p:txBody>
        </p:sp>
      </p:grpSp>
      <p:grpSp>
        <p:nvGrpSpPr>
          <p:cNvPr id="28" name="back1">
            <a:extLst>
              <a:ext uri="{FF2B5EF4-FFF2-40B4-BE49-F238E27FC236}">
                <a16:creationId xmlns:a16="http://schemas.microsoft.com/office/drawing/2014/main" id="{EE90EE25-B581-905F-E2DE-BAC88F1B01D9}"/>
              </a:ext>
            </a:extLst>
          </p:cNvPr>
          <p:cNvGrpSpPr/>
          <p:nvPr/>
        </p:nvGrpSpPr>
        <p:grpSpPr>
          <a:xfrm>
            <a:off x="314920" y="1359995"/>
            <a:ext cx="2770237" cy="2523636"/>
            <a:chOff x="314920" y="1359995"/>
            <a:chExt cx="2770237" cy="2523636"/>
          </a:xfrm>
        </p:grpSpPr>
        <p:sp>
          <p:nvSpPr>
            <p:cNvPr id="4" name="Text 3">
              <a:extLst>
                <a:ext uri="{FF2B5EF4-FFF2-40B4-BE49-F238E27FC236}">
                  <a16:creationId xmlns:a16="http://schemas.microsoft.com/office/drawing/2014/main" id="{9822C477-263D-8622-B420-EB01FC31BD75}"/>
                </a:ext>
              </a:extLst>
            </p:cNvPr>
            <p:cNvSpPr/>
            <p:nvPr/>
          </p:nvSpPr>
          <p:spPr>
            <a:xfrm>
              <a:off x="314920" y="1359995"/>
              <a:ext cx="2770237" cy="2523636"/>
            </a:xfrm>
            <a:prstGeom prst="roundRect">
              <a:avLst>
                <a:gd name="adj" fmla="val 7617"/>
              </a:avLst>
            </a:prstGeom>
            <a:solidFill>
              <a:srgbClr val="EAF4F4"/>
            </a:solidFill>
            <a:ln w="9525">
              <a:solidFill>
                <a:srgbClr val="B2D8D8"/>
              </a:solidFill>
            </a:ln>
          </p:spPr>
          <p:txBody>
            <a:bodyPr wrap="square" rtlCol="0" anchor="t"/>
            <a:lstStyle/>
            <a:p>
              <a:pPr lvl="1"/>
              <a:endParaRPr lang="en-US" sz="1200" dirty="0"/>
            </a:p>
            <a:p>
              <a:pPr lvl="1"/>
              <a:r>
                <a:rPr lang="en-US" sz="1200" dirty="0"/>
                <a:t>Know how much you earn for your sessions and find that perfect balance of clinically appropriate and working smarter not hard.</a:t>
              </a:r>
            </a:p>
            <a:p>
              <a:pPr lvl="1"/>
              <a:endParaRPr lang="en-US" sz="1200" dirty="0"/>
            </a:p>
            <a:p>
              <a:pPr lvl="1"/>
              <a:r>
                <a:rPr lang="en-US" sz="1200" dirty="0"/>
                <a:t>Before looking at productivity credits, what does “clinically appropriate” mean?</a:t>
              </a:r>
            </a:p>
          </p:txBody>
        </p:sp>
        <p:sp>
          <p:nvSpPr>
            <p:cNvPr id="7" name="Text 28">
              <a:extLst>
                <a:ext uri="{FF2B5EF4-FFF2-40B4-BE49-F238E27FC236}">
                  <a16:creationId xmlns:a16="http://schemas.microsoft.com/office/drawing/2014/main" id="{E8E4538B-73CD-F573-BCBE-F03E84B0D9A7}"/>
                </a:ext>
              </a:extLst>
            </p:cNvPr>
            <p:cNvSpPr/>
            <p:nvPr/>
          </p:nvSpPr>
          <p:spPr>
            <a:xfrm>
              <a:off x="413303" y="1441439"/>
              <a:ext cx="82590" cy="2356299"/>
            </a:xfrm>
            <a:custGeom>
              <a:avLst/>
              <a:gdLst/>
              <a:ahLst/>
              <a:cxnLst/>
              <a:rect l="l" t="t" r="r" b="b"/>
              <a:pathLst>
                <a:path w="29170" h="914697">
                  <a:moveTo>
                    <a:pt x="0" y="71120"/>
                  </a:moveTo>
                  <a:lnTo>
                    <a:pt x="3646" y="48640"/>
                  </a:lnTo>
                  <a:lnTo>
                    <a:pt x="7293" y="39749"/>
                  </a:lnTo>
                  <a:lnTo>
                    <a:pt x="10939" y="33222"/>
                  </a:lnTo>
                  <a:lnTo>
                    <a:pt x="14585" y="27971"/>
                  </a:lnTo>
                  <a:lnTo>
                    <a:pt x="18231" y="23572"/>
                  </a:lnTo>
                  <a:lnTo>
                    <a:pt x="21878" y="19805"/>
                  </a:lnTo>
                  <a:lnTo>
                    <a:pt x="25524" y="16539"/>
                  </a:lnTo>
                  <a:lnTo>
                    <a:pt x="29170" y="13689"/>
                  </a:lnTo>
                  <a:lnTo>
                    <a:pt x="29170" y="901008"/>
                  </a:lnTo>
                  <a:lnTo>
                    <a:pt x="25524" y="898158"/>
                  </a:lnTo>
                  <a:lnTo>
                    <a:pt x="21878" y="894892"/>
                  </a:lnTo>
                  <a:lnTo>
                    <a:pt x="18231" y="891126"/>
                  </a:lnTo>
                  <a:lnTo>
                    <a:pt x="14585" y="886727"/>
                  </a:lnTo>
                  <a:lnTo>
                    <a:pt x="10939" y="881476"/>
                  </a:lnTo>
                  <a:lnTo>
                    <a:pt x="7293" y="874948"/>
                  </a:lnTo>
                  <a:lnTo>
                    <a:pt x="3646" y="866057"/>
                  </a:lnTo>
                  <a:lnTo>
                    <a:pt x="0" y="843577"/>
                  </a:lnTo>
                  <a:close/>
                </a:path>
              </a:pathLst>
            </a:custGeom>
            <a:solidFill>
              <a:srgbClr val="FAB753"/>
            </a:solidFill>
            <a:ln/>
          </p:spPr>
          <p:txBody>
            <a:bodyPr wrap="square" rtlCol="0" anchor="t"/>
            <a:lstStyle/>
            <a:p>
              <a:pPr marL="0" indent="0">
                <a:buNone/>
              </a:pPr>
              <a:endParaRPr lang="en-US" dirty="0"/>
            </a:p>
          </p:txBody>
        </p:sp>
      </p:grpSp>
      <p:grpSp>
        <p:nvGrpSpPr>
          <p:cNvPr id="29" name="front1">
            <a:extLst>
              <a:ext uri="{FF2B5EF4-FFF2-40B4-BE49-F238E27FC236}">
                <a16:creationId xmlns:a16="http://schemas.microsoft.com/office/drawing/2014/main" id="{0F273B7D-FB07-6603-7AD9-011E19D252B8}"/>
              </a:ext>
            </a:extLst>
          </p:cNvPr>
          <p:cNvGrpSpPr/>
          <p:nvPr/>
        </p:nvGrpSpPr>
        <p:grpSpPr>
          <a:xfrm>
            <a:off x="296831" y="1357770"/>
            <a:ext cx="2771180" cy="2523636"/>
            <a:chOff x="325393" y="1359993"/>
            <a:chExt cx="2771180" cy="2523636"/>
          </a:xfrm>
        </p:grpSpPr>
        <p:sp>
          <p:nvSpPr>
            <p:cNvPr id="12" name="Text 3">
              <a:extLst>
                <a:ext uri="{FF2B5EF4-FFF2-40B4-BE49-F238E27FC236}">
                  <a16:creationId xmlns:a16="http://schemas.microsoft.com/office/drawing/2014/main" id="{878D9894-4949-5103-3977-1A7F9FFACBF5}"/>
                </a:ext>
              </a:extLst>
            </p:cNvPr>
            <p:cNvSpPr/>
            <p:nvPr/>
          </p:nvSpPr>
          <p:spPr>
            <a:xfrm>
              <a:off x="325393" y="1359993"/>
              <a:ext cx="2771180" cy="2523636"/>
            </a:xfrm>
            <a:prstGeom prst="roundRect">
              <a:avLst>
                <a:gd name="adj" fmla="val 7617"/>
              </a:avLst>
            </a:prstGeom>
            <a:solidFill>
              <a:srgbClr val="1C6073"/>
            </a:solidFill>
            <a:ln w="9525">
              <a:solidFill>
                <a:srgbClr val="B2D8D8"/>
              </a:solidFill>
            </a:ln>
          </p:spPr>
          <p:txBody>
            <a:bodyPr wrap="square" rtlCol="0" anchor="t"/>
            <a:lstStyle/>
            <a:p>
              <a:pPr lvl="1"/>
              <a:endParaRPr lang="en-US" sz="1200" dirty="0"/>
            </a:p>
          </p:txBody>
        </p:sp>
        <p:sp>
          <p:nvSpPr>
            <p:cNvPr id="14" name="TextBox 13">
              <a:extLst>
                <a:ext uri="{FF2B5EF4-FFF2-40B4-BE49-F238E27FC236}">
                  <a16:creationId xmlns:a16="http://schemas.microsoft.com/office/drawing/2014/main" id="{FD9CAE4C-E689-F9C0-148F-BD4B22CAC024}"/>
                </a:ext>
              </a:extLst>
            </p:cNvPr>
            <p:cNvSpPr txBox="1"/>
            <p:nvPr/>
          </p:nvSpPr>
          <p:spPr>
            <a:xfrm>
              <a:off x="591721" y="1599942"/>
              <a:ext cx="1947091" cy="1730135"/>
            </a:xfrm>
            <a:prstGeom prst="rect">
              <a:avLst/>
            </a:prstGeom>
            <a:noFill/>
          </p:spPr>
          <p:txBody>
            <a:bodyPr wrap="square" rtlCol="0">
              <a:spAutoFit/>
            </a:bodyPr>
            <a:lstStyle/>
            <a:p>
              <a:r>
                <a:rPr lang="en-US" sz="1200" dirty="0">
                  <a:solidFill>
                    <a:schemeClr val="bg1"/>
                  </a:solidFill>
                </a:rPr>
                <a:t>Knowing how to schedule to earn the highest productivity for the low amount of time working.</a:t>
              </a:r>
            </a:p>
            <a:p>
              <a:endParaRPr lang="en-US" sz="1200" dirty="0">
                <a:solidFill>
                  <a:schemeClr val="bg1"/>
                </a:solidFill>
              </a:endParaRPr>
            </a:p>
            <a:p>
              <a:r>
                <a:rPr lang="en-US" sz="1200" b="1" dirty="0">
                  <a:solidFill>
                    <a:schemeClr val="bg1"/>
                  </a:solidFill>
                </a:rPr>
                <a:t>Any ideas on how this happens?</a:t>
              </a:r>
            </a:p>
          </p:txBody>
        </p:sp>
      </p:grpSp>
      <p:sp>
        <p:nvSpPr>
          <p:cNvPr id="3" name="TextBox 2">
            <a:extLst>
              <a:ext uri="{FF2B5EF4-FFF2-40B4-BE49-F238E27FC236}">
                <a16:creationId xmlns:a16="http://schemas.microsoft.com/office/drawing/2014/main" id="{2C37785B-2EFA-EC78-B859-49F0CB2E66F7}"/>
              </a:ext>
            </a:extLst>
          </p:cNvPr>
          <p:cNvSpPr txBox="1"/>
          <p:nvPr/>
        </p:nvSpPr>
        <p:spPr>
          <a:xfrm>
            <a:off x="397151" y="198718"/>
            <a:ext cx="5645650" cy="338554"/>
          </a:xfrm>
          <a:prstGeom prst="rect">
            <a:avLst/>
          </a:prstGeom>
          <a:noFill/>
        </p:spPr>
        <p:txBody>
          <a:bodyPr wrap="square">
            <a:spAutoFit/>
          </a:bodyPr>
          <a:lstStyle/>
          <a:p>
            <a:r>
              <a:rPr lang="en-US" sz="1600" b="1" dirty="0">
                <a:solidFill>
                  <a:schemeClr val="bg1"/>
                </a:solidFill>
              </a:rPr>
              <a:t>Strategic scheduling- this term covers a few practices. </a:t>
            </a:r>
            <a:endParaRPr lang="en-US" sz="1200" dirty="0">
              <a:solidFill>
                <a:schemeClr val="bg1"/>
              </a:solidFill>
            </a:endParaRPr>
          </a:p>
        </p:txBody>
      </p:sp>
      <p:sp>
        <p:nvSpPr>
          <p:cNvPr id="22" name="TextBox 21">
            <a:extLst>
              <a:ext uri="{FF2B5EF4-FFF2-40B4-BE49-F238E27FC236}">
                <a16:creationId xmlns:a16="http://schemas.microsoft.com/office/drawing/2014/main" id="{D43E2100-BA54-632A-FFA9-25423EBA3A52}"/>
              </a:ext>
            </a:extLst>
          </p:cNvPr>
          <p:cNvSpPr txBox="1"/>
          <p:nvPr/>
        </p:nvSpPr>
        <p:spPr>
          <a:xfrm>
            <a:off x="3524036" y="4982966"/>
            <a:ext cx="184731" cy="369332"/>
          </a:xfrm>
          <a:prstGeom prst="rect">
            <a:avLst/>
          </a:prstGeom>
          <a:noFill/>
        </p:spPr>
        <p:txBody>
          <a:bodyPr wrap="none" rtlCol="0">
            <a:spAutoFit/>
          </a:bodyPr>
          <a:lstStyle/>
          <a:p>
            <a:endParaRPr lang="en-US" dirty="0"/>
          </a:p>
        </p:txBody>
      </p:sp>
      <p:sp>
        <p:nvSpPr>
          <p:cNvPr id="26" name="Text 27">
            <a:extLst>
              <a:ext uri="{FF2B5EF4-FFF2-40B4-BE49-F238E27FC236}">
                <a16:creationId xmlns:a16="http://schemas.microsoft.com/office/drawing/2014/main" id="{9EC072A6-64D3-EA47-ECBC-8796A3F2E3D0}"/>
              </a:ext>
            </a:extLst>
          </p:cNvPr>
          <p:cNvSpPr/>
          <p:nvPr/>
        </p:nvSpPr>
        <p:spPr>
          <a:xfrm>
            <a:off x="0" y="4826050"/>
            <a:ext cx="9144000" cy="317450"/>
          </a:xfrm>
          <a:prstGeom prst="rect">
            <a:avLst/>
          </a:prstGeom>
          <a:solidFill>
            <a:srgbClr val="FAB753"/>
          </a:solidFill>
          <a:ln/>
        </p:spPr>
        <p:txBody>
          <a:bodyPr wrap="none" lIns="342900" tIns="78740" rIns="342900" bIns="78740" rtlCol="0" anchor="ctr"/>
          <a:lstStyle/>
          <a:p>
            <a:pPr marL="0" indent="0" algn="ctr">
              <a:buNone/>
            </a:pPr>
            <a:endParaRPr lang="en-US" sz="840" dirty="0"/>
          </a:p>
        </p:txBody>
      </p:sp>
    </p:spTree>
    <p:extLst>
      <p:ext uri="{BB962C8B-B14F-4D97-AF65-F5344CB8AC3E}">
        <p14:creationId xmlns:p14="http://schemas.microsoft.com/office/powerpoint/2010/main" val="268040863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9"/>
                    </p:tgtEl>
                  </p:cond>
                </p:stCondLst>
                <p:endSync evt="end" delay="0">
                  <p:rtn val="all"/>
                </p:endSync>
                <p:childTnLst>
                  <p:par>
                    <p:cTn id="3" fill="hold">
                      <p:stCondLst>
                        <p:cond delay="0"/>
                      </p:stCondLst>
                      <p:childTnLst>
                        <p:par>
                          <p:cTn id="4" fill="hold">
                            <p:stCondLst>
                              <p:cond delay="0"/>
                            </p:stCondLst>
                            <p:childTnLst>
                              <p:par>
                                <p:cTn id="5" presetID="20" presetClass="exit" presetSubtype="0" fill="hold" nodeType="clickEffect">
                                  <p:stCondLst>
                                    <p:cond delay="0"/>
                                  </p:stCondLst>
                                  <p:childTnLst>
                                    <p:animEffect transition="out" filter="wedge">
                                      <p:cBhvr>
                                        <p:cTn id="6" dur="2000"/>
                                        <p:tgtEl>
                                          <p:spTgt spid="29"/>
                                        </p:tgtEl>
                                      </p:cBhvr>
                                    </p:animEffect>
                                    <p:set>
                                      <p:cBhvr>
                                        <p:cTn id="7" dur="1" fill="hold">
                                          <p:stCondLst>
                                            <p:cond delay="1999"/>
                                          </p:stCondLst>
                                        </p:cTn>
                                        <p:tgtEl>
                                          <p:spTgt spid="2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edge">
                                      <p:cBhvr>
                                        <p:cTn id="12" dur="2000"/>
                                        <p:tgtEl>
                                          <p:spTgt spid="29"/>
                                        </p:tgtEl>
                                      </p:cBhvr>
                                    </p:animEffect>
                                  </p:childTnLst>
                                </p:cTn>
                              </p:par>
                            </p:childTnLst>
                          </p:cTn>
                        </p:par>
                      </p:childTnLst>
                    </p:cTn>
                  </p:par>
                </p:childTnLst>
              </p:cTn>
              <p:nextCondLst>
                <p:cond evt="onClick" delay="0">
                  <p:tgtEl>
                    <p:spTgt spid="29"/>
                  </p:tgtEl>
                </p:cond>
              </p:nextCondLst>
            </p:seq>
            <p:seq concurrent="1" nextAc="seek">
              <p:cTn id="13" restart="whenNotActive" fill="hold" evtFilter="cancelBubble" nodeType="interactiveSeq">
                <p:stCondLst>
                  <p:cond evt="onClick" delay="0">
                    <p:tgtEl>
                      <p:spTgt spid="19"/>
                    </p:tgtEl>
                  </p:cond>
                </p:stCondLst>
                <p:endSync evt="end" delay="0">
                  <p:rtn val="all"/>
                </p:endSync>
                <p:childTnLst>
                  <p:par>
                    <p:cTn id="14" fill="hold">
                      <p:stCondLst>
                        <p:cond delay="0"/>
                      </p:stCondLst>
                      <p:childTnLst>
                        <p:par>
                          <p:cTn id="15" fill="hold">
                            <p:stCondLst>
                              <p:cond delay="0"/>
                            </p:stCondLst>
                            <p:childTnLst>
                              <p:par>
                                <p:cTn id="16" presetID="3" presetClass="exit" presetSubtype="10" fill="hold" nodeType="clickEffect">
                                  <p:stCondLst>
                                    <p:cond delay="0"/>
                                  </p:stCondLst>
                                  <p:childTnLst>
                                    <p:animEffect transition="out" filter="blinds(horizontal)">
                                      <p:cBhvr>
                                        <p:cTn id="17" dur="500"/>
                                        <p:tgtEl>
                                          <p:spTgt spid="19"/>
                                        </p:tgtEl>
                                      </p:cBhvr>
                                    </p:animEffect>
                                    <p:set>
                                      <p:cBhvr>
                                        <p:cTn id="18"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19" restart="whenNotActive" fill="hold" evtFilter="cancelBubble" nodeType="interactiveSeq">
                <p:stCondLst>
                  <p:cond evt="onClick" delay="0">
                    <p:tgtEl>
                      <p:spTgt spid="23"/>
                    </p:tgtEl>
                  </p:cond>
                </p:stCondLst>
                <p:endSync evt="end" delay="0">
                  <p:rtn val="all"/>
                </p:endSync>
                <p:childTnLst>
                  <p:par>
                    <p:cTn id="20" fill="hold">
                      <p:stCondLst>
                        <p:cond delay="0"/>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blinds(horizontal)">
                                      <p:cBhvr>
                                        <p:cTn id="24" dur="500"/>
                                        <p:tgtEl>
                                          <p:spTgt spid="19"/>
                                        </p:tgtEl>
                                      </p:cBhvr>
                                    </p:animEffect>
                                  </p:childTnLst>
                                </p:cTn>
                              </p:par>
                            </p:childTnLst>
                          </p:cTn>
                        </p:par>
                      </p:childTnLst>
                    </p:cTn>
                  </p:par>
                </p:childTnLst>
              </p:cTn>
              <p:nextCondLst>
                <p:cond evt="onClick" delay="0">
                  <p:tgtEl>
                    <p:spTgt spid="23"/>
                  </p:tgtEl>
                </p:cond>
              </p:nextCondLst>
            </p:seq>
            <p:seq concurrent="1" nextAc="seek">
              <p:cTn id="25" restart="whenNotActive" fill="hold" evtFilter="cancelBubble" nodeType="interactiveSeq">
                <p:stCondLst>
                  <p:cond evt="onClick" delay="0">
                    <p:tgtEl>
                      <p:spTgt spid="18"/>
                    </p:tgtEl>
                  </p:cond>
                </p:stCondLst>
                <p:endSync evt="end" delay="0">
                  <p:rtn val="all"/>
                </p:endSync>
                <p:childTnLst>
                  <p:par>
                    <p:cTn id="26" fill="hold">
                      <p:stCondLst>
                        <p:cond delay="0"/>
                      </p:stCondLst>
                      <p:childTnLst>
                        <p:par>
                          <p:cTn id="27" fill="hold">
                            <p:stCondLst>
                              <p:cond delay="0"/>
                            </p:stCondLst>
                            <p:childTnLst>
                              <p:par>
                                <p:cTn id="28" presetID="49" presetClass="exit" presetSubtype="0" accel="100000" fill="hold" nodeType="clickEffect">
                                  <p:stCondLst>
                                    <p:cond delay="0"/>
                                  </p:stCondLst>
                                  <p:childTnLst>
                                    <p:anim calcmode="lin" valueType="num">
                                      <p:cBhvr>
                                        <p:cTn id="29" dur="500"/>
                                        <p:tgtEl>
                                          <p:spTgt spid="18"/>
                                        </p:tgtEl>
                                        <p:attrNameLst>
                                          <p:attrName>ppt_w</p:attrName>
                                        </p:attrNameLst>
                                      </p:cBhvr>
                                      <p:tavLst>
                                        <p:tav tm="0">
                                          <p:val>
                                            <p:strVal val="ppt_w"/>
                                          </p:val>
                                        </p:tav>
                                        <p:tav tm="100000">
                                          <p:val>
                                            <p:fltVal val="0"/>
                                          </p:val>
                                        </p:tav>
                                      </p:tavLst>
                                    </p:anim>
                                    <p:anim calcmode="lin" valueType="num">
                                      <p:cBhvr>
                                        <p:cTn id="30" dur="500"/>
                                        <p:tgtEl>
                                          <p:spTgt spid="18"/>
                                        </p:tgtEl>
                                        <p:attrNameLst>
                                          <p:attrName>ppt_h</p:attrName>
                                        </p:attrNameLst>
                                      </p:cBhvr>
                                      <p:tavLst>
                                        <p:tav tm="0">
                                          <p:val>
                                            <p:strVal val="ppt_h"/>
                                          </p:val>
                                        </p:tav>
                                        <p:tav tm="100000">
                                          <p:val>
                                            <p:fltVal val="0"/>
                                          </p:val>
                                        </p:tav>
                                      </p:tavLst>
                                    </p:anim>
                                    <p:anim calcmode="lin" valueType="num">
                                      <p:cBhvr>
                                        <p:cTn id="31" dur="500"/>
                                        <p:tgtEl>
                                          <p:spTgt spid="18"/>
                                        </p:tgtEl>
                                        <p:attrNameLst>
                                          <p:attrName>style.rotation</p:attrName>
                                        </p:attrNameLst>
                                      </p:cBhvr>
                                      <p:tavLst>
                                        <p:tav tm="0">
                                          <p:val>
                                            <p:fltVal val="0"/>
                                          </p:val>
                                        </p:tav>
                                        <p:tav tm="100000">
                                          <p:val>
                                            <p:fltVal val="360"/>
                                          </p:val>
                                        </p:tav>
                                      </p:tavLst>
                                    </p:anim>
                                    <p:animEffect transition="out" filter="fade">
                                      <p:cBhvr>
                                        <p:cTn id="32" dur="500"/>
                                        <p:tgtEl>
                                          <p:spTgt spid="18"/>
                                        </p:tgtEl>
                                      </p:cBhvr>
                                    </p:animEffect>
                                    <p:set>
                                      <p:cBhvr>
                                        <p:cTn id="33"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34" restart="whenNotActive" fill="hold" evtFilter="cancelBubble" nodeType="interactiveSeq">
                <p:stCondLst>
                  <p:cond evt="onClick" delay="0">
                    <p:tgtEl>
                      <p:spTgt spid="21"/>
                    </p:tgtEl>
                  </p:cond>
                </p:stCondLst>
                <p:endSync evt="end" delay="0">
                  <p:rtn val="all"/>
                </p:endSync>
                <p:childTnLst>
                  <p:par>
                    <p:cTn id="35" fill="hold">
                      <p:stCondLst>
                        <p:cond delay="0"/>
                      </p:stCondLst>
                      <p:childTnLst>
                        <p:par>
                          <p:cTn id="36" fill="hold">
                            <p:stCondLst>
                              <p:cond delay="0"/>
                            </p:stCondLst>
                            <p:childTnLst>
                              <p:par>
                                <p:cTn id="37" presetID="49" presetClass="entr" presetSubtype="0" decel="10000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p:cTn id="39" dur="500" fill="hold"/>
                                        <p:tgtEl>
                                          <p:spTgt spid="18"/>
                                        </p:tgtEl>
                                        <p:attrNameLst>
                                          <p:attrName>ppt_w</p:attrName>
                                        </p:attrNameLst>
                                      </p:cBhvr>
                                      <p:tavLst>
                                        <p:tav tm="0">
                                          <p:val>
                                            <p:fltVal val="0"/>
                                          </p:val>
                                        </p:tav>
                                        <p:tav tm="100000">
                                          <p:val>
                                            <p:strVal val="#ppt_w"/>
                                          </p:val>
                                        </p:tav>
                                      </p:tavLst>
                                    </p:anim>
                                    <p:anim calcmode="lin" valueType="num">
                                      <p:cBhvr>
                                        <p:cTn id="40" dur="500" fill="hold"/>
                                        <p:tgtEl>
                                          <p:spTgt spid="18"/>
                                        </p:tgtEl>
                                        <p:attrNameLst>
                                          <p:attrName>ppt_h</p:attrName>
                                        </p:attrNameLst>
                                      </p:cBhvr>
                                      <p:tavLst>
                                        <p:tav tm="0">
                                          <p:val>
                                            <p:fltVal val="0"/>
                                          </p:val>
                                        </p:tav>
                                        <p:tav tm="100000">
                                          <p:val>
                                            <p:strVal val="#ppt_h"/>
                                          </p:val>
                                        </p:tav>
                                      </p:tavLst>
                                    </p:anim>
                                    <p:anim calcmode="lin" valueType="num">
                                      <p:cBhvr>
                                        <p:cTn id="41" dur="500" fill="hold"/>
                                        <p:tgtEl>
                                          <p:spTgt spid="18"/>
                                        </p:tgtEl>
                                        <p:attrNameLst>
                                          <p:attrName>style.rotation</p:attrName>
                                        </p:attrNameLst>
                                      </p:cBhvr>
                                      <p:tavLst>
                                        <p:tav tm="0">
                                          <p:val>
                                            <p:fltVal val="360"/>
                                          </p:val>
                                        </p:tav>
                                        <p:tav tm="100000">
                                          <p:val>
                                            <p:fltVal val="0"/>
                                          </p:val>
                                        </p:tav>
                                      </p:tavLst>
                                    </p:anim>
                                    <p:animEffect transition="in" filter="fade">
                                      <p:cBhvr>
                                        <p:cTn id="42" dur="500"/>
                                        <p:tgtEl>
                                          <p:spTgt spid="18"/>
                                        </p:tgtEl>
                                      </p:cBhvr>
                                    </p:animEffect>
                                  </p:childTnLst>
                                </p:cTn>
                              </p:par>
                            </p:childTnLst>
                          </p:cTn>
                        </p:par>
                      </p:childTnLst>
                    </p:cTn>
                  </p:par>
                </p:childTnLst>
              </p:cTn>
              <p:nextCondLst>
                <p:cond evt="onClick" delay="0">
                  <p:tgtEl>
                    <p:spTgt spid="21"/>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0F2D37"/>
        </a:solidFill>
        <a:effectLst/>
      </p:bgPr>
    </p:bg>
    <p:spTree>
      <p:nvGrpSpPr>
        <p:cNvPr id="1" name=""/>
        <p:cNvGrpSpPr/>
        <p:nvPr/>
      </p:nvGrpSpPr>
      <p:grpSpPr>
        <a:xfrm>
          <a:off x="0" y="0"/>
          <a:ext cx="0" cy="0"/>
          <a:chOff x="0" y="0"/>
          <a:chExt cx="0" cy="0"/>
        </a:xfrm>
      </p:grpSpPr>
      <p:sp>
        <p:nvSpPr>
          <p:cNvPr id="4" name="Header Bar"/>
          <p:cNvSpPr>
            <a:spLocks noRot="1" noMove="1" noResize="1"/>
          </p:cNvSpPr>
          <p:nvPr/>
        </p:nvSpPr>
        <p:spPr>
          <a:xfrm>
            <a:off x="0" y="0"/>
            <a:ext cx="9144000" cy="514350"/>
          </a:xfrm>
          <a:prstGeom prst="rect">
            <a:avLst/>
          </a:prstGeom>
          <a:solidFill>
            <a:srgbClr val="1B5E72"/>
          </a:solidFill>
          <a:ln/>
        </p:spPr>
        <p:txBody>
          <a:bodyPr wrap="square" rtlCol="0" anchor="t"/>
          <a:lstStyle/>
          <a:p>
            <a:pPr marL="0" indent="0">
              <a:buNone/>
            </a:pPr>
            <a:endParaRPr lang="en-US" dirty="0"/>
          </a:p>
        </p:txBody>
      </p:sp>
      <p:sp>
        <p:nvSpPr>
          <p:cNvPr id="5" name="Badge"/>
          <p:cNvSpPr>
            <a:spLocks noRot="1" noMove="1" noResize="1"/>
          </p:cNvSpPr>
          <p:nvPr/>
        </p:nvSpPr>
        <p:spPr>
          <a:xfrm>
            <a:off x="285750" y="168920"/>
            <a:ext cx="689372" cy="193997"/>
          </a:xfrm>
          <a:prstGeom prst="roundRect">
            <a:avLst>
              <a:gd name="adj" fmla="val 11129"/>
            </a:avLst>
          </a:prstGeom>
          <a:solidFill>
            <a:srgbClr val="FAB753"/>
          </a:solidFill>
          <a:ln/>
        </p:spPr>
        <p:txBody>
          <a:bodyPr wrap="none" lIns="0" tIns="0" rIns="0" bIns="0" rtlCol="0" anchor="ctr"/>
          <a:lstStyle/>
          <a:p>
            <a:pPr marL="0" indent="0" algn="ctr">
              <a:buNone/>
            </a:pPr>
            <a:r>
              <a:rPr lang="en-US" sz="620" b="1">
                <a:solidFill>
                  <a:srgbClr val="1B2B1F"/>
                </a:solidFill>
                <a:latin typeface="Calibri" pitchFamily="34" charset="0"/>
              </a:rPr>
              <a:t>ACTIVITY 3</a:t>
            </a:r>
            <a:endParaRPr lang="en-US" sz="620" dirty="0"/>
          </a:p>
        </p:txBody>
      </p:sp>
      <p:sp>
        <p:nvSpPr>
          <p:cNvPr id="6" name="Title"/>
          <p:cNvSpPr>
            <a:spLocks noRot="1" noMove="1" noResize="1"/>
          </p:cNvSpPr>
          <p:nvPr/>
        </p:nvSpPr>
        <p:spPr>
          <a:xfrm>
            <a:off x="1118592" y="118021"/>
            <a:ext cx="2388691" cy="278160"/>
          </a:xfrm>
          <a:prstGeom prst="rect">
            <a:avLst/>
          </a:prstGeom>
          <a:noFill/>
          <a:ln/>
        </p:spPr>
        <p:txBody>
          <a:bodyPr wrap="none" lIns="0" tIns="0" rIns="0" bIns="0" rtlCol="0" anchor="ctr"/>
          <a:lstStyle/>
          <a:p>
            <a:pPr marL="0" indent="0" algn="l">
              <a:lnSpc>
                <a:spcPts val="2190"/>
              </a:lnSpc>
              <a:buNone/>
            </a:pPr>
            <a:r>
              <a:rPr lang="en-US" sz="1460" b="1" dirty="0">
                <a:solidFill>
                  <a:srgbClr val="FFFFFF"/>
                </a:solidFill>
                <a:latin typeface="Calibri" pitchFamily="34" charset="0"/>
              </a:rPr>
              <a:t>Piecing Together My Day</a:t>
            </a:r>
            <a:endParaRPr lang="en-US" sz="1460" dirty="0"/>
          </a:p>
        </p:txBody>
      </p:sp>
      <p:sp>
        <p:nvSpPr>
          <p:cNvPr id="7" name="Divider"/>
          <p:cNvSpPr>
            <a:spLocks noRot="1" noMove="1" noResize="1"/>
          </p:cNvSpPr>
          <p:nvPr/>
        </p:nvSpPr>
        <p:spPr>
          <a:xfrm>
            <a:off x="0" y="492770"/>
            <a:ext cx="9144000" cy="21580"/>
          </a:xfrm>
          <a:prstGeom prst="rect">
            <a:avLst/>
          </a:prstGeom>
          <a:solidFill>
            <a:srgbClr val="FAB753"/>
          </a:solidFill>
          <a:ln/>
        </p:spPr>
        <p:txBody>
          <a:bodyPr wrap="none" rtlCol="0" anchor="t"/>
          <a:lstStyle/>
          <a:p>
            <a:pPr marL="0" indent="0">
              <a:buNone/>
            </a:pPr>
            <a:endParaRPr lang="en-US" dirty="0"/>
          </a:p>
        </p:txBody>
      </p:sp>
      <p:sp>
        <p:nvSpPr>
          <p:cNvPr id="8" name="Instruction"/>
          <p:cNvSpPr>
            <a:spLocks noRot="1" noMove="1" noResize="1"/>
          </p:cNvSpPr>
          <p:nvPr/>
        </p:nvSpPr>
        <p:spPr>
          <a:xfrm>
            <a:off x="260000" y="545000"/>
            <a:ext cx="8624000" cy="250000"/>
          </a:xfrm>
          <a:prstGeom prst="rect">
            <a:avLst/>
          </a:prstGeom>
          <a:noFill/>
        </p:spPr>
        <p:txBody>
          <a:bodyPr wrap="square" lIns="0" tIns="0" rIns="0" bIns="0" rtlCol="0" anchor="ctr"/>
          <a:lstStyle/>
          <a:p>
            <a:pPr marL="0" indent="0" algn="l">
              <a:buNone/>
            </a:pPr>
            <a:r>
              <a:rPr lang="en-US" sz="1150" b="1">
                <a:solidFill>
                  <a:srgbClr val="FFFFFF"/>
                </a:solidFill>
                <a:latin typeface="Calibri" pitchFamily="34" charset="0"/>
              </a:rPr>
              <a:t>Drag the activity pieces into the time blocks below — two can connect in each slot.</a:t>
            </a:r>
            <a:endParaRPr lang="en-US" sz="1150"/>
          </a:p>
        </p:txBody>
      </p:sp>
      <p:sp>
        <p:nvSpPr>
          <p:cNvPr id="100" name="Col 1 Card"/>
          <p:cNvSpPr>
            <a:spLocks noRot="1" noMove="1" noResize="1"/>
          </p:cNvSpPr>
          <p:nvPr/>
        </p:nvSpPr>
        <p:spPr>
          <a:xfrm>
            <a:off x="260000" y="2560000"/>
            <a:ext cx="1044750" cy="2420000"/>
          </a:xfrm>
          <a:prstGeom prst="roundRect">
            <a:avLst>
              <a:gd name="adj" fmla="val 6000"/>
            </a:avLst>
          </a:prstGeom>
          <a:solidFill>
            <a:srgbClr val="FAB753"/>
          </a:solidFill>
        </p:spPr>
        <p:txBody>
          <a:bodyPr/>
          <a:lstStyle/>
          <a:p>
            <a:pPr>
              <a:buNone/>
            </a:pPr>
            <a:endParaRPr lang="en-US"/>
          </a:p>
        </p:txBody>
      </p:sp>
      <p:sp>
        <p:nvSpPr>
          <p:cNvPr id="101" name="Col 1 Body"/>
          <p:cNvSpPr>
            <a:spLocks noRot="1" noMove="1" noResize="1"/>
          </p:cNvSpPr>
          <p:nvPr/>
        </p:nvSpPr>
        <p:spPr>
          <a:xfrm>
            <a:off x="294000" y="2890000"/>
            <a:ext cx="976750" cy="2056000"/>
          </a:xfrm>
          <a:prstGeom prst="rect">
            <a:avLst/>
          </a:prstGeom>
          <a:solidFill>
            <a:srgbClr val="FFFFFF"/>
          </a:solidFill>
        </p:spPr>
        <p:txBody>
          <a:bodyPr/>
          <a:lstStyle/>
          <a:p>
            <a:pPr>
              <a:buNone/>
            </a:pPr>
            <a:endParaRPr lang="en-US"/>
          </a:p>
        </p:txBody>
      </p:sp>
      <p:sp>
        <p:nvSpPr>
          <p:cNvPr id="102" name="Col 1 Label"/>
          <p:cNvSpPr>
            <a:spLocks noRot="1" noMove="1" noResize="1"/>
          </p:cNvSpPr>
          <p:nvPr/>
        </p:nvSpPr>
        <p:spPr>
          <a:xfrm>
            <a:off x="260000" y="2582000"/>
            <a:ext cx="1044750" cy="290000"/>
          </a:xfrm>
          <a:prstGeom prst="rect">
            <a:avLst/>
          </a:prstGeom>
          <a:noFill/>
        </p:spPr>
        <p:txBody>
          <a:bodyPr wrap="square" lIns="0" tIns="0" rIns="0" bIns="0" rtlCol="0" anchor="ctr"/>
          <a:lstStyle/>
          <a:p>
            <a:pPr marL="0" indent="0" algn="ctr">
              <a:buNone/>
            </a:pPr>
            <a:r>
              <a:rPr lang="en-US" sz="1100" b="1">
                <a:solidFill>
                  <a:srgbClr val="1B2B1F"/>
                </a:solidFill>
                <a:latin typeface="Calibri" pitchFamily="34" charset="0"/>
              </a:rPr>
              <a:t>Arrival</a:t>
            </a:r>
            <a:endParaRPr lang="en-US" sz="1100"/>
          </a:p>
        </p:txBody>
      </p:sp>
      <p:sp>
        <p:nvSpPr>
          <p:cNvPr id="103" name="Col 2 Card"/>
          <p:cNvSpPr>
            <a:spLocks noRot="1" noMove="1" noResize="1"/>
          </p:cNvSpPr>
          <p:nvPr/>
        </p:nvSpPr>
        <p:spPr>
          <a:xfrm>
            <a:off x="1342750" y="2560000"/>
            <a:ext cx="1044750" cy="2420000"/>
          </a:xfrm>
          <a:prstGeom prst="roundRect">
            <a:avLst>
              <a:gd name="adj" fmla="val 6000"/>
            </a:avLst>
          </a:prstGeom>
          <a:solidFill>
            <a:srgbClr val="1B5E72"/>
          </a:solidFill>
        </p:spPr>
        <p:txBody>
          <a:bodyPr/>
          <a:lstStyle/>
          <a:p>
            <a:pPr>
              <a:buNone/>
            </a:pPr>
            <a:endParaRPr lang="en-US"/>
          </a:p>
        </p:txBody>
      </p:sp>
      <p:sp>
        <p:nvSpPr>
          <p:cNvPr id="104" name="Col 2 Body"/>
          <p:cNvSpPr>
            <a:spLocks noRot="1" noMove="1" noResize="1"/>
          </p:cNvSpPr>
          <p:nvPr/>
        </p:nvSpPr>
        <p:spPr>
          <a:xfrm>
            <a:off x="1376750" y="2890000"/>
            <a:ext cx="976750" cy="2056000"/>
          </a:xfrm>
          <a:prstGeom prst="rect">
            <a:avLst/>
          </a:prstGeom>
          <a:solidFill>
            <a:srgbClr val="FFFFFF"/>
          </a:solidFill>
        </p:spPr>
        <p:txBody>
          <a:bodyPr/>
          <a:lstStyle/>
          <a:p>
            <a:pPr>
              <a:buNone/>
            </a:pPr>
            <a:endParaRPr lang="en-US"/>
          </a:p>
        </p:txBody>
      </p:sp>
      <p:sp>
        <p:nvSpPr>
          <p:cNvPr id="105" name="Col 2 Label"/>
          <p:cNvSpPr>
            <a:spLocks noRot="1" noMove="1" noResize="1"/>
          </p:cNvSpPr>
          <p:nvPr/>
        </p:nvSpPr>
        <p:spPr>
          <a:xfrm>
            <a:off x="1342750" y="2582000"/>
            <a:ext cx="1044750" cy="290000"/>
          </a:xfrm>
          <a:prstGeom prst="rect">
            <a:avLst/>
          </a:prstGeom>
          <a:noFill/>
        </p:spPr>
        <p:txBody>
          <a:bodyPr wrap="square" lIns="0" tIns="0" rIns="0" bIns="0" rtlCol="0" anchor="ctr"/>
          <a:lstStyle/>
          <a:p>
            <a:pPr marL="0" indent="0" algn="ctr">
              <a:buNone/>
            </a:pPr>
            <a:r>
              <a:rPr lang="en-US" sz="1100" b="1">
                <a:solidFill>
                  <a:srgbClr val="FFFFFF"/>
                </a:solidFill>
                <a:latin typeface="Calibri" pitchFamily="34" charset="0"/>
              </a:rPr>
              <a:t>9:00 AM</a:t>
            </a:r>
            <a:endParaRPr lang="en-US" sz="1100"/>
          </a:p>
        </p:txBody>
      </p:sp>
      <p:sp>
        <p:nvSpPr>
          <p:cNvPr id="106" name="Col 3 Card"/>
          <p:cNvSpPr>
            <a:spLocks noRot="1" noMove="1" noResize="1"/>
          </p:cNvSpPr>
          <p:nvPr/>
        </p:nvSpPr>
        <p:spPr>
          <a:xfrm>
            <a:off x="2425500" y="2560000"/>
            <a:ext cx="1044750" cy="2420000"/>
          </a:xfrm>
          <a:prstGeom prst="roundRect">
            <a:avLst>
              <a:gd name="adj" fmla="val 6000"/>
            </a:avLst>
          </a:prstGeom>
          <a:solidFill>
            <a:srgbClr val="1B5E72"/>
          </a:solidFill>
        </p:spPr>
        <p:txBody>
          <a:bodyPr/>
          <a:lstStyle/>
          <a:p>
            <a:pPr>
              <a:buNone/>
            </a:pPr>
            <a:endParaRPr lang="en-US"/>
          </a:p>
        </p:txBody>
      </p:sp>
      <p:sp>
        <p:nvSpPr>
          <p:cNvPr id="107" name="Col 3 Body"/>
          <p:cNvSpPr>
            <a:spLocks noRot="1" noMove="1" noResize="1"/>
          </p:cNvSpPr>
          <p:nvPr/>
        </p:nvSpPr>
        <p:spPr>
          <a:xfrm>
            <a:off x="2459500" y="2890000"/>
            <a:ext cx="976750" cy="2056000"/>
          </a:xfrm>
          <a:prstGeom prst="rect">
            <a:avLst/>
          </a:prstGeom>
          <a:solidFill>
            <a:srgbClr val="FFFFFF"/>
          </a:solidFill>
        </p:spPr>
        <p:txBody>
          <a:bodyPr/>
          <a:lstStyle/>
          <a:p>
            <a:pPr>
              <a:buNone/>
            </a:pPr>
            <a:endParaRPr lang="en-US"/>
          </a:p>
        </p:txBody>
      </p:sp>
      <p:sp>
        <p:nvSpPr>
          <p:cNvPr id="108" name="Col 3 Label"/>
          <p:cNvSpPr>
            <a:spLocks noRot="1" noMove="1" noResize="1"/>
          </p:cNvSpPr>
          <p:nvPr/>
        </p:nvSpPr>
        <p:spPr>
          <a:xfrm>
            <a:off x="2425500" y="2582000"/>
            <a:ext cx="1044750" cy="290000"/>
          </a:xfrm>
          <a:prstGeom prst="rect">
            <a:avLst/>
          </a:prstGeom>
          <a:noFill/>
        </p:spPr>
        <p:txBody>
          <a:bodyPr wrap="square" lIns="0" tIns="0" rIns="0" bIns="0" rtlCol="0" anchor="ctr"/>
          <a:lstStyle/>
          <a:p>
            <a:pPr marL="0" indent="0" algn="ctr">
              <a:buNone/>
            </a:pPr>
            <a:r>
              <a:rPr lang="en-US" sz="1100" b="1">
                <a:solidFill>
                  <a:srgbClr val="FFFFFF"/>
                </a:solidFill>
                <a:latin typeface="Calibri" pitchFamily="34" charset="0"/>
              </a:rPr>
              <a:t>10:00 AM</a:t>
            </a:r>
            <a:endParaRPr lang="en-US" sz="1100"/>
          </a:p>
        </p:txBody>
      </p:sp>
      <p:sp>
        <p:nvSpPr>
          <p:cNvPr id="109" name="Col 4 Card"/>
          <p:cNvSpPr>
            <a:spLocks noRot="1" noMove="1" noResize="1"/>
          </p:cNvSpPr>
          <p:nvPr/>
        </p:nvSpPr>
        <p:spPr>
          <a:xfrm>
            <a:off x="3508250" y="2560000"/>
            <a:ext cx="1044750" cy="2420000"/>
          </a:xfrm>
          <a:prstGeom prst="roundRect">
            <a:avLst>
              <a:gd name="adj" fmla="val 6000"/>
            </a:avLst>
          </a:prstGeom>
          <a:solidFill>
            <a:srgbClr val="1B5E72"/>
          </a:solidFill>
        </p:spPr>
        <p:txBody>
          <a:bodyPr/>
          <a:lstStyle/>
          <a:p>
            <a:pPr>
              <a:buNone/>
            </a:pPr>
            <a:endParaRPr lang="en-US"/>
          </a:p>
        </p:txBody>
      </p:sp>
      <p:sp>
        <p:nvSpPr>
          <p:cNvPr id="110" name="Col 4 Body"/>
          <p:cNvSpPr>
            <a:spLocks noRot="1" noMove="1" noResize="1"/>
          </p:cNvSpPr>
          <p:nvPr/>
        </p:nvSpPr>
        <p:spPr>
          <a:xfrm>
            <a:off x="3542250" y="2890000"/>
            <a:ext cx="976750" cy="2056000"/>
          </a:xfrm>
          <a:prstGeom prst="rect">
            <a:avLst/>
          </a:prstGeom>
          <a:solidFill>
            <a:srgbClr val="FFFFFF"/>
          </a:solidFill>
        </p:spPr>
        <p:txBody>
          <a:bodyPr/>
          <a:lstStyle/>
          <a:p>
            <a:pPr>
              <a:buNone/>
            </a:pPr>
            <a:endParaRPr lang="en-US"/>
          </a:p>
        </p:txBody>
      </p:sp>
      <p:sp>
        <p:nvSpPr>
          <p:cNvPr id="111" name="Col 4 Label"/>
          <p:cNvSpPr>
            <a:spLocks noRot="1" noMove="1" noResize="1"/>
          </p:cNvSpPr>
          <p:nvPr/>
        </p:nvSpPr>
        <p:spPr>
          <a:xfrm>
            <a:off x="3508250" y="2582000"/>
            <a:ext cx="1044750" cy="290000"/>
          </a:xfrm>
          <a:prstGeom prst="rect">
            <a:avLst/>
          </a:prstGeom>
          <a:noFill/>
        </p:spPr>
        <p:txBody>
          <a:bodyPr wrap="square" lIns="0" tIns="0" rIns="0" bIns="0" rtlCol="0" anchor="ctr"/>
          <a:lstStyle/>
          <a:p>
            <a:pPr marL="0" indent="0" algn="ctr">
              <a:buNone/>
            </a:pPr>
            <a:r>
              <a:rPr lang="en-US" sz="1100" b="1">
                <a:solidFill>
                  <a:srgbClr val="FFFFFF"/>
                </a:solidFill>
                <a:latin typeface="Calibri" pitchFamily="34" charset="0"/>
              </a:rPr>
              <a:t>11:00 AM</a:t>
            </a:r>
            <a:endParaRPr lang="en-US" sz="1100"/>
          </a:p>
        </p:txBody>
      </p:sp>
      <p:sp>
        <p:nvSpPr>
          <p:cNvPr id="112" name="Col 5 Card"/>
          <p:cNvSpPr>
            <a:spLocks noRot="1" noMove="1" noResize="1"/>
          </p:cNvSpPr>
          <p:nvPr/>
        </p:nvSpPr>
        <p:spPr>
          <a:xfrm>
            <a:off x="4591000" y="2560000"/>
            <a:ext cx="1044750" cy="2420000"/>
          </a:xfrm>
          <a:prstGeom prst="roundRect">
            <a:avLst>
              <a:gd name="adj" fmla="val 6000"/>
            </a:avLst>
          </a:prstGeom>
          <a:solidFill>
            <a:srgbClr val="1B5E72"/>
          </a:solidFill>
        </p:spPr>
        <p:txBody>
          <a:bodyPr/>
          <a:lstStyle/>
          <a:p>
            <a:pPr>
              <a:buNone/>
            </a:pPr>
            <a:endParaRPr lang="en-US"/>
          </a:p>
        </p:txBody>
      </p:sp>
      <p:sp>
        <p:nvSpPr>
          <p:cNvPr id="113" name="Col 5 Body"/>
          <p:cNvSpPr>
            <a:spLocks noRot="1" noMove="1" noResize="1"/>
          </p:cNvSpPr>
          <p:nvPr/>
        </p:nvSpPr>
        <p:spPr>
          <a:xfrm>
            <a:off x="4625000" y="2890000"/>
            <a:ext cx="976750" cy="2056000"/>
          </a:xfrm>
          <a:prstGeom prst="rect">
            <a:avLst/>
          </a:prstGeom>
          <a:solidFill>
            <a:srgbClr val="FFFFFF"/>
          </a:solidFill>
        </p:spPr>
        <p:txBody>
          <a:bodyPr/>
          <a:lstStyle/>
          <a:p>
            <a:pPr>
              <a:buNone/>
            </a:pPr>
            <a:endParaRPr lang="en-US"/>
          </a:p>
        </p:txBody>
      </p:sp>
      <p:sp>
        <p:nvSpPr>
          <p:cNvPr id="114" name="Col 5 Label"/>
          <p:cNvSpPr>
            <a:spLocks noRot="1" noMove="1" noResize="1"/>
          </p:cNvSpPr>
          <p:nvPr/>
        </p:nvSpPr>
        <p:spPr>
          <a:xfrm>
            <a:off x="4591000" y="2582000"/>
            <a:ext cx="1044750" cy="290000"/>
          </a:xfrm>
          <a:prstGeom prst="rect">
            <a:avLst/>
          </a:prstGeom>
          <a:noFill/>
        </p:spPr>
        <p:txBody>
          <a:bodyPr wrap="square" lIns="0" tIns="0" rIns="0" bIns="0" rtlCol="0" anchor="ctr"/>
          <a:lstStyle/>
          <a:p>
            <a:pPr marL="0" indent="0" algn="ctr">
              <a:buNone/>
            </a:pPr>
            <a:r>
              <a:rPr lang="en-US" sz="1100" b="1">
                <a:solidFill>
                  <a:srgbClr val="FFFFFF"/>
                </a:solidFill>
                <a:latin typeface="Calibri" pitchFamily="34" charset="0"/>
              </a:rPr>
              <a:t>12:00 PM</a:t>
            </a:r>
            <a:endParaRPr lang="en-US" sz="1100"/>
          </a:p>
        </p:txBody>
      </p:sp>
      <p:sp>
        <p:nvSpPr>
          <p:cNvPr id="115" name="Col 6 Card"/>
          <p:cNvSpPr>
            <a:spLocks noRot="1" noMove="1" noResize="1"/>
          </p:cNvSpPr>
          <p:nvPr/>
        </p:nvSpPr>
        <p:spPr>
          <a:xfrm>
            <a:off x="5673750" y="2560000"/>
            <a:ext cx="1044750" cy="2420000"/>
          </a:xfrm>
          <a:prstGeom prst="roundRect">
            <a:avLst>
              <a:gd name="adj" fmla="val 6000"/>
            </a:avLst>
          </a:prstGeom>
          <a:solidFill>
            <a:srgbClr val="1B5E72"/>
          </a:solidFill>
        </p:spPr>
        <p:txBody>
          <a:bodyPr/>
          <a:lstStyle/>
          <a:p>
            <a:pPr>
              <a:buNone/>
            </a:pPr>
            <a:endParaRPr lang="en-US"/>
          </a:p>
        </p:txBody>
      </p:sp>
      <p:sp>
        <p:nvSpPr>
          <p:cNvPr id="116" name="Col 6 Body"/>
          <p:cNvSpPr>
            <a:spLocks noRot="1" noMove="1" noResize="1"/>
          </p:cNvSpPr>
          <p:nvPr/>
        </p:nvSpPr>
        <p:spPr>
          <a:xfrm>
            <a:off x="5707750" y="2890000"/>
            <a:ext cx="976750" cy="2056000"/>
          </a:xfrm>
          <a:prstGeom prst="rect">
            <a:avLst/>
          </a:prstGeom>
          <a:solidFill>
            <a:srgbClr val="FFFFFF"/>
          </a:solidFill>
        </p:spPr>
        <p:txBody>
          <a:bodyPr/>
          <a:lstStyle/>
          <a:p>
            <a:pPr>
              <a:buNone/>
            </a:pPr>
            <a:endParaRPr lang="en-US"/>
          </a:p>
        </p:txBody>
      </p:sp>
      <p:sp>
        <p:nvSpPr>
          <p:cNvPr id="117" name="Col 6 Label"/>
          <p:cNvSpPr>
            <a:spLocks noRot="1" noMove="1" noResize="1"/>
          </p:cNvSpPr>
          <p:nvPr/>
        </p:nvSpPr>
        <p:spPr>
          <a:xfrm>
            <a:off x="5673750" y="2582000"/>
            <a:ext cx="1044750" cy="290000"/>
          </a:xfrm>
          <a:prstGeom prst="rect">
            <a:avLst/>
          </a:prstGeom>
          <a:noFill/>
        </p:spPr>
        <p:txBody>
          <a:bodyPr wrap="square" lIns="0" tIns="0" rIns="0" bIns="0" rtlCol="0" anchor="ctr"/>
          <a:lstStyle/>
          <a:p>
            <a:pPr marL="0" indent="0" algn="ctr">
              <a:buNone/>
            </a:pPr>
            <a:r>
              <a:rPr lang="en-US" sz="1100" b="1">
                <a:solidFill>
                  <a:srgbClr val="FFFFFF"/>
                </a:solidFill>
                <a:latin typeface="Calibri" pitchFamily="34" charset="0"/>
              </a:rPr>
              <a:t>1:00 PM</a:t>
            </a:r>
            <a:endParaRPr lang="en-US" sz="1100"/>
          </a:p>
        </p:txBody>
      </p:sp>
      <p:sp>
        <p:nvSpPr>
          <p:cNvPr id="118" name="Col 7 Card"/>
          <p:cNvSpPr>
            <a:spLocks noRot="1" noMove="1" noResize="1"/>
          </p:cNvSpPr>
          <p:nvPr/>
        </p:nvSpPr>
        <p:spPr>
          <a:xfrm>
            <a:off x="6756500" y="2560000"/>
            <a:ext cx="1044750" cy="2420000"/>
          </a:xfrm>
          <a:prstGeom prst="roundRect">
            <a:avLst>
              <a:gd name="adj" fmla="val 6000"/>
            </a:avLst>
          </a:prstGeom>
          <a:solidFill>
            <a:srgbClr val="FAB753"/>
          </a:solidFill>
        </p:spPr>
        <p:txBody>
          <a:bodyPr/>
          <a:lstStyle/>
          <a:p>
            <a:pPr>
              <a:buNone/>
            </a:pPr>
            <a:endParaRPr lang="en-US"/>
          </a:p>
        </p:txBody>
      </p:sp>
      <p:sp>
        <p:nvSpPr>
          <p:cNvPr id="119" name="Col 7 Body"/>
          <p:cNvSpPr>
            <a:spLocks noRot="1" noMove="1" noResize="1"/>
          </p:cNvSpPr>
          <p:nvPr/>
        </p:nvSpPr>
        <p:spPr>
          <a:xfrm>
            <a:off x="6790500" y="2890000"/>
            <a:ext cx="976750" cy="2056000"/>
          </a:xfrm>
          <a:prstGeom prst="rect">
            <a:avLst/>
          </a:prstGeom>
          <a:solidFill>
            <a:srgbClr val="FFFFFF"/>
          </a:solidFill>
        </p:spPr>
        <p:txBody>
          <a:bodyPr/>
          <a:lstStyle/>
          <a:p>
            <a:pPr>
              <a:buNone/>
            </a:pPr>
            <a:endParaRPr lang="en-US"/>
          </a:p>
        </p:txBody>
      </p:sp>
      <p:sp>
        <p:nvSpPr>
          <p:cNvPr id="120" name="Col 7 Label"/>
          <p:cNvSpPr>
            <a:spLocks noRot="1" noMove="1" noResize="1"/>
          </p:cNvSpPr>
          <p:nvPr/>
        </p:nvSpPr>
        <p:spPr>
          <a:xfrm>
            <a:off x="6756500" y="2582000"/>
            <a:ext cx="1044750" cy="290000"/>
          </a:xfrm>
          <a:prstGeom prst="rect">
            <a:avLst/>
          </a:prstGeom>
          <a:noFill/>
        </p:spPr>
        <p:txBody>
          <a:bodyPr wrap="square" lIns="0" tIns="0" rIns="0" bIns="0" rtlCol="0" anchor="ctr"/>
          <a:lstStyle/>
          <a:p>
            <a:pPr marL="0" indent="0" algn="ctr">
              <a:buNone/>
            </a:pPr>
            <a:r>
              <a:rPr lang="en-US" sz="1100" b="1">
                <a:solidFill>
                  <a:srgbClr val="1B2B1F"/>
                </a:solidFill>
                <a:latin typeface="Calibri" pitchFamily="34" charset="0"/>
              </a:rPr>
              <a:t>Dismissal</a:t>
            </a:r>
            <a:endParaRPr lang="en-US" sz="1100"/>
          </a:p>
        </p:txBody>
      </p:sp>
      <p:sp>
        <p:nvSpPr>
          <p:cNvPr id="121" name="Col 8 Card"/>
          <p:cNvSpPr>
            <a:spLocks noRot="1" noMove="1" noResize="1"/>
          </p:cNvSpPr>
          <p:nvPr/>
        </p:nvSpPr>
        <p:spPr>
          <a:xfrm>
            <a:off x="7839250" y="2560000"/>
            <a:ext cx="1044750" cy="2420000"/>
          </a:xfrm>
          <a:prstGeom prst="roundRect">
            <a:avLst>
              <a:gd name="adj" fmla="val 6000"/>
            </a:avLst>
          </a:prstGeom>
          <a:solidFill>
            <a:srgbClr val="1B5E72"/>
          </a:solidFill>
        </p:spPr>
        <p:txBody>
          <a:bodyPr/>
          <a:lstStyle/>
          <a:p>
            <a:pPr>
              <a:buNone/>
            </a:pPr>
            <a:endParaRPr lang="en-US"/>
          </a:p>
        </p:txBody>
      </p:sp>
      <p:sp>
        <p:nvSpPr>
          <p:cNvPr id="122" name="Col 8 Body"/>
          <p:cNvSpPr>
            <a:spLocks noRot="1" noMove="1" noResize="1"/>
          </p:cNvSpPr>
          <p:nvPr/>
        </p:nvSpPr>
        <p:spPr>
          <a:xfrm>
            <a:off x="7873250" y="2890000"/>
            <a:ext cx="976750" cy="2056000"/>
          </a:xfrm>
          <a:prstGeom prst="rect">
            <a:avLst/>
          </a:prstGeom>
          <a:solidFill>
            <a:srgbClr val="FFFFFF"/>
          </a:solidFill>
        </p:spPr>
        <p:txBody>
          <a:bodyPr/>
          <a:lstStyle/>
          <a:p>
            <a:pPr>
              <a:buNone/>
            </a:pPr>
            <a:endParaRPr lang="en-US"/>
          </a:p>
        </p:txBody>
      </p:sp>
      <p:sp>
        <p:nvSpPr>
          <p:cNvPr id="123" name="Col 8 Label"/>
          <p:cNvSpPr>
            <a:spLocks noRot="1" noMove="1" noResize="1"/>
          </p:cNvSpPr>
          <p:nvPr/>
        </p:nvSpPr>
        <p:spPr>
          <a:xfrm>
            <a:off x="7839250" y="2582000"/>
            <a:ext cx="1044750" cy="290000"/>
          </a:xfrm>
          <a:prstGeom prst="rect">
            <a:avLst/>
          </a:prstGeom>
          <a:noFill/>
        </p:spPr>
        <p:txBody>
          <a:bodyPr wrap="square" lIns="0" tIns="0" rIns="0" bIns="0" rtlCol="0" anchor="ctr"/>
          <a:lstStyle/>
          <a:p>
            <a:pPr marL="0" indent="0" algn="ctr">
              <a:buNone/>
            </a:pPr>
            <a:r>
              <a:rPr lang="en-US" sz="1100" b="1">
                <a:solidFill>
                  <a:srgbClr val="FFFFFF"/>
                </a:solidFill>
                <a:latin typeface="Calibri" pitchFamily="34" charset="0"/>
              </a:rPr>
              <a:t>3:00 PM</a:t>
            </a:r>
            <a:endParaRPr lang="en-US" sz="1100"/>
          </a:p>
        </p:txBody>
      </p:sp>
      <p:sp>
        <p:nvSpPr>
          <p:cNvPr id="60" name="Activity 1"/>
          <p:cNvSpPr/>
          <p:nvPr/>
        </p:nvSpPr>
        <p:spPr>
          <a:xfrm>
            <a:off x="922000" y="855412"/>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1B5E72"/>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dirty="0">
                <a:solidFill>
                  <a:srgbClr val="FFFFFF"/>
                </a:solidFill>
                <a:latin typeface="Calibri" pitchFamily="34" charset="0"/>
              </a:rPr>
              <a:t>Individual</a:t>
            </a:r>
          </a:p>
          <a:p>
            <a:pPr marL="0" indent="0" algn="ctr">
              <a:lnSpc>
                <a:spcPts val="800"/>
              </a:lnSpc>
              <a:buNone/>
            </a:pPr>
            <a:r>
              <a:rPr lang="en-US" sz="700" dirty="0">
                <a:solidFill>
                  <a:srgbClr val="FFFFFF"/>
                </a:solidFill>
                <a:latin typeface="Calibri" pitchFamily="34" charset="0"/>
              </a:rPr>
              <a:t>16–37 min</a:t>
            </a:r>
          </a:p>
          <a:p>
            <a:pPr marL="0" indent="0" algn="ctr">
              <a:lnSpc>
                <a:spcPts val="800"/>
              </a:lnSpc>
              <a:buNone/>
            </a:pPr>
            <a:r>
              <a:rPr lang="en-US" sz="700" dirty="0">
                <a:solidFill>
                  <a:srgbClr val="FFFFFF"/>
                </a:solidFill>
                <a:latin typeface="Calibri" pitchFamily="34" charset="0"/>
              </a:rPr>
              <a:t>.63 credit</a:t>
            </a:r>
          </a:p>
        </p:txBody>
      </p:sp>
      <p:sp>
        <p:nvSpPr>
          <p:cNvPr id="61" name="Activity 2"/>
          <p:cNvSpPr/>
          <p:nvPr/>
        </p:nvSpPr>
        <p:spPr>
          <a:xfrm>
            <a:off x="523000" y="1718706"/>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1B5E72"/>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dirty="0">
                <a:solidFill>
                  <a:srgbClr val="FFFFFF"/>
                </a:solidFill>
                <a:latin typeface="Calibri" pitchFamily="34" charset="0"/>
              </a:rPr>
              <a:t>Individual</a:t>
            </a:r>
          </a:p>
          <a:p>
            <a:pPr marL="0" indent="0" algn="ctr">
              <a:lnSpc>
                <a:spcPts val="800"/>
              </a:lnSpc>
              <a:buNone/>
            </a:pPr>
            <a:r>
              <a:rPr lang="en-US" sz="700" dirty="0">
                <a:solidFill>
                  <a:srgbClr val="FFFFFF"/>
                </a:solidFill>
                <a:latin typeface="Calibri" pitchFamily="34" charset="0"/>
              </a:rPr>
              <a:t>38–53 min</a:t>
            </a:r>
          </a:p>
          <a:p>
            <a:pPr marL="0" indent="0" algn="ctr">
              <a:lnSpc>
                <a:spcPts val="800"/>
              </a:lnSpc>
              <a:buNone/>
            </a:pPr>
            <a:r>
              <a:rPr lang="en-US" sz="700" dirty="0">
                <a:solidFill>
                  <a:srgbClr val="FFFFFF"/>
                </a:solidFill>
                <a:latin typeface="Calibri" pitchFamily="34" charset="0"/>
              </a:rPr>
              <a:t>.82 credit</a:t>
            </a:r>
          </a:p>
        </p:txBody>
      </p:sp>
      <p:sp>
        <p:nvSpPr>
          <p:cNvPr id="62" name="Activity 3"/>
          <p:cNvSpPr/>
          <p:nvPr/>
        </p:nvSpPr>
        <p:spPr>
          <a:xfrm>
            <a:off x="3042000" y="800000"/>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1B5E72"/>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dirty="0">
                <a:solidFill>
                  <a:srgbClr val="FFFFFF"/>
                </a:solidFill>
                <a:latin typeface="Calibri" pitchFamily="34" charset="0"/>
              </a:rPr>
              <a:t>Individual</a:t>
            </a:r>
          </a:p>
          <a:p>
            <a:pPr marL="0" indent="0" algn="ctr">
              <a:lnSpc>
                <a:spcPts val="800"/>
              </a:lnSpc>
              <a:buNone/>
            </a:pPr>
            <a:r>
              <a:rPr lang="en-US" sz="700" dirty="0">
                <a:solidFill>
                  <a:srgbClr val="FFFFFF"/>
                </a:solidFill>
                <a:latin typeface="Calibri" pitchFamily="34" charset="0"/>
              </a:rPr>
              <a:t>54+ min</a:t>
            </a:r>
          </a:p>
          <a:p>
            <a:pPr marL="0" indent="0" algn="ctr">
              <a:lnSpc>
                <a:spcPts val="800"/>
              </a:lnSpc>
              <a:buNone/>
            </a:pPr>
            <a:r>
              <a:rPr lang="en-US" sz="700" dirty="0">
                <a:solidFill>
                  <a:srgbClr val="FFFFFF"/>
                </a:solidFill>
                <a:latin typeface="Calibri" pitchFamily="34" charset="0"/>
              </a:rPr>
              <a:t>1.0 credit</a:t>
            </a:r>
          </a:p>
        </p:txBody>
      </p:sp>
      <p:sp>
        <p:nvSpPr>
          <p:cNvPr id="63" name="Activity 4"/>
          <p:cNvSpPr/>
          <p:nvPr/>
        </p:nvSpPr>
        <p:spPr>
          <a:xfrm>
            <a:off x="6718513" y="1640000"/>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2F8F84"/>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dirty="0">
                <a:solidFill>
                  <a:srgbClr val="FFFFFF"/>
                </a:solidFill>
                <a:latin typeface="Calibri" pitchFamily="34" charset="0"/>
              </a:rPr>
              <a:t>Family</a:t>
            </a:r>
          </a:p>
          <a:p>
            <a:pPr marL="0" indent="0" algn="ctr">
              <a:lnSpc>
                <a:spcPts val="800"/>
              </a:lnSpc>
              <a:buNone/>
            </a:pPr>
            <a:r>
              <a:rPr lang="en-US" sz="700" dirty="0">
                <a:solidFill>
                  <a:srgbClr val="FFFFFF"/>
                </a:solidFill>
                <a:latin typeface="Calibri" pitchFamily="34" charset="0"/>
              </a:rPr>
              <a:t>26+ min</a:t>
            </a:r>
          </a:p>
          <a:p>
            <a:pPr marL="0" indent="0" algn="ctr">
              <a:lnSpc>
                <a:spcPts val="800"/>
              </a:lnSpc>
              <a:buNone/>
            </a:pPr>
            <a:r>
              <a:rPr lang="en-US" sz="700" dirty="0">
                <a:solidFill>
                  <a:srgbClr val="FFFFFF"/>
                </a:solidFill>
                <a:latin typeface="Calibri" pitchFamily="34" charset="0"/>
              </a:rPr>
              <a:t>.75 credit</a:t>
            </a:r>
          </a:p>
        </p:txBody>
      </p:sp>
      <p:sp>
        <p:nvSpPr>
          <p:cNvPr id="64" name="Activity 5"/>
          <p:cNvSpPr/>
          <p:nvPr/>
        </p:nvSpPr>
        <p:spPr>
          <a:xfrm>
            <a:off x="5162000" y="800000"/>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2F8F84"/>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dirty="0">
                <a:solidFill>
                  <a:srgbClr val="FFFFFF"/>
                </a:solidFill>
                <a:latin typeface="Calibri" pitchFamily="34" charset="0"/>
              </a:rPr>
              <a:t>Group</a:t>
            </a:r>
          </a:p>
          <a:p>
            <a:pPr marL="0" indent="0" algn="ctr">
              <a:lnSpc>
                <a:spcPts val="800"/>
              </a:lnSpc>
              <a:buNone/>
            </a:pPr>
            <a:r>
              <a:rPr lang="en-US" sz="700" dirty="0">
                <a:solidFill>
                  <a:srgbClr val="FFFFFF"/>
                </a:solidFill>
                <a:latin typeface="Calibri" pitchFamily="34" charset="0"/>
              </a:rPr>
              <a:t>.32 × ___</a:t>
            </a:r>
          </a:p>
          <a:p>
            <a:pPr marL="0" indent="0" algn="ctr">
              <a:lnSpc>
                <a:spcPts val="800"/>
              </a:lnSpc>
              <a:buNone/>
            </a:pPr>
            <a:r>
              <a:rPr lang="en-US" sz="700" dirty="0">
                <a:solidFill>
                  <a:srgbClr val="FFFFFF"/>
                </a:solidFill>
                <a:latin typeface="Calibri" pitchFamily="34" charset="0"/>
              </a:rPr>
              <a:t>participants</a:t>
            </a:r>
          </a:p>
        </p:txBody>
      </p:sp>
      <p:sp>
        <p:nvSpPr>
          <p:cNvPr id="65" name="Activity 6"/>
          <p:cNvSpPr/>
          <p:nvPr/>
        </p:nvSpPr>
        <p:spPr>
          <a:xfrm>
            <a:off x="6222000" y="800000"/>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2F8F84"/>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a:solidFill>
                  <a:schemeClr val="bg1"/>
                </a:solidFill>
                <a:latin typeface="Calibri" pitchFamily="34" charset="0"/>
              </a:rPr>
              <a:t>Intake</a:t>
            </a:r>
          </a:p>
          <a:p>
            <a:pPr marL="0" indent="0" algn="ctr">
              <a:lnSpc>
                <a:spcPts val="800"/>
              </a:lnSpc>
              <a:buNone/>
            </a:pPr>
            <a:r>
              <a:rPr lang="en-US" sz="700">
                <a:solidFill>
                  <a:schemeClr val="bg1"/>
                </a:solidFill>
                <a:latin typeface="Calibri" pitchFamily="34" charset="0"/>
              </a:rPr>
              <a:t>any length</a:t>
            </a:r>
          </a:p>
          <a:p>
            <a:pPr marL="0" indent="0" algn="ctr">
              <a:lnSpc>
                <a:spcPts val="800"/>
              </a:lnSpc>
              <a:buNone/>
            </a:pPr>
            <a:r>
              <a:rPr lang="en-US" sz="700">
                <a:solidFill>
                  <a:schemeClr val="bg1"/>
                </a:solidFill>
                <a:latin typeface="Calibri" pitchFamily="34" charset="0"/>
              </a:rPr>
              <a:t>1.15 credit</a:t>
            </a:r>
          </a:p>
        </p:txBody>
      </p:sp>
      <p:sp>
        <p:nvSpPr>
          <p:cNvPr id="66" name="Activity 7"/>
          <p:cNvSpPr/>
          <p:nvPr/>
        </p:nvSpPr>
        <p:spPr>
          <a:xfrm>
            <a:off x="1549250" y="1718706"/>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FBB753"/>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dirty="0">
                <a:solidFill>
                  <a:schemeClr val="tx1">
                    <a:lumMod val="85000"/>
                    <a:lumOff val="15000"/>
                  </a:schemeClr>
                </a:solidFill>
                <a:latin typeface="Calibri" pitchFamily="34" charset="0"/>
              </a:rPr>
              <a:t>Admin</a:t>
            </a:r>
          </a:p>
          <a:p>
            <a:pPr marL="0" indent="0" algn="ctr">
              <a:lnSpc>
                <a:spcPts val="800"/>
              </a:lnSpc>
              <a:buNone/>
            </a:pPr>
            <a:r>
              <a:rPr lang="en-US" sz="700" dirty="0">
                <a:solidFill>
                  <a:schemeClr val="tx1">
                    <a:lumMod val="85000"/>
                    <a:lumOff val="15000"/>
                  </a:schemeClr>
                </a:solidFill>
                <a:latin typeface="Calibri" pitchFamily="34" charset="0"/>
              </a:rPr>
              <a:t>30 min</a:t>
            </a:r>
          </a:p>
          <a:p>
            <a:pPr marL="0" indent="0" algn="ctr">
              <a:lnSpc>
                <a:spcPts val="800"/>
              </a:lnSpc>
              <a:buNone/>
            </a:pPr>
            <a:r>
              <a:rPr lang="en-US" sz="700" dirty="0">
                <a:solidFill>
                  <a:schemeClr val="tx1">
                    <a:lumMod val="85000"/>
                    <a:lumOff val="15000"/>
                  </a:schemeClr>
                </a:solidFill>
                <a:latin typeface="Calibri" pitchFamily="34" charset="0"/>
              </a:rPr>
              <a:t>0 credit</a:t>
            </a:r>
          </a:p>
        </p:txBody>
      </p:sp>
      <p:sp>
        <p:nvSpPr>
          <p:cNvPr id="67" name="Activity 8"/>
          <p:cNvSpPr/>
          <p:nvPr/>
        </p:nvSpPr>
        <p:spPr>
          <a:xfrm>
            <a:off x="7215034" y="820000"/>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FBB753"/>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dirty="0">
                <a:solidFill>
                  <a:schemeClr val="tx1">
                    <a:lumMod val="85000"/>
                    <a:lumOff val="15000"/>
                  </a:schemeClr>
                </a:solidFill>
                <a:latin typeface="Calibri" pitchFamily="34" charset="0"/>
              </a:rPr>
              <a:t>Admin</a:t>
            </a:r>
          </a:p>
          <a:p>
            <a:pPr marL="0" indent="0" algn="ctr">
              <a:lnSpc>
                <a:spcPts val="800"/>
              </a:lnSpc>
              <a:buNone/>
            </a:pPr>
            <a:r>
              <a:rPr lang="en-US" sz="700" dirty="0">
                <a:solidFill>
                  <a:schemeClr val="tx1">
                    <a:lumMod val="85000"/>
                    <a:lumOff val="15000"/>
                  </a:schemeClr>
                </a:solidFill>
                <a:latin typeface="Calibri" pitchFamily="34" charset="0"/>
              </a:rPr>
              <a:t>60 min</a:t>
            </a:r>
          </a:p>
          <a:p>
            <a:pPr marL="0" indent="0" algn="ctr">
              <a:lnSpc>
                <a:spcPts val="800"/>
              </a:lnSpc>
              <a:buNone/>
            </a:pPr>
            <a:r>
              <a:rPr lang="en-US" sz="700" dirty="0">
                <a:solidFill>
                  <a:schemeClr val="tx1">
                    <a:lumMod val="85000"/>
                    <a:lumOff val="15000"/>
                  </a:schemeClr>
                </a:solidFill>
                <a:latin typeface="Calibri" pitchFamily="34" charset="0"/>
              </a:rPr>
              <a:t>0 credit</a:t>
            </a:r>
          </a:p>
        </p:txBody>
      </p:sp>
      <p:sp>
        <p:nvSpPr>
          <p:cNvPr id="69" name="Activity 10"/>
          <p:cNvSpPr/>
          <p:nvPr/>
        </p:nvSpPr>
        <p:spPr>
          <a:xfrm>
            <a:off x="3572000" y="1640000"/>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FBB753"/>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a:solidFill>
                  <a:schemeClr val="tx1">
                    <a:lumMod val="85000"/>
                    <a:lumOff val="15000"/>
                  </a:schemeClr>
                </a:solidFill>
                <a:latin typeface="Calibri" pitchFamily="34" charset="0"/>
              </a:rPr>
              <a:t>Lunch</a:t>
            </a:r>
          </a:p>
          <a:p>
            <a:pPr marL="0" indent="0" algn="ctr">
              <a:lnSpc>
                <a:spcPts val="800"/>
              </a:lnSpc>
              <a:buNone/>
            </a:pPr>
            <a:r>
              <a:rPr lang="en-US" sz="700">
                <a:solidFill>
                  <a:schemeClr val="tx1">
                    <a:lumMod val="85000"/>
                    <a:lumOff val="15000"/>
                  </a:schemeClr>
                </a:solidFill>
                <a:latin typeface="Calibri" pitchFamily="34" charset="0"/>
              </a:rPr>
              <a:t>30 min</a:t>
            </a:r>
          </a:p>
          <a:p>
            <a:pPr marL="0" indent="0" algn="ctr">
              <a:lnSpc>
                <a:spcPts val="800"/>
              </a:lnSpc>
              <a:buNone/>
            </a:pPr>
            <a:r>
              <a:rPr lang="en-US" sz="700">
                <a:solidFill>
                  <a:schemeClr val="tx1">
                    <a:lumMod val="85000"/>
                    <a:lumOff val="15000"/>
                  </a:schemeClr>
                </a:solidFill>
                <a:latin typeface="Calibri" pitchFamily="34" charset="0"/>
              </a:rPr>
              <a:t>0 credit</a:t>
            </a:r>
          </a:p>
        </p:txBody>
      </p:sp>
      <p:sp>
        <p:nvSpPr>
          <p:cNvPr id="70" name="Activity 11"/>
          <p:cNvSpPr/>
          <p:nvPr/>
        </p:nvSpPr>
        <p:spPr>
          <a:xfrm>
            <a:off x="4068517" y="820000"/>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FBB753"/>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a:solidFill>
                  <a:schemeClr val="tx1">
                    <a:lumMod val="85000"/>
                    <a:lumOff val="15000"/>
                  </a:schemeClr>
                </a:solidFill>
                <a:latin typeface="Calibri" pitchFamily="34" charset="0"/>
              </a:rPr>
              <a:t>Break</a:t>
            </a:r>
          </a:p>
          <a:p>
            <a:pPr marL="0" indent="0" algn="ctr">
              <a:lnSpc>
                <a:spcPts val="800"/>
              </a:lnSpc>
              <a:buNone/>
            </a:pPr>
            <a:r>
              <a:rPr lang="en-US" sz="700">
                <a:solidFill>
                  <a:schemeClr val="tx1">
                    <a:lumMod val="85000"/>
                    <a:lumOff val="15000"/>
                  </a:schemeClr>
                </a:solidFill>
                <a:latin typeface="Calibri" pitchFamily="34" charset="0"/>
              </a:rPr>
              <a:t>15 min</a:t>
            </a:r>
          </a:p>
          <a:p>
            <a:pPr marL="0" indent="0" algn="ctr">
              <a:lnSpc>
                <a:spcPts val="800"/>
              </a:lnSpc>
              <a:buNone/>
            </a:pPr>
            <a:r>
              <a:rPr lang="en-US" sz="700">
                <a:solidFill>
                  <a:schemeClr val="tx1">
                    <a:lumMod val="85000"/>
                    <a:lumOff val="15000"/>
                  </a:schemeClr>
                </a:solidFill>
                <a:latin typeface="Calibri" pitchFamily="34" charset="0"/>
              </a:rPr>
              <a:t>0 credit</a:t>
            </a:r>
          </a:p>
        </p:txBody>
      </p:sp>
      <p:sp>
        <p:nvSpPr>
          <p:cNvPr id="22" name="Activity 2">
            <a:extLst>
              <a:ext uri="{FF2B5EF4-FFF2-40B4-BE49-F238E27FC236}">
                <a16:creationId xmlns:a16="http://schemas.microsoft.com/office/drawing/2014/main" id="{322163FA-523E-E794-8C92-B7688E50733A}"/>
              </a:ext>
            </a:extLst>
          </p:cNvPr>
          <p:cNvSpPr/>
          <p:nvPr/>
        </p:nvSpPr>
        <p:spPr>
          <a:xfrm>
            <a:off x="5752000" y="1640000"/>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1B5E72"/>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a:solidFill>
                  <a:srgbClr val="FFFFFF"/>
                </a:solidFill>
                <a:latin typeface="Calibri" pitchFamily="34" charset="0"/>
              </a:rPr>
              <a:t>Individual</a:t>
            </a:r>
          </a:p>
          <a:p>
            <a:pPr marL="0" indent="0" algn="ctr">
              <a:lnSpc>
                <a:spcPts val="800"/>
              </a:lnSpc>
              <a:buNone/>
            </a:pPr>
            <a:r>
              <a:rPr lang="en-US" sz="700">
                <a:solidFill>
                  <a:srgbClr val="FFFFFF"/>
                </a:solidFill>
                <a:latin typeface="Calibri" pitchFamily="34" charset="0"/>
              </a:rPr>
              <a:t>38–53 min</a:t>
            </a:r>
          </a:p>
          <a:p>
            <a:pPr marL="0" indent="0" algn="ctr">
              <a:lnSpc>
                <a:spcPts val="800"/>
              </a:lnSpc>
              <a:buNone/>
            </a:pPr>
            <a:r>
              <a:rPr lang="en-US" sz="700">
                <a:solidFill>
                  <a:srgbClr val="FFFFFF"/>
                </a:solidFill>
                <a:latin typeface="Calibri" pitchFamily="34" charset="0"/>
              </a:rPr>
              <a:t>.82 credit</a:t>
            </a:r>
          </a:p>
        </p:txBody>
      </p:sp>
      <p:sp>
        <p:nvSpPr>
          <p:cNvPr id="23" name="Activity 1">
            <a:extLst>
              <a:ext uri="{FF2B5EF4-FFF2-40B4-BE49-F238E27FC236}">
                <a16:creationId xmlns:a16="http://schemas.microsoft.com/office/drawing/2014/main" id="{6CECE49C-DA5B-1648-CF86-84A6152272CD}"/>
              </a:ext>
            </a:extLst>
          </p:cNvPr>
          <p:cNvSpPr/>
          <p:nvPr/>
        </p:nvSpPr>
        <p:spPr>
          <a:xfrm>
            <a:off x="4625000" y="1680000"/>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1B5E72"/>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a:solidFill>
                  <a:srgbClr val="FFFFFF"/>
                </a:solidFill>
                <a:latin typeface="Calibri" pitchFamily="34" charset="0"/>
              </a:rPr>
              <a:t>Individual</a:t>
            </a:r>
          </a:p>
          <a:p>
            <a:pPr marL="0" indent="0" algn="ctr">
              <a:lnSpc>
                <a:spcPts val="800"/>
              </a:lnSpc>
              <a:buNone/>
            </a:pPr>
            <a:r>
              <a:rPr lang="en-US" sz="700">
                <a:solidFill>
                  <a:srgbClr val="FFFFFF"/>
                </a:solidFill>
                <a:latin typeface="Calibri" pitchFamily="34" charset="0"/>
              </a:rPr>
              <a:t>16–37 min</a:t>
            </a:r>
          </a:p>
          <a:p>
            <a:pPr marL="0" indent="0" algn="ctr">
              <a:lnSpc>
                <a:spcPts val="800"/>
              </a:lnSpc>
              <a:buNone/>
            </a:pPr>
            <a:r>
              <a:rPr lang="en-US" sz="700">
                <a:solidFill>
                  <a:srgbClr val="FFFFFF"/>
                </a:solidFill>
                <a:latin typeface="Calibri" pitchFamily="34" charset="0"/>
              </a:rPr>
              <a:t>.63 credit</a:t>
            </a:r>
          </a:p>
        </p:txBody>
      </p:sp>
      <p:sp>
        <p:nvSpPr>
          <p:cNvPr id="24" name="Activity 4">
            <a:extLst>
              <a:ext uri="{FF2B5EF4-FFF2-40B4-BE49-F238E27FC236}">
                <a16:creationId xmlns:a16="http://schemas.microsoft.com/office/drawing/2014/main" id="{A2DE1CDF-3F78-DBF2-B31D-2AA720022009}"/>
              </a:ext>
            </a:extLst>
          </p:cNvPr>
          <p:cNvSpPr/>
          <p:nvPr/>
        </p:nvSpPr>
        <p:spPr>
          <a:xfrm>
            <a:off x="2459500" y="1675825"/>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2F8F84"/>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dirty="0">
                <a:solidFill>
                  <a:srgbClr val="FFFFFF"/>
                </a:solidFill>
                <a:latin typeface="Calibri" pitchFamily="34" charset="0"/>
              </a:rPr>
              <a:t>Family</a:t>
            </a:r>
          </a:p>
          <a:p>
            <a:pPr marL="0" indent="0" algn="ctr">
              <a:lnSpc>
                <a:spcPts val="800"/>
              </a:lnSpc>
              <a:buNone/>
            </a:pPr>
            <a:r>
              <a:rPr lang="en-US" sz="700" dirty="0">
                <a:solidFill>
                  <a:srgbClr val="FFFFFF"/>
                </a:solidFill>
                <a:latin typeface="Calibri" pitchFamily="34" charset="0"/>
              </a:rPr>
              <a:t>26+ min</a:t>
            </a:r>
          </a:p>
          <a:p>
            <a:pPr marL="0" indent="0" algn="ctr">
              <a:lnSpc>
                <a:spcPts val="800"/>
              </a:lnSpc>
              <a:buNone/>
            </a:pPr>
            <a:r>
              <a:rPr lang="en-US" sz="700" dirty="0">
                <a:solidFill>
                  <a:srgbClr val="FFFFFF"/>
                </a:solidFill>
                <a:latin typeface="Calibri" pitchFamily="34" charset="0"/>
              </a:rPr>
              <a:t>.75 credit</a:t>
            </a:r>
          </a:p>
        </p:txBody>
      </p:sp>
      <p:sp>
        <p:nvSpPr>
          <p:cNvPr id="25" name="Activity 2">
            <a:extLst>
              <a:ext uri="{FF2B5EF4-FFF2-40B4-BE49-F238E27FC236}">
                <a16:creationId xmlns:a16="http://schemas.microsoft.com/office/drawing/2014/main" id="{B5EBF46F-2E49-09DD-9F82-685338B3D587}"/>
              </a:ext>
            </a:extLst>
          </p:cNvPr>
          <p:cNvSpPr/>
          <p:nvPr/>
        </p:nvSpPr>
        <p:spPr>
          <a:xfrm>
            <a:off x="2015483" y="808350"/>
            <a:ext cx="940000" cy="760000"/>
          </a:xfrm>
          <a:custGeom>
            <a:avLst/>
            <a:gdLst/>
            <a:ahLst/>
            <a:cxnLst/>
            <a:rect l="110000" t="110000" r="830000" b="650000"/>
            <a:pathLst>
              <a:path w="940000" h="760000">
                <a:moveTo>
                  <a:pt x="110000" y="110000"/>
                </a:moveTo>
                <a:lnTo>
                  <a:pt x="390000" y="110000"/>
                </a:lnTo>
                <a:cubicBezTo>
                  <a:pt x="390000" y="65817"/>
                  <a:pt x="425817" y="30000"/>
                  <a:pt x="470000" y="30000"/>
                </a:cubicBezTo>
                <a:cubicBezTo>
                  <a:pt x="514183" y="30000"/>
                  <a:pt x="550000" y="65817"/>
                  <a:pt x="550000" y="110000"/>
                </a:cubicBezTo>
                <a:lnTo>
                  <a:pt x="830000" y="110000"/>
                </a:lnTo>
                <a:lnTo>
                  <a:pt x="830000" y="300000"/>
                </a:lnTo>
                <a:cubicBezTo>
                  <a:pt x="874183" y="300000"/>
                  <a:pt x="910000" y="335817"/>
                  <a:pt x="910000" y="380000"/>
                </a:cubicBezTo>
                <a:cubicBezTo>
                  <a:pt x="910000" y="424183"/>
                  <a:pt x="874183" y="460000"/>
                  <a:pt x="830000" y="460000"/>
                </a:cubicBezTo>
                <a:lnTo>
                  <a:pt x="830000" y="650000"/>
                </a:lnTo>
                <a:lnTo>
                  <a:pt x="550000" y="650000"/>
                </a:lnTo>
                <a:cubicBezTo>
                  <a:pt x="550000" y="605817"/>
                  <a:pt x="514183" y="570000"/>
                  <a:pt x="470000" y="570000"/>
                </a:cubicBezTo>
                <a:cubicBezTo>
                  <a:pt x="425817" y="570000"/>
                  <a:pt x="390000" y="605817"/>
                  <a:pt x="390000" y="650000"/>
                </a:cubicBezTo>
                <a:lnTo>
                  <a:pt x="110000" y="650000"/>
                </a:lnTo>
                <a:lnTo>
                  <a:pt x="110000" y="460000"/>
                </a:lnTo>
                <a:cubicBezTo>
                  <a:pt x="154183" y="460000"/>
                  <a:pt x="190000" y="424183"/>
                  <a:pt x="190000" y="380000"/>
                </a:cubicBezTo>
                <a:cubicBezTo>
                  <a:pt x="190000" y="335817"/>
                  <a:pt x="154183" y="300000"/>
                  <a:pt x="110000" y="300000"/>
                </a:cubicBezTo>
                <a:lnTo>
                  <a:pt x="110000" y="110000"/>
                </a:lnTo>
                <a:close/>
              </a:path>
            </a:pathLst>
          </a:custGeom>
          <a:solidFill>
            <a:srgbClr val="1B5E72"/>
          </a:solidFill>
          <a:ln w="6350">
            <a:solidFill>
              <a:srgbClr val="0F2D37"/>
            </a:solidFill>
          </a:ln>
          <a:effectLst>
            <a:outerShdw blurRad="55000" dist="42000" dir="5400000" rotWithShape="0">
              <a:srgbClr val="000000">
                <a:alpha val="45000"/>
              </a:srgbClr>
            </a:outerShdw>
          </a:effectLst>
        </p:spPr>
        <p:txBody>
          <a:bodyPr wrap="square" lIns="38000" tIns="20000" rIns="38000" bIns="20000" anchor="ctr" anchorCtr="0">
            <a:normAutofit/>
          </a:bodyPr>
          <a:lstStyle/>
          <a:p>
            <a:pPr marL="0" indent="0" algn="ctr">
              <a:lnSpc>
                <a:spcPts val="800"/>
              </a:lnSpc>
              <a:buNone/>
            </a:pPr>
            <a:r>
              <a:rPr lang="en-US" sz="750" b="1" dirty="0">
                <a:solidFill>
                  <a:srgbClr val="FFFFFF"/>
                </a:solidFill>
                <a:latin typeface="Calibri" pitchFamily="34" charset="0"/>
              </a:rPr>
              <a:t>Individual</a:t>
            </a:r>
          </a:p>
          <a:p>
            <a:pPr marL="0" indent="0" algn="ctr">
              <a:lnSpc>
                <a:spcPts val="800"/>
              </a:lnSpc>
              <a:buNone/>
            </a:pPr>
            <a:r>
              <a:rPr lang="en-US" sz="700" dirty="0">
                <a:solidFill>
                  <a:srgbClr val="FFFFFF"/>
                </a:solidFill>
                <a:latin typeface="Calibri" pitchFamily="34" charset="0"/>
              </a:rPr>
              <a:t>38–53 min</a:t>
            </a:r>
          </a:p>
          <a:p>
            <a:pPr marL="0" indent="0" algn="ctr">
              <a:lnSpc>
                <a:spcPts val="800"/>
              </a:lnSpc>
              <a:buNone/>
            </a:pPr>
            <a:r>
              <a:rPr lang="en-US" sz="700" dirty="0">
                <a:solidFill>
                  <a:srgbClr val="FFFFFF"/>
                </a:solidFill>
                <a:latin typeface="Calibri" pitchFamily="34" charset="0"/>
              </a:rPr>
              <a:t>.82 credit</a:t>
            </a:r>
          </a:p>
        </p:txBody>
      </p:sp>
      <p:sp>
        <p:nvSpPr>
          <p:cNvPr id="2" name="TextBox 1">
            <a:extLst>
              <a:ext uri="{FF2B5EF4-FFF2-40B4-BE49-F238E27FC236}">
                <a16:creationId xmlns:a16="http://schemas.microsoft.com/office/drawing/2014/main" id="{FAA6716F-74B9-FE83-3E69-E28745C60A91}"/>
              </a:ext>
            </a:extLst>
          </p:cNvPr>
          <p:cNvSpPr txBox="1"/>
          <p:nvPr/>
        </p:nvSpPr>
        <p:spPr>
          <a:xfrm>
            <a:off x="3278343" y="45067"/>
            <a:ext cx="5083282" cy="430887"/>
          </a:xfrm>
          <a:prstGeom prst="rect">
            <a:avLst/>
          </a:prstGeom>
          <a:noFill/>
        </p:spPr>
        <p:txBody>
          <a:bodyPr wrap="square" rtlCol="0">
            <a:spAutoFit/>
          </a:bodyPr>
          <a:lstStyle/>
          <a:p>
            <a:r>
              <a:rPr lang="en-US" sz="1100" dirty="0">
                <a:solidFill>
                  <a:srgbClr val="FFC000"/>
                </a:solidFill>
              </a:rPr>
              <a:t>Can you arrange the pieces to exceed 5.6 hours of credit, and still working in all the things you need to get done?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2429470" cy="5143500"/>
          </a:xfrm>
          <a:prstGeom prst="rect">
            <a:avLst/>
          </a:prstGeom>
          <a:solidFill>
            <a:srgbClr val="1B5E72"/>
          </a:solidFill>
          <a:ln/>
        </p:spPr>
        <p:txBody>
          <a:bodyPr wrap="square" rtlCol="0" anchor="t"/>
          <a:lstStyle/>
          <a:p>
            <a:pPr marL="0" indent="0">
              <a:buNone/>
            </a:pPr>
            <a:endParaRPr lang="en-US" dirty="0"/>
          </a:p>
        </p:txBody>
      </p:sp>
      <p:sp>
        <p:nvSpPr>
          <p:cNvPr id="3" name="Text 1"/>
          <p:cNvSpPr/>
          <p:nvPr/>
        </p:nvSpPr>
        <p:spPr>
          <a:xfrm>
            <a:off x="257770" y="1940421"/>
            <a:ext cx="2105323" cy="118021"/>
          </a:xfrm>
          <a:prstGeom prst="rect">
            <a:avLst/>
          </a:prstGeom>
          <a:noFill/>
          <a:ln/>
        </p:spPr>
        <p:txBody>
          <a:bodyPr wrap="none" lIns="0" tIns="0" rIns="0" bIns="0" rtlCol="0" anchor="t"/>
          <a:lstStyle/>
          <a:p>
            <a:pPr marL="0" indent="0" algn="l">
              <a:lnSpc>
                <a:spcPts val="930"/>
              </a:lnSpc>
              <a:buNone/>
            </a:pPr>
            <a:r>
              <a:rPr lang="en-US" sz="620" b="1" kern="0" spc="140" dirty="0">
                <a:solidFill>
                  <a:srgbClr val="FAB753"/>
                </a:solidFill>
                <a:latin typeface="Calibri" pitchFamily="34" charset="0"/>
                <a:ea typeface="Calibri" pitchFamily="34" charset="-122"/>
                <a:cs typeface="Calibri" pitchFamily="34" charset="-120"/>
              </a:rPr>
              <a:t>BONUS ACTIVITY 4</a:t>
            </a:r>
            <a:endParaRPr lang="en-US" sz="620" dirty="0"/>
          </a:p>
        </p:txBody>
      </p:sp>
      <p:sp>
        <p:nvSpPr>
          <p:cNvPr id="4" name="Text 2"/>
          <p:cNvSpPr/>
          <p:nvPr/>
        </p:nvSpPr>
        <p:spPr>
          <a:xfrm>
            <a:off x="257770" y="2201912"/>
            <a:ext cx="1952208" cy="576009"/>
          </a:xfrm>
          <a:prstGeom prst="rect">
            <a:avLst/>
          </a:prstGeom>
          <a:noFill/>
          <a:ln/>
        </p:spPr>
        <p:txBody>
          <a:bodyPr wrap="square" lIns="0" tIns="0" rIns="0" bIns="0" rtlCol="0" anchor="t"/>
          <a:lstStyle/>
          <a:p>
            <a:pPr marL="0" indent="0" algn="l">
              <a:lnSpc>
                <a:spcPts val="2160"/>
              </a:lnSpc>
              <a:spcAft>
                <a:spcPts val="1130"/>
              </a:spcAft>
              <a:buNone/>
            </a:pPr>
            <a:r>
              <a:rPr lang="en-US" sz="1800" b="1" dirty="0">
                <a:solidFill>
                  <a:srgbClr val="FFFFFF"/>
                </a:solidFill>
                <a:latin typeface="Calibri Light" pitchFamily="34" charset="0"/>
                <a:ea typeface="Calibri Light" pitchFamily="34" charset="-122"/>
                <a:cs typeface="Calibri Light" pitchFamily="34" charset="-120"/>
              </a:rPr>
              <a:t>Creative Problem Solving</a:t>
            </a:r>
            <a:endParaRPr lang="en-US" sz="1800" dirty="0"/>
          </a:p>
        </p:txBody>
      </p:sp>
      <p:sp>
        <p:nvSpPr>
          <p:cNvPr id="5" name="Text 3"/>
          <p:cNvSpPr/>
          <p:nvPr/>
        </p:nvSpPr>
        <p:spPr>
          <a:xfrm>
            <a:off x="257770" y="2893963"/>
            <a:ext cx="1952208" cy="324416"/>
          </a:xfrm>
          <a:prstGeom prst="rect">
            <a:avLst/>
          </a:prstGeom>
          <a:noFill/>
          <a:ln/>
        </p:spPr>
        <p:txBody>
          <a:bodyPr wrap="square" lIns="0" tIns="0" rIns="0" bIns="0" rtlCol="0" anchor="t"/>
          <a:lstStyle/>
          <a:p>
            <a:pPr marL="0" indent="0" algn="l">
              <a:lnSpc>
                <a:spcPts val="1216"/>
              </a:lnSpc>
              <a:buNone/>
            </a:pPr>
            <a:r>
              <a:rPr lang="en-US" sz="760" dirty="0">
                <a:solidFill>
                  <a:srgbClr val="FFFFFF">
                    <a:alpha val="78000"/>
                  </a:srgbClr>
                </a:solidFill>
                <a:latin typeface="Calibri" pitchFamily="34" charset="0"/>
                <a:ea typeface="Calibri" pitchFamily="34" charset="-122"/>
                <a:cs typeface="Calibri" pitchFamily="34" charset="-120"/>
              </a:rPr>
              <a:t>Common barriers to daily workflow — and how to work through them.</a:t>
            </a:r>
            <a:endParaRPr lang="en-US" sz="760" dirty="0"/>
          </a:p>
        </p:txBody>
      </p:sp>
      <p:sp>
        <p:nvSpPr>
          <p:cNvPr id="6" name="Text 4"/>
          <p:cNvSpPr/>
          <p:nvPr/>
        </p:nvSpPr>
        <p:spPr>
          <a:xfrm>
            <a:off x="257770" y="4771430"/>
            <a:ext cx="200620" cy="29170"/>
          </a:xfrm>
          <a:prstGeom prst="roundRect">
            <a:avLst>
              <a:gd name="adj" fmla="val 47892"/>
            </a:avLst>
          </a:prstGeom>
          <a:solidFill>
            <a:srgbClr val="FAB753">
              <a:alpha val="40000"/>
            </a:srgbClr>
          </a:solidFill>
          <a:ln/>
        </p:spPr>
        <p:txBody>
          <a:bodyPr wrap="none" rtlCol="0" anchor="t"/>
          <a:lstStyle/>
          <a:p>
            <a:pPr marL="0" indent="0">
              <a:buNone/>
            </a:pPr>
            <a:endParaRPr lang="en-US" dirty="0"/>
          </a:p>
        </p:txBody>
      </p:sp>
      <p:sp>
        <p:nvSpPr>
          <p:cNvPr id="7" name="Text 5"/>
          <p:cNvSpPr/>
          <p:nvPr/>
        </p:nvSpPr>
        <p:spPr>
          <a:xfrm>
            <a:off x="257770" y="4856559"/>
            <a:ext cx="342900" cy="29170"/>
          </a:xfrm>
          <a:prstGeom prst="roundRect">
            <a:avLst>
              <a:gd name="adj" fmla="val 47892"/>
            </a:avLst>
          </a:prstGeom>
          <a:solidFill>
            <a:srgbClr val="FAB753"/>
          </a:solidFill>
          <a:ln/>
        </p:spPr>
        <p:txBody>
          <a:bodyPr wrap="none" rtlCol="0" anchor="t"/>
          <a:lstStyle/>
          <a:p>
            <a:pPr marL="0" indent="0">
              <a:buNone/>
            </a:pPr>
            <a:endParaRPr lang="en-US" dirty="0"/>
          </a:p>
        </p:txBody>
      </p:sp>
      <p:sp>
        <p:nvSpPr>
          <p:cNvPr id="8" name="Text 6"/>
          <p:cNvSpPr/>
          <p:nvPr/>
        </p:nvSpPr>
        <p:spPr>
          <a:xfrm>
            <a:off x="2429470" y="0"/>
            <a:ext cx="6714530" cy="5143500"/>
          </a:xfrm>
          <a:prstGeom prst="rect">
            <a:avLst/>
          </a:prstGeom>
          <a:solidFill>
            <a:srgbClr val="FFFFFF"/>
          </a:solidFill>
          <a:ln/>
        </p:spPr>
        <p:txBody>
          <a:bodyPr wrap="square" rtlCol="0" anchor="t"/>
          <a:lstStyle/>
          <a:p>
            <a:pPr marL="0" indent="0">
              <a:buNone/>
            </a:pPr>
            <a:endParaRPr lang="en-US" dirty="0"/>
          </a:p>
        </p:txBody>
      </p:sp>
      <p:sp>
        <p:nvSpPr>
          <p:cNvPr id="9" name="Text 7"/>
          <p:cNvSpPr/>
          <p:nvPr/>
        </p:nvSpPr>
        <p:spPr>
          <a:xfrm>
            <a:off x="2772370" y="285750"/>
            <a:ext cx="6028730" cy="388322"/>
          </a:xfrm>
          <a:prstGeom prst="rect">
            <a:avLst/>
          </a:prstGeom>
          <a:noFill/>
          <a:ln/>
        </p:spPr>
        <p:txBody>
          <a:bodyPr wrap="square" lIns="0" tIns="0" rIns="0" bIns="0" rtlCol="0" anchor="ctr"/>
          <a:lstStyle/>
          <a:p>
            <a:pPr marL="0" indent="0" algn="l">
              <a:buNone/>
            </a:pPr>
            <a:r>
              <a:rPr lang="en-US" sz="1350" b="1" dirty="0">
                <a:solidFill>
                  <a:srgbClr val="1B5E72"/>
                </a:solidFill>
                <a:latin typeface="Calibri Light" pitchFamily="34" charset="0"/>
                <a:ea typeface="Calibri Light" pitchFamily="34" charset="-122"/>
                <a:cs typeface="Calibri Light" pitchFamily="34" charset="-120"/>
              </a:rPr>
              <a:t>When the Day Does Not Go as Planned</a:t>
            </a:r>
            <a:endParaRPr lang="en-US" sz="1350" dirty="0"/>
          </a:p>
        </p:txBody>
      </p:sp>
      <p:sp>
        <p:nvSpPr>
          <p:cNvPr id="10" name="Text 8"/>
          <p:cNvSpPr/>
          <p:nvPr/>
        </p:nvSpPr>
        <p:spPr>
          <a:xfrm>
            <a:off x="2772370" y="629245"/>
            <a:ext cx="6028730" cy="9525"/>
          </a:xfrm>
          <a:prstGeom prst="rect">
            <a:avLst/>
          </a:prstGeom>
          <a:solidFill>
            <a:srgbClr val="EAF4F4"/>
          </a:solidFill>
          <a:ln/>
        </p:spPr>
        <p:txBody>
          <a:bodyPr wrap="none" rtlCol="0" anchor="t"/>
          <a:lstStyle/>
          <a:p>
            <a:pPr marL="0" indent="0">
              <a:buNone/>
            </a:pPr>
            <a:endParaRPr lang="en-US" dirty="0"/>
          </a:p>
        </p:txBody>
      </p:sp>
      <p:sp>
        <p:nvSpPr>
          <p:cNvPr id="11" name="Text 9"/>
          <p:cNvSpPr/>
          <p:nvPr/>
        </p:nvSpPr>
        <p:spPr>
          <a:xfrm>
            <a:off x="2772370" y="817811"/>
            <a:ext cx="242441" cy="242441"/>
          </a:xfrm>
          <a:prstGeom prst="roundRect">
            <a:avLst>
              <a:gd name="adj" fmla="val 23573"/>
            </a:avLst>
          </a:prstGeom>
          <a:solidFill>
            <a:srgbClr val="EAF4F4"/>
          </a:solidFill>
          <a:ln/>
        </p:spPr>
        <p:txBody>
          <a:bodyPr wrap="none" rtlCol="0" anchor="t"/>
          <a:lstStyle/>
          <a:p>
            <a:pPr marL="0" indent="0">
              <a:buNone/>
            </a:pPr>
            <a:endParaRPr lang="en-US" dirty="0"/>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7222" y="872663"/>
            <a:ext cx="132588" cy="132588"/>
          </a:xfrm>
          <a:prstGeom prst="rect">
            <a:avLst/>
          </a:prstGeom>
        </p:spPr>
      </p:pic>
      <p:sp>
        <p:nvSpPr>
          <p:cNvPr id="13" name="Text 10"/>
          <p:cNvSpPr/>
          <p:nvPr/>
        </p:nvSpPr>
        <p:spPr>
          <a:xfrm>
            <a:off x="3115121" y="810220"/>
            <a:ext cx="6254576" cy="135434"/>
          </a:xfrm>
          <a:prstGeom prst="rect">
            <a:avLst/>
          </a:prstGeom>
          <a:noFill/>
          <a:ln/>
        </p:spPr>
        <p:txBody>
          <a:bodyPr wrap="none" lIns="0" tIns="0" rIns="0" bIns="0" rtlCol="0" anchor="t"/>
          <a:lstStyle/>
          <a:p>
            <a:pPr marL="0" indent="0" algn="l">
              <a:lnSpc>
                <a:spcPts val="1066"/>
              </a:lnSpc>
              <a:buNone/>
            </a:pPr>
            <a:r>
              <a:rPr lang="en-US" sz="820" b="1" dirty="0">
                <a:solidFill>
                  <a:srgbClr val="1B5E72"/>
                </a:solidFill>
                <a:latin typeface="Calibri" pitchFamily="34" charset="0"/>
                <a:ea typeface="Calibri" pitchFamily="34" charset="-122"/>
                <a:cs typeface="Calibri" pitchFamily="34" charset="-120"/>
              </a:rPr>
              <a:t>The school changes your space</a:t>
            </a:r>
            <a:endParaRPr lang="en-US" sz="820" dirty="0"/>
          </a:p>
        </p:txBody>
      </p:sp>
      <p:sp>
        <p:nvSpPr>
          <p:cNvPr id="14" name="Text 11"/>
          <p:cNvSpPr/>
          <p:nvPr/>
        </p:nvSpPr>
        <p:spPr>
          <a:xfrm>
            <a:off x="3115121" y="967234"/>
            <a:ext cx="5799698" cy="301600"/>
          </a:xfrm>
          <a:prstGeom prst="rect">
            <a:avLst/>
          </a:prstGeom>
          <a:noFill/>
          <a:ln/>
        </p:spPr>
        <p:txBody>
          <a:bodyPr wrap="square" lIns="0" tIns="0" rIns="0" bIns="0" rtlCol="0" anchor="t"/>
          <a:lstStyle/>
          <a:p>
            <a:pPr marL="0" indent="0" algn="l">
              <a:lnSpc>
                <a:spcPts val="1132"/>
              </a:lnSpc>
              <a:buNone/>
            </a:pPr>
            <a:r>
              <a:rPr lang="en-US" sz="730" dirty="0">
                <a:solidFill>
                  <a:srgbClr val="2C2C2C"/>
                </a:solidFill>
                <a:latin typeface="Calibri" pitchFamily="34" charset="0"/>
                <a:ea typeface="Calibri" pitchFamily="34" charset="-122"/>
                <a:cs typeface="Calibri" pitchFamily="34" charset="-120"/>
              </a:rPr>
              <a:t>Keep a short list of flexible session options that work in any room — activities that require minimal materials and travel well. Adaptability is a clinical skill.</a:t>
            </a:r>
            <a:endParaRPr lang="en-US" sz="730" dirty="0"/>
          </a:p>
        </p:txBody>
      </p:sp>
      <p:sp>
        <p:nvSpPr>
          <p:cNvPr id="15" name="Text 12"/>
          <p:cNvSpPr/>
          <p:nvPr/>
        </p:nvSpPr>
        <p:spPr>
          <a:xfrm>
            <a:off x="2772370" y="1390204"/>
            <a:ext cx="242441" cy="242441"/>
          </a:xfrm>
          <a:prstGeom prst="roundRect">
            <a:avLst>
              <a:gd name="adj" fmla="val 23573"/>
            </a:avLst>
          </a:prstGeom>
          <a:solidFill>
            <a:srgbClr val="EAF4F4"/>
          </a:solidFill>
          <a:ln/>
        </p:spPr>
        <p:txBody>
          <a:bodyPr wrap="none" rtlCol="0" anchor="t"/>
          <a:lstStyle/>
          <a:p>
            <a:pPr marL="0" indent="0">
              <a:buNone/>
            </a:pPr>
            <a:endParaRPr lang="en-US"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27222" y="1445056"/>
            <a:ext cx="132588" cy="132588"/>
          </a:xfrm>
          <a:prstGeom prst="rect">
            <a:avLst/>
          </a:prstGeom>
        </p:spPr>
      </p:pic>
      <p:sp>
        <p:nvSpPr>
          <p:cNvPr id="17" name="Text 13"/>
          <p:cNvSpPr/>
          <p:nvPr/>
        </p:nvSpPr>
        <p:spPr>
          <a:xfrm>
            <a:off x="3115121" y="1382613"/>
            <a:ext cx="6254576" cy="135434"/>
          </a:xfrm>
          <a:prstGeom prst="rect">
            <a:avLst/>
          </a:prstGeom>
          <a:noFill/>
          <a:ln/>
        </p:spPr>
        <p:txBody>
          <a:bodyPr wrap="none" lIns="0" tIns="0" rIns="0" bIns="0" rtlCol="0" anchor="t"/>
          <a:lstStyle/>
          <a:p>
            <a:pPr marL="0" indent="0" algn="l">
              <a:lnSpc>
                <a:spcPts val="1066"/>
              </a:lnSpc>
              <a:buNone/>
            </a:pPr>
            <a:r>
              <a:rPr lang="en-US" sz="820" b="1" dirty="0">
                <a:solidFill>
                  <a:srgbClr val="1B5E72"/>
                </a:solidFill>
                <a:latin typeface="Calibri" pitchFamily="34" charset="0"/>
                <a:ea typeface="Calibri" pitchFamily="34" charset="-122"/>
                <a:cs typeface="Calibri" pitchFamily="34" charset="-120"/>
              </a:rPr>
              <a:t>A student does not show</a:t>
            </a:r>
            <a:endParaRPr lang="en-US" sz="820" dirty="0"/>
          </a:p>
        </p:txBody>
      </p:sp>
      <p:sp>
        <p:nvSpPr>
          <p:cNvPr id="18" name="Text 14"/>
          <p:cNvSpPr/>
          <p:nvPr/>
        </p:nvSpPr>
        <p:spPr>
          <a:xfrm>
            <a:off x="3115121" y="1539627"/>
            <a:ext cx="5799698" cy="301600"/>
          </a:xfrm>
          <a:prstGeom prst="rect">
            <a:avLst/>
          </a:prstGeom>
          <a:noFill/>
          <a:ln/>
        </p:spPr>
        <p:txBody>
          <a:bodyPr wrap="square" lIns="0" tIns="0" rIns="0" bIns="0" rtlCol="0" anchor="t"/>
          <a:lstStyle/>
          <a:p>
            <a:pPr marL="0" indent="0" algn="l">
              <a:lnSpc>
                <a:spcPts val="1132"/>
              </a:lnSpc>
              <a:buNone/>
            </a:pPr>
            <a:r>
              <a:rPr lang="en-US" sz="730" dirty="0">
                <a:solidFill>
                  <a:srgbClr val="2C2C2C"/>
                </a:solidFill>
                <a:latin typeface="Calibri" pitchFamily="34" charset="0"/>
                <a:ea typeface="Calibri" pitchFamily="34" charset="-122"/>
                <a:cs typeface="Calibri" pitchFamily="34" charset="-120"/>
              </a:rPr>
              <a:t>Have a fill-in protocol ready — a standing no-show list, a family call, a documentation block. Never let a gap in your schedule become a gap in productivity.</a:t>
            </a:r>
            <a:endParaRPr lang="en-US" sz="730" dirty="0"/>
          </a:p>
        </p:txBody>
      </p:sp>
      <p:sp>
        <p:nvSpPr>
          <p:cNvPr id="19" name="Text 15"/>
          <p:cNvSpPr/>
          <p:nvPr/>
        </p:nvSpPr>
        <p:spPr>
          <a:xfrm>
            <a:off x="2772370" y="1962596"/>
            <a:ext cx="242441" cy="242441"/>
          </a:xfrm>
          <a:prstGeom prst="roundRect">
            <a:avLst>
              <a:gd name="adj" fmla="val 23573"/>
            </a:avLst>
          </a:prstGeom>
          <a:solidFill>
            <a:srgbClr val="EAF4F4"/>
          </a:solidFill>
          <a:ln/>
        </p:spPr>
        <p:txBody>
          <a:bodyPr wrap="none" rtlCol="0" anchor="t"/>
          <a:lstStyle/>
          <a:p>
            <a:pPr marL="0" indent="0">
              <a:buNone/>
            </a:pPr>
            <a:endParaRPr lang="en-US" dirty="0"/>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27222" y="2017449"/>
            <a:ext cx="132588" cy="132588"/>
          </a:xfrm>
          <a:prstGeom prst="rect">
            <a:avLst/>
          </a:prstGeom>
        </p:spPr>
      </p:pic>
      <p:sp>
        <p:nvSpPr>
          <p:cNvPr id="21" name="Text 16"/>
          <p:cNvSpPr/>
          <p:nvPr/>
        </p:nvSpPr>
        <p:spPr>
          <a:xfrm>
            <a:off x="3115121" y="1955006"/>
            <a:ext cx="6254576" cy="135434"/>
          </a:xfrm>
          <a:prstGeom prst="rect">
            <a:avLst/>
          </a:prstGeom>
          <a:noFill/>
          <a:ln/>
        </p:spPr>
        <p:txBody>
          <a:bodyPr wrap="none" lIns="0" tIns="0" rIns="0" bIns="0" rtlCol="0" anchor="t"/>
          <a:lstStyle/>
          <a:p>
            <a:pPr marL="0" indent="0" algn="l">
              <a:lnSpc>
                <a:spcPts val="1066"/>
              </a:lnSpc>
              <a:buNone/>
            </a:pPr>
            <a:r>
              <a:rPr lang="en-US" sz="820" b="1" dirty="0">
                <a:solidFill>
                  <a:srgbClr val="1B5E72"/>
                </a:solidFill>
                <a:latin typeface="Calibri" pitchFamily="34" charset="0"/>
                <a:ea typeface="Calibri" pitchFamily="34" charset="-122"/>
                <a:cs typeface="Calibri" pitchFamily="34" charset="-120"/>
              </a:rPr>
              <a:t>You get pulled into a crisis</a:t>
            </a:r>
            <a:endParaRPr lang="en-US" sz="820" dirty="0"/>
          </a:p>
        </p:txBody>
      </p:sp>
      <p:sp>
        <p:nvSpPr>
          <p:cNvPr id="22" name="Text 17"/>
          <p:cNvSpPr/>
          <p:nvPr/>
        </p:nvSpPr>
        <p:spPr>
          <a:xfrm>
            <a:off x="3115121" y="2112020"/>
            <a:ext cx="5799698" cy="301600"/>
          </a:xfrm>
          <a:prstGeom prst="rect">
            <a:avLst/>
          </a:prstGeom>
          <a:noFill/>
          <a:ln/>
        </p:spPr>
        <p:txBody>
          <a:bodyPr wrap="square" lIns="0" tIns="0" rIns="0" bIns="0" rtlCol="0" anchor="t"/>
          <a:lstStyle/>
          <a:p>
            <a:pPr marL="0" indent="0" algn="l">
              <a:lnSpc>
                <a:spcPts val="1132"/>
              </a:lnSpc>
              <a:buNone/>
            </a:pPr>
            <a:r>
              <a:rPr lang="en-US" sz="730" dirty="0">
                <a:solidFill>
                  <a:srgbClr val="2C2C2C"/>
                </a:solidFill>
                <a:latin typeface="Calibri" pitchFamily="34" charset="0"/>
                <a:ea typeface="Calibri" pitchFamily="34" charset="-122"/>
                <a:cs typeface="Calibri" pitchFamily="34" charset="-120"/>
              </a:rPr>
              <a:t>Build buffer space into your day intentionally. A schedule without breathing room is a schedule that breaks under pressure. Protect your pivot time.</a:t>
            </a:r>
            <a:endParaRPr lang="en-US" sz="730" dirty="0"/>
          </a:p>
        </p:txBody>
      </p:sp>
      <p:sp>
        <p:nvSpPr>
          <p:cNvPr id="23" name="Text 18"/>
          <p:cNvSpPr/>
          <p:nvPr/>
        </p:nvSpPr>
        <p:spPr>
          <a:xfrm>
            <a:off x="2772370" y="2534989"/>
            <a:ext cx="242441" cy="242441"/>
          </a:xfrm>
          <a:prstGeom prst="roundRect">
            <a:avLst>
              <a:gd name="adj" fmla="val 23573"/>
            </a:avLst>
          </a:prstGeom>
          <a:solidFill>
            <a:srgbClr val="EAF4F4"/>
          </a:solidFill>
          <a:ln/>
        </p:spPr>
        <p:txBody>
          <a:bodyPr wrap="none" rtlCol="0" anchor="t"/>
          <a:lstStyle/>
          <a:p>
            <a:pPr marL="0" indent="0">
              <a:buNone/>
            </a:pPr>
            <a:endParaRPr lang="en-US" dirty="0"/>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27222" y="2589842"/>
            <a:ext cx="132588" cy="132588"/>
          </a:xfrm>
          <a:prstGeom prst="rect">
            <a:avLst/>
          </a:prstGeom>
        </p:spPr>
      </p:pic>
      <p:sp>
        <p:nvSpPr>
          <p:cNvPr id="25" name="Text 19"/>
          <p:cNvSpPr/>
          <p:nvPr/>
        </p:nvSpPr>
        <p:spPr>
          <a:xfrm>
            <a:off x="3115121" y="2527399"/>
            <a:ext cx="6254576" cy="135434"/>
          </a:xfrm>
          <a:prstGeom prst="rect">
            <a:avLst/>
          </a:prstGeom>
          <a:noFill/>
          <a:ln/>
        </p:spPr>
        <p:txBody>
          <a:bodyPr wrap="none" lIns="0" tIns="0" rIns="0" bIns="0" rtlCol="0" anchor="t"/>
          <a:lstStyle/>
          <a:p>
            <a:pPr marL="0" indent="0" algn="l">
              <a:lnSpc>
                <a:spcPts val="1066"/>
              </a:lnSpc>
              <a:buNone/>
            </a:pPr>
            <a:r>
              <a:rPr lang="en-US" sz="820" b="1" dirty="0">
                <a:solidFill>
                  <a:srgbClr val="1B5E72"/>
                </a:solidFill>
                <a:latin typeface="Calibri" pitchFamily="34" charset="0"/>
                <a:ea typeface="Calibri" pitchFamily="34" charset="-122"/>
                <a:cs typeface="Calibri" pitchFamily="34" charset="-120"/>
              </a:rPr>
              <a:t>Documentation is piling up</a:t>
            </a:r>
            <a:endParaRPr lang="en-US" sz="820" dirty="0"/>
          </a:p>
        </p:txBody>
      </p:sp>
      <p:sp>
        <p:nvSpPr>
          <p:cNvPr id="26" name="Text 20"/>
          <p:cNvSpPr/>
          <p:nvPr/>
        </p:nvSpPr>
        <p:spPr>
          <a:xfrm>
            <a:off x="3115121" y="2684413"/>
            <a:ext cx="5799698" cy="301600"/>
          </a:xfrm>
          <a:prstGeom prst="rect">
            <a:avLst/>
          </a:prstGeom>
          <a:noFill/>
          <a:ln/>
        </p:spPr>
        <p:txBody>
          <a:bodyPr wrap="square" lIns="0" tIns="0" rIns="0" bIns="0" rtlCol="0" anchor="t"/>
          <a:lstStyle/>
          <a:p>
            <a:pPr marL="0" indent="0" algn="l">
              <a:lnSpc>
                <a:spcPts val="1132"/>
              </a:lnSpc>
              <a:buNone/>
            </a:pPr>
            <a:r>
              <a:rPr lang="en-US" sz="730" dirty="0">
                <a:solidFill>
                  <a:srgbClr val="2C2C2C"/>
                </a:solidFill>
                <a:latin typeface="Calibri" pitchFamily="34" charset="0"/>
                <a:ea typeface="Calibri" pitchFamily="34" charset="-122"/>
                <a:cs typeface="Calibri" pitchFamily="34" charset="-120"/>
              </a:rPr>
              <a:t>This is usually a systems issue, not a time issue. If notes are trailing, revisit your Eleos workflow and collaborative documentation practice before staying late becomes the norm.</a:t>
            </a:r>
            <a:endParaRPr lang="en-US" sz="730" dirty="0"/>
          </a:p>
        </p:txBody>
      </p:sp>
      <p:sp>
        <p:nvSpPr>
          <p:cNvPr id="27" name="Text 21"/>
          <p:cNvSpPr/>
          <p:nvPr/>
        </p:nvSpPr>
        <p:spPr>
          <a:xfrm>
            <a:off x="2362325" y="4779020"/>
            <a:ext cx="6848820" cy="364480"/>
          </a:xfrm>
          <a:prstGeom prst="rect">
            <a:avLst/>
          </a:prstGeom>
          <a:solidFill>
            <a:srgbClr val="EAF4F4"/>
          </a:solidFill>
          <a:ln/>
        </p:spPr>
        <p:txBody>
          <a:bodyPr wrap="none" lIns="342900" tIns="100330" rIns="342900" bIns="100330" rtlCol="0" anchor="t"/>
          <a:lstStyle/>
          <a:p>
            <a:pPr marL="0" indent="0" algn="ctr">
              <a:buNone/>
            </a:pPr>
            <a:r>
              <a:rPr lang="en-US" sz="760" b="1" dirty="0">
                <a:solidFill>
                  <a:srgbClr val="1B5E72"/>
                </a:solidFill>
                <a:latin typeface="Calibri" pitchFamily="34" charset="0"/>
                <a:ea typeface="Calibri" pitchFamily="34" charset="-122"/>
                <a:cs typeface="Calibri" pitchFamily="34" charset="-120"/>
              </a:rPr>
              <a:t>💬</a:t>
            </a:r>
            <a:r>
              <a:rPr lang="en-US" sz="760" b="1" dirty="0">
                <a:solidFill>
                  <a:srgbClr val="2C2C2C"/>
                </a:solidFill>
                <a:latin typeface="Calibri" pitchFamily="34" charset="0"/>
                <a:ea typeface="Calibri" pitchFamily="34" charset="-122"/>
                <a:cs typeface="Calibri" pitchFamily="34" charset="-120"/>
              </a:rPr>
              <a:t> Discuss with the group: What barriers are you running into most often? What has helped?</a:t>
            </a:r>
            <a:endParaRPr lang="en-US" sz="760" dirty="0"/>
          </a:p>
        </p:txBody>
      </p:sp>
      <p:sp>
        <p:nvSpPr>
          <p:cNvPr id="28" name="Text 22"/>
          <p:cNvSpPr/>
          <p:nvPr/>
        </p:nvSpPr>
        <p:spPr>
          <a:xfrm>
            <a:off x="2429470" y="4779020"/>
            <a:ext cx="6714530" cy="19050"/>
          </a:xfrm>
          <a:prstGeom prst="rect">
            <a:avLst/>
          </a:prstGeom>
          <a:solidFill>
            <a:srgbClr val="55A49C"/>
          </a:solidFill>
          <a:ln/>
        </p:spPr>
        <p:txBody>
          <a:bodyPr wrap="none" rtlCol="0" anchor="t"/>
          <a:lstStyle/>
          <a:p>
            <a:pPr marL="0" indent="0">
              <a:buNone/>
            </a:pPr>
            <a:endParaRPr lang="en-US" dirty="0"/>
          </a:p>
        </p:txBody>
      </p:sp>
      <p:sp>
        <p:nvSpPr>
          <p:cNvPr id="29" name="Text 23"/>
          <p:cNvSpPr/>
          <p:nvPr/>
        </p:nvSpPr>
        <p:spPr>
          <a:xfrm>
            <a:off x="2400300" y="0"/>
            <a:ext cx="29170" cy="5143500"/>
          </a:xfrm>
          <a:prstGeom prst="rect">
            <a:avLst/>
          </a:prstGeom>
          <a:solidFill>
            <a:srgbClr val="FAB753">
              <a:alpha val="60000"/>
            </a:srgbClr>
          </a:solidFill>
          <a:ln/>
        </p:spPr>
        <p:txBody>
          <a:bodyPr wrap="square" rtlCol="0" anchor="t"/>
          <a:lstStyle/>
          <a:p>
            <a:pPr marL="0" indent="0">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FFFFFF">
                  <a:alpha val="2000"/>
                </a:srgbClr>
              </a:gs>
              <a:gs pos="33333">
                <a:srgbClr val="FFFFFF">
                  <a:alpha val="2000"/>
                </a:srgbClr>
              </a:gs>
              <a:gs pos="66667">
                <a:srgbClr val="000000">
                  <a:alpha val="0"/>
                </a:srgbClr>
              </a:gs>
              <a:gs pos="100000">
                <a:srgbClr val="000000">
                  <a:alpha val="0"/>
                </a:srgbClr>
              </a:gs>
            </a:gsLst>
            <a:lin ang="2700000" scaled="1"/>
          </a:gradFill>
          <a:ln/>
        </p:spPr>
        <p:txBody>
          <a:bodyPr wrap="square" rtlCol="0" anchor="t"/>
          <a:lstStyle/>
          <a:p>
            <a:pPr marL="0" indent="0">
              <a:buNone/>
            </a:pPr>
            <a:endParaRPr lang="en-US" dirty="0"/>
          </a:p>
        </p:txBody>
      </p:sp>
      <p:sp>
        <p:nvSpPr>
          <p:cNvPr id="3" name="Text 1"/>
          <p:cNvSpPr/>
          <p:nvPr/>
        </p:nvSpPr>
        <p:spPr>
          <a:xfrm>
            <a:off x="0" y="0"/>
            <a:ext cx="9144000" cy="29170"/>
          </a:xfrm>
          <a:prstGeom prst="rect">
            <a:avLst/>
          </a:prstGeom>
          <a:gradFill rotWithShape="1">
            <a:gsLst>
              <a:gs pos="0">
                <a:srgbClr val="FAB753"/>
              </a:gs>
              <a:gs pos="50000">
                <a:srgbClr val="F5C97A"/>
              </a:gs>
              <a:gs pos="100000">
                <a:srgbClr val="FAB753"/>
              </a:gs>
            </a:gsLst>
            <a:lin ang="0" scaled="1"/>
          </a:gradFill>
          <a:ln/>
        </p:spPr>
        <p:txBody>
          <a:bodyPr wrap="none" rtlCol="0" anchor="t"/>
          <a:lstStyle/>
          <a:p>
            <a:pPr marL="0" indent="0">
              <a:buNone/>
            </a:pPr>
            <a:endParaRPr lang="en-US" dirty="0"/>
          </a:p>
        </p:txBody>
      </p:sp>
      <p:sp>
        <p:nvSpPr>
          <p:cNvPr id="4" name="Text 2"/>
          <p:cNvSpPr/>
          <p:nvPr/>
        </p:nvSpPr>
        <p:spPr>
          <a:xfrm>
            <a:off x="230314" y="242441"/>
            <a:ext cx="8683371" cy="278904"/>
          </a:xfrm>
          <a:prstGeom prst="rect">
            <a:avLst/>
          </a:prstGeom>
          <a:noFill/>
          <a:ln/>
        </p:spPr>
        <p:txBody>
          <a:bodyPr wrap="none" lIns="0" tIns="0" rIns="0" bIns="0" rtlCol="0" anchor="t"/>
          <a:lstStyle/>
          <a:p>
            <a:pPr marL="0" indent="0" algn="ctr">
              <a:lnSpc>
                <a:spcPts val="2197"/>
              </a:lnSpc>
              <a:spcAft>
                <a:spcPts val="340"/>
              </a:spcAft>
              <a:buNone/>
            </a:pPr>
            <a:r>
              <a:rPr lang="en-US" sz="1910" b="1" kern="0" spc="20" dirty="0">
                <a:solidFill>
                  <a:srgbClr val="FFFFFF"/>
                </a:solidFill>
                <a:latin typeface="Calibri Light" pitchFamily="34" charset="0"/>
                <a:ea typeface="Calibri Light" pitchFamily="34" charset="-122"/>
                <a:cs typeface="Calibri Light" pitchFamily="34" charset="-120"/>
              </a:rPr>
              <a:t>Scheduling for Success — Key Takeaways</a:t>
            </a:r>
            <a:endParaRPr lang="en-US" sz="1910" dirty="0"/>
          </a:p>
        </p:txBody>
      </p:sp>
      <p:sp>
        <p:nvSpPr>
          <p:cNvPr id="5" name="Text 3"/>
          <p:cNvSpPr/>
          <p:nvPr/>
        </p:nvSpPr>
        <p:spPr>
          <a:xfrm>
            <a:off x="4314825" y="578495"/>
            <a:ext cx="514350" cy="21580"/>
          </a:xfrm>
          <a:prstGeom prst="roundRect">
            <a:avLst>
              <a:gd name="adj" fmla="val 64736"/>
            </a:avLst>
          </a:prstGeom>
          <a:solidFill>
            <a:srgbClr val="FAB753"/>
          </a:solidFill>
          <a:ln/>
        </p:spPr>
        <p:txBody>
          <a:bodyPr wrap="none" rtlCol="0" anchor="t"/>
          <a:lstStyle/>
          <a:p>
            <a:pPr marL="0" indent="0">
              <a:buNone/>
            </a:pPr>
            <a:endParaRPr lang="en-US" dirty="0"/>
          </a:p>
        </p:txBody>
      </p:sp>
      <p:sp>
        <p:nvSpPr>
          <p:cNvPr id="6" name="Text 4"/>
          <p:cNvSpPr/>
          <p:nvPr/>
        </p:nvSpPr>
        <p:spPr>
          <a:xfrm>
            <a:off x="108585" y="657225"/>
            <a:ext cx="8926830" cy="159990"/>
          </a:xfrm>
          <a:prstGeom prst="rect">
            <a:avLst/>
          </a:prstGeom>
          <a:noFill/>
          <a:ln/>
        </p:spPr>
        <p:txBody>
          <a:bodyPr wrap="none" lIns="0" tIns="0" rIns="0" bIns="0" rtlCol="0" anchor="t"/>
          <a:lstStyle/>
          <a:p>
            <a:pPr marL="0" indent="0" algn="ctr">
              <a:lnSpc>
                <a:spcPts val="1260"/>
              </a:lnSpc>
              <a:buNone/>
            </a:pPr>
            <a:r>
              <a:rPr lang="en-US" sz="840" b="1" kern="0" spc="90" dirty="0">
                <a:solidFill>
                  <a:srgbClr val="FAB753"/>
                </a:solidFill>
                <a:latin typeface="Calibri" pitchFamily="34" charset="0"/>
                <a:ea typeface="Calibri" pitchFamily="34" charset="-122"/>
                <a:cs typeface="Calibri" pitchFamily="34" charset="-120"/>
              </a:rPr>
              <a:t>WHAT TO CARRY OUT OF THIS ROOM TODAY</a:t>
            </a:r>
            <a:endParaRPr lang="en-US" sz="840" dirty="0"/>
          </a:p>
        </p:txBody>
      </p:sp>
      <p:sp>
        <p:nvSpPr>
          <p:cNvPr id="7" name="Text 5"/>
          <p:cNvSpPr/>
          <p:nvPr/>
        </p:nvSpPr>
        <p:spPr>
          <a:xfrm>
            <a:off x="514350" y="945356"/>
            <a:ext cx="2652564" cy="715714"/>
          </a:xfrm>
          <a:prstGeom prst="roundRect">
            <a:avLst>
              <a:gd name="adj" fmla="val 6033"/>
            </a:avLst>
          </a:prstGeom>
          <a:solidFill>
            <a:srgbClr val="FFFFFF">
              <a:alpha val="7000"/>
            </a:srgbClr>
          </a:solidFill>
          <a:ln/>
        </p:spPr>
        <p:txBody>
          <a:bodyPr wrap="square" rtlCol="0" anchor="t"/>
          <a:lstStyle/>
          <a:p>
            <a:pPr marL="0" indent="0">
              <a:buNone/>
            </a:pPr>
            <a:endParaRPr lang="en-US" dirty="0"/>
          </a:p>
        </p:txBody>
      </p:sp>
      <p:sp>
        <p:nvSpPr>
          <p:cNvPr id="8" name="Text 6"/>
          <p:cNvSpPr/>
          <p:nvPr/>
        </p:nvSpPr>
        <p:spPr>
          <a:xfrm>
            <a:off x="514350" y="945356"/>
            <a:ext cx="19050" cy="715714"/>
          </a:xfrm>
          <a:custGeom>
            <a:avLst/>
            <a:gdLst/>
            <a:ahLst/>
            <a:cxnLst/>
            <a:rect l="l" t="t" r="r" b="b"/>
            <a:pathLst>
              <a:path w="19050" h="715714">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708343"/>
                </a:lnTo>
                <a:lnTo>
                  <a:pt x="16669" y="706618"/>
                </a:lnTo>
                <a:lnTo>
                  <a:pt x="14288" y="704624"/>
                </a:lnTo>
                <a:lnTo>
                  <a:pt x="11906" y="702308"/>
                </a:lnTo>
                <a:lnTo>
                  <a:pt x="9525" y="699587"/>
                </a:lnTo>
                <a:lnTo>
                  <a:pt x="7144" y="696323"/>
                </a:lnTo>
                <a:lnTo>
                  <a:pt x="4763" y="692248"/>
                </a:lnTo>
                <a:lnTo>
                  <a:pt x="2381" y="686676"/>
                </a:lnTo>
                <a:lnTo>
                  <a:pt x="0" y="672534"/>
                </a:lnTo>
                <a:close/>
              </a:path>
            </a:pathLst>
          </a:custGeom>
          <a:solidFill>
            <a:srgbClr val="FAB753"/>
          </a:solidFill>
          <a:ln/>
        </p:spPr>
        <p:txBody>
          <a:bodyPr wrap="square" rtlCol="0" anchor="t"/>
          <a:lstStyle/>
          <a:p>
            <a:pPr marL="0" indent="0">
              <a:buNone/>
            </a:pPr>
            <a:endParaRPr lang="en-US" dirty="0"/>
          </a:p>
        </p:txBody>
      </p:sp>
      <p:sp>
        <p:nvSpPr>
          <p:cNvPr id="9" name="Text 7"/>
          <p:cNvSpPr/>
          <p:nvPr/>
        </p:nvSpPr>
        <p:spPr>
          <a:xfrm>
            <a:off x="639961" y="1055043"/>
            <a:ext cx="200620" cy="200620"/>
          </a:xfrm>
          <a:prstGeom prst="ellipse">
            <a:avLst/>
          </a:prstGeom>
          <a:solidFill>
            <a:srgbClr val="FAB753"/>
          </a:solidFill>
          <a:ln/>
        </p:spPr>
        <p:txBody>
          <a:bodyPr wrap="none" rtlCol="0" anchor="t"/>
          <a:lstStyle/>
          <a:p>
            <a:pPr marL="0" indent="0">
              <a:buNone/>
            </a:pPr>
            <a:endParaRPr lang="en-US"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3977" y="1089059"/>
            <a:ext cx="132588" cy="132588"/>
          </a:xfrm>
          <a:prstGeom prst="rect">
            <a:avLst/>
          </a:prstGeom>
        </p:spPr>
      </p:pic>
      <p:sp>
        <p:nvSpPr>
          <p:cNvPr id="11" name="Text 8"/>
          <p:cNvSpPr/>
          <p:nvPr/>
        </p:nvSpPr>
        <p:spPr>
          <a:xfrm>
            <a:off x="919311" y="1047452"/>
            <a:ext cx="2344668" cy="120700"/>
          </a:xfrm>
          <a:prstGeom prst="rect">
            <a:avLst/>
          </a:prstGeom>
          <a:noFill/>
          <a:ln/>
        </p:spPr>
        <p:txBody>
          <a:bodyPr wrap="none" lIns="0" tIns="0" rIns="0" bIns="0" rtlCol="0" anchor="t"/>
          <a:lstStyle/>
          <a:p>
            <a:pPr marL="0" indent="0" algn="l">
              <a:lnSpc>
                <a:spcPts val="950"/>
              </a:lnSpc>
              <a:spcAft>
                <a:spcPts val="170"/>
              </a:spcAft>
              <a:buNone/>
            </a:pPr>
            <a:r>
              <a:rPr lang="en-US" sz="760" b="1" dirty="0">
                <a:solidFill>
                  <a:srgbClr val="FFFFFF"/>
                </a:solidFill>
                <a:latin typeface="Calibri" pitchFamily="34" charset="0"/>
                <a:ea typeface="Calibri" pitchFamily="34" charset="-122"/>
                <a:cs typeface="Calibri" pitchFamily="34" charset="-120"/>
              </a:rPr>
              <a:t>The budget is the mission.</a:t>
            </a:r>
            <a:endParaRPr lang="en-US" sz="760" dirty="0"/>
          </a:p>
        </p:txBody>
      </p:sp>
      <p:sp>
        <p:nvSpPr>
          <p:cNvPr id="12" name="Text 9"/>
          <p:cNvSpPr/>
          <p:nvPr/>
        </p:nvSpPr>
        <p:spPr>
          <a:xfrm>
            <a:off x="919311" y="1189732"/>
            <a:ext cx="2174147" cy="394268"/>
          </a:xfrm>
          <a:prstGeom prst="rect">
            <a:avLst/>
          </a:prstGeom>
          <a:noFill/>
          <a:ln/>
        </p:spPr>
        <p:txBody>
          <a:bodyPr wrap="square" lIns="0" tIns="0" rIns="0" bIns="0" rtlCol="0" anchor="t"/>
          <a:lstStyle/>
          <a:p>
            <a:pPr marL="0" indent="0" algn="l">
              <a:lnSpc>
                <a:spcPts val="986"/>
              </a:lnSpc>
              <a:buNone/>
            </a:pPr>
            <a:r>
              <a:rPr lang="en-US" sz="680" dirty="0">
                <a:solidFill>
                  <a:srgbClr val="FFFFFF">
                    <a:alpha val="82000"/>
                  </a:srgbClr>
                </a:solidFill>
                <a:latin typeface="Calibri" pitchFamily="34" charset="0"/>
                <a:ea typeface="Calibri" pitchFamily="34" charset="-122"/>
                <a:cs typeface="Calibri" pitchFamily="34" charset="-120"/>
              </a:rPr>
              <a:t>No margin, no mission. Understanding how your productivity connects to Centerstone's sustainability changes how you think about your target.</a:t>
            </a:r>
            <a:endParaRPr lang="en-US" sz="680" dirty="0"/>
          </a:p>
        </p:txBody>
      </p:sp>
      <p:sp>
        <p:nvSpPr>
          <p:cNvPr id="13" name="Text 10"/>
          <p:cNvSpPr/>
          <p:nvPr/>
        </p:nvSpPr>
        <p:spPr>
          <a:xfrm>
            <a:off x="3245644" y="945356"/>
            <a:ext cx="2652564" cy="715714"/>
          </a:xfrm>
          <a:prstGeom prst="roundRect">
            <a:avLst>
              <a:gd name="adj" fmla="val 6033"/>
            </a:avLst>
          </a:prstGeom>
          <a:solidFill>
            <a:srgbClr val="FFFFFF">
              <a:alpha val="7000"/>
            </a:srgbClr>
          </a:solidFill>
          <a:ln/>
        </p:spPr>
        <p:txBody>
          <a:bodyPr wrap="square" rtlCol="0" anchor="t"/>
          <a:lstStyle/>
          <a:p>
            <a:pPr marL="0" indent="0">
              <a:buNone/>
            </a:pPr>
            <a:endParaRPr lang="en-US" dirty="0"/>
          </a:p>
        </p:txBody>
      </p:sp>
      <p:sp>
        <p:nvSpPr>
          <p:cNvPr id="14" name="Text 11"/>
          <p:cNvSpPr/>
          <p:nvPr/>
        </p:nvSpPr>
        <p:spPr>
          <a:xfrm>
            <a:off x="3245644" y="945356"/>
            <a:ext cx="19050" cy="715714"/>
          </a:xfrm>
          <a:custGeom>
            <a:avLst/>
            <a:gdLst/>
            <a:ahLst/>
            <a:cxnLst/>
            <a:rect l="l" t="t" r="r" b="b"/>
            <a:pathLst>
              <a:path w="19050" h="715714">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708343"/>
                </a:lnTo>
                <a:lnTo>
                  <a:pt x="16669" y="706618"/>
                </a:lnTo>
                <a:lnTo>
                  <a:pt x="14288" y="704624"/>
                </a:lnTo>
                <a:lnTo>
                  <a:pt x="11906" y="702308"/>
                </a:lnTo>
                <a:lnTo>
                  <a:pt x="9525" y="699587"/>
                </a:lnTo>
                <a:lnTo>
                  <a:pt x="7144" y="696323"/>
                </a:lnTo>
                <a:lnTo>
                  <a:pt x="4763" y="692248"/>
                </a:lnTo>
                <a:lnTo>
                  <a:pt x="2381" y="686676"/>
                </a:lnTo>
                <a:lnTo>
                  <a:pt x="0" y="672534"/>
                </a:lnTo>
                <a:close/>
              </a:path>
            </a:pathLst>
          </a:custGeom>
          <a:solidFill>
            <a:srgbClr val="FAB753"/>
          </a:solidFill>
          <a:ln/>
        </p:spPr>
        <p:txBody>
          <a:bodyPr wrap="square" rtlCol="0" anchor="t"/>
          <a:lstStyle/>
          <a:p>
            <a:pPr marL="0" indent="0">
              <a:buNone/>
            </a:pPr>
            <a:endParaRPr lang="en-US" dirty="0"/>
          </a:p>
        </p:txBody>
      </p:sp>
      <p:sp>
        <p:nvSpPr>
          <p:cNvPr id="15" name="Text 12"/>
          <p:cNvSpPr/>
          <p:nvPr/>
        </p:nvSpPr>
        <p:spPr>
          <a:xfrm>
            <a:off x="3371255" y="1055043"/>
            <a:ext cx="200620" cy="200620"/>
          </a:xfrm>
          <a:prstGeom prst="ellipse">
            <a:avLst/>
          </a:prstGeom>
          <a:solidFill>
            <a:srgbClr val="FAB753"/>
          </a:solidFill>
          <a:ln/>
        </p:spPr>
        <p:txBody>
          <a:bodyPr wrap="none" rtlCol="0" anchor="t"/>
          <a:lstStyle/>
          <a:p>
            <a:pPr marL="0" indent="0">
              <a:buNone/>
            </a:pPr>
            <a:endParaRPr lang="en-US"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05271" y="1089059"/>
            <a:ext cx="132588" cy="132588"/>
          </a:xfrm>
          <a:prstGeom prst="rect">
            <a:avLst/>
          </a:prstGeom>
        </p:spPr>
      </p:pic>
      <p:sp>
        <p:nvSpPr>
          <p:cNvPr id="17" name="Text 13"/>
          <p:cNvSpPr/>
          <p:nvPr/>
        </p:nvSpPr>
        <p:spPr>
          <a:xfrm>
            <a:off x="3650605" y="1047452"/>
            <a:ext cx="2344668" cy="120700"/>
          </a:xfrm>
          <a:prstGeom prst="rect">
            <a:avLst/>
          </a:prstGeom>
          <a:noFill/>
          <a:ln/>
        </p:spPr>
        <p:txBody>
          <a:bodyPr wrap="none" lIns="0" tIns="0" rIns="0" bIns="0" rtlCol="0" anchor="t"/>
          <a:lstStyle/>
          <a:p>
            <a:pPr marL="0" indent="0" algn="l">
              <a:lnSpc>
                <a:spcPts val="950"/>
              </a:lnSpc>
              <a:spcAft>
                <a:spcPts val="170"/>
              </a:spcAft>
              <a:buNone/>
            </a:pPr>
            <a:r>
              <a:rPr lang="en-US" sz="760" b="1" dirty="0">
                <a:solidFill>
                  <a:srgbClr val="FFFFFF"/>
                </a:solidFill>
                <a:latin typeface="Calibri" pitchFamily="34" charset="0"/>
                <a:ea typeface="Calibri" pitchFamily="34" charset="-122"/>
                <a:cs typeface="Calibri" pitchFamily="34" charset="-120"/>
              </a:rPr>
              <a:t>Work-life balance is not optional.</a:t>
            </a:r>
            <a:endParaRPr lang="en-US" sz="760" dirty="0"/>
          </a:p>
        </p:txBody>
      </p:sp>
      <p:sp>
        <p:nvSpPr>
          <p:cNvPr id="18" name="Text 14"/>
          <p:cNvSpPr/>
          <p:nvPr/>
        </p:nvSpPr>
        <p:spPr>
          <a:xfrm>
            <a:off x="3650605" y="1189732"/>
            <a:ext cx="2174147" cy="394268"/>
          </a:xfrm>
          <a:prstGeom prst="rect">
            <a:avLst/>
          </a:prstGeom>
          <a:noFill/>
          <a:ln/>
        </p:spPr>
        <p:txBody>
          <a:bodyPr wrap="square" lIns="0" tIns="0" rIns="0" bIns="0" rtlCol="0" anchor="t"/>
          <a:lstStyle/>
          <a:p>
            <a:pPr marL="0" indent="0" algn="l">
              <a:lnSpc>
                <a:spcPts val="986"/>
              </a:lnSpc>
              <a:buNone/>
            </a:pPr>
            <a:r>
              <a:rPr lang="en-US" sz="680" dirty="0">
                <a:solidFill>
                  <a:srgbClr val="FFFFFF">
                    <a:alpha val="82000"/>
                  </a:srgbClr>
                </a:solidFill>
                <a:latin typeface="Calibri" pitchFamily="34" charset="0"/>
                <a:ea typeface="Calibri" pitchFamily="34" charset="-122"/>
                <a:cs typeface="Calibri" pitchFamily="34" charset="-120"/>
              </a:rPr>
              <a:t>Protect your time early. Early boundary setting is a research-backed protective factor against burnout — for you and your clients.</a:t>
            </a:r>
            <a:endParaRPr lang="en-US" sz="680" dirty="0"/>
          </a:p>
        </p:txBody>
      </p:sp>
      <p:sp>
        <p:nvSpPr>
          <p:cNvPr id="19" name="Text 15"/>
          <p:cNvSpPr/>
          <p:nvPr/>
        </p:nvSpPr>
        <p:spPr>
          <a:xfrm>
            <a:off x="5976938" y="945356"/>
            <a:ext cx="2652713" cy="715714"/>
          </a:xfrm>
          <a:prstGeom prst="roundRect">
            <a:avLst>
              <a:gd name="adj" fmla="val 6033"/>
            </a:avLst>
          </a:prstGeom>
          <a:solidFill>
            <a:srgbClr val="FFFFFF">
              <a:alpha val="7000"/>
            </a:srgbClr>
          </a:solidFill>
          <a:ln/>
        </p:spPr>
        <p:txBody>
          <a:bodyPr wrap="square" rtlCol="0" anchor="t"/>
          <a:lstStyle/>
          <a:p>
            <a:pPr marL="0" indent="0">
              <a:buNone/>
            </a:pPr>
            <a:endParaRPr lang="en-US" dirty="0"/>
          </a:p>
        </p:txBody>
      </p:sp>
      <p:sp>
        <p:nvSpPr>
          <p:cNvPr id="20" name="Text 16"/>
          <p:cNvSpPr/>
          <p:nvPr/>
        </p:nvSpPr>
        <p:spPr>
          <a:xfrm>
            <a:off x="5976938" y="945356"/>
            <a:ext cx="19050" cy="715714"/>
          </a:xfrm>
          <a:custGeom>
            <a:avLst/>
            <a:gdLst/>
            <a:ahLst/>
            <a:cxnLst/>
            <a:rect l="l" t="t" r="r" b="b"/>
            <a:pathLst>
              <a:path w="19050" h="715714">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708343"/>
                </a:lnTo>
                <a:lnTo>
                  <a:pt x="16669" y="706618"/>
                </a:lnTo>
                <a:lnTo>
                  <a:pt x="14288" y="704624"/>
                </a:lnTo>
                <a:lnTo>
                  <a:pt x="11906" y="702308"/>
                </a:lnTo>
                <a:lnTo>
                  <a:pt x="9525" y="699587"/>
                </a:lnTo>
                <a:lnTo>
                  <a:pt x="7144" y="696323"/>
                </a:lnTo>
                <a:lnTo>
                  <a:pt x="4763" y="692248"/>
                </a:lnTo>
                <a:lnTo>
                  <a:pt x="2381" y="686676"/>
                </a:lnTo>
                <a:lnTo>
                  <a:pt x="0" y="672534"/>
                </a:lnTo>
                <a:close/>
              </a:path>
            </a:pathLst>
          </a:custGeom>
          <a:solidFill>
            <a:srgbClr val="FAB753"/>
          </a:solidFill>
          <a:ln/>
        </p:spPr>
        <p:txBody>
          <a:bodyPr wrap="square" rtlCol="0" anchor="t"/>
          <a:lstStyle/>
          <a:p>
            <a:pPr marL="0" indent="0">
              <a:buNone/>
            </a:pPr>
            <a:endParaRPr lang="en-US" dirty="0"/>
          </a:p>
        </p:txBody>
      </p:sp>
      <p:sp>
        <p:nvSpPr>
          <p:cNvPr id="21" name="Text 17"/>
          <p:cNvSpPr/>
          <p:nvPr/>
        </p:nvSpPr>
        <p:spPr>
          <a:xfrm>
            <a:off x="6102548" y="1055043"/>
            <a:ext cx="200620" cy="200620"/>
          </a:xfrm>
          <a:prstGeom prst="ellipse">
            <a:avLst/>
          </a:prstGeom>
          <a:solidFill>
            <a:srgbClr val="FAB753"/>
          </a:solidFill>
          <a:ln/>
        </p:spPr>
        <p:txBody>
          <a:bodyPr wrap="none" rtlCol="0" anchor="t"/>
          <a:lstStyle/>
          <a:p>
            <a:pPr marL="0" indent="0">
              <a:buNone/>
            </a:pPr>
            <a:endParaRPr lang="en-US"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36565" y="1089059"/>
            <a:ext cx="132588" cy="132588"/>
          </a:xfrm>
          <a:prstGeom prst="rect">
            <a:avLst/>
          </a:prstGeom>
        </p:spPr>
      </p:pic>
      <p:sp>
        <p:nvSpPr>
          <p:cNvPr id="23" name="Text 18"/>
          <p:cNvSpPr/>
          <p:nvPr/>
        </p:nvSpPr>
        <p:spPr>
          <a:xfrm>
            <a:off x="6381899" y="1047452"/>
            <a:ext cx="2344832" cy="120700"/>
          </a:xfrm>
          <a:prstGeom prst="rect">
            <a:avLst/>
          </a:prstGeom>
          <a:noFill/>
          <a:ln/>
        </p:spPr>
        <p:txBody>
          <a:bodyPr wrap="none" lIns="0" tIns="0" rIns="0" bIns="0" rtlCol="0" anchor="t"/>
          <a:lstStyle/>
          <a:p>
            <a:pPr marL="0" indent="0" algn="l">
              <a:lnSpc>
                <a:spcPts val="950"/>
              </a:lnSpc>
              <a:spcAft>
                <a:spcPts val="170"/>
              </a:spcAft>
              <a:buNone/>
            </a:pPr>
            <a:r>
              <a:rPr lang="en-US" sz="760" b="1" dirty="0">
                <a:solidFill>
                  <a:srgbClr val="FFFFFF"/>
                </a:solidFill>
                <a:latin typeface="Calibri" pitchFamily="34" charset="0"/>
                <a:ea typeface="Calibri" pitchFamily="34" charset="-122"/>
                <a:cs typeface="Calibri" pitchFamily="34" charset="-120"/>
              </a:rPr>
              <a:t>Documentation belongs in the session.</a:t>
            </a:r>
            <a:endParaRPr lang="en-US" sz="760" dirty="0"/>
          </a:p>
        </p:txBody>
      </p:sp>
      <p:sp>
        <p:nvSpPr>
          <p:cNvPr id="24" name="Text 19"/>
          <p:cNvSpPr/>
          <p:nvPr/>
        </p:nvSpPr>
        <p:spPr>
          <a:xfrm>
            <a:off x="6381899" y="1189732"/>
            <a:ext cx="2174299" cy="394268"/>
          </a:xfrm>
          <a:prstGeom prst="rect">
            <a:avLst/>
          </a:prstGeom>
          <a:noFill/>
          <a:ln/>
        </p:spPr>
        <p:txBody>
          <a:bodyPr wrap="square" lIns="0" tIns="0" rIns="0" bIns="0" rtlCol="0" anchor="t"/>
          <a:lstStyle/>
          <a:p>
            <a:pPr marL="0" indent="0" algn="l">
              <a:lnSpc>
                <a:spcPts val="986"/>
              </a:lnSpc>
              <a:buNone/>
            </a:pPr>
            <a:r>
              <a:rPr lang="en-US" sz="680" dirty="0">
                <a:solidFill>
                  <a:srgbClr val="FFFFFF">
                    <a:alpha val="82000"/>
                  </a:srgbClr>
                </a:solidFill>
                <a:latin typeface="Calibri" pitchFamily="34" charset="0"/>
                <a:ea typeface="Calibri" pitchFamily="34" charset="-122"/>
                <a:cs typeface="Calibri" pitchFamily="34" charset="-120"/>
              </a:rPr>
              <a:t>Eleos and collaborative documentation are not shortcuts. They are evidence-based practice that keeps your day clean and your clients engaged.</a:t>
            </a:r>
            <a:endParaRPr lang="en-US" sz="680" dirty="0"/>
          </a:p>
        </p:txBody>
      </p:sp>
      <p:sp>
        <p:nvSpPr>
          <p:cNvPr id="25" name="Text 20"/>
          <p:cNvSpPr/>
          <p:nvPr/>
        </p:nvSpPr>
        <p:spPr>
          <a:xfrm>
            <a:off x="514350" y="1739801"/>
            <a:ext cx="2652564" cy="590550"/>
          </a:xfrm>
          <a:prstGeom prst="roundRect">
            <a:avLst>
              <a:gd name="adj" fmla="val 7312"/>
            </a:avLst>
          </a:prstGeom>
          <a:solidFill>
            <a:srgbClr val="FFFFFF">
              <a:alpha val="7000"/>
            </a:srgbClr>
          </a:solidFill>
          <a:ln/>
        </p:spPr>
        <p:txBody>
          <a:bodyPr wrap="square" rtlCol="0" anchor="t"/>
          <a:lstStyle/>
          <a:p>
            <a:pPr marL="0" indent="0">
              <a:buNone/>
            </a:pPr>
            <a:endParaRPr lang="en-US" dirty="0"/>
          </a:p>
        </p:txBody>
      </p:sp>
      <p:sp>
        <p:nvSpPr>
          <p:cNvPr id="26" name="Text 21"/>
          <p:cNvSpPr/>
          <p:nvPr/>
        </p:nvSpPr>
        <p:spPr>
          <a:xfrm>
            <a:off x="514350" y="1739801"/>
            <a:ext cx="19050" cy="590550"/>
          </a:xfrm>
          <a:custGeom>
            <a:avLst/>
            <a:gdLst/>
            <a:ahLst/>
            <a:cxnLst/>
            <a:rect l="l" t="t" r="r" b="b"/>
            <a:pathLst>
              <a:path w="19050" h="590550">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583179"/>
                </a:lnTo>
                <a:lnTo>
                  <a:pt x="16669" y="581453"/>
                </a:lnTo>
                <a:lnTo>
                  <a:pt x="14288" y="579460"/>
                </a:lnTo>
                <a:lnTo>
                  <a:pt x="11906" y="577144"/>
                </a:lnTo>
                <a:lnTo>
                  <a:pt x="9525" y="574423"/>
                </a:lnTo>
                <a:lnTo>
                  <a:pt x="7144" y="571159"/>
                </a:lnTo>
                <a:lnTo>
                  <a:pt x="4763" y="567083"/>
                </a:lnTo>
                <a:lnTo>
                  <a:pt x="2381" y="561511"/>
                </a:lnTo>
                <a:lnTo>
                  <a:pt x="0" y="547370"/>
                </a:lnTo>
                <a:close/>
              </a:path>
            </a:pathLst>
          </a:custGeom>
          <a:solidFill>
            <a:srgbClr val="FAB753"/>
          </a:solidFill>
          <a:ln/>
        </p:spPr>
        <p:txBody>
          <a:bodyPr wrap="square" rtlCol="0" anchor="t"/>
          <a:lstStyle/>
          <a:p>
            <a:pPr marL="0" indent="0">
              <a:buNone/>
            </a:pPr>
            <a:endParaRPr lang="en-US" dirty="0"/>
          </a:p>
        </p:txBody>
      </p:sp>
      <p:sp>
        <p:nvSpPr>
          <p:cNvPr id="27" name="Text 22"/>
          <p:cNvSpPr/>
          <p:nvPr/>
        </p:nvSpPr>
        <p:spPr>
          <a:xfrm>
            <a:off x="639961" y="1849487"/>
            <a:ext cx="200620" cy="200620"/>
          </a:xfrm>
          <a:prstGeom prst="ellipse">
            <a:avLst/>
          </a:prstGeom>
          <a:solidFill>
            <a:srgbClr val="FAB753"/>
          </a:solidFill>
          <a:ln/>
        </p:spPr>
        <p:txBody>
          <a:bodyPr wrap="none" rtlCol="0" anchor="t"/>
          <a:lstStyle/>
          <a:p>
            <a:pPr marL="0" indent="0">
              <a:buNone/>
            </a:pPr>
            <a:endParaRPr lang="en-US" dirty="0"/>
          </a:p>
        </p:txBody>
      </p:sp>
      <p:pic>
        <p:nvPicPr>
          <p:cNvPr id="2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3977" y="1883503"/>
            <a:ext cx="132588" cy="132588"/>
          </a:xfrm>
          <a:prstGeom prst="rect">
            <a:avLst/>
          </a:prstGeom>
        </p:spPr>
      </p:pic>
      <p:sp>
        <p:nvSpPr>
          <p:cNvPr id="29" name="Text 23"/>
          <p:cNvSpPr/>
          <p:nvPr/>
        </p:nvSpPr>
        <p:spPr>
          <a:xfrm>
            <a:off x="919311" y="1841897"/>
            <a:ext cx="2344668" cy="120700"/>
          </a:xfrm>
          <a:prstGeom prst="rect">
            <a:avLst/>
          </a:prstGeom>
          <a:noFill/>
          <a:ln/>
        </p:spPr>
        <p:txBody>
          <a:bodyPr wrap="none" lIns="0" tIns="0" rIns="0" bIns="0" rtlCol="0" anchor="t"/>
          <a:lstStyle/>
          <a:p>
            <a:pPr marL="0" indent="0" algn="l">
              <a:lnSpc>
                <a:spcPts val="950"/>
              </a:lnSpc>
              <a:spcAft>
                <a:spcPts val="170"/>
              </a:spcAft>
              <a:buNone/>
            </a:pPr>
            <a:r>
              <a:rPr lang="en-US" sz="760" b="1" dirty="0">
                <a:solidFill>
                  <a:srgbClr val="FFFFFF"/>
                </a:solidFill>
                <a:latin typeface="Calibri" pitchFamily="34" charset="0"/>
                <a:ea typeface="Calibri" pitchFamily="34" charset="-122"/>
                <a:cs typeface="Calibri" pitchFamily="34" charset="-120"/>
              </a:rPr>
              <a:t>A full schedule starts before the week does.</a:t>
            </a:r>
            <a:endParaRPr lang="en-US" sz="760" dirty="0"/>
          </a:p>
        </p:txBody>
      </p:sp>
      <p:sp>
        <p:nvSpPr>
          <p:cNvPr id="30" name="Text 24"/>
          <p:cNvSpPr/>
          <p:nvPr/>
        </p:nvSpPr>
        <p:spPr>
          <a:xfrm>
            <a:off x="919311" y="1984177"/>
            <a:ext cx="2174147" cy="262845"/>
          </a:xfrm>
          <a:prstGeom prst="rect">
            <a:avLst/>
          </a:prstGeom>
          <a:noFill/>
          <a:ln/>
        </p:spPr>
        <p:txBody>
          <a:bodyPr wrap="square" lIns="0" tIns="0" rIns="0" bIns="0" rtlCol="0" anchor="t"/>
          <a:lstStyle/>
          <a:p>
            <a:pPr marL="0" indent="0" algn="l">
              <a:lnSpc>
                <a:spcPts val="986"/>
              </a:lnSpc>
              <a:buNone/>
            </a:pPr>
            <a:r>
              <a:rPr lang="en-US" sz="680" dirty="0">
                <a:solidFill>
                  <a:srgbClr val="FFFFFF">
                    <a:alpha val="82000"/>
                  </a:srgbClr>
                </a:solidFill>
                <a:latin typeface="Calibri" pitchFamily="34" charset="0"/>
                <a:ea typeface="Calibri" pitchFamily="34" charset="-122"/>
                <a:cs typeface="Calibri" pitchFamily="34" charset="-120"/>
              </a:rPr>
              <a:t>Enter every week scheduled. Your team lead can help you problem-solve when there is still time to fix it.</a:t>
            </a:r>
            <a:endParaRPr lang="en-US" sz="680" dirty="0"/>
          </a:p>
        </p:txBody>
      </p:sp>
      <p:sp>
        <p:nvSpPr>
          <p:cNvPr id="31" name="Text 25"/>
          <p:cNvSpPr/>
          <p:nvPr/>
        </p:nvSpPr>
        <p:spPr>
          <a:xfrm>
            <a:off x="3245644" y="1739801"/>
            <a:ext cx="2652564" cy="590550"/>
          </a:xfrm>
          <a:prstGeom prst="roundRect">
            <a:avLst>
              <a:gd name="adj" fmla="val 7312"/>
            </a:avLst>
          </a:prstGeom>
          <a:solidFill>
            <a:srgbClr val="FFFFFF">
              <a:alpha val="7000"/>
            </a:srgbClr>
          </a:solidFill>
          <a:ln/>
        </p:spPr>
        <p:txBody>
          <a:bodyPr wrap="square" rtlCol="0" anchor="t"/>
          <a:lstStyle/>
          <a:p>
            <a:pPr marL="0" indent="0">
              <a:buNone/>
            </a:pPr>
            <a:endParaRPr lang="en-US" dirty="0"/>
          </a:p>
        </p:txBody>
      </p:sp>
      <p:sp>
        <p:nvSpPr>
          <p:cNvPr id="32" name="Text 26"/>
          <p:cNvSpPr/>
          <p:nvPr/>
        </p:nvSpPr>
        <p:spPr>
          <a:xfrm>
            <a:off x="3245644" y="1739801"/>
            <a:ext cx="19050" cy="590550"/>
          </a:xfrm>
          <a:custGeom>
            <a:avLst/>
            <a:gdLst/>
            <a:ahLst/>
            <a:cxnLst/>
            <a:rect l="l" t="t" r="r" b="b"/>
            <a:pathLst>
              <a:path w="19050" h="590550">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583179"/>
                </a:lnTo>
                <a:lnTo>
                  <a:pt x="16669" y="581453"/>
                </a:lnTo>
                <a:lnTo>
                  <a:pt x="14288" y="579460"/>
                </a:lnTo>
                <a:lnTo>
                  <a:pt x="11906" y="577144"/>
                </a:lnTo>
                <a:lnTo>
                  <a:pt x="9525" y="574423"/>
                </a:lnTo>
                <a:lnTo>
                  <a:pt x="7144" y="571159"/>
                </a:lnTo>
                <a:lnTo>
                  <a:pt x="4763" y="567083"/>
                </a:lnTo>
                <a:lnTo>
                  <a:pt x="2381" y="561511"/>
                </a:lnTo>
                <a:lnTo>
                  <a:pt x="0" y="547370"/>
                </a:lnTo>
                <a:close/>
              </a:path>
            </a:pathLst>
          </a:custGeom>
          <a:solidFill>
            <a:srgbClr val="FAB753"/>
          </a:solidFill>
          <a:ln/>
        </p:spPr>
        <p:txBody>
          <a:bodyPr wrap="square" rtlCol="0" anchor="t"/>
          <a:lstStyle/>
          <a:p>
            <a:pPr marL="0" indent="0">
              <a:buNone/>
            </a:pPr>
            <a:endParaRPr lang="en-US" dirty="0"/>
          </a:p>
        </p:txBody>
      </p:sp>
      <p:sp>
        <p:nvSpPr>
          <p:cNvPr id="33" name="Text 27"/>
          <p:cNvSpPr/>
          <p:nvPr/>
        </p:nvSpPr>
        <p:spPr>
          <a:xfrm>
            <a:off x="3371255" y="1849487"/>
            <a:ext cx="200620" cy="200620"/>
          </a:xfrm>
          <a:prstGeom prst="ellipse">
            <a:avLst/>
          </a:prstGeom>
          <a:solidFill>
            <a:srgbClr val="FAB753"/>
          </a:solidFill>
          <a:ln/>
        </p:spPr>
        <p:txBody>
          <a:bodyPr wrap="none" rtlCol="0" anchor="t"/>
          <a:lstStyle/>
          <a:p>
            <a:pPr marL="0" indent="0">
              <a:buNone/>
            </a:pPr>
            <a:endParaRPr lang="en-US" dirty="0"/>
          </a:p>
        </p:txBody>
      </p:sp>
      <p:pic>
        <p:nvPicPr>
          <p:cNvPr id="3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05271" y="1883503"/>
            <a:ext cx="132588" cy="132588"/>
          </a:xfrm>
          <a:prstGeom prst="rect">
            <a:avLst/>
          </a:prstGeom>
        </p:spPr>
      </p:pic>
      <p:sp>
        <p:nvSpPr>
          <p:cNvPr id="35" name="Text 28"/>
          <p:cNvSpPr/>
          <p:nvPr/>
        </p:nvSpPr>
        <p:spPr>
          <a:xfrm>
            <a:off x="3650605" y="1841897"/>
            <a:ext cx="2344668" cy="120700"/>
          </a:xfrm>
          <a:prstGeom prst="rect">
            <a:avLst/>
          </a:prstGeom>
          <a:noFill/>
          <a:ln/>
        </p:spPr>
        <p:txBody>
          <a:bodyPr wrap="none" lIns="0" tIns="0" rIns="0" bIns="0" rtlCol="0" anchor="t"/>
          <a:lstStyle/>
          <a:p>
            <a:pPr marL="0" indent="0" algn="l">
              <a:lnSpc>
                <a:spcPts val="950"/>
              </a:lnSpc>
              <a:spcAft>
                <a:spcPts val="170"/>
              </a:spcAft>
              <a:buNone/>
            </a:pPr>
            <a:r>
              <a:rPr lang="en-US" sz="760" b="1" dirty="0">
                <a:solidFill>
                  <a:srgbClr val="FFFFFF"/>
                </a:solidFill>
                <a:latin typeface="Calibri" pitchFamily="34" charset="0"/>
                <a:ea typeface="Calibri" pitchFamily="34" charset="-122"/>
                <a:cs typeface="Calibri" pitchFamily="34" charset="-120"/>
              </a:rPr>
              <a:t>Flexibility is part of the job.</a:t>
            </a:r>
            <a:endParaRPr lang="en-US" sz="760" dirty="0"/>
          </a:p>
        </p:txBody>
      </p:sp>
      <p:sp>
        <p:nvSpPr>
          <p:cNvPr id="36" name="Text 29"/>
          <p:cNvSpPr/>
          <p:nvPr/>
        </p:nvSpPr>
        <p:spPr>
          <a:xfrm>
            <a:off x="3650605" y="1984177"/>
            <a:ext cx="2174147" cy="262845"/>
          </a:xfrm>
          <a:prstGeom prst="rect">
            <a:avLst/>
          </a:prstGeom>
          <a:noFill/>
          <a:ln/>
        </p:spPr>
        <p:txBody>
          <a:bodyPr wrap="square" lIns="0" tIns="0" rIns="0" bIns="0" rtlCol="0" anchor="t"/>
          <a:lstStyle/>
          <a:p>
            <a:pPr marL="0" indent="0" algn="l">
              <a:lnSpc>
                <a:spcPts val="986"/>
              </a:lnSpc>
              <a:buNone/>
            </a:pPr>
            <a:r>
              <a:rPr lang="en-US" sz="680" dirty="0">
                <a:solidFill>
                  <a:srgbClr val="FFFFFF">
                    <a:alpha val="82000"/>
                  </a:srgbClr>
                </a:solidFill>
                <a:latin typeface="Calibri" pitchFamily="34" charset="0"/>
                <a:ea typeface="Calibri" pitchFamily="34" charset="-122"/>
                <a:cs typeface="Calibri" pitchFamily="34" charset="-120"/>
              </a:rPr>
              <a:t>School-based work moves. Build buffer. Drag and drop. Adjust without catastrophizing.</a:t>
            </a:r>
            <a:endParaRPr lang="en-US" sz="680" dirty="0"/>
          </a:p>
        </p:txBody>
      </p:sp>
      <p:sp>
        <p:nvSpPr>
          <p:cNvPr id="37" name="Text 30"/>
          <p:cNvSpPr/>
          <p:nvPr/>
        </p:nvSpPr>
        <p:spPr>
          <a:xfrm>
            <a:off x="5976938" y="1739801"/>
            <a:ext cx="2652713" cy="590550"/>
          </a:xfrm>
          <a:prstGeom prst="roundRect">
            <a:avLst>
              <a:gd name="adj" fmla="val 7312"/>
            </a:avLst>
          </a:prstGeom>
          <a:solidFill>
            <a:srgbClr val="FFFFFF">
              <a:alpha val="7000"/>
            </a:srgbClr>
          </a:solidFill>
          <a:ln/>
        </p:spPr>
        <p:txBody>
          <a:bodyPr wrap="square" rtlCol="0" anchor="t"/>
          <a:lstStyle/>
          <a:p>
            <a:pPr marL="0" indent="0">
              <a:buNone/>
            </a:pPr>
            <a:endParaRPr lang="en-US" dirty="0"/>
          </a:p>
        </p:txBody>
      </p:sp>
      <p:sp>
        <p:nvSpPr>
          <p:cNvPr id="38" name="Text 31"/>
          <p:cNvSpPr/>
          <p:nvPr/>
        </p:nvSpPr>
        <p:spPr>
          <a:xfrm>
            <a:off x="5976938" y="1739801"/>
            <a:ext cx="19050" cy="590550"/>
          </a:xfrm>
          <a:custGeom>
            <a:avLst/>
            <a:gdLst/>
            <a:ahLst/>
            <a:cxnLst/>
            <a:rect l="l" t="t" r="r" b="b"/>
            <a:pathLst>
              <a:path w="19050" h="590550">
                <a:moveTo>
                  <a:pt x="0" y="43180"/>
                </a:moveTo>
                <a:lnTo>
                  <a:pt x="2381" y="29039"/>
                </a:lnTo>
                <a:lnTo>
                  <a:pt x="4763" y="23467"/>
                </a:lnTo>
                <a:lnTo>
                  <a:pt x="7144" y="19391"/>
                </a:lnTo>
                <a:lnTo>
                  <a:pt x="9525" y="16127"/>
                </a:lnTo>
                <a:lnTo>
                  <a:pt x="11906" y="13406"/>
                </a:lnTo>
                <a:lnTo>
                  <a:pt x="14288" y="11090"/>
                </a:lnTo>
                <a:lnTo>
                  <a:pt x="16669" y="9097"/>
                </a:lnTo>
                <a:lnTo>
                  <a:pt x="19050" y="7371"/>
                </a:lnTo>
                <a:lnTo>
                  <a:pt x="19050" y="583179"/>
                </a:lnTo>
                <a:lnTo>
                  <a:pt x="16669" y="581453"/>
                </a:lnTo>
                <a:lnTo>
                  <a:pt x="14288" y="579460"/>
                </a:lnTo>
                <a:lnTo>
                  <a:pt x="11906" y="577144"/>
                </a:lnTo>
                <a:lnTo>
                  <a:pt x="9525" y="574423"/>
                </a:lnTo>
                <a:lnTo>
                  <a:pt x="7144" y="571159"/>
                </a:lnTo>
                <a:lnTo>
                  <a:pt x="4763" y="567083"/>
                </a:lnTo>
                <a:lnTo>
                  <a:pt x="2381" y="561511"/>
                </a:lnTo>
                <a:lnTo>
                  <a:pt x="0" y="547370"/>
                </a:lnTo>
                <a:close/>
              </a:path>
            </a:pathLst>
          </a:custGeom>
          <a:solidFill>
            <a:srgbClr val="FAB753"/>
          </a:solidFill>
          <a:ln/>
        </p:spPr>
        <p:txBody>
          <a:bodyPr wrap="square" rtlCol="0" anchor="t"/>
          <a:lstStyle/>
          <a:p>
            <a:pPr marL="0" indent="0">
              <a:buNone/>
            </a:pPr>
            <a:endParaRPr lang="en-US" dirty="0"/>
          </a:p>
        </p:txBody>
      </p:sp>
      <p:sp>
        <p:nvSpPr>
          <p:cNvPr id="39" name="Text 32"/>
          <p:cNvSpPr/>
          <p:nvPr/>
        </p:nvSpPr>
        <p:spPr>
          <a:xfrm>
            <a:off x="6102548" y="1849487"/>
            <a:ext cx="200620" cy="200620"/>
          </a:xfrm>
          <a:prstGeom prst="ellipse">
            <a:avLst/>
          </a:prstGeom>
          <a:solidFill>
            <a:srgbClr val="FAB753"/>
          </a:solidFill>
          <a:ln/>
        </p:spPr>
        <p:txBody>
          <a:bodyPr wrap="none" rtlCol="0" anchor="t"/>
          <a:lstStyle/>
          <a:p>
            <a:pPr marL="0" indent="0">
              <a:buNone/>
            </a:pPr>
            <a:endParaRPr lang="en-US" dirty="0"/>
          </a:p>
        </p:txBody>
      </p:sp>
      <p:pic>
        <p:nvPicPr>
          <p:cNvPr id="40"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36565" y="1883503"/>
            <a:ext cx="132588" cy="132588"/>
          </a:xfrm>
          <a:prstGeom prst="rect">
            <a:avLst/>
          </a:prstGeom>
        </p:spPr>
      </p:pic>
      <p:sp>
        <p:nvSpPr>
          <p:cNvPr id="41" name="Text 33"/>
          <p:cNvSpPr/>
          <p:nvPr/>
        </p:nvSpPr>
        <p:spPr>
          <a:xfrm>
            <a:off x="6381899" y="1841897"/>
            <a:ext cx="2344832" cy="120700"/>
          </a:xfrm>
          <a:prstGeom prst="rect">
            <a:avLst/>
          </a:prstGeom>
          <a:noFill/>
          <a:ln/>
        </p:spPr>
        <p:txBody>
          <a:bodyPr wrap="none" lIns="0" tIns="0" rIns="0" bIns="0" rtlCol="0" anchor="t"/>
          <a:lstStyle/>
          <a:p>
            <a:pPr marL="0" indent="0" algn="l">
              <a:lnSpc>
                <a:spcPts val="950"/>
              </a:lnSpc>
              <a:spcAft>
                <a:spcPts val="170"/>
              </a:spcAft>
              <a:buNone/>
            </a:pPr>
            <a:r>
              <a:rPr lang="en-US" sz="760" b="1" dirty="0">
                <a:solidFill>
                  <a:srgbClr val="FFFFFF"/>
                </a:solidFill>
                <a:latin typeface="Calibri" pitchFamily="34" charset="0"/>
                <a:ea typeface="Calibri" pitchFamily="34" charset="-122"/>
                <a:cs typeface="Calibri" pitchFamily="34" charset="-120"/>
              </a:rPr>
              <a:t>The work matters.</a:t>
            </a:r>
            <a:endParaRPr lang="en-US" sz="760" dirty="0"/>
          </a:p>
        </p:txBody>
      </p:sp>
      <p:sp>
        <p:nvSpPr>
          <p:cNvPr id="42" name="Text 34"/>
          <p:cNvSpPr/>
          <p:nvPr/>
        </p:nvSpPr>
        <p:spPr>
          <a:xfrm>
            <a:off x="6381899" y="1984177"/>
            <a:ext cx="2174299" cy="262845"/>
          </a:xfrm>
          <a:prstGeom prst="rect">
            <a:avLst/>
          </a:prstGeom>
          <a:noFill/>
          <a:ln/>
        </p:spPr>
        <p:txBody>
          <a:bodyPr wrap="square" lIns="0" tIns="0" rIns="0" bIns="0" rtlCol="0" anchor="t"/>
          <a:lstStyle/>
          <a:p>
            <a:pPr marL="0" indent="0" algn="l">
              <a:lnSpc>
                <a:spcPts val="986"/>
              </a:lnSpc>
              <a:buNone/>
            </a:pPr>
            <a:r>
              <a:rPr lang="en-US" sz="680" dirty="0">
                <a:solidFill>
                  <a:srgbClr val="FFFFFF">
                    <a:alpha val="82000"/>
                  </a:srgbClr>
                </a:solidFill>
                <a:latin typeface="Calibri" pitchFamily="34" charset="0"/>
                <a:ea typeface="Calibri" pitchFamily="34" charset="-122"/>
                <a:cs typeface="Calibri" pitchFamily="34" charset="-120"/>
              </a:rPr>
              <a:t>Set a goal that connects to why you are here. On the hard days, that is what keeps you going.</a:t>
            </a:r>
            <a:endParaRPr lang="en-US" sz="680" dirty="0"/>
          </a:p>
        </p:txBody>
      </p:sp>
      <p:sp>
        <p:nvSpPr>
          <p:cNvPr id="43" name="Text 35"/>
          <p:cNvSpPr/>
          <p:nvPr/>
        </p:nvSpPr>
        <p:spPr>
          <a:xfrm>
            <a:off x="433197" y="4858643"/>
            <a:ext cx="8277606" cy="284857"/>
          </a:xfrm>
          <a:prstGeom prst="rect">
            <a:avLst/>
          </a:prstGeom>
          <a:noFill/>
          <a:ln/>
        </p:spPr>
        <p:txBody>
          <a:bodyPr wrap="none" lIns="0" tIns="71120" rIns="0" bIns="86360" rtlCol="0" anchor="t"/>
          <a:lstStyle/>
          <a:p>
            <a:pPr marL="0" indent="0" algn="ctr">
              <a:buNone/>
            </a:pPr>
            <a:r>
              <a:rPr lang="en-US" sz="620" kern="0" spc="20" dirty="0">
                <a:solidFill>
                  <a:srgbClr val="FAB753"/>
                </a:solidFill>
                <a:latin typeface="Calibri" pitchFamily="34" charset="0"/>
                <a:ea typeface="Calibri" pitchFamily="34" charset="-122"/>
                <a:cs typeface="Calibri" pitchFamily="34" charset="-120"/>
              </a:rPr>
              <a:t>Centerstone Clinical Training Series  ·  Scheduling for Success  ·  June 2026  ·  Topher Fuqua, LMFT</a:t>
            </a:r>
            <a:endParaRPr lang="en-US" sz="620" dirty="0"/>
          </a:p>
        </p:txBody>
      </p:sp>
      <p:sp>
        <p:nvSpPr>
          <p:cNvPr id="44" name="Text 36"/>
          <p:cNvSpPr/>
          <p:nvPr/>
        </p:nvSpPr>
        <p:spPr>
          <a:xfrm>
            <a:off x="514350" y="4858643"/>
            <a:ext cx="8115300" cy="9525"/>
          </a:xfrm>
          <a:prstGeom prst="rect">
            <a:avLst/>
          </a:prstGeom>
          <a:solidFill>
            <a:srgbClr val="FAB753">
              <a:alpha val="30000"/>
            </a:srgbClr>
          </a:solidFill>
          <a:ln/>
        </p:spPr>
        <p:txBody>
          <a:bodyPr wrap="none" rtlCol="0" anchor="t"/>
          <a:lstStyle/>
          <a:p>
            <a:pPr marL="0" indent="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1B5E72"/>
        </a:solidFill>
        <a:effectLst/>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gradFill rotWithShape="1">
            <a:gsLst>
              <a:gs pos="0">
                <a:srgbClr val="FFFFFF">
                  <a:alpha val="4000"/>
                </a:srgbClr>
              </a:gs>
              <a:gs pos="100000">
                <a:srgbClr val="000000">
                  <a:alpha val="0"/>
                </a:srgbClr>
              </a:gs>
            </a:gsLst>
            <a:path path="circle">
              <a:fillToRect l="50000" t="50000" r="50000" b="50000"/>
            </a:path>
          </a:gradFill>
          <a:ln/>
        </p:spPr>
        <p:txBody>
          <a:bodyPr wrap="square" rtlCol="0" anchor="t"/>
          <a:lstStyle/>
          <a:p>
            <a:pPr marL="0" indent="0">
              <a:buNone/>
            </a:pPr>
            <a:endParaRPr lang="en-US" dirty="0"/>
          </a:p>
        </p:txBody>
      </p:sp>
      <p:sp>
        <p:nvSpPr>
          <p:cNvPr id="6" name="Text 4"/>
          <p:cNvSpPr/>
          <p:nvPr/>
        </p:nvSpPr>
        <p:spPr>
          <a:xfrm>
            <a:off x="0" y="0"/>
            <a:ext cx="9144000" cy="43160"/>
          </a:xfrm>
          <a:prstGeom prst="rect">
            <a:avLst/>
          </a:prstGeom>
          <a:gradFill rotWithShape="1">
            <a:gsLst>
              <a:gs pos="0">
                <a:srgbClr val="FAB753"/>
              </a:gs>
              <a:gs pos="50000">
                <a:srgbClr val="F5C96A"/>
              </a:gs>
              <a:gs pos="100000">
                <a:srgbClr val="FAB753"/>
              </a:gs>
            </a:gsLst>
            <a:lin ang="0" scaled="1"/>
          </a:gradFill>
          <a:ln/>
        </p:spPr>
        <p:txBody>
          <a:bodyPr wrap="none" rtlCol="0" anchor="t"/>
          <a:lstStyle/>
          <a:p>
            <a:pPr marL="0" indent="0">
              <a:buNone/>
            </a:pPr>
            <a:endParaRPr lang="en-US" dirty="0"/>
          </a:p>
        </p:txBody>
      </p:sp>
      <p:sp>
        <p:nvSpPr>
          <p:cNvPr id="7" name="Text 5"/>
          <p:cNvSpPr/>
          <p:nvPr/>
        </p:nvSpPr>
        <p:spPr>
          <a:xfrm>
            <a:off x="0" y="5100340"/>
            <a:ext cx="9144000" cy="43160"/>
          </a:xfrm>
          <a:prstGeom prst="rect">
            <a:avLst/>
          </a:prstGeom>
          <a:gradFill rotWithShape="1">
            <a:gsLst>
              <a:gs pos="0">
                <a:srgbClr val="FAB753"/>
              </a:gs>
              <a:gs pos="50000">
                <a:srgbClr val="F5C96A"/>
              </a:gs>
              <a:gs pos="100000">
                <a:srgbClr val="FAB753"/>
              </a:gs>
            </a:gsLst>
            <a:lin ang="0" scaled="1"/>
          </a:gradFill>
          <a:ln/>
        </p:spPr>
        <p:txBody>
          <a:bodyPr wrap="none" rtlCol="0" anchor="t"/>
          <a:lstStyle/>
          <a:p>
            <a:pPr marL="0" indent="0">
              <a:buNone/>
            </a:pPr>
            <a:endParaRPr lang="en-US" dirty="0"/>
          </a:p>
        </p:txBody>
      </p:sp>
      <p:sp>
        <p:nvSpPr>
          <p:cNvPr id="8" name="Accent Line Top">
            <a:extLst>
              <a:ext uri="{FF2B5EF4-FFF2-40B4-BE49-F238E27FC236}">
                <a16:creationId xmlns:a16="http://schemas.microsoft.com/office/drawing/2014/main" id="{6962A4A8-739F-CD32-5552-27F26E58816B}"/>
              </a:ext>
            </a:extLst>
          </p:cNvPr>
          <p:cNvSpPr/>
          <p:nvPr/>
        </p:nvSpPr>
        <p:spPr>
          <a:xfrm>
            <a:off x="4357390" y="931416"/>
            <a:ext cx="429220" cy="13841"/>
          </a:xfrm>
          <a:prstGeom prst="rect">
            <a:avLst/>
          </a:prstGeom>
          <a:solidFill>
            <a:srgbClr val="FAB753"/>
          </a:solidFill>
          <a:ln/>
        </p:spPr>
        <p:txBody>
          <a:bodyPr wrap="none" rtlCol="0" anchor="t"/>
          <a:lstStyle/>
          <a:p>
            <a:pPr marL="0" indent="0">
              <a:buNone/>
            </a:pPr>
            <a:endParaRPr lang="en-US"/>
          </a:p>
        </p:txBody>
      </p:sp>
      <p:sp>
        <p:nvSpPr>
          <p:cNvPr id="23" name="Title">
            <a:extLst>
              <a:ext uri="{FF2B5EF4-FFF2-40B4-BE49-F238E27FC236}">
                <a16:creationId xmlns:a16="http://schemas.microsoft.com/office/drawing/2014/main" id="{80B63BBE-A00B-9FF0-A4EA-5B0A515AEBC2}"/>
              </a:ext>
            </a:extLst>
          </p:cNvPr>
          <p:cNvSpPr/>
          <p:nvPr/>
        </p:nvSpPr>
        <p:spPr>
          <a:xfrm>
            <a:off x="1772123" y="1130000"/>
            <a:ext cx="5599606" cy="565696"/>
          </a:xfrm>
          <a:prstGeom prst="rect">
            <a:avLst/>
          </a:prstGeom>
          <a:noFill/>
          <a:ln/>
        </p:spPr>
        <p:txBody>
          <a:bodyPr wrap="square" lIns="0" tIns="0" rIns="0" bIns="0" rtlCol="0" anchor="t"/>
          <a:lstStyle/>
          <a:p>
            <a:pPr marL="0" indent="0" algn="ctr">
              <a:lnSpc>
                <a:spcPts val="4455"/>
              </a:lnSpc>
              <a:spcAft>
                <a:spcPts val="1580"/>
              </a:spcAft>
              <a:buNone/>
            </a:pPr>
            <a:r>
              <a:rPr lang="en-US" sz="4050" kern="0" spc="-40" dirty="0">
                <a:solidFill>
                  <a:srgbClr val="FFFFFF"/>
                </a:solidFill>
                <a:latin typeface="Calibri Light" pitchFamily="34" charset="0"/>
                <a:ea typeface="Calibri Light" pitchFamily="34" charset="-122"/>
                <a:cs typeface="Calibri Light" pitchFamily="34" charset="-120"/>
              </a:rPr>
              <a:t>Scheduling for Success</a:t>
            </a:r>
            <a:endParaRPr lang="en-US" sz="4050" dirty="0"/>
          </a:p>
        </p:txBody>
      </p:sp>
      <p:sp>
        <p:nvSpPr>
          <p:cNvPr id="24" name="Accent Line Bottom">
            <a:extLst>
              <a:ext uri="{FF2B5EF4-FFF2-40B4-BE49-F238E27FC236}">
                <a16:creationId xmlns:a16="http://schemas.microsoft.com/office/drawing/2014/main" id="{57CBBD44-7FF4-FB9C-06E1-87EC4E7B3376}"/>
              </a:ext>
            </a:extLst>
          </p:cNvPr>
          <p:cNvSpPr/>
          <p:nvPr/>
        </p:nvSpPr>
        <p:spPr>
          <a:xfrm>
            <a:off x="4143375" y="1900000"/>
            <a:ext cx="857250" cy="7590"/>
          </a:xfrm>
          <a:prstGeom prst="rect">
            <a:avLst/>
          </a:prstGeom>
          <a:solidFill>
            <a:srgbClr val="FAB753">
              <a:alpha val="35000"/>
            </a:srgbClr>
          </a:solidFill>
          <a:ln/>
        </p:spPr>
        <p:txBody>
          <a:bodyPr wrap="none" rtlCol="0" anchor="t"/>
          <a:lstStyle/>
          <a:p>
            <a:pPr marL="0" indent="0">
              <a:buNone/>
            </a:pPr>
            <a:endParaRPr lang="en-US"/>
          </a:p>
        </p:txBody>
      </p:sp>
      <p:sp>
        <p:nvSpPr>
          <p:cNvPr id="25" name="Message">
            <a:extLst>
              <a:ext uri="{FF2B5EF4-FFF2-40B4-BE49-F238E27FC236}">
                <a16:creationId xmlns:a16="http://schemas.microsoft.com/office/drawing/2014/main" id="{755219D1-9926-A9F0-966C-DE0AA7D394E7}"/>
              </a:ext>
            </a:extLst>
          </p:cNvPr>
          <p:cNvSpPr/>
          <p:nvPr/>
        </p:nvSpPr>
        <p:spPr>
          <a:xfrm>
            <a:off x="2072123" y="2040000"/>
            <a:ext cx="4999754" cy="400000"/>
          </a:xfrm>
          <a:prstGeom prst="rect">
            <a:avLst/>
          </a:prstGeom>
          <a:noFill/>
          <a:ln/>
        </p:spPr>
        <p:txBody>
          <a:bodyPr wrap="square" lIns="0" tIns="0" rIns="0" bIns="0" rtlCol="0" anchor="t"/>
          <a:lstStyle/>
          <a:p>
            <a:pPr marL="0" indent="0" algn="ctr">
              <a:lnSpc>
                <a:spcPts val="1860"/>
              </a:lnSpc>
              <a:buNone/>
            </a:pPr>
            <a:r>
              <a:rPr lang="en-US" sz="1240" kern="0" spc="50" dirty="0">
                <a:solidFill>
                  <a:srgbClr val="55A49C"/>
                </a:solidFill>
                <a:latin typeface="Calibri Light" pitchFamily="34" charset="0"/>
                <a:ea typeface="Calibri Light" pitchFamily="34" charset="-122"/>
                <a:cs typeface="Calibri Light" pitchFamily="34" charset="-120"/>
              </a:rPr>
              <a:t>Completion of this survey is required for attendance verification for today’s training.</a:t>
            </a:r>
            <a:endParaRPr lang="en-US" sz="1240" dirty="0"/>
          </a:p>
        </p:txBody>
      </p:sp>
      <p:sp>
        <p:nvSpPr>
          <p:cNvPr id="26" name="Survey Link Placeholder">
            <a:extLst>
              <a:ext uri="{FF2B5EF4-FFF2-40B4-BE49-F238E27FC236}">
                <a16:creationId xmlns:a16="http://schemas.microsoft.com/office/drawing/2014/main" id="{55C9AB3C-F12C-312F-DC96-888B2AB42935}"/>
              </a:ext>
            </a:extLst>
          </p:cNvPr>
          <p:cNvSpPr/>
          <p:nvPr/>
        </p:nvSpPr>
        <p:spPr>
          <a:xfrm>
            <a:off x="2000250" y="4192872"/>
            <a:ext cx="4999754" cy="330000"/>
          </a:xfrm>
          <a:prstGeom prst="rect">
            <a:avLst/>
          </a:prstGeom>
          <a:noFill/>
          <a:ln/>
        </p:spPr>
        <p:txBody>
          <a:bodyPr wrap="square" lIns="0" tIns="0" rIns="0" bIns="0" rtlCol="0" anchor="t"/>
          <a:lstStyle/>
          <a:p>
            <a:pPr algn="ctr">
              <a:lnSpc>
                <a:spcPts val="1440"/>
              </a:lnSpc>
            </a:pPr>
            <a:r>
              <a:rPr lang="en-US" sz="1060" u="sng" dirty="0">
                <a:solidFill>
                  <a:srgbClr val="FBB753"/>
                </a:solidFill>
                <a:hlinkClick r:id="rId3">
                  <a:extLst>
                    <a:ext uri="{A12FA001-AC4F-418D-AE19-62706E023703}">
                      <ahyp:hlinkClr xmlns:ahyp="http://schemas.microsoft.com/office/drawing/2018/hyperlinkcolor" val="tx"/>
                    </a:ext>
                  </a:extLst>
                </a:hlinkClick>
              </a:rPr>
              <a:t>https://forms.office.com/r/EXVCQtPbti</a:t>
            </a:r>
            <a:endParaRPr lang="en-US" sz="1060" dirty="0">
              <a:solidFill>
                <a:srgbClr val="FBB753"/>
              </a:solidFill>
            </a:endParaRPr>
          </a:p>
          <a:p>
            <a:pPr marL="0" indent="0" algn="ctr">
              <a:lnSpc>
                <a:spcPts val="1440"/>
              </a:lnSpc>
              <a:buNone/>
            </a:pPr>
            <a:endParaRPr lang="en-US" sz="1050" dirty="0"/>
          </a:p>
        </p:txBody>
      </p:sp>
      <p:pic>
        <p:nvPicPr>
          <p:cNvPr id="27" name="Picture 26">
            <a:extLst>
              <a:ext uri="{FF2B5EF4-FFF2-40B4-BE49-F238E27FC236}">
                <a16:creationId xmlns:a16="http://schemas.microsoft.com/office/drawing/2014/main" id="{13B99D68-91F3-32D5-DD5E-08FB3A46A04A}"/>
              </a:ext>
            </a:extLst>
          </p:cNvPr>
          <p:cNvPicPr>
            <a:picLocks noChangeAspect="1"/>
          </p:cNvPicPr>
          <p:nvPr/>
        </p:nvPicPr>
        <p:blipFill>
          <a:blip r:embed="rId4"/>
          <a:stretch>
            <a:fillRect/>
          </a:stretch>
        </p:blipFill>
        <p:spPr>
          <a:xfrm>
            <a:off x="3820429" y="2676823"/>
            <a:ext cx="1359395" cy="13593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1864</TotalTime>
  <Words>3081</Words>
  <Application>Microsoft Macintosh PowerPoint</Application>
  <PresentationFormat>On-screen Show (16:9)</PresentationFormat>
  <Paragraphs>368</Paragraphs>
  <Slides>19</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subject>PptxGenJS Presentation</dc:subject>
  <dc:creator>docgen</dc:creator>
  <cp:lastModifiedBy>Topher Fuqua</cp:lastModifiedBy>
  <cp:revision>7</cp:revision>
  <dcterms:created xsi:type="dcterms:W3CDTF">2026-06-11T03:22:12Z</dcterms:created>
  <dcterms:modified xsi:type="dcterms:W3CDTF">2026-07-08T00:48:19Z</dcterms:modified>
</cp:coreProperties>
</file>