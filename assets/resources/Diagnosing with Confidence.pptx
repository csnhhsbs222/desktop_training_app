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3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4252AF-9EE1-7047-B3FF-7B49CE2024E4}" v="1" dt="2026-06-11T02:52:35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60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8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pher Fuqua" userId="b06e452ca8d47646" providerId="LiveId" clId="{FDC30CCB-931D-5803-897A-9D7300DA2EAE}"/>
    <pc:docChg chg="custSel modSld">
      <pc:chgData name="Topher Fuqua" userId="b06e452ca8d47646" providerId="LiveId" clId="{FDC30CCB-931D-5803-897A-9D7300DA2EAE}" dt="2026-06-11T02:55:37.168" v="92" actId="1035"/>
      <pc:docMkLst>
        <pc:docMk/>
      </pc:docMkLst>
      <pc:sldChg chg="modSp mod">
        <pc:chgData name="Topher Fuqua" userId="b06e452ca8d47646" providerId="LiveId" clId="{FDC30CCB-931D-5803-897A-9D7300DA2EAE}" dt="2026-06-11T02:48:46.641" v="12" actId="14100"/>
        <pc:sldMkLst>
          <pc:docMk/>
          <pc:sldMk cId="0" sldId="262"/>
        </pc:sldMkLst>
        <pc:spChg chg="mod">
          <ac:chgData name="Topher Fuqua" userId="b06e452ca8d47646" providerId="LiveId" clId="{FDC30CCB-931D-5803-897A-9D7300DA2EAE}" dt="2026-06-11T02:48:46.641" v="12" actId="14100"/>
          <ac:spMkLst>
            <pc:docMk/>
            <pc:sldMk cId="0" sldId="262"/>
            <ac:spMk id="11" creationId="{00000000-0000-0000-0000-000000000000}"/>
          </ac:spMkLst>
        </pc:spChg>
      </pc:sldChg>
      <pc:sldChg chg="addSp delSp modSp mod">
        <pc:chgData name="Topher Fuqua" userId="b06e452ca8d47646" providerId="LiveId" clId="{FDC30CCB-931D-5803-897A-9D7300DA2EAE}" dt="2026-06-11T02:54:08.552" v="85" actId="1076"/>
        <pc:sldMkLst>
          <pc:docMk/>
          <pc:sldMk cId="0" sldId="264"/>
        </pc:sldMkLst>
        <pc:spChg chg="del">
          <ac:chgData name="Topher Fuqua" userId="b06e452ca8d47646" providerId="LiveId" clId="{FDC30CCB-931D-5803-897A-9D7300DA2EAE}" dt="2026-06-11T02:51:59.269" v="16" actId="478"/>
          <ac:spMkLst>
            <pc:docMk/>
            <pc:sldMk cId="0" sldId="264"/>
            <ac:spMk id="20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55.075" v="15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55.075" v="15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55.075" v="15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55.075" v="15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55.075" v="15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55.075" v="15" actId="1076"/>
          <ac:spMkLst>
            <pc:docMk/>
            <pc:sldMk cId="0" sldId="264"/>
            <ac:spMk id="29" creationId="{00000000-0000-0000-0000-000000000000}"/>
          </ac:spMkLst>
        </pc:spChg>
        <pc:spChg chg="del">
          <ac:chgData name="Topher Fuqua" userId="b06e452ca8d47646" providerId="LiveId" clId="{FDC30CCB-931D-5803-897A-9D7300DA2EAE}" dt="2026-06-11T02:52:02.962" v="17" actId="478"/>
          <ac:spMkLst>
            <pc:docMk/>
            <pc:sldMk cId="0" sldId="264"/>
            <ac:spMk id="30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31.823" v="14" actId="107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31.823" v="14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31.823" v="14" actId="107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31.823" v="14" actId="107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31.823" v="14" actId="1076"/>
          <ac:spMkLst>
            <pc:docMk/>
            <pc:sldMk cId="0" sldId="264"/>
            <ac:spMk id="37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1:31.823" v="14" actId="1076"/>
          <ac:spMkLst>
            <pc:docMk/>
            <pc:sldMk cId="0" sldId="264"/>
            <ac:spMk id="39" creationId="{00000000-0000-0000-0000-000000000000}"/>
          </ac:spMkLst>
        </pc:spChg>
        <pc:spChg chg="add mod">
          <ac:chgData name="Topher Fuqua" userId="b06e452ca8d47646" providerId="LiveId" clId="{FDC30CCB-931D-5803-897A-9D7300DA2EAE}" dt="2026-06-11T02:53:06.956" v="61" actId="1076"/>
          <ac:spMkLst>
            <pc:docMk/>
            <pc:sldMk cId="0" sldId="264"/>
            <ac:spMk id="42" creationId="{0257F3B6-F59C-9E21-E239-D264E4C1C990}"/>
          </ac:spMkLst>
        </pc:spChg>
        <pc:spChg chg="add mod">
          <ac:chgData name="Topher Fuqua" userId="b06e452ca8d47646" providerId="LiveId" clId="{FDC30CCB-931D-5803-897A-9D7300DA2EAE}" dt="2026-06-11T02:54:08.552" v="85" actId="1076"/>
          <ac:spMkLst>
            <pc:docMk/>
            <pc:sldMk cId="0" sldId="264"/>
            <ac:spMk id="44" creationId="{528A54EA-15B6-5B0D-D085-344364E9FA20}"/>
          </ac:spMkLst>
        </pc:spChg>
        <pc:picChg chg="mod">
          <ac:chgData name="Topher Fuqua" userId="b06e452ca8d47646" providerId="LiveId" clId="{FDC30CCB-931D-5803-897A-9D7300DA2EAE}" dt="2026-06-11T02:51:55.075" v="15" actId="1076"/>
          <ac:picMkLst>
            <pc:docMk/>
            <pc:sldMk cId="0" sldId="264"/>
            <ac:picMk id="22" creationId="{00000000-0000-0000-0000-000000000000}"/>
          </ac:picMkLst>
        </pc:picChg>
        <pc:picChg chg="mod">
          <ac:chgData name="Topher Fuqua" userId="b06e452ca8d47646" providerId="LiveId" clId="{FDC30CCB-931D-5803-897A-9D7300DA2EAE}" dt="2026-06-11T02:51:55.075" v="15" actId="1076"/>
          <ac:picMkLst>
            <pc:docMk/>
            <pc:sldMk cId="0" sldId="264"/>
            <ac:picMk id="25" creationId="{00000000-0000-0000-0000-000000000000}"/>
          </ac:picMkLst>
        </pc:picChg>
        <pc:picChg chg="mod">
          <ac:chgData name="Topher Fuqua" userId="b06e452ca8d47646" providerId="LiveId" clId="{FDC30CCB-931D-5803-897A-9D7300DA2EAE}" dt="2026-06-11T02:51:55.075" v="15" actId="1076"/>
          <ac:picMkLst>
            <pc:docMk/>
            <pc:sldMk cId="0" sldId="264"/>
            <ac:picMk id="28" creationId="{00000000-0000-0000-0000-000000000000}"/>
          </ac:picMkLst>
        </pc:picChg>
      </pc:sldChg>
      <pc:sldChg chg="modSp mod">
        <pc:chgData name="Topher Fuqua" userId="b06e452ca8d47646" providerId="LiveId" clId="{FDC30CCB-931D-5803-897A-9D7300DA2EAE}" dt="2026-06-11T02:55:37.168" v="92" actId="1035"/>
        <pc:sldMkLst>
          <pc:docMk/>
          <pc:sldMk cId="0" sldId="265"/>
        </pc:sldMkLst>
        <pc:spChg chg="mod">
          <ac:chgData name="Topher Fuqua" userId="b06e452ca8d47646" providerId="LiveId" clId="{FDC30CCB-931D-5803-897A-9D7300DA2EAE}" dt="2026-06-11T02:55:37.168" v="92" actId="103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5:01.171" v="89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4:52.414" v="88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4:37.222" v="86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Topher Fuqua" userId="b06e452ca8d47646" providerId="LiveId" clId="{FDC30CCB-931D-5803-897A-9D7300DA2EAE}" dt="2026-06-11T02:54:44.047" v="87" actId="1076"/>
          <ac:spMkLst>
            <pc:docMk/>
            <pc:sldMk cId="0" sldId="265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2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12" Type="http://schemas.openxmlformats.org/officeDocument/2006/relationships/image" Target="../media/image5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svg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svg"/><Relationship Id="rId4" Type="http://schemas.openxmlformats.org/officeDocument/2006/relationships/image" Target="../media/image59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forms.office.com/r/EXVCQtPbti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6970" y="0"/>
            <a:ext cx="3857030" cy="357128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28780" y="0"/>
            <a:ext cx="2715220" cy="242947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714750"/>
            <a:ext cx="1428750" cy="1428750"/>
          </a:xfrm>
          <a:prstGeom prst="ellipse">
            <a:avLst/>
          </a:prstGeom>
          <a:noFill/>
          <a:ln w="9525">
            <a:solidFill>
              <a:srgbClr val="FAB753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2999780"/>
            <a:ext cx="2857500" cy="2143720"/>
          </a:xfrm>
          <a:prstGeom prst="ellipse">
            <a:avLst/>
          </a:prstGeom>
          <a:noFill/>
          <a:ln w="9525">
            <a:solidFill>
              <a:srgbClr val="55A49C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21580"/>
            <a:ext cx="29170" cy="5121920"/>
          </a:xfrm>
          <a:prstGeom prst="rect">
            <a:avLst/>
          </a:prstGeom>
          <a:gradFill rotWithShape="1">
            <a:gsLst>
              <a:gs pos="0">
                <a:srgbClr val="FAB753"/>
              </a:gs>
              <a:gs pos="60000">
                <a:srgbClr val="FAB75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5135910"/>
            <a:ext cx="9144000" cy="7590"/>
          </a:xfrm>
          <a:prstGeom prst="rect">
            <a:avLst/>
          </a:prstGeom>
          <a:solidFill>
            <a:srgbClr val="FAB753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75717" y="1418034"/>
            <a:ext cx="279241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kern="0" spc="150" dirty="0">
                <a:solidFill>
                  <a:srgbClr val="FAB753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SCHOOL-BASED CLINICAL TRAINING SERIES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4400550" y="1805285"/>
            <a:ext cx="342900" cy="13841"/>
          </a:xfrm>
          <a:prstGeom prst="roundRect">
            <a:avLst>
              <a:gd name="adj" fmla="val 100932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9849" y="2104876"/>
            <a:ext cx="6924303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22"/>
              </a:lnSpc>
              <a:spcAft>
                <a:spcPts val="680"/>
              </a:spcAft>
              <a:buNone/>
            </a:pPr>
            <a:r>
              <a:rPr lang="en-US" sz="4280" kern="0" spc="-4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Diagnosing with Confidence</a:t>
            </a:r>
            <a:endParaRPr lang="en-US" sz="4280" dirty="0"/>
          </a:p>
        </p:txBody>
      </p:sp>
      <p:sp>
        <p:nvSpPr>
          <p:cNvPr id="12" name="Text 10"/>
          <p:cNvSpPr/>
          <p:nvPr/>
        </p:nvSpPr>
        <p:spPr>
          <a:xfrm>
            <a:off x="3429000" y="3006775"/>
            <a:ext cx="2286000" cy="759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09433" y="3228975"/>
            <a:ext cx="3925133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5"/>
              </a:lnSpc>
              <a:buNone/>
            </a:pPr>
            <a:r>
              <a:rPr lang="en-US" sz="1070" kern="0" spc="128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 ·  Assessments  ·  EOC  ·  Z-Codes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3463193" y="3533031"/>
            <a:ext cx="221746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kern="0" spc="40" dirty="0">
                <a:solidFill>
                  <a:srgbClr val="FFFFFF">
                    <a:alpha val="7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School-Based Therapist Training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8346579" y="4803874"/>
            <a:ext cx="53075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44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314920" y="4862215"/>
            <a:ext cx="43160" cy="43160"/>
          </a:xfrm>
          <a:prstGeom prst="ellipse">
            <a:avLst/>
          </a:prstGeom>
          <a:solidFill>
            <a:srgbClr val="FAB753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9071" y="4824859"/>
            <a:ext cx="78499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7" dirty="0">
                <a:solidFill>
                  <a:srgbClr val="FFFFFF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57175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000500"/>
            <a:ext cx="1143000" cy="1143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00039" y="0"/>
            <a:ext cx="928241" cy="642491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5750" y="1603028"/>
            <a:ext cx="22002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INTO PRACTICE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285750" y="1835348"/>
            <a:ext cx="2040255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28"/>
              </a:lnSpc>
              <a:buNone/>
            </a:pPr>
            <a:r>
              <a:rPr lang="en-US" sz="169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Diagnosing</a:t>
            </a:r>
            <a:br/>
            <a:r>
              <a:rPr lang="en-US" sz="169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Confidence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285750" y="2521744"/>
            <a:ext cx="34290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5750" y="2686794"/>
            <a:ext cx="2040255" cy="896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84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training includes an interactive diagnostic reasoning game, followed by a research-informed and policy-grounded overview designed to serve as a reference after the session.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2914650" y="314920"/>
            <a:ext cx="6267289" cy="24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6"/>
              </a:lnSpc>
              <a:buNone/>
            </a:pPr>
            <a:r>
              <a:rPr lang="en-US" sz="158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Welcome to Today's Training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2914650" y="626566"/>
            <a:ext cx="5974425" cy="35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 we will focus on building real, practical confidence around diagnosis in a school-based setting — from accessing the DSM-5-TR to understanding how assessments, Z-codes, and Episodes of Care fit into your clinical work.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914650" y="1097012"/>
            <a:ext cx="5857280" cy="13841"/>
          </a:xfrm>
          <a:prstGeom prst="roundRect">
            <a:avLst>
              <a:gd name="adj" fmla="val 55054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14650" y="1225153"/>
            <a:ext cx="644300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— By the end of this training you will be able to:</a:t>
            </a:r>
            <a:endParaRPr lang="en-US" sz="84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6427" y="1474821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081784" y="1485454"/>
            <a:ext cx="2979539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DSM-5-TR through Centerstone's online portal.</a:t>
            </a:r>
            <a:endParaRPr lang="en-US" sz="82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6427" y="1683032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81784" y="1693664"/>
            <a:ext cx="3235747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diagnostic reasoning with greater confidence and accuracy.</a:t>
            </a:r>
            <a:endParaRPr lang="en-US" sz="82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6427" y="1891242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081784" y="1901875"/>
            <a:ext cx="4507617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assessments — PSC-17 and Vanderbilt Scales — to support and inform diagnosis.</a:t>
            </a:r>
            <a:endParaRPr lang="en-US" sz="82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6427" y="2099453"/>
            <a:ext cx="132588" cy="132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081784" y="2110085"/>
            <a:ext cx="4738941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correctly apply Z-codes and social determinant codes in your documentation.</a:t>
            </a:r>
            <a:endParaRPr lang="en-US" sz="82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96427" y="2307663"/>
            <a:ext cx="132588" cy="132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081784" y="2318296"/>
            <a:ext cx="4585871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Episodes of Care (EOC) means and how it applies to ADHD and ODD cases.</a:t>
            </a:r>
            <a:endParaRPr lang="en-US" sz="820" dirty="0"/>
          </a:p>
        </p:txBody>
      </p:sp>
      <p:sp>
        <p:nvSpPr>
          <p:cNvPr id="23" name="Text 16"/>
          <p:cNvSpPr/>
          <p:nvPr/>
        </p:nvSpPr>
        <p:spPr>
          <a:xfrm>
            <a:off x="2542584" y="0"/>
            <a:ext cx="29170" cy="5143500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7220" y="0"/>
            <a:ext cx="1856780" cy="1749921"/>
          </a:xfrm>
          <a:prstGeom prst="ellipse">
            <a:avLst/>
          </a:prstGeom>
          <a:solidFill>
            <a:srgbClr val="EAF4F4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260378"/>
            <a:ext cx="1143000" cy="1428750"/>
          </a:xfrm>
          <a:prstGeom prst="ellipse">
            <a:avLst/>
          </a:prstGeom>
          <a:solidFill>
            <a:srgbClr val="EAF4F4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61194" y="1296293"/>
            <a:ext cx="242161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CLINICAL TRAINING SERIES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2925236" y="1471464"/>
            <a:ext cx="3293528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92"/>
              </a:lnSpc>
              <a:spcAft>
                <a:spcPts val="1580"/>
              </a:spcAft>
              <a:buNone/>
            </a:pPr>
            <a:r>
              <a:rPr lang="en-US" sz="1910" b="1" kern="0" spc="19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Training Matters</a:t>
            </a:r>
            <a:endParaRPr lang="en-US" sz="1910" dirty="0"/>
          </a:p>
        </p:txBody>
      </p:sp>
      <p:sp>
        <p:nvSpPr>
          <p:cNvPr id="7" name="Text 5"/>
          <p:cNvSpPr/>
          <p:nvPr/>
        </p:nvSpPr>
        <p:spPr>
          <a:xfrm>
            <a:off x="857250" y="1963192"/>
            <a:ext cx="29170" cy="364331"/>
          </a:xfrm>
          <a:prstGeom prst="roundRect">
            <a:avLst>
              <a:gd name="adj" fmla="val 47892"/>
            </a:avLst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29891" y="1963192"/>
            <a:ext cx="7401997" cy="38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diagnosis is the foundation of everything that follows — the treatment plan, the interventions, the documentation, and the conversation with families. In a school-based setting, where therapists often work independently, diagnostic confidence is both a </a:t>
            </a:r>
            <a:r>
              <a:rPr lang="en-US" sz="87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and ethical responsibility.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028700" y="2441823"/>
            <a:ext cx="35421" cy="35421"/>
          </a:xfrm>
          <a:prstGeom prst="ellipse">
            <a:avLst/>
          </a:prstGeom>
          <a:solidFill>
            <a:srgbClr val="FAB753">
              <a:alpha val="5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9542" y="2441823"/>
            <a:ext cx="35421" cy="35421"/>
          </a:xfrm>
          <a:prstGeom prst="ellipse">
            <a:avLst/>
          </a:prstGeom>
          <a:solidFill>
            <a:srgbClr val="FAB753">
              <a:alpha val="5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70384" y="2441823"/>
            <a:ext cx="35421" cy="35421"/>
          </a:xfrm>
          <a:prstGeom prst="ellipse">
            <a:avLst/>
          </a:prstGeom>
          <a:solidFill>
            <a:srgbClr val="FAB753">
              <a:alpha val="5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2577554"/>
            <a:ext cx="29170" cy="364331"/>
          </a:xfrm>
          <a:prstGeom prst="roundRect">
            <a:avLst>
              <a:gd name="adj" fmla="val 47892"/>
            </a:avLst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29891" y="2577554"/>
            <a:ext cx="7401997" cy="38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training equips you with the tools, resources, and frameworks to diagnose with </a:t>
            </a:r>
            <a:r>
              <a:rPr lang="en-US" sz="87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and precision — not anxiety.</a:t>
            </a: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DSM-5-TR is a living document, and accessing it regularly is a professional standard, not an exception.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1028700" y="3056186"/>
            <a:ext cx="35421" cy="35421"/>
          </a:xfrm>
          <a:prstGeom prst="ellipse">
            <a:avLst/>
          </a:prstGeom>
          <a:solidFill>
            <a:srgbClr val="FAB753">
              <a:alpha val="5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9542" y="3056186"/>
            <a:ext cx="35421" cy="35421"/>
          </a:xfrm>
          <a:prstGeom prst="ellipse">
            <a:avLst/>
          </a:prstGeom>
          <a:solidFill>
            <a:srgbClr val="FAB753">
              <a:alpha val="5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70384" y="3056186"/>
            <a:ext cx="35421" cy="35421"/>
          </a:xfrm>
          <a:prstGeom prst="ellipse">
            <a:avLst/>
          </a:prstGeom>
          <a:solidFill>
            <a:srgbClr val="FAB753">
              <a:alpha val="5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250" y="3191917"/>
            <a:ext cx="29170" cy="364331"/>
          </a:xfrm>
          <a:prstGeom prst="roundRect">
            <a:avLst>
              <a:gd name="adj" fmla="val 47892"/>
            </a:avLst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29891" y="3191917"/>
            <a:ext cx="7401997" cy="38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your diagnoses interact with Episodes of Care, assessments, and Z-codes </a:t>
            </a:r>
            <a:r>
              <a:rPr lang="en-US" sz="87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your clients, supports accurate documentation,</a:t>
            </a: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helps Centerstone deliver care that is both clinically excellent and financially sustainable.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0" y="4760119"/>
            <a:ext cx="9144000" cy="383381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0009" y="4885441"/>
            <a:ext cx="132588" cy="13258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139263" y="4860429"/>
            <a:ext cx="486532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WELL.  DOCUMENT FULLY.  USE EVERY TOOL AVAILABLE.</a:t>
            </a:r>
            <a:endParaRPr lang="en-US" sz="96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1255" y="4885441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14920"/>
            <a:ext cx="8805672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b="1" kern="0" spc="17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Training Breakdown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457200" y="621953"/>
            <a:ext cx="822960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71600" y="2126605"/>
            <a:ext cx="91440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FAB753"/>
              </a:gs>
              <a:gs pos="100000">
                <a:srgbClr val="F5C96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0400" y="2126605"/>
            <a:ext cx="91440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FAB753"/>
              </a:gs>
              <a:gs pos="100000">
                <a:srgbClr val="F5C96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0" y="2126605"/>
            <a:ext cx="91440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FAB753"/>
              </a:gs>
              <a:gs pos="100000">
                <a:srgbClr val="F5C96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0" y="2126605"/>
            <a:ext cx="91440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FAB753"/>
              </a:gs>
              <a:gs pos="100000">
                <a:srgbClr val="F5C96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455366"/>
            <a:ext cx="1589038" cy="1060103"/>
          </a:xfrm>
          <a:prstGeom prst="roundRect">
            <a:avLst>
              <a:gd name="adj" fmla="val 6709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2455366"/>
            <a:ext cx="1589038" cy="19050"/>
          </a:xfrm>
          <a:custGeom>
            <a:avLst/>
            <a:gdLst/>
            <a:ahLst/>
            <a:cxnLst/>
            <a:rect l="l" t="t" r="r" b="b"/>
            <a:pathLst>
              <a:path w="1589038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566361" y="19050"/>
                </a:lnTo>
                <a:lnTo>
                  <a:pt x="1563668" y="16669"/>
                </a:lnTo>
                <a:lnTo>
                  <a:pt x="1560674" y="14288"/>
                </a:lnTo>
                <a:lnTo>
                  <a:pt x="1557311" y="11906"/>
                </a:lnTo>
                <a:lnTo>
                  <a:pt x="1553472" y="9525"/>
                </a:lnTo>
                <a:lnTo>
                  <a:pt x="1548984" y="7144"/>
                </a:lnTo>
                <a:lnTo>
                  <a:pt x="1543506" y="4763"/>
                </a:lnTo>
                <a:lnTo>
                  <a:pt x="1536167" y="2381"/>
                </a:lnTo>
                <a:lnTo>
                  <a:pt x="1517918" y="0"/>
                </a:lnTo>
                <a:close/>
              </a:path>
            </a:pathLst>
          </a:cu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7510" y="2574727"/>
            <a:ext cx="573584" cy="160273"/>
          </a:xfrm>
          <a:prstGeom prst="roundRect">
            <a:avLst>
              <a:gd name="adj" fmla="val 89541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 MIN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557510" y="2777579"/>
            <a:ext cx="1416186" cy="243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Objectives &amp; DSM-5-TR Access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557510" y="3052316"/>
            <a:ext cx="1416186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in, what is new, and resources to build your skill.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117229" y="2455366"/>
            <a:ext cx="1589187" cy="1060103"/>
          </a:xfrm>
          <a:prstGeom prst="roundRect">
            <a:avLst>
              <a:gd name="adj" fmla="val 6709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17229" y="2455366"/>
            <a:ext cx="1589187" cy="19050"/>
          </a:xfrm>
          <a:custGeom>
            <a:avLst/>
            <a:gdLst/>
            <a:ahLst/>
            <a:cxnLst/>
            <a:rect l="l" t="t" r="r" b="b"/>
            <a:pathLst>
              <a:path w="1589187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566510" y="19050"/>
                </a:lnTo>
                <a:lnTo>
                  <a:pt x="1563817" y="16669"/>
                </a:lnTo>
                <a:lnTo>
                  <a:pt x="1560823" y="14288"/>
                </a:lnTo>
                <a:lnTo>
                  <a:pt x="1557459" y="11906"/>
                </a:lnTo>
                <a:lnTo>
                  <a:pt x="1553621" y="9525"/>
                </a:lnTo>
                <a:lnTo>
                  <a:pt x="1549133" y="7144"/>
                </a:lnTo>
                <a:lnTo>
                  <a:pt x="1543655" y="4763"/>
                </a:lnTo>
                <a:lnTo>
                  <a:pt x="1536316" y="2381"/>
                </a:lnTo>
                <a:lnTo>
                  <a:pt x="1518067" y="0"/>
                </a:lnTo>
                <a:close/>
              </a:path>
            </a:pathLst>
          </a:cu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17539" y="2574727"/>
            <a:ext cx="622102" cy="160273"/>
          </a:xfrm>
          <a:prstGeom prst="roundRect">
            <a:avLst>
              <a:gd name="adj" fmla="val 89541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30 MIN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2217539" y="2777579"/>
            <a:ext cx="1527423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Guess Who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217539" y="2936528"/>
            <a:ext cx="1416338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reasoning game — 2 players, 20 characters, yes/no questions. Build fluency with symptom clusters and specifiers.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777407" y="2455366"/>
            <a:ext cx="1589038" cy="1060103"/>
          </a:xfrm>
          <a:prstGeom prst="roundRect">
            <a:avLst>
              <a:gd name="adj" fmla="val 6709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77407" y="2455366"/>
            <a:ext cx="1589038" cy="19050"/>
          </a:xfrm>
          <a:custGeom>
            <a:avLst/>
            <a:gdLst/>
            <a:ahLst/>
            <a:cxnLst/>
            <a:rect l="l" t="t" r="r" b="b"/>
            <a:pathLst>
              <a:path w="1589038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566361" y="19050"/>
                </a:lnTo>
                <a:lnTo>
                  <a:pt x="1563668" y="16669"/>
                </a:lnTo>
                <a:lnTo>
                  <a:pt x="1560674" y="14288"/>
                </a:lnTo>
                <a:lnTo>
                  <a:pt x="1557311" y="11906"/>
                </a:lnTo>
                <a:lnTo>
                  <a:pt x="1553472" y="9525"/>
                </a:lnTo>
                <a:lnTo>
                  <a:pt x="1548984" y="7144"/>
                </a:lnTo>
                <a:lnTo>
                  <a:pt x="1543506" y="4763"/>
                </a:lnTo>
                <a:lnTo>
                  <a:pt x="1536167" y="2381"/>
                </a:lnTo>
                <a:lnTo>
                  <a:pt x="1517918" y="0"/>
                </a:lnTo>
                <a:close/>
              </a:path>
            </a:pathLst>
          </a:cu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77717" y="2574727"/>
            <a:ext cx="622102" cy="160273"/>
          </a:xfrm>
          <a:prstGeom prst="roundRect">
            <a:avLst>
              <a:gd name="adj" fmla="val 89541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40 MIN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3877717" y="2777579"/>
            <a:ext cx="152725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as a Clinical Tool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3877717" y="2936528"/>
            <a:ext cx="1416186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PSC-17 and Vanderbilt Scales — when to use them, what they measure, and how they strengthen your diagnosis.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437436" y="2455366"/>
            <a:ext cx="1589187" cy="1060103"/>
          </a:xfrm>
          <a:prstGeom prst="roundRect">
            <a:avLst>
              <a:gd name="adj" fmla="val 6709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37436" y="2455366"/>
            <a:ext cx="1589187" cy="19050"/>
          </a:xfrm>
          <a:custGeom>
            <a:avLst/>
            <a:gdLst/>
            <a:ahLst/>
            <a:cxnLst/>
            <a:rect l="l" t="t" r="r" b="b"/>
            <a:pathLst>
              <a:path w="1589187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566510" y="19050"/>
                </a:lnTo>
                <a:lnTo>
                  <a:pt x="1563817" y="16669"/>
                </a:lnTo>
                <a:lnTo>
                  <a:pt x="1560823" y="14288"/>
                </a:lnTo>
                <a:lnTo>
                  <a:pt x="1557459" y="11906"/>
                </a:lnTo>
                <a:lnTo>
                  <a:pt x="1553621" y="9525"/>
                </a:lnTo>
                <a:lnTo>
                  <a:pt x="1549133" y="7144"/>
                </a:lnTo>
                <a:lnTo>
                  <a:pt x="1543655" y="4763"/>
                </a:lnTo>
                <a:lnTo>
                  <a:pt x="1536316" y="2381"/>
                </a:lnTo>
                <a:lnTo>
                  <a:pt x="1518067" y="0"/>
                </a:lnTo>
                <a:close/>
              </a:path>
            </a:pathLst>
          </a:cu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37746" y="2574727"/>
            <a:ext cx="622102" cy="160273"/>
          </a:xfrm>
          <a:prstGeom prst="roundRect">
            <a:avLst>
              <a:gd name="adj" fmla="val 89541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50 MIN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5537746" y="2777579"/>
            <a:ext cx="1416338" cy="243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Z-Codes and Social Determinants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5537746" y="3052316"/>
            <a:ext cx="141633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they matter, and a quick reference for the codes most relevant to school-based practice.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7097613" y="2455366"/>
            <a:ext cx="1589187" cy="1060103"/>
          </a:xfrm>
          <a:prstGeom prst="roundRect">
            <a:avLst>
              <a:gd name="adj" fmla="val 6709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97613" y="2455366"/>
            <a:ext cx="1589187" cy="19050"/>
          </a:xfrm>
          <a:custGeom>
            <a:avLst/>
            <a:gdLst/>
            <a:ahLst/>
            <a:cxnLst/>
            <a:rect l="l" t="t" r="r" b="b"/>
            <a:pathLst>
              <a:path w="1589187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566510" y="19050"/>
                </a:lnTo>
                <a:lnTo>
                  <a:pt x="1563817" y="16669"/>
                </a:lnTo>
                <a:lnTo>
                  <a:pt x="1560823" y="14288"/>
                </a:lnTo>
                <a:lnTo>
                  <a:pt x="1557459" y="11906"/>
                </a:lnTo>
                <a:lnTo>
                  <a:pt x="1553621" y="9525"/>
                </a:lnTo>
                <a:lnTo>
                  <a:pt x="1549133" y="7144"/>
                </a:lnTo>
                <a:lnTo>
                  <a:pt x="1543655" y="4763"/>
                </a:lnTo>
                <a:lnTo>
                  <a:pt x="1536316" y="2381"/>
                </a:lnTo>
                <a:lnTo>
                  <a:pt x="1518067" y="0"/>
                </a:lnTo>
                <a:close/>
              </a:path>
            </a:pathLst>
          </a:cu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197923" y="2574727"/>
            <a:ext cx="622102" cy="160273"/>
          </a:xfrm>
          <a:prstGeom prst="roundRect">
            <a:avLst>
              <a:gd name="adj" fmla="val 89541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60 MIN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7197923" y="2777579"/>
            <a:ext cx="1527423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of Care (EOC)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7197923" y="2936528"/>
            <a:ext cx="1416338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EOC is, what it means for ADHD and ODD, exclusionary diagnoses, and how to document accurately.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5720" y="4813399"/>
            <a:ext cx="90525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i="1" kern="0" spc="14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Clinical Training Series · June 2026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728365" y="1955155"/>
            <a:ext cx="372070" cy="409277"/>
          </a:xfrm>
          <a:prstGeom prst="ellipse">
            <a:avLst/>
          </a:prstGeom>
          <a:solidFill>
            <a:srgbClr val="1B5E7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2557165" y="1955155"/>
            <a:ext cx="372070" cy="409277"/>
          </a:xfrm>
          <a:prstGeom prst="ellipse">
            <a:avLst/>
          </a:prstGeom>
          <a:solidFill>
            <a:srgbClr val="1B5E7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4385965" y="1955155"/>
            <a:ext cx="372070" cy="409277"/>
          </a:xfrm>
          <a:prstGeom prst="ellipse">
            <a:avLst/>
          </a:prstGeom>
          <a:solidFill>
            <a:srgbClr val="1B5E7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214765" y="1955155"/>
            <a:ext cx="372070" cy="409277"/>
          </a:xfrm>
          <a:prstGeom prst="ellipse">
            <a:avLst/>
          </a:prstGeom>
          <a:solidFill>
            <a:srgbClr val="1B5E7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8043565" y="1955155"/>
            <a:ext cx="372070" cy="409277"/>
          </a:xfrm>
          <a:prstGeom prst="ellipse">
            <a:avLst/>
          </a:prstGeom>
          <a:solidFill>
            <a:srgbClr val="1B5E7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523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28141"/>
            <a:ext cx="4404906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b="1" kern="0" spc="-2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Accessing the DSM-5-TR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400050" y="371773"/>
            <a:ext cx="452840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provides access to the full DSM-5-TR online — here is how to get 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1244203"/>
            <a:ext cx="1960662" cy="3413820"/>
          </a:xfrm>
          <a:prstGeom prst="roundRect">
            <a:avLst>
              <a:gd name="adj" fmla="val 3627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1244203"/>
            <a:ext cx="1960662" cy="19050"/>
          </a:xfrm>
          <a:custGeom>
            <a:avLst/>
            <a:gdLst/>
            <a:ahLst/>
            <a:cxnLst/>
            <a:rect l="l" t="t" r="r" b="b"/>
            <a:pathLst>
              <a:path w="1960662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37985" y="19050"/>
                </a:lnTo>
                <a:lnTo>
                  <a:pt x="1935292" y="16669"/>
                </a:lnTo>
                <a:lnTo>
                  <a:pt x="1932298" y="14288"/>
                </a:lnTo>
                <a:lnTo>
                  <a:pt x="1928934" y="11906"/>
                </a:lnTo>
                <a:lnTo>
                  <a:pt x="1925096" y="9525"/>
                </a:lnTo>
                <a:lnTo>
                  <a:pt x="1920608" y="7144"/>
                </a:lnTo>
                <a:lnTo>
                  <a:pt x="1915130" y="4763"/>
                </a:lnTo>
                <a:lnTo>
                  <a:pt x="1907791" y="2381"/>
                </a:lnTo>
                <a:lnTo>
                  <a:pt x="1889542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350" y="1363563"/>
            <a:ext cx="150465" cy="1504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4350" y="1592610"/>
            <a:ext cx="190526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Clinic Location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514350" y="1770013"/>
            <a:ext cx="1766703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automatic. Follow the path below: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514350" y="2108150"/>
            <a:ext cx="532388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033760" y="2099518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1169343" y="2108150"/>
            <a:ext cx="494407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Quicklinks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654225" y="2099518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514350" y="2294037"/>
            <a:ext cx="646494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Quicklinks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137493" y="2285405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514350" y="2471291"/>
            <a:ext cx="1156945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Psychiatry Online DSM-5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4350" y="2755999"/>
            <a:ext cx="190526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navigate directly to:</a:t>
            </a: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514350" y="2959298"/>
            <a:ext cx="1732062" cy="189905"/>
          </a:xfrm>
          <a:prstGeom prst="roundRect">
            <a:avLst>
              <a:gd name="adj" fmla="val 15381"/>
            </a:avLst>
          </a:prstGeom>
          <a:solidFill>
            <a:srgbClr val="1B5E72">
              <a:alpha val="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B5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dsm.psychiatryonline.org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2360712" y="1244203"/>
            <a:ext cx="1960811" cy="3413820"/>
          </a:xfrm>
          <a:prstGeom prst="roundRect">
            <a:avLst>
              <a:gd name="adj" fmla="val 3627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360712" y="1244203"/>
            <a:ext cx="1960811" cy="19050"/>
          </a:xfrm>
          <a:custGeom>
            <a:avLst/>
            <a:gdLst/>
            <a:ahLst/>
            <a:cxnLst/>
            <a:rect l="l" t="t" r="r" b="b"/>
            <a:pathLst>
              <a:path w="1960811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38134" y="19050"/>
                </a:lnTo>
                <a:lnTo>
                  <a:pt x="1935441" y="16669"/>
                </a:lnTo>
                <a:lnTo>
                  <a:pt x="1932447" y="14288"/>
                </a:lnTo>
                <a:lnTo>
                  <a:pt x="1929083" y="11906"/>
                </a:lnTo>
                <a:lnTo>
                  <a:pt x="1925245" y="9525"/>
                </a:lnTo>
                <a:lnTo>
                  <a:pt x="1920756" y="7144"/>
                </a:lnTo>
                <a:lnTo>
                  <a:pt x="1915278" y="4763"/>
                </a:lnTo>
                <a:lnTo>
                  <a:pt x="1907940" y="2381"/>
                </a:lnTo>
                <a:lnTo>
                  <a:pt x="1889691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5012" y="1363563"/>
            <a:ext cx="150465" cy="15046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475012" y="1592610"/>
            <a:ext cx="1766855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Centerstone Computer at Home</a:t>
            </a:r>
            <a:endParaRPr lang="en-US" sz="840" dirty="0"/>
          </a:p>
        </p:txBody>
      </p:sp>
      <p:sp>
        <p:nvSpPr>
          <p:cNvPr id="23" name="Text 19"/>
          <p:cNvSpPr/>
          <p:nvPr/>
        </p:nvSpPr>
        <p:spPr>
          <a:xfrm>
            <a:off x="2475012" y="1898005"/>
            <a:ext cx="176685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Psychiatry Online link on The Source, then log in:</a:t>
            </a:r>
            <a:endParaRPr lang="en-US" sz="760" dirty="0"/>
          </a:p>
        </p:txBody>
      </p:sp>
      <p:sp>
        <p:nvSpPr>
          <p:cNvPr id="24" name="Text 20"/>
          <p:cNvSpPr/>
          <p:nvPr/>
        </p:nvSpPr>
        <p:spPr>
          <a:xfrm>
            <a:off x="2475012" y="2329607"/>
            <a:ext cx="56578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730" dirty="0"/>
          </a:p>
        </p:txBody>
      </p:sp>
      <p:sp>
        <p:nvSpPr>
          <p:cNvPr id="25" name="Text 21"/>
          <p:cNvSpPr/>
          <p:nvPr/>
        </p:nvSpPr>
        <p:spPr>
          <a:xfrm>
            <a:off x="3021648" y="2329607"/>
            <a:ext cx="1109085" cy="139452"/>
          </a:xfrm>
          <a:prstGeom prst="roundRect">
            <a:avLst>
              <a:gd name="adj" fmla="val 15482"/>
            </a:avLst>
          </a:prstGeom>
          <a:solidFill>
            <a:srgbClr val="1B5E72">
              <a:alpha val="7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centerstone@pol.org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2475012" y="2518470"/>
            <a:ext cx="56578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730" dirty="0"/>
          </a:p>
        </p:txBody>
      </p:sp>
      <p:sp>
        <p:nvSpPr>
          <p:cNvPr id="27" name="Text 23"/>
          <p:cNvSpPr/>
          <p:nvPr/>
        </p:nvSpPr>
        <p:spPr>
          <a:xfrm>
            <a:off x="3026999" y="2518470"/>
            <a:ext cx="563347" cy="139452"/>
          </a:xfrm>
          <a:prstGeom prst="roundRect">
            <a:avLst>
              <a:gd name="adj" fmla="val 15482"/>
            </a:avLst>
          </a:prstGeom>
          <a:solidFill>
            <a:srgbClr val="1B5E72">
              <a:alpha val="7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Cstone1z3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2475012" y="2736503"/>
            <a:ext cx="1905432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spcBef>
                <a:spcPts val="230"/>
              </a:spcBef>
              <a:buNone/>
            </a:pPr>
            <a:r>
              <a:rPr lang="en-US" sz="680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Password is case-sensitive</a:t>
            </a:r>
            <a:endParaRPr lang="en-US" sz="680" dirty="0"/>
          </a:p>
        </p:txBody>
      </p:sp>
      <p:sp>
        <p:nvSpPr>
          <p:cNvPr id="29" name="Text 25"/>
          <p:cNvSpPr/>
          <p:nvPr/>
        </p:nvSpPr>
        <p:spPr>
          <a:xfrm>
            <a:off x="4321522" y="1244203"/>
            <a:ext cx="2461766" cy="3413820"/>
          </a:xfrm>
          <a:prstGeom prst="roundRect">
            <a:avLst>
              <a:gd name="adj" fmla="val 2889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321522" y="1244203"/>
            <a:ext cx="2461766" cy="19050"/>
          </a:xfrm>
          <a:custGeom>
            <a:avLst/>
            <a:gdLst/>
            <a:ahLst/>
            <a:cxnLst/>
            <a:rect l="l" t="t" r="r" b="b"/>
            <a:pathLst>
              <a:path w="2461766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439089" y="19050"/>
                </a:lnTo>
                <a:lnTo>
                  <a:pt x="2436397" y="16669"/>
                </a:lnTo>
                <a:lnTo>
                  <a:pt x="2433403" y="14288"/>
                </a:lnTo>
                <a:lnTo>
                  <a:pt x="2430039" y="11906"/>
                </a:lnTo>
                <a:lnTo>
                  <a:pt x="2426200" y="9525"/>
                </a:lnTo>
                <a:lnTo>
                  <a:pt x="2421712" y="7144"/>
                </a:lnTo>
                <a:lnTo>
                  <a:pt x="2416234" y="4763"/>
                </a:lnTo>
                <a:lnTo>
                  <a:pt x="2408895" y="2381"/>
                </a:lnTo>
                <a:lnTo>
                  <a:pt x="2390646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5822" y="1363563"/>
            <a:ext cx="150465" cy="15046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435822" y="1592610"/>
            <a:ext cx="245648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Personal Computer</a:t>
            </a:r>
            <a:endParaRPr lang="en-US" sz="840" dirty="0"/>
          </a:p>
        </p:txBody>
      </p:sp>
      <p:sp>
        <p:nvSpPr>
          <p:cNvPr id="33" name="Text 28"/>
          <p:cNvSpPr/>
          <p:nvPr/>
        </p:nvSpPr>
        <p:spPr>
          <a:xfrm>
            <a:off x="4435822" y="1783854"/>
            <a:ext cx="2233166" cy="307122"/>
          </a:xfrm>
          <a:prstGeom prst="roundRect">
            <a:avLst>
              <a:gd name="adj" fmla="val 9511"/>
            </a:avLst>
          </a:prstGeom>
          <a:solidFill>
            <a:srgbClr val="1B5E72">
              <a:alpha val="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1B5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rdweb.centerstone.org/RDWeb/Pages/en-US/Default.aspx</a:t>
            </a:r>
            <a:endParaRPr lang="en-US" sz="620" dirty="0"/>
          </a:p>
        </p:txBody>
      </p:sp>
      <p:sp>
        <p:nvSpPr>
          <p:cNvPr id="34" name="Text 29"/>
          <p:cNvSpPr/>
          <p:nvPr/>
        </p:nvSpPr>
        <p:spPr>
          <a:xfrm>
            <a:off x="4435822" y="2141637"/>
            <a:ext cx="2456483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Psychiatry Online</a:t>
            </a: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then:</a:t>
            </a:r>
            <a:endParaRPr lang="en-US" sz="700" dirty="0"/>
          </a:p>
        </p:txBody>
      </p:sp>
      <p:sp>
        <p:nvSpPr>
          <p:cNvPr id="35" name="Text 30"/>
          <p:cNvSpPr/>
          <p:nvPr/>
        </p:nvSpPr>
        <p:spPr>
          <a:xfrm>
            <a:off x="4435822" y="2319784"/>
            <a:ext cx="56578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730" dirty="0"/>
          </a:p>
        </p:txBody>
      </p:sp>
      <p:sp>
        <p:nvSpPr>
          <p:cNvPr id="36" name="Text 31"/>
          <p:cNvSpPr/>
          <p:nvPr/>
        </p:nvSpPr>
        <p:spPr>
          <a:xfrm>
            <a:off x="4976576" y="2319784"/>
            <a:ext cx="1709169" cy="139452"/>
          </a:xfrm>
          <a:prstGeom prst="roundRect">
            <a:avLst>
              <a:gd name="adj" fmla="val 15482"/>
            </a:avLst>
          </a:prstGeom>
          <a:solidFill>
            <a:srgbClr val="1B5E72">
              <a:alpha val="7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centerstone\firstname.lastname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4435822" y="2508647"/>
            <a:ext cx="56578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730" dirty="0"/>
          </a:p>
        </p:txBody>
      </p:sp>
      <p:sp>
        <p:nvSpPr>
          <p:cNvPr id="38" name="Text 33"/>
          <p:cNvSpPr/>
          <p:nvPr/>
        </p:nvSpPr>
        <p:spPr>
          <a:xfrm>
            <a:off x="4993332" y="2508647"/>
            <a:ext cx="1392525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 / email password</a:t>
            </a:r>
            <a:endParaRPr lang="en-US" sz="700" dirty="0"/>
          </a:p>
        </p:txBody>
      </p:sp>
      <p:sp>
        <p:nvSpPr>
          <p:cNvPr id="39" name="Text 34"/>
          <p:cNvSpPr/>
          <p:nvPr/>
        </p:nvSpPr>
        <p:spPr>
          <a:xfrm>
            <a:off x="4435822" y="2687836"/>
            <a:ext cx="56578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730" dirty="0"/>
          </a:p>
        </p:txBody>
      </p:sp>
      <p:sp>
        <p:nvSpPr>
          <p:cNvPr id="40" name="Text 35"/>
          <p:cNvSpPr/>
          <p:nvPr/>
        </p:nvSpPr>
        <p:spPr>
          <a:xfrm>
            <a:off x="4993332" y="2687836"/>
            <a:ext cx="1443112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ID — skip leading zeros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6783288" y="1244203"/>
            <a:ext cx="1960662" cy="3413820"/>
          </a:xfrm>
          <a:prstGeom prst="roundRect">
            <a:avLst>
              <a:gd name="adj" fmla="val 3627"/>
            </a:avLst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6783288" y="1244203"/>
            <a:ext cx="1960662" cy="19050"/>
          </a:xfrm>
          <a:custGeom>
            <a:avLst/>
            <a:gdLst/>
            <a:ahLst/>
            <a:cxnLst/>
            <a:rect l="l" t="t" r="r" b="b"/>
            <a:pathLst>
              <a:path w="1960662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37985" y="19050"/>
                </a:lnTo>
                <a:lnTo>
                  <a:pt x="1935292" y="16669"/>
                </a:lnTo>
                <a:lnTo>
                  <a:pt x="1932298" y="14288"/>
                </a:lnTo>
                <a:lnTo>
                  <a:pt x="1928934" y="11906"/>
                </a:lnTo>
                <a:lnTo>
                  <a:pt x="1925096" y="9525"/>
                </a:lnTo>
                <a:lnTo>
                  <a:pt x="1920608" y="7144"/>
                </a:lnTo>
                <a:lnTo>
                  <a:pt x="1915130" y="4763"/>
                </a:lnTo>
                <a:lnTo>
                  <a:pt x="1907791" y="2381"/>
                </a:lnTo>
                <a:lnTo>
                  <a:pt x="1889542" y="0"/>
                </a:lnTo>
                <a:close/>
              </a:path>
            </a:pathLst>
          </a:cu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7588" y="1363563"/>
            <a:ext cx="150465" cy="150465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897588" y="1592610"/>
            <a:ext cx="190526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Psychiatry Online</a:t>
            </a:r>
            <a:endParaRPr lang="en-US" sz="840" dirty="0"/>
          </a:p>
        </p:txBody>
      </p:sp>
      <p:sp>
        <p:nvSpPr>
          <p:cNvPr id="45" name="Text 39"/>
          <p:cNvSpPr/>
          <p:nvPr/>
        </p:nvSpPr>
        <p:spPr>
          <a:xfrm>
            <a:off x="6897588" y="1770013"/>
            <a:ext cx="1766703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your go-to differential diagnosis tool:</a:t>
            </a:r>
            <a:endParaRPr lang="en-US" sz="730" dirty="0"/>
          </a:p>
        </p:txBody>
      </p:sp>
      <p:sp>
        <p:nvSpPr>
          <p:cNvPr id="46" name="Text 40"/>
          <p:cNvSpPr/>
          <p:nvPr/>
        </p:nvSpPr>
        <p:spPr>
          <a:xfrm>
            <a:off x="6897588" y="2112466"/>
            <a:ext cx="55841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Library</a:t>
            </a:r>
            <a:endParaRPr lang="en-US" sz="680" dirty="0"/>
          </a:p>
        </p:txBody>
      </p:sp>
      <p:sp>
        <p:nvSpPr>
          <p:cNvPr id="47" name="Text 41"/>
          <p:cNvSpPr/>
          <p:nvPr/>
        </p:nvSpPr>
        <p:spPr>
          <a:xfrm>
            <a:off x="7440662" y="2102048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48" name="Text 42"/>
          <p:cNvSpPr/>
          <p:nvPr/>
        </p:nvSpPr>
        <p:spPr>
          <a:xfrm>
            <a:off x="6897588" y="2298353"/>
            <a:ext cx="157997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of Differential Diagnosis</a:t>
            </a:r>
            <a:endParaRPr lang="en-US" sz="680" dirty="0"/>
          </a:p>
        </p:txBody>
      </p:sp>
      <p:sp>
        <p:nvSpPr>
          <p:cNvPr id="49" name="Text 43"/>
          <p:cNvSpPr/>
          <p:nvPr/>
        </p:nvSpPr>
        <p:spPr>
          <a:xfrm>
            <a:off x="8369350" y="2287935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50" name="Text 44"/>
          <p:cNvSpPr/>
          <p:nvPr/>
        </p:nvSpPr>
        <p:spPr>
          <a:xfrm>
            <a:off x="6897588" y="2473821"/>
            <a:ext cx="155394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 by the Trees</a:t>
            </a:r>
            <a:endParaRPr lang="en-US" sz="680" dirty="0"/>
          </a:p>
        </p:txBody>
      </p:sp>
      <p:sp>
        <p:nvSpPr>
          <p:cNvPr id="51" name="Text 45"/>
          <p:cNvSpPr/>
          <p:nvPr/>
        </p:nvSpPr>
        <p:spPr>
          <a:xfrm>
            <a:off x="6897588" y="2754809"/>
            <a:ext cx="1766703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systematic, decision-tree approach to working through differential diagnosis — use it when you are unsure, not just when you are stuck.</a:t>
            </a:r>
            <a:endParaRPr lang="en-US" sz="700" dirty="0"/>
          </a:p>
        </p:txBody>
      </p:sp>
      <p:sp>
        <p:nvSpPr>
          <p:cNvPr id="52" name="Text 46"/>
          <p:cNvSpPr/>
          <p:nvPr/>
        </p:nvSpPr>
        <p:spPr>
          <a:xfrm>
            <a:off x="0" y="4771430"/>
            <a:ext cx="9144000" cy="409277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70" b="1" kern="0" spc="1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DSM-5-TR is a professional standard — not a reference you use once at intake. Open it regularly.</a:t>
            </a:r>
            <a:endParaRPr lang="en-US" sz="870" dirty="0"/>
          </a:p>
        </p:txBody>
      </p:sp>
      <p:sp>
        <p:nvSpPr>
          <p:cNvPr id="53" name="Text 47"/>
          <p:cNvSpPr/>
          <p:nvPr/>
        </p:nvSpPr>
        <p:spPr>
          <a:xfrm>
            <a:off x="1551832" y="986433"/>
            <a:ext cx="1617764" cy="21580"/>
          </a:xfrm>
          <a:prstGeom prst="rect">
            <a:avLst/>
          </a:prstGeom>
          <a:gradFill rotWithShape="1">
            <a:gsLst>
              <a:gs pos="60000">
                <a:srgbClr val="FAB753"/>
              </a:gs>
              <a:gs pos="100000">
                <a:srgbClr val="FAB75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3512494" y="986433"/>
            <a:ext cx="1617907" cy="21580"/>
          </a:xfrm>
          <a:prstGeom prst="rect">
            <a:avLst/>
          </a:prstGeom>
          <a:gradFill rotWithShape="1">
            <a:gsLst>
              <a:gs pos="60000">
                <a:srgbClr val="FAB753"/>
              </a:gs>
              <a:gs pos="100000">
                <a:srgbClr val="FAB75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5723783" y="986433"/>
            <a:ext cx="2118865" cy="21580"/>
          </a:xfrm>
          <a:prstGeom prst="rect">
            <a:avLst/>
          </a:prstGeom>
          <a:gradFill rotWithShape="1">
            <a:gsLst>
              <a:gs pos="60000">
                <a:srgbClr val="FAB753"/>
              </a:gs>
              <a:gs pos="100000">
                <a:srgbClr val="FAB75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1208931" y="814983"/>
            <a:ext cx="342900" cy="377190"/>
          </a:xfrm>
          <a:prstGeom prst="ellipse">
            <a:avLst/>
          </a:prstGeom>
          <a:solidFill>
            <a:srgbClr val="1B5E72"/>
          </a:solidFill>
          <a:ln w="19050">
            <a:solidFill>
              <a:srgbClr val="FAB753"/>
            </a:solidFill>
          </a:ln>
          <a:effectLst>
            <a:outerShdw blurRad="57150" dist="13970" dir="5400000" algn="bl" rotWithShape="0">
              <a:srgbClr val="1B5E72">
                <a:alpha val="2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30" dirty="0"/>
          </a:p>
        </p:txBody>
      </p:sp>
      <p:sp>
        <p:nvSpPr>
          <p:cNvPr id="57" name="Text 51"/>
          <p:cNvSpPr/>
          <p:nvPr/>
        </p:nvSpPr>
        <p:spPr>
          <a:xfrm>
            <a:off x="3169593" y="814983"/>
            <a:ext cx="342900" cy="377190"/>
          </a:xfrm>
          <a:prstGeom prst="ellipse">
            <a:avLst/>
          </a:prstGeom>
          <a:solidFill>
            <a:srgbClr val="1B5E72"/>
          </a:solidFill>
          <a:ln w="19050">
            <a:solidFill>
              <a:srgbClr val="FAB753"/>
            </a:solidFill>
          </a:ln>
          <a:effectLst>
            <a:outerShdw blurRad="57150" dist="13970" dir="5400000" algn="bl" rotWithShape="0">
              <a:srgbClr val="1B5E72">
                <a:alpha val="2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30" dirty="0"/>
          </a:p>
        </p:txBody>
      </p:sp>
      <p:sp>
        <p:nvSpPr>
          <p:cNvPr id="58" name="Text 52"/>
          <p:cNvSpPr/>
          <p:nvPr/>
        </p:nvSpPr>
        <p:spPr>
          <a:xfrm>
            <a:off x="5380881" y="814983"/>
            <a:ext cx="342900" cy="377190"/>
          </a:xfrm>
          <a:prstGeom prst="ellipse">
            <a:avLst/>
          </a:prstGeom>
          <a:solidFill>
            <a:srgbClr val="1B5E72"/>
          </a:solidFill>
          <a:ln w="19050">
            <a:solidFill>
              <a:srgbClr val="FAB753"/>
            </a:solidFill>
          </a:ln>
          <a:effectLst>
            <a:outerShdw blurRad="57150" dist="13970" dir="5400000" algn="bl" rotWithShape="0">
              <a:srgbClr val="1B5E72">
                <a:alpha val="2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30" dirty="0"/>
          </a:p>
        </p:txBody>
      </p:sp>
      <p:sp>
        <p:nvSpPr>
          <p:cNvPr id="59" name="Text 53"/>
          <p:cNvSpPr/>
          <p:nvPr/>
        </p:nvSpPr>
        <p:spPr>
          <a:xfrm>
            <a:off x="7592169" y="814983"/>
            <a:ext cx="342900" cy="377190"/>
          </a:xfrm>
          <a:prstGeom prst="ellipse">
            <a:avLst/>
          </a:prstGeom>
          <a:solidFill>
            <a:srgbClr val="1B5E72"/>
          </a:solidFill>
          <a:ln w="19050">
            <a:solidFill>
              <a:srgbClr val="FAB753"/>
            </a:solidFill>
          </a:ln>
          <a:effectLst>
            <a:outerShdw blurRad="57150" dist="13970" dir="5400000" algn="bl" rotWithShape="0">
              <a:srgbClr val="1B5E72">
                <a:alpha val="2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272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42900" tIns="157480" rIns="342900" bIns="100330" rtlCol="0" anchor="t"/>
          <a:lstStyle/>
          <a:p>
            <a:pPr marL="0" indent="0" algn="l">
              <a:buNone/>
            </a:pPr>
            <a:r>
              <a:rPr lang="en-US" sz="590" b="1" kern="0" spc="7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REFERENCE</a:t>
            </a:r>
            <a:endParaRPr lang="en-US" sz="59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DSM-5-TR — What You Need to Know</a:t>
            </a:r>
            <a:endParaRPr lang="en-US" sz="590" dirty="0"/>
          </a:p>
          <a:p>
            <a:pPr marL="0" indent="0" algn="l">
              <a:buNone/>
            </a:pPr>
            <a:endParaRPr lang="en-US" sz="590" dirty="0"/>
          </a:p>
          <a:p>
            <a:pPr marL="0" indent="0" algn="l">
              <a:buNone/>
            </a:pPr>
            <a:r>
              <a:rPr lang="en-US" sz="76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was updated in 2022. Here is what changed and where to go to build your skill.</a:t>
            </a:r>
            <a:endParaRPr lang="en-US" sz="590" dirty="0"/>
          </a:p>
        </p:txBody>
      </p:sp>
      <p:sp>
        <p:nvSpPr>
          <p:cNvPr id="3" name="Text 1"/>
          <p:cNvSpPr/>
          <p:nvPr/>
        </p:nvSpPr>
        <p:spPr>
          <a:xfrm>
            <a:off x="342900" y="283518"/>
            <a:ext cx="34290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798761"/>
            <a:ext cx="8458200" cy="13841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912912"/>
            <a:ext cx="2752427" cy="1879104"/>
          </a:xfrm>
          <a:prstGeom prst="roundRect">
            <a:avLst>
              <a:gd name="adj" fmla="val 3041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912912"/>
            <a:ext cx="2752427" cy="19050"/>
          </a:xfrm>
          <a:custGeom>
            <a:avLst/>
            <a:gdLst/>
            <a:ahLst/>
            <a:cxnLst/>
            <a:rect l="l" t="t" r="r" b="b"/>
            <a:pathLst>
              <a:path w="2752427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737874" y="19050"/>
                </a:lnTo>
                <a:lnTo>
                  <a:pt x="2735618" y="16669"/>
                </a:lnTo>
                <a:lnTo>
                  <a:pt x="2733079" y="14288"/>
                </a:lnTo>
                <a:lnTo>
                  <a:pt x="2730193" y="11906"/>
                </a:lnTo>
                <a:lnTo>
                  <a:pt x="2726868" y="9525"/>
                </a:lnTo>
                <a:lnTo>
                  <a:pt x="2722945" y="7144"/>
                </a:lnTo>
                <a:lnTo>
                  <a:pt x="2718117" y="4763"/>
                </a:lnTo>
                <a:lnTo>
                  <a:pt x="2711602" y="2381"/>
                </a:lnTo>
                <a:lnTo>
                  <a:pt x="2695277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046262"/>
            <a:ext cx="242441" cy="242441"/>
          </a:xfrm>
          <a:prstGeom prst="roundRect">
            <a:avLst>
              <a:gd name="adj" fmla="val 20430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052" y="1101114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359694"/>
            <a:ext cx="2776210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Released March 2022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457200" y="1515814"/>
            <a:ext cx="2574304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revision updated approximately </a:t>
            </a:r>
            <a:r>
              <a:rPr lang="en-US" sz="68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disorder texts</a:t>
            </a: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most extensively in Prevalence, Risk Factors, Culture, Sex/Gender, Suicidality, and Comorbidity.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3195638" y="912912"/>
            <a:ext cx="2752576" cy="1879104"/>
          </a:xfrm>
          <a:prstGeom prst="roundRect">
            <a:avLst>
              <a:gd name="adj" fmla="val 3041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195638" y="912912"/>
            <a:ext cx="2752576" cy="19050"/>
          </a:xfrm>
          <a:custGeom>
            <a:avLst/>
            <a:gdLst/>
            <a:ahLst/>
            <a:cxnLst/>
            <a:rect l="l" t="t" r="r" b="b"/>
            <a:pathLst>
              <a:path w="2752576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738023" y="19050"/>
                </a:lnTo>
                <a:lnTo>
                  <a:pt x="2735767" y="16669"/>
                </a:lnTo>
                <a:lnTo>
                  <a:pt x="2733227" y="14288"/>
                </a:lnTo>
                <a:lnTo>
                  <a:pt x="2730342" y="11906"/>
                </a:lnTo>
                <a:lnTo>
                  <a:pt x="2727017" y="9525"/>
                </a:lnTo>
                <a:lnTo>
                  <a:pt x="2723094" y="7144"/>
                </a:lnTo>
                <a:lnTo>
                  <a:pt x="2718266" y="4763"/>
                </a:lnTo>
                <a:lnTo>
                  <a:pt x="2711751" y="2381"/>
                </a:lnTo>
                <a:lnTo>
                  <a:pt x="2695426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09938" y="1046262"/>
            <a:ext cx="242441" cy="242441"/>
          </a:xfrm>
          <a:prstGeom prst="roundRect">
            <a:avLst>
              <a:gd name="adj" fmla="val 20430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4790" y="1101114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09938" y="1359694"/>
            <a:ext cx="2776374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Diagnosis Added</a:t>
            </a:r>
            <a:endParaRPr lang="en-US" sz="760" dirty="0"/>
          </a:p>
        </p:txBody>
      </p:sp>
      <p:sp>
        <p:nvSpPr>
          <p:cNvPr id="16" name="Text 12"/>
          <p:cNvSpPr/>
          <p:nvPr/>
        </p:nvSpPr>
        <p:spPr>
          <a:xfrm>
            <a:off x="3309938" y="1515814"/>
            <a:ext cx="2574456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Grief Disorder</a:t>
            </a: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added. Unspecified Mood Disorder was restored for mixed-mood presentations that do not meet bipolar or depressive criteria.</a:t>
            </a:r>
            <a:endParaRPr lang="en-US" sz="680" dirty="0"/>
          </a:p>
        </p:txBody>
      </p:sp>
      <p:sp>
        <p:nvSpPr>
          <p:cNvPr id="17" name="Text 13"/>
          <p:cNvSpPr/>
          <p:nvPr/>
        </p:nvSpPr>
        <p:spPr>
          <a:xfrm>
            <a:off x="6048524" y="912912"/>
            <a:ext cx="2752427" cy="1879104"/>
          </a:xfrm>
          <a:prstGeom prst="roundRect">
            <a:avLst>
              <a:gd name="adj" fmla="val 3041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048524" y="912912"/>
            <a:ext cx="2752427" cy="19050"/>
          </a:xfrm>
          <a:custGeom>
            <a:avLst/>
            <a:gdLst/>
            <a:ahLst/>
            <a:cxnLst/>
            <a:rect l="l" t="t" r="r" b="b"/>
            <a:pathLst>
              <a:path w="2752427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737874" y="19050"/>
                </a:lnTo>
                <a:lnTo>
                  <a:pt x="2735618" y="16669"/>
                </a:lnTo>
                <a:lnTo>
                  <a:pt x="2733079" y="14288"/>
                </a:lnTo>
                <a:lnTo>
                  <a:pt x="2730193" y="11906"/>
                </a:lnTo>
                <a:lnTo>
                  <a:pt x="2726868" y="9525"/>
                </a:lnTo>
                <a:lnTo>
                  <a:pt x="2722945" y="7144"/>
                </a:lnTo>
                <a:lnTo>
                  <a:pt x="2718117" y="4763"/>
                </a:lnTo>
                <a:lnTo>
                  <a:pt x="2711602" y="2381"/>
                </a:lnTo>
                <a:lnTo>
                  <a:pt x="2695277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162824" y="1046262"/>
            <a:ext cx="242441" cy="242441"/>
          </a:xfrm>
          <a:prstGeom prst="roundRect">
            <a:avLst>
              <a:gd name="adj" fmla="val 20430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676" y="1101114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62824" y="1359694"/>
            <a:ext cx="2776210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and Context</a:t>
            </a:r>
            <a:endParaRPr lang="en-US" sz="760" dirty="0"/>
          </a:p>
        </p:txBody>
      </p:sp>
      <p:sp>
        <p:nvSpPr>
          <p:cNvPr id="22" name="Text 17"/>
          <p:cNvSpPr/>
          <p:nvPr/>
        </p:nvSpPr>
        <p:spPr>
          <a:xfrm>
            <a:off x="6162824" y="1515814"/>
            <a:ext cx="2574304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 of </a:t>
            </a:r>
            <a:r>
              <a:rPr lang="en-US" sz="68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racism and discrimination</a:t>
            </a: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now integrated into the text. Cultural context is a clinical variable — not a footnote.</a:t>
            </a:r>
            <a:endParaRPr lang="en-US" sz="680" dirty="0"/>
          </a:p>
        </p:txBody>
      </p:sp>
      <p:sp>
        <p:nvSpPr>
          <p:cNvPr id="23" name="Text 18"/>
          <p:cNvSpPr/>
          <p:nvPr/>
        </p:nvSpPr>
        <p:spPr>
          <a:xfrm>
            <a:off x="342900" y="2892326"/>
            <a:ext cx="2752427" cy="1879104"/>
          </a:xfrm>
          <a:prstGeom prst="roundRect">
            <a:avLst>
              <a:gd name="adj" fmla="val 3041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342900" y="2892326"/>
            <a:ext cx="2752427" cy="19050"/>
          </a:xfrm>
          <a:custGeom>
            <a:avLst/>
            <a:gdLst/>
            <a:ahLst/>
            <a:cxnLst/>
            <a:rect l="l" t="t" r="r" b="b"/>
            <a:pathLst>
              <a:path w="2752427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737874" y="19050"/>
                </a:lnTo>
                <a:lnTo>
                  <a:pt x="2735618" y="16669"/>
                </a:lnTo>
                <a:lnTo>
                  <a:pt x="2733079" y="14288"/>
                </a:lnTo>
                <a:lnTo>
                  <a:pt x="2730193" y="11906"/>
                </a:lnTo>
                <a:lnTo>
                  <a:pt x="2726868" y="9525"/>
                </a:lnTo>
                <a:lnTo>
                  <a:pt x="2722945" y="7144"/>
                </a:lnTo>
                <a:lnTo>
                  <a:pt x="2718117" y="4763"/>
                </a:lnTo>
                <a:lnTo>
                  <a:pt x="2711602" y="2381"/>
                </a:lnTo>
                <a:lnTo>
                  <a:pt x="2695277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57200" y="3025676"/>
            <a:ext cx="242441" cy="242441"/>
          </a:xfrm>
          <a:prstGeom prst="roundRect">
            <a:avLst>
              <a:gd name="adj" fmla="val 20430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052" y="3080528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57200" y="3339108"/>
            <a:ext cx="2776210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Suicidality Codes Updated</a:t>
            </a:r>
            <a:endParaRPr lang="en-US" sz="760" dirty="0"/>
          </a:p>
        </p:txBody>
      </p:sp>
      <p:sp>
        <p:nvSpPr>
          <p:cNvPr id="28" name="Text 22"/>
          <p:cNvSpPr/>
          <p:nvPr/>
        </p:nvSpPr>
        <p:spPr>
          <a:xfrm>
            <a:off x="457200" y="3495229"/>
            <a:ext cx="2574304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</a:t>
            </a:r>
            <a:r>
              <a:rPr lang="en-US" sz="68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ICD-10-CM codes</a:t>
            </a: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 and monitor suicidal behavior and non-suicidal self-injury — usable without requiring another diagnosis.</a:t>
            </a:r>
            <a:endParaRPr lang="en-US" sz="680" dirty="0"/>
          </a:p>
        </p:txBody>
      </p:sp>
      <p:sp>
        <p:nvSpPr>
          <p:cNvPr id="29" name="Text 23"/>
          <p:cNvSpPr/>
          <p:nvPr/>
        </p:nvSpPr>
        <p:spPr>
          <a:xfrm>
            <a:off x="3195638" y="2892326"/>
            <a:ext cx="2752576" cy="1879104"/>
          </a:xfrm>
          <a:prstGeom prst="roundRect">
            <a:avLst>
              <a:gd name="adj" fmla="val 3041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3195638" y="2892326"/>
            <a:ext cx="2752576" cy="19050"/>
          </a:xfrm>
          <a:custGeom>
            <a:avLst/>
            <a:gdLst/>
            <a:ahLst/>
            <a:cxnLst/>
            <a:rect l="l" t="t" r="r" b="b"/>
            <a:pathLst>
              <a:path w="2752576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738023" y="19050"/>
                </a:lnTo>
                <a:lnTo>
                  <a:pt x="2735767" y="16669"/>
                </a:lnTo>
                <a:lnTo>
                  <a:pt x="2733227" y="14288"/>
                </a:lnTo>
                <a:lnTo>
                  <a:pt x="2730342" y="11906"/>
                </a:lnTo>
                <a:lnTo>
                  <a:pt x="2727017" y="9525"/>
                </a:lnTo>
                <a:lnTo>
                  <a:pt x="2723094" y="7144"/>
                </a:lnTo>
                <a:lnTo>
                  <a:pt x="2718266" y="4763"/>
                </a:lnTo>
                <a:lnTo>
                  <a:pt x="2711751" y="2381"/>
                </a:lnTo>
                <a:lnTo>
                  <a:pt x="2695426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3309938" y="3025676"/>
            <a:ext cx="242441" cy="242441"/>
          </a:xfrm>
          <a:prstGeom prst="roundRect">
            <a:avLst>
              <a:gd name="adj" fmla="val 20430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64790" y="3080528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309938" y="3339108"/>
            <a:ext cx="2776374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Insanely Simplified</a:t>
            </a:r>
            <a:endParaRPr lang="en-US" sz="760" dirty="0"/>
          </a:p>
        </p:txBody>
      </p:sp>
      <p:sp>
        <p:nvSpPr>
          <p:cNvPr id="34" name="Text 27"/>
          <p:cNvSpPr/>
          <p:nvPr/>
        </p:nvSpPr>
        <p:spPr>
          <a:xfrm>
            <a:off x="3309938" y="3495229"/>
            <a:ext cx="2574456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practitioner-friendly resource using </a:t>
            </a:r>
            <a:r>
              <a:rPr lang="en-US" sz="68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cartoons, mnemonics, and summary tables</a:t>
            </a: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help clinicians grasp spectrum-based diagnosis quickly. A strong supplemental tool.</a:t>
            </a:r>
            <a:endParaRPr lang="en-US" sz="680" dirty="0"/>
          </a:p>
        </p:txBody>
      </p:sp>
      <p:sp>
        <p:nvSpPr>
          <p:cNvPr id="35" name="Text 28"/>
          <p:cNvSpPr/>
          <p:nvPr/>
        </p:nvSpPr>
        <p:spPr>
          <a:xfrm>
            <a:off x="6048524" y="2892326"/>
            <a:ext cx="2752427" cy="1879104"/>
          </a:xfrm>
          <a:prstGeom prst="roundRect">
            <a:avLst>
              <a:gd name="adj" fmla="val 3041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6048524" y="2892326"/>
            <a:ext cx="2752427" cy="19050"/>
          </a:xfrm>
          <a:custGeom>
            <a:avLst/>
            <a:gdLst/>
            <a:ahLst/>
            <a:cxnLst/>
            <a:rect l="l" t="t" r="r" b="b"/>
            <a:pathLst>
              <a:path w="2752427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737874" y="19050"/>
                </a:lnTo>
                <a:lnTo>
                  <a:pt x="2735618" y="16669"/>
                </a:lnTo>
                <a:lnTo>
                  <a:pt x="2733079" y="14288"/>
                </a:lnTo>
                <a:lnTo>
                  <a:pt x="2730193" y="11906"/>
                </a:lnTo>
                <a:lnTo>
                  <a:pt x="2726868" y="9525"/>
                </a:lnTo>
                <a:lnTo>
                  <a:pt x="2722945" y="7144"/>
                </a:lnTo>
                <a:lnTo>
                  <a:pt x="2718117" y="4763"/>
                </a:lnTo>
                <a:lnTo>
                  <a:pt x="2711602" y="2381"/>
                </a:lnTo>
                <a:lnTo>
                  <a:pt x="2695277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6162824" y="3025676"/>
            <a:ext cx="242441" cy="242441"/>
          </a:xfrm>
          <a:prstGeom prst="roundRect">
            <a:avLst>
              <a:gd name="adj" fmla="val 20430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7676" y="3080528"/>
            <a:ext cx="132588" cy="1325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162824" y="3339108"/>
            <a:ext cx="2776210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 by the Trees</a:t>
            </a:r>
            <a:endParaRPr lang="en-US" sz="760" dirty="0"/>
          </a:p>
        </p:txBody>
      </p:sp>
      <p:sp>
        <p:nvSpPr>
          <p:cNvPr id="40" name="Text 32"/>
          <p:cNvSpPr/>
          <p:nvPr/>
        </p:nvSpPr>
        <p:spPr>
          <a:xfrm>
            <a:off x="6162824" y="3495229"/>
            <a:ext cx="2574304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</a:t>
            </a:r>
            <a:r>
              <a:rPr lang="en-US" sz="68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Psychiatry Online → DSM Library.</a:t>
            </a:r>
            <a:r>
              <a:rPr lang="en-US" sz="6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systematic, decision-tree approach to working through differential diagnosis. Use it when you are unsure — not just when you are stuck.</a:t>
            </a:r>
            <a:endParaRPr lang="en-US" sz="680" dirty="0"/>
          </a:p>
        </p:txBody>
      </p:sp>
      <p:sp>
        <p:nvSpPr>
          <p:cNvPr id="41" name="Text 33"/>
          <p:cNvSpPr/>
          <p:nvPr/>
        </p:nvSpPr>
        <p:spPr>
          <a:xfrm>
            <a:off x="0" y="4871740"/>
            <a:ext cx="9144000" cy="298936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8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comes from familiarity. Open the DSM-5-TR like a clinician, not a student.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5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9637" y="255836"/>
            <a:ext cx="285750" cy="7590"/>
          </a:xfrm>
          <a:prstGeom prst="rect">
            <a:avLst/>
          </a:prstGeom>
          <a:solidFill>
            <a:srgbClr val="FAB753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89816" y="200620"/>
            <a:ext cx="256436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CLINICAL TRAINING SERIES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5808613" y="255836"/>
            <a:ext cx="285750" cy="7590"/>
          </a:xfrm>
          <a:prstGeom prst="rect">
            <a:avLst/>
          </a:prstGeom>
          <a:solidFill>
            <a:srgbClr val="FAB753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9226" y="361801"/>
            <a:ext cx="8865549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96"/>
              </a:lnSpc>
              <a:spcAft>
                <a:spcPts val="230"/>
              </a:spcAft>
              <a:buNone/>
            </a:pPr>
            <a:r>
              <a:rPr lang="en-US" sz="2360" b="1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DSM-5-TR Guess Who</a:t>
            </a:r>
            <a:endParaRPr lang="en-US" sz="2360" dirty="0"/>
          </a:p>
        </p:txBody>
      </p:sp>
      <p:sp>
        <p:nvSpPr>
          <p:cNvPr id="6" name="Text 4"/>
          <p:cNvSpPr/>
          <p:nvPr/>
        </p:nvSpPr>
        <p:spPr>
          <a:xfrm>
            <a:off x="14942" y="720626"/>
            <a:ext cx="91141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Reasoning Game — 20 Minutes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220" y="1063526"/>
            <a:ext cx="2676376" cy="1618059"/>
          </a:xfrm>
          <a:prstGeom prst="roundRect">
            <a:avLst>
              <a:gd name="adj" fmla="val 5337"/>
            </a:avLst>
          </a:prstGeom>
          <a:solidFill>
            <a:srgbClr val="1E6E85"/>
          </a:solidFill>
          <a:ln w="9525">
            <a:solidFill>
              <a:srgbClr val="FAB753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24459" y="1278582"/>
            <a:ext cx="285750" cy="285750"/>
          </a:xfrm>
          <a:prstGeom prst="ellipse">
            <a:avLst/>
          </a:prstGeom>
          <a:solidFill>
            <a:srgbClr val="FAB753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0966" y="1355089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3955" y="1621482"/>
            <a:ext cx="25909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60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537484" y="2091853"/>
            <a:ext cx="508674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kern="0" spc="8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TEAMS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536719" y="2357438"/>
            <a:ext cx="2461230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0"/>
              </a:lnSpc>
              <a:buNone/>
            </a:pPr>
            <a:r>
              <a:rPr lang="en-US" sz="700" dirty="0">
                <a:solidFill>
                  <a:srgbClr val="B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for teams. Pair up with the person next to you.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33738" y="1063526"/>
            <a:ext cx="2676525" cy="1618059"/>
          </a:xfrm>
          <a:prstGeom prst="roundRect">
            <a:avLst>
              <a:gd name="adj" fmla="val 5337"/>
            </a:avLst>
          </a:prstGeom>
          <a:solidFill>
            <a:srgbClr val="1E6E85"/>
          </a:solidFill>
          <a:ln w="9525">
            <a:solidFill>
              <a:srgbClr val="FAB753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429125" y="1216521"/>
            <a:ext cx="285750" cy="285750"/>
          </a:xfrm>
          <a:prstGeom prst="ellipse">
            <a:avLst/>
          </a:prstGeom>
          <a:solidFill>
            <a:srgbClr val="FAB753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632" y="1293028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25243" y="1559421"/>
            <a:ext cx="51803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60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4072682" y="2045791"/>
            <a:ext cx="109850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010" dirty="0"/>
          </a:p>
        </p:txBody>
      </p:sp>
      <p:sp>
        <p:nvSpPr>
          <p:cNvPr id="18" name="Text 14"/>
          <p:cNvSpPr/>
          <p:nvPr/>
        </p:nvSpPr>
        <p:spPr>
          <a:xfrm>
            <a:off x="3333274" y="2295376"/>
            <a:ext cx="2477453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80"/>
              </a:lnSpc>
              <a:buNone/>
            </a:pPr>
            <a:r>
              <a:rPr lang="en-US" sz="700" dirty="0">
                <a:solidFill>
                  <a:srgbClr val="B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has a DSM-5-TR diagnosis with full symptom profile on the back.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6038404" y="1063526"/>
            <a:ext cx="2676376" cy="1618059"/>
          </a:xfrm>
          <a:prstGeom prst="roundRect">
            <a:avLst>
              <a:gd name="adj" fmla="val 5337"/>
            </a:avLst>
          </a:prstGeom>
          <a:solidFill>
            <a:srgbClr val="1E6E85"/>
          </a:solidFill>
          <a:ln w="9525">
            <a:solidFill>
              <a:srgbClr val="FAB753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233642" y="1266676"/>
            <a:ext cx="285750" cy="285750"/>
          </a:xfrm>
          <a:prstGeom prst="ellipse">
            <a:avLst/>
          </a:prstGeom>
          <a:solidFill>
            <a:srgbClr val="FAB753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0149" y="1343183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99523" y="1609576"/>
            <a:ext cx="1001688" cy="356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2810" b="1" kern="0" spc="-60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15–25</a:t>
            </a:r>
            <a:endParaRPr lang="en-US" sz="2810" dirty="0"/>
          </a:p>
        </p:txBody>
      </p:sp>
      <p:sp>
        <p:nvSpPr>
          <p:cNvPr id="23" name="Text 18"/>
          <p:cNvSpPr/>
          <p:nvPr/>
        </p:nvSpPr>
        <p:spPr>
          <a:xfrm>
            <a:off x="6599634" y="1995636"/>
            <a:ext cx="1709306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ROUND</a:t>
            </a:r>
            <a:endParaRPr lang="en-US" sz="1010" dirty="0"/>
          </a:p>
        </p:txBody>
      </p:sp>
      <p:sp>
        <p:nvSpPr>
          <p:cNvPr id="24" name="Text 19"/>
          <p:cNvSpPr/>
          <p:nvPr/>
        </p:nvSpPr>
        <p:spPr>
          <a:xfrm>
            <a:off x="6137941" y="2245221"/>
            <a:ext cx="247730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80"/>
              </a:lnSpc>
              <a:buNone/>
            </a:pPr>
            <a:r>
              <a:rPr lang="en-US" sz="700" dirty="0">
                <a:solidFill>
                  <a:srgbClr val="B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secretly selects one character and asks yes/no diagnostic questions to identify their opponent's.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0" y="2767905"/>
            <a:ext cx="9144000" cy="2073325"/>
          </a:xfrm>
          <a:prstGeom prst="rect">
            <a:avLst/>
          </a:prstGeom>
          <a:solidFill>
            <a:srgbClr val="164F6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0" y="2767905"/>
            <a:ext cx="9144000" cy="9525"/>
          </a:xfrm>
          <a:prstGeom prst="rect">
            <a:avLst/>
          </a:prstGeom>
          <a:solidFill>
            <a:srgbClr val="FAB753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541883" y="2891730"/>
            <a:ext cx="1787232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6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QUESTIONS INCLUDE:</a:t>
            </a:r>
            <a:endParaRPr lang="en-US" sz="76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678" y="2897841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29220" y="3129111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529530" y="3093690"/>
            <a:ext cx="2792417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Symptom-based:</a:t>
            </a:r>
            <a:r>
              <a:rPr lang="en-US" sz="680" dirty="0">
                <a:solidFill>
                  <a:srgbClr val="E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your character experience hallucinations?</a:t>
            </a:r>
            <a:endParaRPr lang="en-US" sz="680" dirty="0"/>
          </a:p>
        </p:txBody>
      </p:sp>
      <p:sp>
        <p:nvSpPr>
          <p:cNvPr id="31" name="Text 25"/>
          <p:cNvSpPr/>
          <p:nvPr/>
        </p:nvSpPr>
        <p:spPr>
          <a:xfrm>
            <a:off x="429220" y="3293120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529530" y="3257699"/>
            <a:ext cx="3395529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Duration-based:</a:t>
            </a:r>
            <a:r>
              <a:rPr lang="en-US" sz="680" dirty="0">
                <a:solidFill>
                  <a:srgbClr val="E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your diagnosis require symptoms present for 6+ months?</a:t>
            </a:r>
            <a:endParaRPr lang="en-US" sz="680" dirty="0"/>
          </a:p>
        </p:txBody>
      </p:sp>
      <p:sp>
        <p:nvSpPr>
          <p:cNvPr id="33" name="Text 27"/>
          <p:cNvSpPr/>
          <p:nvPr/>
        </p:nvSpPr>
        <p:spPr>
          <a:xfrm>
            <a:off x="429220" y="3457129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29530" y="3421707"/>
            <a:ext cx="2781776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Specifier-based:</a:t>
            </a:r>
            <a:r>
              <a:rPr lang="en-US" sz="680" dirty="0">
                <a:solidFill>
                  <a:srgbClr val="E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your character have a psychotic specifier?</a:t>
            </a:r>
            <a:endParaRPr lang="en-US" sz="680" dirty="0"/>
          </a:p>
        </p:txBody>
      </p:sp>
      <p:sp>
        <p:nvSpPr>
          <p:cNvPr id="35" name="Text 29"/>
          <p:cNvSpPr/>
          <p:nvPr/>
        </p:nvSpPr>
        <p:spPr>
          <a:xfrm>
            <a:off x="429220" y="3621137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529530" y="3585716"/>
            <a:ext cx="2586633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Setting-based:</a:t>
            </a:r>
            <a:r>
              <a:rPr lang="en-US" sz="680" dirty="0">
                <a:solidFill>
                  <a:srgbClr val="E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symptoms occur across multiple settings?</a:t>
            </a:r>
            <a:endParaRPr lang="en-US" sz="680" dirty="0"/>
          </a:p>
        </p:txBody>
      </p:sp>
      <p:sp>
        <p:nvSpPr>
          <p:cNvPr id="37" name="Text 31"/>
          <p:cNvSpPr/>
          <p:nvPr/>
        </p:nvSpPr>
        <p:spPr>
          <a:xfrm>
            <a:off x="4568130" y="2891730"/>
            <a:ext cx="7590" cy="1849189"/>
          </a:xfrm>
          <a:prstGeom prst="rect">
            <a:avLst/>
          </a:prstGeom>
          <a:solidFill>
            <a:srgbClr val="FAB753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4889004" y="2891730"/>
            <a:ext cx="835253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6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WIN:</a:t>
            </a:r>
            <a:endParaRPr lang="en-US" sz="76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4798" y="2897841"/>
            <a:ext cx="132588" cy="1325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776341" y="3129111"/>
            <a:ext cx="43160" cy="43160"/>
          </a:xfrm>
          <a:prstGeom prst="ellipse">
            <a:avLst/>
          </a:prstGeom>
          <a:solidFill>
            <a:srgbClr val="55A49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4876651" y="3093690"/>
            <a:ext cx="3119021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E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characters whose criteria do not match the answers you receive.</a:t>
            </a:r>
            <a:endParaRPr lang="en-US" sz="680" dirty="0"/>
          </a:p>
        </p:txBody>
      </p:sp>
      <p:sp>
        <p:nvSpPr>
          <p:cNvPr id="42" name="Text 35"/>
          <p:cNvSpPr/>
          <p:nvPr/>
        </p:nvSpPr>
        <p:spPr>
          <a:xfrm>
            <a:off x="4776341" y="3293120"/>
            <a:ext cx="43160" cy="43160"/>
          </a:xfrm>
          <a:prstGeom prst="ellipse">
            <a:avLst/>
          </a:prstGeom>
          <a:solidFill>
            <a:srgbClr val="55A49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4876651" y="3257699"/>
            <a:ext cx="2465978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E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targeted, specific clinical questions — not vague ones.</a:t>
            </a:r>
            <a:endParaRPr lang="en-US" sz="680" dirty="0"/>
          </a:p>
        </p:txBody>
      </p:sp>
      <p:sp>
        <p:nvSpPr>
          <p:cNvPr id="44" name="Text 37"/>
          <p:cNvSpPr/>
          <p:nvPr/>
        </p:nvSpPr>
        <p:spPr>
          <a:xfrm>
            <a:off x="4776341" y="3457129"/>
            <a:ext cx="43160" cy="43160"/>
          </a:xfrm>
          <a:prstGeom prst="ellipse">
            <a:avLst/>
          </a:prstGeom>
          <a:solidFill>
            <a:srgbClr val="55A49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4876651" y="3421707"/>
            <a:ext cx="1459483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E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confident, make your guess.</a:t>
            </a:r>
            <a:endParaRPr lang="en-US" sz="680" dirty="0"/>
          </a:p>
        </p:txBody>
      </p:sp>
      <p:sp>
        <p:nvSpPr>
          <p:cNvPr id="46" name="Text 39"/>
          <p:cNvSpPr/>
          <p:nvPr/>
        </p:nvSpPr>
        <p:spPr>
          <a:xfrm>
            <a:off x="4776341" y="3621137"/>
            <a:ext cx="43160" cy="43160"/>
          </a:xfrm>
          <a:prstGeom prst="ellipse">
            <a:avLst/>
          </a:prstGeom>
          <a:solidFill>
            <a:srgbClr val="55A49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4876651" y="3585716"/>
            <a:ext cx="2973809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E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who correctly identifies their opponent's character first wins.</a:t>
            </a:r>
            <a:endParaRPr lang="en-US" sz="680" dirty="0"/>
          </a:p>
        </p:txBody>
      </p:sp>
      <p:sp>
        <p:nvSpPr>
          <p:cNvPr id="48" name="Text 41"/>
          <p:cNvSpPr/>
          <p:nvPr/>
        </p:nvSpPr>
        <p:spPr>
          <a:xfrm>
            <a:off x="-91440" y="4841230"/>
            <a:ext cx="9326880" cy="302270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429260" tIns="78740" rIns="429260" bIns="78740" rtlCol="0" anchor="t"/>
          <a:lstStyle/>
          <a:p>
            <a:pPr marL="0" indent="0" algn="ctr">
              <a:buNone/>
            </a:pPr>
            <a:r>
              <a:rPr lang="en-US" sz="760" b="1" kern="0" spc="2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trivia. It is clinical reasoning — practiced at speed, out loud, with a colleague.</a:t>
            </a:r>
            <a:endParaRPr lang="en-US" sz="760" dirty="0"/>
          </a:p>
        </p:txBody>
      </p:sp>
      <p:sp>
        <p:nvSpPr>
          <p:cNvPr id="49" name="Text 42"/>
          <p:cNvSpPr/>
          <p:nvPr/>
        </p:nvSpPr>
        <p:spPr>
          <a:xfrm>
            <a:off x="438745" y="1073051"/>
            <a:ext cx="2657323" cy="21580"/>
          </a:xfrm>
          <a:custGeom>
            <a:avLst/>
            <a:gdLst/>
            <a:ahLst/>
            <a:cxnLst/>
            <a:rect l="l" t="t" r="r" b="b"/>
            <a:pathLst>
              <a:path w="2657323" h="21580">
                <a:moveTo>
                  <a:pt x="86360" y="0"/>
                </a:moveTo>
                <a:lnTo>
                  <a:pt x="2570963" y="0"/>
                </a:lnTo>
                <a:lnTo>
                  <a:pt x="2592378" y="2698"/>
                </a:lnTo>
                <a:lnTo>
                  <a:pt x="2601008" y="5395"/>
                </a:lnTo>
                <a:lnTo>
                  <a:pt x="2607463" y="8093"/>
                </a:lnTo>
                <a:lnTo>
                  <a:pt x="2612762" y="10790"/>
                </a:lnTo>
                <a:lnTo>
                  <a:pt x="2617305" y="13488"/>
                </a:lnTo>
                <a:lnTo>
                  <a:pt x="2621297" y="16185"/>
                </a:lnTo>
                <a:lnTo>
                  <a:pt x="2624859" y="18883"/>
                </a:lnTo>
                <a:lnTo>
                  <a:pt x="262807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3243263" y="1073051"/>
            <a:ext cx="2657475" cy="21580"/>
          </a:xfrm>
          <a:custGeom>
            <a:avLst/>
            <a:gdLst/>
            <a:ahLst/>
            <a:cxnLst/>
            <a:rect l="l" t="t" r="r" b="b"/>
            <a:pathLst>
              <a:path w="2657475" h="21580">
                <a:moveTo>
                  <a:pt x="86360" y="0"/>
                </a:moveTo>
                <a:lnTo>
                  <a:pt x="2571115" y="0"/>
                </a:lnTo>
                <a:lnTo>
                  <a:pt x="2592531" y="2698"/>
                </a:lnTo>
                <a:lnTo>
                  <a:pt x="2601160" y="5395"/>
                </a:lnTo>
                <a:lnTo>
                  <a:pt x="2607615" y="8093"/>
                </a:lnTo>
                <a:lnTo>
                  <a:pt x="2612915" y="10790"/>
                </a:lnTo>
                <a:lnTo>
                  <a:pt x="2617458" y="13488"/>
                </a:lnTo>
                <a:lnTo>
                  <a:pt x="2621449" y="16185"/>
                </a:lnTo>
                <a:lnTo>
                  <a:pt x="2625012" y="18883"/>
                </a:lnTo>
                <a:lnTo>
                  <a:pt x="262822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6047929" y="1073051"/>
            <a:ext cx="2657323" cy="21580"/>
          </a:xfrm>
          <a:custGeom>
            <a:avLst/>
            <a:gdLst/>
            <a:ahLst/>
            <a:cxnLst/>
            <a:rect l="l" t="t" r="r" b="b"/>
            <a:pathLst>
              <a:path w="2657323" h="21580">
                <a:moveTo>
                  <a:pt x="86360" y="0"/>
                </a:moveTo>
                <a:lnTo>
                  <a:pt x="2570963" y="0"/>
                </a:lnTo>
                <a:lnTo>
                  <a:pt x="2592378" y="2698"/>
                </a:lnTo>
                <a:lnTo>
                  <a:pt x="2601008" y="5395"/>
                </a:lnTo>
                <a:lnTo>
                  <a:pt x="2607463" y="8093"/>
                </a:lnTo>
                <a:lnTo>
                  <a:pt x="2612762" y="10790"/>
                </a:lnTo>
                <a:lnTo>
                  <a:pt x="2617305" y="13488"/>
                </a:lnTo>
                <a:lnTo>
                  <a:pt x="2621297" y="16185"/>
                </a:lnTo>
                <a:lnTo>
                  <a:pt x="2624859" y="18883"/>
                </a:lnTo>
                <a:lnTo>
                  <a:pt x="262807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1838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lIns="372110" tIns="128270" rIns="372110" bIns="100330" rtlCol="0" anchor="t"/>
          <a:lstStyle/>
          <a:p>
            <a:pPr marL="0" indent="0" algn="l">
              <a:buNone/>
            </a:pPr>
            <a:r>
              <a:rPr lang="en-US" sz="1460" b="1" kern="0" spc="1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— Rule In. Rule Out. Document What You See.</a:t>
            </a:r>
            <a:endParaRPr lang="en-US" sz="1460" dirty="0"/>
          </a:p>
          <a:p>
            <a:pPr marL="0" indent="0" algn="l">
              <a:buNone/>
            </a:pPr>
            <a:r>
              <a:rPr lang="en-US" sz="840" i="1" kern="0" spc="8" dirty="0">
                <a:solidFill>
                  <a:srgbClr val="A8DA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valid assessment does not make the diagnosis. It supports your clinical reasoning.</a:t>
            </a:r>
            <a:endParaRPr lang="en-US" sz="1460" dirty="0"/>
          </a:p>
        </p:txBody>
      </p:sp>
      <p:sp>
        <p:nvSpPr>
          <p:cNvPr id="3" name="Text 1"/>
          <p:cNvSpPr/>
          <p:nvPr/>
        </p:nvSpPr>
        <p:spPr>
          <a:xfrm>
            <a:off x="0" y="601563"/>
            <a:ext cx="9144000" cy="21580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623143"/>
            <a:ext cx="4557415" cy="413742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7770" y="715714"/>
            <a:ext cx="228600" cy="228600"/>
          </a:xfrm>
          <a:prstGeom prst="ellipse">
            <a:avLst/>
          </a:prstGeom>
          <a:solidFill>
            <a:srgbClr val="FAB753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776" y="763720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2691" y="738634"/>
            <a:ext cx="177806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ASSESSMENTS DO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0" y="1036886"/>
            <a:ext cx="4557415" cy="3558778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47890" y="1036886"/>
            <a:ext cx="9525" cy="3558778"/>
          </a:xfrm>
          <a:prstGeom prst="rect">
            <a:avLst/>
          </a:prstGeom>
          <a:solidFill>
            <a:srgbClr val="C8E5E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57770" y="1222177"/>
            <a:ext cx="1728788" cy="164753"/>
          </a:xfrm>
          <a:prstGeom prst="roundRect">
            <a:avLst>
              <a:gd name="adj" fmla="val 17730"/>
            </a:avLst>
          </a:prstGeom>
          <a:solidFill>
            <a:srgbClr val="FAB753">
              <a:alpha val="15000"/>
            </a:srgbClr>
          </a:solidFill>
          <a:ln w="9525">
            <a:solidFill>
              <a:srgbClr val="FAB753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880" y="1238185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802" y="1245543"/>
            <a:ext cx="163596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B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CLINICAL REASONING</a:t>
            </a:r>
            <a:endParaRPr lang="en-US" sz="620" dirty="0"/>
          </a:p>
        </p:txBody>
      </p:sp>
      <p:sp>
        <p:nvSpPr>
          <p:cNvPr id="13" name="Text 9"/>
          <p:cNvSpPr/>
          <p:nvPr/>
        </p:nvSpPr>
        <p:spPr>
          <a:xfrm>
            <a:off x="257770" y="1922711"/>
            <a:ext cx="4032349" cy="9525"/>
          </a:xfrm>
          <a:prstGeom prst="rect">
            <a:avLst/>
          </a:prstGeom>
          <a:solidFill>
            <a:srgbClr val="1B5E72">
              <a:alpha val="9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57770" y="1545580"/>
            <a:ext cx="157654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69"/>
              </a:lnSpc>
              <a:buNone/>
            </a:pPr>
            <a:r>
              <a:rPr lang="en-US" sz="11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30" dirty="0"/>
          </a:p>
        </p:txBody>
      </p:sp>
      <p:sp>
        <p:nvSpPr>
          <p:cNvPr id="15" name="Text 11"/>
          <p:cNvSpPr/>
          <p:nvPr/>
        </p:nvSpPr>
        <p:spPr>
          <a:xfrm>
            <a:off x="493663" y="1537990"/>
            <a:ext cx="3872386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 diagnosis by capturing symptom patterns across informants and settings.</a:t>
            </a:r>
            <a:endParaRPr lang="en-US" sz="870" dirty="0"/>
          </a:p>
        </p:txBody>
      </p:sp>
      <p:sp>
        <p:nvSpPr>
          <p:cNvPr id="16" name="Text 12"/>
          <p:cNvSpPr/>
          <p:nvPr/>
        </p:nvSpPr>
        <p:spPr>
          <a:xfrm>
            <a:off x="257770" y="2381696"/>
            <a:ext cx="4032349" cy="9525"/>
          </a:xfrm>
          <a:prstGeom prst="rect">
            <a:avLst/>
          </a:prstGeom>
          <a:solidFill>
            <a:srgbClr val="1B5E72">
              <a:alpha val="9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57770" y="2004566"/>
            <a:ext cx="157654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69"/>
              </a:lnSpc>
              <a:buNone/>
            </a:pPr>
            <a:r>
              <a:rPr lang="en-US" sz="11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30" dirty="0"/>
          </a:p>
        </p:txBody>
      </p:sp>
      <p:sp>
        <p:nvSpPr>
          <p:cNvPr id="18" name="Text 14"/>
          <p:cNvSpPr/>
          <p:nvPr/>
        </p:nvSpPr>
        <p:spPr>
          <a:xfrm>
            <a:off x="493663" y="1996976"/>
            <a:ext cx="3872386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out a diagnosis when scores and patterns do not align with the presenting picture.</a:t>
            </a:r>
            <a:endParaRPr lang="en-US" sz="870" dirty="0"/>
          </a:p>
        </p:txBody>
      </p:sp>
      <p:sp>
        <p:nvSpPr>
          <p:cNvPr id="19" name="Text 15"/>
          <p:cNvSpPr/>
          <p:nvPr/>
        </p:nvSpPr>
        <p:spPr>
          <a:xfrm>
            <a:off x="257770" y="2840682"/>
            <a:ext cx="4032349" cy="9525"/>
          </a:xfrm>
          <a:prstGeom prst="rect">
            <a:avLst/>
          </a:prstGeom>
          <a:solidFill>
            <a:srgbClr val="1B5E72">
              <a:alpha val="9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57770" y="2463552"/>
            <a:ext cx="157654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69"/>
              </a:lnSpc>
              <a:buNone/>
            </a:pPr>
            <a:r>
              <a:rPr lang="en-US" sz="11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30" dirty="0"/>
          </a:p>
        </p:txBody>
      </p:sp>
      <p:sp>
        <p:nvSpPr>
          <p:cNvPr id="21" name="Text 17"/>
          <p:cNvSpPr/>
          <p:nvPr/>
        </p:nvSpPr>
        <p:spPr>
          <a:xfrm>
            <a:off x="493663" y="2455962"/>
            <a:ext cx="3872386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objective data that strengthens your clinical narrative and documentation.</a:t>
            </a:r>
            <a:endParaRPr lang="en-US" sz="870" dirty="0"/>
          </a:p>
        </p:txBody>
      </p:sp>
      <p:sp>
        <p:nvSpPr>
          <p:cNvPr id="22" name="Text 18"/>
          <p:cNvSpPr/>
          <p:nvPr/>
        </p:nvSpPr>
        <p:spPr>
          <a:xfrm>
            <a:off x="257770" y="3299668"/>
            <a:ext cx="4032349" cy="9525"/>
          </a:xfrm>
          <a:prstGeom prst="rect">
            <a:avLst/>
          </a:prstGeom>
          <a:solidFill>
            <a:srgbClr val="1B5E72">
              <a:alpha val="9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57770" y="2922538"/>
            <a:ext cx="157654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69"/>
              </a:lnSpc>
              <a:buNone/>
            </a:pPr>
            <a:r>
              <a:rPr lang="en-US" sz="11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30" dirty="0"/>
          </a:p>
        </p:txBody>
      </p:sp>
      <p:sp>
        <p:nvSpPr>
          <p:cNvPr id="24" name="Text 20"/>
          <p:cNvSpPr/>
          <p:nvPr/>
        </p:nvSpPr>
        <p:spPr>
          <a:xfrm>
            <a:off x="493663" y="2914948"/>
            <a:ext cx="3872386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symptoms across multiple settings — home, school, and community.</a:t>
            </a:r>
            <a:endParaRPr lang="en-US" sz="870" dirty="0"/>
          </a:p>
        </p:txBody>
      </p:sp>
      <p:sp>
        <p:nvSpPr>
          <p:cNvPr id="25" name="Text 21"/>
          <p:cNvSpPr/>
          <p:nvPr/>
        </p:nvSpPr>
        <p:spPr>
          <a:xfrm>
            <a:off x="257770" y="3381524"/>
            <a:ext cx="157654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69"/>
              </a:lnSpc>
              <a:buNone/>
            </a:pPr>
            <a:r>
              <a:rPr lang="en-US" sz="11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30" dirty="0"/>
          </a:p>
        </p:txBody>
      </p:sp>
      <p:sp>
        <p:nvSpPr>
          <p:cNvPr id="26" name="Text 22"/>
          <p:cNvSpPr/>
          <p:nvPr/>
        </p:nvSpPr>
        <p:spPr>
          <a:xfrm>
            <a:off x="493663" y="3373934"/>
            <a:ext cx="3872386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baseline for measuring progress and response to treatment over time.</a:t>
            </a:r>
            <a:endParaRPr lang="en-US" sz="870" dirty="0"/>
          </a:p>
        </p:txBody>
      </p:sp>
      <p:sp>
        <p:nvSpPr>
          <p:cNvPr id="27" name="Text 23"/>
          <p:cNvSpPr/>
          <p:nvPr/>
        </p:nvSpPr>
        <p:spPr>
          <a:xfrm>
            <a:off x="4557415" y="623143"/>
            <a:ext cx="29170" cy="3972520"/>
          </a:xfrm>
          <a:prstGeom prst="rect">
            <a:avLst/>
          </a:prstGeom>
          <a:gradFill rotWithShape="1">
            <a:gsLst>
              <a:gs pos="0">
                <a:srgbClr val="1B5E72"/>
              </a:gs>
              <a:gs pos="100000">
                <a:srgbClr val="FAB753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586585" y="623143"/>
            <a:ext cx="4557415" cy="413742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844355" y="715714"/>
            <a:ext cx="228600" cy="228600"/>
          </a:xfrm>
          <a:prstGeom prst="ellipse">
            <a:avLst/>
          </a:prstGeom>
          <a:solidFill>
            <a:srgbClr val="2C2C2C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2361" y="763720"/>
            <a:ext cx="132588" cy="1325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59276" y="738634"/>
            <a:ext cx="23743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ASSESSMENTS DO NOT DO</a:t>
            </a:r>
            <a:endParaRPr lang="en-US" sz="960" dirty="0"/>
          </a:p>
        </p:txBody>
      </p:sp>
      <p:sp>
        <p:nvSpPr>
          <p:cNvPr id="32" name="Text 27"/>
          <p:cNvSpPr/>
          <p:nvPr/>
        </p:nvSpPr>
        <p:spPr>
          <a:xfrm>
            <a:off x="4586585" y="1036886"/>
            <a:ext cx="4557415" cy="355877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586585" y="1036886"/>
            <a:ext cx="9525" cy="3558778"/>
          </a:xfrm>
          <a:prstGeom prst="rect">
            <a:avLst/>
          </a:prstGeom>
          <a:solidFill>
            <a:srgbClr val="CFCFC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9134475" y="1036886"/>
            <a:ext cx="9525" cy="3558778"/>
          </a:xfrm>
          <a:prstGeom prst="rect">
            <a:avLst/>
          </a:prstGeom>
          <a:solidFill>
            <a:srgbClr val="CFCFC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853880" y="1222177"/>
            <a:ext cx="1948904" cy="164753"/>
          </a:xfrm>
          <a:prstGeom prst="roundRect">
            <a:avLst>
              <a:gd name="adj" fmla="val 17730"/>
            </a:avLst>
          </a:prstGeom>
          <a:solidFill>
            <a:srgbClr val="55A49C">
              <a:alpha val="12000"/>
            </a:srgbClr>
          </a:solidFill>
          <a:ln w="9525">
            <a:solidFill>
              <a:srgbClr val="55A49C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5990" y="1238185"/>
            <a:ext cx="132588" cy="13258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014913" y="1245543"/>
            <a:ext cx="18780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JUDGMENT REMAINS YOURS</a:t>
            </a:r>
            <a:endParaRPr lang="en-US" sz="620" dirty="0"/>
          </a:p>
        </p:txBody>
      </p:sp>
      <p:sp>
        <p:nvSpPr>
          <p:cNvPr id="38" name="Text 32"/>
          <p:cNvSpPr/>
          <p:nvPr/>
        </p:nvSpPr>
        <p:spPr>
          <a:xfrm>
            <a:off x="4853880" y="1796802"/>
            <a:ext cx="4022824" cy="9525"/>
          </a:xfrm>
          <a:prstGeom prst="rect">
            <a:avLst/>
          </a:prstGeom>
          <a:solidFill>
            <a:srgbClr val="1B5E72">
              <a:alpha val="9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4853880" y="1545580"/>
            <a:ext cx="157654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69"/>
              </a:lnSpc>
              <a:buNone/>
            </a:pPr>
            <a:r>
              <a:rPr lang="en-US" sz="113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30" dirty="0"/>
          </a:p>
        </p:txBody>
      </p:sp>
      <p:sp>
        <p:nvSpPr>
          <p:cNvPr id="40" name="Text 34"/>
          <p:cNvSpPr/>
          <p:nvPr/>
        </p:nvSpPr>
        <p:spPr>
          <a:xfrm>
            <a:off x="5089773" y="1537990"/>
            <a:ext cx="152562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clinical judgment.</a:t>
            </a:r>
            <a:endParaRPr lang="en-US" sz="870" dirty="0"/>
          </a:p>
        </p:txBody>
      </p:sp>
      <p:sp>
        <p:nvSpPr>
          <p:cNvPr id="41" name="Text 35"/>
          <p:cNvSpPr/>
          <p:nvPr/>
        </p:nvSpPr>
        <p:spPr>
          <a:xfrm>
            <a:off x="4853880" y="2129879"/>
            <a:ext cx="4022824" cy="9525"/>
          </a:xfrm>
          <a:prstGeom prst="rect">
            <a:avLst/>
          </a:prstGeom>
          <a:solidFill>
            <a:srgbClr val="1B5E72">
              <a:alpha val="9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4853880" y="1878657"/>
            <a:ext cx="157654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69"/>
              </a:lnSpc>
              <a:buNone/>
            </a:pPr>
            <a:r>
              <a:rPr lang="en-US" sz="113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30" dirty="0"/>
          </a:p>
        </p:txBody>
      </p:sp>
      <p:sp>
        <p:nvSpPr>
          <p:cNvPr id="43" name="Text 37"/>
          <p:cNvSpPr/>
          <p:nvPr/>
        </p:nvSpPr>
        <p:spPr>
          <a:xfrm>
            <a:off x="5089773" y="1871067"/>
            <a:ext cx="144491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diagnosis for you.</a:t>
            </a:r>
            <a:endParaRPr lang="en-US" sz="870" dirty="0"/>
          </a:p>
        </p:txBody>
      </p:sp>
      <p:sp>
        <p:nvSpPr>
          <p:cNvPr id="44" name="Text 38"/>
          <p:cNvSpPr/>
          <p:nvPr/>
        </p:nvSpPr>
        <p:spPr>
          <a:xfrm>
            <a:off x="4853880" y="2462957"/>
            <a:ext cx="4022824" cy="9525"/>
          </a:xfrm>
          <a:prstGeom prst="rect">
            <a:avLst/>
          </a:prstGeom>
          <a:solidFill>
            <a:srgbClr val="1B5E72">
              <a:alpha val="9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853880" y="2211735"/>
            <a:ext cx="157654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69"/>
              </a:lnSpc>
              <a:buNone/>
            </a:pPr>
            <a:r>
              <a:rPr lang="en-US" sz="113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30" dirty="0"/>
          </a:p>
        </p:txBody>
      </p:sp>
      <p:sp>
        <p:nvSpPr>
          <p:cNvPr id="46" name="Text 40"/>
          <p:cNvSpPr/>
          <p:nvPr/>
        </p:nvSpPr>
        <p:spPr>
          <a:xfrm>
            <a:off x="5089773" y="2204145"/>
            <a:ext cx="295776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 thorough clinical interview and observation.</a:t>
            </a:r>
            <a:endParaRPr lang="en-US" sz="870" dirty="0"/>
          </a:p>
        </p:txBody>
      </p:sp>
      <p:sp>
        <p:nvSpPr>
          <p:cNvPr id="47" name="Text 41"/>
          <p:cNvSpPr/>
          <p:nvPr/>
        </p:nvSpPr>
        <p:spPr>
          <a:xfrm>
            <a:off x="4853880" y="2796034"/>
            <a:ext cx="4022824" cy="9525"/>
          </a:xfrm>
          <a:prstGeom prst="rect">
            <a:avLst/>
          </a:prstGeom>
          <a:solidFill>
            <a:srgbClr val="1B5E72">
              <a:alpha val="9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4853880" y="2544812"/>
            <a:ext cx="157654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69"/>
              </a:lnSpc>
              <a:buNone/>
            </a:pPr>
            <a:r>
              <a:rPr lang="en-US" sz="113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30" dirty="0"/>
          </a:p>
        </p:txBody>
      </p:sp>
      <p:sp>
        <p:nvSpPr>
          <p:cNvPr id="49" name="Text 43"/>
          <p:cNvSpPr/>
          <p:nvPr/>
        </p:nvSpPr>
        <p:spPr>
          <a:xfrm>
            <a:off x="5089773" y="2537222"/>
            <a:ext cx="346314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trauma presentation that mimics other diagnoses.</a:t>
            </a:r>
            <a:endParaRPr lang="en-US" sz="870" dirty="0"/>
          </a:p>
        </p:txBody>
      </p:sp>
      <p:sp>
        <p:nvSpPr>
          <p:cNvPr id="50" name="Text 44"/>
          <p:cNvSpPr/>
          <p:nvPr/>
        </p:nvSpPr>
        <p:spPr>
          <a:xfrm>
            <a:off x="4853880" y="2877889"/>
            <a:ext cx="157654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69"/>
              </a:lnSpc>
              <a:buNone/>
            </a:pPr>
            <a:r>
              <a:rPr lang="en-US" sz="113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30" dirty="0"/>
          </a:p>
        </p:txBody>
      </p:sp>
      <p:sp>
        <p:nvSpPr>
          <p:cNvPr id="51" name="Text 45"/>
          <p:cNvSpPr/>
          <p:nvPr/>
        </p:nvSpPr>
        <p:spPr>
          <a:xfrm>
            <a:off x="5089773" y="2870299"/>
            <a:ext cx="321839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alone without context, history, and clinical reasoning.</a:t>
            </a:r>
            <a:endParaRPr lang="en-US" sz="870" dirty="0"/>
          </a:p>
        </p:txBody>
      </p:sp>
      <p:sp>
        <p:nvSpPr>
          <p:cNvPr id="52" name="Text 46"/>
          <p:cNvSpPr/>
          <p:nvPr/>
        </p:nvSpPr>
        <p:spPr>
          <a:xfrm>
            <a:off x="0" y="4595664"/>
            <a:ext cx="9144000" cy="386060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0" y="4595664"/>
            <a:ext cx="9144000" cy="19050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060" y="4731850"/>
            <a:ext cx="132588" cy="132588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955224" y="4718149"/>
            <a:ext cx="744131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assessments are valid — and for what ages. Using the wrong tool for the wrong population produces misleading data.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42947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7770" y="1246138"/>
            <a:ext cx="21053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4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PSC-17 · VANDERBILT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257770" y="1492300"/>
            <a:ext cx="1952208" cy="576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Assessment</a:t>
            </a:r>
            <a:br/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Toolkit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7770" y="2184350"/>
            <a:ext cx="1952208" cy="50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4"/>
              </a:lnSpc>
              <a:buNone/>
            </a:pPr>
            <a:r>
              <a:rPr lang="en-US" sz="790" dirty="0">
                <a:solidFill>
                  <a:srgbClr val="FFFFFF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validated tools available in Avatar — know what they measure, who completes them, and how to use the data.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257770" y="2923431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AB753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361" y="2986022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6532" y="2982813"/>
            <a:ext cx="125648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PSC-17 · 17-item screening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257770" y="3281511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AB753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361" y="3344102"/>
            <a:ext cx="132588" cy="132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6532" y="3340894"/>
            <a:ext cx="117167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&amp; teacher versions</a:t>
            </a:r>
            <a:endParaRPr lang="en-US" sz="730" dirty="0"/>
          </a:p>
        </p:txBody>
      </p:sp>
      <p:sp>
        <p:nvSpPr>
          <p:cNvPr id="12" name="Text 8"/>
          <p:cNvSpPr/>
          <p:nvPr/>
        </p:nvSpPr>
        <p:spPr>
          <a:xfrm>
            <a:off x="257770" y="363959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AB753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361" y="3702183"/>
            <a:ext cx="132588" cy="132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6532" y="3698974"/>
            <a:ext cx="106035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 over time</a:t>
            </a:r>
            <a:endParaRPr lang="en-US" sz="730" dirty="0"/>
          </a:p>
        </p:txBody>
      </p:sp>
      <p:sp>
        <p:nvSpPr>
          <p:cNvPr id="15" name="Text 10"/>
          <p:cNvSpPr/>
          <p:nvPr/>
        </p:nvSpPr>
        <p:spPr>
          <a:xfrm>
            <a:off x="257770" y="4749998"/>
            <a:ext cx="191393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AB75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257770" y="4842570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44091" y="4842570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30411" y="4842570"/>
            <a:ext cx="43160" cy="43160"/>
          </a:xfrm>
          <a:prstGeom prst="ellipse">
            <a:avLst/>
          </a:prstGeom>
          <a:solidFill>
            <a:srgbClr val="FAB753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16731" y="4842570"/>
            <a:ext cx="43160" cy="43160"/>
          </a:xfrm>
          <a:prstGeom prst="ellipse">
            <a:avLst/>
          </a:prstGeom>
          <a:solidFill>
            <a:srgbClr val="FAB753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2733571" y="942233"/>
            <a:ext cx="185291" cy="18529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9922" y="968585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005182" y="909492"/>
            <a:ext cx="5929339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—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17-item parent-report screening tool that looks across multiple diagnostic areas — internalizing, externalizing, and attention symptoms.</a:t>
            </a:r>
            <a:endParaRPr lang="en-US" sz="760" dirty="0"/>
          </a:p>
        </p:txBody>
      </p:sp>
      <p:sp>
        <p:nvSpPr>
          <p:cNvPr id="24" name="Text 18"/>
          <p:cNvSpPr/>
          <p:nvPr/>
        </p:nvSpPr>
        <p:spPr>
          <a:xfrm>
            <a:off x="2733571" y="1302844"/>
            <a:ext cx="185291" cy="18529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59922" y="1329195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005182" y="1295254"/>
            <a:ext cx="5607427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completes it —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or caregiver report. Designed for children and adolescents. Quick to administer and score.</a:t>
            </a:r>
            <a:endParaRPr lang="en-US" sz="760" dirty="0"/>
          </a:p>
        </p:txBody>
      </p:sp>
      <p:sp>
        <p:nvSpPr>
          <p:cNvPr id="27" name="Text 20"/>
          <p:cNvSpPr/>
          <p:nvPr/>
        </p:nvSpPr>
        <p:spPr>
          <a:xfrm>
            <a:off x="2733571" y="1566716"/>
            <a:ext cx="185291" cy="18529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59922" y="1593068"/>
            <a:ext cx="132588" cy="132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005182" y="1559126"/>
            <a:ext cx="5929339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 —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identify areas of concern and support — or rule out — diagnostic hypotheses. Elevated scores point you toward a more thorough clinical evaluation in that domain.</a:t>
            </a:r>
            <a:endParaRPr lang="en-US" sz="760" dirty="0"/>
          </a:p>
        </p:txBody>
      </p:sp>
      <p:sp>
        <p:nvSpPr>
          <p:cNvPr id="31" name="Text 23"/>
          <p:cNvSpPr/>
          <p:nvPr/>
        </p:nvSpPr>
        <p:spPr>
          <a:xfrm>
            <a:off x="2744391" y="2879630"/>
            <a:ext cx="185291" cy="18529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70742" y="2905982"/>
            <a:ext cx="132588" cy="132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016002" y="2872040"/>
            <a:ext cx="5929339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—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rating tool that covers ADHD, ODD, conduct disorder, anxiety, and depression symptoms across multiple settings.</a:t>
            </a:r>
            <a:endParaRPr lang="en-US" sz="760" dirty="0"/>
          </a:p>
        </p:txBody>
      </p:sp>
      <p:sp>
        <p:nvSpPr>
          <p:cNvPr id="34" name="Text 25"/>
          <p:cNvSpPr/>
          <p:nvPr/>
        </p:nvSpPr>
        <p:spPr>
          <a:xfrm>
            <a:off x="2744391" y="3240241"/>
            <a:ext cx="185291" cy="18529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70742" y="3266592"/>
            <a:ext cx="132588" cy="13258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016002" y="3232651"/>
            <a:ext cx="5929339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completes it —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parent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teacher versions available — critical for confirming cross-setting symptom presentation, which DSM-5-TR requires for ADHD diagnosis.</a:t>
            </a:r>
            <a:endParaRPr lang="en-US" sz="760" dirty="0"/>
          </a:p>
        </p:txBody>
      </p:sp>
      <p:sp>
        <p:nvSpPr>
          <p:cNvPr id="37" name="Text 27"/>
          <p:cNvSpPr/>
          <p:nvPr/>
        </p:nvSpPr>
        <p:spPr>
          <a:xfrm>
            <a:off x="2744391" y="3600851"/>
            <a:ext cx="185291" cy="18529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70742" y="3627203"/>
            <a:ext cx="132588" cy="13258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3016002" y="3593261"/>
            <a:ext cx="5929339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built in —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 6-month follow-up version to track symptom change and treatment response over time. Use it — it tells a clinical story.</a:t>
            </a:r>
            <a:endParaRPr lang="en-US" sz="760" dirty="0"/>
          </a:p>
        </p:txBody>
      </p:sp>
      <p:sp>
        <p:nvSpPr>
          <p:cNvPr id="40" name="Text 29"/>
          <p:cNvSpPr/>
          <p:nvPr/>
        </p:nvSpPr>
        <p:spPr>
          <a:xfrm>
            <a:off x="2429470" y="4814590"/>
            <a:ext cx="6714530" cy="338777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342900" tIns="0" rIns="342900" bIns="0" rtlCol="0" anchor="ctr"/>
          <a:lstStyle/>
          <a:p>
            <a:pPr marL="0" indent="0" algn="ctr">
              <a:buNone/>
            </a:pPr>
            <a:r>
              <a:rPr lang="en-US" sz="790" b="1" kern="0" spc="1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are available in Avatar. Use them early. Use them regularly.</a:t>
            </a:r>
            <a:endParaRPr lang="en-US" sz="790" dirty="0"/>
          </a:p>
        </p:txBody>
      </p:sp>
      <p:sp>
        <p:nvSpPr>
          <p:cNvPr id="41" name="Text 30"/>
          <p:cNvSpPr/>
          <p:nvPr/>
        </p:nvSpPr>
        <p:spPr>
          <a:xfrm>
            <a:off x="2400300" y="0"/>
            <a:ext cx="29170" cy="5143500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57F3B6-F59C-9E21-E239-D264E4C1C990}"/>
              </a:ext>
            </a:extLst>
          </p:cNvPr>
          <p:cNvSpPr txBox="1"/>
          <p:nvPr/>
        </p:nvSpPr>
        <p:spPr>
          <a:xfrm>
            <a:off x="2929682" y="473253"/>
            <a:ext cx="2944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Pediatric symptoms checklist (PSC-17)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8A54EA-15B6-5B0D-D085-344364E9FA20}"/>
              </a:ext>
            </a:extLst>
          </p:cNvPr>
          <p:cNvSpPr txBox="1"/>
          <p:nvPr/>
        </p:nvSpPr>
        <p:spPr>
          <a:xfrm>
            <a:off x="2963390" y="243703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Vanderbilt Scales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57175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2691" y="1716584"/>
            <a:ext cx="1747576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7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DETERMINANTS OF HEALTH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314920" y="2080766"/>
            <a:ext cx="2069634" cy="405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92"/>
              </a:lnSpc>
              <a:spcAft>
                <a:spcPts val="1240"/>
              </a:spcAft>
              <a:buNone/>
            </a:pPr>
            <a:r>
              <a:rPr lang="en-US" sz="3040" b="1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Z-Codes</a:t>
            </a:r>
            <a:endParaRPr lang="en-US" sz="3040" dirty="0"/>
          </a:p>
        </p:txBody>
      </p:sp>
      <p:sp>
        <p:nvSpPr>
          <p:cNvPr id="5" name="Text 3"/>
          <p:cNvSpPr/>
          <p:nvPr/>
        </p:nvSpPr>
        <p:spPr>
          <a:xfrm>
            <a:off x="314920" y="2643485"/>
            <a:ext cx="34290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4920" y="2822525"/>
            <a:ext cx="2010501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i="1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Z-codes capture context — the conditions surrounding your client's life that affect their mental health, their care, and the cost of their episode.</a:t>
            </a:r>
            <a:endParaRPr lang="en-US" sz="84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alphaModFix amt="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1621" y="4124771"/>
            <a:ext cx="589508" cy="5895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71750" y="0"/>
            <a:ext cx="657225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943820" y="314920"/>
            <a:ext cx="641092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spcAft>
                <a:spcPts val="1580"/>
              </a:spcAft>
              <a:buNone/>
            </a:pPr>
            <a:r>
              <a:rPr lang="en-US" sz="1240" b="1" kern="0" spc="12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Z-Codes Matter in Your Documentation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2943820" y="751731"/>
            <a:ext cx="5828109" cy="705594"/>
          </a:xfrm>
          <a:prstGeom prst="roundRect">
            <a:avLst>
              <a:gd name="adj" fmla="val 10079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943820" y="751731"/>
            <a:ext cx="28575" cy="705594"/>
          </a:xfrm>
          <a:custGeom>
            <a:avLst/>
            <a:gdLst/>
            <a:ahLst/>
            <a:cxnLst/>
            <a:rect l="l" t="t" r="r" b="b"/>
            <a:pathLst>
              <a:path w="28575" h="705594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691465"/>
                </a:lnTo>
                <a:lnTo>
                  <a:pt x="25003" y="688615"/>
                </a:lnTo>
                <a:lnTo>
                  <a:pt x="21431" y="685357"/>
                </a:lnTo>
                <a:lnTo>
                  <a:pt x="17859" y="681605"/>
                </a:lnTo>
                <a:lnTo>
                  <a:pt x="14288" y="677231"/>
                </a:lnTo>
                <a:lnTo>
                  <a:pt x="10716" y="672016"/>
                </a:lnTo>
                <a:lnTo>
                  <a:pt x="7144" y="665540"/>
                </a:lnTo>
                <a:lnTo>
                  <a:pt x="3572" y="656730"/>
                </a:lnTo>
                <a:lnTo>
                  <a:pt x="0" y="634474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086695" y="873621"/>
            <a:ext cx="257770" cy="25777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9286" y="936212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8803" y="584373"/>
            <a:ext cx="5273088" cy="953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tell the full clinical story
</a:t>
            </a:r>
            <a:r>
              <a:rPr lang="en-US" sz="8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diagnosis alone does not capture what is driving symptoms. Homelessness, family conflict, academic struggles, and poverty are clinical variables — document them.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943820" y="1571625"/>
            <a:ext cx="5828109" cy="705594"/>
          </a:xfrm>
          <a:prstGeom prst="roundRect">
            <a:avLst>
              <a:gd name="adj" fmla="val 10079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943820" y="1571625"/>
            <a:ext cx="28575" cy="705594"/>
          </a:xfrm>
          <a:custGeom>
            <a:avLst/>
            <a:gdLst/>
            <a:ahLst/>
            <a:cxnLst/>
            <a:rect l="l" t="t" r="r" b="b"/>
            <a:pathLst>
              <a:path w="28575" h="705594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691465"/>
                </a:lnTo>
                <a:lnTo>
                  <a:pt x="25003" y="688615"/>
                </a:lnTo>
                <a:lnTo>
                  <a:pt x="21431" y="685357"/>
                </a:lnTo>
                <a:lnTo>
                  <a:pt x="17859" y="681605"/>
                </a:lnTo>
                <a:lnTo>
                  <a:pt x="14288" y="677231"/>
                </a:lnTo>
                <a:lnTo>
                  <a:pt x="10716" y="672016"/>
                </a:lnTo>
                <a:lnTo>
                  <a:pt x="7144" y="665540"/>
                </a:lnTo>
                <a:lnTo>
                  <a:pt x="3572" y="656730"/>
                </a:lnTo>
                <a:lnTo>
                  <a:pt x="0" y="634474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086695" y="1693515"/>
            <a:ext cx="257770" cy="25777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286" y="1756106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58764" y="1397347"/>
            <a:ext cx="5273088" cy="953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adjust episode costs
</a:t>
            </a:r>
            <a:r>
              <a:rPr lang="en-US" sz="8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Z-codes count as social drivers of health and can reduce the attributed cost of an episode of care — protecting Centerstone's ability to provide needed services.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943820" y="2391519"/>
            <a:ext cx="5828109" cy="705594"/>
          </a:xfrm>
          <a:prstGeom prst="roundRect">
            <a:avLst>
              <a:gd name="adj" fmla="val 10079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2943820" y="2391519"/>
            <a:ext cx="28575" cy="705594"/>
          </a:xfrm>
          <a:custGeom>
            <a:avLst/>
            <a:gdLst/>
            <a:ahLst/>
            <a:cxnLst/>
            <a:rect l="l" t="t" r="r" b="b"/>
            <a:pathLst>
              <a:path w="28575" h="705594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691465"/>
                </a:lnTo>
                <a:lnTo>
                  <a:pt x="25003" y="688615"/>
                </a:lnTo>
                <a:lnTo>
                  <a:pt x="21431" y="685357"/>
                </a:lnTo>
                <a:lnTo>
                  <a:pt x="17859" y="681605"/>
                </a:lnTo>
                <a:lnTo>
                  <a:pt x="14288" y="677231"/>
                </a:lnTo>
                <a:lnTo>
                  <a:pt x="10716" y="672016"/>
                </a:lnTo>
                <a:lnTo>
                  <a:pt x="7144" y="665540"/>
                </a:lnTo>
                <a:lnTo>
                  <a:pt x="3572" y="656730"/>
                </a:lnTo>
                <a:lnTo>
                  <a:pt x="0" y="634474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086695" y="2513409"/>
            <a:ext cx="257770" cy="25777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9286" y="2576001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458765" y="2237035"/>
            <a:ext cx="5273088" cy="953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billable context
</a:t>
            </a:r>
            <a:r>
              <a:rPr lang="en-US" sz="8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Z-codes are not diagnoses, but they are legitimate, documentable factors that inform treatment planning, goal-setting, and intervention.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2958107" y="3211413"/>
            <a:ext cx="5828109" cy="705594"/>
          </a:xfrm>
          <a:prstGeom prst="roundRect">
            <a:avLst>
              <a:gd name="adj" fmla="val 10079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2943820" y="3211413"/>
            <a:ext cx="28575" cy="705594"/>
          </a:xfrm>
          <a:custGeom>
            <a:avLst/>
            <a:gdLst/>
            <a:ahLst/>
            <a:cxnLst/>
            <a:rect l="l" t="t" r="r" b="b"/>
            <a:pathLst>
              <a:path w="28575" h="705594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691465"/>
                </a:lnTo>
                <a:lnTo>
                  <a:pt x="25003" y="688615"/>
                </a:lnTo>
                <a:lnTo>
                  <a:pt x="21431" y="685357"/>
                </a:lnTo>
                <a:lnTo>
                  <a:pt x="17859" y="681605"/>
                </a:lnTo>
                <a:lnTo>
                  <a:pt x="14288" y="677231"/>
                </a:lnTo>
                <a:lnTo>
                  <a:pt x="10716" y="672016"/>
                </a:lnTo>
                <a:lnTo>
                  <a:pt x="7144" y="665540"/>
                </a:lnTo>
                <a:lnTo>
                  <a:pt x="3572" y="656730"/>
                </a:lnTo>
                <a:lnTo>
                  <a:pt x="0" y="634474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3086695" y="3333304"/>
            <a:ext cx="257770" cy="25777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49286" y="3395895"/>
            <a:ext cx="132588" cy="132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458766" y="3056098"/>
            <a:ext cx="5273088" cy="953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encourages their use
</a:t>
            </a:r>
            <a:r>
              <a:rPr lang="en-US" sz="8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diagnoses that apply to a client — along with relevant Z-codes and social determinant codes. Document what you see. Code what is real.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2885539" y="4783038"/>
            <a:ext cx="5944672" cy="360462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lIns="171450" tIns="92710" rIns="171450" bIns="92710" rtlCol="0" anchor="t"/>
          <a:lstStyle/>
          <a:p>
            <a:pPr marL="0" indent="0" algn="ctr">
              <a:buNone/>
            </a:pPr>
            <a:r>
              <a:rPr lang="en-US" sz="820" b="1" kern="0" spc="8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ones that apply. Not the ones that are convenient. Accuracy is the standard.</a:t>
            </a:r>
            <a:endParaRPr lang="en-US" sz="820" dirty="0"/>
          </a:p>
        </p:txBody>
      </p:sp>
      <p:sp>
        <p:nvSpPr>
          <p:cNvPr id="31" name="Text 24"/>
          <p:cNvSpPr/>
          <p:nvPr/>
        </p:nvSpPr>
        <p:spPr>
          <a:xfrm>
            <a:off x="2943820" y="4783038"/>
            <a:ext cx="5828109" cy="19050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1572216" y="0"/>
            <a:ext cx="1428750" cy="99949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0" y="4286250"/>
            <a:ext cx="857250" cy="857250"/>
          </a:xfrm>
          <a:prstGeom prst="ellipse">
            <a:avLst/>
          </a:prstGeom>
          <a:solidFill>
            <a:srgbClr val="FAB753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314920" y="1827684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00620"/>
            <a:ext cx="4819902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Common Z-Codes for Children and Teens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0050" y="556022"/>
            <a:ext cx="25777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4141" y="481161"/>
            <a:ext cx="42189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9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— not an exhaustive list. When in doubt, look it up.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780752"/>
            <a:ext cx="1599605" cy="1393180"/>
          </a:xfrm>
          <a:prstGeom prst="roundRect">
            <a:avLst>
              <a:gd name="adj" fmla="val 4102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0007" y="1380604"/>
            <a:ext cx="193328" cy="193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3520" y="1328142"/>
            <a:ext cx="1476018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Suicidal Ideation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543520" y="1487537"/>
            <a:ext cx="147601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R45.851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2085975" y="780752"/>
            <a:ext cx="1599754" cy="1393180"/>
          </a:xfrm>
          <a:prstGeom prst="roundRect">
            <a:avLst>
              <a:gd name="adj" fmla="val 4102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6080" y="1380604"/>
            <a:ext cx="193328" cy="193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29445" y="1262955"/>
            <a:ext cx="1368823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Suicidal Behavior</a:t>
            </a:r>
            <a:endParaRPr lang="en-US" sz="820" dirty="0"/>
          </a:p>
        </p:txBody>
      </p:sp>
      <p:sp>
        <p:nvSpPr>
          <p:cNvPr id="12" name="Text 8"/>
          <p:cNvSpPr/>
          <p:nvPr/>
        </p:nvSpPr>
        <p:spPr>
          <a:xfrm>
            <a:off x="2229445" y="1552575"/>
            <a:ext cx="14761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Z91.51</a:t>
            </a:r>
            <a:endParaRPr lang="en-US" sz="730" dirty="0"/>
          </a:p>
        </p:txBody>
      </p:sp>
      <p:sp>
        <p:nvSpPr>
          <p:cNvPr id="13" name="Text 9"/>
          <p:cNvSpPr/>
          <p:nvPr/>
        </p:nvSpPr>
        <p:spPr>
          <a:xfrm>
            <a:off x="3772049" y="780752"/>
            <a:ext cx="1599754" cy="1393180"/>
          </a:xfrm>
          <a:prstGeom prst="roundRect">
            <a:avLst>
              <a:gd name="adj" fmla="val 4102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2154" y="1380604"/>
            <a:ext cx="193328" cy="193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15519" y="1262955"/>
            <a:ext cx="1368823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Non-Suicidal Self-Injury</a:t>
            </a:r>
            <a:endParaRPr lang="en-US" sz="820" dirty="0"/>
          </a:p>
        </p:txBody>
      </p:sp>
      <p:sp>
        <p:nvSpPr>
          <p:cNvPr id="16" name="Text 11"/>
          <p:cNvSpPr/>
          <p:nvPr/>
        </p:nvSpPr>
        <p:spPr>
          <a:xfrm>
            <a:off x="3915519" y="1552575"/>
            <a:ext cx="14761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Z91.52</a:t>
            </a:r>
            <a:endParaRPr lang="en-US" sz="730" dirty="0"/>
          </a:p>
        </p:txBody>
      </p:sp>
      <p:sp>
        <p:nvSpPr>
          <p:cNvPr id="17" name="Text 12"/>
          <p:cNvSpPr/>
          <p:nvPr/>
        </p:nvSpPr>
        <p:spPr>
          <a:xfrm>
            <a:off x="5458123" y="780752"/>
            <a:ext cx="1599754" cy="1393180"/>
          </a:xfrm>
          <a:prstGeom prst="roundRect">
            <a:avLst>
              <a:gd name="adj" fmla="val 4102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8228" y="1380604"/>
            <a:ext cx="193328" cy="193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01593" y="1262955"/>
            <a:ext cx="1368823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Relational Problem</a:t>
            </a:r>
            <a:endParaRPr lang="en-US" sz="820" dirty="0"/>
          </a:p>
        </p:txBody>
      </p:sp>
      <p:sp>
        <p:nvSpPr>
          <p:cNvPr id="20" name="Text 14"/>
          <p:cNvSpPr/>
          <p:nvPr/>
        </p:nvSpPr>
        <p:spPr>
          <a:xfrm>
            <a:off x="5601593" y="1552575"/>
            <a:ext cx="14761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Z62.820</a:t>
            </a:r>
            <a:endParaRPr lang="en-US" sz="730" dirty="0"/>
          </a:p>
        </p:txBody>
      </p:sp>
      <p:sp>
        <p:nvSpPr>
          <p:cNvPr id="21" name="Text 15"/>
          <p:cNvSpPr/>
          <p:nvPr/>
        </p:nvSpPr>
        <p:spPr>
          <a:xfrm>
            <a:off x="7144196" y="780752"/>
            <a:ext cx="1599605" cy="1393180"/>
          </a:xfrm>
          <a:prstGeom prst="roundRect">
            <a:avLst>
              <a:gd name="adj" fmla="val 4102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64153" y="1380604"/>
            <a:ext cx="193328" cy="1933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87667" y="1328142"/>
            <a:ext cx="1476018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/ Welfare Custody</a:t>
            </a:r>
            <a:endParaRPr lang="en-US" sz="820" dirty="0"/>
          </a:p>
        </p:txBody>
      </p:sp>
      <p:sp>
        <p:nvSpPr>
          <p:cNvPr id="24" name="Text 17"/>
          <p:cNvSpPr/>
          <p:nvPr/>
        </p:nvSpPr>
        <p:spPr>
          <a:xfrm>
            <a:off x="7287667" y="1487537"/>
            <a:ext cx="147601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Z62.21</a:t>
            </a:r>
            <a:endParaRPr lang="en-US" sz="730" dirty="0"/>
          </a:p>
        </p:txBody>
      </p:sp>
      <p:sp>
        <p:nvSpPr>
          <p:cNvPr id="25" name="Text 18"/>
          <p:cNvSpPr/>
          <p:nvPr/>
        </p:nvSpPr>
        <p:spPr>
          <a:xfrm>
            <a:off x="400050" y="2260253"/>
            <a:ext cx="1599605" cy="1393329"/>
          </a:xfrm>
          <a:prstGeom prst="roundRect">
            <a:avLst>
              <a:gd name="adj" fmla="val 4102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20007" y="2860253"/>
            <a:ext cx="193328" cy="1933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3520" y="2742605"/>
            <a:ext cx="1368671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by Separation or Divorce</a:t>
            </a:r>
            <a:endParaRPr lang="en-US" sz="820" dirty="0"/>
          </a:p>
        </p:txBody>
      </p:sp>
      <p:sp>
        <p:nvSpPr>
          <p:cNvPr id="28" name="Text 20"/>
          <p:cNvSpPr/>
          <p:nvPr/>
        </p:nvSpPr>
        <p:spPr>
          <a:xfrm>
            <a:off x="543520" y="3032224"/>
            <a:ext cx="147601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Z63.5</a:t>
            </a:r>
            <a:endParaRPr lang="en-US" sz="730" dirty="0"/>
          </a:p>
        </p:txBody>
      </p:sp>
      <p:sp>
        <p:nvSpPr>
          <p:cNvPr id="29" name="Text 21"/>
          <p:cNvSpPr/>
          <p:nvPr/>
        </p:nvSpPr>
        <p:spPr>
          <a:xfrm>
            <a:off x="2085975" y="2260253"/>
            <a:ext cx="1599754" cy="1393329"/>
          </a:xfrm>
          <a:prstGeom prst="roundRect">
            <a:avLst>
              <a:gd name="adj" fmla="val 4102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06080" y="2860253"/>
            <a:ext cx="193328" cy="19332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229445" y="2742605"/>
            <a:ext cx="1368823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or Educational Problem</a:t>
            </a:r>
            <a:endParaRPr lang="en-US" sz="820" dirty="0"/>
          </a:p>
        </p:txBody>
      </p:sp>
      <p:sp>
        <p:nvSpPr>
          <p:cNvPr id="32" name="Text 23"/>
          <p:cNvSpPr/>
          <p:nvPr/>
        </p:nvSpPr>
        <p:spPr>
          <a:xfrm>
            <a:off x="2229445" y="3032224"/>
            <a:ext cx="14761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Z55.9</a:t>
            </a:r>
            <a:endParaRPr lang="en-US" sz="730" dirty="0"/>
          </a:p>
        </p:txBody>
      </p:sp>
      <p:sp>
        <p:nvSpPr>
          <p:cNvPr id="33" name="Text 24"/>
          <p:cNvSpPr/>
          <p:nvPr/>
        </p:nvSpPr>
        <p:spPr>
          <a:xfrm>
            <a:off x="3772049" y="2260253"/>
            <a:ext cx="1599754" cy="1393329"/>
          </a:xfrm>
          <a:prstGeom prst="roundRect">
            <a:avLst>
              <a:gd name="adj" fmla="val 4102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92154" y="2860253"/>
            <a:ext cx="193328" cy="19332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915519" y="2807643"/>
            <a:ext cx="147618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Insecurity</a:t>
            </a:r>
            <a:endParaRPr lang="en-US" sz="820" dirty="0"/>
          </a:p>
        </p:txBody>
      </p:sp>
      <p:sp>
        <p:nvSpPr>
          <p:cNvPr id="36" name="Text 26"/>
          <p:cNvSpPr/>
          <p:nvPr/>
        </p:nvSpPr>
        <p:spPr>
          <a:xfrm>
            <a:off x="3915519" y="2967038"/>
            <a:ext cx="14761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Z59.41</a:t>
            </a:r>
            <a:endParaRPr lang="en-US" sz="730" dirty="0"/>
          </a:p>
        </p:txBody>
      </p:sp>
      <p:sp>
        <p:nvSpPr>
          <p:cNvPr id="37" name="Text 27"/>
          <p:cNvSpPr/>
          <p:nvPr/>
        </p:nvSpPr>
        <p:spPr>
          <a:xfrm>
            <a:off x="5458123" y="2260253"/>
            <a:ext cx="1599754" cy="1393329"/>
          </a:xfrm>
          <a:prstGeom prst="roundRect">
            <a:avLst>
              <a:gd name="adj" fmla="val 4102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78228" y="2860253"/>
            <a:ext cx="193328" cy="19332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601593" y="2807643"/>
            <a:ext cx="147618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Instability</a:t>
            </a:r>
            <a:endParaRPr lang="en-US" sz="820" dirty="0"/>
          </a:p>
        </p:txBody>
      </p:sp>
      <p:sp>
        <p:nvSpPr>
          <p:cNvPr id="40" name="Text 29"/>
          <p:cNvSpPr/>
          <p:nvPr/>
        </p:nvSpPr>
        <p:spPr>
          <a:xfrm>
            <a:off x="5601593" y="2967038"/>
            <a:ext cx="14761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Z59.812</a:t>
            </a:r>
            <a:endParaRPr lang="en-US" sz="730" dirty="0"/>
          </a:p>
        </p:txBody>
      </p:sp>
      <p:sp>
        <p:nvSpPr>
          <p:cNvPr id="41" name="Text 30"/>
          <p:cNvSpPr/>
          <p:nvPr/>
        </p:nvSpPr>
        <p:spPr>
          <a:xfrm>
            <a:off x="7144196" y="2260253"/>
            <a:ext cx="1599605" cy="1393329"/>
          </a:xfrm>
          <a:prstGeom prst="roundRect">
            <a:avLst>
              <a:gd name="adj" fmla="val 4102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4153" y="2860253"/>
            <a:ext cx="193328" cy="19332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287667" y="2742605"/>
            <a:ext cx="1368671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Homicidal Ideation or Behavior</a:t>
            </a:r>
            <a:endParaRPr lang="en-US" sz="820" dirty="0"/>
          </a:p>
        </p:txBody>
      </p:sp>
      <p:sp>
        <p:nvSpPr>
          <p:cNvPr id="44" name="Text 32"/>
          <p:cNvSpPr/>
          <p:nvPr/>
        </p:nvSpPr>
        <p:spPr>
          <a:xfrm>
            <a:off x="7287667" y="3032224"/>
            <a:ext cx="147601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Z45.850</a:t>
            </a:r>
            <a:endParaRPr lang="en-US" sz="730" dirty="0"/>
          </a:p>
        </p:txBody>
      </p:sp>
      <p:sp>
        <p:nvSpPr>
          <p:cNvPr id="45" name="Text 33"/>
          <p:cNvSpPr/>
          <p:nvPr/>
        </p:nvSpPr>
        <p:spPr>
          <a:xfrm>
            <a:off x="400050" y="3753892"/>
            <a:ext cx="8343900" cy="13841"/>
          </a:xfrm>
          <a:prstGeom prst="rect">
            <a:avLst/>
          </a:prstGeom>
          <a:gradFill rotWithShape="1">
            <a:gsLst>
              <a:gs pos="0">
                <a:srgbClr val="1B5E72"/>
              </a:gs>
              <a:gs pos="100000">
                <a:srgbClr val="EAF4F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4"/>
          <p:cNvSpPr/>
          <p:nvPr/>
        </p:nvSpPr>
        <p:spPr>
          <a:xfrm>
            <a:off x="0" y="3868043"/>
            <a:ext cx="9144000" cy="456506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342900" tIns="0" rIns="34290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list continues.  History of abuse, mental illness in household, domestic violence, extreme poverty — document what is real in your client's life.</a:t>
            </a:r>
            <a:endParaRPr lang="en-US" sz="820" dirty="0"/>
          </a:p>
        </p:txBody>
      </p:sp>
      <p:sp>
        <p:nvSpPr>
          <p:cNvPr id="47" name="Text 35"/>
          <p:cNvSpPr/>
          <p:nvPr/>
        </p:nvSpPr>
        <p:spPr>
          <a:xfrm>
            <a:off x="400050" y="780752"/>
            <a:ext cx="29170" cy="1393184"/>
          </a:xfrm>
          <a:custGeom>
            <a:avLst/>
            <a:gdLst/>
            <a:ahLst/>
            <a:cxnLst/>
            <a:rect l="l" t="t" r="r" b="b"/>
            <a:pathLst>
              <a:path w="29170" h="1393184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385866"/>
                </a:lnTo>
                <a:lnTo>
                  <a:pt x="25524" y="1383635"/>
                </a:lnTo>
                <a:lnTo>
                  <a:pt x="21878" y="1381000"/>
                </a:lnTo>
                <a:lnTo>
                  <a:pt x="18231" y="1377884"/>
                </a:lnTo>
                <a:lnTo>
                  <a:pt x="14585" y="1374170"/>
                </a:lnTo>
                <a:lnTo>
                  <a:pt x="10939" y="1369659"/>
                </a:lnTo>
                <a:lnTo>
                  <a:pt x="7293" y="1363969"/>
                </a:lnTo>
                <a:lnTo>
                  <a:pt x="3646" y="1356120"/>
                </a:lnTo>
                <a:lnTo>
                  <a:pt x="0" y="1336034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6"/>
          <p:cNvSpPr/>
          <p:nvPr/>
        </p:nvSpPr>
        <p:spPr>
          <a:xfrm>
            <a:off x="2085975" y="780752"/>
            <a:ext cx="29170" cy="1393184"/>
          </a:xfrm>
          <a:custGeom>
            <a:avLst/>
            <a:gdLst/>
            <a:ahLst/>
            <a:cxnLst/>
            <a:rect l="l" t="t" r="r" b="b"/>
            <a:pathLst>
              <a:path w="29170" h="1393184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385866"/>
                </a:lnTo>
                <a:lnTo>
                  <a:pt x="25524" y="1383635"/>
                </a:lnTo>
                <a:lnTo>
                  <a:pt x="21878" y="1381000"/>
                </a:lnTo>
                <a:lnTo>
                  <a:pt x="18231" y="1377884"/>
                </a:lnTo>
                <a:lnTo>
                  <a:pt x="14585" y="1374170"/>
                </a:lnTo>
                <a:lnTo>
                  <a:pt x="10939" y="1369659"/>
                </a:lnTo>
                <a:lnTo>
                  <a:pt x="7293" y="1363969"/>
                </a:lnTo>
                <a:lnTo>
                  <a:pt x="3646" y="1356120"/>
                </a:lnTo>
                <a:lnTo>
                  <a:pt x="0" y="1336034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7"/>
          <p:cNvSpPr/>
          <p:nvPr/>
        </p:nvSpPr>
        <p:spPr>
          <a:xfrm>
            <a:off x="3772049" y="780752"/>
            <a:ext cx="29170" cy="1393184"/>
          </a:xfrm>
          <a:custGeom>
            <a:avLst/>
            <a:gdLst/>
            <a:ahLst/>
            <a:cxnLst/>
            <a:rect l="l" t="t" r="r" b="b"/>
            <a:pathLst>
              <a:path w="29170" h="1393184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385866"/>
                </a:lnTo>
                <a:lnTo>
                  <a:pt x="25524" y="1383635"/>
                </a:lnTo>
                <a:lnTo>
                  <a:pt x="21878" y="1381000"/>
                </a:lnTo>
                <a:lnTo>
                  <a:pt x="18231" y="1377884"/>
                </a:lnTo>
                <a:lnTo>
                  <a:pt x="14585" y="1374170"/>
                </a:lnTo>
                <a:lnTo>
                  <a:pt x="10939" y="1369659"/>
                </a:lnTo>
                <a:lnTo>
                  <a:pt x="7293" y="1363969"/>
                </a:lnTo>
                <a:lnTo>
                  <a:pt x="3646" y="1356120"/>
                </a:lnTo>
                <a:lnTo>
                  <a:pt x="0" y="1336034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8"/>
          <p:cNvSpPr/>
          <p:nvPr/>
        </p:nvSpPr>
        <p:spPr>
          <a:xfrm>
            <a:off x="5458123" y="780752"/>
            <a:ext cx="29170" cy="1393184"/>
          </a:xfrm>
          <a:custGeom>
            <a:avLst/>
            <a:gdLst/>
            <a:ahLst/>
            <a:cxnLst/>
            <a:rect l="l" t="t" r="r" b="b"/>
            <a:pathLst>
              <a:path w="29170" h="1393184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385866"/>
                </a:lnTo>
                <a:lnTo>
                  <a:pt x="25524" y="1383635"/>
                </a:lnTo>
                <a:lnTo>
                  <a:pt x="21878" y="1381000"/>
                </a:lnTo>
                <a:lnTo>
                  <a:pt x="18231" y="1377884"/>
                </a:lnTo>
                <a:lnTo>
                  <a:pt x="14585" y="1374170"/>
                </a:lnTo>
                <a:lnTo>
                  <a:pt x="10939" y="1369659"/>
                </a:lnTo>
                <a:lnTo>
                  <a:pt x="7293" y="1363969"/>
                </a:lnTo>
                <a:lnTo>
                  <a:pt x="3646" y="1356120"/>
                </a:lnTo>
                <a:lnTo>
                  <a:pt x="0" y="1336034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39"/>
          <p:cNvSpPr/>
          <p:nvPr/>
        </p:nvSpPr>
        <p:spPr>
          <a:xfrm>
            <a:off x="7144196" y="780752"/>
            <a:ext cx="29170" cy="1393184"/>
          </a:xfrm>
          <a:custGeom>
            <a:avLst/>
            <a:gdLst/>
            <a:ahLst/>
            <a:cxnLst/>
            <a:rect l="l" t="t" r="r" b="b"/>
            <a:pathLst>
              <a:path w="29170" h="1393184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385866"/>
                </a:lnTo>
                <a:lnTo>
                  <a:pt x="25524" y="1383635"/>
                </a:lnTo>
                <a:lnTo>
                  <a:pt x="21878" y="1381000"/>
                </a:lnTo>
                <a:lnTo>
                  <a:pt x="18231" y="1377884"/>
                </a:lnTo>
                <a:lnTo>
                  <a:pt x="14585" y="1374170"/>
                </a:lnTo>
                <a:lnTo>
                  <a:pt x="10939" y="1369659"/>
                </a:lnTo>
                <a:lnTo>
                  <a:pt x="7293" y="1363969"/>
                </a:lnTo>
                <a:lnTo>
                  <a:pt x="3646" y="1356120"/>
                </a:lnTo>
                <a:lnTo>
                  <a:pt x="0" y="1336034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0"/>
          <p:cNvSpPr/>
          <p:nvPr/>
        </p:nvSpPr>
        <p:spPr>
          <a:xfrm>
            <a:off x="400050" y="2260253"/>
            <a:ext cx="29170" cy="1393327"/>
          </a:xfrm>
          <a:custGeom>
            <a:avLst/>
            <a:gdLst/>
            <a:ahLst/>
            <a:cxnLst/>
            <a:rect l="l" t="t" r="r" b="b"/>
            <a:pathLst>
              <a:path w="29170" h="139332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386009"/>
                </a:lnTo>
                <a:lnTo>
                  <a:pt x="25524" y="1383778"/>
                </a:lnTo>
                <a:lnTo>
                  <a:pt x="21878" y="1381143"/>
                </a:lnTo>
                <a:lnTo>
                  <a:pt x="18231" y="1378027"/>
                </a:lnTo>
                <a:lnTo>
                  <a:pt x="14585" y="1374313"/>
                </a:lnTo>
                <a:lnTo>
                  <a:pt x="10939" y="1369802"/>
                </a:lnTo>
                <a:lnTo>
                  <a:pt x="7293" y="1364111"/>
                </a:lnTo>
                <a:lnTo>
                  <a:pt x="3646" y="1356263"/>
                </a:lnTo>
                <a:lnTo>
                  <a:pt x="0" y="1336177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1"/>
          <p:cNvSpPr/>
          <p:nvPr/>
        </p:nvSpPr>
        <p:spPr>
          <a:xfrm>
            <a:off x="2085975" y="2260253"/>
            <a:ext cx="29170" cy="1393327"/>
          </a:xfrm>
          <a:custGeom>
            <a:avLst/>
            <a:gdLst/>
            <a:ahLst/>
            <a:cxnLst/>
            <a:rect l="l" t="t" r="r" b="b"/>
            <a:pathLst>
              <a:path w="29170" h="139332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386009"/>
                </a:lnTo>
                <a:lnTo>
                  <a:pt x="25524" y="1383778"/>
                </a:lnTo>
                <a:lnTo>
                  <a:pt x="21878" y="1381143"/>
                </a:lnTo>
                <a:lnTo>
                  <a:pt x="18231" y="1378027"/>
                </a:lnTo>
                <a:lnTo>
                  <a:pt x="14585" y="1374313"/>
                </a:lnTo>
                <a:lnTo>
                  <a:pt x="10939" y="1369802"/>
                </a:lnTo>
                <a:lnTo>
                  <a:pt x="7293" y="1364111"/>
                </a:lnTo>
                <a:lnTo>
                  <a:pt x="3646" y="1356263"/>
                </a:lnTo>
                <a:lnTo>
                  <a:pt x="0" y="1336177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2"/>
          <p:cNvSpPr/>
          <p:nvPr/>
        </p:nvSpPr>
        <p:spPr>
          <a:xfrm>
            <a:off x="3772049" y="2260253"/>
            <a:ext cx="29170" cy="1393327"/>
          </a:xfrm>
          <a:custGeom>
            <a:avLst/>
            <a:gdLst/>
            <a:ahLst/>
            <a:cxnLst/>
            <a:rect l="l" t="t" r="r" b="b"/>
            <a:pathLst>
              <a:path w="29170" h="139332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386009"/>
                </a:lnTo>
                <a:lnTo>
                  <a:pt x="25524" y="1383778"/>
                </a:lnTo>
                <a:lnTo>
                  <a:pt x="21878" y="1381143"/>
                </a:lnTo>
                <a:lnTo>
                  <a:pt x="18231" y="1378027"/>
                </a:lnTo>
                <a:lnTo>
                  <a:pt x="14585" y="1374313"/>
                </a:lnTo>
                <a:lnTo>
                  <a:pt x="10939" y="1369802"/>
                </a:lnTo>
                <a:lnTo>
                  <a:pt x="7293" y="1364111"/>
                </a:lnTo>
                <a:lnTo>
                  <a:pt x="3646" y="1356263"/>
                </a:lnTo>
                <a:lnTo>
                  <a:pt x="0" y="1336177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3"/>
          <p:cNvSpPr/>
          <p:nvPr/>
        </p:nvSpPr>
        <p:spPr>
          <a:xfrm>
            <a:off x="5458123" y="2260253"/>
            <a:ext cx="29170" cy="1393327"/>
          </a:xfrm>
          <a:custGeom>
            <a:avLst/>
            <a:gdLst/>
            <a:ahLst/>
            <a:cxnLst/>
            <a:rect l="l" t="t" r="r" b="b"/>
            <a:pathLst>
              <a:path w="29170" h="139332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386009"/>
                </a:lnTo>
                <a:lnTo>
                  <a:pt x="25524" y="1383778"/>
                </a:lnTo>
                <a:lnTo>
                  <a:pt x="21878" y="1381143"/>
                </a:lnTo>
                <a:lnTo>
                  <a:pt x="18231" y="1378027"/>
                </a:lnTo>
                <a:lnTo>
                  <a:pt x="14585" y="1374313"/>
                </a:lnTo>
                <a:lnTo>
                  <a:pt x="10939" y="1369802"/>
                </a:lnTo>
                <a:lnTo>
                  <a:pt x="7293" y="1364111"/>
                </a:lnTo>
                <a:lnTo>
                  <a:pt x="3646" y="1356263"/>
                </a:lnTo>
                <a:lnTo>
                  <a:pt x="0" y="1336177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4"/>
          <p:cNvSpPr/>
          <p:nvPr/>
        </p:nvSpPr>
        <p:spPr>
          <a:xfrm>
            <a:off x="7144196" y="2260253"/>
            <a:ext cx="29170" cy="1393327"/>
          </a:xfrm>
          <a:custGeom>
            <a:avLst/>
            <a:gdLst/>
            <a:ahLst/>
            <a:cxnLst/>
            <a:rect l="l" t="t" r="r" b="b"/>
            <a:pathLst>
              <a:path w="29170" h="1393327">
                <a:moveTo>
                  <a:pt x="0" y="57150"/>
                </a:moveTo>
                <a:lnTo>
                  <a:pt x="3646" y="37063"/>
                </a:lnTo>
                <a:lnTo>
                  <a:pt x="7293" y="29215"/>
                </a:lnTo>
                <a:lnTo>
                  <a:pt x="10939" y="23525"/>
                </a:lnTo>
                <a:lnTo>
                  <a:pt x="14585" y="19014"/>
                </a:lnTo>
                <a:lnTo>
                  <a:pt x="18231" y="15299"/>
                </a:lnTo>
                <a:lnTo>
                  <a:pt x="21878" y="12183"/>
                </a:lnTo>
                <a:lnTo>
                  <a:pt x="25524" y="9548"/>
                </a:lnTo>
                <a:lnTo>
                  <a:pt x="29170" y="7318"/>
                </a:lnTo>
                <a:lnTo>
                  <a:pt x="29170" y="1386009"/>
                </a:lnTo>
                <a:lnTo>
                  <a:pt x="25524" y="1383778"/>
                </a:lnTo>
                <a:lnTo>
                  <a:pt x="21878" y="1381143"/>
                </a:lnTo>
                <a:lnTo>
                  <a:pt x="18231" y="1378027"/>
                </a:lnTo>
                <a:lnTo>
                  <a:pt x="14585" y="1374313"/>
                </a:lnTo>
                <a:lnTo>
                  <a:pt x="10939" y="1369802"/>
                </a:lnTo>
                <a:lnTo>
                  <a:pt x="7293" y="1364111"/>
                </a:lnTo>
                <a:lnTo>
                  <a:pt x="3646" y="1356263"/>
                </a:lnTo>
                <a:lnTo>
                  <a:pt x="0" y="1336177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571750" cy="471428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7770" y="342900"/>
            <a:ext cx="226183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0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OF CARE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257770" y="593080"/>
            <a:ext cx="31492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7770" y="786110"/>
            <a:ext cx="2097334" cy="486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5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EOC — What It Is and What It Means for You</a:t>
            </a:r>
            <a:endParaRPr lang="en-US" sz="1460" dirty="0"/>
          </a:p>
        </p:txBody>
      </p:sp>
      <p:sp>
        <p:nvSpPr>
          <p:cNvPr id="6" name="Text 4"/>
          <p:cNvSpPr/>
          <p:nvPr/>
        </p:nvSpPr>
        <p:spPr>
          <a:xfrm>
            <a:off x="257770" y="1393031"/>
            <a:ext cx="2097334" cy="44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00" i="1" dirty="0">
                <a:solidFill>
                  <a:srgbClr val="FFFFFF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TennCare defines an episode of care as health care delivered during a specified time period to treat a physical or behavioral condition.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57770" y="4012704"/>
            <a:ext cx="571500" cy="571500"/>
          </a:xfrm>
          <a:prstGeom prst="ellipse">
            <a:avLst/>
          </a:prstGeom>
          <a:noFill/>
          <a:ln w="9525">
            <a:solidFill>
              <a:srgbClr val="FAB753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0490" y="4105424"/>
            <a:ext cx="386060" cy="386060"/>
          </a:xfrm>
          <a:prstGeom prst="ellipse">
            <a:avLst/>
          </a:prstGeom>
          <a:solidFill>
            <a:srgbClr val="FAB753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018" y="4228951"/>
            <a:ext cx="139005" cy="1390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5591" y="4186982"/>
            <a:ext cx="63176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</a:t>
            </a:r>
            <a:endParaRPr lang="en-US" sz="620" dirty="0"/>
          </a:p>
        </p:txBody>
      </p:sp>
      <p:sp>
        <p:nvSpPr>
          <p:cNvPr id="11" name="Text 8"/>
          <p:cNvSpPr/>
          <p:nvPr/>
        </p:nvSpPr>
        <p:spPr>
          <a:xfrm>
            <a:off x="915591" y="4305002"/>
            <a:ext cx="6317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59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Duration</a:t>
            </a:r>
            <a:endParaRPr lang="en-US" sz="590" dirty="0"/>
          </a:p>
        </p:txBody>
      </p:sp>
      <p:sp>
        <p:nvSpPr>
          <p:cNvPr id="12" name="Text 9"/>
          <p:cNvSpPr/>
          <p:nvPr/>
        </p:nvSpPr>
        <p:spPr>
          <a:xfrm>
            <a:off x="257770" y="4684514"/>
            <a:ext cx="57150" cy="29766"/>
          </a:xfrm>
          <a:prstGeom prst="ellipse">
            <a:avLst/>
          </a:prstGeom>
          <a:solidFill>
            <a:srgbClr val="FAB753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58080" y="4706094"/>
            <a:ext cx="856059" cy="8186"/>
          </a:xfrm>
          <a:prstGeom prst="roundRect">
            <a:avLst>
              <a:gd name="adj" fmla="val 93086"/>
            </a:avLst>
          </a:prstGeom>
          <a:solidFill>
            <a:srgbClr val="FAB753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257300" y="4684514"/>
            <a:ext cx="57150" cy="29766"/>
          </a:xfrm>
          <a:prstGeom prst="ellipse">
            <a:avLst/>
          </a:prstGeom>
          <a:solidFill>
            <a:srgbClr val="FAB753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357610" y="4706094"/>
            <a:ext cx="856059" cy="8186"/>
          </a:xfrm>
          <a:prstGeom prst="roundRect">
            <a:avLst>
              <a:gd name="adj" fmla="val 93086"/>
            </a:avLst>
          </a:prstGeom>
          <a:solidFill>
            <a:srgbClr val="FAB753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256830" y="4684514"/>
            <a:ext cx="57150" cy="29766"/>
          </a:xfrm>
          <a:prstGeom prst="ellipse">
            <a:avLst/>
          </a:prstGeom>
          <a:solidFill>
            <a:srgbClr val="FAB753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57770" y="4784824"/>
            <a:ext cx="226183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kern="0" spc="42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AFTER EACH PERIOD</a:t>
            </a:r>
            <a:endParaRPr lang="en-US" sz="530" dirty="0"/>
          </a:p>
        </p:txBody>
      </p:sp>
      <p:sp>
        <p:nvSpPr>
          <p:cNvPr id="18" name="Text 15"/>
          <p:cNvSpPr/>
          <p:nvPr/>
        </p:nvSpPr>
        <p:spPr>
          <a:xfrm>
            <a:off x="2886670" y="285750"/>
            <a:ext cx="653665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kern="0" spc="12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Essentials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2886670" y="665411"/>
            <a:ext cx="5942409" cy="7590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886670" y="794891"/>
            <a:ext cx="200620" cy="2006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0612" y="828833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179862" y="787301"/>
            <a:ext cx="5762202" cy="45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applies to two diagnoses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EOC in behavioral health currently covers only ADHD and ODD. If your client has one of these as a primary diagnosis, their care falls within an episode.</a:t>
            </a:r>
            <a:endParaRPr lang="en-US" sz="730" dirty="0"/>
          </a:p>
        </p:txBody>
      </p:sp>
      <p:sp>
        <p:nvSpPr>
          <p:cNvPr id="23" name="Text 19"/>
          <p:cNvSpPr/>
          <p:nvPr/>
        </p:nvSpPr>
        <p:spPr>
          <a:xfrm>
            <a:off x="2886670" y="1311622"/>
            <a:ext cx="200620" cy="2006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0612" y="1345564"/>
            <a:ext cx="132588" cy="132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179862" y="1304032"/>
            <a:ext cx="5762202" cy="305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are 6 months long — and repeatable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episode has defined quality measures and acceptable cost thresholds. Episodes can repeat after the initial 6-month period.</a:t>
            </a:r>
            <a:endParaRPr lang="en-US" sz="730" dirty="0"/>
          </a:p>
        </p:txBody>
      </p:sp>
      <p:sp>
        <p:nvSpPr>
          <p:cNvPr id="26" name="Text 21"/>
          <p:cNvSpPr/>
          <p:nvPr/>
        </p:nvSpPr>
        <p:spPr>
          <a:xfrm>
            <a:off x="2886670" y="1689348"/>
            <a:ext cx="200620" cy="2006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0612" y="1723290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179862" y="1681758"/>
            <a:ext cx="5762202" cy="45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thresholds are real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Centerstone's average cost per episode falls in the Not Acceptable range, a financial penalty applies. This is why accurate diagnosis and documentation matters beyond the clinical record.</a:t>
            </a:r>
            <a:endParaRPr lang="en-US" sz="730" dirty="0"/>
          </a:p>
        </p:txBody>
      </p:sp>
      <p:sp>
        <p:nvSpPr>
          <p:cNvPr id="29" name="Text 23"/>
          <p:cNvSpPr/>
          <p:nvPr/>
        </p:nvSpPr>
        <p:spPr>
          <a:xfrm>
            <a:off x="2886670" y="2206079"/>
            <a:ext cx="200620" cy="2006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0612" y="2240021"/>
            <a:ext cx="132588" cy="1325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179862" y="2198489"/>
            <a:ext cx="5762202" cy="45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primary diagnosis should be correct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seeing a client with ADHD or ODD, designate the diagnosis that is the principal reason for the visit. Costs are attributed by primary diagnosis.</a:t>
            </a:r>
            <a:endParaRPr lang="en-US" sz="730" dirty="0"/>
          </a:p>
        </p:txBody>
      </p:sp>
      <p:sp>
        <p:nvSpPr>
          <p:cNvPr id="32" name="Text 25"/>
          <p:cNvSpPr/>
          <p:nvPr/>
        </p:nvSpPr>
        <p:spPr>
          <a:xfrm>
            <a:off x="2886670" y="2722811"/>
            <a:ext cx="200620" cy="2006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0612" y="2756752"/>
            <a:ext cx="132588" cy="1325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179862" y="2715220"/>
            <a:ext cx="5762202" cy="45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Z-codes and comorbidities help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Some comorbid diagnoses and social determinant codes adjust episode costs down. Some exclusionary diagnoses remove a case from cost limits entirely.</a:t>
            </a:r>
            <a:endParaRPr lang="en-US" sz="730" dirty="0"/>
          </a:p>
        </p:txBody>
      </p:sp>
      <p:sp>
        <p:nvSpPr>
          <p:cNvPr id="35" name="Text 27"/>
          <p:cNvSpPr/>
          <p:nvPr/>
        </p:nvSpPr>
        <p:spPr>
          <a:xfrm>
            <a:off x="0" y="4714280"/>
            <a:ext cx="9144000" cy="442097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342900" tIns="0" rIns="342900" bIns="0" rtlCol="0" anchor="ctr"/>
          <a:lstStyle/>
          <a:p>
            <a:pPr marL="0" indent="0" algn="ctr">
              <a:buNone/>
            </a:pPr>
            <a:r>
              <a:rPr lang="en-US" sz="730" b="1" kern="0" spc="7" dirty="0">
                <a:solidFill>
                  <a:srgbClr val="1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never to limit care. It is to document accurately so the right costs go to the right place.</a:t>
            </a:r>
            <a:endParaRPr lang="en-US" sz="730" dirty="0"/>
          </a:p>
        </p:txBody>
      </p:sp>
      <p:sp>
        <p:nvSpPr>
          <p:cNvPr id="36" name="Text 28"/>
          <p:cNvSpPr/>
          <p:nvPr/>
        </p:nvSpPr>
        <p:spPr>
          <a:xfrm>
            <a:off x="2542584" y="0"/>
            <a:ext cx="29170" cy="5143500"/>
          </a:xfrm>
          <a:prstGeom prst="rect">
            <a:avLst/>
          </a:prstGeom>
          <a:solidFill>
            <a:srgbClr val="FAB753">
              <a:alpha val="5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2197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lIns="257810" tIns="100330" rIns="257810" bIns="71120" rtlCol="0" anchor="t"/>
          <a:lstStyle/>
          <a:p>
            <a:pPr marL="0" indent="0" algn="l">
              <a:buNone/>
            </a:pPr>
            <a:r>
              <a:rPr lang="en-US" sz="1460" b="1" kern="0" spc="15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EOC Exclusionary Diagnoses</a:t>
            </a:r>
            <a:endParaRPr lang="en-US" sz="1460" dirty="0"/>
          </a:p>
          <a:p>
            <a:pPr marL="0" indent="0" algn="l">
              <a:buNone/>
            </a:pPr>
            <a:r>
              <a:rPr lang="en-US" sz="730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diagnoses — when clinically accurate and fully documented — remove a client from the ADHD or ODD episode cost limits.</a:t>
            </a:r>
            <a:endParaRPr lang="en-US" sz="1460" dirty="0"/>
          </a:p>
        </p:txBody>
      </p:sp>
      <p:sp>
        <p:nvSpPr>
          <p:cNvPr id="3" name="Text 1"/>
          <p:cNvSpPr/>
          <p:nvPr/>
        </p:nvSpPr>
        <p:spPr>
          <a:xfrm>
            <a:off x="171450" y="612725"/>
            <a:ext cx="4792322" cy="249287"/>
          </a:xfrm>
          <a:prstGeom prst="roundRect">
            <a:avLst>
              <a:gd name="adj" fmla="val 11717"/>
            </a:avLst>
          </a:prstGeom>
          <a:solidFill>
            <a:srgbClr val="1B5E72"/>
          </a:solidFill>
          <a:ln/>
        </p:spPr>
        <p:txBody>
          <a:bodyPr wrap="none" lIns="114300" tIns="49530" rIns="114300" bIns="49530" rtlCol="0" anchor="t"/>
          <a:lstStyle/>
          <a:p>
            <a:pPr marL="0" indent="0" algn="l">
              <a:buNone/>
            </a:pPr>
            <a:r>
              <a:rPr lang="en-US" sz="790" b="1" kern="0" spc="32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APPLIES TO BOTH ADHD AND ODD</a:t>
            </a:r>
            <a:endParaRPr lang="en-US" sz="790" dirty="0"/>
          </a:p>
        </p:txBody>
      </p:sp>
      <p:sp>
        <p:nvSpPr>
          <p:cNvPr id="4" name="Text 2"/>
          <p:cNvSpPr/>
          <p:nvPr/>
        </p:nvSpPr>
        <p:spPr>
          <a:xfrm>
            <a:off x="171450" y="862013"/>
            <a:ext cx="4698355" cy="3351163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9591" y="933004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6" name="Text 4"/>
          <p:cNvSpPr/>
          <p:nvPr/>
        </p:nvSpPr>
        <p:spPr>
          <a:xfrm>
            <a:off x="299591" y="1075879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299591" y="1218754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299591" y="1361629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299591" y="1504504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299591" y="1647379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299591" y="1790254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299591" y="1933129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299591" y="2076004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299591" y="2218879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299591" y="2361754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299591" y="2504629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299591" y="2647504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299591" y="2790379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299591" y="2933254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299591" y="3076129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299591" y="3219004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299591" y="3361879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299591" y="3504754"/>
            <a:ext cx="1018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1"/>
              </a:lnSpc>
              <a:buNone/>
            </a:pPr>
            <a:r>
              <a:rPr lang="en-US" sz="6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4970115" y="612725"/>
            <a:ext cx="4082483" cy="249287"/>
          </a:xfrm>
          <a:prstGeom prst="roundRect">
            <a:avLst>
              <a:gd name="adj" fmla="val 11717"/>
            </a:avLst>
          </a:prstGeom>
          <a:solidFill>
            <a:srgbClr val="FAB753"/>
          </a:solidFill>
          <a:ln/>
        </p:spPr>
        <p:txBody>
          <a:bodyPr wrap="none" lIns="114300" tIns="49530" rIns="114300" bIns="49530" rtlCol="0" anchor="t"/>
          <a:lstStyle/>
          <a:p>
            <a:pPr marL="0" indent="0" algn="l">
              <a:buNone/>
            </a:pPr>
            <a:r>
              <a:rPr lang="en-US" sz="790" b="1" kern="0" spc="32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ADDITIONAL NOTES</a:t>
            </a:r>
            <a:endParaRPr lang="en-US" sz="790" dirty="0"/>
          </a:p>
        </p:txBody>
      </p:sp>
      <p:sp>
        <p:nvSpPr>
          <p:cNvPr id="25" name="Text 23"/>
          <p:cNvSpPr/>
          <p:nvPr/>
        </p:nvSpPr>
        <p:spPr>
          <a:xfrm>
            <a:off x="4970115" y="862013"/>
            <a:ext cx="4002435" cy="33511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70115" y="862013"/>
            <a:ext cx="9525" cy="3351163"/>
          </a:xfrm>
          <a:prstGeom prst="rect">
            <a:avLst/>
          </a:prstGeom>
          <a:solidFill>
            <a:srgbClr val="CBD5D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963025" y="862013"/>
            <a:ext cx="9525" cy="3351163"/>
          </a:xfrm>
          <a:prstGeom prst="rect">
            <a:avLst/>
          </a:prstGeom>
          <a:solidFill>
            <a:srgbClr val="CBD5D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07781" y="962323"/>
            <a:ext cx="21580" cy="257473"/>
          </a:xfrm>
          <a:prstGeom prst="roundRect">
            <a:avLst>
              <a:gd name="adj" fmla="val 64736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00352" y="962323"/>
            <a:ext cx="3707222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only —</a:t>
            </a: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Antisocial personality disorders, Body Dysmorphic Disorder, Impulse disorders, Kleptomania, Pyromania, Trichotillomania, Intermittent Explosive Disorder.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07781" y="1333946"/>
            <a:ext cx="3727103" cy="7590"/>
          </a:xfrm>
          <a:prstGeom prst="rect">
            <a:avLst/>
          </a:prstGeom>
          <a:solidFill>
            <a:srgbClr val="D4E8E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07781" y="1455688"/>
            <a:ext cx="21580" cy="228600"/>
          </a:xfrm>
          <a:prstGeom prst="roundRect">
            <a:avLst>
              <a:gd name="adj" fmla="val 64736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00352" y="1455688"/>
            <a:ext cx="2824341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 only —</a:t>
            </a: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Bulimia Nervosa, Cognitive Impairment Disorders.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107781" y="1798439"/>
            <a:ext cx="3727103" cy="7590"/>
          </a:xfrm>
          <a:prstGeom prst="rect">
            <a:avLst/>
          </a:prstGeom>
          <a:solidFill>
            <a:srgbClr val="D4E8E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07781" y="1920180"/>
            <a:ext cx="21580" cy="228600"/>
          </a:xfrm>
          <a:prstGeom prst="roundRect">
            <a:avLst>
              <a:gd name="adj" fmla="val 64736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00352" y="1920180"/>
            <a:ext cx="3652718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Custody —</a:t>
            </a: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</a:t>
            </a:r>
            <a:r>
              <a:rPr lang="en-US" sz="650" b="1" dirty="0">
                <a:solidFill>
                  <a:srgbClr val="1B5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Z62.21</a:t>
            </a: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welfare custody </a:t>
            </a:r>
            <a:r>
              <a:rPr lang="en-US" sz="7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client alert </a:t>
            </a:r>
            <a:r>
              <a:rPr lang="en-US" sz="7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DCS Custody</a:t>
            </a: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107781" y="2262932"/>
            <a:ext cx="3727103" cy="7590"/>
          </a:xfrm>
          <a:prstGeom prst="rect">
            <a:avLst/>
          </a:prstGeom>
          <a:solidFill>
            <a:srgbClr val="D4E8E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07781" y="2384673"/>
            <a:ext cx="21580" cy="386209"/>
          </a:xfrm>
          <a:prstGeom prst="roundRect">
            <a:avLst>
              <a:gd name="adj" fmla="val 64736"/>
            </a:avLst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00352" y="2384673"/>
            <a:ext cx="3707222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has not changed —</a:t>
            </a: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add diagnoses that are clinically accurate. Symptoms and behaviors must meet DSM-5-TR criteria. Consult your supervisor when unsure.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07781" y="3749725"/>
            <a:ext cx="3801645" cy="353616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lIns="100330" tIns="64770" rIns="100330" bIns="64770" rtlCol="0" anchor="t"/>
          <a:lstStyle/>
          <a:p>
            <a:pPr marL="0" indent="0" algn="l">
              <a:buNone/>
            </a:pPr>
            <a:r>
              <a:rPr lang="en-US" sz="630" i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whether a diagnosis qualifies as exclusionary — document thoroughly and consult your supervisor before finalizing.</a:t>
            </a:r>
            <a:endParaRPr lang="en-US" sz="630" dirty="0"/>
          </a:p>
        </p:txBody>
      </p:sp>
      <p:sp>
        <p:nvSpPr>
          <p:cNvPr id="40" name="Text 38"/>
          <p:cNvSpPr/>
          <p:nvPr/>
        </p:nvSpPr>
        <p:spPr>
          <a:xfrm>
            <a:off x="5107781" y="3749725"/>
            <a:ext cx="19050" cy="353616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3439" y="4284166"/>
            <a:ext cx="8977122" cy="242441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lIns="143510" tIns="57150" rIns="143510" bIns="57150" rtlCol="0" anchor="ctr"/>
          <a:lstStyle/>
          <a:p>
            <a:pPr marL="0" indent="0" algn="ctr">
              <a:buNone/>
            </a:pPr>
            <a:r>
              <a:rPr lang="en-US" sz="650" b="1" kern="0" spc="7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Episodes of Care Exclusionary Diagnosis Categories — Updated June 2024 (JAB)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71450" y="4284166"/>
            <a:ext cx="28575" cy="242441"/>
          </a:xfrm>
          <a:prstGeom prst="rect">
            <a:avLst/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93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42900" tIns="157480" rIns="342900" bIns="7112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ADHD vs. Trauma — Rule Out Before You Rule In</a:t>
            </a:r>
            <a:endParaRPr lang="en-US" sz="1580" dirty="0"/>
          </a:p>
          <a:p>
            <a:pPr marL="0" indent="0" algn="l">
              <a:buNone/>
            </a:pPr>
            <a:r>
              <a:rPr lang="en-US" sz="790" i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symptoms frequently present as ADHD. The DSM-5-TR and Vanderbilt help you tell the difference.</a:t>
            </a:r>
            <a:endParaRPr lang="en-US" sz="1580" dirty="0"/>
          </a:p>
        </p:txBody>
      </p:sp>
      <p:sp>
        <p:nvSpPr>
          <p:cNvPr id="3" name="Text 1"/>
          <p:cNvSpPr/>
          <p:nvPr/>
        </p:nvSpPr>
        <p:spPr>
          <a:xfrm>
            <a:off x="342900" y="638770"/>
            <a:ext cx="8458200" cy="21580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760661"/>
            <a:ext cx="3949750" cy="439043"/>
          </a:xfrm>
          <a:custGeom>
            <a:avLst/>
            <a:gdLst/>
            <a:ahLst/>
            <a:cxnLst/>
            <a:rect l="l" t="t" r="r" b="b"/>
            <a:pathLst>
              <a:path w="3949750" h="439043">
                <a:moveTo>
                  <a:pt x="71120" y="0"/>
                </a:move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lnTo>
                  <a:pt x="0" y="439043"/>
                </a:lnTo>
                <a:lnTo>
                  <a:pt x="3949750" y="439043"/>
                </a:lnTo>
                <a:lnTo>
                  <a:pt x="3949750" y="71120"/>
                </a:lnTo>
                <a:lnTo>
                  <a:pt x="3948383" y="57245"/>
                </a:lnTo>
                <a:lnTo>
                  <a:pt x="3944336" y="43904"/>
                </a:lnTo>
                <a:lnTo>
                  <a:pt x="3937764" y="31608"/>
                </a:lnTo>
                <a:lnTo>
                  <a:pt x="3928919" y="20831"/>
                </a:lnTo>
                <a:lnTo>
                  <a:pt x="3918142" y="11986"/>
                </a:lnTo>
                <a:lnTo>
                  <a:pt x="3905846" y="5414"/>
                </a:lnTo>
                <a:lnTo>
                  <a:pt x="3892504" y="1367"/>
                </a:lnTo>
                <a:lnTo>
                  <a:pt x="3878630" y="0"/>
                </a:lnTo>
                <a:close/>
              </a:path>
            </a:pathLst>
          </a:cu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087" y="913814"/>
            <a:ext cx="132588" cy="132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5382" y="831652"/>
            <a:ext cx="14652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27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ADHD Presentation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75382" y="1010692"/>
            <a:ext cx="14652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FFFFFF">
                    <a:alpha val="6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· Cross-Setting · Pervasive</a:t>
            </a:r>
            <a:endParaRPr lang="en-US" sz="620" dirty="0"/>
          </a:p>
        </p:txBody>
      </p:sp>
      <p:sp>
        <p:nvSpPr>
          <p:cNvPr id="8" name="Text 5"/>
          <p:cNvSpPr/>
          <p:nvPr/>
        </p:nvSpPr>
        <p:spPr>
          <a:xfrm>
            <a:off x="342900" y="1199704"/>
            <a:ext cx="3949750" cy="3590030"/>
          </a:xfrm>
          <a:custGeom>
            <a:avLst/>
            <a:gdLst/>
            <a:ahLst/>
            <a:cxnLst/>
            <a:rect l="l" t="t" r="r" b="b"/>
            <a:pathLst>
              <a:path w="3949750" h="3590030">
                <a:moveTo>
                  <a:pt x="0" y="0"/>
                </a:moveTo>
                <a:lnTo>
                  <a:pt x="0" y="3518912"/>
                </a:lnTo>
                <a:lnTo>
                  <a:pt x="1367" y="3532787"/>
                </a:lnTo>
                <a:lnTo>
                  <a:pt x="5414" y="3546128"/>
                </a:lnTo>
                <a:lnTo>
                  <a:pt x="11986" y="3558424"/>
                </a:lnTo>
                <a:lnTo>
                  <a:pt x="20831" y="3569201"/>
                </a:lnTo>
                <a:lnTo>
                  <a:pt x="31608" y="3578046"/>
                </a:lnTo>
                <a:lnTo>
                  <a:pt x="43904" y="3584618"/>
                </a:lnTo>
                <a:lnTo>
                  <a:pt x="57245" y="3588665"/>
                </a:lnTo>
                <a:lnTo>
                  <a:pt x="71120" y="3590030"/>
                </a:lnTo>
                <a:lnTo>
                  <a:pt x="3878630" y="3590030"/>
                </a:lnTo>
                <a:lnTo>
                  <a:pt x="3892504" y="3588665"/>
                </a:lnTo>
                <a:lnTo>
                  <a:pt x="3905846" y="3584618"/>
                </a:lnTo>
                <a:lnTo>
                  <a:pt x="3918142" y="3578046"/>
                </a:lnTo>
                <a:lnTo>
                  <a:pt x="3928919" y="3569201"/>
                </a:lnTo>
                <a:lnTo>
                  <a:pt x="3937764" y="3558424"/>
                </a:lnTo>
                <a:lnTo>
                  <a:pt x="3944336" y="3546128"/>
                </a:lnTo>
                <a:lnTo>
                  <a:pt x="3948383" y="3532787"/>
                </a:lnTo>
                <a:lnTo>
                  <a:pt x="3949750" y="3518912"/>
                </a:lnTo>
                <a:lnTo>
                  <a:pt x="3949750" y="0"/>
                </a:lnTo>
                <a:close/>
              </a:path>
            </a:pathLst>
          </a:cu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1041" y="1307604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6332" y="1300014"/>
            <a:ext cx="3578340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present across multiple settings — home AND school, both required by DSM-5-TR criteria.</a:t>
            </a:r>
            <a:endParaRPr lang="en-US" sz="740" dirty="0"/>
          </a:p>
        </p:txBody>
      </p:sp>
      <p:sp>
        <p:nvSpPr>
          <p:cNvPr id="11" name="Text 8"/>
          <p:cNvSpPr/>
          <p:nvPr/>
        </p:nvSpPr>
        <p:spPr>
          <a:xfrm>
            <a:off x="471041" y="1644402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6332" y="1636812"/>
            <a:ext cx="3578340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before age 12 — several inattentive or hyperactive-impulsive symptoms must be present prior to age 12.</a:t>
            </a:r>
            <a:endParaRPr lang="en-US" sz="740" dirty="0"/>
          </a:p>
        </p:txBody>
      </p:sp>
      <p:sp>
        <p:nvSpPr>
          <p:cNvPr id="13" name="Text 10"/>
          <p:cNvSpPr/>
          <p:nvPr/>
        </p:nvSpPr>
        <p:spPr>
          <a:xfrm>
            <a:off x="471041" y="1981200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6332" y="1973610"/>
            <a:ext cx="3578340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are pervasive — not triggered by specific events or contexts; present consistently regardless of environment.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471041" y="2317998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6332" y="2310408"/>
            <a:ext cx="3578340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Inattention and/or hyperactivity present consistently over 6+ months at a level inconsistent with developmental stage.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471041" y="2654796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6332" y="2647206"/>
            <a:ext cx="3578340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 parent AND teacher scales both show elevated scores across settings — concordance matters.</a:t>
            </a:r>
            <a:endParaRPr lang="en-US" sz="740" dirty="0"/>
          </a:p>
        </p:txBody>
      </p:sp>
      <p:sp>
        <p:nvSpPr>
          <p:cNvPr id="19" name="Text 16"/>
          <p:cNvSpPr/>
          <p:nvPr/>
        </p:nvSpPr>
        <p:spPr>
          <a:xfrm>
            <a:off x="471041" y="2991594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6332" y="2984004"/>
            <a:ext cx="3578340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identifiable traumatic event driving symptom onset — history is free of adverse experiences explaining the presentation.</a:t>
            </a:r>
            <a:endParaRPr lang="en-US" sz="740" dirty="0"/>
          </a:p>
        </p:txBody>
      </p:sp>
      <p:sp>
        <p:nvSpPr>
          <p:cNvPr id="21" name="Text 18"/>
          <p:cNvSpPr/>
          <p:nvPr/>
        </p:nvSpPr>
        <p:spPr>
          <a:xfrm>
            <a:off x="4436120" y="2689473"/>
            <a:ext cx="271760" cy="298936"/>
          </a:xfrm>
          <a:prstGeom prst="ellipse">
            <a:avLst/>
          </a:prstGeom>
          <a:solidFill>
            <a:srgbClr val="1B5E7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29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4851350" y="760661"/>
            <a:ext cx="3949750" cy="439043"/>
          </a:xfrm>
          <a:custGeom>
            <a:avLst/>
            <a:gdLst/>
            <a:ahLst/>
            <a:cxnLst/>
            <a:rect l="l" t="t" r="r" b="b"/>
            <a:pathLst>
              <a:path w="3949750" h="439043">
                <a:moveTo>
                  <a:pt x="71120" y="0"/>
                </a:move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lnTo>
                  <a:pt x="0" y="439043"/>
                </a:lnTo>
                <a:lnTo>
                  <a:pt x="3949750" y="439043"/>
                </a:lnTo>
                <a:lnTo>
                  <a:pt x="3949750" y="71120"/>
                </a:lnTo>
                <a:lnTo>
                  <a:pt x="3948383" y="57245"/>
                </a:lnTo>
                <a:lnTo>
                  <a:pt x="3944336" y="43904"/>
                </a:lnTo>
                <a:lnTo>
                  <a:pt x="3937764" y="31608"/>
                </a:lnTo>
                <a:lnTo>
                  <a:pt x="3928919" y="20831"/>
                </a:lnTo>
                <a:lnTo>
                  <a:pt x="3918142" y="11986"/>
                </a:lnTo>
                <a:lnTo>
                  <a:pt x="3905846" y="5414"/>
                </a:lnTo>
                <a:lnTo>
                  <a:pt x="3892504" y="1367"/>
                </a:lnTo>
                <a:lnTo>
                  <a:pt x="3878630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7537" y="913814"/>
            <a:ext cx="132588" cy="132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83832" y="831652"/>
            <a:ext cx="27660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27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Trauma Presentation (Can Look Like ADHD)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183832" y="1010692"/>
            <a:ext cx="276606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1B5E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Context-Driven · Setting-Specific · Reactive</a:t>
            </a:r>
            <a:endParaRPr lang="en-US" sz="620" dirty="0"/>
          </a:p>
        </p:txBody>
      </p:sp>
      <p:sp>
        <p:nvSpPr>
          <p:cNvPr id="26" name="Text 22"/>
          <p:cNvSpPr/>
          <p:nvPr/>
        </p:nvSpPr>
        <p:spPr>
          <a:xfrm>
            <a:off x="4851350" y="1199704"/>
            <a:ext cx="3949750" cy="3590030"/>
          </a:xfrm>
          <a:custGeom>
            <a:avLst/>
            <a:gdLst/>
            <a:ahLst/>
            <a:cxnLst/>
            <a:rect l="l" t="t" r="r" b="b"/>
            <a:pathLst>
              <a:path w="3949750" h="3590030">
                <a:moveTo>
                  <a:pt x="0" y="0"/>
                </a:moveTo>
                <a:lnTo>
                  <a:pt x="0" y="3518912"/>
                </a:lnTo>
                <a:lnTo>
                  <a:pt x="1367" y="3532787"/>
                </a:lnTo>
                <a:lnTo>
                  <a:pt x="5414" y="3546128"/>
                </a:lnTo>
                <a:lnTo>
                  <a:pt x="11986" y="3558424"/>
                </a:lnTo>
                <a:lnTo>
                  <a:pt x="20831" y="3569201"/>
                </a:lnTo>
                <a:lnTo>
                  <a:pt x="31608" y="3578046"/>
                </a:lnTo>
                <a:lnTo>
                  <a:pt x="43904" y="3584618"/>
                </a:lnTo>
                <a:lnTo>
                  <a:pt x="57245" y="3588665"/>
                </a:lnTo>
                <a:lnTo>
                  <a:pt x="71120" y="3590030"/>
                </a:lnTo>
                <a:lnTo>
                  <a:pt x="3878630" y="3590030"/>
                </a:lnTo>
                <a:lnTo>
                  <a:pt x="3892504" y="3588665"/>
                </a:lnTo>
                <a:lnTo>
                  <a:pt x="3905846" y="3584618"/>
                </a:lnTo>
                <a:lnTo>
                  <a:pt x="3918142" y="3578046"/>
                </a:lnTo>
                <a:lnTo>
                  <a:pt x="3928919" y="3569201"/>
                </a:lnTo>
                <a:lnTo>
                  <a:pt x="3937764" y="3558424"/>
                </a:lnTo>
                <a:lnTo>
                  <a:pt x="3944336" y="3546128"/>
                </a:lnTo>
                <a:lnTo>
                  <a:pt x="3948383" y="3532787"/>
                </a:lnTo>
                <a:lnTo>
                  <a:pt x="3949750" y="3518912"/>
                </a:lnTo>
                <a:lnTo>
                  <a:pt x="394975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851350" y="1199704"/>
            <a:ext cx="9525" cy="3590032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8791575" y="1199704"/>
            <a:ext cx="9525" cy="3590032"/>
          </a:xfrm>
          <a:prstGeom prst="rect">
            <a:avLst/>
          </a:prstGeom>
          <a:solidFill>
            <a:srgbClr val="D0D0D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989016" y="1307604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174307" y="1300014"/>
            <a:ext cx="3558909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Hyperarousal mimics hyperactivity and impulsivity — the nervous system stays in a state of threat detection, producing ADHD-like restlessness.</a:t>
            </a:r>
            <a:endParaRPr lang="en-US" sz="740" dirty="0"/>
          </a:p>
        </p:txBody>
      </p:sp>
      <p:sp>
        <p:nvSpPr>
          <p:cNvPr id="31" name="Text 27"/>
          <p:cNvSpPr/>
          <p:nvPr/>
        </p:nvSpPr>
        <p:spPr>
          <a:xfrm>
            <a:off x="4989016" y="1644402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174307" y="1636812"/>
            <a:ext cx="3558909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Dissociation and intrusive thoughts can look like inattention — the child may appear "zoned out" or unable to track conversation.</a:t>
            </a:r>
            <a:endParaRPr lang="en-US" sz="740" dirty="0"/>
          </a:p>
        </p:txBody>
      </p:sp>
      <p:sp>
        <p:nvSpPr>
          <p:cNvPr id="33" name="Text 29"/>
          <p:cNvSpPr/>
          <p:nvPr/>
        </p:nvSpPr>
        <p:spPr>
          <a:xfrm>
            <a:off x="4989016" y="1981200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174307" y="1973610"/>
            <a:ext cx="3558909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may be setting-specific — worse when triggered, noticeably better in safe, predictable, low-threat environments.</a:t>
            </a:r>
            <a:endParaRPr lang="en-US" sz="740" dirty="0"/>
          </a:p>
        </p:txBody>
      </p:sp>
      <p:sp>
        <p:nvSpPr>
          <p:cNvPr id="35" name="Text 31"/>
          <p:cNvSpPr/>
          <p:nvPr/>
        </p:nvSpPr>
        <p:spPr>
          <a:xfrm>
            <a:off x="4989016" y="2317998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174307" y="2310408"/>
            <a:ext cx="3558909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escalates around trauma reminders — not uniformly across all settings or times of day.</a:t>
            </a:r>
            <a:endParaRPr lang="en-US" sz="740" dirty="0"/>
          </a:p>
        </p:txBody>
      </p:sp>
      <p:sp>
        <p:nvSpPr>
          <p:cNvPr id="37" name="Text 33"/>
          <p:cNvSpPr/>
          <p:nvPr/>
        </p:nvSpPr>
        <p:spPr>
          <a:xfrm>
            <a:off x="4989016" y="2654796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5174307" y="2647206"/>
            <a:ext cx="3558909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 teacher scores may not match parent scores significantly — inconsistency across informants is a clinical signal.</a:t>
            </a:r>
            <a:endParaRPr lang="en-US" sz="740" dirty="0"/>
          </a:p>
        </p:txBody>
      </p:sp>
      <p:sp>
        <p:nvSpPr>
          <p:cNvPr id="39" name="Text 35"/>
          <p:cNvSpPr/>
          <p:nvPr/>
        </p:nvSpPr>
        <p:spPr>
          <a:xfrm>
            <a:off x="4989016" y="2991594"/>
            <a:ext cx="1257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5174307" y="2984004"/>
            <a:ext cx="3558909" cy="28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ACEs, abuse, neglect, or household instability — a trauma-informed lens is essential when these are present.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0" y="4876056"/>
            <a:ext cx="9144000" cy="267444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9264" y="4943410"/>
            <a:ext cx="132588" cy="13258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1447629" y="4947047"/>
            <a:ext cx="6431057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88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doubt: assess for both.  ·  Use the Vanderbilt across settings.  ·  Consult your supervisor.  ·  Document your reasoning.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5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4534" y="0"/>
            <a:ext cx="2429466" cy="2000202"/>
          </a:xfrm>
          <a:prstGeom prst="ellipse">
            <a:avLst/>
          </a:prstGeom>
          <a:solidFill>
            <a:srgbClr val="FAB753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857034"/>
            <a:ext cx="1428705" cy="1286466"/>
          </a:xfrm>
          <a:prstGeom prst="ellipse">
            <a:avLst/>
          </a:prstGeom>
          <a:solidFill>
            <a:srgbClr val="FAB753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9164" y="200620"/>
            <a:ext cx="8805672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70"/>
              </a:lnSpc>
              <a:spcAft>
                <a:spcPts val="280"/>
              </a:spcAft>
              <a:buNone/>
            </a:pPr>
            <a:r>
              <a:rPr lang="en-US" sz="1800" b="1" kern="0" spc="18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Diagnosing with Confidence — Key Takeaways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86250" y="520601"/>
            <a:ext cx="57150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" y="585341"/>
            <a:ext cx="905256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4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OUT OF THIS ROOM TODAY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342900" y="845641"/>
            <a:ext cx="2772073" cy="1972866"/>
          </a:xfrm>
          <a:prstGeom prst="roundRect">
            <a:avLst>
              <a:gd name="adj" fmla="val 289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2735" y="963067"/>
            <a:ext cx="228600" cy="2514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767655" y="955477"/>
            <a:ext cx="24458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spcAft>
                <a:spcPts val="170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DSM-5-TR regularly.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767655" y="1097310"/>
            <a:ext cx="2267962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B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available through The Source. Use it at intake. Use it when you are unsure. Use it like the professional resource it is.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185964" y="845641"/>
            <a:ext cx="2772073" cy="1972866"/>
          </a:xfrm>
          <a:prstGeom prst="roundRect">
            <a:avLst>
              <a:gd name="adj" fmla="val 289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95799" y="963067"/>
            <a:ext cx="228600" cy="2514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3610719" y="955477"/>
            <a:ext cx="2267962" cy="25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8"/>
              </a:lnSpc>
              <a:spcAft>
                <a:spcPts val="170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assessments as clinical tools — not checklists.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3610719" y="1217563"/>
            <a:ext cx="2267962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B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PSC-17 and Vanderbilt Scales are in Avatar. They support your reasoning. They do not replace it.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029027" y="845641"/>
            <a:ext cx="2772073" cy="1972866"/>
          </a:xfrm>
          <a:prstGeom prst="roundRect">
            <a:avLst>
              <a:gd name="adj" fmla="val 289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38863" y="963067"/>
            <a:ext cx="228600" cy="2514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453783" y="955477"/>
            <a:ext cx="2267962" cy="25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8"/>
              </a:lnSpc>
              <a:spcAft>
                <a:spcPts val="170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Vanderbilt requires both parent and teacher data.</a:t>
            </a:r>
            <a:endParaRPr lang="en-US" sz="790" dirty="0"/>
          </a:p>
        </p:txBody>
      </p:sp>
      <p:sp>
        <p:nvSpPr>
          <p:cNvPr id="18" name="Text 16"/>
          <p:cNvSpPr/>
          <p:nvPr/>
        </p:nvSpPr>
        <p:spPr>
          <a:xfrm>
            <a:off x="6453783" y="1217563"/>
            <a:ext cx="2267962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B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Cross-setting symptom presentation is a DSM-5-TR requirement for ADHD. Get both reports. Review the 6-month follow-up.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42900" y="2889498"/>
            <a:ext cx="2772073" cy="1972866"/>
          </a:xfrm>
          <a:prstGeom prst="roundRect">
            <a:avLst>
              <a:gd name="adj" fmla="val 289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735" y="3006923"/>
            <a:ext cx="228600" cy="2514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767655" y="2999333"/>
            <a:ext cx="24458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spcAft>
                <a:spcPts val="170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Z-codes are not optional.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767655" y="3141166"/>
            <a:ext cx="2267962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B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full picture of your client's life. Z-codes are clinically accurate, documentable, and can help adjust episode costs.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185964" y="2889498"/>
            <a:ext cx="2772073" cy="1972866"/>
          </a:xfrm>
          <a:prstGeom prst="roundRect">
            <a:avLst>
              <a:gd name="adj" fmla="val 289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95799" y="3006923"/>
            <a:ext cx="228600" cy="2514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3610719" y="2999333"/>
            <a:ext cx="24458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spcAft>
                <a:spcPts val="170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 and ODD trigger Episodes of Care.</a:t>
            </a:r>
            <a:endParaRPr lang="en-US" sz="790" dirty="0"/>
          </a:p>
        </p:txBody>
      </p:sp>
      <p:sp>
        <p:nvSpPr>
          <p:cNvPr id="26" name="Text 24"/>
          <p:cNvSpPr/>
          <p:nvPr/>
        </p:nvSpPr>
        <p:spPr>
          <a:xfrm>
            <a:off x="3610719" y="3141166"/>
            <a:ext cx="2267962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B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primary diagnosis. Include comorbidities and exclusionary diagnoses when clinically accurate. Document fully — every time.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029027" y="2889498"/>
            <a:ext cx="2772073" cy="1972866"/>
          </a:xfrm>
          <a:prstGeom prst="roundRect">
            <a:avLst>
              <a:gd name="adj" fmla="val 289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38863" y="3006923"/>
            <a:ext cx="228600" cy="2514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453783" y="2999333"/>
            <a:ext cx="24458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spcAft>
                <a:spcPts val="170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comes from practice.</a:t>
            </a:r>
            <a:endParaRPr lang="en-US" sz="790" dirty="0"/>
          </a:p>
        </p:txBody>
      </p:sp>
      <p:sp>
        <p:nvSpPr>
          <p:cNvPr id="30" name="Text 28"/>
          <p:cNvSpPr/>
          <p:nvPr/>
        </p:nvSpPr>
        <p:spPr>
          <a:xfrm>
            <a:off x="6453783" y="3141166"/>
            <a:ext cx="2267962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B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we played the game. Diagnostic reasoning is a skill — not a trait. Keep using it.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" y="4933355"/>
            <a:ext cx="905256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650" i="1" kern="0" spc="2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Clinical Training Series  ·  Diagnosing with Confidence  ·  June 2026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52425" y="855166"/>
            <a:ext cx="21580" cy="1953816"/>
          </a:xfrm>
          <a:custGeom>
            <a:avLst/>
            <a:gdLst/>
            <a:ahLst/>
            <a:cxnLst/>
            <a:rect l="l" t="t" r="r" b="b"/>
            <a:pathLst>
              <a:path w="21580" h="1953816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941397"/>
                </a:lnTo>
                <a:lnTo>
                  <a:pt x="18883" y="1939112"/>
                </a:lnTo>
                <a:lnTo>
                  <a:pt x="16185" y="1936515"/>
                </a:lnTo>
                <a:lnTo>
                  <a:pt x="13488" y="1933540"/>
                </a:lnTo>
                <a:lnTo>
                  <a:pt x="10790" y="1930085"/>
                </a:lnTo>
                <a:lnTo>
                  <a:pt x="8093" y="1925983"/>
                </a:lnTo>
                <a:lnTo>
                  <a:pt x="5395" y="1920905"/>
                </a:lnTo>
                <a:lnTo>
                  <a:pt x="2698" y="1914016"/>
                </a:lnTo>
                <a:lnTo>
                  <a:pt x="0" y="1896666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195489" y="855166"/>
            <a:ext cx="21580" cy="1953816"/>
          </a:xfrm>
          <a:custGeom>
            <a:avLst/>
            <a:gdLst/>
            <a:ahLst/>
            <a:cxnLst/>
            <a:rect l="l" t="t" r="r" b="b"/>
            <a:pathLst>
              <a:path w="21580" h="1953816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941397"/>
                </a:lnTo>
                <a:lnTo>
                  <a:pt x="18883" y="1939112"/>
                </a:lnTo>
                <a:lnTo>
                  <a:pt x="16185" y="1936515"/>
                </a:lnTo>
                <a:lnTo>
                  <a:pt x="13488" y="1933540"/>
                </a:lnTo>
                <a:lnTo>
                  <a:pt x="10790" y="1930085"/>
                </a:lnTo>
                <a:lnTo>
                  <a:pt x="8093" y="1925983"/>
                </a:lnTo>
                <a:lnTo>
                  <a:pt x="5395" y="1920905"/>
                </a:lnTo>
                <a:lnTo>
                  <a:pt x="2698" y="1914016"/>
                </a:lnTo>
                <a:lnTo>
                  <a:pt x="0" y="1896666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38552" y="855166"/>
            <a:ext cx="21580" cy="1953816"/>
          </a:xfrm>
          <a:custGeom>
            <a:avLst/>
            <a:gdLst/>
            <a:ahLst/>
            <a:cxnLst/>
            <a:rect l="l" t="t" r="r" b="b"/>
            <a:pathLst>
              <a:path w="21580" h="1953816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941397"/>
                </a:lnTo>
                <a:lnTo>
                  <a:pt x="18883" y="1939112"/>
                </a:lnTo>
                <a:lnTo>
                  <a:pt x="16185" y="1936515"/>
                </a:lnTo>
                <a:lnTo>
                  <a:pt x="13488" y="1933540"/>
                </a:lnTo>
                <a:lnTo>
                  <a:pt x="10790" y="1930085"/>
                </a:lnTo>
                <a:lnTo>
                  <a:pt x="8093" y="1925983"/>
                </a:lnTo>
                <a:lnTo>
                  <a:pt x="5395" y="1920905"/>
                </a:lnTo>
                <a:lnTo>
                  <a:pt x="2698" y="1914016"/>
                </a:lnTo>
                <a:lnTo>
                  <a:pt x="0" y="1896666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2425" y="2899023"/>
            <a:ext cx="21580" cy="1953816"/>
          </a:xfrm>
          <a:custGeom>
            <a:avLst/>
            <a:gdLst/>
            <a:ahLst/>
            <a:cxnLst/>
            <a:rect l="l" t="t" r="r" b="b"/>
            <a:pathLst>
              <a:path w="21580" h="1953816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941397"/>
                </a:lnTo>
                <a:lnTo>
                  <a:pt x="18883" y="1939112"/>
                </a:lnTo>
                <a:lnTo>
                  <a:pt x="16185" y="1936515"/>
                </a:lnTo>
                <a:lnTo>
                  <a:pt x="13488" y="1933540"/>
                </a:lnTo>
                <a:lnTo>
                  <a:pt x="10790" y="1930085"/>
                </a:lnTo>
                <a:lnTo>
                  <a:pt x="8093" y="1925983"/>
                </a:lnTo>
                <a:lnTo>
                  <a:pt x="5395" y="1920905"/>
                </a:lnTo>
                <a:lnTo>
                  <a:pt x="2698" y="1914016"/>
                </a:lnTo>
                <a:lnTo>
                  <a:pt x="0" y="1896666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195489" y="2899023"/>
            <a:ext cx="21580" cy="1953816"/>
          </a:xfrm>
          <a:custGeom>
            <a:avLst/>
            <a:gdLst/>
            <a:ahLst/>
            <a:cxnLst/>
            <a:rect l="l" t="t" r="r" b="b"/>
            <a:pathLst>
              <a:path w="21580" h="1953816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941397"/>
                </a:lnTo>
                <a:lnTo>
                  <a:pt x="18883" y="1939112"/>
                </a:lnTo>
                <a:lnTo>
                  <a:pt x="16185" y="1936515"/>
                </a:lnTo>
                <a:lnTo>
                  <a:pt x="13488" y="1933540"/>
                </a:lnTo>
                <a:lnTo>
                  <a:pt x="10790" y="1930085"/>
                </a:lnTo>
                <a:lnTo>
                  <a:pt x="8093" y="1925983"/>
                </a:lnTo>
                <a:lnTo>
                  <a:pt x="5395" y="1920905"/>
                </a:lnTo>
                <a:lnTo>
                  <a:pt x="2698" y="1914016"/>
                </a:lnTo>
                <a:lnTo>
                  <a:pt x="0" y="1896666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38552" y="2899023"/>
            <a:ext cx="21580" cy="1953816"/>
          </a:xfrm>
          <a:custGeom>
            <a:avLst/>
            <a:gdLst/>
            <a:ahLst/>
            <a:cxnLst/>
            <a:rect l="l" t="t" r="r" b="b"/>
            <a:pathLst>
              <a:path w="21580" h="1953816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941397"/>
                </a:lnTo>
                <a:lnTo>
                  <a:pt x="18883" y="1939112"/>
                </a:lnTo>
                <a:lnTo>
                  <a:pt x="16185" y="1936515"/>
                </a:lnTo>
                <a:lnTo>
                  <a:pt x="13488" y="1933540"/>
                </a:lnTo>
                <a:lnTo>
                  <a:pt x="10790" y="1930085"/>
                </a:lnTo>
                <a:lnTo>
                  <a:pt x="8093" y="1925983"/>
                </a:lnTo>
                <a:lnTo>
                  <a:pt x="5395" y="1920905"/>
                </a:lnTo>
                <a:lnTo>
                  <a:pt x="2698" y="1914016"/>
                </a:lnTo>
                <a:lnTo>
                  <a:pt x="0" y="1896666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3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220" y="0"/>
            <a:ext cx="2999780" cy="285750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3572470"/>
            <a:ext cx="2000250" cy="157103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29250" y="0"/>
            <a:ext cx="3714750" cy="357128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3356521"/>
            <a:ext cx="2358479" cy="1786979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220" y="429220"/>
            <a:ext cx="2143720" cy="214372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FAB753">
                  <a:alpha val="40000"/>
                </a:srgbClr>
              </a:gs>
              <a:gs pos="70000">
                <a:srgbClr val="FAB75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Eyebrow"/>
          <p:cNvSpPr/>
          <p:nvPr/>
        </p:nvSpPr>
        <p:spPr>
          <a:xfrm>
            <a:off x="3072110" y="644730"/>
            <a:ext cx="2999779" cy="9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kern="0" spc="155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SCHOOL-BASED CLINICAL TRAINING SERIES</a:t>
            </a:r>
            <a:endParaRPr lang="en-US" sz="620" dirty="0"/>
          </a:p>
        </p:txBody>
      </p:sp>
      <p:sp>
        <p:nvSpPr>
          <p:cNvPr id="9" name="Accent Line Top"/>
          <p:cNvSpPr/>
          <p:nvPr/>
        </p:nvSpPr>
        <p:spPr>
          <a:xfrm>
            <a:off x="4357389" y="967437"/>
            <a:ext cx="429220" cy="13841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itle"/>
          <p:cNvSpPr/>
          <p:nvPr/>
        </p:nvSpPr>
        <p:spPr>
          <a:xfrm>
            <a:off x="1585609" y="1130000"/>
            <a:ext cx="5786120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5"/>
              </a:lnSpc>
              <a:spcAft>
                <a:spcPts val="1580"/>
              </a:spcAft>
              <a:buNone/>
            </a:pPr>
            <a:r>
              <a:rPr lang="en-US" sz="4050" kern="0" spc="-4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Diagnosing with Confidence</a:t>
            </a:r>
            <a:endParaRPr lang="en-US" sz="4050" dirty="0"/>
          </a:p>
        </p:txBody>
      </p:sp>
      <p:sp>
        <p:nvSpPr>
          <p:cNvPr id="11" name="Accent Line Bottom"/>
          <p:cNvSpPr/>
          <p:nvPr/>
        </p:nvSpPr>
        <p:spPr>
          <a:xfrm>
            <a:off x="4143375" y="1900000"/>
            <a:ext cx="857250" cy="7590"/>
          </a:xfrm>
          <a:prstGeom prst="rect">
            <a:avLst/>
          </a:prstGeom>
          <a:solidFill>
            <a:srgbClr val="FAB753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Message"/>
          <p:cNvSpPr/>
          <p:nvPr/>
        </p:nvSpPr>
        <p:spPr>
          <a:xfrm>
            <a:off x="2072123" y="2040000"/>
            <a:ext cx="4999754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40" kern="0" spc="50" dirty="0">
                <a:solidFill>
                  <a:srgbClr val="55A49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Completion of this survey is required for attendance verification for today’s training.</a:t>
            </a:r>
            <a:endParaRPr lang="en-US" sz="1240" dirty="0"/>
          </a:p>
        </p:txBody>
      </p:sp>
      <p:sp>
        <p:nvSpPr>
          <p:cNvPr id="17" name="Survey Link Placeholder"/>
          <p:cNvSpPr/>
          <p:nvPr/>
        </p:nvSpPr>
        <p:spPr>
          <a:xfrm>
            <a:off x="2000250" y="4192872"/>
            <a:ext cx="499975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40"/>
              </a:lnSpc>
            </a:pPr>
            <a:r>
              <a:rPr lang="en-US" sz="1060" u="sng" dirty="0">
                <a:solidFill>
                  <a:srgbClr val="FBB75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https://forms.office.com/r/EXVCQtPbti</a:t>
            </a:r>
            <a:endParaRPr lang="en-US" sz="1060" dirty="0">
              <a:solidFill>
                <a:srgbClr val="FBB753"/>
              </a:solidFill>
            </a:endParaRPr>
          </a:p>
          <a:p>
            <a:pPr marL="0" indent="0" algn="ctr">
              <a:lnSpc>
                <a:spcPts val="1440"/>
              </a:lnSpc>
              <a:buNone/>
            </a:pPr>
            <a:endParaRPr lang="en-US" sz="1050" dirty="0"/>
          </a:p>
        </p:txBody>
      </p:sp>
      <p:sp>
        <p:nvSpPr>
          <p:cNvPr id="15" name="Bottom Accent"/>
          <p:cNvSpPr/>
          <p:nvPr/>
        </p:nvSpPr>
        <p:spPr>
          <a:xfrm>
            <a:off x="0" y="5114330"/>
            <a:ext cx="9144000" cy="291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FAB753">
                  <a:alpha val="60000"/>
                </a:srgbClr>
              </a:gs>
              <a:gs pos="70000">
                <a:srgbClr val="FAB753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F00BDF-A22A-92E6-20D7-10B447887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429" y="2676823"/>
            <a:ext cx="1359395" cy="13593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2712</Words>
  <Application>Microsoft Macintosh PowerPoint</Application>
  <PresentationFormat>On-screen Show (16:9)</PresentationFormat>
  <Paragraphs>315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Topher Fuqua</cp:lastModifiedBy>
  <cp:revision>2</cp:revision>
  <dcterms:created xsi:type="dcterms:W3CDTF">2026-06-11T02:15:29Z</dcterms:created>
  <dcterms:modified xsi:type="dcterms:W3CDTF">2026-07-08T00:50:39Z</dcterms:modified>
</cp:coreProperties>
</file>