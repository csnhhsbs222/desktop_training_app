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pher Fuqua" userId="b06e452ca8d47646" providerId="LiveId" clId="{FDC30CCB-931D-5803-897A-9D7300DA2EAE}"/>
    <pc:docChg chg="custSel modSld">
      <pc:chgData name="Topher Fuqua" userId="b06e452ca8d47646" providerId="LiveId" clId="{FDC30CCB-931D-5803-897A-9D7300DA2EAE}" dt="2026-06-20T15:02:52.011" v="0" actId="26606"/>
      <pc:docMkLst>
        <pc:docMk/>
      </pc:docMkLst>
      <pc:sldChg chg="addSp mod">
        <pc:chgData name="Topher Fuqua" userId="b06e452ca8d47646" providerId="LiveId" clId="{FDC30CCB-931D-5803-897A-9D7300DA2EAE}" dt="2026-06-20T15:02:52.011" v="0" actId="26606"/>
        <pc:sldMkLst>
          <pc:docMk/>
          <pc:sldMk cId="0" sldId="257"/>
        </pc:sldMkLst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7"/>
            <ac:spMk id="900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7"/>
            <ac:spMk id="901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7"/>
            <ac:spMk id="902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7"/>
            <ac:spMk id="903" creationId="{00000000-0000-0000-0000-000000000000}"/>
          </ac:spMkLst>
        </pc:spChg>
      </pc:sldChg>
      <pc:sldChg chg="addSp mod">
        <pc:chgData name="Topher Fuqua" userId="b06e452ca8d47646" providerId="LiveId" clId="{FDC30CCB-931D-5803-897A-9D7300DA2EAE}" dt="2026-06-20T15:02:52.011" v="0" actId="26606"/>
        <pc:sldMkLst>
          <pc:docMk/>
          <pc:sldMk cId="0" sldId="258"/>
        </pc:sldMkLst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8"/>
            <ac:spMk id="900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8"/>
            <ac:spMk id="901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8"/>
            <ac:spMk id="902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8"/>
            <ac:spMk id="903" creationId="{00000000-0000-0000-0000-000000000000}"/>
          </ac:spMkLst>
        </pc:spChg>
      </pc:sldChg>
      <pc:sldChg chg="addSp mod">
        <pc:chgData name="Topher Fuqua" userId="b06e452ca8d47646" providerId="LiveId" clId="{FDC30CCB-931D-5803-897A-9D7300DA2EAE}" dt="2026-06-20T15:02:52.011" v="0" actId="26606"/>
        <pc:sldMkLst>
          <pc:docMk/>
          <pc:sldMk cId="0" sldId="259"/>
        </pc:sldMkLst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9"/>
            <ac:spMk id="900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9"/>
            <ac:spMk id="901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9"/>
            <ac:spMk id="902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59"/>
            <ac:spMk id="903" creationId="{00000000-0000-0000-0000-000000000000}"/>
          </ac:spMkLst>
        </pc:spChg>
      </pc:sldChg>
      <pc:sldChg chg="addSp mod">
        <pc:chgData name="Topher Fuqua" userId="b06e452ca8d47646" providerId="LiveId" clId="{FDC30CCB-931D-5803-897A-9D7300DA2EAE}" dt="2026-06-20T15:02:52.011" v="0" actId="26606"/>
        <pc:sldMkLst>
          <pc:docMk/>
          <pc:sldMk cId="0" sldId="260"/>
        </pc:sldMkLst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0"/>
            <ac:spMk id="900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0"/>
            <ac:spMk id="901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0"/>
            <ac:spMk id="902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0"/>
            <ac:spMk id="903" creationId="{00000000-0000-0000-0000-000000000000}"/>
          </ac:spMkLst>
        </pc:spChg>
      </pc:sldChg>
      <pc:sldChg chg="addSp mod">
        <pc:chgData name="Topher Fuqua" userId="b06e452ca8d47646" providerId="LiveId" clId="{FDC30CCB-931D-5803-897A-9D7300DA2EAE}" dt="2026-06-20T15:02:52.011" v="0" actId="26606"/>
        <pc:sldMkLst>
          <pc:docMk/>
          <pc:sldMk cId="0" sldId="261"/>
        </pc:sldMkLst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1"/>
            <ac:spMk id="900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1"/>
            <ac:spMk id="901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1"/>
            <ac:spMk id="902" creationId="{00000000-0000-0000-0000-000000000000}"/>
          </ac:spMkLst>
        </pc:spChg>
        <pc:spChg chg="add">
          <ac:chgData name="Topher Fuqua" userId="b06e452ca8d47646" providerId="LiveId" clId="{FDC30CCB-931D-5803-897A-9D7300DA2EAE}" dt="2026-06-20T15:02:52.011" v="0" actId="26606"/>
          <ac:spMkLst>
            <pc:docMk/>
            <pc:sldMk cId="0" sldId="261"/>
            <ac:spMk id="90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34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BA4C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BA4C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71140"/>
            <a:ext cx="4143970" cy="5001220"/>
          </a:xfrm>
          <a:prstGeom prst="ellipse">
            <a:avLst/>
          </a:prstGeom>
          <a:gradFill rotWithShape="1">
            <a:gsLst>
              <a:gs pos="0">
                <a:srgbClr val="5BA4CF">
                  <a:alpha val="10000"/>
                </a:srgbClr>
              </a:gs>
              <a:gs pos="70000">
                <a:srgbClr val="1B2A3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28750" y="571500"/>
            <a:ext cx="13841" cy="4000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BA4C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4530" y="0"/>
            <a:ext cx="2429470" cy="4743450"/>
          </a:xfrm>
          <a:prstGeom prst="rect">
            <a:avLst/>
          </a:prstGeom>
          <a:gradFill rotWithShape="1">
            <a:gsLst>
              <a:gs pos="0">
                <a:srgbClr val="243447">
                  <a:alpha val="60000"/>
                </a:srgbClr>
              </a:gs>
              <a:gs pos="100000">
                <a:srgbClr val="1B2A3B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4530" y="0"/>
            <a:ext cx="9525" cy="4743450"/>
          </a:xfrm>
          <a:prstGeom prst="rect">
            <a:avLst/>
          </a:prstGeom>
          <a:solidFill>
            <a:srgbClr val="5BA4CF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0972" y="1446163"/>
            <a:ext cx="786110" cy="786110"/>
          </a:xfrm>
          <a:prstGeom prst="roundRect">
            <a:avLst>
              <a:gd name="adj" fmla="val 21810"/>
            </a:avLst>
          </a:prstGeom>
          <a:solidFill>
            <a:srgbClr val="5BA4CF">
              <a:alpha val="8000"/>
            </a:srgbClr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8800" y="1683990"/>
            <a:ext cx="310455" cy="3104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17055" y="2403723"/>
            <a:ext cx="1433795" cy="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92"/>
              </a:lnSpc>
              <a:buNone/>
            </a:pPr>
            <a:r>
              <a:rPr lang="en-US" sz="620" kern="0" spc="74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DIAGNOSTIC CHARACTERS</a:t>
            </a:r>
            <a:br/>
            <a:r>
              <a:rPr lang="en-US" sz="620" kern="0" spc="74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DSM-5-TR CHAPTERS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7099399" y="2826990"/>
            <a:ext cx="70991" cy="7099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213550" y="2826990"/>
            <a:ext cx="70991" cy="7099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27702" y="2826990"/>
            <a:ext cx="70991" cy="7099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441853" y="2826990"/>
            <a:ext cx="70991" cy="7099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56004" y="2826990"/>
            <a:ext cx="70991" cy="7099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670155" y="2826990"/>
            <a:ext cx="70991" cy="70991"/>
          </a:xfrm>
          <a:prstGeom prst="ellipse">
            <a:avLst/>
          </a:prstGeom>
          <a:solidFill>
            <a:srgbClr val="65743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784306" y="2826990"/>
            <a:ext cx="70991" cy="70991"/>
          </a:xfrm>
          <a:prstGeom prst="ellipse">
            <a:avLst/>
          </a:prstGeom>
          <a:solidFill>
            <a:srgbClr val="4338C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898457" y="2826990"/>
            <a:ext cx="70991" cy="70991"/>
          </a:xfrm>
          <a:prstGeom prst="ellipse">
            <a:avLst/>
          </a:prstGeom>
          <a:solidFill>
            <a:srgbClr val="BE123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012609" y="2826990"/>
            <a:ext cx="70991" cy="7099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126760" y="2826990"/>
            <a:ext cx="70991" cy="7099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240911" y="2826990"/>
            <a:ext cx="70991" cy="7099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355062" y="2826990"/>
            <a:ext cx="70991" cy="7099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469213" y="2826990"/>
            <a:ext cx="70991" cy="70991"/>
          </a:xfrm>
          <a:prstGeom prst="ellipse">
            <a:avLst/>
          </a:prstGeom>
          <a:solidFill>
            <a:srgbClr val="E11D4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583364" y="2826990"/>
            <a:ext cx="70991" cy="70991"/>
          </a:xfrm>
          <a:prstGeom prst="ellipse">
            <a:avLst/>
          </a:prstGeom>
          <a:solidFill>
            <a:srgbClr val="1E3A5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697516" y="2826990"/>
            <a:ext cx="70991" cy="70991"/>
          </a:xfrm>
          <a:prstGeom prst="ellipse">
            <a:avLst/>
          </a:prstGeom>
          <a:solidFill>
            <a:srgbClr val="47556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670155" y="2941141"/>
            <a:ext cx="70991" cy="70991"/>
          </a:xfrm>
          <a:prstGeom prst="ellipse">
            <a:avLst/>
          </a:prstGeom>
          <a:solidFill>
            <a:srgbClr val="B7791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784306" y="2941141"/>
            <a:ext cx="70991" cy="7099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98457" y="2941141"/>
            <a:ext cx="70991" cy="7099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012609" y="2941141"/>
            <a:ext cx="70991" cy="7099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126760" y="2941141"/>
            <a:ext cx="70991" cy="7099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71500" y="151447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5BA4CF">
              <a:alpha val="10000"/>
            </a:srgbClr>
          </a:solidFill>
          <a:ln w="9525">
            <a:solidFill>
              <a:srgbClr val="5BA4C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728" y="1669703"/>
            <a:ext cx="203746" cy="20374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71500" y="231457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5BA4CF">
              <a:alpha val="10000"/>
            </a:srgbClr>
          </a:solidFill>
          <a:ln w="9525">
            <a:solidFill>
              <a:srgbClr val="5BA4C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937" y="2475012"/>
            <a:ext cx="193328" cy="19332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71500" y="311467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5BA4CF">
              <a:alpha val="10000"/>
            </a:srgbClr>
          </a:solidFill>
          <a:ln w="9525">
            <a:solidFill>
              <a:srgbClr val="5BA4C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937" y="3275112"/>
            <a:ext cx="193328" cy="1933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629370" y="1042541"/>
            <a:ext cx="200620" cy="13841"/>
          </a:xfrm>
          <a:prstGeom prst="roundRect">
            <a:avLst>
              <a:gd name="adj" fmla="val 55054"/>
            </a:avLst>
          </a:prstGeom>
          <a:solidFill>
            <a:srgbClr val="5BA4C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1629370" y="1262509"/>
            <a:ext cx="7140285" cy="1141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80"/>
              </a:lnSpc>
              <a:spcAft>
                <a:spcPts val="340"/>
              </a:spcAft>
              <a:buNone/>
            </a:pPr>
            <a:r>
              <a:rPr lang="en-US" sz="4280" kern="0" spc="-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</a:t>
            </a:r>
            <a:br/>
            <a:r>
              <a:rPr lang="en-US" sz="4280" b="1" kern="0" spc="-60" dirty="0">
                <a:solidFill>
                  <a:srgbClr val="5BA4C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Guess Who</a:t>
            </a:r>
            <a:endParaRPr lang="en-US" sz="4280" dirty="0"/>
          </a:p>
        </p:txBody>
      </p:sp>
      <p:sp>
        <p:nvSpPr>
          <p:cNvPr id="39" name="Text 33"/>
          <p:cNvSpPr/>
          <p:nvPr/>
        </p:nvSpPr>
        <p:spPr>
          <a:xfrm>
            <a:off x="1629370" y="2593330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BA4C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1629370" y="2943671"/>
            <a:ext cx="7490299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Bef>
                <a:spcPts val="1010"/>
              </a:spcBef>
              <a:buNone/>
            </a:pPr>
            <a:r>
              <a:rPr lang="en-US" sz="1460" kern="0" spc="29" dirty="0">
                <a:solidFill>
                  <a:srgbClr val="A0B4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Clinical Training Game for Therapists</a:t>
            </a:r>
            <a:endParaRPr lang="en-US" sz="1460" dirty="0"/>
          </a:p>
        </p:txBody>
      </p:sp>
      <p:sp>
        <p:nvSpPr>
          <p:cNvPr id="41" name="Text 35"/>
          <p:cNvSpPr/>
          <p:nvPr/>
        </p:nvSpPr>
        <p:spPr>
          <a:xfrm>
            <a:off x="1629370" y="3479602"/>
            <a:ext cx="3399362" cy="283815"/>
          </a:xfrm>
          <a:prstGeom prst="roundRect">
            <a:avLst>
              <a:gd name="adj" fmla="val 20136"/>
            </a:avLst>
          </a:prstGeom>
          <a:solidFill>
            <a:srgbClr val="5BA4CF">
              <a:alpha val="13000"/>
            </a:srgbClr>
          </a:solidFill>
          <a:ln w="9525">
            <a:solidFill>
              <a:srgbClr val="5BA4CF">
                <a:alpha val="30000"/>
              </a:srgbClr>
            </a:solidFill>
          </a:ln>
        </p:spPr>
        <p:txBody>
          <a:bodyPr wrap="none" lIns="260579" tIns="57150" rIns="128270" bIns="57150" rtlCol="0" anchor="ctr"/>
          <a:lstStyle/>
          <a:p>
            <a:pPr marL="0" indent="0" algn="l">
              <a:buNone/>
            </a:pPr>
            <a:r>
              <a:rPr lang="en-US" sz="790" b="1" kern="0" spc="47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Skill-Building · Peer Learning · Print &amp; Play</a:t>
            </a:r>
            <a:endParaRPr lang="en-US" sz="79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38321" y="3555215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28600" y="4371380"/>
            <a:ext cx="9525" cy="143470"/>
          </a:xfrm>
          <a:prstGeom prst="rect">
            <a:avLst/>
          </a:prstGeom>
          <a:solidFill>
            <a:srgbClr val="5BA4C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8905875" y="4371380"/>
            <a:ext cx="9525" cy="143470"/>
          </a:xfrm>
          <a:prstGeom prst="rect">
            <a:avLst/>
          </a:prstGeom>
          <a:solidFill>
            <a:srgbClr val="5BA4C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0" y="4743450"/>
            <a:ext cx="9144000" cy="400050"/>
          </a:xfrm>
          <a:prstGeom prst="rect">
            <a:avLst/>
          </a:prstGeom>
          <a:solidFill>
            <a:srgbClr val="5BA4C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42466" y="4890046"/>
            <a:ext cx="284988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3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Edition — 20 Characters    Print &amp; Play</a:t>
            </a:r>
            <a:endParaRPr lang="en-US" sz="76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319" y="4877032"/>
            <a:ext cx="132588" cy="132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2277814" y="4925616"/>
            <a:ext cx="35421" cy="35421"/>
          </a:xfrm>
          <a:prstGeom prst="ellipse">
            <a:avLst/>
          </a:prstGeom>
          <a:solidFill>
            <a:srgbClr val="1B2A3B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7148513" y="4873972"/>
            <a:ext cx="18807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kern="0" spc="15" dirty="0">
                <a:solidFill>
                  <a:srgbClr val="1B2A3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DSM-5-TR Diagnostic Criteria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E4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314920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1450" y="77391"/>
            <a:ext cx="409850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CHARACTER CARDS — SHEET 1  |  CUT ALONG DOTTED LINES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8508355" y="92720"/>
            <a:ext cx="51061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34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Cut</a:t>
            </a:r>
            <a:endParaRPr lang="en-US" sz="68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6840" y="91166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991" y="385911"/>
            <a:ext cx="4430018" cy="22723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9525">
            <a:solidFill>
              <a:srgbClr val="2563A0"/>
            </a:solidFill>
          </a:ln>
          <a:effectLst>
            <a:outerShdw blurRad="57150" dist="1397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516" y="395436"/>
            <a:ext cx="29170" cy="2253258"/>
          </a:xfrm>
          <a:prstGeom prst="roundRect">
            <a:avLst>
              <a:gd name="adj" fmla="val 148029"/>
            </a:avLst>
          </a:prstGeom>
          <a:solidFill>
            <a:srgbClr val="2563A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516" y="395436"/>
            <a:ext cx="4410968" cy="500658"/>
          </a:xfrm>
          <a:prstGeom prst="rect">
            <a:avLst/>
          </a:prstGeom>
          <a:gradFill rotWithShape="1">
            <a:gsLst>
              <a:gs pos="0">
                <a:srgbClr val="2563A0"/>
              </a:gs>
              <a:gs pos="100000">
                <a:srgbClr val="1A4A7C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57197" y="444847"/>
            <a:ext cx="983239" cy="106710"/>
          </a:xfrm>
          <a:prstGeom prst="roundRect">
            <a:avLst>
              <a:gd name="adj" fmla="val 20232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DISORDERS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166836" y="579239"/>
            <a:ext cx="466216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4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Melancholy Morgan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166836" y="740718"/>
            <a:ext cx="466216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Depressive Disorder (MDD)  ·  F32.1</a:t>
            </a:r>
            <a:endParaRPr lang="en-US" sz="590" dirty="0"/>
          </a:p>
        </p:txBody>
      </p:sp>
      <p:sp>
        <p:nvSpPr>
          <p:cNvPr id="13" name="Text 10"/>
          <p:cNvSpPr/>
          <p:nvPr/>
        </p:nvSpPr>
        <p:spPr>
          <a:xfrm>
            <a:off x="80516" y="896094"/>
            <a:ext cx="4410968" cy="15592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37679" y="945505"/>
            <a:ext cx="1731407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mood most of the day, nearly every day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166836" y="970806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37679" y="1059507"/>
            <a:ext cx="2099756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interest or pleasure in almost all activities (anhedonia)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166836" y="1084808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7679" y="1173510"/>
            <a:ext cx="1673289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weight change or appetite disturbance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166836" y="1198811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7679" y="1287512"/>
            <a:ext cx="1446877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or hypersomnia nearly every day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166836" y="1312813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37679" y="1401514"/>
            <a:ext cx="2022976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Psychomotor agitation or retardation (observable by others)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166836" y="1426815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37679" y="1515517"/>
            <a:ext cx="1429851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or loss of energy nearly every day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166836" y="1540818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37679" y="1629519"/>
            <a:ext cx="1493699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of worthlessness or excessive guilt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166836" y="1654820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37679" y="1743521"/>
            <a:ext cx="1799674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concentrating, thinking, or making decisions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66836" y="1768822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37679" y="1857524"/>
            <a:ext cx="1609279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thoughts of death or suicidal ideation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166836" y="1882825"/>
            <a:ext cx="35421" cy="35421"/>
          </a:xfrm>
          <a:prstGeom prst="ellips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0516" y="2455366"/>
            <a:ext cx="4410968" cy="9525"/>
          </a:xfrm>
          <a:prstGeom prst="rect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507581" y="2494062"/>
            <a:ext cx="897582" cy="131132"/>
          </a:xfrm>
          <a:prstGeom prst="roundRect">
            <a:avLst>
              <a:gd name="adj" fmla="val 16464"/>
            </a:avLst>
          </a:prstGeom>
          <a:solidFill>
            <a:srgbClr val="2563A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weeks  |  ≥5 symptoms</a:t>
            </a:r>
            <a:endParaRPr lang="en-US" sz="480" dirty="0"/>
          </a:p>
        </p:txBody>
      </p:sp>
      <p:sp>
        <p:nvSpPr>
          <p:cNvPr id="34" name="Text 31"/>
          <p:cNvSpPr/>
          <p:nvPr/>
        </p:nvSpPr>
        <p:spPr>
          <a:xfrm>
            <a:off x="4642991" y="385911"/>
            <a:ext cx="4430018" cy="22723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9525">
            <a:solidFill>
              <a:srgbClr val="C89B20"/>
            </a:solidFill>
          </a:ln>
          <a:effectLst>
            <a:outerShdw blurRad="57150" dist="1397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652516" y="395436"/>
            <a:ext cx="29170" cy="2253258"/>
          </a:xfrm>
          <a:prstGeom prst="roundRect">
            <a:avLst>
              <a:gd name="adj" fmla="val 148029"/>
            </a:avLst>
          </a:prstGeom>
          <a:solidFill>
            <a:srgbClr val="C89B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652516" y="395436"/>
            <a:ext cx="4410968" cy="500658"/>
          </a:xfrm>
          <a:prstGeom prst="rect">
            <a:avLst/>
          </a:prstGeom>
          <a:gradFill rotWithShape="1">
            <a:gsLst>
              <a:gs pos="0">
                <a:srgbClr val="C89B20"/>
              </a:gs>
              <a:gs pos="100000">
                <a:srgbClr val="A07C1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730624" y="444847"/>
            <a:ext cx="837658" cy="106710"/>
          </a:xfrm>
          <a:prstGeom prst="roundRect">
            <a:avLst>
              <a:gd name="adj" fmla="val 20232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38" name="Text 35"/>
          <p:cNvSpPr/>
          <p:nvPr/>
        </p:nvSpPr>
        <p:spPr>
          <a:xfrm>
            <a:off x="4738836" y="579239"/>
            <a:ext cx="466216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4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Worrywart Wren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4738836" y="740718"/>
            <a:ext cx="466216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Anxiety Disorder (GAD)  ·  F41.1</a:t>
            </a:r>
            <a:endParaRPr lang="en-US" sz="590" dirty="0"/>
          </a:p>
        </p:txBody>
      </p:sp>
      <p:sp>
        <p:nvSpPr>
          <p:cNvPr id="40" name="Text 37"/>
          <p:cNvSpPr/>
          <p:nvPr/>
        </p:nvSpPr>
        <p:spPr>
          <a:xfrm>
            <a:off x="4652516" y="896094"/>
            <a:ext cx="4410968" cy="15592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809679" y="945505"/>
            <a:ext cx="1899211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anxiety and worry about multiple life domains</a:t>
            </a:r>
            <a:endParaRPr lang="en-US" sz="550" dirty="0"/>
          </a:p>
        </p:txBody>
      </p:sp>
      <p:sp>
        <p:nvSpPr>
          <p:cNvPr id="42" name="Text 39"/>
          <p:cNvSpPr/>
          <p:nvPr/>
        </p:nvSpPr>
        <p:spPr>
          <a:xfrm>
            <a:off x="4738836" y="970806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809679" y="1059507"/>
            <a:ext cx="997163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controlling the worry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4738836" y="1084808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809679" y="1173510"/>
            <a:ext cx="1468323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Restlessness or feeling keyed up / on edge</a:t>
            </a:r>
            <a:endParaRPr lang="en-US" sz="550" dirty="0"/>
          </a:p>
        </p:txBody>
      </p:sp>
      <p:sp>
        <p:nvSpPr>
          <p:cNvPr id="46" name="Text 43"/>
          <p:cNvSpPr/>
          <p:nvPr/>
        </p:nvSpPr>
        <p:spPr>
          <a:xfrm>
            <a:off x="4738836" y="1198811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809679" y="1287512"/>
            <a:ext cx="499482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fatigued</a:t>
            </a:r>
            <a:endParaRPr lang="en-US" sz="550" dirty="0"/>
          </a:p>
        </p:txBody>
      </p:sp>
      <p:sp>
        <p:nvSpPr>
          <p:cNvPr id="48" name="Text 45"/>
          <p:cNvSpPr/>
          <p:nvPr/>
        </p:nvSpPr>
        <p:spPr>
          <a:xfrm>
            <a:off x="4738836" y="1312813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809679" y="1401514"/>
            <a:ext cx="1462594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concentrating or mind going blank</a:t>
            </a:r>
            <a:endParaRPr lang="en-US" sz="550" dirty="0"/>
          </a:p>
        </p:txBody>
      </p:sp>
      <p:sp>
        <p:nvSpPr>
          <p:cNvPr id="50" name="Text 47"/>
          <p:cNvSpPr/>
          <p:nvPr/>
        </p:nvSpPr>
        <p:spPr>
          <a:xfrm>
            <a:off x="4738836" y="1426815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809679" y="1515517"/>
            <a:ext cx="307285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Irritability</a:t>
            </a:r>
            <a:endParaRPr lang="en-US" sz="550" dirty="0"/>
          </a:p>
        </p:txBody>
      </p:sp>
      <p:sp>
        <p:nvSpPr>
          <p:cNvPr id="52" name="Text 49"/>
          <p:cNvSpPr/>
          <p:nvPr/>
        </p:nvSpPr>
        <p:spPr>
          <a:xfrm>
            <a:off x="4738836" y="1540818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809679" y="1629519"/>
            <a:ext cx="512252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tension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4738836" y="1654820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809679" y="1743521"/>
            <a:ext cx="1745650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disturbance (trouble falling or staying asleep)</a:t>
            </a:r>
            <a:endParaRPr lang="en-US" sz="550" dirty="0"/>
          </a:p>
        </p:txBody>
      </p:sp>
      <p:sp>
        <p:nvSpPr>
          <p:cNvPr id="56" name="Text 53"/>
          <p:cNvSpPr/>
          <p:nvPr/>
        </p:nvSpPr>
        <p:spPr>
          <a:xfrm>
            <a:off x="4738836" y="1768822"/>
            <a:ext cx="35421" cy="35421"/>
          </a:xfrm>
          <a:prstGeom prst="ellips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4652516" y="2455366"/>
            <a:ext cx="4410968" cy="9525"/>
          </a:xfrm>
          <a:prstGeom prst="rect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7781330" y="2494062"/>
            <a:ext cx="1195834" cy="131132"/>
          </a:xfrm>
          <a:prstGeom prst="roundRect">
            <a:avLst>
              <a:gd name="adj" fmla="val 16464"/>
            </a:avLst>
          </a:prstGeom>
          <a:solidFill>
            <a:srgbClr val="C89B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  |  ≥3 symptoms (adults)</a:t>
            </a:r>
            <a:endParaRPr lang="en-US" sz="480" dirty="0"/>
          </a:p>
        </p:txBody>
      </p:sp>
      <p:sp>
        <p:nvSpPr>
          <p:cNvPr id="59" name="Text 56"/>
          <p:cNvSpPr/>
          <p:nvPr/>
        </p:nvSpPr>
        <p:spPr>
          <a:xfrm>
            <a:off x="70991" y="2800201"/>
            <a:ext cx="4430018" cy="22723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>
            <a:outerShdw blurRad="57150" dist="1397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80516" y="2809726"/>
            <a:ext cx="29170" cy="2253258"/>
          </a:xfrm>
          <a:prstGeom prst="roundRect">
            <a:avLst>
              <a:gd name="adj" fmla="val 148029"/>
            </a:avLst>
          </a:prstGeom>
          <a:solidFill>
            <a:srgbClr val="D9770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80516" y="2809726"/>
            <a:ext cx="4410968" cy="500658"/>
          </a:xfrm>
          <a:prstGeom prst="rect">
            <a:avLst/>
          </a:prstGeom>
          <a:gradFill rotWithShape="1">
            <a:gsLst>
              <a:gs pos="0">
                <a:srgbClr val="D97706"/>
              </a:gs>
              <a:gs pos="100000">
                <a:srgbClr val="B45A04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154357" y="2859137"/>
            <a:ext cx="1272882" cy="106710"/>
          </a:xfrm>
          <a:prstGeom prst="roundRect">
            <a:avLst>
              <a:gd name="adj" fmla="val 20232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&amp; RELATED DISORDERS</a:t>
            </a:r>
            <a:endParaRPr lang="en-US" sz="480" dirty="0"/>
          </a:p>
        </p:txBody>
      </p:sp>
      <p:sp>
        <p:nvSpPr>
          <p:cNvPr id="63" name="Text 60"/>
          <p:cNvSpPr/>
          <p:nvPr/>
        </p:nvSpPr>
        <p:spPr>
          <a:xfrm>
            <a:off x="166836" y="2993529"/>
            <a:ext cx="466216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4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Manic Max</a:t>
            </a:r>
            <a:endParaRPr lang="en-US" sz="960" dirty="0"/>
          </a:p>
        </p:txBody>
      </p:sp>
      <p:sp>
        <p:nvSpPr>
          <p:cNvPr id="64" name="Text 61"/>
          <p:cNvSpPr/>
          <p:nvPr/>
        </p:nvSpPr>
        <p:spPr>
          <a:xfrm>
            <a:off x="166836" y="3155007"/>
            <a:ext cx="466216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I Disorder, Manic Episode  ·  F31.11</a:t>
            </a:r>
            <a:endParaRPr lang="en-US" sz="590" dirty="0"/>
          </a:p>
        </p:txBody>
      </p:sp>
      <p:sp>
        <p:nvSpPr>
          <p:cNvPr id="65" name="Text 62"/>
          <p:cNvSpPr/>
          <p:nvPr/>
        </p:nvSpPr>
        <p:spPr>
          <a:xfrm>
            <a:off x="80516" y="3310384"/>
            <a:ext cx="4410968" cy="15592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237679" y="3359795"/>
            <a:ext cx="2219265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period of abnormally elevated / expansive / irritable mood</a:t>
            </a:r>
            <a:endParaRPr lang="en-US" sz="550" dirty="0"/>
          </a:p>
        </p:txBody>
      </p:sp>
      <p:sp>
        <p:nvSpPr>
          <p:cNvPr id="67" name="Text 64"/>
          <p:cNvSpPr/>
          <p:nvPr/>
        </p:nvSpPr>
        <p:spPr>
          <a:xfrm>
            <a:off x="166836" y="3385096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237679" y="3473797"/>
            <a:ext cx="1404149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goal-directed activity or energy</a:t>
            </a:r>
            <a:endParaRPr lang="en-US" sz="550" dirty="0"/>
          </a:p>
        </p:txBody>
      </p:sp>
      <p:sp>
        <p:nvSpPr>
          <p:cNvPr id="69" name="Text 66"/>
          <p:cNvSpPr/>
          <p:nvPr/>
        </p:nvSpPr>
        <p:spPr>
          <a:xfrm>
            <a:off x="166836" y="3499098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237679" y="3587800"/>
            <a:ext cx="1165131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Grandiosity or inflated self-esteem</a:t>
            </a:r>
            <a:endParaRPr lang="en-US" sz="550" dirty="0"/>
          </a:p>
        </p:txBody>
      </p:sp>
      <p:sp>
        <p:nvSpPr>
          <p:cNvPr id="71" name="Text 68"/>
          <p:cNvSpPr/>
          <p:nvPr/>
        </p:nvSpPr>
        <p:spPr>
          <a:xfrm>
            <a:off x="166836" y="3613100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237679" y="3701802"/>
            <a:ext cx="1877928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need for sleep (feels rested after only 3 hrs)</a:t>
            </a:r>
            <a:endParaRPr lang="en-US" sz="550" dirty="0"/>
          </a:p>
        </p:txBody>
      </p:sp>
      <p:sp>
        <p:nvSpPr>
          <p:cNvPr id="73" name="Text 70"/>
          <p:cNvSpPr/>
          <p:nvPr/>
        </p:nvSpPr>
        <p:spPr>
          <a:xfrm>
            <a:off x="166836" y="3727103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237679" y="3815804"/>
            <a:ext cx="1528078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talkative than usual / pressured speech</a:t>
            </a:r>
            <a:endParaRPr lang="en-US" sz="550" dirty="0"/>
          </a:p>
        </p:txBody>
      </p:sp>
      <p:sp>
        <p:nvSpPr>
          <p:cNvPr id="75" name="Text 72"/>
          <p:cNvSpPr/>
          <p:nvPr/>
        </p:nvSpPr>
        <p:spPr>
          <a:xfrm>
            <a:off x="166836" y="3841105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237679" y="3929807"/>
            <a:ext cx="1118309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thoughts or flight of ideas</a:t>
            </a:r>
            <a:endParaRPr lang="en-US" sz="550" dirty="0"/>
          </a:p>
        </p:txBody>
      </p:sp>
      <p:sp>
        <p:nvSpPr>
          <p:cNvPr id="77" name="Text 74"/>
          <p:cNvSpPr/>
          <p:nvPr/>
        </p:nvSpPr>
        <p:spPr>
          <a:xfrm>
            <a:off x="166836" y="3955107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237679" y="4043809"/>
            <a:ext cx="430887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Distractibility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166836" y="4069110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237679" y="4157811"/>
            <a:ext cx="2017246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involvement in risky, high-consequence activities</a:t>
            </a:r>
            <a:endParaRPr lang="en-US" sz="550" dirty="0"/>
          </a:p>
        </p:txBody>
      </p:sp>
      <p:sp>
        <p:nvSpPr>
          <p:cNvPr id="81" name="Text 78"/>
          <p:cNvSpPr/>
          <p:nvPr/>
        </p:nvSpPr>
        <p:spPr>
          <a:xfrm>
            <a:off x="166836" y="4183112"/>
            <a:ext cx="35421" cy="35421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80516" y="4869656"/>
            <a:ext cx="4410968" cy="9525"/>
          </a:xfrm>
          <a:prstGeom prst="rect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0"/>
          <p:cNvSpPr/>
          <p:nvPr/>
        </p:nvSpPr>
        <p:spPr>
          <a:xfrm>
            <a:off x="3113187" y="4908352"/>
            <a:ext cx="1291977" cy="131132"/>
          </a:xfrm>
          <a:prstGeom prst="roundRect">
            <a:avLst>
              <a:gd name="adj" fmla="val 16464"/>
            </a:avLst>
          </a:prstGeom>
          <a:solidFill>
            <a:srgbClr val="D9770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 days  |  any duration if hospitalized</a:t>
            </a:r>
            <a:endParaRPr lang="en-US" sz="480" dirty="0"/>
          </a:p>
        </p:txBody>
      </p:sp>
      <p:sp>
        <p:nvSpPr>
          <p:cNvPr id="84" name="Text 81"/>
          <p:cNvSpPr/>
          <p:nvPr/>
        </p:nvSpPr>
        <p:spPr>
          <a:xfrm>
            <a:off x="4642991" y="2800201"/>
            <a:ext cx="4430018" cy="2272308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  <a:effectLst>
            <a:outerShdw blurRad="57150" dist="1397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2"/>
          <p:cNvSpPr/>
          <p:nvPr/>
        </p:nvSpPr>
        <p:spPr>
          <a:xfrm>
            <a:off x="4652516" y="2809726"/>
            <a:ext cx="29170" cy="2253258"/>
          </a:xfrm>
          <a:prstGeom prst="roundRect">
            <a:avLst>
              <a:gd name="adj" fmla="val 148029"/>
            </a:avLst>
          </a:prstGeom>
          <a:solidFill>
            <a:srgbClr val="16A3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3"/>
          <p:cNvSpPr/>
          <p:nvPr/>
        </p:nvSpPr>
        <p:spPr>
          <a:xfrm>
            <a:off x="4652516" y="2809726"/>
            <a:ext cx="4410968" cy="500658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0D7A3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4725061" y="2859137"/>
            <a:ext cx="1405104" cy="106710"/>
          </a:xfrm>
          <a:prstGeom prst="roundRect">
            <a:avLst>
              <a:gd name="adj" fmla="val 20232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 DISORDERS</a:t>
            </a:r>
            <a:endParaRPr lang="en-US" sz="480" dirty="0"/>
          </a:p>
        </p:txBody>
      </p:sp>
      <p:sp>
        <p:nvSpPr>
          <p:cNvPr id="88" name="Text 85"/>
          <p:cNvSpPr/>
          <p:nvPr/>
        </p:nvSpPr>
        <p:spPr>
          <a:xfrm>
            <a:off x="4738836" y="2993529"/>
            <a:ext cx="466216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4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Distracted Danny</a:t>
            </a:r>
            <a:endParaRPr lang="en-US" sz="960" dirty="0"/>
          </a:p>
        </p:txBody>
      </p:sp>
      <p:sp>
        <p:nvSpPr>
          <p:cNvPr id="89" name="Text 86"/>
          <p:cNvSpPr/>
          <p:nvPr/>
        </p:nvSpPr>
        <p:spPr>
          <a:xfrm>
            <a:off x="4738836" y="3155007"/>
            <a:ext cx="466216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ADHD, Combined Presentation  ·  F90.2</a:t>
            </a:r>
            <a:endParaRPr lang="en-US" sz="590" dirty="0"/>
          </a:p>
        </p:txBody>
      </p:sp>
      <p:sp>
        <p:nvSpPr>
          <p:cNvPr id="90" name="Text 87"/>
          <p:cNvSpPr/>
          <p:nvPr/>
        </p:nvSpPr>
        <p:spPr>
          <a:xfrm>
            <a:off x="4652516" y="3310384"/>
            <a:ext cx="4410968" cy="15592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4809679" y="3359795"/>
            <a:ext cx="1847805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to give close attention / makes careless mistakes</a:t>
            </a:r>
            <a:endParaRPr lang="en-US" sz="550" dirty="0"/>
          </a:p>
        </p:txBody>
      </p:sp>
      <p:sp>
        <p:nvSpPr>
          <p:cNvPr id="92" name="Text 89"/>
          <p:cNvSpPr/>
          <p:nvPr/>
        </p:nvSpPr>
        <p:spPr>
          <a:xfrm>
            <a:off x="4738836" y="3385096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4809679" y="3473797"/>
            <a:ext cx="1505158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sustaining attention in tasks or play</a:t>
            </a:r>
            <a:endParaRPr lang="en-US" sz="550" dirty="0"/>
          </a:p>
        </p:txBody>
      </p:sp>
      <p:sp>
        <p:nvSpPr>
          <p:cNvPr id="94" name="Text 91"/>
          <p:cNvSpPr/>
          <p:nvPr/>
        </p:nvSpPr>
        <p:spPr>
          <a:xfrm>
            <a:off x="4738836" y="3499098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2"/>
          <p:cNvSpPr/>
          <p:nvPr/>
        </p:nvSpPr>
        <p:spPr>
          <a:xfrm>
            <a:off x="4809679" y="3587800"/>
            <a:ext cx="1576700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seem to listen when spoken to directly</a:t>
            </a:r>
            <a:endParaRPr lang="en-US" sz="550" dirty="0"/>
          </a:p>
        </p:txBody>
      </p:sp>
      <p:sp>
        <p:nvSpPr>
          <p:cNvPr id="96" name="Text 93"/>
          <p:cNvSpPr/>
          <p:nvPr/>
        </p:nvSpPr>
        <p:spPr>
          <a:xfrm>
            <a:off x="4738836" y="3613100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4"/>
          <p:cNvSpPr/>
          <p:nvPr/>
        </p:nvSpPr>
        <p:spPr>
          <a:xfrm>
            <a:off x="4809679" y="3701802"/>
            <a:ext cx="1495663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follow through on tasks (not defiant)</a:t>
            </a:r>
            <a:endParaRPr lang="en-US" sz="550" dirty="0"/>
          </a:p>
        </p:txBody>
      </p:sp>
      <p:sp>
        <p:nvSpPr>
          <p:cNvPr id="98" name="Text 95"/>
          <p:cNvSpPr/>
          <p:nvPr/>
        </p:nvSpPr>
        <p:spPr>
          <a:xfrm>
            <a:off x="4738836" y="3727103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6"/>
          <p:cNvSpPr/>
          <p:nvPr/>
        </p:nvSpPr>
        <p:spPr>
          <a:xfrm>
            <a:off x="4809679" y="3815804"/>
            <a:ext cx="1330151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organizing tasks and activities</a:t>
            </a:r>
            <a:endParaRPr lang="en-US" sz="550" dirty="0"/>
          </a:p>
        </p:txBody>
      </p:sp>
      <p:sp>
        <p:nvSpPr>
          <p:cNvPr id="100" name="Text 97"/>
          <p:cNvSpPr/>
          <p:nvPr/>
        </p:nvSpPr>
        <p:spPr>
          <a:xfrm>
            <a:off x="4738836" y="3841105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8"/>
          <p:cNvSpPr/>
          <p:nvPr/>
        </p:nvSpPr>
        <p:spPr>
          <a:xfrm>
            <a:off x="4809679" y="3929807"/>
            <a:ext cx="1546414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tasks requiring sustained mental effort</a:t>
            </a:r>
            <a:endParaRPr lang="en-US" sz="550" dirty="0"/>
          </a:p>
        </p:txBody>
      </p:sp>
      <p:sp>
        <p:nvSpPr>
          <p:cNvPr id="102" name="Text 99"/>
          <p:cNvSpPr/>
          <p:nvPr/>
        </p:nvSpPr>
        <p:spPr>
          <a:xfrm>
            <a:off x="4738836" y="3955107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0"/>
          <p:cNvSpPr/>
          <p:nvPr/>
        </p:nvSpPr>
        <p:spPr>
          <a:xfrm>
            <a:off x="4809679" y="4043809"/>
            <a:ext cx="1113889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things necessary for tasks</a:t>
            </a:r>
            <a:endParaRPr lang="en-US" sz="550" dirty="0"/>
          </a:p>
        </p:txBody>
      </p:sp>
      <p:sp>
        <p:nvSpPr>
          <p:cNvPr id="104" name="Text 101"/>
          <p:cNvSpPr/>
          <p:nvPr/>
        </p:nvSpPr>
        <p:spPr>
          <a:xfrm>
            <a:off x="4738836" y="4069110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4809679" y="4157811"/>
            <a:ext cx="2044095" cy="9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spcAft>
                <a:spcPts val="140"/>
              </a:spcAft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Fidgets, squirms, leaves seat; blurts out answers / interrupts</a:t>
            </a:r>
            <a:endParaRPr lang="en-US" sz="550" dirty="0"/>
          </a:p>
        </p:txBody>
      </p:sp>
      <p:sp>
        <p:nvSpPr>
          <p:cNvPr id="106" name="Text 103"/>
          <p:cNvSpPr/>
          <p:nvPr/>
        </p:nvSpPr>
        <p:spPr>
          <a:xfrm>
            <a:off x="4738836" y="4183112"/>
            <a:ext cx="35421" cy="35421"/>
          </a:xfrm>
          <a:prstGeom prst="ellips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4652516" y="4869656"/>
            <a:ext cx="4410968" cy="9525"/>
          </a:xfrm>
          <a:prstGeom prst="rect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5"/>
          <p:cNvSpPr/>
          <p:nvPr/>
        </p:nvSpPr>
        <p:spPr>
          <a:xfrm>
            <a:off x="7627739" y="4908352"/>
            <a:ext cx="1349425" cy="131132"/>
          </a:xfrm>
          <a:prstGeom prst="roundRect">
            <a:avLst>
              <a:gd name="adj" fmla="val 16464"/>
            </a:avLst>
          </a:prstGeom>
          <a:solidFill>
            <a:srgbClr val="16A34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Onset: symptoms present before age 12</a:t>
            </a:r>
            <a:endParaRPr lang="en-US" sz="480" dirty="0"/>
          </a:p>
        </p:txBody>
      </p:sp>
      <p:sp>
        <p:nvSpPr>
          <p:cNvPr id="109" name="Text 106"/>
          <p:cNvSpPr/>
          <p:nvPr/>
        </p:nvSpPr>
        <p:spPr>
          <a:xfrm>
            <a:off x="0" y="2729210"/>
            <a:ext cx="9144000" cy="9525"/>
          </a:xfrm>
          <a:prstGeom prst="rect">
            <a:avLst/>
          </a:prstGeom>
          <a:solidFill>
            <a:srgbClr val="9AB0C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7"/>
          <p:cNvSpPr/>
          <p:nvPr/>
        </p:nvSpPr>
        <p:spPr>
          <a:xfrm>
            <a:off x="4572000" y="314920"/>
            <a:ext cx="9525" cy="4828580"/>
          </a:xfrm>
          <a:prstGeom prst="rect">
            <a:avLst/>
          </a:prstGeom>
          <a:solidFill>
            <a:srgbClr val="9AB0C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29" y="2662916"/>
            <a:ext cx="132588" cy="132588"/>
          </a:xfrm>
          <a:prstGeom prst="rect">
            <a:avLst/>
          </a:prstGeom>
        </p:spPr>
      </p:pic>
      <p:pic>
        <p:nvPicPr>
          <p:cNvPr id="1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5706" y="334649"/>
            <a:ext cx="132588" cy="132588"/>
          </a:xfrm>
          <a:prstGeom prst="rect">
            <a:avLst/>
          </a:prstGeom>
        </p:spPr>
      </p:pic>
      <p:sp>
        <p:nvSpPr>
          <p:cNvPr id="900" name="AvatarSlot_01"/>
          <p:cNvSpPr/>
          <p:nvPr/>
        </p:nvSpPr>
        <p:spPr>
          <a:xfrm>
            <a:off x="3956009" y="430911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1" name="AvatarSlot_02"/>
          <p:cNvSpPr/>
          <p:nvPr/>
        </p:nvSpPr>
        <p:spPr>
          <a:xfrm>
            <a:off x="8528009" y="430911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2" name="AvatarSlot_03"/>
          <p:cNvSpPr/>
          <p:nvPr/>
        </p:nvSpPr>
        <p:spPr>
          <a:xfrm>
            <a:off x="3956009" y="2845201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3" name="AvatarSlot_04"/>
          <p:cNvSpPr/>
          <p:nvPr/>
        </p:nvSpPr>
        <p:spPr>
          <a:xfrm>
            <a:off x="8528009" y="2845201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108"/>
          </a:xfrm>
          <a:prstGeom prst="rect">
            <a:avLst/>
          </a:prstGeom>
          <a:gradFill rotWithShape="1">
            <a:gsLst>
              <a:gs pos="0">
                <a:srgbClr val="1B2A3B"/>
              </a:gs>
              <a:gs pos="60000">
                <a:srgbClr val="243447"/>
              </a:gs>
              <a:gs pos="100000">
                <a:srgbClr val="1B2A3B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81583"/>
            <a:ext cx="9144000" cy="9525"/>
          </a:xfrm>
          <a:prstGeom prst="rect">
            <a:avLst/>
          </a:prstGeom>
          <a:solidFill>
            <a:srgbClr val="5BA4C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0620" y="49411"/>
            <a:ext cx="459160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77" dirty="0">
                <a:solidFill>
                  <a:srgbClr val="5BA4C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CHARACTER CARDS — SHEET 2 | CUT ALONG DOTTED LINES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919020" y="52685"/>
            <a:ext cx="2064847" cy="176213"/>
          </a:xfrm>
          <a:prstGeom prst="roundRect">
            <a:avLst>
              <a:gd name="adj" fmla="val 16577"/>
            </a:avLst>
          </a:prstGeom>
          <a:solidFill>
            <a:srgbClr val="5BA4CF">
              <a:alpha val="13000"/>
            </a:srgbClr>
          </a:solidFill>
          <a:ln w="9525">
            <a:solidFill>
              <a:srgbClr val="5BA4CF">
                <a:alpha val="3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80" kern="0" spc="34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Training Game · Cards 5–8 of 20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214461" y="377428"/>
            <a:ext cx="4271218" cy="2241500"/>
          </a:xfrm>
          <a:prstGeom prst="roundRect">
            <a:avLst>
              <a:gd name="adj" fmla="val 1926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4461" y="377428"/>
            <a:ext cx="4271218" cy="476845"/>
          </a:xfrm>
          <a:custGeom>
            <a:avLst/>
            <a:gdLst/>
            <a:ahLst/>
            <a:cxnLst/>
            <a:rect l="l" t="t" r="r" b="b"/>
            <a:pathLst>
              <a:path w="4271218" h="476845">
                <a:moveTo>
                  <a:pt x="43180" y="0"/>
                </a:move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lnTo>
                  <a:pt x="0" y="476845"/>
                </a:lnTo>
                <a:lnTo>
                  <a:pt x="4271218" y="476845"/>
                </a:lnTo>
                <a:lnTo>
                  <a:pt x="4271218" y="43180"/>
                </a:lnTo>
                <a:lnTo>
                  <a:pt x="4270389" y="34756"/>
                </a:lnTo>
                <a:lnTo>
                  <a:pt x="4267931" y="26656"/>
                </a:lnTo>
                <a:lnTo>
                  <a:pt x="4263941" y="19190"/>
                </a:lnTo>
                <a:lnTo>
                  <a:pt x="4258571" y="12647"/>
                </a:lnTo>
                <a:lnTo>
                  <a:pt x="4252028" y="7277"/>
                </a:lnTo>
                <a:lnTo>
                  <a:pt x="4244563" y="3287"/>
                </a:lnTo>
                <a:lnTo>
                  <a:pt x="4236462" y="830"/>
                </a:lnTo>
                <a:lnTo>
                  <a:pt x="4228038" y="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6D28D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57229" y="434578"/>
            <a:ext cx="157460" cy="173206"/>
          </a:xfrm>
          <a:prstGeom prst="ellipse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307032" y="434578"/>
            <a:ext cx="449468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CARD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307032" y="555129"/>
            <a:ext cx="44946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Compulsive Carmen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07032" y="710505"/>
            <a:ext cx="4494684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Obsessive-Compulsive Disorder (OCD) · F42.2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214461" y="854273"/>
            <a:ext cx="4271218" cy="1764655"/>
          </a:xfrm>
          <a:custGeom>
            <a:avLst/>
            <a:gdLst/>
            <a:ahLst/>
            <a:cxnLst/>
            <a:rect l="l" t="t" r="r" b="b"/>
            <a:pathLst>
              <a:path w="4271218" h="1764655">
                <a:moveTo>
                  <a:pt x="0" y="0"/>
                </a:moveTo>
                <a:lnTo>
                  <a:pt x="0" y="1721475"/>
                </a:lnTo>
                <a:lnTo>
                  <a:pt x="830" y="1729899"/>
                </a:lnTo>
                <a:lnTo>
                  <a:pt x="3287" y="1737999"/>
                </a:lnTo>
                <a:lnTo>
                  <a:pt x="7277" y="1745465"/>
                </a:lnTo>
                <a:lnTo>
                  <a:pt x="12647" y="1752008"/>
                </a:lnTo>
                <a:lnTo>
                  <a:pt x="19190" y="1757378"/>
                </a:lnTo>
                <a:lnTo>
                  <a:pt x="26656" y="1761368"/>
                </a:lnTo>
                <a:lnTo>
                  <a:pt x="34756" y="1763825"/>
                </a:lnTo>
                <a:lnTo>
                  <a:pt x="43180" y="1764655"/>
                </a:lnTo>
                <a:lnTo>
                  <a:pt x="4228038" y="1764655"/>
                </a:lnTo>
                <a:lnTo>
                  <a:pt x="4236462" y="1763825"/>
                </a:lnTo>
                <a:lnTo>
                  <a:pt x="4244563" y="1761368"/>
                </a:lnTo>
                <a:lnTo>
                  <a:pt x="4252028" y="1757378"/>
                </a:lnTo>
                <a:lnTo>
                  <a:pt x="4258571" y="1752008"/>
                </a:lnTo>
                <a:lnTo>
                  <a:pt x="4263941" y="1745465"/>
                </a:lnTo>
                <a:lnTo>
                  <a:pt x="4267931" y="1737999"/>
                </a:lnTo>
                <a:lnTo>
                  <a:pt x="4270389" y="1729899"/>
                </a:lnTo>
                <a:lnTo>
                  <a:pt x="4271218" y="1721475"/>
                </a:lnTo>
                <a:lnTo>
                  <a:pt x="4271218" y="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0782" y="903684"/>
            <a:ext cx="1956941" cy="141446"/>
          </a:xfrm>
          <a:prstGeom prst="roundRect">
            <a:avLst>
              <a:gd name="adj" fmla="val 15264"/>
            </a:avLst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OBSESSIVE-COMPULSIVE &amp; RELATED DISORDERS</a:t>
            </a:r>
            <a:endParaRPr lang="en-US" sz="530" dirty="0"/>
          </a:p>
        </p:txBody>
      </p:sp>
      <p:sp>
        <p:nvSpPr>
          <p:cNvPr id="14" name="Text 12"/>
          <p:cNvSpPr/>
          <p:nvPr/>
        </p:nvSpPr>
        <p:spPr>
          <a:xfrm>
            <a:off x="300782" y="1083022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obsessions, compulsions, or both</a:t>
            </a:r>
            <a:endParaRPr lang="en-US" sz="590" dirty="0"/>
          </a:p>
        </p:txBody>
      </p:sp>
      <p:sp>
        <p:nvSpPr>
          <p:cNvPr id="15" name="Text 13"/>
          <p:cNvSpPr/>
          <p:nvPr/>
        </p:nvSpPr>
        <p:spPr>
          <a:xfrm>
            <a:off x="300782" y="1188839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Obsessions: recurrent, persistent, intrusive thoughts or urges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300782" y="1294656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Compulsions: repetitive behaviors or mental acts to reduce anxiety</a:t>
            </a:r>
            <a:endParaRPr lang="en-US" sz="590" dirty="0"/>
          </a:p>
        </p:txBody>
      </p:sp>
      <p:sp>
        <p:nvSpPr>
          <p:cNvPr id="17" name="Text 15"/>
          <p:cNvSpPr/>
          <p:nvPr/>
        </p:nvSpPr>
        <p:spPr>
          <a:xfrm>
            <a:off x="300782" y="1400473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(&gt;1 hr/day) or causes marked distress/impairment</a:t>
            </a:r>
            <a:endParaRPr lang="en-US" sz="590" dirty="0"/>
          </a:p>
        </p:txBody>
      </p:sp>
      <p:sp>
        <p:nvSpPr>
          <p:cNvPr id="18" name="Text 16"/>
          <p:cNvSpPr/>
          <p:nvPr/>
        </p:nvSpPr>
        <p:spPr>
          <a:xfrm>
            <a:off x="300782" y="1506289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specifier: Good/fair, Poor, or Absent/delusional beliefs</a:t>
            </a:r>
            <a:endParaRPr lang="en-US" sz="590" dirty="0"/>
          </a:p>
        </p:txBody>
      </p:sp>
      <p:sp>
        <p:nvSpPr>
          <p:cNvPr id="19" name="Text 17"/>
          <p:cNvSpPr/>
          <p:nvPr/>
        </p:nvSpPr>
        <p:spPr>
          <a:xfrm>
            <a:off x="300782" y="1612106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themes: contamination, symmetry, forbidden thoughts, harm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300782" y="1717923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Tic-related specifier available</a:t>
            </a:r>
            <a:endParaRPr lang="en-US" sz="590" dirty="0"/>
          </a:p>
        </p:txBody>
      </p:sp>
      <p:sp>
        <p:nvSpPr>
          <p:cNvPr id="21" name="Text 19"/>
          <p:cNvSpPr/>
          <p:nvPr/>
        </p:nvSpPr>
        <p:spPr>
          <a:xfrm>
            <a:off x="300782" y="1864370"/>
            <a:ext cx="4180549" cy="132011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DSM-5-TR: Ego-dystonic obsessions + neutralizing compulsions</a:t>
            </a:r>
            <a:endParaRPr lang="en-US" sz="530" dirty="0"/>
          </a:p>
        </p:txBody>
      </p:sp>
      <p:sp>
        <p:nvSpPr>
          <p:cNvPr id="22" name="Text 20"/>
          <p:cNvSpPr/>
          <p:nvPr/>
        </p:nvSpPr>
        <p:spPr>
          <a:xfrm>
            <a:off x="300782" y="1864370"/>
            <a:ext cx="4098578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58320" y="377428"/>
            <a:ext cx="4271218" cy="2241500"/>
          </a:xfrm>
          <a:prstGeom prst="roundRect">
            <a:avLst>
              <a:gd name="adj" fmla="val 1926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58320" y="377428"/>
            <a:ext cx="4271218" cy="476845"/>
          </a:xfrm>
          <a:custGeom>
            <a:avLst/>
            <a:gdLst/>
            <a:ahLst/>
            <a:cxnLst/>
            <a:rect l="l" t="t" r="r" b="b"/>
            <a:pathLst>
              <a:path w="4271218" h="476845">
                <a:moveTo>
                  <a:pt x="43180" y="0"/>
                </a:move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lnTo>
                  <a:pt x="0" y="476845"/>
                </a:lnTo>
                <a:lnTo>
                  <a:pt x="4271218" y="476845"/>
                </a:lnTo>
                <a:lnTo>
                  <a:pt x="4271218" y="43180"/>
                </a:lnTo>
                <a:lnTo>
                  <a:pt x="4270389" y="34756"/>
                </a:lnTo>
                <a:lnTo>
                  <a:pt x="4267931" y="26656"/>
                </a:lnTo>
                <a:lnTo>
                  <a:pt x="4263941" y="19190"/>
                </a:lnTo>
                <a:lnTo>
                  <a:pt x="4258571" y="12647"/>
                </a:lnTo>
                <a:lnTo>
                  <a:pt x="4252028" y="7277"/>
                </a:lnTo>
                <a:lnTo>
                  <a:pt x="4244563" y="3287"/>
                </a:lnTo>
                <a:lnTo>
                  <a:pt x="4236462" y="830"/>
                </a:lnTo>
                <a:lnTo>
                  <a:pt x="4228038" y="0"/>
                </a:lnTo>
                <a:close/>
              </a:path>
            </a:pathLst>
          </a:custGeom>
          <a:gradFill rotWithShape="1">
            <a:gsLst>
              <a:gs pos="0">
                <a:srgbClr val="65743A"/>
              </a:gs>
              <a:gs pos="100000">
                <a:srgbClr val="4D5A2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701088" y="434578"/>
            <a:ext cx="157460" cy="173206"/>
          </a:xfrm>
          <a:prstGeom prst="ellipse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4750891" y="434578"/>
            <a:ext cx="449468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CARD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4750891" y="555129"/>
            <a:ext cx="44946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Triggered Trevor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750891" y="710505"/>
            <a:ext cx="4494684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Post-Traumatic Stress Disorder (PTSD) · F43.10</a:t>
            </a: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4658320" y="854273"/>
            <a:ext cx="4271218" cy="1764655"/>
          </a:xfrm>
          <a:custGeom>
            <a:avLst/>
            <a:gdLst/>
            <a:ahLst/>
            <a:cxnLst/>
            <a:rect l="l" t="t" r="r" b="b"/>
            <a:pathLst>
              <a:path w="4271218" h="1764655">
                <a:moveTo>
                  <a:pt x="0" y="0"/>
                </a:moveTo>
                <a:lnTo>
                  <a:pt x="0" y="1721475"/>
                </a:lnTo>
                <a:lnTo>
                  <a:pt x="830" y="1729899"/>
                </a:lnTo>
                <a:lnTo>
                  <a:pt x="3287" y="1737999"/>
                </a:lnTo>
                <a:lnTo>
                  <a:pt x="7277" y="1745465"/>
                </a:lnTo>
                <a:lnTo>
                  <a:pt x="12647" y="1752008"/>
                </a:lnTo>
                <a:lnTo>
                  <a:pt x="19190" y="1757378"/>
                </a:lnTo>
                <a:lnTo>
                  <a:pt x="26656" y="1761368"/>
                </a:lnTo>
                <a:lnTo>
                  <a:pt x="34756" y="1763825"/>
                </a:lnTo>
                <a:lnTo>
                  <a:pt x="43180" y="1764655"/>
                </a:lnTo>
                <a:lnTo>
                  <a:pt x="4228038" y="1764655"/>
                </a:lnTo>
                <a:lnTo>
                  <a:pt x="4236462" y="1763825"/>
                </a:lnTo>
                <a:lnTo>
                  <a:pt x="4244563" y="1761368"/>
                </a:lnTo>
                <a:lnTo>
                  <a:pt x="4252028" y="1757378"/>
                </a:lnTo>
                <a:lnTo>
                  <a:pt x="4258571" y="1752008"/>
                </a:lnTo>
                <a:lnTo>
                  <a:pt x="4263941" y="1745465"/>
                </a:lnTo>
                <a:lnTo>
                  <a:pt x="4267931" y="1737999"/>
                </a:lnTo>
                <a:lnTo>
                  <a:pt x="4270389" y="1729899"/>
                </a:lnTo>
                <a:lnTo>
                  <a:pt x="4271218" y="1721475"/>
                </a:lnTo>
                <a:lnTo>
                  <a:pt x="4271218" y="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44641" y="903684"/>
            <a:ext cx="1788765" cy="141446"/>
          </a:xfrm>
          <a:prstGeom prst="roundRect">
            <a:avLst>
              <a:gd name="adj" fmla="val 15264"/>
            </a:avLst>
          </a:prstGeom>
          <a:solidFill>
            <a:srgbClr val="65743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 &amp; STRESSOR-RELATED DISORDERS</a:t>
            </a:r>
            <a:endParaRPr lang="en-US" sz="530" dirty="0"/>
          </a:p>
        </p:txBody>
      </p:sp>
      <p:sp>
        <p:nvSpPr>
          <p:cNvPr id="31" name="Text 29"/>
          <p:cNvSpPr/>
          <p:nvPr/>
        </p:nvSpPr>
        <p:spPr>
          <a:xfrm>
            <a:off x="4744641" y="1083022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actual/threatened death, serious injury, or sexual violence</a:t>
            </a:r>
            <a:endParaRPr lang="en-US" sz="590" dirty="0"/>
          </a:p>
        </p:txBody>
      </p:sp>
      <p:sp>
        <p:nvSpPr>
          <p:cNvPr id="32" name="Text 30"/>
          <p:cNvSpPr/>
          <p:nvPr/>
        </p:nvSpPr>
        <p:spPr>
          <a:xfrm>
            <a:off x="4744641" y="1188839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Intrusive memories or flashbacks of the traumatic event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4744641" y="1294656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trauma-related nightmares</a:t>
            </a:r>
            <a:endParaRPr lang="en-US" sz="590" dirty="0"/>
          </a:p>
        </p:txBody>
      </p:sp>
      <p:sp>
        <p:nvSpPr>
          <p:cNvPr id="34" name="Text 32"/>
          <p:cNvSpPr/>
          <p:nvPr/>
        </p:nvSpPr>
        <p:spPr>
          <a:xfrm>
            <a:off x="4744641" y="1400473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Dissociative reactions (flashbacks); intense distress at trauma cues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4744641" y="1506289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of trauma-related thoughts or external reminders</a:t>
            </a:r>
            <a:endParaRPr lang="en-US" sz="590" dirty="0"/>
          </a:p>
        </p:txBody>
      </p:sp>
      <p:sp>
        <p:nvSpPr>
          <p:cNvPr id="36" name="Text 34"/>
          <p:cNvSpPr/>
          <p:nvPr/>
        </p:nvSpPr>
        <p:spPr>
          <a:xfrm>
            <a:off x="4744641" y="1612106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negative cognitions/mood (e.g., "I am bad")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4744641" y="1717923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numbing, restricted affect, hypervigilance</a:t>
            </a:r>
            <a:endParaRPr lang="en-US" sz="590" dirty="0"/>
          </a:p>
        </p:txBody>
      </p:sp>
      <p:sp>
        <p:nvSpPr>
          <p:cNvPr id="38" name="Text 36"/>
          <p:cNvSpPr/>
          <p:nvPr/>
        </p:nvSpPr>
        <p:spPr>
          <a:xfrm>
            <a:off x="4744641" y="1823740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Exaggerated startle response &amp; sleep disturbance</a:t>
            </a:r>
            <a:endParaRPr lang="en-US" sz="590" dirty="0"/>
          </a:p>
        </p:txBody>
      </p:sp>
      <p:sp>
        <p:nvSpPr>
          <p:cNvPr id="39" name="Text 37"/>
          <p:cNvSpPr/>
          <p:nvPr/>
        </p:nvSpPr>
        <p:spPr>
          <a:xfrm>
            <a:off x="4744641" y="1970187"/>
            <a:ext cx="4180549" cy="132011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&gt;1 month · 4 symptom clusters required</a:t>
            </a:r>
            <a:endParaRPr lang="en-US" sz="530" dirty="0"/>
          </a:p>
        </p:txBody>
      </p:sp>
      <p:sp>
        <p:nvSpPr>
          <p:cNvPr id="40" name="Text 38"/>
          <p:cNvSpPr/>
          <p:nvPr/>
        </p:nvSpPr>
        <p:spPr>
          <a:xfrm>
            <a:off x="4744641" y="1970187"/>
            <a:ext cx="4098578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14461" y="2791569"/>
            <a:ext cx="4271218" cy="2241649"/>
          </a:xfrm>
          <a:prstGeom prst="roundRect">
            <a:avLst>
              <a:gd name="adj" fmla="val 1926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14461" y="2791569"/>
            <a:ext cx="4271218" cy="476845"/>
          </a:xfrm>
          <a:custGeom>
            <a:avLst/>
            <a:gdLst/>
            <a:ahLst/>
            <a:cxnLst/>
            <a:rect l="l" t="t" r="r" b="b"/>
            <a:pathLst>
              <a:path w="4271218" h="476845">
                <a:moveTo>
                  <a:pt x="43180" y="0"/>
                </a:move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lnTo>
                  <a:pt x="0" y="476845"/>
                </a:lnTo>
                <a:lnTo>
                  <a:pt x="4271218" y="476845"/>
                </a:lnTo>
                <a:lnTo>
                  <a:pt x="4271218" y="43180"/>
                </a:lnTo>
                <a:lnTo>
                  <a:pt x="4270389" y="34756"/>
                </a:lnTo>
                <a:lnTo>
                  <a:pt x="4267931" y="26656"/>
                </a:lnTo>
                <a:lnTo>
                  <a:pt x="4263941" y="19190"/>
                </a:lnTo>
                <a:lnTo>
                  <a:pt x="4258571" y="12647"/>
                </a:lnTo>
                <a:lnTo>
                  <a:pt x="4252028" y="7277"/>
                </a:lnTo>
                <a:lnTo>
                  <a:pt x="4244563" y="3287"/>
                </a:lnTo>
                <a:lnTo>
                  <a:pt x="4236462" y="830"/>
                </a:lnTo>
                <a:lnTo>
                  <a:pt x="4228038" y="0"/>
                </a:lnTo>
                <a:close/>
              </a:path>
            </a:pathLst>
          </a:custGeom>
          <a:gradFill rotWithShape="1">
            <a:gsLst>
              <a:gs pos="0">
                <a:srgbClr val="4338CA"/>
              </a:gs>
              <a:gs pos="100000">
                <a:srgbClr val="3730A3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257229" y="2848719"/>
            <a:ext cx="157460" cy="173206"/>
          </a:xfrm>
          <a:prstGeom prst="ellipse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307032" y="2848719"/>
            <a:ext cx="449468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CARD</a:t>
            </a:r>
            <a:endParaRPr lang="en-US" sz="560" dirty="0"/>
          </a:p>
        </p:txBody>
      </p:sp>
      <p:sp>
        <p:nvSpPr>
          <p:cNvPr id="45" name="Text 43"/>
          <p:cNvSpPr/>
          <p:nvPr/>
        </p:nvSpPr>
        <p:spPr>
          <a:xfrm>
            <a:off x="307032" y="2969270"/>
            <a:ext cx="44946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Psychotic Petra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307032" y="3124646"/>
            <a:ext cx="4494684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 · F20.9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214461" y="3268414"/>
            <a:ext cx="4271218" cy="1764802"/>
          </a:xfrm>
          <a:custGeom>
            <a:avLst/>
            <a:gdLst/>
            <a:ahLst/>
            <a:cxnLst/>
            <a:rect l="l" t="t" r="r" b="b"/>
            <a:pathLst>
              <a:path w="4271218" h="1764802">
                <a:moveTo>
                  <a:pt x="0" y="0"/>
                </a:moveTo>
                <a:lnTo>
                  <a:pt x="0" y="1721624"/>
                </a:lnTo>
                <a:lnTo>
                  <a:pt x="830" y="1730048"/>
                </a:lnTo>
                <a:lnTo>
                  <a:pt x="3287" y="1738148"/>
                </a:lnTo>
                <a:lnTo>
                  <a:pt x="7277" y="1745613"/>
                </a:lnTo>
                <a:lnTo>
                  <a:pt x="12647" y="1752157"/>
                </a:lnTo>
                <a:lnTo>
                  <a:pt x="19190" y="1757527"/>
                </a:lnTo>
                <a:lnTo>
                  <a:pt x="26656" y="1761517"/>
                </a:lnTo>
                <a:lnTo>
                  <a:pt x="34756" y="1763974"/>
                </a:lnTo>
                <a:lnTo>
                  <a:pt x="43180" y="1764802"/>
                </a:lnTo>
                <a:lnTo>
                  <a:pt x="4228038" y="1764802"/>
                </a:lnTo>
                <a:lnTo>
                  <a:pt x="4236462" y="1763974"/>
                </a:lnTo>
                <a:lnTo>
                  <a:pt x="4244563" y="1761517"/>
                </a:lnTo>
                <a:lnTo>
                  <a:pt x="4252028" y="1757527"/>
                </a:lnTo>
                <a:lnTo>
                  <a:pt x="4258571" y="1752157"/>
                </a:lnTo>
                <a:lnTo>
                  <a:pt x="4263941" y="1745613"/>
                </a:lnTo>
                <a:lnTo>
                  <a:pt x="4267931" y="1738148"/>
                </a:lnTo>
                <a:lnTo>
                  <a:pt x="4270389" y="1730048"/>
                </a:lnTo>
                <a:lnTo>
                  <a:pt x="4271218" y="1721624"/>
                </a:lnTo>
                <a:lnTo>
                  <a:pt x="4271218" y="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00782" y="3317825"/>
            <a:ext cx="1615827" cy="141446"/>
          </a:xfrm>
          <a:prstGeom prst="roundRect">
            <a:avLst>
              <a:gd name="adj" fmla="val 15264"/>
            </a:avLst>
          </a:prstGeom>
          <a:solidFill>
            <a:srgbClr val="4338C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 SPECTRUM DISORDERS</a:t>
            </a:r>
            <a:endParaRPr lang="en-US" sz="530" dirty="0"/>
          </a:p>
        </p:txBody>
      </p:sp>
      <p:sp>
        <p:nvSpPr>
          <p:cNvPr id="49" name="Text 47"/>
          <p:cNvSpPr/>
          <p:nvPr/>
        </p:nvSpPr>
        <p:spPr>
          <a:xfrm>
            <a:off x="300782" y="3497163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Delusions (fixed, false beliefs not amenable to change)</a:t>
            </a:r>
            <a:endParaRPr lang="en-US" sz="590" dirty="0"/>
          </a:p>
        </p:txBody>
      </p:sp>
      <p:sp>
        <p:nvSpPr>
          <p:cNvPr id="50" name="Text 48"/>
          <p:cNvSpPr/>
          <p:nvPr/>
        </p:nvSpPr>
        <p:spPr>
          <a:xfrm>
            <a:off x="300782" y="3602980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— often auditory (hearing voices)</a:t>
            </a:r>
            <a:endParaRPr lang="en-US" sz="590" dirty="0"/>
          </a:p>
        </p:txBody>
      </p:sp>
      <p:sp>
        <p:nvSpPr>
          <p:cNvPr id="51" name="Text 49"/>
          <p:cNvSpPr/>
          <p:nvPr/>
        </p:nvSpPr>
        <p:spPr>
          <a:xfrm>
            <a:off x="300782" y="3708797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speech: derailment, incoherence</a:t>
            </a:r>
            <a:endParaRPr lang="en-US" sz="590" dirty="0"/>
          </a:p>
        </p:txBody>
      </p:sp>
      <p:sp>
        <p:nvSpPr>
          <p:cNvPr id="52" name="Text 50"/>
          <p:cNvSpPr/>
          <p:nvPr/>
        </p:nvSpPr>
        <p:spPr>
          <a:xfrm>
            <a:off x="300782" y="3814614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Grossly disorganized or catatonic behavior</a:t>
            </a:r>
            <a:endParaRPr lang="en-US" sz="590" dirty="0"/>
          </a:p>
        </p:txBody>
      </p:sp>
      <p:sp>
        <p:nvSpPr>
          <p:cNvPr id="53" name="Text 51"/>
          <p:cNvSpPr/>
          <p:nvPr/>
        </p:nvSpPr>
        <p:spPr>
          <a:xfrm>
            <a:off x="300782" y="3920430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symptoms: flat affect, alogia, avolition, anhedonia, asociality</a:t>
            </a:r>
            <a:endParaRPr lang="en-US" sz="590" dirty="0"/>
          </a:p>
        </p:txBody>
      </p:sp>
      <p:sp>
        <p:nvSpPr>
          <p:cNvPr id="54" name="Text 52"/>
          <p:cNvSpPr/>
          <p:nvPr/>
        </p:nvSpPr>
        <p:spPr>
          <a:xfrm>
            <a:off x="300782" y="4026247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social/occupational dysfunction</a:t>
            </a:r>
            <a:endParaRPr lang="en-US" sz="590" dirty="0"/>
          </a:p>
        </p:txBody>
      </p:sp>
      <p:sp>
        <p:nvSpPr>
          <p:cNvPr id="55" name="Text 53"/>
          <p:cNvSpPr/>
          <p:nvPr/>
        </p:nvSpPr>
        <p:spPr>
          <a:xfrm>
            <a:off x="300782" y="4132064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signs ≥6 months (active phase ≥1 month)</a:t>
            </a:r>
            <a:endParaRPr lang="en-US" sz="590" dirty="0"/>
          </a:p>
        </p:txBody>
      </p:sp>
      <p:sp>
        <p:nvSpPr>
          <p:cNvPr id="56" name="Text 54"/>
          <p:cNvSpPr/>
          <p:nvPr/>
        </p:nvSpPr>
        <p:spPr>
          <a:xfrm>
            <a:off x="300782" y="4237881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symptom must be delusions, hallucinations, or disorganized speech</a:t>
            </a:r>
            <a:endParaRPr lang="en-US" sz="590" dirty="0"/>
          </a:p>
        </p:txBody>
      </p:sp>
      <p:sp>
        <p:nvSpPr>
          <p:cNvPr id="57" name="Text 55"/>
          <p:cNvSpPr/>
          <p:nvPr/>
        </p:nvSpPr>
        <p:spPr>
          <a:xfrm>
            <a:off x="300782" y="4384328"/>
            <a:ext cx="4180549" cy="132011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of 5 criteria (Criterion A) required for ≥1 month</a:t>
            </a:r>
            <a:endParaRPr lang="en-US" sz="530" dirty="0"/>
          </a:p>
        </p:txBody>
      </p:sp>
      <p:sp>
        <p:nvSpPr>
          <p:cNvPr id="58" name="Text 56"/>
          <p:cNvSpPr/>
          <p:nvPr/>
        </p:nvSpPr>
        <p:spPr>
          <a:xfrm>
            <a:off x="300782" y="4384328"/>
            <a:ext cx="4098578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658320" y="2791569"/>
            <a:ext cx="4271218" cy="2241649"/>
          </a:xfrm>
          <a:prstGeom prst="roundRect">
            <a:avLst>
              <a:gd name="adj" fmla="val 1926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658320" y="2791569"/>
            <a:ext cx="4271218" cy="476845"/>
          </a:xfrm>
          <a:custGeom>
            <a:avLst/>
            <a:gdLst/>
            <a:ahLst/>
            <a:cxnLst/>
            <a:rect l="l" t="t" r="r" b="b"/>
            <a:pathLst>
              <a:path w="4271218" h="476845">
                <a:moveTo>
                  <a:pt x="43180" y="0"/>
                </a:move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lnTo>
                  <a:pt x="0" y="476845"/>
                </a:lnTo>
                <a:lnTo>
                  <a:pt x="4271218" y="476845"/>
                </a:lnTo>
                <a:lnTo>
                  <a:pt x="4271218" y="43180"/>
                </a:lnTo>
                <a:lnTo>
                  <a:pt x="4270389" y="34756"/>
                </a:lnTo>
                <a:lnTo>
                  <a:pt x="4267931" y="26656"/>
                </a:lnTo>
                <a:lnTo>
                  <a:pt x="4263941" y="19190"/>
                </a:lnTo>
                <a:lnTo>
                  <a:pt x="4258571" y="12647"/>
                </a:lnTo>
                <a:lnTo>
                  <a:pt x="4252028" y="7277"/>
                </a:lnTo>
                <a:lnTo>
                  <a:pt x="4244563" y="3287"/>
                </a:lnTo>
                <a:lnTo>
                  <a:pt x="4236462" y="830"/>
                </a:lnTo>
                <a:lnTo>
                  <a:pt x="4228038" y="0"/>
                </a:lnTo>
                <a:close/>
              </a:path>
            </a:pathLst>
          </a:custGeom>
          <a:gradFill rotWithShape="1">
            <a:gsLst>
              <a:gs pos="0">
                <a:srgbClr val="BE123C"/>
              </a:gs>
              <a:gs pos="100000">
                <a:srgbClr val="9F123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701088" y="2848719"/>
            <a:ext cx="157460" cy="173206"/>
          </a:xfrm>
          <a:prstGeom prst="ellipse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4750891" y="2848719"/>
            <a:ext cx="449468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CARD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4750891" y="2969270"/>
            <a:ext cx="44946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Unstable Uma</a:t>
            </a:r>
            <a:endParaRPr lang="en-US" sz="960" dirty="0"/>
          </a:p>
        </p:txBody>
      </p:sp>
      <p:sp>
        <p:nvSpPr>
          <p:cNvPr id="64" name="Text 62"/>
          <p:cNvSpPr/>
          <p:nvPr/>
        </p:nvSpPr>
        <p:spPr>
          <a:xfrm>
            <a:off x="4750891" y="3124646"/>
            <a:ext cx="4494684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Personality Disorder (BPD) · F60.3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4658320" y="3268414"/>
            <a:ext cx="4271218" cy="1764802"/>
          </a:xfrm>
          <a:custGeom>
            <a:avLst/>
            <a:gdLst/>
            <a:ahLst/>
            <a:cxnLst/>
            <a:rect l="l" t="t" r="r" b="b"/>
            <a:pathLst>
              <a:path w="4271218" h="1764802">
                <a:moveTo>
                  <a:pt x="0" y="0"/>
                </a:moveTo>
                <a:lnTo>
                  <a:pt x="0" y="1721624"/>
                </a:lnTo>
                <a:lnTo>
                  <a:pt x="830" y="1730048"/>
                </a:lnTo>
                <a:lnTo>
                  <a:pt x="3287" y="1738148"/>
                </a:lnTo>
                <a:lnTo>
                  <a:pt x="7277" y="1745613"/>
                </a:lnTo>
                <a:lnTo>
                  <a:pt x="12647" y="1752157"/>
                </a:lnTo>
                <a:lnTo>
                  <a:pt x="19190" y="1757527"/>
                </a:lnTo>
                <a:lnTo>
                  <a:pt x="26656" y="1761517"/>
                </a:lnTo>
                <a:lnTo>
                  <a:pt x="34756" y="1763974"/>
                </a:lnTo>
                <a:lnTo>
                  <a:pt x="43180" y="1764802"/>
                </a:lnTo>
                <a:lnTo>
                  <a:pt x="4228038" y="1764802"/>
                </a:lnTo>
                <a:lnTo>
                  <a:pt x="4236462" y="1763974"/>
                </a:lnTo>
                <a:lnTo>
                  <a:pt x="4244563" y="1761517"/>
                </a:lnTo>
                <a:lnTo>
                  <a:pt x="4252028" y="1757527"/>
                </a:lnTo>
                <a:lnTo>
                  <a:pt x="4258571" y="1752157"/>
                </a:lnTo>
                <a:lnTo>
                  <a:pt x="4263941" y="1745613"/>
                </a:lnTo>
                <a:lnTo>
                  <a:pt x="4267931" y="1738148"/>
                </a:lnTo>
                <a:lnTo>
                  <a:pt x="4270389" y="1730048"/>
                </a:lnTo>
                <a:lnTo>
                  <a:pt x="4271218" y="1721624"/>
                </a:lnTo>
                <a:lnTo>
                  <a:pt x="4271218" y="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44641" y="3317825"/>
            <a:ext cx="1091654" cy="141446"/>
          </a:xfrm>
          <a:prstGeom prst="roundRect">
            <a:avLst>
              <a:gd name="adj" fmla="val 15264"/>
            </a:avLst>
          </a:prstGeom>
          <a:solidFill>
            <a:srgbClr val="BE123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</a:t>
            </a:r>
            <a:endParaRPr lang="en-US" sz="530" dirty="0"/>
          </a:p>
        </p:txBody>
      </p:sp>
      <p:sp>
        <p:nvSpPr>
          <p:cNvPr id="67" name="Text 65"/>
          <p:cNvSpPr/>
          <p:nvPr/>
        </p:nvSpPr>
        <p:spPr>
          <a:xfrm>
            <a:off x="4744641" y="3497163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Frantic efforts to avoid real or imagined abandonment</a:t>
            </a:r>
            <a:endParaRPr lang="en-US" sz="590" dirty="0"/>
          </a:p>
        </p:txBody>
      </p:sp>
      <p:sp>
        <p:nvSpPr>
          <p:cNvPr id="68" name="Text 66"/>
          <p:cNvSpPr/>
          <p:nvPr/>
        </p:nvSpPr>
        <p:spPr>
          <a:xfrm>
            <a:off x="4744641" y="3602980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Unstable, intense relationships: idealization &amp; devaluation</a:t>
            </a:r>
            <a:endParaRPr lang="en-US" sz="590" dirty="0"/>
          </a:p>
        </p:txBody>
      </p:sp>
      <p:sp>
        <p:nvSpPr>
          <p:cNvPr id="69" name="Text 67"/>
          <p:cNvSpPr/>
          <p:nvPr/>
        </p:nvSpPr>
        <p:spPr>
          <a:xfrm>
            <a:off x="4744641" y="3708797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disturbance: unstable self-image or sense of self</a:t>
            </a:r>
            <a:endParaRPr lang="en-US" sz="590" dirty="0"/>
          </a:p>
        </p:txBody>
      </p:sp>
      <p:sp>
        <p:nvSpPr>
          <p:cNvPr id="70" name="Text 68"/>
          <p:cNvSpPr/>
          <p:nvPr/>
        </p:nvSpPr>
        <p:spPr>
          <a:xfrm>
            <a:off x="4744641" y="3814614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Impulsivity in ≥2 potentially self-damaging areas</a:t>
            </a:r>
            <a:endParaRPr lang="en-US" sz="590" dirty="0"/>
          </a:p>
        </p:txBody>
      </p:sp>
      <p:sp>
        <p:nvSpPr>
          <p:cNvPr id="71" name="Text 69"/>
          <p:cNvSpPr/>
          <p:nvPr/>
        </p:nvSpPr>
        <p:spPr>
          <a:xfrm>
            <a:off x="4744641" y="3920430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suicidal behavior or non-suicidal self-harm</a:t>
            </a:r>
            <a:endParaRPr lang="en-US" sz="590" dirty="0"/>
          </a:p>
        </p:txBody>
      </p:sp>
      <p:sp>
        <p:nvSpPr>
          <p:cNvPr id="72" name="Text 70"/>
          <p:cNvSpPr/>
          <p:nvPr/>
        </p:nvSpPr>
        <p:spPr>
          <a:xfrm>
            <a:off x="4744641" y="4026247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instability due to marked mood reactivity</a:t>
            </a:r>
            <a:endParaRPr lang="en-US" sz="590" dirty="0"/>
          </a:p>
        </p:txBody>
      </p:sp>
      <p:sp>
        <p:nvSpPr>
          <p:cNvPr id="73" name="Text 71"/>
          <p:cNvSpPr/>
          <p:nvPr/>
        </p:nvSpPr>
        <p:spPr>
          <a:xfrm>
            <a:off x="4744641" y="4132064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feelings of emptiness; inappropriate, intense anger</a:t>
            </a:r>
            <a:endParaRPr lang="en-US" sz="590" dirty="0"/>
          </a:p>
        </p:txBody>
      </p:sp>
      <p:sp>
        <p:nvSpPr>
          <p:cNvPr id="74" name="Text 72"/>
          <p:cNvSpPr/>
          <p:nvPr/>
        </p:nvSpPr>
        <p:spPr>
          <a:xfrm>
            <a:off x="4744641" y="4237881"/>
            <a:ext cx="450843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9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Transient, stress-related paranoid ideation or severe dissociation</a:t>
            </a:r>
            <a:endParaRPr lang="en-US" sz="590" dirty="0"/>
          </a:p>
        </p:txBody>
      </p:sp>
      <p:sp>
        <p:nvSpPr>
          <p:cNvPr id="75" name="Text 73"/>
          <p:cNvSpPr/>
          <p:nvPr/>
        </p:nvSpPr>
        <p:spPr>
          <a:xfrm>
            <a:off x="4744641" y="4384328"/>
            <a:ext cx="4180549" cy="132011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of 9 criteria required · Pervasive pattern since early adulthood</a:t>
            </a:r>
            <a:endParaRPr lang="en-US" sz="530" dirty="0"/>
          </a:p>
        </p:txBody>
      </p:sp>
      <p:sp>
        <p:nvSpPr>
          <p:cNvPr id="76" name="Text 74"/>
          <p:cNvSpPr/>
          <p:nvPr/>
        </p:nvSpPr>
        <p:spPr>
          <a:xfrm>
            <a:off x="4744641" y="4384328"/>
            <a:ext cx="4098578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567238" y="314920"/>
            <a:ext cx="9525" cy="4828580"/>
          </a:xfrm>
          <a:prstGeom prst="rect">
            <a:avLst/>
          </a:prstGeom>
          <a:solidFill>
            <a:srgbClr val="A0B4C8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28141" y="2729210"/>
            <a:ext cx="8887718" cy="9525"/>
          </a:xfrm>
          <a:prstGeom prst="rect">
            <a:avLst/>
          </a:prstGeom>
          <a:solidFill>
            <a:srgbClr val="A0B4C8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500265" y="2500015"/>
            <a:ext cx="143470" cy="143470"/>
          </a:xfrm>
          <a:prstGeom prst="ellipse">
            <a:avLst/>
          </a:prstGeom>
          <a:solidFill>
            <a:srgbClr val="1B2A3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632" y="2505382"/>
            <a:ext cx="132588" cy="132588"/>
          </a:xfrm>
          <a:prstGeom prst="rect">
            <a:avLst/>
          </a:prstGeom>
        </p:spPr>
      </p:pic>
      <p:sp>
        <p:nvSpPr>
          <p:cNvPr id="81" name="Text 78"/>
          <p:cNvSpPr/>
          <p:nvPr/>
        </p:nvSpPr>
        <p:spPr>
          <a:xfrm>
            <a:off x="128141" y="2657475"/>
            <a:ext cx="143470" cy="143470"/>
          </a:xfrm>
          <a:prstGeom prst="ellipse">
            <a:avLst/>
          </a:prstGeom>
          <a:solidFill>
            <a:srgbClr val="1B2A3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508" y="2662842"/>
            <a:ext cx="132588" cy="132588"/>
          </a:xfrm>
          <a:prstGeom prst="rect">
            <a:avLst/>
          </a:prstGeom>
        </p:spPr>
      </p:pic>
      <p:sp>
        <p:nvSpPr>
          <p:cNvPr id="900" name="AvatarSlot_05"/>
          <p:cNvSpPr/>
          <p:nvPr/>
        </p:nvSpPr>
        <p:spPr>
          <a:xfrm>
            <a:off x="3787229" y="405850"/>
            <a:ext cx="420000" cy="42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1" name="AvatarSlot_06"/>
          <p:cNvSpPr/>
          <p:nvPr/>
        </p:nvSpPr>
        <p:spPr>
          <a:xfrm>
            <a:off x="8231088" y="405850"/>
            <a:ext cx="420000" cy="42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2" name="AvatarSlot_07"/>
          <p:cNvSpPr/>
          <p:nvPr/>
        </p:nvSpPr>
        <p:spPr>
          <a:xfrm>
            <a:off x="3787229" y="2819991"/>
            <a:ext cx="420000" cy="42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3" name="AvatarSlot_08"/>
          <p:cNvSpPr/>
          <p:nvPr/>
        </p:nvSpPr>
        <p:spPr>
          <a:xfrm>
            <a:off x="8231088" y="2819991"/>
            <a:ext cx="420000" cy="42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14920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1450" y="77391"/>
            <a:ext cx="419656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✂   CHARACTER CARDS — SHEET 3  |  CUT ALONG DOTTED LINES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7484269" y="75009"/>
            <a:ext cx="1488281" cy="181228"/>
          </a:xfrm>
          <a:prstGeom prst="roundRect">
            <a:avLst>
              <a:gd name="adj" fmla="val 39243"/>
            </a:avLst>
          </a:prstGeom>
          <a:noFill/>
          <a:ln w="9525">
            <a:solidFill>
              <a:srgbClr val="5BA4C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· CARDS 9–12 OF 20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0" y="314920"/>
            <a:ext cx="4572000" cy="2414885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" y="324445"/>
            <a:ext cx="4562475" cy="607963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0369A1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845" y="373856"/>
            <a:ext cx="48288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CARD 09</a:t>
            </a:r>
            <a:endParaRPr lang="en-US" sz="510" dirty="0"/>
          </a:p>
        </p:txBody>
      </p:sp>
      <p:sp>
        <p:nvSpPr>
          <p:cNvPr id="8" name="Text 6"/>
          <p:cNvSpPr/>
          <p:nvPr/>
        </p:nvSpPr>
        <p:spPr>
          <a:xfrm>
            <a:off x="95845" y="478482"/>
            <a:ext cx="482881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Panicking Pablo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5845" y="627608"/>
            <a:ext cx="48288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6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Disorder · F41.0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95845" y="763488"/>
            <a:ext cx="807988" cy="129533"/>
          </a:xfrm>
          <a:prstGeom prst="roundRect">
            <a:avLst>
              <a:gd name="adj" fmla="val 4412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  <p:txBody>
          <a:bodyPr wrap="none" lIns="49530" tIns="7620" rIns="49530" bIns="7620" rtlCol="0" anchor="t"/>
          <a:lstStyle/>
          <a:p>
            <a:pPr marL="0" indent="0" algn="l">
              <a:buNone/>
            </a:pPr>
            <a:r>
              <a:rPr lang="en-US" sz="480" kern="0" spc="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11" name="Text 9"/>
          <p:cNvSpPr/>
          <p:nvPr/>
        </p:nvSpPr>
        <p:spPr>
          <a:xfrm>
            <a:off x="95845" y="975568"/>
            <a:ext cx="482881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48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DIAGNOSTIC CLUES</a:t>
            </a:r>
            <a:endParaRPr lang="en-US" sz="480" dirty="0"/>
          </a:p>
        </p:txBody>
      </p:sp>
      <p:sp>
        <p:nvSpPr>
          <p:cNvPr id="12" name="Text 10"/>
          <p:cNvSpPr/>
          <p:nvPr/>
        </p:nvSpPr>
        <p:spPr>
          <a:xfrm>
            <a:off x="160437" y="1088678"/>
            <a:ext cx="122504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unexpected panic attacks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95845" y="1113979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0437" y="1189434"/>
            <a:ext cx="125484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Palpitations or accelerated heart rate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95845" y="1214735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437" y="1290191"/>
            <a:ext cx="10500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Sweating; trembling or shaking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95845" y="1315492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0437" y="1390948"/>
            <a:ext cx="151088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Shortness of breath or smothering sensation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95845" y="1416248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0437" y="1491704"/>
            <a:ext cx="151940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of choking; chest pain or discomfort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95845" y="1517005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437" y="1592461"/>
            <a:ext cx="101582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 or abdominal distress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95845" y="1617762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0437" y="1693218"/>
            <a:ext cx="126335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Dizziness, unsteadiness, or faintness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95845" y="1718518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0437" y="1793974"/>
            <a:ext cx="18394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Chills or hot flashes; paresthesias (numbness/tingling)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95845" y="1819275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0437" y="1894731"/>
            <a:ext cx="11610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Derealization or depersonalization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95845" y="1920032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0437" y="1995487"/>
            <a:ext cx="127514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losing control or "going crazy"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95845" y="2020788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0437" y="2096244"/>
            <a:ext cx="44824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dying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95845" y="2121545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60437" y="2197001"/>
            <a:ext cx="172371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concern about future attacks (≥1 month)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95845" y="2222302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0437" y="2297757"/>
            <a:ext cx="143852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maladaptive behavioral change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95845" y="2323058"/>
            <a:ext cx="35421" cy="35421"/>
          </a:xfrm>
          <a:prstGeom prst="ellips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525" y="2535734"/>
            <a:ext cx="4562475" cy="9525"/>
          </a:xfrm>
          <a:prstGeom prst="rect">
            <a:avLst/>
          </a:prstGeom>
          <a:solidFill>
            <a:srgbClr val="CBD5E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5845" y="2588568"/>
            <a:ext cx="142133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 of 13 physical/cognitive symptoms per attack</a:t>
            </a:r>
            <a:endParaRPr lang="en-US" sz="480" dirty="0"/>
          </a:p>
        </p:txBody>
      </p:sp>
      <p:sp>
        <p:nvSpPr>
          <p:cNvPr id="40" name="Text 38"/>
          <p:cNvSpPr/>
          <p:nvPr/>
        </p:nvSpPr>
        <p:spPr>
          <a:xfrm>
            <a:off x="3932486" y="2574429"/>
            <a:ext cx="553194" cy="131951"/>
          </a:xfrm>
          <a:prstGeom prst="roundRect">
            <a:avLst>
              <a:gd name="adj" fmla="val 32724"/>
            </a:avLst>
          </a:prstGeom>
          <a:solidFill>
            <a:srgbClr val="F1F5F9"/>
          </a:solidFill>
          <a:ln w="9525">
            <a:solidFill>
              <a:srgbClr val="0284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4572000" y="314920"/>
            <a:ext cx="4572000" cy="241488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72000" y="324445"/>
            <a:ext cx="4562475" cy="607963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58320" y="373856"/>
            <a:ext cx="48288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CARD 10</a:t>
            </a:r>
            <a:endParaRPr lang="en-US" sz="510" dirty="0"/>
          </a:p>
        </p:txBody>
      </p:sp>
      <p:sp>
        <p:nvSpPr>
          <p:cNvPr id="44" name="Text 42"/>
          <p:cNvSpPr/>
          <p:nvPr/>
        </p:nvSpPr>
        <p:spPr>
          <a:xfrm>
            <a:off x="4658320" y="478482"/>
            <a:ext cx="482881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Shy Sienna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4658320" y="627608"/>
            <a:ext cx="48288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6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Disorder · F40.10</a:t>
            </a:r>
            <a:endParaRPr lang="en-US" sz="560" dirty="0"/>
          </a:p>
        </p:txBody>
      </p:sp>
      <p:sp>
        <p:nvSpPr>
          <p:cNvPr id="46" name="Text 44"/>
          <p:cNvSpPr/>
          <p:nvPr/>
        </p:nvSpPr>
        <p:spPr>
          <a:xfrm>
            <a:off x="4658320" y="763488"/>
            <a:ext cx="807988" cy="129533"/>
          </a:xfrm>
          <a:prstGeom prst="roundRect">
            <a:avLst>
              <a:gd name="adj" fmla="val 4412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  <p:txBody>
          <a:bodyPr wrap="none" lIns="49530" tIns="7620" rIns="49530" bIns="7620" rtlCol="0" anchor="t"/>
          <a:lstStyle/>
          <a:p>
            <a:pPr marL="0" indent="0" algn="l">
              <a:buNone/>
            </a:pPr>
            <a:r>
              <a:rPr lang="en-US" sz="480" kern="0" spc="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47" name="Text 45"/>
          <p:cNvSpPr/>
          <p:nvPr/>
        </p:nvSpPr>
        <p:spPr>
          <a:xfrm>
            <a:off x="4658320" y="975568"/>
            <a:ext cx="482881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48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DIAGNOSTIC CLUES</a:t>
            </a:r>
            <a:endParaRPr lang="en-US" sz="480" dirty="0"/>
          </a:p>
        </p:txBody>
      </p:sp>
      <p:sp>
        <p:nvSpPr>
          <p:cNvPr id="48" name="Text 46"/>
          <p:cNvSpPr/>
          <p:nvPr/>
        </p:nvSpPr>
        <p:spPr>
          <a:xfrm>
            <a:off x="4722912" y="1088678"/>
            <a:ext cx="160846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fear or anxiety about ≥1 social situation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4658320" y="1113979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22912" y="1189434"/>
            <a:ext cx="173697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acting in a humiliating or embarrassing way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4658320" y="1214735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22912" y="1290191"/>
            <a:ext cx="126352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negative evaluation by others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4658320" y="1315492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722912" y="1390948"/>
            <a:ext cx="161746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situations almost always provoke anxiety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4658320" y="1416248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22912" y="1491704"/>
            <a:ext cx="201020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actively avoided or endured with intense distress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4658320" y="1517005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22912" y="1592461"/>
            <a:ext cx="134455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is out of proportion to actual threat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4658320" y="1617762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22912" y="1693218"/>
            <a:ext cx="6695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≥6 months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4658320" y="1718518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722912" y="1793974"/>
            <a:ext cx="148092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distress or functional impairment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4658320" y="1819275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722912" y="1894731"/>
            <a:ext cx="201020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Performance-only specifier available (e.g., public speaking)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4658320" y="1920032"/>
            <a:ext cx="35421" cy="35421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572000" y="2535734"/>
            <a:ext cx="4562475" cy="9525"/>
          </a:xfrm>
          <a:prstGeom prst="rect">
            <a:avLst/>
          </a:prstGeom>
          <a:solidFill>
            <a:srgbClr val="CBD5E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658320" y="2588568"/>
            <a:ext cx="1287259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≥6 months · Out-of-proportion fear</a:t>
            </a:r>
            <a:endParaRPr lang="en-US" sz="480" dirty="0"/>
          </a:p>
        </p:txBody>
      </p:sp>
      <p:sp>
        <p:nvSpPr>
          <p:cNvPr id="68" name="Text 66"/>
          <p:cNvSpPr/>
          <p:nvPr/>
        </p:nvSpPr>
        <p:spPr>
          <a:xfrm>
            <a:off x="8494961" y="2574429"/>
            <a:ext cx="553194" cy="131951"/>
          </a:xfrm>
          <a:prstGeom prst="roundRect">
            <a:avLst>
              <a:gd name="adj" fmla="val 32724"/>
            </a:avLst>
          </a:prstGeom>
          <a:solidFill>
            <a:srgbClr val="F1F5F9"/>
          </a:solidFill>
          <a:ln w="9525">
            <a:solidFill>
              <a:srgbClr val="0D948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0" y="2729805"/>
            <a:ext cx="4572000" cy="24136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0" y="2729805"/>
            <a:ext cx="9525" cy="2413695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9525" y="2729805"/>
            <a:ext cx="4562475" cy="607963"/>
          </a:xfrm>
          <a:prstGeom prst="rect">
            <a:avLst/>
          </a:prstGeom>
          <a:gradFill rotWithShape="1">
            <a:gsLst>
              <a:gs pos="0">
                <a:srgbClr val="B45309"/>
              </a:gs>
              <a:gs pos="100000">
                <a:srgbClr val="92400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95845" y="2779216"/>
            <a:ext cx="48288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CARD 11</a:t>
            </a:r>
            <a:endParaRPr lang="en-US" sz="510" dirty="0"/>
          </a:p>
        </p:txBody>
      </p:sp>
      <p:sp>
        <p:nvSpPr>
          <p:cNvPr id="73" name="Text 71"/>
          <p:cNvSpPr/>
          <p:nvPr/>
        </p:nvSpPr>
        <p:spPr>
          <a:xfrm>
            <a:off x="95845" y="2883843"/>
            <a:ext cx="482881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Routine Robin</a:t>
            </a:r>
            <a:endParaRPr lang="en-US" sz="960" dirty="0"/>
          </a:p>
        </p:txBody>
      </p:sp>
      <p:sp>
        <p:nvSpPr>
          <p:cNvPr id="74" name="Text 72"/>
          <p:cNvSpPr/>
          <p:nvPr/>
        </p:nvSpPr>
        <p:spPr>
          <a:xfrm>
            <a:off x="95845" y="3032968"/>
            <a:ext cx="48288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6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Spectrum Disorder (ASD) · F84.0</a:t>
            </a:r>
            <a:endParaRPr lang="en-US" sz="560" dirty="0"/>
          </a:p>
        </p:txBody>
      </p:sp>
      <p:sp>
        <p:nvSpPr>
          <p:cNvPr id="75" name="Text 73"/>
          <p:cNvSpPr/>
          <p:nvPr/>
        </p:nvSpPr>
        <p:spPr>
          <a:xfrm>
            <a:off x="95845" y="3168848"/>
            <a:ext cx="1329630" cy="129533"/>
          </a:xfrm>
          <a:prstGeom prst="roundRect">
            <a:avLst>
              <a:gd name="adj" fmla="val 4412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  <p:txBody>
          <a:bodyPr wrap="none" lIns="49530" tIns="7620" rIns="49530" bIns="7620" rtlCol="0" anchor="t"/>
          <a:lstStyle/>
          <a:p>
            <a:pPr marL="0" indent="0" algn="l">
              <a:buNone/>
            </a:pPr>
            <a:r>
              <a:rPr lang="en-US" sz="480" kern="0" spc="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 DISORDERS</a:t>
            </a:r>
            <a:endParaRPr lang="en-US" sz="480" dirty="0"/>
          </a:p>
        </p:txBody>
      </p:sp>
      <p:sp>
        <p:nvSpPr>
          <p:cNvPr id="76" name="Text 74"/>
          <p:cNvSpPr/>
          <p:nvPr/>
        </p:nvSpPr>
        <p:spPr>
          <a:xfrm>
            <a:off x="95845" y="3380929"/>
            <a:ext cx="482881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48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DIAGNOSTIC CLUES</a:t>
            </a:r>
            <a:endParaRPr lang="en-US" sz="480" dirty="0"/>
          </a:p>
        </p:txBody>
      </p:sp>
      <p:sp>
        <p:nvSpPr>
          <p:cNvPr id="77" name="Text 75"/>
          <p:cNvSpPr/>
          <p:nvPr/>
        </p:nvSpPr>
        <p:spPr>
          <a:xfrm>
            <a:off x="160437" y="3494038"/>
            <a:ext cx="128022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Deficits in social-emotional reciprocity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95845" y="3519339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60437" y="3594795"/>
            <a:ext cx="15789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Deficits in nonverbal communicative behaviors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95845" y="3620095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60437" y="3695551"/>
            <a:ext cx="159208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Deficits in developing/maintaining relationships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95845" y="3720852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60437" y="3796308"/>
            <a:ext cx="145964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Insistence on sameness; inflexible routines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95845" y="3821609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160437" y="3897064"/>
            <a:ext cx="182652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restricted, fixated interests (abnormal intensity)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95845" y="3922365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60437" y="3997821"/>
            <a:ext cx="137419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 or hyporeactivity to sensory input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95845" y="4023122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60437" y="4098578"/>
            <a:ext cx="147241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Stereotyped or repetitive motor movements</a:t>
            </a:r>
            <a:endParaRPr lang="en-US" sz="550" dirty="0"/>
          </a:p>
        </p:txBody>
      </p:sp>
      <p:sp>
        <p:nvSpPr>
          <p:cNvPr id="90" name="Text 88"/>
          <p:cNvSpPr/>
          <p:nvPr/>
        </p:nvSpPr>
        <p:spPr>
          <a:xfrm>
            <a:off x="95845" y="4123879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60437" y="4199334"/>
            <a:ext cx="166444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present in early developmental period</a:t>
            </a:r>
            <a:endParaRPr lang="en-US" sz="550" dirty="0"/>
          </a:p>
        </p:txBody>
      </p:sp>
      <p:sp>
        <p:nvSpPr>
          <p:cNvPr id="92" name="Text 90"/>
          <p:cNvSpPr/>
          <p:nvPr/>
        </p:nvSpPr>
        <p:spPr>
          <a:xfrm>
            <a:off x="95845" y="4224635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160437" y="4300091"/>
            <a:ext cx="12163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 specifiers: Levels 1–3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95845" y="4325392"/>
            <a:ext cx="35421" cy="35421"/>
          </a:xfrm>
          <a:prstGeom prst="ellips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9525" y="4941094"/>
            <a:ext cx="4562475" cy="9525"/>
          </a:xfrm>
          <a:prstGeom prst="rect">
            <a:avLst/>
          </a:prstGeom>
          <a:solidFill>
            <a:srgbClr val="CBD5E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95845" y="4993928"/>
            <a:ext cx="1478801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social criteria + ≥2 restricted behavior criteria</a:t>
            </a:r>
            <a:endParaRPr lang="en-US" sz="480" dirty="0"/>
          </a:p>
        </p:txBody>
      </p:sp>
      <p:sp>
        <p:nvSpPr>
          <p:cNvPr id="97" name="Text 95"/>
          <p:cNvSpPr/>
          <p:nvPr/>
        </p:nvSpPr>
        <p:spPr>
          <a:xfrm>
            <a:off x="3852863" y="4979789"/>
            <a:ext cx="632817" cy="131951"/>
          </a:xfrm>
          <a:prstGeom prst="roundRect">
            <a:avLst>
              <a:gd name="adj" fmla="val 32724"/>
            </a:avLst>
          </a:prstGeom>
          <a:solidFill>
            <a:srgbClr val="F1F5F9"/>
          </a:solidFill>
          <a:ln w="9525">
            <a:solidFill>
              <a:srgbClr val="B45309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</a:t>
            </a:r>
            <a:endParaRPr lang="en-US" sz="450" dirty="0"/>
          </a:p>
        </p:txBody>
      </p:sp>
      <p:sp>
        <p:nvSpPr>
          <p:cNvPr id="98" name="Text 96"/>
          <p:cNvSpPr/>
          <p:nvPr/>
        </p:nvSpPr>
        <p:spPr>
          <a:xfrm>
            <a:off x="4572000" y="2729805"/>
            <a:ext cx="4572000" cy="24136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9134475" y="2729805"/>
            <a:ext cx="9525" cy="2413695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4572000" y="2729805"/>
            <a:ext cx="4562475" cy="607963"/>
          </a:xfrm>
          <a:prstGeom prst="rect">
            <a:avLst/>
          </a:prstGeom>
          <a:gradFill rotWithShape="1">
            <a:gsLst>
              <a:gs pos="0">
                <a:srgbClr val="92400E"/>
              </a:gs>
              <a:gs pos="100000">
                <a:srgbClr val="78350F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4658320" y="2779216"/>
            <a:ext cx="48288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CARD 12</a:t>
            </a:r>
            <a:endParaRPr lang="en-US" sz="510" dirty="0"/>
          </a:p>
        </p:txBody>
      </p:sp>
      <p:sp>
        <p:nvSpPr>
          <p:cNvPr id="102" name="Text 100"/>
          <p:cNvSpPr/>
          <p:nvPr/>
        </p:nvSpPr>
        <p:spPr>
          <a:xfrm>
            <a:off x="4658320" y="2883843"/>
            <a:ext cx="482881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Boozy Brent</a:t>
            </a:r>
            <a:endParaRPr lang="en-US" sz="960" dirty="0"/>
          </a:p>
        </p:txBody>
      </p:sp>
      <p:sp>
        <p:nvSpPr>
          <p:cNvPr id="103" name="Text 101"/>
          <p:cNvSpPr/>
          <p:nvPr/>
        </p:nvSpPr>
        <p:spPr>
          <a:xfrm>
            <a:off x="4658320" y="3032968"/>
            <a:ext cx="48288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6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Use Disorder, Moderate · F10.20</a:t>
            </a:r>
            <a:endParaRPr lang="en-US" sz="560" dirty="0"/>
          </a:p>
        </p:txBody>
      </p:sp>
      <p:sp>
        <p:nvSpPr>
          <p:cNvPr id="104" name="Text 102"/>
          <p:cNvSpPr/>
          <p:nvPr/>
        </p:nvSpPr>
        <p:spPr>
          <a:xfrm>
            <a:off x="4658320" y="3168848"/>
            <a:ext cx="1675358" cy="129533"/>
          </a:xfrm>
          <a:prstGeom prst="roundRect">
            <a:avLst>
              <a:gd name="adj" fmla="val 4412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  <p:txBody>
          <a:bodyPr wrap="none" lIns="49530" tIns="7620" rIns="49530" bIns="7620" rtlCol="0" anchor="t"/>
          <a:lstStyle/>
          <a:p>
            <a:pPr marL="0" indent="0" algn="l">
              <a:buNone/>
            </a:pPr>
            <a:r>
              <a:rPr lang="en-US" sz="480" kern="0" spc="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SUBSTANCE-RELATED &amp; ADDICTIVE DISORDERS</a:t>
            </a:r>
            <a:endParaRPr lang="en-US" sz="480" dirty="0"/>
          </a:p>
        </p:txBody>
      </p:sp>
      <p:sp>
        <p:nvSpPr>
          <p:cNvPr id="105" name="Text 103"/>
          <p:cNvSpPr/>
          <p:nvPr/>
        </p:nvSpPr>
        <p:spPr>
          <a:xfrm>
            <a:off x="4658320" y="3380929"/>
            <a:ext cx="4828818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48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DIAGNOSTIC CLUES</a:t>
            </a:r>
            <a:endParaRPr lang="en-US" sz="480" dirty="0"/>
          </a:p>
        </p:txBody>
      </p:sp>
      <p:sp>
        <p:nvSpPr>
          <p:cNvPr id="106" name="Text 104"/>
          <p:cNvSpPr/>
          <p:nvPr/>
        </p:nvSpPr>
        <p:spPr>
          <a:xfrm>
            <a:off x="4722912" y="3494038"/>
            <a:ext cx="188660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taken in larger amounts or longer than intended</a:t>
            </a:r>
            <a:endParaRPr lang="en-US" sz="550" dirty="0"/>
          </a:p>
        </p:txBody>
      </p:sp>
      <p:sp>
        <p:nvSpPr>
          <p:cNvPr id="107" name="Text 105"/>
          <p:cNvSpPr/>
          <p:nvPr/>
        </p:nvSpPr>
        <p:spPr>
          <a:xfrm>
            <a:off x="4658320" y="3519339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4722912" y="3594795"/>
            <a:ext cx="17739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desire or unsuccessful efforts to cut down</a:t>
            </a:r>
            <a:endParaRPr lang="en-US" sz="550" dirty="0"/>
          </a:p>
        </p:txBody>
      </p:sp>
      <p:sp>
        <p:nvSpPr>
          <p:cNvPr id="109" name="Text 107"/>
          <p:cNvSpPr/>
          <p:nvPr/>
        </p:nvSpPr>
        <p:spPr>
          <a:xfrm>
            <a:off x="4658320" y="3620095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4722912" y="3695551"/>
            <a:ext cx="186941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deal of time spent obtaining, using, or recovering</a:t>
            </a:r>
            <a:endParaRPr lang="en-US" sz="550" dirty="0"/>
          </a:p>
        </p:txBody>
      </p:sp>
      <p:sp>
        <p:nvSpPr>
          <p:cNvPr id="111" name="Text 109"/>
          <p:cNvSpPr/>
          <p:nvPr/>
        </p:nvSpPr>
        <p:spPr>
          <a:xfrm>
            <a:off x="4658320" y="3720852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4722912" y="3796308"/>
            <a:ext cx="148960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or strong desire/urge to use alcohol</a:t>
            </a:r>
            <a:endParaRPr lang="en-US" sz="550" dirty="0"/>
          </a:p>
        </p:txBody>
      </p:sp>
      <p:sp>
        <p:nvSpPr>
          <p:cNvPr id="113" name="Text 111"/>
          <p:cNvSpPr/>
          <p:nvPr/>
        </p:nvSpPr>
        <p:spPr>
          <a:xfrm>
            <a:off x="4658320" y="3821609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4722912" y="3897064"/>
            <a:ext cx="186073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use causing failure to fulfill major obligations</a:t>
            </a:r>
            <a:endParaRPr lang="en-US" sz="550" dirty="0"/>
          </a:p>
        </p:txBody>
      </p:sp>
      <p:sp>
        <p:nvSpPr>
          <p:cNvPr id="115" name="Text 113"/>
          <p:cNvSpPr/>
          <p:nvPr/>
        </p:nvSpPr>
        <p:spPr>
          <a:xfrm>
            <a:off x="4658320" y="3922365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4722912" y="3997821"/>
            <a:ext cx="17841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use despite social/interpersonal problems</a:t>
            </a:r>
            <a:endParaRPr lang="en-US" sz="550" dirty="0"/>
          </a:p>
        </p:txBody>
      </p:sp>
      <p:sp>
        <p:nvSpPr>
          <p:cNvPr id="117" name="Text 115"/>
          <p:cNvSpPr/>
          <p:nvPr/>
        </p:nvSpPr>
        <p:spPr>
          <a:xfrm>
            <a:off x="4658320" y="4023122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4722912" y="4098578"/>
            <a:ext cx="13401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activities given up or reduced</a:t>
            </a:r>
            <a:endParaRPr lang="en-US" sz="550" dirty="0"/>
          </a:p>
        </p:txBody>
      </p:sp>
      <p:sp>
        <p:nvSpPr>
          <p:cNvPr id="119" name="Text 117"/>
          <p:cNvSpPr/>
          <p:nvPr/>
        </p:nvSpPr>
        <p:spPr>
          <a:xfrm>
            <a:off x="4658320" y="4123879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4722912" y="4199334"/>
            <a:ext cx="164316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use in physically hazardous situations</a:t>
            </a:r>
            <a:endParaRPr lang="en-US" sz="550" dirty="0"/>
          </a:p>
        </p:txBody>
      </p:sp>
      <p:sp>
        <p:nvSpPr>
          <p:cNvPr id="121" name="Text 119"/>
          <p:cNvSpPr/>
          <p:nvPr/>
        </p:nvSpPr>
        <p:spPr>
          <a:xfrm>
            <a:off x="4658320" y="4224635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4722912" y="4300091"/>
            <a:ext cx="174139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use despite physical/psychological harm</a:t>
            </a:r>
            <a:endParaRPr lang="en-US" sz="550" dirty="0"/>
          </a:p>
        </p:txBody>
      </p:sp>
      <p:sp>
        <p:nvSpPr>
          <p:cNvPr id="123" name="Text 121"/>
          <p:cNvSpPr/>
          <p:nvPr/>
        </p:nvSpPr>
        <p:spPr>
          <a:xfrm>
            <a:off x="4658320" y="4325392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 122"/>
          <p:cNvSpPr/>
          <p:nvPr/>
        </p:nvSpPr>
        <p:spPr>
          <a:xfrm>
            <a:off x="4722912" y="4400848"/>
            <a:ext cx="166461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(markedly increased amounts needed)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4658320" y="4426148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4722912" y="4501604"/>
            <a:ext cx="73833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syndrome</a:t>
            </a:r>
            <a:endParaRPr lang="en-US" sz="550" dirty="0"/>
          </a:p>
        </p:txBody>
      </p:sp>
      <p:sp>
        <p:nvSpPr>
          <p:cNvPr id="127" name="Text 125"/>
          <p:cNvSpPr/>
          <p:nvPr/>
        </p:nvSpPr>
        <p:spPr>
          <a:xfrm>
            <a:off x="4658320" y="4526905"/>
            <a:ext cx="35421" cy="35421"/>
          </a:xfrm>
          <a:prstGeom prst="ellips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4572000" y="4941094"/>
            <a:ext cx="4562475" cy="9525"/>
          </a:xfrm>
          <a:prstGeom prst="rect">
            <a:avLst/>
          </a:prstGeom>
          <a:solidFill>
            <a:srgbClr val="CBD5E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127"/>
          <p:cNvSpPr/>
          <p:nvPr/>
        </p:nvSpPr>
        <p:spPr>
          <a:xfrm>
            <a:off x="4658320" y="4993928"/>
            <a:ext cx="1373535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Mild=2–3 · Moderate=4–5 · Severe=6+ criteria</a:t>
            </a:r>
            <a:endParaRPr lang="en-US" sz="480" dirty="0"/>
          </a:p>
        </p:txBody>
      </p:sp>
      <p:sp>
        <p:nvSpPr>
          <p:cNvPr id="130" name="Text 128"/>
          <p:cNvSpPr/>
          <p:nvPr/>
        </p:nvSpPr>
        <p:spPr>
          <a:xfrm>
            <a:off x="8412212" y="4979789"/>
            <a:ext cx="635943" cy="131951"/>
          </a:xfrm>
          <a:prstGeom prst="roundRect">
            <a:avLst>
              <a:gd name="adj" fmla="val 32724"/>
            </a:avLst>
          </a:prstGeom>
          <a:solidFill>
            <a:srgbClr val="F1F5F9"/>
          </a:solidFill>
          <a:ln w="9525">
            <a:solidFill>
              <a:srgbClr val="92400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Disorders</a:t>
            </a:r>
            <a:endParaRPr lang="en-US" sz="450" dirty="0"/>
          </a:p>
        </p:txBody>
      </p:sp>
      <p:sp>
        <p:nvSpPr>
          <p:cNvPr id="131" name="Text 129"/>
          <p:cNvSpPr/>
          <p:nvPr/>
        </p:nvSpPr>
        <p:spPr>
          <a:xfrm>
            <a:off x="0" y="2722183"/>
            <a:ext cx="9144000" cy="9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130"/>
          <p:cNvSpPr/>
          <p:nvPr/>
        </p:nvSpPr>
        <p:spPr>
          <a:xfrm>
            <a:off x="4564380" y="314920"/>
            <a:ext cx="9525" cy="4828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Text 131"/>
          <p:cNvSpPr/>
          <p:nvPr/>
        </p:nvSpPr>
        <p:spPr>
          <a:xfrm>
            <a:off x="4500265" y="2658070"/>
            <a:ext cx="143470" cy="143470"/>
          </a:xfrm>
          <a:prstGeom prst="ellipse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632" y="2663437"/>
            <a:ext cx="132588" cy="132588"/>
          </a:xfrm>
          <a:prstGeom prst="rect">
            <a:avLst/>
          </a:prstGeom>
        </p:spPr>
      </p:pic>
      <p:sp>
        <p:nvSpPr>
          <p:cNvPr id="135" name="Text 132"/>
          <p:cNvSpPr/>
          <p:nvPr/>
        </p:nvSpPr>
        <p:spPr>
          <a:xfrm>
            <a:off x="4500265" y="307330"/>
            <a:ext cx="143470" cy="143470"/>
          </a:xfrm>
          <a:prstGeom prst="ellipse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632" y="312697"/>
            <a:ext cx="132588" cy="132588"/>
          </a:xfrm>
          <a:prstGeom prst="rect">
            <a:avLst/>
          </a:prstGeom>
        </p:spPr>
      </p:pic>
      <p:sp>
        <p:nvSpPr>
          <p:cNvPr id="137" name="Text 133"/>
          <p:cNvSpPr/>
          <p:nvPr/>
        </p:nvSpPr>
        <p:spPr>
          <a:xfrm>
            <a:off x="0" y="2658070"/>
            <a:ext cx="135880" cy="143470"/>
          </a:xfrm>
          <a:prstGeom prst="ellipse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663437"/>
            <a:ext cx="130365" cy="132588"/>
          </a:xfrm>
          <a:prstGeom prst="rect">
            <a:avLst/>
          </a:prstGeom>
        </p:spPr>
      </p:pic>
      <p:sp>
        <p:nvSpPr>
          <p:cNvPr id="139" name="Text 134"/>
          <p:cNvSpPr/>
          <p:nvPr/>
        </p:nvSpPr>
        <p:spPr>
          <a:xfrm>
            <a:off x="9008120" y="2658070"/>
            <a:ext cx="135880" cy="143470"/>
          </a:xfrm>
          <a:prstGeom prst="ellipse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3487" y="2663437"/>
            <a:ext cx="130513" cy="132588"/>
          </a:xfrm>
          <a:prstGeom prst="rect">
            <a:avLst/>
          </a:prstGeom>
        </p:spPr>
      </p:pic>
      <p:sp>
        <p:nvSpPr>
          <p:cNvPr id="141" name="Text 135"/>
          <p:cNvSpPr/>
          <p:nvPr/>
        </p:nvSpPr>
        <p:spPr>
          <a:xfrm>
            <a:off x="4500265" y="5008811"/>
            <a:ext cx="143470" cy="134689"/>
          </a:xfrm>
          <a:prstGeom prst="ellipse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632" y="5014177"/>
            <a:ext cx="132588" cy="129323"/>
          </a:xfrm>
          <a:prstGeom prst="rect">
            <a:avLst/>
          </a:prstGeom>
        </p:spPr>
      </p:pic>
      <p:sp>
        <p:nvSpPr>
          <p:cNvPr id="900" name="AvatarSlot_09"/>
          <p:cNvSpPr/>
          <p:nvPr/>
        </p:nvSpPr>
        <p:spPr>
          <a:xfrm>
            <a:off x="4019380" y="393426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1" name="AvatarSlot_10"/>
          <p:cNvSpPr/>
          <p:nvPr/>
        </p:nvSpPr>
        <p:spPr>
          <a:xfrm>
            <a:off x="8579000" y="393426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2" name="AvatarSlot_11"/>
          <p:cNvSpPr/>
          <p:nvPr/>
        </p:nvSpPr>
        <p:spPr>
          <a:xfrm>
            <a:off x="4019380" y="2798786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3" name="AvatarSlot_12"/>
          <p:cNvSpPr/>
          <p:nvPr/>
        </p:nvSpPr>
        <p:spPr>
          <a:xfrm>
            <a:off x="8579000" y="2798786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8910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227" y="98012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7903" y="84386"/>
            <a:ext cx="40145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CHARACTER CARDS — SHEET 4 | CUT ALONG DOTTED LINES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6895058" y="105370"/>
            <a:ext cx="17770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Guess Who · Therapist Edition</a:t>
            </a:r>
            <a:endParaRPr lang="en-US" sz="620" dirty="0"/>
          </a:p>
        </p:txBody>
      </p:sp>
      <p:sp>
        <p:nvSpPr>
          <p:cNvPr id="6" name="Text 3"/>
          <p:cNvSpPr/>
          <p:nvPr/>
        </p:nvSpPr>
        <p:spPr>
          <a:xfrm>
            <a:off x="8596908" y="91529"/>
            <a:ext cx="375642" cy="160273"/>
          </a:xfrm>
          <a:prstGeom prst="roundRect">
            <a:avLst>
              <a:gd name="adj" fmla="val 44374"/>
            </a:avLst>
          </a:prstGeom>
          <a:solidFill>
            <a:srgbClr val="5BA4C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0" y="328910"/>
            <a:ext cx="4572000" cy="24071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328910"/>
            <a:ext cx="4562475" cy="658416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BE1037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0310" y="393650"/>
            <a:ext cx="479804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13</a:t>
            </a:r>
            <a:endParaRPr lang="en-US" sz="510" dirty="0"/>
          </a:p>
        </p:txBody>
      </p:sp>
      <p:sp>
        <p:nvSpPr>
          <p:cNvPr id="10" name="Text 7"/>
          <p:cNvSpPr/>
          <p:nvPr/>
        </p:nvSpPr>
        <p:spPr>
          <a:xfrm>
            <a:off x="100310" y="504527"/>
            <a:ext cx="479804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Restricting Remi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100310" y="667048"/>
            <a:ext cx="4798040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 Nervosa, Restricting Type · F50.01</a:t>
            </a:r>
            <a:endParaRPr lang="en-US" sz="590" dirty="0"/>
          </a:p>
        </p:txBody>
      </p:sp>
      <p:sp>
        <p:nvSpPr>
          <p:cNvPr id="12" name="Text 9"/>
          <p:cNvSpPr/>
          <p:nvPr/>
        </p:nvSpPr>
        <p:spPr>
          <a:xfrm>
            <a:off x="100310" y="799654"/>
            <a:ext cx="1181546" cy="152087"/>
          </a:xfrm>
          <a:prstGeom prst="roundRect">
            <a:avLst>
              <a:gd name="adj" fmla="val 3757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&amp; EATING DISORDERS</a:t>
            </a:r>
            <a:endParaRPr lang="en-US" sz="480" dirty="0"/>
          </a:p>
        </p:txBody>
      </p:sp>
      <p:sp>
        <p:nvSpPr>
          <p:cNvPr id="13" name="Text 10"/>
          <p:cNvSpPr/>
          <p:nvPr/>
        </p:nvSpPr>
        <p:spPr>
          <a:xfrm>
            <a:off x="100310" y="1036737"/>
            <a:ext cx="479804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54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CRITERIA</a:t>
            </a:r>
            <a:endParaRPr lang="en-US" sz="450" dirty="0"/>
          </a:p>
        </p:txBody>
      </p:sp>
      <p:sp>
        <p:nvSpPr>
          <p:cNvPr id="14" name="Text 11"/>
          <p:cNvSpPr/>
          <p:nvPr/>
        </p:nvSpPr>
        <p:spPr>
          <a:xfrm>
            <a:off x="179050" y="1151632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of energy intake → significantly low body weight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179050" y="1261467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fear of gaining weight or of becoming fat</a:t>
            </a:r>
            <a:endParaRPr lang="en-US" sz="560" dirty="0"/>
          </a:p>
        </p:txBody>
      </p:sp>
      <p:sp>
        <p:nvSpPr>
          <p:cNvPr id="16" name="Text 13"/>
          <p:cNvSpPr/>
          <p:nvPr/>
        </p:nvSpPr>
        <p:spPr>
          <a:xfrm>
            <a:off x="179050" y="1371302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behavior that interferes with weight gain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179050" y="148113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in way body weight/shape is experienced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179050" y="159097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Undue influence of body weight/shape on self-evaluation</a:t>
            </a:r>
            <a:endParaRPr lang="en-US" sz="560" dirty="0"/>
          </a:p>
        </p:txBody>
      </p:sp>
      <p:sp>
        <p:nvSpPr>
          <p:cNvPr id="19" name="Text 16"/>
          <p:cNvSpPr/>
          <p:nvPr/>
        </p:nvSpPr>
        <p:spPr>
          <a:xfrm>
            <a:off x="179050" y="170080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recognition of seriousness of current low weight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179050" y="181064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Type: no binge/purge in last 3 months</a:t>
            </a:r>
            <a:endParaRPr lang="en-US" sz="560" dirty="0"/>
          </a:p>
        </p:txBody>
      </p:sp>
      <p:sp>
        <p:nvSpPr>
          <p:cNvPr id="21" name="Text 18"/>
          <p:cNvSpPr/>
          <p:nvPr/>
        </p:nvSpPr>
        <p:spPr>
          <a:xfrm>
            <a:off x="179050" y="192047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by BMI: Mild ≥17 · Moderate 16–16.99 · Severe 15–15.99 · Extreme &lt;15</a:t>
            </a:r>
            <a:endParaRPr lang="en-US" sz="560" dirty="0"/>
          </a:p>
        </p:txBody>
      </p:sp>
      <p:sp>
        <p:nvSpPr>
          <p:cNvPr id="22" name="Text 19"/>
          <p:cNvSpPr/>
          <p:nvPr/>
        </p:nvSpPr>
        <p:spPr>
          <a:xfrm>
            <a:off x="0" y="2554337"/>
            <a:ext cx="4562475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0310" y="2619673"/>
            <a:ext cx="43160" cy="43160"/>
          </a:xfrm>
          <a:prstGeom prst="ellipse">
            <a:avLst/>
          </a:prstGeom>
          <a:solidFill>
            <a:srgbClr val="E11D4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86630" y="2599283"/>
            <a:ext cx="2769825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63"/>
              </a:lnSpc>
              <a:buNone/>
            </a:pPr>
            <a:r>
              <a:rPr lang="en-US" sz="51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Type specifier: absence of binge-eating or purging behavior in past 3 months</a:t>
            </a:r>
            <a:endParaRPr lang="en-US" sz="510" dirty="0"/>
          </a:p>
        </p:txBody>
      </p:sp>
      <p:sp>
        <p:nvSpPr>
          <p:cNvPr id="25" name="Text 22"/>
          <p:cNvSpPr/>
          <p:nvPr/>
        </p:nvSpPr>
        <p:spPr>
          <a:xfrm>
            <a:off x="4572000" y="328910"/>
            <a:ext cx="4572000" cy="24071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581525" y="328910"/>
            <a:ext cx="4562475" cy="658416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52D4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681835" y="393650"/>
            <a:ext cx="479804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14</a:t>
            </a:r>
            <a:endParaRPr lang="en-US" sz="510" dirty="0"/>
          </a:p>
        </p:txBody>
      </p:sp>
      <p:sp>
        <p:nvSpPr>
          <p:cNvPr id="28" name="Text 25"/>
          <p:cNvSpPr/>
          <p:nvPr/>
        </p:nvSpPr>
        <p:spPr>
          <a:xfrm>
            <a:off x="4681835" y="504527"/>
            <a:ext cx="479804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Sleepless Sam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4681835" y="667048"/>
            <a:ext cx="4798040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Disorder · G47.00</a:t>
            </a:r>
            <a:endParaRPr lang="en-US" sz="590" dirty="0"/>
          </a:p>
        </p:txBody>
      </p:sp>
      <p:sp>
        <p:nvSpPr>
          <p:cNvPr id="30" name="Text 27"/>
          <p:cNvSpPr/>
          <p:nvPr/>
        </p:nvSpPr>
        <p:spPr>
          <a:xfrm>
            <a:off x="4681835" y="799654"/>
            <a:ext cx="984498" cy="152087"/>
          </a:xfrm>
          <a:prstGeom prst="roundRect">
            <a:avLst>
              <a:gd name="adj" fmla="val 3757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SLEEP-WAKE DISORDERS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4681835" y="1036737"/>
            <a:ext cx="479804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54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CRITERIA</a:t>
            </a:r>
            <a:endParaRPr lang="en-US" sz="450" dirty="0"/>
          </a:p>
        </p:txBody>
      </p:sp>
      <p:sp>
        <p:nvSpPr>
          <p:cNvPr id="32" name="Text 29"/>
          <p:cNvSpPr/>
          <p:nvPr/>
        </p:nvSpPr>
        <p:spPr>
          <a:xfrm>
            <a:off x="4760575" y="1151632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 complaint of dissatisfaction with sleep quality or quantity</a:t>
            </a:r>
            <a:endParaRPr lang="en-US" sz="560" dirty="0"/>
          </a:p>
        </p:txBody>
      </p:sp>
      <p:sp>
        <p:nvSpPr>
          <p:cNvPr id="33" name="Text 30"/>
          <p:cNvSpPr/>
          <p:nvPr/>
        </p:nvSpPr>
        <p:spPr>
          <a:xfrm>
            <a:off x="4760575" y="1261467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initiating sleep (children: without caregiver intervention)</a:t>
            </a:r>
            <a:endParaRPr lang="en-US" sz="560" dirty="0"/>
          </a:p>
        </p:txBody>
      </p:sp>
      <p:sp>
        <p:nvSpPr>
          <p:cNvPr id="34" name="Text 31"/>
          <p:cNvSpPr/>
          <p:nvPr/>
        </p:nvSpPr>
        <p:spPr>
          <a:xfrm>
            <a:off x="4760575" y="1371302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maintaining sleep — frequent awakenings or trouble returning to sleep</a:t>
            </a:r>
            <a:endParaRPr lang="en-US" sz="560" dirty="0"/>
          </a:p>
        </p:txBody>
      </p:sp>
      <p:sp>
        <p:nvSpPr>
          <p:cNvPr id="35" name="Text 32"/>
          <p:cNvSpPr/>
          <p:nvPr/>
        </p:nvSpPr>
        <p:spPr>
          <a:xfrm>
            <a:off x="4760575" y="148113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awakening with inability to return to sleep</a:t>
            </a:r>
            <a:endParaRPr lang="en-US" sz="560" dirty="0"/>
          </a:p>
        </p:txBody>
      </p:sp>
      <p:sp>
        <p:nvSpPr>
          <p:cNvPr id="36" name="Text 33"/>
          <p:cNvSpPr/>
          <p:nvPr/>
        </p:nvSpPr>
        <p:spPr>
          <a:xfrm>
            <a:off x="4760575" y="159097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clinically significant distress or functional impairment</a:t>
            </a:r>
            <a:endParaRPr lang="en-US" sz="560" dirty="0"/>
          </a:p>
        </p:txBody>
      </p:sp>
      <p:sp>
        <p:nvSpPr>
          <p:cNvPr id="37" name="Text 34"/>
          <p:cNvSpPr/>
          <p:nvPr/>
        </p:nvSpPr>
        <p:spPr>
          <a:xfrm>
            <a:off x="4760575" y="170080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difficulty ≥3 nights/week; present for ≥3 months</a:t>
            </a:r>
            <a:endParaRPr lang="en-US" sz="560" dirty="0"/>
          </a:p>
        </p:txBody>
      </p:sp>
      <p:sp>
        <p:nvSpPr>
          <p:cNvPr id="38" name="Text 35"/>
          <p:cNvSpPr/>
          <p:nvPr/>
        </p:nvSpPr>
        <p:spPr>
          <a:xfrm>
            <a:off x="4760575" y="181064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despite adequate opportunity and circumstances for sleep</a:t>
            </a:r>
            <a:endParaRPr lang="en-US" sz="560" dirty="0"/>
          </a:p>
        </p:txBody>
      </p:sp>
      <p:sp>
        <p:nvSpPr>
          <p:cNvPr id="39" name="Text 36"/>
          <p:cNvSpPr/>
          <p:nvPr/>
        </p:nvSpPr>
        <p:spPr>
          <a:xfrm>
            <a:off x="4760575" y="192047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better explained by another sleep-wake disorder or substance effects</a:t>
            </a:r>
            <a:endParaRPr lang="en-US" sz="560" dirty="0"/>
          </a:p>
        </p:txBody>
      </p:sp>
      <p:sp>
        <p:nvSpPr>
          <p:cNvPr id="40" name="Text 37"/>
          <p:cNvSpPr/>
          <p:nvPr/>
        </p:nvSpPr>
        <p:spPr>
          <a:xfrm>
            <a:off x="4581525" y="2554337"/>
            <a:ext cx="4562475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681835" y="2619673"/>
            <a:ext cx="43160" cy="43160"/>
          </a:xfrm>
          <a:prstGeom prst="ellipse">
            <a:avLst/>
          </a:prstGeom>
          <a:solidFill>
            <a:srgbClr val="1E3A5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68155" y="2599283"/>
            <a:ext cx="3039294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63"/>
              </a:lnSpc>
              <a:buNone/>
            </a:pPr>
            <a:r>
              <a:rPr lang="en-US" sz="51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criterion: ≥3 months with ≥3 nights/week of sleep difficulty despite adequate opportunity</a:t>
            </a:r>
            <a:endParaRPr lang="en-US" sz="510" dirty="0"/>
          </a:p>
        </p:txBody>
      </p:sp>
      <p:sp>
        <p:nvSpPr>
          <p:cNvPr id="43" name="Text 40"/>
          <p:cNvSpPr/>
          <p:nvPr/>
        </p:nvSpPr>
        <p:spPr>
          <a:xfrm>
            <a:off x="0" y="2736056"/>
            <a:ext cx="4572000" cy="24072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0" y="2745581"/>
            <a:ext cx="4562475" cy="658416"/>
          </a:xfrm>
          <a:prstGeom prst="rect">
            <a:avLst/>
          </a:prstGeom>
          <a:gradFill rotWithShape="1">
            <a:gsLst>
              <a:gs pos="0">
                <a:srgbClr val="475569"/>
              </a:gs>
              <a:gs pos="100000">
                <a:srgbClr val="33415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100310" y="2810321"/>
            <a:ext cx="479804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15</a:t>
            </a:r>
            <a:endParaRPr lang="en-US" sz="510" dirty="0"/>
          </a:p>
        </p:txBody>
      </p:sp>
      <p:sp>
        <p:nvSpPr>
          <p:cNvPr id="46" name="Text 43"/>
          <p:cNvSpPr/>
          <p:nvPr/>
        </p:nvSpPr>
        <p:spPr>
          <a:xfrm>
            <a:off x="100310" y="2921198"/>
            <a:ext cx="479804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Symptomatic Sasha</a:t>
            </a:r>
            <a:endParaRPr lang="en-US" sz="1010" dirty="0"/>
          </a:p>
        </p:txBody>
      </p:sp>
      <p:sp>
        <p:nvSpPr>
          <p:cNvPr id="47" name="Text 44"/>
          <p:cNvSpPr/>
          <p:nvPr/>
        </p:nvSpPr>
        <p:spPr>
          <a:xfrm>
            <a:off x="100310" y="3083719"/>
            <a:ext cx="4798040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Symptom Disorder · F45.1</a:t>
            </a:r>
            <a:endParaRPr lang="en-US" sz="590" dirty="0"/>
          </a:p>
        </p:txBody>
      </p:sp>
      <p:sp>
        <p:nvSpPr>
          <p:cNvPr id="48" name="Text 45"/>
          <p:cNvSpPr/>
          <p:nvPr/>
        </p:nvSpPr>
        <p:spPr>
          <a:xfrm>
            <a:off x="100310" y="3216325"/>
            <a:ext cx="1606451" cy="152087"/>
          </a:xfrm>
          <a:prstGeom prst="roundRect">
            <a:avLst>
              <a:gd name="adj" fmla="val 3757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SYMPTOM &amp; RELATED DISORDERS</a:t>
            </a:r>
            <a:endParaRPr lang="en-US" sz="480" dirty="0"/>
          </a:p>
        </p:txBody>
      </p:sp>
      <p:sp>
        <p:nvSpPr>
          <p:cNvPr id="49" name="Text 46"/>
          <p:cNvSpPr/>
          <p:nvPr/>
        </p:nvSpPr>
        <p:spPr>
          <a:xfrm>
            <a:off x="100310" y="3453408"/>
            <a:ext cx="479804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54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CRITERIA</a:t>
            </a:r>
            <a:endParaRPr lang="en-US" sz="450" dirty="0"/>
          </a:p>
        </p:txBody>
      </p:sp>
      <p:sp>
        <p:nvSpPr>
          <p:cNvPr id="50" name="Text 47"/>
          <p:cNvSpPr/>
          <p:nvPr/>
        </p:nvSpPr>
        <p:spPr>
          <a:xfrm>
            <a:off x="179050" y="356830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somatic symptoms that are distressing or disrupt daily life</a:t>
            </a:r>
            <a:endParaRPr lang="en-US" sz="560" dirty="0"/>
          </a:p>
        </p:txBody>
      </p:sp>
      <p:sp>
        <p:nvSpPr>
          <p:cNvPr id="51" name="Text 48"/>
          <p:cNvSpPr/>
          <p:nvPr/>
        </p:nvSpPr>
        <p:spPr>
          <a:xfrm>
            <a:off x="179050" y="367813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Disproportionate, persistent thoughts about seriousness of symptoms</a:t>
            </a:r>
            <a:endParaRPr lang="en-US" sz="560" dirty="0"/>
          </a:p>
        </p:txBody>
      </p:sp>
      <p:sp>
        <p:nvSpPr>
          <p:cNvPr id="52" name="Text 49"/>
          <p:cNvSpPr/>
          <p:nvPr/>
        </p:nvSpPr>
        <p:spPr>
          <a:xfrm>
            <a:off x="179050" y="378797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high level of anxiety about health or symptoms</a:t>
            </a:r>
            <a:endParaRPr lang="en-US" sz="560" dirty="0"/>
          </a:p>
        </p:txBody>
      </p:sp>
      <p:sp>
        <p:nvSpPr>
          <p:cNvPr id="53" name="Text 50"/>
          <p:cNvSpPr/>
          <p:nvPr/>
        </p:nvSpPr>
        <p:spPr>
          <a:xfrm>
            <a:off x="179050" y="3897809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time and energy devoted to symptoms or health concerns</a:t>
            </a:r>
            <a:endParaRPr lang="en-US" sz="560" dirty="0"/>
          </a:p>
        </p:txBody>
      </p:sp>
      <p:sp>
        <p:nvSpPr>
          <p:cNvPr id="54" name="Text 51"/>
          <p:cNvSpPr/>
          <p:nvPr/>
        </p:nvSpPr>
        <p:spPr>
          <a:xfrm>
            <a:off x="179050" y="4007644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somatic symptom need not be continuously present</a:t>
            </a:r>
            <a:endParaRPr lang="en-US" sz="560" dirty="0"/>
          </a:p>
        </p:txBody>
      </p:sp>
      <p:sp>
        <p:nvSpPr>
          <p:cNvPr id="55" name="Text 52"/>
          <p:cNvSpPr/>
          <p:nvPr/>
        </p:nvSpPr>
        <p:spPr>
          <a:xfrm>
            <a:off x="179050" y="4117479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≥6 months (specific symptoms may not be constant)</a:t>
            </a:r>
            <a:endParaRPr lang="en-US" sz="560" dirty="0"/>
          </a:p>
        </p:txBody>
      </p:sp>
      <p:sp>
        <p:nvSpPr>
          <p:cNvPr id="56" name="Text 53"/>
          <p:cNvSpPr/>
          <p:nvPr/>
        </p:nvSpPr>
        <p:spPr>
          <a:xfrm>
            <a:off x="179050" y="4227314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Specifiers: With predominant pain · Persistent · Severity (Mild / Moderate / Severe)</a:t>
            </a:r>
            <a:endParaRPr lang="en-US" sz="560" dirty="0"/>
          </a:p>
        </p:txBody>
      </p:sp>
      <p:sp>
        <p:nvSpPr>
          <p:cNvPr id="57" name="Text 54"/>
          <p:cNvSpPr/>
          <p:nvPr/>
        </p:nvSpPr>
        <p:spPr>
          <a:xfrm>
            <a:off x="0" y="4971157"/>
            <a:ext cx="4562475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100310" y="5036493"/>
            <a:ext cx="43160" cy="43160"/>
          </a:xfrm>
          <a:prstGeom prst="ellipse">
            <a:avLst/>
          </a:prstGeom>
          <a:solidFill>
            <a:srgbClr val="47556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186630" y="5016103"/>
            <a:ext cx="3673510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63"/>
              </a:lnSpc>
              <a:buNone/>
            </a:pPr>
            <a:r>
              <a:rPr lang="en-US" sz="51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feature: excessive thoughts/feelings/behaviors about symptoms, not symptom itself being medically unexplained</a:t>
            </a:r>
            <a:endParaRPr lang="en-US" sz="510" dirty="0"/>
          </a:p>
        </p:txBody>
      </p:sp>
      <p:sp>
        <p:nvSpPr>
          <p:cNvPr id="60" name="Text 57"/>
          <p:cNvSpPr/>
          <p:nvPr/>
        </p:nvSpPr>
        <p:spPr>
          <a:xfrm>
            <a:off x="4572000" y="2736056"/>
            <a:ext cx="4572000" cy="24072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4581525" y="2745581"/>
            <a:ext cx="4562475" cy="658416"/>
          </a:xfrm>
          <a:prstGeom prst="rect">
            <a:avLst/>
          </a:prstGeom>
          <a:gradFill rotWithShape="1">
            <a:gsLst>
              <a:gs pos="0">
                <a:srgbClr val="B7791F"/>
              </a:gs>
              <a:gs pos="100000">
                <a:srgbClr val="92601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4681835" y="2810321"/>
            <a:ext cx="479804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16</a:t>
            </a:r>
            <a:endParaRPr lang="en-US" sz="510" dirty="0"/>
          </a:p>
        </p:txBody>
      </p:sp>
      <p:sp>
        <p:nvSpPr>
          <p:cNvPr id="63" name="Text 60"/>
          <p:cNvSpPr/>
          <p:nvPr/>
        </p:nvSpPr>
        <p:spPr>
          <a:xfrm>
            <a:off x="4681835" y="2921198"/>
            <a:ext cx="479804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Grandiose Gia</a:t>
            </a:r>
            <a:endParaRPr lang="en-US" sz="1010" dirty="0"/>
          </a:p>
        </p:txBody>
      </p:sp>
      <p:sp>
        <p:nvSpPr>
          <p:cNvPr id="64" name="Text 61"/>
          <p:cNvSpPr/>
          <p:nvPr/>
        </p:nvSpPr>
        <p:spPr>
          <a:xfrm>
            <a:off x="4681835" y="3083719"/>
            <a:ext cx="4798040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Narcissistic Personality Disorder (NPD) · F60.81</a:t>
            </a:r>
            <a:endParaRPr lang="en-US" sz="590" dirty="0"/>
          </a:p>
        </p:txBody>
      </p:sp>
      <p:sp>
        <p:nvSpPr>
          <p:cNvPr id="65" name="Text 62"/>
          <p:cNvSpPr/>
          <p:nvPr/>
        </p:nvSpPr>
        <p:spPr>
          <a:xfrm>
            <a:off x="4681835" y="3216325"/>
            <a:ext cx="1018133" cy="152087"/>
          </a:xfrm>
          <a:prstGeom prst="roundRect">
            <a:avLst>
              <a:gd name="adj" fmla="val 3757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</a:t>
            </a:r>
            <a:endParaRPr lang="en-US" sz="480" dirty="0"/>
          </a:p>
        </p:txBody>
      </p:sp>
      <p:sp>
        <p:nvSpPr>
          <p:cNvPr id="66" name="Text 63"/>
          <p:cNvSpPr/>
          <p:nvPr/>
        </p:nvSpPr>
        <p:spPr>
          <a:xfrm>
            <a:off x="4681835" y="3453408"/>
            <a:ext cx="479804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54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CRITERIA (≥5 OF 9 REQUIRED)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4760575" y="356830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92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Grandiose sense of self-importance; exaggerates achievements/talents</a:t>
            </a:r>
            <a:endParaRPr lang="en-US" sz="560" dirty="0"/>
          </a:p>
        </p:txBody>
      </p:sp>
      <p:sp>
        <p:nvSpPr>
          <p:cNvPr id="68" name="Text 65"/>
          <p:cNvSpPr/>
          <p:nvPr/>
        </p:nvSpPr>
        <p:spPr>
          <a:xfrm>
            <a:off x="4760575" y="3678138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Preoccupied with fantasies of unlimited success, power, brilliance, or ideal love</a:t>
            </a:r>
            <a:endParaRPr lang="en-US" sz="560" dirty="0"/>
          </a:p>
        </p:txBody>
      </p:sp>
      <p:sp>
        <p:nvSpPr>
          <p:cNvPr id="69" name="Text 66"/>
          <p:cNvSpPr/>
          <p:nvPr/>
        </p:nvSpPr>
        <p:spPr>
          <a:xfrm>
            <a:off x="4760575" y="3787973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Believes they are "special" and should only associate with high-status people</a:t>
            </a:r>
            <a:endParaRPr lang="en-US" sz="560" dirty="0"/>
          </a:p>
        </p:txBody>
      </p:sp>
      <p:sp>
        <p:nvSpPr>
          <p:cNvPr id="70" name="Text 67"/>
          <p:cNvSpPr/>
          <p:nvPr/>
        </p:nvSpPr>
        <p:spPr>
          <a:xfrm>
            <a:off x="4760575" y="3897809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excessive admiration</a:t>
            </a:r>
            <a:endParaRPr lang="en-US" sz="560" dirty="0"/>
          </a:p>
        </p:txBody>
      </p:sp>
      <p:sp>
        <p:nvSpPr>
          <p:cNvPr id="71" name="Text 68"/>
          <p:cNvSpPr/>
          <p:nvPr/>
        </p:nvSpPr>
        <p:spPr>
          <a:xfrm>
            <a:off x="4760575" y="4007644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 entitlement — expects favorable treatment automatically</a:t>
            </a:r>
            <a:endParaRPr lang="en-US" sz="560" dirty="0"/>
          </a:p>
        </p:txBody>
      </p:sp>
      <p:sp>
        <p:nvSpPr>
          <p:cNvPr id="72" name="Text 69"/>
          <p:cNvSpPr/>
          <p:nvPr/>
        </p:nvSpPr>
        <p:spPr>
          <a:xfrm>
            <a:off x="4760575" y="4117479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Interpersonally exploitative to achieve own ends</a:t>
            </a:r>
            <a:endParaRPr lang="en-US" sz="560" dirty="0"/>
          </a:p>
        </p:txBody>
      </p:sp>
      <p:sp>
        <p:nvSpPr>
          <p:cNvPr id="73" name="Text 70"/>
          <p:cNvSpPr/>
          <p:nvPr/>
        </p:nvSpPr>
        <p:spPr>
          <a:xfrm>
            <a:off x="4760575" y="4227314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empathy — unable to recognize feelings or needs of others</a:t>
            </a:r>
            <a:endParaRPr lang="en-US" sz="560" dirty="0"/>
          </a:p>
        </p:txBody>
      </p:sp>
      <p:sp>
        <p:nvSpPr>
          <p:cNvPr id="74" name="Text 71"/>
          <p:cNvSpPr/>
          <p:nvPr/>
        </p:nvSpPr>
        <p:spPr>
          <a:xfrm>
            <a:off x="4760575" y="4337149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envious of others or believes others are envious of them</a:t>
            </a:r>
            <a:endParaRPr lang="en-US" sz="560" dirty="0"/>
          </a:p>
        </p:txBody>
      </p:sp>
      <p:sp>
        <p:nvSpPr>
          <p:cNvPr id="75" name="Text 72"/>
          <p:cNvSpPr/>
          <p:nvPr/>
        </p:nvSpPr>
        <p:spPr>
          <a:xfrm>
            <a:off x="4760575" y="4446984"/>
            <a:ext cx="4711426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arrogant, haughty behaviors or attitudes</a:t>
            </a:r>
            <a:endParaRPr lang="en-US" sz="560" dirty="0"/>
          </a:p>
        </p:txBody>
      </p:sp>
      <p:sp>
        <p:nvSpPr>
          <p:cNvPr id="76" name="Text 73"/>
          <p:cNvSpPr/>
          <p:nvPr/>
        </p:nvSpPr>
        <p:spPr>
          <a:xfrm>
            <a:off x="4581525" y="4971157"/>
            <a:ext cx="4562475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4681835" y="5036493"/>
            <a:ext cx="43160" cy="43160"/>
          </a:xfrm>
          <a:prstGeom prst="ellipse">
            <a:avLst/>
          </a:prstGeom>
          <a:solidFill>
            <a:srgbClr val="B7791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4768155" y="5016103"/>
            <a:ext cx="3296483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63"/>
              </a:lnSpc>
              <a:buNone/>
            </a:pPr>
            <a:r>
              <a:rPr lang="en-US" sz="51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Pervasive pattern; ≥5 of 9 criteria required · Personality Disorders cluster: Cluster B (dramatic/emotional)</a:t>
            </a:r>
            <a:endParaRPr lang="en-US" sz="510" dirty="0"/>
          </a:p>
        </p:txBody>
      </p:sp>
      <p:sp>
        <p:nvSpPr>
          <p:cNvPr id="79" name="Text 76"/>
          <p:cNvSpPr/>
          <p:nvPr/>
        </p:nvSpPr>
        <p:spPr>
          <a:xfrm>
            <a:off x="4564380" y="328910"/>
            <a:ext cx="9525" cy="4814441"/>
          </a:xfrm>
          <a:prstGeom prst="rect">
            <a:avLst/>
          </a:prstGeom>
          <a:solidFill>
            <a:srgbClr val="9EB4C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0" y="2728436"/>
            <a:ext cx="9144000" cy="9525"/>
          </a:xfrm>
          <a:prstGeom prst="rect">
            <a:avLst/>
          </a:prstGeom>
          <a:solidFill>
            <a:srgbClr val="9EB4C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4507557" y="2679353"/>
            <a:ext cx="128885" cy="113407"/>
          </a:xfrm>
          <a:prstGeom prst="ellipse">
            <a:avLst/>
          </a:prstGeom>
          <a:solidFill>
            <a:srgbClr val="E8EDF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706" y="2669762"/>
            <a:ext cx="132588" cy="132588"/>
          </a:xfrm>
          <a:prstGeom prst="rect">
            <a:avLst/>
          </a:prstGeom>
        </p:spPr>
      </p:pic>
      <p:sp>
        <p:nvSpPr>
          <p:cNvPr id="900" name="AvatarSlot_13"/>
          <p:cNvSpPr/>
          <p:nvPr/>
        </p:nvSpPr>
        <p:spPr>
          <a:xfrm>
            <a:off x="4019380" y="423118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1" name="AvatarSlot_14"/>
          <p:cNvSpPr/>
          <p:nvPr/>
        </p:nvSpPr>
        <p:spPr>
          <a:xfrm>
            <a:off x="8579000" y="423118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2" name="AvatarSlot_15"/>
          <p:cNvSpPr/>
          <p:nvPr/>
        </p:nvSpPr>
        <p:spPr>
          <a:xfrm>
            <a:off x="4019380" y="2839789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3" name="AvatarSlot_16"/>
          <p:cNvSpPr/>
          <p:nvPr/>
        </p:nvSpPr>
        <p:spPr>
          <a:xfrm>
            <a:off x="8579000" y="2839789"/>
            <a:ext cx="470000" cy="47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3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58812"/>
          </a:xfrm>
          <a:prstGeom prst="rect">
            <a:avLst/>
          </a:prstGeom>
          <a:solidFill>
            <a:srgbClr val="1B2A3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1450" y="49411"/>
            <a:ext cx="43047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CHARACTER CARDS — SHEET 5 OF 5  |  CUT ALONG DOTTED LINES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7455098" y="52685"/>
            <a:ext cx="1547801" cy="153442"/>
          </a:xfrm>
          <a:prstGeom prst="roundRect">
            <a:avLst>
              <a:gd name="adj" fmla="val 14070"/>
            </a:avLst>
          </a:prstGeom>
          <a:noFill/>
          <a:ln w="9525">
            <a:solidFill>
              <a:srgbClr val="5BA4CF"/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28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GUESS WHO · Cards 17–20</a:t>
            </a:r>
            <a:endParaRPr lang="en-US" sz="560" dirty="0"/>
          </a:p>
        </p:txBody>
      </p:sp>
      <p:sp>
        <p:nvSpPr>
          <p:cNvPr id="6" name="Text 4"/>
          <p:cNvSpPr/>
          <p:nvPr/>
        </p:nvSpPr>
        <p:spPr>
          <a:xfrm>
            <a:off x="0" y="258812"/>
            <a:ext cx="4572000" cy="24422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258812"/>
            <a:ext cx="9525" cy="2442270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62475" y="258812"/>
            <a:ext cx="9525" cy="2442270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258812"/>
            <a:ext cx="4572000" cy="19050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25" y="277862"/>
            <a:ext cx="4552950" cy="603796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6D28D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5845" y="335012"/>
            <a:ext cx="4818340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38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#17</a:t>
            </a:r>
            <a:endParaRPr lang="en-US" sz="480" dirty="0"/>
          </a:p>
        </p:txBody>
      </p:sp>
      <p:sp>
        <p:nvSpPr>
          <p:cNvPr id="12" name="Text 10"/>
          <p:cNvSpPr/>
          <p:nvPr/>
        </p:nvSpPr>
        <p:spPr>
          <a:xfrm>
            <a:off x="95845" y="440382"/>
            <a:ext cx="481834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Shifting Shane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95845" y="595759"/>
            <a:ext cx="4818340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9"/>
              </a:lnSpc>
              <a:buNone/>
            </a:pPr>
            <a:r>
              <a:rPr lang="en-US" sz="53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Dissociative Identity Disorder (DID) · F44.81</a:t>
            </a:r>
            <a:endParaRPr lang="en-US" sz="530" dirty="0"/>
          </a:p>
        </p:txBody>
      </p:sp>
      <p:sp>
        <p:nvSpPr>
          <p:cNvPr id="14" name="Text 12"/>
          <p:cNvSpPr/>
          <p:nvPr/>
        </p:nvSpPr>
        <p:spPr>
          <a:xfrm>
            <a:off x="95845" y="718542"/>
            <a:ext cx="721072" cy="123554"/>
          </a:xfrm>
          <a:prstGeom prst="roundRect">
            <a:avLst>
              <a:gd name="adj" fmla="val 17474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450" kern="0" spc="1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Dissociative Disorders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4348014" y="335012"/>
            <a:ext cx="143470" cy="157817"/>
          </a:xfrm>
          <a:prstGeom prst="ellipse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510" dirty="0"/>
          </a:p>
        </p:txBody>
      </p:sp>
      <p:sp>
        <p:nvSpPr>
          <p:cNvPr id="16" name="Text 14"/>
          <p:cNvSpPr/>
          <p:nvPr/>
        </p:nvSpPr>
        <p:spPr>
          <a:xfrm>
            <a:off x="88255" y="924818"/>
            <a:ext cx="4835039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kern="0" spc="42" dirty="0">
                <a:solidFill>
                  <a:srgbClr val="7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SYMPTOMS</a:t>
            </a:r>
            <a:endParaRPr lang="en-US" sz="420" dirty="0"/>
          </a:p>
        </p:txBody>
      </p:sp>
      <p:sp>
        <p:nvSpPr>
          <p:cNvPr id="17" name="Text 15"/>
          <p:cNvSpPr/>
          <p:nvPr/>
        </p:nvSpPr>
        <p:spPr>
          <a:xfrm>
            <a:off x="159097" y="1033909"/>
            <a:ext cx="1546250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of identity: ≥2 distinct personality states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88255" y="1055489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9097" y="1131540"/>
            <a:ext cx="2116619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gaps in recall of everyday events, personal info, or trauma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88255" y="1153120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9097" y="1229171"/>
            <a:ext cx="2146250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Markedly different self-states (may or may not be observed by others)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88255" y="1250752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9097" y="1326803"/>
            <a:ext cx="2023631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impairment in social, occupational, or other functioning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88255" y="1348383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9097" y="1424434"/>
            <a:ext cx="2422922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attributable to substances, medical condition, or cultural/religious practices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88255" y="1446014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9097" y="1522065"/>
            <a:ext cx="2070125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normal part of broadly accepted cultural or religious practices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88255" y="1543645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9097" y="1619696"/>
            <a:ext cx="1589469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children: not imaginary playmates or fantasy play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8255" y="1641277"/>
            <a:ext cx="35421" cy="35421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525" y="2662386"/>
            <a:ext cx="4552950" cy="29170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0" y="258812"/>
            <a:ext cx="4572000" cy="24422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0" y="258812"/>
            <a:ext cx="9525" cy="2442270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134475" y="258812"/>
            <a:ext cx="9525" cy="2442270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72000" y="258812"/>
            <a:ext cx="4572000" cy="19050"/>
          </a:xfrm>
          <a:prstGeom prst="rect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81525" y="277862"/>
            <a:ext cx="4552950" cy="603796"/>
          </a:xfrm>
          <a:prstGeom prst="rect">
            <a:avLst/>
          </a:prstGeom>
          <a:gradFill rotWithShape="1">
            <a:gsLst>
              <a:gs pos="0">
                <a:srgbClr val="166534"/>
              </a:gs>
              <a:gs pos="100000">
                <a:srgbClr val="15803D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67845" y="335012"/>
            <a:ext cx="4818340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38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#18</a:t>
            </a:r>
            <a:endParaRPr lang="en-US" sz="480" dirty="0"/>
          </a:p>
        </p:txBody>
      </p:sp>
      <p:sp>
        <p:nvSpPr>
          <p:cNvPr id="38" name="Text 36"/>
          <p:cNvSpPr/>
          <p:nvPr/>
        </p:nvSpPr>
        <p:spPr>
          <a:xfrm>
            <a:off x="4667845" y="440382"/>
            <a:ext cx="481834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Phobic Fern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4667845" y="595759"/>
            <a:ext cx="4818340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9"/>
              </a:lnSpc>
              <a:buNone/>
            </a:pPr>
            <a:r>
              <a:rPr lang="en-US" sz="53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Phobia, Animal Type · F40.218</a:t>
            </a:r>
            <a:endParaRPr lang="en-US" sz="530" dirty="0"/>
          </a:p>
        </p:txBody>
      </p:sp>
      <p:sp>
        <p:nvSpPr>
          <p:cNvPr id="40" name="Text 38"/>
          <p:cNvSpPr/>
          <p:nvPr/>
        </p:nvSpPr>
        <p:spPr>
          <a:xfrm>
            <a:off x="4667845" y="718542"/>
            <a:ext cx="592187" cy="123554"/>
          </a:xfrm>
          <a:prstGeom prst="roundRect">
            <a:avLst>
              <a:gd name="adj" fmla="val 17474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450" kern="0" spc="1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8920014" y="335012"/>
            <a:ext cx="143470" cy="157817"/>
          </a:xfrm>
          <a:prstGeom prst="ellipse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10" dirty="0"/>
          </a:p>
        </p:txBody>
      </p:sp>
      <p:sp>
        <p:nvSpPr>
          <p:cNvPr id="42" name="Text 40"/>
          <p:cNvSpPr/>
          <p:nvPr/>
        </p:nvSpPr>
        <p:spPr>
          <a:xfrm>
            <a:off x="4660255" y="924818"/>
            <a:ext cx="4835039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kern="0" spc="42" dirty="0">
                <a:solidFill>
                  <a:srgbClr val="7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SYMPTOMS</a:t>
            </a:r>
            <a:endParaRPr lang="en-US" sz="420" dirty="0"/>
          </a:p>
        </p:txBody>
      </p:sp>
      <p:sp>
        <p:nvSpPr>
          <p:cNvPr id="43" name="Text 41"/>
          <p:cNvSpPr/>
          <p:nvPr/>
        </p:nvSpPr>
        <p:spPr>
          <a:xfrm>
            <a:off x="4731097" y="1033909"/>
            <a:ext cx="1763822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fear or anxiety about a specific object or situation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4660255" y="1055489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31097" y="1131540"/>
            <a:ext cx="2050479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Phobic stimulus almost always provokes immediate fear or anxiety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660255" y="1153120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31097" y="1229171"/>
            <a:ext cx="2217628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Phobic object/situation actively avoided or endured with intense distress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4660255" y="1250752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31097" y="1326803"/>
            <a:ext cx="1721421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or anxiety out of proportion to actual danger posed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660255" y="1348383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31097" y="1424434"/>
            <a:ext cx="608186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≥6 months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4660255" y="1446014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31097" y="1522065"/>
            <a:ext cx="1868269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clinically significant distress or functional impairment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4660255" y="1543645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31097" y="1619696"/>
            <a:ext cx="2380030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type: Animal · Natural env · Blood-injection-injury · Situational · Other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4660255" y="1641277"/>
            <a:ext cx="35421" cy="35421"/>
          </a:xfrm>
          <a:prstGeom prst="ellips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581525" y="2662386"/>
            <a:ext cx="4552950" cy="29170"/>
          </a:xfrm>
          <a:prstGeom prst="rect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0" y="2701082"/>
            <a:ext cx="4572000" cy="24424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0" y="2701082"/>
            <a:ext cx="9525" cy="2442418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562475" y="2701082"/>
            <a:ext cx="9525" cy="2442418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0" y="2701082"/>
            <a:ext cx="4572000" cy="19050"/>
          </a:xfrm>
          <a:prstGeom prst="rect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525" y="2720132"/>
            <a:ext cx="4552950" cy="603796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100000">
                <a:srgbClr val="B91C1C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95845" y="2777282"/>
            <a:ext cx="4818340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38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#19</a:t>
            </a:r>
            <a:endParaRPr lang="en-US" sz="480" dirty="0"/>
          </a:p>
        </p:txBody>
      </p:sp>
      <p:sp>
        <p:nvSpPr>
          <p:cNvPr id="64" name="Text 62"/>
          <p:cNvSpPr/>
          <p:nvPr/>
        </p:nvSpPr>
        <p:spPr>
          <a:xfrm>
            <a:off x="95845" y="2882652"/>
            <a:ext cx="481834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Rule-Breaking Rory</a:t>
            </a:r>
            <a:endParaRPr lang="en-US" sz="960" dirty="0"/>
          </a:p>
        </p:txBody>
      </p:sp>
      <p:sp>
        <p:nvSpPr>
          <p:cNvPr id="65" name="Text 63"/>
          <p:cNvSpPr/>
          <p:nvPr/>
        </p:nvSpPr>
        <p:spPr>
          <a:xfrm>
            <a:off x="95845" y="3038029"/>
            <a:ext cx="4818340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9"/>
              </a:lnSpc>
              <a:buNone/>
            </a:pPr>
            <a:r>
              <a:rPr lang="en-US" sz="53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Disorder, Adolescent-Onset · F91.1</a:t>
            </a:r>
            <a:endParaRPr lang="en-US" sz="530" dirty="0"/>
          </a:p>
        </p:txBody>
      </p:sp>
      <p:sp>
        <p:nvSpPr>
          <p:cNvPr id="66" name="Text 64"/>
          <p:cNvSpPr/>
          <p:nvPr/>
        </p:nvSpPr>
        <p:spPr>
          <a:xfrm>
            <a:off x="95845" y="3160812"/>
            <a:ext cx="1445270" cy="123554"/>
          </a:xfrm>
          <a:prstGeom prst="roundRect">
            <a:avLst>
              <a:gd name="adj" fmla="val 17474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450" kern="0" spc="1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Disruptive, Impulse-Control &amp; Conduct Disorders</a:t>
            </a:r>
            <a:endParaRPr lang="en-US" sz="450" dirty="0"/>
          </a:p>
        </p:txBody>
      </p:sp>
      <p:sp>
        <p:nvSpPr>
          <p:cNvPr id="67" name="Text 65"/>
          <p:cNvSpPr/>
          <p:nvPr/>
        </p:nvSpPr>
        <p:spPr>
          <a:xfrm>
            <a:off x="4348014" y="2777282"/>
            <a:ext cx="143470" cy="157817"/>
          </a:xfrm>
          <a:prstGeom prst="ellipse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510" dirty="0"/>
          </a:p>
        </p:txBody>
      </p:sp>
      <p:sp>
        <p:nvSpPr>
          <p:cNvPr id="68" name="Text 66"/>
          <p:cNvSpPr/>
          <p:nvPr/>
        </p:nvSpPr>
        <p:spPr>
          <a:xfrm>
            <a:off x="88255" y="3367088"/>
            <a:ext cx="4835039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kern="0" spc="42" dirty="0">
                <a:solidFill>
                  <a:srgbClr val="7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SYMPTOMS</a:t>
            </a:r>
            <a:endParaRPr lang="en-US" sz="420" dirty="0"/>
          </a:p>
        </p:txBody>
      </p:sp>
      <p:sp>
        <p:nvSpPr>
          <p:cNvPr id="69" name="Text 67"/>
          <p:cNvSpPr/>
          <p:nvPr/>
        </p:nvSpPr>
        <p:spPr>
          <a:xfrm>
            <a:off x="159097" y="3476179"/>
            <a:ext cx="2155582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Aggression toward people and animals (bullying, threatening, fighting)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8255" y="3497759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59097" y="3573810"/>
            <a:ext cx="1775445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 of property (deliberate fire-setting, vandalism)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8255" y="3595390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59097" y="3671441"/>
            <a:ext cx="1387778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Deceitfulness or theft (lies, conning, stealing)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8255" y="3693021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59097" y="3769072"/>
            <a:ext cx="2061121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rule violations (staying out all night, truancy, running away)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8255" y="3790652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59097" y="3866704"/>
            <a:ext cx="1522512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criteria in past 12 months; ≥1 in past 6 months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88255" y="3888284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59097" y="3964335"/>
            <a:ext cx="1349142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Adolescent-Onset: no criteria before age 10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88255" y="3985915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59097" y="4061966"/>
            <a:ext cx="2417519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Specifier: Limited prosocial emotions — lack of remorse, callous/shallow affect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88255" y="4083546"/>
            <a:ext cx="35421" cy="35421"/>
          </a:xfrm>
          <a:prstGeom prst="ellips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9525" y="5104805"/>
            <a:ext cx="4552950" cy="29170"/>
          </a:xfrm>
          <a:prstGeom prst="rect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4572000" y="2701082"/>
            <a:ext cx="4572000" cy="24424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4572000" y="2701082"/>
            <a:ext cx="9525" cy="2442418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9134475" y="2701082"/>
            <a:ext cx="9525" cy="2442418"/>
          </a:xfrm>
          <a:prstGeom prst="rect">
            <a:avLst/>
          </a:prstGeom>
          <a:solidFill>
            <a:srgbClr val="DDE5E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4572000" y="2701082"/>
            <a:ext cx="4572000" cy="19050"/>
          </a:xfrm>
          <a:prstGeom prst="rect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581525" y="2720132"/>
            <a:ext cx="4552950" cy="603796"/>
          </a:xfrm>
          <a:prstGeom prst="rect">
            <a:avLst/>
          </a:prstGeom>
          <a:gradFill rotWithShape="1">
            <a:gsLst>
              <a:gs pos="0">
                <a:srgbClr val="4D7C6F"/>
              </a:gs>
              <a:gs pos="100000">
                <a:srgbClr val="3D6B5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667845" y="2777282"/>
            <a:ext cx="4818340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kern="0" spc="38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#20</a:t>
            </a:r>
            <a:endParaRPr lang="en-US" sz="480" dirty="0"/>
          </a:p>
        </p:txBody>
      </p:sp>
      <p:sp>
        <p:nvSpPr>
          <p:cNvPr id="90" name="Text 88"/>
          <p:cNvSpPr/>
          <p:nvPr/>
        </p:nvSpPr>
        <p:spPr>
          <a:xfrm>
            <a:off x="4667845" y="2882652"/>
            <a:ext cx="481834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6"/>
              </a:lnSpc>
              <a:buNone/>
            </a:pPr>
            <a:r>
              <a:rPr lang="en-US" sz="960" b="1" kern="0" spc="1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Stressed-Out Stella</a:t>
            </a:r>
            <a:endParaRPr lang="en-US" sz="960" dirty="0"/>
          </a:p>
        </p:txBody>
      </p:sp>
      <p:sp>
        <p:nvSpPr>
          <p:cNvPr id="91" name="Text 89"/>
          <p:cNvSpPr/>
          <p:nvPr/>
        </p:nvSpPr>
        <p:spPr>
          <a:xfrm>
            <a:off x="4667845" y="3038029"/>
            <a:ext cx="4818340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9"/>
              </a:lnSpc>
              <a:buNone/>
            </a:pPr>
            <a:r>
              <a:rPr lang="en-US" sz="53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Disorder, Mixed Anxiety &amp; Depressed Mood · F43.23</a:t>
            </a:r>
            <a:endParaRPr lang="en-US" sz="530" dirty="0"/>
          </a:p>
        </p:txBody>
      </p:sp>
      <p:sp>
        <p:nvSpPr>
          <p:cNvPr id="92" name="Text 90"/>
          <p:cNvSpPr/>
          <p:nvPr/>
        </p:nvSpPr>
        <p:spPr>
          <a:xfrm>
            <a:off x="4667845" y="3160812"/>
            <a:ext cx="1160562" cy="123554"/>
          </a:xfrm>
          <a:prstGeom prst="roundRect">
            <a:avLst>
              <a:gd name="adj" fmla="val 17474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450" kern="0" spc="1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 &amp; Stressor-Related Disorders</a:t>
            </a:r>
            <a:endParaRPr lang="en-US" sz="450" dirty="0"/>
          </a:p>
        </p:txBody>
      </p:sp>
      <p:sp>
        <p:nvSpPr>
          <p:cNvPr id="93" name="Text 91"/>
          <p:cNvSpPr/>
          <p:nvPr/>
        </p:nvSpPr>
        <p:spPr>
          <a:xfrm>
            <a:off x="8920014" y="2777282"/>
            <a:ext cx="143470" cy="157817"/>
          </a:xfrm>
          <a:prstGeom prst="ellipse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10" dirty="0"/>
          </a:p>
        </p:txBody>
      </p:sp>
      <p:sp>
        <p:nvSpPr>
          <p:cNvPr id="94" name="Text 92"/>
          <p:cNvSpPr/>
          <p:nvPr/>
        </p:nvSpPr>
        <p:spPr>
          <a:xfrm>
            <a:off x="4660255" y="3367088"/>
            <a:ext cx="4835039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kern="0" spc="42" dirty="0">
                <a:solidFill>
                  <a:srgbClr val="7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DIAGNOSTIC SYMPTOMS</a:t>
            </a:r>
            <a:endParaRPr lang="en-US" sz="420" dirty="0"/>
          </a:p>
        </p:txBody>
      </p:sp>
      <p:sp>
        <p:nvSpPr>
          <p:cNvPr id="95" name="Text 93"/>
          <p:cNvSpPr/>
          <p:nvPr/>
        </p:nvSpPr>
        <p:spPr>
          <a:xfrm>
            <a:off x="4731097" y="3476179"/>
            <a:ext cx="2228924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or behavioral symptoms in response to identifiable stressor(s)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4660255" y="3497759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4731097" y="3573810"/>
            <a:ext cx="1632034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develop within 3 months of stressor onset</a:t>
            </a:r>
            <a:endParaRPr lang="en-US" sz="500" dirty="0"/>
          </a:p>
        </p:txBody>
      </p:sp>
      <p:sp>
        <p:nvSpPr>
          <p:cNvPr id="98" name="Text 96"/>
          <p:cNvSpPr/>
          <p:nvPr/>
        </p:nvSpPr>
        <p:spPr>
          <a:xfrm>
            <a:off x="4660255" y="3595390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4731097" y="3671441"/>
            <a:ext cx="1976973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distress out of proportion to severity/intensity of stressor</a:t>
            </a:r>
            <a:endParaRPr lang="en-US" sz="500" dirty="0"/>
          </a:p>
        </p:txBody>
      </p:sp>
      <p:sp>
        <p:nvSpPr>
          <p:cNvPr id="100" name="Text 98"/>
          <p:cNvSpPr/>
          <p:nvPr/>
        </p:nvSpPr>
        <p:spPr>
          <a:xfrm>
            <a:off x="4660255" y="3693021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4731097" y="3769072"/>
            <a:ext cx="2163113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impairment in social, occupational, or academic functioning</a:t>
            </a:r>
            <a:endParaRPr lang="en-US" sz="500" dirty="0"/>
          </a:p>
        </p:txBody>
      </p:sp>
      <p:sp>
        <p:nvSpPr>
          <p:cNvPr id="102" name="Text 100"/>
          <p:cNvSpPr/>
          <p:nvPr/>
        </p:nvSpPr>
        <p:spPr>
          <a:xfrm>
            <a:off x="4660255" y="3790652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4731097" y="3866704"/>
            <a:ext cx="2314382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attributable to bereavement; does not meet criteria for another disorder</a:t>
            </a:r>
            <a:endParaRPr lang="en-US" sz="500" dirty="0"/>
          </a:p>
        </p:txBody>
      </p:sp>
      <p:sp>
        <p:nvSpPr>
          <p:cNvPr id="104" name="Text 102"/>
          <p:cNvSpPr/>
          <p:nvPr/>
        </p:nvSpPr>
        <p:spPr>
          <a:xfrm>
            <a:off x="4660255" y="3888284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4731097" y="3964335"/>
            <a:ext cx="2178501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resolve within 6 months after stressor/consequences cease</a:t>
            </a:r>
            <a:endParaRPr lang="en-US" sz="500" dirty="0"/>
          </a:p>
        </p:txBody>
      </p:sp>
      <p:sp>
        <p:nvSpPr>
          <p:cNvPr id="106" name="Text 104"/>
          <p:cNvSpPr/>
          <p:nvPr/>
        </p:nvSpPr>
        <p:spPr>
          <a:xfrm>
            <a:off x="4660255" y="3985915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4731097" y="4061966"/>
            <a:ext cx="2159020" cy="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"/>
              </a:lnSpc>
              <a:buNone/>
            </a:pPr>
            <a:r>
              <a:rPr lang="en-US" sz="500" dirty="0">
                <a:solidFill>
                  <a:srgbClr val="1F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Specifiers: Depressed mood · Anxiety · Mixed · Conduct · Unspecified</a:t>
            </a:r>
            <a:endParaRPr lang="en-US" sz="500" dirty="0"/>
          </a:p>
        </p:txBody>
      </p:sp>
      <p:sp>
        <p:nvSpPr>
          <p:cNvPr id="108" name="Text 106"/>
          <p:cNvSpPr/>
          <p:nvPr/>
        </p:nvSpPr>
        <p:spPr>
          <a:xfrm>
            <a:off x="4660255" y="4083546"/>
            <a:ext cx="35421" cy="35421"/>
          </a:xfrm>
          <a:prstGeom prst="ellips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4581525" y="5104805"/>
            <a:ext cx="4552950" cy="29170"/>
          </a:xfrm>
          <a:prstGeom prst="rect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0" y="2701082"/>
            <a:ext cx="9144000" cy="9525"/>
          </a:xfrm>
          <a:prstGeom prst="rect">
            <a:avLst/>
          </a:prstGeom>
          <a:solidFill>
            <a:srgbClr val="9AB0C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4572000" y="258812"/>
            <a:ext cx="9525" cy="4884688"/>
          </a:xfrm>
          <a:prstGeom prst="rect">
            <a:avLst/>
          </a:prstGeom>
          <a:solidFill>
            <a:srgbClr val="9AB0C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4419154" y="2638723"/>
            <a:ext cx="311807" cy="124718"/>
          </a:xfrm>
          <a:prstGeom prst="rect">
            <a:avLst/>
          </a:prstGeom>
          <a:solidFill>
            <a:srgbClr val="F0F3F7"/>
          </a:solidFill>
          <a:ln/>
        </p:spPr>
        <p:txBody>
          <a:bodyPr wrap="none" lIns="129510" tIns="13970" rIns="35560" bIns="13970" rtlCol="0" anchor="ctr"/>
          <a:lstStyle/>
          <a:p>
            <a:pPr marL="0" indent="0" algn="l">
              <a:buNone/>
            </a:pPr>
            <a:r>
              <a:rPr lang="en-US" sz="510" kern="0" spc="20" dirty="0">
                <a:solidFill>
                  <a:srgbClr val="7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510" dirty="0"/>
          </a:p>
        </p:txBody>
      </p:sp>
      <p:pic>
        <p:nvPicPr>
          <p:cNvPr id="1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651" y="2634713"/>
            <a:ext cx="132588" cy="132588"/>
          </a:xfrm>
          <a:prstGeom prst="rect">
            <a:avLst/>
          </a:prstGeom>
        </p:spPr>
      </p:pic>
      <p:sp>
        <p:nvSpPr>
          <p:cNvPr id="900" name="AvatarSlot_17"/>
          <p:cNvSpPr/>
          <p:nvPr/>
        </p:nvSpPr>
        <p:spPr>
          <a:xfrm>
            <a:off x="3858014" y="359760"/>
            <a:ext cx="440000" cy="44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1" name="AvatarSlot_18"/>
          <p:cNvSpPr/>
          <p:nvPr/>
        </p:nvSpPr>
        <p:spPr>
          <a:xfrm>
            <a:off x="8430014" y="359760"/>
            <a:ext cx="440000" cy="44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2" name="AvatarSlot_19"/>
          <p:cNvSpPr/>
          <p:nvPr/>
        </p:nvSpPr>
        <p:spPr>
          <a:xfrm>
            <a:off x="3858014" y="2802030"/>
            <a:ext cx="440000" cy="44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  <p:sp>
        <p:nvSpPr>
          <p:cNvPr id="903" name="AvatarSlot_20"/>
          <p:cNvSpPr/>
          <p:nvPr/>
        </p:nvSpPr>
        <p:spPr>
          <a:xfrm>
            <a:off x="8430014" y="2802030"/>
            <a:ext cx="440000" cy="440000"/>
          </a:xfrm>
          <a:prstGeom prst="ellipse">
            <a:avLst/>
          </a:prstGeom>
          <a:solidFill>
            <a:srgbClr val="EEF1F5"/>
          </a:solidFill>
          <a:ln w="19050" cap="rnd">
            <a:solidFill>
              <a:srgbClr val="9AA5B1"/>
            </a:solidFill>
            <a:prstDash val="dash"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00" b="1">
                <a:solidFill>
                  <a:srgbClr val="8A95A1"/>
                </a:solidFill>
              </a:rPr>
              <a:t>PHOTO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13891"/>
          </a:xfrm>
          <a:prstGeom prst="rect">
            <a:avLst/>
          </a:prstGeom>
          <a:gradFill rotWithShape="1">
            <a:gsLst>
              <a:gs pos="0">
                <a:srgbClr val="1A3A5C"/>
              </a:gs>
              <a:gs pos="40000">
                <a:srgbClr val="2563A0"/>
              </a:gs>
              <a:gs pos="100000">
                <a:srgbClr val="5BA4CF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94841"/>
            <a:ext cx="9144000" cy="19050"/>
          </a:xfrm>
          <a:prstGeom prst="rect">
            <a:avLst/>
          </a:prstGeom>
          <a:solidFill>
            <a:srgbClr val="5BA4C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620" y="122188"/>
            <a:ext cx="150465" cy="1504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5386" y="79325"/>
            <a:ext cx="4915585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GUESS WHO — PLAYER 1 GAME BOARD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252395" y="107305"/>
            <a:ext cx="941487" cy="198254"/>
          </a:xfrm>
          <a:prstGeom prst="roundRect">
            <a:avLst>
              <a:gd name="adj" fmla="val 14734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CHARACTERS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8280202" y="107305"/>
            <a:ext cx="663178" cy="198254"/>
          </a:xfrm>
          <a:prstGeom prst="roundRect">
            <a:avLst>
              <a:gd name="adj" fmla="val 14734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5 GRID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0" y="413891"/>
            <a:ext cx="9144000" cy="209848"/>
          </a:xfrm>
          <a:prstGeom prst="rect">
            <a:avLst/>
          </a:prstGeom>
          <a:solidFill>
            <a:srgbClr val="0F1E2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0" y="614214"/>
            <a:ext cx="9144000" cy="9525"/>
          </a:xfrm>
          <a:prstGeom prst="rect">
            <a:avLst/>
          </a:prstGeom>
          <a:solidFill>
            <a:srgbClr val="2A406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0620" y="456902"/>
            <a:ext cx="985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8356" y="449312"/>
            <a:ext cx="454314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down character tabs as you eliminate them. Circle your SECRET CHARACTER at game start.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8287494" y="456902"/>
            <a:ext cx="985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05230" y="454968"/>
            <a:ext cx="4819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100310" y="673150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9835" y="682675"/>
            <a:ext cx="2190155" cy="162184"/>
          </a:xfrm>
          <a:prstGeom prst="rect">
            <a:avLst/>
          </a:prstGeom>
          <a:solidFill>
            <a:srgbClr val="2563A0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DISORDERS</a:t>
            </a:r>
            <a:endParaRPr lang="en-US" sz="480" dirty="0"/>
          </a:p>
        </p:txBody>
      </p:sp>
      <p:sp>
        <p:nvSpPr>
          <p:cNvPr id="16" name="Text 13"/>
          <p:cNvSpPr/>
          <p:nvPr/>
        </p:nvSpPr>
        <p:spPr>
          <a:xfrm>
            <a:off x="109835" y="840135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804" y="869305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Melancholy Morgan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47804" y="980480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Depressive Disorder</a:t>
            </a:r>
            <a:endParaRPr lang="en-US" sz="510" dirty="0"/>
          </a:p>
        </p:txBody>
      </p:sp>
      <p:sp>
        <p:nvSpPr>
          <p:cNvPr id="19" name="Text 16"/>
          <p:cNvSpPr/>
          <p:nvPr/>
        </p:nvSpPr>
        <p:spPr>
          <a:xfrm>
            <a:off x="47804" y="1072158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MDD · F32.1</a:t>
            </a:r>
            <a:endParaRPr lang="en-US" sz="450" dirty="0"/>
          </a:p>
        </p:txBody>
      </p:sp>
      <p:sp>
        <p:nvSpPr>
          <p:cNvPr id="20" name="Text 17"/>
          <p:cNvSpPr/>
          <p:nvPr/>
        </p:nvSpPr>
        <p:spPr>
          <a:xfrm>
            <a:off x="152995" y="1316682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974824" y="1344513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5BA4CF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074986" y="1340048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23" name="Text 20"/>
          <p:cNvSpPr/>
          <p:nvPr/>
        </p:nvSpPr>
        <p:spPr>
          <a:xfrm>
            <a:off x="2344936" y="673150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354461" y="682675"/>
            <a:ext cx="2190304" cy="162184"/>
          </a:xfrm>
          <a:prstGeom prst="rect">
            <a:avLst/>
          </a:prstGeom>
          <a:solidFill>
            <a:srgbClr val="C89B20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2354461" y="840135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292422" y="869305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Worrywart Wren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2292422" y="980480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Anxiety Disorder</a:t>
            </a:r>
            <a:endParaRPr lang="en-US" sz="510" dirty="0"/>
          </a:p>
        </p:txBody>
      </p:sp>
      <p:sp>
        <p:nvSpPr>
          <p:cNvPr id="28" name="Text 25"/>
          <p:cNvSpPr/>
          <p:nvPr/>
        </p:nvSpPr>
        <p:spPr>
          <a:xfrm>
            <a:off x="2292422" y="1072158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GAD · F41.1</a:t>
            </a:r>
            <a:endParaRPr lang="en-US" sz="450" dirty="0"/>
          </a:p>
        </p:txBody>
      </p:sp>
      <p:sp>
        <p:nvSpPr>
          <p:cNvPr id="29" name="Text 26"/>
          <p:cNvSpPr/>
          <p:nvPr/>
        </p:nvSpPr>
        <p:spPr>
          <a:xfrm>
            <a:off x="2397621" y="1316682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219599" y="1344513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C89B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319760" y="1340048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32" name="Text 29"/>
          <p:cNvSpPr/>
          <p:nvPr/>
        </p:nvSpPr>
        <p:spPr>
          <a:xfrm>
            <a:off x="4589711" y="673150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599236" y="682675"/>
            <a:ext cx="2190155" cy="162184"/>
          </a:xfrm>
          <a:prstGeom prst="rect">
            <a:avLst/>
          </a:prstGeom>
          <a:solidFill>
            <a:srgbClr val="D97706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&amp; RELATED DISORDERS</a:t>
            </a:r>
            <a:endParaRPr lang="en-US" sz="480" dirty="0"/>
          </a:p>
        </p:txBody>
      </p:sp>
      <p:sp>
        <p:nvSpPr>
          <p:cNvPr id="34" name="Text 31"/>
          <p:cNvSpPr/>
          <p:nvPr/>
        </p:nvSpPr>
        <p:spPr>
          <a:xfrm>
            <a:off x="4599236" y="840135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537204" y="869305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 Max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4537204" y="980480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I, Manic Episode</a:t>
            </a:r>
            <a:endParaRPr lang="en-US" sz="510" dirty="0"/>
          </a:p>
        </p:txBody>
      </p:sp>
      <p:sp>
        <p:nvSpPr>
          <p:cNvPr id="37" name="Text 34"/>
          <p:cNvSpPr/>
          <p:nvPr/>
        </p:nvSpPr>
        <p:spPr>
          <a:xfrm>
            <a:off x="4537204" y="1072158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Bipolar I · F31.11</a:t>
            </a:r>
            <a:endParaRPr lang="en-US" sz="450" dirty="0"/>
          </a:p>
        </p:txBody>
      </p:sp>
      <p:sp>
        <p:nvSpPr>
          <p:cNvPr id="38" name="Text 35"/>
          <p:cNvSpPr/>
          <p:nvPr/>
        </p:nvSpPr>
        <p:spPr>
          <a:xfrm>
            <a:off x="4642396" y="1316682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464225" y="1344513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D97706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564386" y="1340048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41" name="Text 38"/>
          <p:cNvSpPr/>
          <p:nvPr/>
        </p:nvSpPr>
        <p:spPr>
          <a:xfrm>
            <a:off x="6834336" y="673150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843861" y="682675"/>
            <a:ext cx="2190304" cy="162184"/>
          </a:xfrm>
          <a:prstGeom prst="rect">
            <a:avLst/>
          </a:prstGeom>
          <a:solidFill>
            <a:srgbClr val="16A34A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 DISORDERS</a:t>
            </a:r>
            <a:endParaRPr lang="en-US" sz="480" dirty="0"/>
          </a:p>
        </p:txBody>
      </p:sp>
      <p:sp>
        <p:nvSpPr>
          <p:cNvPr id="43" name="Text 40"/>
          <p:cNvSpPr/>
          <p:nvPr/>
        </p:nvSpPr>
        <p:spPr>
          <a:xfrm>
            <a:off x="6843861" y="840135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781822" y="869305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Distracted Danny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6781822" y="980480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ADHD, Combined Presentation</a:t>
            </a:r>
            <a:endParaRPr lang="en-US" sz="510" dirty="0"/>
          </a:p>
        </p:txBody>
      </p:sp>
      <p:sp>
        <p:nvSpPr>
          <p:cNvPr id="46" name="Text 43"/>
          <p:cNvSpPr/>
          <p:nvPr/>
        </p:nvSpPr>
        <p:spPr>
          <a:xfrm>
            <a:off x="6781822" y="1072158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ADHD · F90.2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6887021" y="1316682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708999" y="1344513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16A34A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7809161" y="1340048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50" name="Text 47"/>
          <p:cNvSpPr/>
          <p:nvPr/>
        </p:nvSpPr>
        <p:spPr>
          <a:xfrm>
            <a:off x="100310" y="1500336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09835" y="1509861"/>
            <a:ext cx="2190155" cy="162184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&amp; RELATED DISORDERS</a:t>
            </a:r>
            <a:endParaRPr lang="en-US" sz="480" dirty="0"/>
          </a:p>
        </p:txBody>
      </p:sp>
      <p:sp>
        <p:nvSpPr>
          <p:cNvPr id="52" name="Text 49"/>
          <p:cNvSpPr/>
          <p:nvPr/>
        </p:nvSpPr>
        <p:spPr>
          <a:xfrm>
            <a:off x="109835" y="1667321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7804" y="1696492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Compulsive Carmen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47804" y="1807666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Obsessive-Compulsive Disorder</a:t>
            </a:r>
            <a:endParaRPr lang="en-US" sz="510" dirty="0"/>
          </a:p>
        </p:txBody>
      </p:sp>
      <p:sp>
        <p:nvSpPr>
          <p:cNvPr id="55" name="Text 52"/>
          <p:cNvSpPr/>
          <p:nvPr/>
        </p:nvSpPr>
        <p:spPr>
          <a:xfrm>
            <a:off x="47804" y="1899345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OCD · F42.2</a:t>
            </a:r>
            <a:endParaRPr lang="en-US" sz="450" dirty="0"/>
          </a:p>
        </p:txBody>
      </p:sp>
      <p:sp>
        <p:nvSpPr>
          <p:cNvPr id="56" name="Text 53"/>
          <p:cNvSpPr/>
          <p:nvPr/>
        </p:nvSpPr>
        <p:spPr>
          <a:xfrm>
            <a:off x="152995" y="2143869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974824" y="2171700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7C3AED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1074986" y="2167235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59" name="Text 56"/>
          <p:cNvSpPr/>
          <p:nvPr/>
        </p:nvSpPr>
        <p:spPr>
          <a:xfrm>
            <a:off x="2344936" y="1500336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2354461" y="1509861"/>
            <a:ext cx="2190304" cy="162184"/>
          </a:xfrm>
          <a:prstGeom prst="rect">
            <a:avLst/>
          </a:prstGeom>
          <a:solidFill>
            <a:srgbClr val="65743A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&amp; STRESSOR-RELATED</a:t>
            </a:r>
            <a:endParaRPr lang="en-US" sz="480" dirty="0"/>
          </a:p>
        </p:txBody>
      </p:sp>
      <p:sp>
        <p:nvSpPr>
          <p:cNvPr id="61" name="Text 58"/>
          <p:cNvSpPr/>
          <p:nvPr/>
        </p:nvSpPr>
        <p:spPr>
          <a:xfrm>
            <a:off x="2354461" y="1667321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292422" y="1696492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Trevor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2292422" y="1807666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Post-Traumatic Stress Disorder</a:t>
            </a:r>
            <a:endParaRPr lang="en-US" sz="510" dirty="0"/>
          </a:p>
        </p:txBody>
      </p:sp>
      <p:sp>
        <p:nvSpPr>
          <p:cNvPr id="64" name="Text 61"/>
          <p:cNvSpPr/>
          <p:nvPr/>
        </p:nvSpPr>
        <p:spPr>
          <a:xfrm>
            <a:off x="2292422" y="1899345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PTSD · F43.10</a:t>
            </a:r>
            <a:endParaRPr lang="en-US" sz="450" dirty="0"/>
          </a:p>
        </p:txBody>
      </p:sp>
      <p:sp>
        <p:nvSpPr>
          <p:cNvPr id="65" name="Text 62"/>
          <p:cNvSpPr/>
          <p:nvPr/>
        </p:nvSpPr>
        <p:spPr>
          <a:xfrm>
            <a:off x="2397621" y="2143869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219599" y="2171700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65743A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3319760" y="2167235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68" name="Text 65"/>
          <p:cNvSpPr/>
          <p:nvPr/>
        </p:nvSpPr>
        <p:spPr>
          <a:xfrm>
            <a:off x="4589711" y="1500336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4599236" y="1509861"/>
            <a:ext cx="2190155" cy="162184"/>
          </a:xfrm>
          <a:prstGeom prst="rect">
            <a:avLst/>
          </a:prstGeom>
          <a:solidFill>
            <a:srgbClr val="4338CA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 SPECTRUM</a:t>
            </a:r>
            <a:endParaRPr lang="en-US" sz="480" dirty="0"/>
          </a:p>
        </p:txBody>
      </p:sp>
      <p:sp>
        <p:nvSpPr>
          <p:cNvPr id="70" name="Text 67"/>
          <p:cNvSpPr/>
          <p:nvPr/>
        </p:nvSpPr>
        <p:spPr>
          <a:xfrm>
            <a:off x="4599236" y="1667321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4537204" y="1696492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Psychotic Petra</a:t>
            </a:r>
            <a:endParaRPr lang="en-US" sz="680" dirty="0"/>
          </a:p>
        </p:txBody>
      </p:sp>
      <p:sp>
        <p:nvSpPr>
          <p:cNvPr id="72" name="Text 69"/>
          <p:cNvSpPr/>
          <p:nvPr/>
        </p:nvSpPr>
        <p:spPr>
          <a:xfrm>
            <a:off x="4537204" y="1807666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</a:t>
            </a:r>
            <a:endParaRPr lang="en-US" sz="510" dirty="0"/>
          </a:p>
        </p:txBody>
      </p:sp>
      <p:sp>
        <p:nvSpPr>
          <p:cNvPr id="73" name="Text 70"/>
          <p:cNvSpPr/>
          <p:nvPr/>
        </p:nvSpPr>
        <p:spPr>
          <a:xfrm>
            <a:off x="4537204" y="1899345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SCZ · F20.9</a:t>
            </a:r>
            <a:endParaRPr lang="en-US" sz="450" dirty="0"/>
          </a:p>
        </p:txBody>
      </p:sp>
      <p:sp>
        <p:nvSpPr>
          <p:cNvPr id="74" name="Text 71"/>
          <p:cNvSpPr/>
          <p:nvPr/>
        </p:nvSpPr>
        <p:spPr>
          <a:xfrm>
            <a:off x="4642396" y="2143869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5464225" y="2171700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4338CA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5564386" y="2167235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77" name="Text 74"/>
          <p:cNvSpPr/>
          <p:nvPr/>
        </p:nvSpPr>
        <p:spPr>
          <a:xfrm>
            <a:off x="6834336" y="1500336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6843861" y="1509861"/>
            <a:ext cx="2190304" cy="162184"/>
          </a:xfrm>
          <a:prstGeom prst="rect">
            <a:avLst/>
          </a:prstGeom>
          <a:solidFill>
            <a:srgbClr val="BE123C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</a:t>
            </a:r>
            <a:endParaRPr lang="en-US" sz="480" dirty="0"/>
          </a:p>
        </p:txBody>
      </p:sp>
      <p:sp>
        <p:nvSpPr>
          <p:cNvPr id="79" name="Text 76"/>
          <p:cNvSpPr/>
          <p:nvPr/>
        </p:nvSpPr>
        <p:spPr>
          <a:xfrm>
            <a:off x="6843861" y="1667321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6781822" y="1696492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Uma</a:t>
            </a:r>
            <a:endParaRPr lang="en-US" sz="680" dirty="0"/>
          </a:p>
        </p:txBody>
      </p:sp>
      <p:sp>
        <p:nvSpPr>
          <p:cNvPr id="81" name="Text 78"/>
          <p:cNvSpPr/>
          <p:nvPr/>
        </p:nvSpPr>
        <p:spPr>
          <a:xfrm>
            <a:off x="6781822" y="1807666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Personality Disorder</a:t>
            </a:r>
            <a:endParaRPr lang="en-US" sz="510" dirty="0"/>
          </a:p>
        </p:txBody>
      </p:sp>
      <p:sp>
        <p:nvSpPr>
          <p:cNvPr id="82" name="Text 79"/>
          <p:cNvSpPr/>
          <p:nvPr/>
        </p:nvSpPr>
        <p:spPr>
          <a:xfrm>
            <a:off x="6781822" y="1899345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BPD · F60.3</a:t>
            </a:r>
            <a:endParaRPr lang="en-US" sz="450" dirty="0"/>
          </a:p>
        </p:txBody>
      </p:sp>
      <p:sp>
        <p:nvSpPr>
          <p:cNvPr id="83" name="Text 80"/>
          <p:cNvSpPr/>
          <p:nvPr/>
        </p:nvSpPr>
        <p:spPr>
          <a:xfrm>
            <a:off x="6887021" y="2143869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7708999" y="2171700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BE123C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2"/>
          <p:cNvSpPr/>
          <p:nvPr/>
        </p:nvSpPr>
        <p:spPr>
          <a:xfrm>
            <a:off x="7809161" y="2167235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86" name="Text 83"/>
          <p:cNvSpPr/>
          <p:nvPr/>
        </p:nvSpPr>
        <p:spPr>
          <a:xfrm>
            <a:off x="100310" y="2327523"/>
            <a:ext cx="2209205" cy="791914"/>
          </a:xfrm>
          <a:prstGeom prst="roundRect">
            <a:avLst>
              <a:gd name="adj" fmla="val 4490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109835" y="2337048"/>
            <a:ext cx="2190155" cy="162184"/>
          </a:xfrm>
          <a:prstGeom prst="rect">
            <a:avLst/>
          </a:prstGeom>
          <a:solidFill>
            <a:srgbClr val="0284C7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88" name="Text 85"/>
          <p:cNvSpPr/>
          <p:nvPr/>
        </p:nvSpPr>
        <p:spPr>
          <a:xfrm>
            <a:off x="109835" y="2494508"/>
            <a:ext cx="2190155" cy="615404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6"/>
          <p:cNvSpPr/>
          <p:nvPr/>
        </p:nvSpPr>
        <p:spPr>
          <a:xfrm>
            <a:off x="47804" y="2523679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Panicking Pablo</a:t>
            </a:r>
            <a:endParaRPr lang="en-US" sz="680" dirty="0"/>
          </a:p>
        </p:txBody>
      </p:sp>
      <p:sp>
        <p:nvSpPr>
          <p:cNvPr id="90" name="Text 87"/>
          <p:cNvSpPr/>
          <p:nvPr/>
        </p:nvSpPr>
        <p:spPr>
          <a:xfrm>
            <a:off x="47804" y="2634853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Disorder</a:t>
            </a:r>
            <a:endParaRPr lang="en-US" sz="510" dirty="0"/>
          </a:p>
        </p:txBody>
      </p:sp>
      <p:sp>
        <p:nvSpPr>
          <p:cNvPr id="91" name="Text 88"/>
          <p:cNvSpPr/>
          <p:nvPr/>
        </p:nvSpPr>
        <p:spPr>
          <a:xfrm>
            <a:off x="47804" y="2726531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 · F41.0</a:t>
            </a:r>
            <a:endParaRPr lang="en-US" sz="450" dirty="0"/>
          </a:p>
        </p:txBody>
      </p:sp>
      <p:sp>
        <p:nvSpPr>
          <p:cNvPr id="92" name="Text 89"/>
          <p:cNvSpPr/>
          <p:nvPr/>
        </p:nvSpPr>
        <p:spPr>
          <a:xfrm>
            <a:off x="152995" y="2971205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974824" y="2999036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0284C7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1074986" y="2994571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95" name="Text 92"/>
          <p:cNvSpPr/>
          <p:nvPr/>
        </p:nvSpPr>
        <p:spPr>
          <a:xfrm>
            <a:off x="2344936" y="2327523"/>
            <a:ext cx="2209354" cy="791914"/>
          </a:xfrm>
          <a:prstGeom prst="roundRect">
            <a:avLst>
              <a:gd name="adj" fmla="val 4490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2354461" y="2337048"/>
            <a:ext cx="2190304" cy="162184"/>
          </a:xfrm>
          <a:prstGeom prst="rect">
            <a:avLst/>
          </a:prstGeom>
          <a:solidFill>
            <a:srgbClr val="0D9488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97" name="Text 94"/>
          <p:cNvSpPr/>
          <p:nvPr/>
        </p:nvSpPr>
        <p:spPr>
          <a:xfrm>
            <a:off x="2354461" y="2494508"/>
            <a:ext cx="2190304" cy="615404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2292422" y="2523679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 Sienna</a:t>
            </a:r>
            <a:endParaRPr lang="en-US" sz="680" dirty="0"/>
          </a:p>
        </p:txBody>
      </p:sp>
      <p:sp>
        <p:nvSpPr>
          <p:cNvPr id="99" name="Text 96"/>
          <p:cNvSpPr/>
          <p:nvPr/>
        </p:nvSpPr>
        <p:spPr>
          <a:xfrm>
            <a:off x="2292422" y="2634853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Disorder</a:t>
            </a:r>
            <a:endParaRPr lang="en-US" sz="510" dirty="0"/>
          </a:p>
        </p:txBody>
      </p:sp>
      <p:sp>
        <p:nvSpPr>
          <p:cNvPr id="100" name="Text 97"/>
          <p:cNvSpPr/>
          <p:nvPr/>
        </p:nvSpPr>
        <p:spPr>
          <a:xfrm>
            <a:off x="2292422" y="2726531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 · F40.10</a:t>
            </a:r>
            <a:endParaRPr lang="en-US" sz="450" dirty="0"/>
          </a:p>
        </p:txBody>
      </p:sp>
      <p:sp>
        <p:nvSpPr>
          <p:cNvPr id="101" name="Text 98"/>
          <p:cNvSpPr/>
          <p:nvPr/>
        </p:nvSpPr>
        <p:spPr>
          <a:xfrm>
            <a:off x="2397621" y="2971205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9"/>
          <p:cNvSpPr/>
          <p:nvPr/>
        </p:nvSpPr>
        <p:spPr>
          <a:xfrm>
            <a:off x="3219599" y="2999036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0D948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0"/>
          <p:cNvSpPr/>
          <p:nvPr/>
        </p:nvSpPr>
        <p:spPr>
          <a:xfrm>
            <a:off x="3319760" y="2994571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04" name="Text 101"/>
          <p:cNvSpPr/>
          <p:nvPr/>
        </p:nvSpPr>
        <p:spPr>
          <a:xfrm>
            <a:off x="4589711" y="2327523"/>
            <a:ext cx="2209205" cy="791914"/>
          </a:xfrm>
          <a:prstGeom prst="roundRect">
            <a:avLst>
              <a:gd name="adj" fmla="val 4490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4599236" y="2337048"/>
            <a:ext cx="2190155" cy="162184"/>
          </a:xfrm>
          <a:prstGeom prst="rect">
            <a:avLst/>
          </a:prstGeom>
          <a:solidFill>
            <a:srgbClr val="B45309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 DISORDERS</a:t>
            </a:r>
            <a:endParaRPr lang="en-US" sz="480" dirty="0"/>
          </a:p>
        </p:txBody>
      </p:sp>
      <p:sp>
        <p:nvSpPr>
          <p:cNvPr id="106" name="Text 103"/>
          <p:cNvSpPr/>
          <p:nvPr/>
        </p:nvSpPr>
        <p:spPr>
          <a:xfrm>
            <a:off x="4599236" y="2494508"/>
            <a:ext cx="2190155" cy="615404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4537204" y="2523679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Robin</a:t>
            </a:r>
            <a:endParaRPr lang="en-US" sz="680" dirty="0"/>
          </a:p>
        </p:txBody>
      </p:sp>
      <p:sp>
        <p:nvSpPr>
          <p:cNvPr id="108" name="Text 105"/>
          <p:cNvSpPr/>
          <p:nvPr/>
        </p:nvSpPr>
        <p:spPr>
          <a:xfrm>
            <a:off x="4537204" y="2634853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Spectrum Disorder</a:t>
            </a:r>
            <a:endParaRPr lang="en-US" sz="510" dirty="0"/>
          </a:p>
        </p:txBody>
      </p:sp>
      <p:sp>
        <p:nvSpPr>
          <p:cNvPr id="109" name="Text 106"/>
          <p:cNvSpPr/>
          <p:nvPr/>
        </p:nvSpPr>
        <p:spPr>
          <a:xfrm>
            <a:off x="4537204" y="2726531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ASD · F84.0</a:t>
            </a:r>
            <a:endParaRPr lang="en-US" sz="450" dirty="0"/>
          </a:p>
        </p:txBody>
      </p:sp>
      <p:sp>
        <p:nvSpPr>
          <p:cNvPr id="110" name="Text 107"/>
          <p:cNvSpPr/>
          <p:nvPr/>
        </p:nvSpPr>
        <p:spPr>
          <a:xfrm>
            <a:off x="4642396" y="2971205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8"/>
          <p:cNvSpPr/>
          <p:nvPr/>
        </p:nvSpPr>
        <p:spPr>
          <a:xfrm>
            <a:off x="5464225" y="2999036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B45309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5564386" y="2994571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13" name="Text 110"/>
          <p:cNvSpPr/>
          <p:nvPr/>
        </p:nvSpPr>
        <p:spPr>
          <a:xfrm>
            <a:off x="6834336" y="2327523"/>
            <a:ext cx="2209354" cy="791914"/>
          </a:xfrm>
          <a:prstGeom prst="roundRect">
            <a:avLst>
              <a:gd name="adj" fmla="val 4490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11"/>
          <p:cNvSpPr/>
          <p:nvPr/>
        </p:nvSpPr>
        <p:spPr>
          <a:xfrm>
            <a:off x="6843861" y="2337048"/>
            <a:ext cx="2190304" cy="162184"/>
          </a:xfrm>
          <a:prstGeom prst="rect">
            <a:avLst/>
          </a:prstGeom>
          <a:solidFill>
            <a:srgbClr val="92400E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SUBSTANCE-RELATED DISORDERS</a:t>
            </a:r>
            <a:endParaRPr lang="en-US" sz="480" dirty="0"/>
          </a:p>
        </p:txBody>
      </p:sp>
      <p:sp>
        <p:nvSpPr>
          <p:cNvPr id="115" name="Text 112"/>
          <p:cNvSpPr/>
          <p:nvPr/>
        </p:nvSpPr>
        <p:spPr>
          <a:xfrm>
            <a:off x="6843861" y="2494508"/>
            <a:ext cx="2190304" cy="615404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3"/>
          <p:cNvSpPr/>
          <p:nvPr/>
        </p:nvSpPr>
        <p:spPr>
          <a:xfrm>
            <a:off x="6781822" y="2523679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Boozy Brent</a:t>
            </a:r>
            <a:endParaRPr lang="en-US" sz="680" dirty="0"/>
          </a:p>
        </p:txBody>
      </p:sp>
      <p:sp>
        <p:nvSpPr>
          <p:cNvPr id="117" name="Text 114"/>
          <p:cNvSpPr/>
          <p:nvPr/>
        </p:nvSpPr>
        <p:spPr>
          <a:xfrm>
            <a:off x="6781822" y="2634853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Use Disorder, Mod.</a:t>
            </a:r>
            <a:endParaRPr lang="en-US" sz="510" dirty="0"/>
          </a:p>
        </p:txBody>
      </p:sp>
      <p:sp>
        <p:nvSpPr>
          <p:cNvPr id="118" name="Text 115"/>
          <p:cNvSpPr/>
          <p:nvPr/>
        </p:nvSpPr>
        <p:spPr>
          <a:xfrm>
            <a:off x="6781822" y="2726531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 · F10.20</a:t>
            </a:r>
            <a:endParaRPr lang="en-US" sz="450" dirty="0"/>
          </a:p>
        </p:txBody>
      </p:sp>
      <p:sp>
        <p:nvSpPr>
          <p:cNvPr id="119" name="Text 116"/>
          <p:cNvSpPr/>
          <p:nvPr/>
        </p:nvSpPr>
        <p:spPr>
          <a:xfrm>
            <a:off x="6887021" y="2971205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117"/>
          <p:cNvSpPr/>
          <p:nvPr/>
        </p:nvSpPr>
        <p:spPr>
          <a:xfrm>
            <a:off x="7708999" y="2999036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92400E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18"/>
          <p:cNvSpPr/>
          <p:nvPr/>
        </p:nvSpPr>
        <p:spPr>
          <a:xfrm>
            <a:off x="7809161" y="2994571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22" name="Text 119"/>
          <p:cNvSpPr/>
          <p:nvPr/>
        </p:nvSpPr>
        <p:spPr>
          <a:xfrm>
            <a:off x="100310" y="3154859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20"/>
          <p:cNvSpPr/>
          <p:nvPr/>
        </p:nvSpPr>
        <p:spPr>
          <a:xfrm>
            <a:off x="109835" y="3164384"/>
            <a:ext cx="2190155" cy="162184"/>
          </a:xfrm>
          <a:prstGeom prst="rect">
            <a:avLst/>
          </a:prstGeom>
          <a:solidFill>
            <a:srgbClr val="E11D48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&amp; EATING DISORDERS</a:t>
            </a:r>
            <a:endParaRPr lang="en-US" sz="480" dirty="0"/>
          </a:p>
        </p:txBody>
      </p:sp>
      <p:sp>
        <p:nvSpPr>
          <p:cNvPr id="124" name="Text 121"/>
          <p:cNvSpPr/>
          <p:nvPr/>
        </p:nvSpPr>
        <p:spPr>
          <a:xfrm>
            <a:off x="109835" y="3321844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122"/>
          <p:cNvSpPr/>
          <p:nvPr/>
        </p:nvSpPr>
        <p:spPr>
          <a:xfrm>
            <a:off x="47804" y="3351014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Remi</a:t>
            </a:r>
            <a:endParaRPr lang="en-US" sz="680" dirty="0"/>
          </a:p>
        </p:txBody>
      </p:sp>
      <p:sp>
        <p:nvSpPr>
          <p:cNvPr id="126" name="Text 123"/>
          <p:cNvSpPr/>
          <p:nvPr/>
        </p:nvSpPr>
        <p:spPr>
          <a:xfrm>
            <a:off x="47804" y="3462189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 Nervosa, Restricting</a:t>
            </a:r>
            <a:endParaRPr lang="en-US" sz="510" dirty="0"/>
          </a:p>
        </p:txBody>
      </p:sp>
      <p:sp>
        <p:nvSpPr>
          <p:cNvPr id="127" name="Text 124"/>
          <p:cNvSpPr/>
          <p:nvPr/>
        </p:nvSpPr>
        <p:spPr>
          <a:xfrm>
            <a:off x="47804" y="3553867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· F50.01</a:t>
            </a:r>
            <a:endParaRPr lang="en-US" sz="450" dirty="0"/>
          </a:p>
        </p:txBody>
      </p:sp>
      <p:sp>
        <p:nvSpPr>
          <p:cNvPr id="128" name="Text 125"/>
          <p:cNvSpPr/>
          <p:nvPr/>
        </p:nvSpPr>
        <p:spPr>
          <a:xfrm>
            <a:off x="152995" y="3798391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126"/>
          <p:cNvSpPr/>
          <p:nvPr/>
        </p:nvSpPr>
        <p:spPr>
          <a:xfrm>
            <a:off x="974824" y="3826222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E11D4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27"/>
          <p:cNvSpPr/>
          <p:nvPr/>
        </p:nvSpPr>
        <p:spPr>
          <a:xfrm>
            <a:off x="1074986" y="3821757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31" name="Text 128"/>
          <p:cNvSpPr/>
          <p:nvPr/>
        </p:nvSpPr>
        <p:spPr>
          <a:xfrm>
            <a:off x="2344936" y="3154859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129"/>
          <p:cNvSpPr/>
          <p:nvPr/>
        </p:nvSpPr>
        <p:spPr>
          <a:xfrm>
            <a:off x="2354461" y="3164384"/>
            <a:ext cx="2190304" cy="162184"/>
          </a:xfrm>
          <a:prstGeom prst="rect">
            <a:avLst/>
          </a:prstGeom>
          <a:solidFill>
            <a:srgbClr val="1E3A5F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SLEEP-WAKE DISORDERS</a:t>
            </a:r>
            <a:endParaRPr lang="en-US" sz="480" dirty="0"/>
          </a:p>
        </p:txBody>
      </p:sp>
      <p:sp>
        <p:nvSpPr>
          <p:cNvPr id="133" name="Text 130"/>
          <p:cNvSpPr/>
          <p:nvPr/>
        </p:nvSpPr>
        <p:spPr>
          <a:xfrm>
            <a:off x="2354461" y="3321844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4" name="Text 131"/>
          <p:cNvSpPr/>
          <p:nvPr/>
        </p:nvSpPr>
        <p:spPr>
          <a:xfrm>
            <a:off x="2292422" y="3351014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Sleepless Sam</a:t>
            </a:r>
            <a:endParaRPr lang="en-US" sz="680" dirty="0"/>
          </a:p>
        </p:txBody>
      </p:sp>
      <p:sp>
        <p:nvSpPr>
          <p:cNvPr id="135" name="Text 132"/>
          <p:cNvSpPr/>
          <p:nvPr/>
        </p:nvSpPr>
        <p:spPr>
          <a:xfrm>
            <a:off x="2292422" y="3462189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Disorder</a:t>
            </a:r>
            <a:endParaRPr lang="en-US" sz="510" dirty="0"/>
          </a:p>
        </p:txBody>
      </p:sp>
      <p:sp>
        <p:nvSpPr>
          <p:cNvPr id="136" name="Text 133"/>
          <p:cNvSpPr/>
          <p:nvPr/>
        </p:nvSpPr>
        <p:spPr>
          <a:xfrm>
            <a:off x="2292422" y="3553867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 · G47.00</a:t>
            </a:r>
            <a:endParaRPr lang="en-US" sz="450" dirty="0"/>
          </a:p>
        </p:txBody>
      </p:sp>
      <p:sp>
        <p:nvSpPr>
          <p:cNvPr id="137" name="Text 134"/>
          <p:cNvSpPr/>
          <p:nvPr/>
        </p:nvSpPr>
        <p:spPr>
          <a:xfrm>
            <a:off x="2397621" y="3798391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Text 135"/>
          <p:cNvSpPr/>
          <p:nvPr/>
        </p:nvSpPr>
        <p:spPr>
          <a:xfrm>
            <a:off x="3219599" y="3826222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4A7AB5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36"/>
          <p:cNvSpPr/>
          <p:nvPr/>
        </p:nvSpPr>
        <p:spPr>
          <a:xfrm>
            <a:off x="3319760" y="3821757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40" name="Text 137"/>
          <p:cNvSpPr/>
          <p:nvPr/>
        </p:nvSpPr>
        <p:spPr>
          <a:xfrm>
            <a:off x="4589711" y="3154859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1" name="Text 138"/>
          <p:cNvSpPr/>
          <p:nvPr/>
        </p:nvSpPr>
        <p:spPr>
          <a:xfrm>
            <a:off x="4599236" y="3164384"/>
            <a:ext cx="2190155" cy="162184"/>
          </a:xfrm>
          <a:prstGeom prst="rect">
            <a:avLst/>
          </a:prstGeom>
          <a:solidFill>
            <a:srgbClr val="475569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SYMPTOM DISORDERS</a:t>
            </a:r>
            <a:endParaRPr lang="en-US" sz="480" dirty="0"/>
          </a:p>
        </p:txBody>
      </p:sp>
      <p:sp>
        <p:nvSpPr>
          <p:cNvPr id="142" name="Text 139"/>
          <p:cNvSpPr/>
          <p:nvPr/>
        </p:nvSpPr>
        <p:spPr>
          <a:xfrm>
            <a:off x="4599236" y="3321844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40"/>
          <p:cNvSpPr/>
          <p:nvPr/>
        </p:nvSpPr>
        <p:spPr>
          <a:xfrm>
            <a:off x="4537204" y="3351014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Sasha</a:t>
            </a:r>
            <a:endParaRPr lang="en-US" sz="680" dirty="0"/>
          </a:p>
        </p:txBody>
      </p:sp>
      <p:sp>
        <p:nvSpPr>
          <p:cNvPr id="144" name="Text 141"/>
          <p:cNvSpPr/>
          <p:nvPr/>
        </p:nvSpPr>
        <p:spPr>
          <a:xfrm>
            <a:off x="4537204" y="3462189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Symptom Disorder</a:t>
            </a:r>
            <a:endParaRPr lang="en-US" sz="510" dirty="0"/>
          </a:p>
        </p:txBody>
      </p:sp>
      <p:sp>
        <p:nvSpPr>
          <p:cNvPr id="145" name="Text 142"/>
          <p:cNvSpPr/>
          <p:nvPr/>
        </p:nvSpPr>
        <p:spPr>
          <a:xfrm>
            <a:off x="4537204" y="3553867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 · F45.1</a:t>
            </a:r>
            <a:endParaRPr lang="en-US" sz="450" dirty="0"/>
          </a:p>
        </p:txBody>
      </p:sp>
      <p:sp>
        <p:nvSpPr>
          <p:cNvPr id="146" name="Text 143"/>
          <p:cNvSpPr/>
          <p:nvPr/>
        </p:nvSpPr>
        <p:spPr>
          <a:xfrm>
            <a:off x="4642396" y="3798391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44"/>
          <p:cNvSpPr/>
          <p:nvPr/>
        </p:nvSpPr>
        <p:spPr>
          <a:xfrm>
            <a:off x="5464225" y="3826222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475569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8" name="Text 145"/>
          <p:cNvSpPr/>
          <p:nvPr/>
        </p:nvSpPr>
        <p:spPr>
          <a:xfrm>
            <a:off x="5564386" y="3821757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49" name="Text 146"/>
          <p:cNvSpPr/>
          <p:nvPr/>
        </p:nvSpPr>
        <p:spPr>
          <a:xfrm>
            <a:off x="6834336" y="3154859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0" name="Text 147"/>
          <p:cNvSpPr/>
          <p:nvPr/>
        </p:nvSpPr>
        <p:spPr>
          <a:xfrm>
            <a:off x="6843861" y="3164384"/>
            <a:ext cx="2190304" cy="162184"/>
          </a:xfrm>
          <a:prstGeom prst="rect">
            <a:avLst/>
          </a:prstGeom>
          <a:solidFill>
            <a:srgbClr val="B7791F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</a:t>
            </a:r>
            <a:endParaRPr lang="en-US" sz="480" dirty="0"/>
          </a:p>
        </p:txBody>
      </p:sp>
      <p:sp>
        <p:nvSpPr>
          <p:cNvPr id="151" name="Text 148"/>
          <p:cNvSpPr/>
          <p:nvPr/>
        </p:nvSpPr>
        <p:spPr>
          <a:xfrm>
            <a:off x="6843861" y="3321844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2" name="Text 149"/>
          <p:cNvSpPr/>
          <p:nvPr/>
        </p:nvSpPr>
        <p:spPr>
          <a:xfrm>
            <a:off x="6781822" y="3351014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Grandiose Gia</a:t>
            </a:r>
            <a:endParaRPr lang="en-US" sz="680" dirty="0"/>
          </a:p>
        </p:txBody>
      </p:sp>
      <p:sp>
        <p:nvSpPr>
          <p:cNvPr id="153" name="Text 150"/>
          <p:cNvSpPr/>
          <p:nvPr/>
        </p:nvSpPr>
        <p:spPr>
          <a:xfrm>
            <a:off x="6781822" y="3462189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Narcissistic Personality Disorder</a:t>
            </a:r>
            <a:endParaRPr lang="en-US" sz="510" dirty="0"/>
          </a:p>
        </p:txBody>
      </p:sp>
      <p:sp>
        <p:nvSpPr>
          <p:cNvPr id="154" name="Text 151"/>
          <p:cNvSpPr/>
          <p:nvPr/>
        </p:nvSpPr>
        <p:spPr>
          <a:xfrm>
            <a:off x="6781822" y="3553867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NPD · F60.81</a:t>
            </a:r>
            <a:endParaRPr lang="en-US" sz="450" dirty="0"/>
          </a:p>
        </p:txBody>
      </p:sp>
      <p:sp>
        <p:nvSpPr>
          <p:cNvPr id="155" name="Text 152"/>
          <p:cNvSpPr/>
          <p:nvPr/>
        </p:nvSpPr>
        <p:spPr>
          <a:xfrm>
            <a:off x="6887021" y="3798391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6" name="Text 153"/>
          <p:cNvSpPr/>
          <p:nvPr/>
        </p:nvSpPr>
        <p:spPr>
          <a:xfrm>
            <a:off x="7708999" y="3826222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B7791F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7" name="Text 154"/>
          <p:cNvSpPr/>
          <p:nvPr/>
        </p:nvSpPr>
        <p:spPr>
          <a:xfrm>
            <a:off x="7809161" y="3821757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58" name="Text 155"/>
          <p:cNvSpPr/>
          <p:nvPr/>
        </p:nvSpPr>
        <p:spPr>
          <a:xfrm>
            <a:off x="100310" y="3982045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9" name="Text 156"/>
          <p:cNvSpPr/>
          <p:nvPr/>
        </p:nvSpPr>
        <p:spPr>
          <a:xfrm>
            <a:off x="109835" y="3991570"/>
            <a:ext cx="2190155" cy="162184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DISSOCIATIVE DISORDERS</a:t>
            </a:r>
            <a:endParaRPr lang="en-US" sz="480" dirty="0"/>
          </a:p>
        </p:txBody>
      </p:sp>
      <p:sp>
        <p:nvSpPr>
          <p:cNvPr id="160" name="Text 157"/>
          <p:cNvSpPr/>
          <p:nvPr/>
        </p:nvSpPr>
        <p:spPr>
          <a:xfrm>
            <a:off x="109835" y="4149030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1" name="Text 158"/>
          <p:cNvSpPr/>
          <p:nvPr/>
        </p:nvSpPr>
        <p:spPr>
          <a:xfrm>
            <a:off x="47804" y="4178201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Shane</a:t>
            </a:r>
            <a:endParaRPr lang="en-US" sz="680" dirty="0"/>
          </a:p>
        </p:txBody>
      </p:sp>
      <p:sp>
        <p:nvSpPr>
          <p:cNvPr id="162" name="Text 159"/>
          <p:cNvSpPr/>
          <p:nvPr/>
        </p:nvSpPr>
        <p:spPr>
          <a:xfrm>
            <a:off x="47804" y="4289375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Dissociative Identity Disorder</a:t>
            </a:r>
            <a:endParaRPr lang="en-US" sz="510" dirty="0"/>
          </a:p>
        </p:txBody>
      </p:sp>
      <p:sp>
        <p:nvSpPr>
          <p:cNvPr id="163" name="Text 160"/>
          <p:cNvSpPr/>
          <p:nvPr/>
        </p:nvSpPr>
        <p:spPr>
          <a:xfrm>
            <a:off x="47804" y="4381054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 · F44.81</a:t>
            </a:r>
            <a:endParaRPr lang="en-US" sz="450" dirty="0"/>
          </a:p>
        </p:txBody>
      </p:sp>
      <p:sp>
        <p:nvSpPr>
          <p:cNvPr id="164" name="Text 161"/>
          <p:cNvSpPr/>
          <p:nvPr/>
        </p:nvSpPr>
        <p:spPr>
          <a:xfrm>
            <a:off x="152995" y="4625578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5" name="Text 162"/>
          <p:cNvSpPr/>
          <p:nvPr/>
        </p:nvSpPr>
        <p:spPr>
          <a:xfrm>
            <a:off x="974824" y="4653409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7C3AED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6" name="Text 163"/>
          <p:cNvSpPr/>
          <p:nvPr/>
        </p:nvSpPr>
        <p:spPr>
          <a:xfrm>
            <a:off x="1074986" y="4648944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67" name="Text 164"/>
          <p:cNvSpPr/>
          <p:nvPr/>
        </p:nvSpPr>
        <p:spPr>
          <a:xfrm>
            <a:off x="2344936" y="3982045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8" name="Text 165"/>
          <p:cNvSpPr/>
          <p:nvPr/>
        </p:nvSpPr>
        <p:spPr>
          <a:xfrm>
            <a:off x="2354461" y="3991570"/>
            <a:ext cx="2190304" cy="162184"/>
          </a:xfrm>
          <a:prstGeom prst="rect">
            <a:avLst/>
          </a:prstGeom>
          <a:solidFill>
            <a:srgbClr val="166534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480" dirty="0"/>
          </a:p>
        </p:txBody>
      </p:sp>
      <p:sp>
        <p:nvSpPr>
          <p:cNvPr id="169" name="Text 166"/>
          <p:cNvSpPr/>
          <p:nvPr/>
        </p:nvSpPr>
        <p:spPr>
          <a:xfrm>
            <a:off x="2354461" y="4149030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0" name="Text 167"/>
          <p:cNvSpPr/>
          <p:nvPr/>
        </p:nvSpPr>
        <p:spPr>
          <a:xfrm>
            <a:off x="2292422" y="4178201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Phobic Fern</a:t>
            </a:r>
            <a:endParaRPr lang="en-US" sz="680" dirty="0"/>
          </a:p>
        </p:txBody>
      </p:sp>
      <p:sp>
        <p:nvSpPr>
          <p:cNvPr id="171" name="Text 168"/>
          <p:cNvSpPr/>
          <p:nvPr/>
        </p:nvSpPr>
        <p:spPr>
          <a:xfrm>
            <a:off x="2292422" y="4289375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Phobia, Animal Type</a:t>
            </a:r>
            <a:endParaRPr lang="en-US" sz="510" dirty="0"/>
          </a:p>
        </p:txBody>
      </p:sp>
      <p:sp>
        <p:nvSpPr>
          <p:cNvPr id="172" name="Text 169"/>
          <p:cNvSpPr/>
          <p:nvPr/>
        </p:nvSpPr>
        <p:spPr>
          <a:xfrm>
            <a:off x="2292422" y="4381054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 · F40.218</a:t>
            </a:r>
            <a:endParaRPr lang="en-US" sz="450" dirty="0"/>
          </a:p>
        </p:txBody>
      </p:sp>
      <p:sp>
        <p:nvSpPr>
          <p:cNvPr id="173" name="Text 170"/>
          <p:cNvSpPr/>
          <p:nvPr/>
        </p:nvSpPr>
        <p:spPr>
          <a:xfrm>
            <a:off x="2397621" y="4625578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4" name="Text 171"/>
          <p:cNvSpPr/>
          <p:nvPr/>
        </p:nvSpPr>
        <p:spPr>
          <a:xfrm>
            <a:off x="3219599" y="4653409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166534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5" name="Text 172"/>
          <p:cNvSpPr/>
          <p:nvPr/>
        </p:nvSpPr>
        <p:spPr>
          <a:xfrm>
            <a:off x="3319760" y="4648944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76" name="Text 173"/>
          <p:cNvSpPr/>
          <p:nvPr/>
        </p:nvSpPr>
        <p:spPr>
          <a:xfrm>
            <a:off x="4589711" y="3982045"/>
            <a:ext cx="2209205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7" name="Text 174"/>
          <p:cNvSpPr/>
          <p:nvPr/>
        </p:nvSpPr>
        <p:spPr>
          <a:xfrm>
            <a:off x="4599236" y="3991570"/>
            <a:ext cx="2190155" cy="162184"/>
          </a:xfrm>
          <a:prstGeom prst="rect">
            <a:avLst/>
          </a:prstGeom>
          <a:solidFill>
            <a:srgbClr val="991B1B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 &amp; CONDUCT DISORDERS</a:t>
            </a:r>
            <a:endParaRPr lang="en-US" sz="480" dirty="0"/>
          </a:p>
        </p:txBody>
      </p:sp>
      <p:sp>
        <p:nvSpPr>
          <p:cNvPr id="178" name="Text 175"/>
          <p:cNvSpPr/>
          <p:nvPr/>
        </p:nvSpPr>
        <p:spPr>
          <a:xfrm>
            <a:off x="4599236" y="4149030"/>
            <a:ext cx="2190155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9" name="Text 176"/>
          <p:cNvSpPr/>
          <p:nvPr/>
        </p:nvSpPr>
        <p:spPr>
          <a:xfrm>
            <a:off x="4537204" y="4178201"/>
            <a:ext cx="2314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Rule-Breaking Rory</a:t>
            </a:r>
            <a:endParaRPr lang="en-US" sz="680" dirty="0"/>
          </a:p>
        </p:txBody>
      </p:sp>
      <p:sp>
        <p:nvSpPr>
          <p:cNvPr id="180" name="Text 177"/>
          <p:cNvSpPr/>
          <p:nvPr/>
        </p:nvSpPr>
        <p:spPr>
          <a:xfrm>
            <a:off x="4537204" y="4289375"/>
            <a:ext cx="2314218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Disorder, Adolescent</a:t>
            </a:r>
            <a:endParaRPr lang="en-US" sz="510" dirty="0"/>
          </a:p>
        </p:txBody>
      </p:sp>
      <p:sp>
        <p:nvSpPr>
          <p:cNvPr id="181" name="Text 178"/>
          <p:cNvSpPr/>
          <p:nvPr/>
        </p:nvSpPr>
        <p:spPr>
          <a:xfrm>
            <a:off x="4537204" y="4381054"/>
            <a:ext cx="231421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· F91.1</a:t>
            </a:r>
            <a:endParaRPr lang="en-US" sz="450" dirty="0"/>
          </a:p>
        </p:txBody>
      </p:sp>
      <p:sp>
        <p:nvSpPr>
          <p:cNvPr id="182" name="Text 179"/>
          <p:cNvSpPr/>
          <p:nvPr/>
        </p:nvSpPr>
        <p:spPr>
          <a:xfrm>
            <a:off x="4642396" y="4625578"/>
            <a:ext cx="2103834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3" name="Text 180"/>
          <p:cNvSpPr/>
          <p:nvPr/>
        </p:nvSpPr>
        <p:spPr>
          <a:xfrm>
            <a:off x="5464225" y="4653409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991B1B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4" name="Text 181"/>
          <p:cNvSpPr/>
          <p:nvPr/>
        </p:nvSpPr>
        <p:spPr>
          <a:xfrm>
            <a:off x="5564386" y="4648944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85" name="Text 182"/>
          <p:cNvSpPr/>
          <p:nvPr/>
        </p:nvSpPr>
        <p:spPr>
          <a:xfrm>
            <a:off x="6834336" y="3982045"/>
            <a:ext cx="2209354" cy="791766"/>
          </a:xfrm>
          <a:prstGeom prst="roundRect">
            <a:avLst>
              <a:gd name="adj" fmla="val 4491"/>
            </a:avLst>
          </a:prstGeom>
          <a:solidFill>
            <a:srgbClr val="1A2D42"/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43180" dist="1397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6" name="Text 183"/>
          <p:cNvSpPr/>
          <p:nvPr/>
        </p:nvSpPr>
        <p:spPr>
          <a:xfrm>
            <a:off x="6843861" y="3991570"/>
            <a:ext cx="2190304" cy="162184"/>
          </a:xfrm>
          <a:prstGeom prst="rect">
            <a:avLst/>
          </a:prstGeom>
          <a:solidFill>
            <a:srgbClr val="4D7C6F"/>
          </a:solidFill>
          <a:ln/>
        </p:spPr>
        <p:txBody>
          <a:bodyPr wrap="none" lIns="43180" tIns="0" rIns="43180" bIns="0" rtlCol="0" anchor="ctr"/>
          <a:lstStyle/>
          <a:p>
            <a:pPr marL="0" indent="0" algn="ctr">
              <a:buNone/>
            </a:pPr>
            <a:r>
              <a:rPr lang="en-US" sz="4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&amp; STRESSOR-RELATED</a:t>
            </a:r>
            <a:endParaRPr lang="en-US" sz="480" dirty="0"/>
          </a:p>
        </p:txBody>
      </p:sp>
      <p:sp>
        <p:nvSpPr>
          <p:cNvPr id="187" name="Text 184"/>
          <p:cNvSpPr/>
          <p:nvPr/>
        </p:nvSpPr>
        <p:spPr>
          <a:xfrm>
            <a:off x="6843861" y="4149030"/>
            <a:ext cx="2190304" cy="615255"/>
          </a:xfrm>
          <a:prstGeom prst="rect">
            <a:avLst/>
          </a:prstGeom>
          <a:solidFill>
            <a:srgbClr val="1E30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8" name="Text 185"/>
          <p:cNvSpPr/>
          <p:nvPr/>
        </p:nvSpPr>
        <p:spPr>
          <a:xfrm>
            <a:off x="6781822" y="4178201"/>
            <a:ext cx="23143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Stressed-Out Stella</a:t>
            </a:r>
            <a:endParaRPr lang="en-US" sz="680" dirty="0"/>
          </a:p>
        </p:txBody>
      </p:sp>
      <p:sp>
        <p:nvSpPr>
          <p:cNvPr id="189" name="Text 186"/>
          <p:cNvSpPr/>
          <p:nvPr/>
        </p:nvSpPr>
        <p:spPr>
          <a:xfrm>
            <a:off x="6781822" y="4289375"/>
            <a:ext cx="231438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3"/>
              </a:lnSpc>
              <a:buNone/>
            </a:pPr>
            <a:r>
              <a:rPr lang="en-US" sz="51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Disorder, Mixed</a:t>
            </a:r>
            <a:endParaRPr lang="en-US" sz="510" dirty="0"/>
          </a:p>
        </p:txBody>
      </p:sp>
      <p:sp>
        <p:nvSpPr>
          <p:cNvPr id="190" name="Text 187"/>
          <p:cNvSpPr/>
          <p:nvPr/>
        </p:nvSpPr>
        <p:spPr>
          <a:xfrm>
            <a:off x="6781822" y="4381054"/>
            <a:ext cx="23143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 · F43.23</a:t>
            </a:r>
            <a:endParaRPr lang="en-US" sz="450" dirty="0"/>
          </a:p>
        </p:txBody>
      </p:sp>
      <p:sp>
        <p:nvSpPr>
          <p:cNvPr id="191" name="Text 188"/>
          <p:cNvSpPr/>
          <p:nvPr/>
        </p:nvSpPr>
        <p:spPr>
          <a:xfrm>
            <a:off x="6887021" y="4625578"/>
            <a:ext cx="2103983" cy="9525"/>
          </a:xfrm>
          <a:prstGeom prst="rect">
            <a:avLst/>
          </a:prstGeom>
          <a:solidFill>
            <a:srgbClr val="5BA4C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2" name="Text 189"/>
          <p:cNvSpPr/>
          <p:nvPr/>
        </p:nvSpPr>
        <p:spPr>
          <a:xfrm>
            <a:off x="7708999" y="4653409"/>
            <a:ext cx="70991" cy="70991"/>
          </a:xfrm>
          <a:prstGeom prst="roundRect">
            <a:avLst>
              <a:gd name="adj" fmla="val 14312"/>
            </a:avLst>
          </a:prstGeom>
          <a:noFill/>
          <a:ln w="9525">
            <a:solidFill>
              <a:srgbClr val="4D7C6F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3" name="Text 190"/>
          <p:cNvSpPr/>
          <p:nvPr/>
        </p:nvSpPr>
        <p:spPr>
          <a:xfrm>
            <a:off x="7809161" y="4648944"/>
            <a:ext cx="39585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b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420" dirty="0"/>
          </a:p>
        </p:txBody>
      </p:sp>
      <p:sp>
        <p:nvSpPr>
          <p:cNvPr id="194" name="Text 191"/>
          <p:cNvSpPr/>
          <p:nvPr/>
        </p:nvSpPr>
        <p:spPr>
          <a:xfrm>
            <a:off x="0" y="4773960"/>
            <a:ext cx="9144000" cy="200620"/>
          </a:xfrm>
          <a:prstGeom prst="rect">
            <a:avLst/>
          </a:prstGeom>
          <a:solidFill>
            <a:srgbClr val="0F1E2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5" name="Text 192"/>
          <p:cNvSpPr/>
          <p:nvPr/>
        </p:nvSpPr>
        <p:spPr>
          <a:xfrm>
            <a:off x="0" y="4773960"/>
            <a:ext cx="9144000" cy="9525"/>
          </a:xfrm>
          <a:prstGeom prst="rect">
            <a:avLst/>
          </a:prstGeom>
          <a:solidFill>
            <a:srgbClr val="5BA4C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907" y="4812664"/>
            <a:ext cx="132588" cy="132588"/>
          </a:xfrm>
          <a:prstGeom prst="rect">
            <a:avLst/>
          </a:prstGeom>
        </p:spPr>
      </p:pic>
      <p:sp>
        <p:nvSpPr>
          <p:cNvPr id="197" name="Text 193"/>
          <p:cNvSpPr/>
          <p:nvPr/>
        </p:nvSpPr>
        <p:spPr>
          <a:xfrm>
            <a:off x="311944" y="4825603"/>
            <a:ext cx="329713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board per player. Shuffle and secretly select your character card at game start.</a:t>
            </a:r>
            <a:endParaRPr lang="en-US" sz="560" dirty="0"/>
          </a:p>
        </p:txBody>
      </p:sp>
      <p:sp>
        <p:nvSpPr>
          <p:cNvPr id="198" name="Text 194"/>
          <p:cNvSpPr/>
          <p:nvPr/>
        </p:nvSpPr>
        <p:spPr>
          <a:xfrm>
            <a:off x="6448276" y="4825603"/>
            <a:ext cx="126695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Clinical Training Game</a:t>
            </a:r>
            <a:endParaRPr lang="en-US" sz="560" dirty="0"/>
          </a:p>
        </p:txBody>
      </p:sp>
      <p:sp>
        <p:nvSpPr>
          <p:cNvPr id="199" name="Text 195"/>
          <p:cNvSpPr/>
          <p:nvPr/>
        </p:nvSpPr>
        <p:spPr>
          <a:xfrm>
            <a:off x="7728198" y="4825603"/>
            <a:ext cx="136878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 ◆ THERAPIST EDITION</a:t>
            </a:r>
            <a:endParaRPr lang="en-US" sz="560" dirty="0"/>
          </a:p>
        </p:txBody>
      </p:sp>
      <p:sp>
        <p:nvSpPr>
          <p:cNvPr id="200" name="Text 196"/>
          <p:cNvSpPr/>
          <p:nvPr/>
        </p:nvSpPr>
        <p:spPr>
          <a:xfrm>
            <a:off x="0" y="678061"/>
            <a:ext cx="86320" cy="4150221"/>
          </a:xfrm>
          <a:prstGeom prst="rect">
            <a:avLst/>
          </a:prstGeom>
          <a:solidFill>
            <a:srgbClr val="5BA4C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1" name="Text 197"/>
          <p:cNvSpPr/>
          <p:nvPr/>
        </p:nvSpPr>
        <p:spPr>
          <a:xfrm>
            <a:off x="76795" y="678061"/>
            <a:ext cx="9525" cy="4150221"/>
          </a:xfrm>
          <a:prstGeom prst="rect">
            <a:avLst/>
          </a:prstGeom>
          <a:solidFill>
            <a:srgbClr val="5BA4C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2" name="Text 198"/>
          <p:cNvSpPr/>
          <p:nvPr/>
        </p:nvSpPr>
        <p:spPr>
          <a:xfrm>
            <a:off x="1191" y="1053852"/>
            <a:ext cx="81692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390" dirty="0"/>
          </a:p>
        </p:txBody>
      </p:sp>
      <p:sp>
        <p:nvSpPr>
          <p:cNvPr id="203" name="Text 199"/>
          <p:cNvSpPr/>
          <p:nvPr/>
        </p:nvSpPr>
        <p:spPr>
          <a:xfrm>
            <a:off x="1191" y="1883866"/>
            <a:ext cx="81692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390" dirty="0"/>
          </a:p>
        </p:txBody>
      </p:sp>
      <p:sp>
        <p:nvSpPr>
          <p:cNvPr id="204" name="Text 200"/>
          <p:cNvSpPr/>
          <p:nvPr/>
        </p:nvSpPr>
        <p:spPr>
          <a:xfrm>
            <a:off x="1191" y="2713881"/>
            <a:ext cx="81692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390" dirty="0"/>
          </a:p>
        </p:txBody>
      </p:sp>
      <p:sp>
        <p:nvSpPr>
          <p:cNvPr id="205" name="Text 201"/>
          <p:cNvSpPr/>
          <p:nvPr/>
        </p:nvSpPr>
        <p:spPr>
          <a:xfrm>
            <a:off x="1191" y="3544044"/>
            <a:ext cx="81692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390" dirty="0"/>
          </a:p>
        </p:txBody>
      </p:sp>
      <p:sp>
        <p:nvSpPr>
          <p:cNvPr id="206" name="Text 202"/>
          <p:cNvSpPr/>
          <p:nvPr/>
        </p:nvSpPr>
        <p:spPr>
          <a:xfrm>
            <a:off x="1191" y="4374059"/>
            <a:ext cx="81692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390" dirty="0"/>
          </a:p>
        </p:txBody>
      </p:sp>
      <p:sp>
        <p:nvSpPr>
          <p:cNvPr id="207" name="Text 203"/>
          <p:cNvSpPr/>
          <p:nvPr/>
        </p:nvSpPr>
        <p:spPr>
          <a:xfrm>
            <a:off x="0" y="416422"/>
            <a:ext cx="9144000" cy="21580"/>
          </a:xfrm>
          <a:prstGeom prst="rect">
            <a:avLst/>
          </a:prstGeom>
          <a:gradFill rotWithShape="1">
            <a:gsLst>
              <a:gs pos="0">
                <a:srgbClr val="5BA4CF">
                  <a:alpha val="40000"/>
                </a:srgbClr>
              </a:gs>
              <a:gs pos="50000">
                <a:srgbClr val="2563A0">
                  <a:alpha val="40000"/>
                </a:srgbClr>
              </a:gs>
              <a:gs pos="100000">
                <a:srgbClr val="5BA4CF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0639"/>
          </a:xfrm>
          <a:prstGeom prst="rect">
            <a:avLst/>
          </a:prstGeom>
          <a:gradFill rotWithShape="1">
            <a:gsLst>
              <a:gs pos="0">
                <a:srgbClr val="1B2A3B"/>
              </a:gs>
              <a:gs pos="40000">
                <a:srgbClr val="2A3F58"/>
              </a:gs>
              <a:gs pos="100000">
                <a:srgbClr val="1B2A3B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31589"/>
            <a:ext cx="9144000" cy="19050"/>
          </a:xfrm>
          <a:prstGeom prst="rect">
            <a:avLst/>
          </a:prstGeom>
          <a:solidFill>
            <a:srgbClr val="5BA4C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857" y="99426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2482" y="49411"/>
            <a:ext cx="3779594" cy="121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b="1" kern="0" spc="8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GUESS WHO — PLAYER 2 GAME BOARD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332482" y="185142"/>
            <a:ext cx="377959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down character tabs as you eliminate them. Circle your SECRET CHARACTER at game start.</a:t>
            </a:r>
            <a:endParaRPr lang="en-US" sz="510" dirty="0"/>
          </a:p>
        </p:txBody>
      </p:sp>
      <p:sp>
        <p:nvSpPr>
          <p:cNvPr id="7" name="Text 4"/>
          <p:cNvSpPr/>
          <p:nvPr/>
        </p:nvSpPr>
        <p:spPr>
          <a:xfrm>
            <a:off x="7135862" y="92869"/>
            <a:ext cx="630882" cy="160273"/>
          </a:xfrm>
          <a:prstGeom prst="roundRect">
            <a:avLst>
              <a:gd name="adj" fmla="val 13471"/>
            </a:avLst>
          </a:prstGeom>
          <a:gradFill rotWithShape="1">
            <a:gsLst>
              <a:gs pos="0">
                <a:srgbClr val="E11D48"/>
              </a:gs>
              <a:gs pos="100000">
                <a:srgbClr val="BE123C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PLAYER 2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7823895" y="108645"/>
            <a:ext cx="592485" cy="117576"/>
          </a:xfrm>
          <a:prstGeom prst="roundRect">
            <a:avLst>
              <a:gd name="adj" fmla="val 18363"/>
            </a:avLst>
          </a:prstGeom>
          <a:solidFill>
            <a:srgbClr val="E11D48">
              <a:alpha val="15000"/>
            </a:srgbClr>
          </a:solidFill>
          <a:ln w="9525">
            <a:solidFill>
              <a:srgbClr val="E11D48">
                <a:alpha val="4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420" b="1" kern="0" spc="3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KEEP SECRET</a:t>
            </a:r>
            <a:endParaRPr lang="en-US" sz="420" dirty="0"/>
          </a:p>
        </p:txBody>
      </p:sp>
      <p:sp>
        <p:nvSpPr>
          <p:cNvPr id="9" name="Text 6"/>
          <p:cNvSpPr/>
          <p:nvPr/>
        </p:nvSpPr>
        <p:spPr>
          <a:xfrm>
            <a:off x="8419296" y="85725"/>
            <a:ext cx="59656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675"/>
              </a:lnSpc>
              <a:buNone/>
            </a:pPr>
            <a:r>
              <a:rPr lang="en-US" sz="450" kern="0" spc="6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BOARD</a:t>
            </a:r>
            <a:endParaRPr lang="en-US" sz="450" dirty="0"/>
          </a:p>
        </p:txBody>
      </p:sp>
      <p:sp>
        <p:nvSpPr>
          <p:cNvPr id="10" name="Text 7"/>
          <p:cNvSpPr/>
          <p:nvPr/>
        </p:nvSpPr>
        <p:spPr>
          <a:xfrm>
            <a:off x="8419296" y="171450"/>
            <a:ext cx="59656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585"/>
              </a:lnSpc>
              <a:buNone/>
            </a:pPr>
            <a:r>
              <a:rPr lang="en-US" sz="390" kern="0" spc="30" dirty="0">
                <a:solidFill>
                  <a:srgbClr val="4D6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Play</a:t>
            </a:r>
            <a:endParaRPr lang="en-US" sz="390" dirty="0"/>
          </a:p>
        </p:txBody>
      </p:sp>
      <p:sp>
        <p:nvSpPr>
          <p:cNvPr id="11" name="Text 8"/>
          <p:cNvSpPr/>
          <p:nvPr/>
        </p:nvSpPr>
        <p:spPr>
          <a:xfrm>
            <a:off x="57150" y="379809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675" y="389334"/>
            <a:ext cx="2216497" cy="103319"/>
          </a:xfrm>
          <a:prstGeom prst="rect">
            <a:avLst/>
          </a:prstGeom>
          <a:solidFill>
            <a:srgbClr val="4D7C6F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 &amp; STRESSOR-RELATED</a:t>
            </a:r>
            <a:endParaRPr lang="en-US" sz="340" dirty="0"/>
          </a:p>
        </p:txBody>
      </p:sp>
      <p:sp>
        <p:nvSpPr>
          <p:cNvPr id="13" name="Text 10"/>
          <p:cNvSpPr/>
          <p:nvPr/>
        </p:nvSpPr>
        <p:spPr>
          <a:xfrm>
            <a:off x="102096" y="503486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Stressed-Out Stella</a:t>
            </a:r>
            <a:endParaRPr lang="en-US" sz="460" dirty="0"/>
          </a:p>
        </p:txBody>
      </p:sp>
      <p:sp>
        <p:nvSpPr>
          <p:cNvPr id="14" name="Text 11"/>
          <p:cNvSpPr/>
          <p:nvPr/>
        </p:nvSpPr>
        <p:spPr>
          <a:xfrm>
            <a:off x="102096" y="57537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Disorder · F43.23</a:t>
            </a:r>
            <a:endParaRPr lang="en-US" sz="370" dirty="0"/>
          </a:p>
        </p:txBody>
      </p:sp>
      <p:sp>
        <p:nvSpPr>
          <p:cNvPr id="15" name="Text 12"/>
          <p:cNvSpPr/>
          <p:nvPr/>
        </p:nvSpPr>
        <p:spPr>
          <a:xfrm>
            <a:off x="102096" y="63936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4D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Anx &amp; Depr Mood</a:t>
            </a:r>
            <a:endParaRPr lang="en-US" sz="370" dirty="0"/>
          </a:p>
        </p:txBody>
      </p:sp>
      <p:sp>
        <p:nvSpPr>
          <p:cNvPr id="16" name="Text 13"/>
          <p:cNvSpPr/>
          <p:nvPr/>
        </p:nvSpPr>
        <p:spPr>
          <a:xfrm>
            <a:off x="102096" y="1167259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73087" y="1162496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8" name="Text 15"/>
          <p:cNvSpPr/>
          <p:nvPr/>
        </p:nvSpPr>
        <p:spPr>
          <a:xfrm rot="16200000">
            <a:off x="2226022" y="389334"/>
            <a:ext cx="57150" cy="57150"/>
          </a:xfrm>
          <a:prstGeom prst="triangle">
            <a:avLst/>
          </a:prstGeom>
          <a:solidFill>
            <a:srgbClr val="4D7C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321868" y="379809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31393" y="389334"/>
            <a:ext cx="2216497" cy="103319"/>
          </a:xfrm>
          <a:prstGeom prst="rect">
            <a:avLst/>
          </a:prstGeom>
          <a:solidFill>
            <a:srgbClr val="991B1B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 &amp; CONDUCT</a:t>
            </a:r>
            <a:endParaRPr lang="en-US" sz="340" dirty="0"/>
          </a:p>
        </p:txBody>
      </p:sp>
      <p:sp>
        <p:nvSpPr>
          <p:cNvPr id="21" name="Text 18"/>
          <p:cNvSpPr/>
          <p:nvPr/>
        </p:nvSpPr>
        <p:spPr>
          <a:xfrm>
            <a:off x="2366814" y="503486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Rule-Breaking Rory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2366814" y="57537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· F91.1</a:t>
            </a:r>
            <a:endParaRPr lang="en-US" sz="370" dirty="0"/>
          </a:p>
        </p:txBody>
      </p:sp>
      <p:sp>
        <p:nvSpPr>
          <p:cNvPr id="23" name="Text 20"/>
          <p:cNvSpPr/>
          <p:nvPr/>
        </p:nvSpPr>
        <p:spPr>
          <a:xfrm>
            <a:off x="2366814" y="63936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Adolescent-Onset</a:t>
            </a:r>
            <a:endParaRPr lang="en-US" sz="370" dirty="0"/>
          </a:p>
        </p:txBody>
      </p:sp>
      <p:sp>
        <p:nvSpPr>
          <p:cNvPr id="24" name="Text 21"/>
          <p:cNvSpPr/>
          <p:nvPr/>
        </p:nvSpPr>
        <p:spPr>
          <a:xfrm>
            <a:off x="2366814" y="1167259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437805" y="1162496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26" name="Text 23"/>
          <p:cNvSpPr/>
          <p:nvPr/>
        </p:nvSpPr>
        <p:spPr>
          <a:xfrm rot="16200000">
            <a:off x="4490740" y="389334"/>
            <a:ext cx="57150" cy="57150"/>
          </a:xfrm>
          <a:prstGeom prst="triangle">
            <a:avLst/>
          </a:prstGeom>
          <a:solidFill>
            <a:srgbClr val="99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86585" y="379809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96110" y="389334"/>
            <a:ext cx="2216497" cy="103319"/>
          </a:xfrm>
          <a:prstGeom prst="rect">
            <a:avLst/>
          </a:prstGeom>
          <a:solidFill>
            <a:srgbClr val="166534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340" dirty="0"/>
          </a:p>
        </p:txBody>
      </p:sp>
      <p:sp>
        <p:nvSpPr>
          <p:cNvPr id="29" name="Text 26"/>
          <p:cNvSpPr/>
          <p:nvPr/>
        </p:nvSpPr>
        <p:spPr>
          <a:xfrm>
            <a:off x="4631531" y="503486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Phobic Fern</a:t>
            </a:r>
            <a:endParaRPr lang="en-US" sz="460" dirty="0"/>
          </a:p>
        </p:txBody>
      </p:sp>
      <p:sp>
        <p:nvSpPr>
          <p:cNvPr id="30" name="Text 27"/>
          <p:cNvSpPr/>
          <p:nvPr/>
        </p:nvSpPr>
        <p:spPr>
          <a:xfrm>
            <a:off x="4631531" y="57537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Phobia · F40.218</a:t>
            </a:r>
            <a:endParaRPr lang="en-US" sz="370" dirty="0"/>
          </a:p>
        </p:txBody>
      </p:sp>
      <p:sp>
        <p:nvSpPr>
          <p:cNvPr id="31" name="Text 28"/>
          <p:cNvSpPr/>
          <p:nvPr/>
        </p:nvSpPr>
        <p:spPr>
          <a:xfrm>
            <a:off x="4631531" y="63936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Type</a:t>
            </a:r>
            <a:endParaRPr lang="en-US" sz="370" dirty="0"/>
          </a:p>
        </p:txBody>
      </p:sp>
      <p:sp>
        <p:nvSpPr>
          <p:cNvPr id="32" name="Text 29"/>
          <p:cNvSpPr/>
          <p:nvPr/>
        </p:nvSpPr>
        <p:spPr>
          <a:xfrm>
            <a:off x="4631531" y="1167259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702522" y="1162496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34" name="Text 31"/>
          <p:cNvSpPr/>
          <p:nvPr/>
        </p:nvSpPr>
        <p:spPr>
          <a:xfrm rot="16200000">
            <a:off x="6755457" y="389334"/>
            <a:ext cx="57150" cy="57150"/>
          </a:xfrm>
          <a:prstGeom prst="triangle">
            <a:avLst/>
          </a:prstGeom>
          <a:solidFill>
            <a:srgbClr val="16653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851303" y="379809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860828" y="389334"/>
            <a:ext cx="2216497" cy="103319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DISSOCIATIVE DISORDERS</a:t>
            </a:r>
            <a:endParaRPr lang="en-US" sz="340" dirty="0"/>
          </a:p>
        </p:txBody>
      </p:sp>
      <p:sp>
        <p:nvSpPr>
          <p:cNvPr id="37" name="Text 34"/>
          <p:cNvSpPr/>
          <p:nvPr/>
        </p:nvSpPr>
        <p:spPr>
          <a:xfrm>
            <a:off x="6896249" y="503486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Shifting Shane</a:t>
            </a:r>
            <a:endParaRPr lang="en-US" sz="460" dirty="0"/>
          </a:p>
        </p:txBody>
      </p:sp>
      <p:sp>
        <p:nvSpPr>
          <p:cNvPr id="38" name="Text 35"/>
          <p:cNvSpPr/>
          <p:nvPr/>
        </p:nvSpPr>
        <p:spPr>
          <a:xfrm>
            <a:off x="6896249" y="57537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· F44.81</a:t>
            </a:r>
            <a:endParaRPr lang="en-US" sz="370" dirty="0"/>
          </a:p>
        </p:txBody>
      </p:sp>
      <p:sp>
        <p:nvSpPr>
          <p:cNvPr id="39" name="Text 36"/>
          <p:cNvSpPr/>
          <p:nvPr/>
        </p:nvSpPr>
        <p:spPr>
          <a:xfrm>
            <a:off x="6896249" y="63936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Identity States</a:t>
            </a:r>
            <a:endParaRPr lang="en-US" sz="370" dirty="0"/>
          </a:p>
        </p:txBody>
      </p:sp>
      <p:sp>
        <p:nvSpPr>
          <p:cNvPr id="40" name="Text 37"/>
          <p:cNvSpPr/>
          <p:nvPr/>
        </p:nvSpPr>
        <p:spPr>
          <a:xfrm>
            <a:off x="6896249" y="1167259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967240" y="1162496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42" name="Text 39"/>
          <p:cNvSpPr/>
          <p:nvPr/>
        </p:nvSpPr>
        <p:spPr>
          <a:xfrm rot="16200000">
            <a:off x="9020175" y="389334"/>
            <a:ext cx="57150" cy="57150"/>
          </a:xfrm>
          <a:prstGeom prst="triangl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150" y="1274118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6675" y="1283643"/>
            <a:ext cx="2216497" cy="103319"/>
          </a:xfrm>
          <a:prstGeom prst="rect">
            <a:avLst/>
          </a:prstGeom>
          <a:solidFill>
            <a:srgbClr val="B7791F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</a:t>
            </a:r>
            <a:endParaRPr lang="en-US" sz="340" dirty="0"/>
          </a:p>
        </p:txBody>
      </p:sp>
      <p:sp>
        <p:nvSpPr>
          <p:cNvPr id="45" name="Text 42"/>
          <p:cNvSpPr/>
          <p:nvPr/>
        </p:nvSpPr>
        <p:spPr>
          <a:xfrm>
            <a:off x="102096" y="1397794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Grandiose Gia</a:t>
            </a:r>
            <a:endParaRPr lang="en-US" sz="460" dirty="0"/>
          </a:p>
        </p:txBody>
      </p:sp>
      <p:sp>
        <p:nvSpPr>
          <p:cNvPr id="46" name="Text 43"/>
          <p:cNvSpPr/>
          <p:nvPr/>
        </p:nvSpPr>
        <p:spPr>
          <a:xfrm>
            <a:off x="102096" y="146967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NPD · F60.81</a:t>
            </a:r>
            <a:endParaRPr lang="en-US" sz="370" dirty="0"/>
          </a:p>
        </p:txBody>
      </p:sp>
      <p:sp>
        <p:nvSpPr>
          <p:cNvPr id="47" name="Text 44"/>
          <p:cNvSpPr/>
          <p:nvPr/>
        </p:nvSpPr>
        <p:spPr>
          <a:xfrm>
            <a:off x="102096" y="153367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of 9 Criteria</a:t>
            </a:r>
            <a:endParaRPr lang="en-US" sz="370" dirty="0"/>
          </a:p>
        </p:txBody>
      </p:sp>
      <p:sp>
        <p:nvSpPr>
          <p:cNvPr id="48" name="Text 45"/>
          <p:cNvSpPr/>
          <p:nvPr/>
        </p:nvSpPr>
        <p:spPr>
          <a:xfrm>
            <a:off x="102096" y="2061567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173087" y="2056805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50" name="Text 47"/>
          <p:cNvSpPr/>
          <p:nvPr/>
        </p:nvSpPr>
        <p:spPr>
          <a:xfrm rot="16200000">
            <a:off x="2226022" y="1283643"/>
            <a:ext cx="57150" cy="57150"/>
          </a:xfrm>
          <a:prstGeom prst="triangle">
            <a:avLst/>
          </a:prstGeom>
          <a:solidFill>
            <a:srgbClr val="B7791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2321868" y="1274118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331393" y="1283643"/>
            <a:ext cx="2216497" cy="103319"/>
          </a:xfrm>
          <a:prstGeom prst="rect">
            <a:avLst/>
          </a:prstGeom>
          <a:solidFill>
            <a:srgbClr val="475569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SYMPTOM &amp; RELATED</a:t>
            </a:r>
            <a:endParaRPr lang="en-US" sz="340" dirty="0"/>
          </a:p>
        </p:txBody>
      </p:sp>
      <p:sp>
        <p:nvSpPr>
          <p:cNvPr id="53" name="Text 50"/>
          <p:cNvSpPr/>
          <p:nvPr/>
        </p:nvSpPr>
        <p:spPr>
          <a:xfrm>
            <a:off x="2366814" y="1397794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Symptomatic Sasha</a:t>
            </a:r>
            <a:endParaRPr lang="en-US" sz="460" dirty="0"/>
          </a:p>
        </p:txBody>
      </p:sp>
      <p:sp>
        <p:nvSpPr>
          <p:cNvPr id="54" name="Text 51"/>
          <p:cNvSpPr/>
          <p:nvPr/>
        </p:nvSpPr>
        <p:spPr>
          <a:xfrm>
            <a:off x="2366814" y="146967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· F45.1</a:t>
            </a:r>
            <a:endParaRPr lang="en-US" sz="370" dirty="0"/>
          </a:p>
        </p:txBody>
      </p:sp>
      <p:sp>
        <p:nvSpPr>
          <p:cNvPr id="55" name="Text 52"/>
          <p:cNvSpPr/>
          <p:nvPr/>
        </p:nvSpPr>
        <p:spPr>
          <a:xfrm>
            <a:off x="2366814" y="153367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 Duration</a:t>
            </a:r>
            <a:endParaRPr lang="en-US" sz="370" dirty="0"/>
          </a:p>
        </p:txBody>
      </p:sp>
      <p:sp>
        <p:nvSpPr>
          <p:cNvPr id="56" name="Text 53"/>
          <p:cNvSpPr/>
          <p:nvPr/>
        </p:nvSpPr>
        <p:spPr>
          <a:xfrm>
            <a:off x="2366814" y="2061567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2437805" y="2056805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58" name="Text 55"/>
          <p:cNvSpPr/>
          <p:nvPr/>
        </p:nvSpPr>
        <p:spPr>
          <a:xfrm rot="16200000">
            <a:off x="4490740" y="1283643"/>
            <a:ext cx="57150" cy="57150"/>
          </a:xfrm>
          <a:prstGeom prst="triangle">
            <a:avLst/>
          </a:prstGeom>
          <a:solidFill>
            <a:srgbClr val="47556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4586585" y="1274118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4596110" y="1283643"/>
            <a:ext cx="2216497" cy="103319"/>
          </a:xfrm>
          <a:prstGeom prst="rect">
            <a:avLst/>
          </a:prstGeom>
          <a:solidFill>
            <a:srgbClr val="1E3A5F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SLEEP-WAKE DISORDERS</a:t>
            </a:r>
            <a:endParaRPr lang="en-US" sz="340" dirty="0"/>
          </a:p>
        </p:txBody>
      </p:sp>
      <p:sp>
        <p:nvSpPr>
          <p:cNvPr id="61" name="Text 58"/>
          <p:cNvSpPr/>
          <p:nvPr/>
        </p:nvSpPr>
        <p:spPr>
          <a:xfrm>
            <a:off x="4631531" y="1397794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Sleepless Sam</a:t>
            </a:r>
            <a:endParaRPr lang="en-US" sz="460" dirty="0"/>
          </a:p>
        </p:txBody>
      </p:sp>
      <p:sp>
        <p:nvSpPr>
          <p:cNvPr id="62" name="Text 59"/>
          <p:cNvSpPr/>
          <p:nvPr/>
        </p:nvSpPr>
        <p:spPr>
          <a:xfrm>
            <a:off x="4631531" y="146967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· G47.00</a:t>
            </a:r>
            <a:endParaRPr lang="en-US" sz="370" dirty="0"/>
          </a:p>
        </p:txBody>
      </p:sp>
      <p:sp>
        <p:nvSpPr>
          <p:cNvPr id="63" name="Text 60"/>
          <p:cNvSpPr/>
          <p:nvPr/>
        </p:nvSpPr>
        <p:spPr>
          <a:xfrm>
            <a:off x="4631531" y="153367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Nights/Week</a:t>
            </a:r>
            <a:endParaRPr lang="en-US" sz="370" dirty="0"/>
          </a:p>
        </p:txBody>
      </p:sp>
      <p:sp>
        <p:nvSpPr>
          <p:cNvPr id="64" name="Text 61"/>
          <p:cNvSpPr/>
          <p:nvPr/>
        </p:nvSpPr>
        <p:spPr>
          <a:xfrm>
            <a:off x="4631531" y="2061567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4702522" y="2056805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66" name="Text 63"/>
          <p:cNvSpPr/>
          <p:nvPr/>
        </p:nvSpPr>
        <p:spPr>
          <a:xfrm rot="16200000">
            <a:off x="6755457" y="1283643"/>
            <a:ext cx="57150" cy="57150"/>
          </a:xfrm>
          <a:prstGeom prst="triangle">
            <a:avLst/>
          </a:prstGeom>
          <a:solidFill>
            <a:srgbClr val="1E3A5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6851303" y="1274118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860828" y="1283643"/>
            <a:ext cx="2216497" cy="103319"/>
          </a:xfrm>
          <a:prstGeom prst="rect">
            <a:avLst/>
          </a:prstGeom>
          <a:solidFill>
            <a:srgbClr val="E11D48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&amp; EATING DISORDERS</a:t>
            </a:r>
            <a:endParaRPr lang="en-US" sz="340" dirty="0"/>
          </a:p>
        </p:txBody>
      </p:sp>
      <p:sp>
        <p:nvSpPr>
          <p:cNvPr id="69" name="Text 66"/>
          <p:cNvSpPr/>
          <p:nvPr/>
        </p:nvSpPr>
        <p:spPr>
          <a:xfrm>
            <a:off x="6896249" y="1397794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Restricting Remi</a:t>
            </a:r>
            <a:endParaRPr lang="en-US" sz="460" dirty="0"/>
          </a:p>
        </p:txBody>
      </p:sp>
      <p:sp>
        <p:nvSpPr>
          <p:cNvPr id="70" name="Text 67"/>
          <p:cNvSpPr/>
          <p:nvPr/>
        </p:nvSpPr>
        <p:spPr>
          <a:xfrm>
            <a:off x="6896249" y="146967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 · F50.01</a:t>
            </a:r>
            <a:endParaRPr lang="en-US" sz="370" dirty="0"/>
          </a:p>
        </p:txBody>
      </p:sp>
      <p:sp>
        <p:nvSpPr>
          <p:cNvPr id="71" name="Text 68"/>
          <p:cNvSpPr/>
          <p:nvPr/>
        </p:nvSpPr>
        <p:spPr>
          <a:xfrm>
            <a:off x="6896249" y="153367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Type</a:t>
            </a:r>
            <a:endParaRPr lang="en-US" sz="370" dirty="0"/>
          </a:p>
        </p:txBody>
      </p:sp>
      <p:sp>
        <p:nvSpPr>
          <p:cNvPr id="72" name="Text 69"/>
          <p:cNvSpPr/>
          <p:nvPr/>
        </p:nvSpPr>
        <p:spPr>
          <a:xfrm>
            <a:off x="6896249" y="2061567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6967240" y="2056805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74" name="Text 71"/>
          <p:cNvSpPr/>
          <p:nvPr/>
        </p:nvSpPr>
        <p:spPr>
          <a:xfrm rot="16200000">
            <a:off x="9020175" y="1283643"/>
            <a:ext cx="57150" cy="57150"/>
          </a:xfrm>
          <a:prstGeom prst="triangle">
            <a:avLst/>
          </a:prstGeom>
          <a:solidFill>
            <a:srgbClr val="E11D4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57150" y="2168426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6675" y="2177951"/>
            <a:ext cx="2216497" cy="103319"/>
          </a:xfrm>
          <a:prstGeom prst="rect">
            <a:avLst/>
          </a:prstGeom>
          <a:solidFill>
            <a:srgbClr val="92400E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SUBSTANCE-RELATED &amp; ADDICTIVE</a:t>
            </a:r>
            <a:endParaRPr lang="en-US" sz="340" dirty="0"/>
          </a:p>
        </p:txBody>
      </p:sp>
      <p:sp>
        <p:nvSpPr>
          <p:cNvPr id="77" name="Text 74"/>
          <p:cNvSpPr/>
          <p:nvPr/>
        </p:nvSpPr>
        <p:spPr>
          <a:xfrm>
            <a:off x="102096" y="2292102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Boozy Brent</a:t>
            </a:r>
            <a:endParaRPr lang="en-US" sz="460" dirty="0"/>
          </a:p>
        </p:txBody>
      </p:sp>
      <p:sp>
        <p:nvSpPr>
          <p:cNvPr id="78" name="Text 75"/>
          <p:cNvSpPr/>
          <p:nvPr/>
        </p:nvSpPr>
        <p:spPr>
          <a:xfrm>
            <a:off x="102096" y="236398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· F10.20</a:t>
            </a:r>
            <a:endParaRPr lang="en-US" sz="370" dirty="0"/>
          </a:p>
        </p:txBody>
      </p:sp>
      <p:sp>
        <p:nvSpPr>
          <p:cNvPr id="79" name="Text 76"/>
          <p:cNvSpPr/>
          <p:nvPr/>
        </p:nvSpPr>
        <p:spPr>
          <a:xfrm>
            <a:off x="102096" y="242798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(4–5 Criteria)</a:t>
            </a:r>
            <a:endParaRPr lang="en-US" sz="370" dirty="0"/>
          </a:p>
        </p:txBody>
      </p:sp>
      <p:sp>
        <p:nvSpPr>
          <p:cNvPr id="80" name="Text 77"/>
          <p:cNvSpPr/>
          <p:nvPr/>
        </p:nvSpPr>
        <p:spPr>
          <a:xfrm>
            <a:off x="102096" y="2955875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173087" y="2951113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82" name="Text 79"/>
          <p:cNvSpPr/>
          <p:nvPr/>
        </p:nvSpPr>
        <p:spPr>
          <a:xfrm rot="16200000">
            <a:off x="2226022" y="2177951"/>
            <a:ext cx="57150" cy="57150"/>
          </a:xfrm>
          <a:prstGeom prst="triangle">
            <a:avLst/>
          </a:prstGeom>
          <a:solidFill>
            <a:srgbClr val="9240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0"/>
          <p:cNvSpPr/>
          <p:nvPr/>
        </p:nvSpPr>
        <p:spPr>
          <a:xfrm>
            <a:off x="2321868" y="2168426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2331393" y="2177951"/>
            <a:ext cx="2216497" cy="103319"/>
          </a:xfrm>
          <a:prstGeom prst="rect">
            <a:avLst/>
          </a:prstGeom>
          <a:solidFill>
            <a:srgbClr val="B45309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</a:t>
            </a:r>
            <a:endParaRPr lang="en-US" sz="340" dirty="0"/>
          </a:p>
        </p:txBody>
      </p:sp>
      <p:sp>
        <p:nvSpPr>
          <p:cNvPr id="85" name="Text 82"/>
          <p:cNvSpPr/>
          <p:nvPr/>
        </p:nvSpPr>
        <p:spPr>
          <a:xfrm>
            <a:off x="2366814" y="2292102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Routine Robin</a:t>
            </a:r>
            <a:endParaRPr lang="en-US" sz="460" dirty="0"/>
          </a:p>
        </p:txBody>
      </p:sp>
      <p:sp>
        <p:nvSpPr>
          <p:cNvPr id="86" name="Text 83"/>
          <p:cNvSpPr/>
          <p:nvPr/>
        </p:nvSpPr>
        <p:spPr>
          <a:xfrm>
            <a:off x="2366814" y="236398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· F84.0</a:t>
            </a:r>
            <a:endParaRPr lang="en-US" sz="370" dirty="0"/>
          </a:p>
        </p:txBody>
      </p:sp>
      <p:sp>
        <p:nvSpPr>
          <p:cNvPr id="87" name="Text 84"/>
          <p:cNvSpPr/>
          <p:nvPr/>
        </p:nvSpPr>
        <p:spPr>
          <a:xfrm>
            <a:off x="2366814" y="242798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1–3 Severity</a:t>
            </a:r>
            <a:endParaRPr lang="en-US" sz="370" dirty="0"/>
          </a:p>
        </p:txBody>
      </p:sp>
      <p:sp>
        <p:nvSpPr>
          <p:cNvPr id="88" name="Text 85"/>
          <p:cNvSpPr/>
          <p:nvPr/>
        </p:nvSpPr>
        <p:spPr>
          <a:xfrm>
            <a:off x="2366814" y="2955875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6"/>
          <p:cNvSpPr/>
          <p:nvPr/>
        </p:nvSpPr>
        <p:spPr>
          <a:xfrm>
            <a:off x="2437805" y="2951113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90" name="Text 87"/>
          <p:cNvSpPr/>
          <p:nvPr/>
        </p:nvSpPr>
        <p:spPr>
          <a:xfrm rot="16200000">
            <a:off x="4490740" y="2177951"/>
            <a:ext cx="57150" cy="57150"/>
          </a:xfrm>
          <a:prstGeom prst="triangle">
            <a:avLst/>
          </a:prstGeom>
          <a:solidFill>
            <a:srgbClr val="B4530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4586585" y="2168426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9"/>
          <p:cNvSpPr/>
          <p:nvPr/>
        </p:nvSpPr>
        <p:spPr>
          <a:xfrm>
            <a:off x="4596110" y="2177951"/>
            <a:ext cx="2216497" cy="103319"/>
          </a:xfrm>
          <a:prstGeom prst="rect">
            <a:avLst/>
          </a:prstGeom>
          <a:solidFill>
            <a:srgbClr val="0D9488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340" dirty="0"/>
          </a:p>
        </p:txBody>
      </p:sp>
      <p:sp>
        <p:nvSpPr>
          <p:cNvPr id="93" name="Text 90"/>
          <p:cNvSpPr/>
          <p:nvPr/>
        </p:nvSpPr>
        <p:spPr>
          <a:xfrm>
            <a:off x="4631531" y="2292102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Shy Sienna</a:t>
            </a:r>
            <a:endParaRPr lang="en-US" sz="460" dirty="0"/>
          </a:p>
        </p:txBody>
      </p:sp>
      <p:sp>
        <p:nvSpPr>
          <p:cNvPr id="94" name="Text 91"/>
          <p:cNvSpPr/>
          <p:nvPr/>
        </p:nvSpPr>
        <p:spPr>
          <a:xfrm>
            <a:off x="4631531" y="236398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· F40.10</a:t>
            </a:r>
            <a:endParaRPr lang="en-US" sz="370" dirty="0"/>
          </a:p>
        </p:txBody>
      </p:sp>
      <p:sp>
        <p:nvSpPr>
          <p:cNvPr id="95" name="Text 92"/>
          <p:cNvSpPr/>
          <p:nvPr/>
        </p:nvSpPr>
        <p:spPr>
          <a:xfrm>
            <a:off x="4631531" y="242798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 Duration</a:t>
            </a:r>
            <a:endParaRPr lang="en-US" sz="370" dirty="0"/>
          </a:p>
        </p:txBody>
      </p:sp>
      <p:sp>
        <p:nvSpPr>
          <p:cNvPr id="96" name="Text 93"/>
          <p:cNvSpPr/>
          <p:nvPr/>
        </p:nvSpPr>
        <p:spPr>
          <a:xfrm>
            <a:off x="4631531" y="2955875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4"/>
          <p:cNvSpPr/>
          <p:nvPr/>
        </p:nvSpPr>
        <p:spPr>
          <a:xfrm>
            <a:off x="4702522" y="2951113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98" name="Text 95"/>
          <p:cNvSpPr/>
          <p:nvPr/>
        </p:nvSpPr>
        <p:spPr>
          <a:xfrm rot="16200000">
            <a:off x="6755457" y="2177951"/>
            <a:ext cx="57150" cy="57150"/>
          </a:xfrm>
          <a:prstGeom prst="triangle">
            <a:avLst/>
          </a:prstGeom>
          <a:solidFill>
            <a:srgbClr val="0D948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6"/>
          <p:cNvSpPr/>
          <p:nvPr/>
        </p:nvSpPr>
        <p:spPr>
          <a:xfrm>
            <a:off x="6851303" y="2168426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6860828" y="2177951"/>
            <a:ext cx="2216497" cy="103319"/>
          </a:xfrm>
          <a:prstGeom prst="rect">
            <a:avLst/>
          </a:prstGeom>
          <a:solidFill>
            <a:srgbClr val="0284C7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340" dirty="0"/>
          </a:p>
        </p:txBody>
      </p:sp>
      <p:sp>
        <p:nvSpPr>
          <p:cNvPr id="101" name="Text 98"/>
          <p:cNvSpPr/>
          <p:nvPr/>
        </p:nvSpPr>
        <p:spPr>
          <a:xfrm>
            <a:off x="6896249" y="2292102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Panicking Pablo</a:t>
            </a:r>
            <a:endParaRPr lang="en-US" sz="460" dirty="0"/>
          </a:p>
        </p:txBody>
      </p:sp>
      <p:sp>
        <p:nvSpPr>
          <p:cNvPr id="102" name="Text 99"/>
          <p:cNvSpPr/>
          <p:nvPr/>
        </p:nvSpPr>
        <p:spPr>
          <a:xfrm>
            <a:off x="6896249" y="2363986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Disorder · F41.0</a:t>
            </a:r>
            <a:endParaRPr lang="en-US" sz="370" dirty="0"/>
          </a:p>
        </p:txBody>
      </p:sp>
      <p:sp>
        <p:nvSpPr>
          <p:cNvPr id="103" name="Text 100"/>
          <p:cNvSpPr/>
          <p:nvPr/>
        </p:nvSpPr>
        <p:spPr>
          <a:xfrm>
            <a:off x="6896249" y="242798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Attacks</a:t>
            </a:r>
            <a:endParaRPr lang="en-US" sz="370" dirty="0"/>
          </a:p>
        </p:txBody>
      </p:sp>
      <p:sp>
        <p:nvSpPr>
          <p:cNvPr id="104" name="Text 101"/>
          <p:cNvSpPr/>
          <p:nvPr/>
        </p:nvSpPr>
        <p:spPr>
          <a:xfrm>
            <a:off x="6896249" y="2955875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6967240" y="2951113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06" name="Text 103"/>
          <p:cNvSpPr/>
          <p:nvPr/>
        </p:nvSpPr>
        <p:spPr>
          <a:xfrm rot="16200000">
            <a:off x="9020175" y="2177951"/>
            <a:ext cx="57150" cy="57150"/>
          </a:xfrm>
          <a:prstGeom prst="triangle">
            <a:avLst/>
          </a:prstGeom>
          <a:solidFill>
            <a:srgbClr val="0284C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57150" y="3062734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5"/>
          <p:cNvSpPr/>
          <p:nvPr/>
        </p:nvSpPr>
        <p:spPr>
          <a:xfrm>
            <a:off x="66675" y="3072259"/>
            <a:ext cx="2216497" cy="103319"/>
          </a:xfrm>
          <a:prstGeom prst="rect">
            <a:avLst/>
          </a:prstGeom>
          <a:solidFill>
            <a:srgbClr val="BE123C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</a:t>
            </a:r>
            <a:endParaRPr lang="en-US" sz="340" dirty="0"/>
          </a:p>
        </p:txBody>
      </p:sp>
      <p:sp>
        <p:nvSpPr>
          <p:cNvPr id="109" name="Text 106"/>
          <p:cNvSpPr/>
          <p:nvPr/>
        </p:nvSpPr>
        <p:spPr>
          <a:xfrm>
            <a:off x="102096" y="3186410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Unstable Uma</a:t>
            </a:r>
            <a:endParaRPr lang="en-US" sz="460" dirty="0"/>
          </a:p>
        </p:txBody>
      </p:sp>
      <p:sp>
        <p:nvSpPr>
          <p:cNvPr id="110" name="Text 107"/>
          <p:cNvSpPr/>
          <p:nvPr/>
        </p:nvSpPr>
        <p:spPr>
          <a:xfrm>
            <a:off x="102096" y="325829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 · F60.3</a:t>
            </a:r>
            <a:endParaRPr lang="en-US" sz="370" dirty="0"/>
          </a:p>
        </p:txBody>
      </p:sp>
      <p:sp>
        <p:nvSpPr>
          <p:cNvPr id="111" name="Text 108"/>
          <p:cNvSpPr/>
          <p:nvPr/>
        </p:nvSpPr>
        <p:spPr>
          <a:xfrm>
            <a:off x="102096" y="332229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of 9 Criteria</a:t>
            </a:r>
            <a:endParaRPr lang="en-US" sz="370" dirty="0"/>
          </a:p>
        </p:txBody>
      </p:sp>
      <p:sp>
        <p:nvSpPr>
          <p:cNvPr id="112" name="Text 109"/>
          <p:cNvSpPr/>
          <p:nvPr/>
        </p:nvSpPr>
        <p:spPr>
          <a:xfrm>
            <a:off x="102096" y="3850184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0"/>
          <p:cNvSpPr/>
          <p:nvPr/>
        </p:nvSpPr>
        <p:spPr>
          <a:xfrm>
            <a:off x="173087" y="3845421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14" name="Text 111"/>
          <p:cNvSpPr/>
          <p:nvPr/>
        </p:nvSpPr>
        <p:spPr>
          <a:xfrm rot="16200000">
            <a:off x="2226022" y="3072259"/>
            <a:ext cx="57150" cy="57150"/>
          </a:xfrm>
          <a:prstGeom prst="triangle">
            <a:avLst/>
          </a:prstGeom>
          <a:solidFill>
            <a:srgbClr val="BE123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2"/>
          <p:cNvSpPr/>
          <p:nvPr/>
        </p:nvSpPr>
        <p:spPr>
          <a:xfrm>
            <a:off x="2321868" y="3062734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3"/>
          <p:cNvSpPr/>
          <p:nvPr/>
        </p:nvSpPr>
        <p:spPr>
          <a:xfrm>
            <a:off x="2331393" y="3072259"/>
            <a:ext cx="2216497" cy="103319"/>
          </a:xfrm>
          <a:prstGeom prst="rect">
            <a:avLst/>
          </a:prstGeom>
          <a:solidFill>
            <a:srgbClr val="4338CA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 SPECTRUM</a:t>
            </a:r>
            <a:endParaRPr lang="en-US" sz="340" dirty="0"/>
          </a:p>
        </p:txBody>
      </p:sp>
      <p:sp>
        <p:nvSpPr>
          <p:cNvPr id="117" name="Text 114"/>
          <p:cNvSpPr/>
          <p:nvPr/>
        </p:nvSpPr>
        <p:spPr>
          <a:xfrm>
            <a:off x="2366814" y="3186410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Psychotic Petra</a:t>
            </a:r>
            <a:endParaRPr lang="en-US" sz="460" dirty="0"/>
          </a:p>
        </p:txBody>
      </p:sp>
      <p:sp>
        <p:nvSpPr>
          <p:cNvPr id="118" name="Text 115"/>
          <p:cNvSpPr/>
          <p:nvPr/>
        </p:nvSpPr>
        <p:spPr>
          <a:xfrm>
            <a:off x="2366814" y="325829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 · F20.9</a:t>
            </a:r>
            <a:endParaRPr lang="en-US" sz="370" dirty="0"/>
          </a:p>
        </p:txBody>
      </p:sp>
      <p:sp>
        <p:nvSpPr>
          <p:cNvPr id="119" name="Text 116"/>
          <p:cNvSpPr/>
          <p:nvPr/>
        </p:nvSpPr>
        <p:spPr>
          <a:xfrm>
            <a:off x="2366814" y="332229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 Signs</a:t>
            </a:r>
            <a:endParaRPr lang="en-US" sz="370" dirty="0"/>
          </a:p>
        </p:txBody>
      </p:sp>
      <p:sp>
        <p:nvSpPr>
          <p:cNvPr id="120" name="Text 117"/>
          <p:cNvSpPr/>
          <p:nvPr/>
        </p:nvSpPr>
        <p:spPr>
          <a:xfrm>
            <a:off x="2366814" y="3850184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18"/>
          <p:cNvSpPr/>
          <p:nvPr/>
        </p:nvSpPr>
        <p:spPr>
          <a:xfrm>
            <a:off x="2437805" y="3845421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22" name="Text 119"/>
          <p:cNvSpPr/>
          <p:nvPr/>
        </p:nvSpPr>
        <p:spPr>
          <a:xfrm rot="16200000">
            <a:off x="4490740" y="3072259"/>
            <a:ext cx="57150" cy="57150"/>
          </a:xfrm>
          <a:prstGeom prst="triangle">
            <a:avLst/>
          </a:prstGeom>
          <a:solidFill>
            <a:srgbClr val="4338C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20"/>
          <p:cNvSpPr/>
          <p:nvPr/>
        </p:nvSpPr>
        <p:spPr>
          <a:xfrm>
            <a:off x="4586585" y="3062734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 121"/>
          <p:cNvSpPr/>
          <p:nvPr/>
        </p:nvSpPr>
        <p:spPr>
          <a:xfrm>
            <a:off x="4596110" y="3072259"/>
            <a:ext cx="2216497" cy="103319"/>
          </a:xfrm>
          <a:prstGeom prst="rect">
            <a:avLst/>
          </a:prstGeom>
          <a:solidFill>
            <a:srgbClr val="65743A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 &amp; STRESSOR-RELATED</a:t>
            </a:r>
            <a:endParaRPr lang="en-US" sz="340" dirty="0"/>
          </a:p>
        </p:txBody>
      </p:sp>
      <p:sp>
        <p:nvSpPr>
          <p:cNvPr id="125" name="Text 122"/>
          <p:cNvSpPr/>
          <p:nvPr/>
        </p:nvSpPr>
        <p:spPr>
          <a:xfrm>
            <a:off x="4631531" y="3186410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Triggered Trevor</a:t>
            </a:r>
            <a:endParaRPr lang="en-US" sz="460" dirty="0"/>
          </a:p>
        </p:txBody>
      </p:sp>
      <p:sp>
        <p:nvSpPr>
          <p:cNvPr id="126" name="Text 123"/>
          <p:cNvSpPr/>
          <p:nvPr/>
        </p:nvSpPr>
        <p:spPr>
          <a:xfrm>
            <a:off x="4631531" y="325829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· F43.10</a:t>
            </a:r>
            <a:endParaRPr lang="en-US" sz="370" dirty="0"/>
          </a:p>
        </p:txBody>
      </p:sp>
      <p:sp>
        <p:nvSpPr>
          <p:cNvPr id="127" name="Text 124"/>
          <p:cNvSpPr/>
          <p:nvPr/>
        </p:nvSpPr>
        <p:spPr>
          <a:xfrm>
            <a:off x="4631531" y="332229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 Month Duration</a:t>
            </a:r>
            <a:endParaRPr lang="en-US" sz="370" dirty="0"/>
          </a:p>
        </p:txBody>
      </p:sp>
      <p:sp>
        <p:nvSpPr>
          <p:cNvPr id="128" name="Text 125"/>
          <p:cNvSpPr/>
          <p:nvPr/>
        </p:nvSpPr>
        <p:spPr>
          <a:xfrm>
            <a:off x="4631531" y="3850184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126"/>
          <p:cNvSpPr/>
          <p:nvPr/>
        </p:nvSpPr>
        <p:spPr>
          <a:xfrm>
            <a:off x="4702522" y="3845421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30" name="Text 127"/>
          <p:cNvSpPr/>
          <p:nvPr/>
        </p:nvSpPr>
        <p:spPr>
          <a:xfrm rot="16200000">
            <a:off x="6755457" y="3072259"/>
            <a:ext cx="57150" cy="57150"/>
          </a:xfrm>
          <a:prstGeom prst="triangle">
            <a:avLst/>
          </a:prstGeom>
          <a:solidFill>
            <a:srgbClr val="65743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1" name="Text 128"/>
          <p:cNvSpPr/>
          <p:nvPr/>
        </p:nvSpPr>
        <p:spPr>
          <a:xfrm>
            <a:off x="6851303" y="3062734"/>
            <a:ext cx="2235547" cy="865138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129"/>
          <p:cNvSpPr/>
          <p:nvPr/>
        </p:nvSpPr>
        <p:spPr>
          <a:xfrm>
            <a:off x="6860828" y="3072259"/>
            <a:ext cx="2216497" cy="103319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&amp; RELATED DISORDERS</a:t>
            </a:r>
            <a:endParaRPr lang="en-US" sz="340" dirty="0"/>
          </a:p>
        </p:txBody>
      </p:sp>
      <p:sp>
        <p:nvSpPr>
          <p:cNvPr id="133" name="Text 130"/>
          <p:cNvSpPr/>
          <p:nvPr/>
        </p:nvSpPr>
        <p:spPr>
          <a:xfrm>
            <a:off x="6896249" y="3186410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Compulsive Carmen</a:t>
            </a:r>
            <a:endParaRPr lang="en-US" sz="460" dirty="0"/>
          </a:p>
        </p:txBody>
      </p:sp>
      <p:sp>
        <p:nvSpPr>
          <p:cNvPr id="134" name="Text 131"/>
          <p:cNvSpPr/>
          <p:nvPr/>
        </p:nvSpPr>
        <p:spPr>
          <a:xfrm>
            <a:off x="6896249" y="3258294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 · F42.2</a:t>
            </a:r>
            <a:endParaRPr lang="en-US" sz="370" dirty="0"/>
          </a:p>
        </p:txBody>
      </p:sp>
      <p:sp>
        <p:nvSpPr>
          <p:cNvPr id="135" name="Text 132"/>
          <p:cNvSpPr/>
          <p:nvPr/>
        </p:nvSpPr>
        <p:spPr>
          <a:xfrm>
            <a:off x="6896249" y="3322290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 Hour/Day</a:t>
            </a:r>
            <a:endParaRPr lang="en-US" sz="370" dirty="0"/>
          </a:p>
        </p:txBody>
      </p:sp>
      <p:sp>
        <p:nvSpPr>
          <p:cNvPr id="136" name="Text 133"/>
          <p:cNvSpPr/>
          <p:nvPr/>
        </p:nvSpPr>
        <p:spPr>
          <a:xfrm>
            <a:off x="6896249" y="3850184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7" name="Text 134"/>
          <p:cNvSpPr/>
          <p:nvPr/>
        </p:nvSpPr>
        <p:spPr>
          <a:xfrm>
            <a:off x="6967240" y="3845421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38" name="Text 135"/>
          <p:cNvSpPr/>
          <p:nvPr/>
        </p:nvSpPr>
        <p:spPr>
          <a:xfrm rot="16200000">
            <a:off x="9020175" y="3072259"/>
            <a:ext cx="57150" cy="57150"/>
          </a:xfrm>
          <a:prstGeom prst="triangle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36"/>
          <p:cNvSpPr/>
          <p:nvPr/>
        </p:nvSpPr>
        <p:spPr>
          <a:xfrm>
            <a:off x="57150" y="3957042"/>
            <a:ext cx="2235547" cy="865287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137"/>
          <p:cNvSpPr/>
          <p:nvPr/>
        </p:nvSpPr>
        <p:spPr>
          <a:xfrm>
            <a:off x="66675" y="3966567"/>
            <a:ext cx="2216497" cy="103319"/>
          </a:xfrm>
          <a:prstGeom prst="rect">
            <a:avLst/>
          </a:prstGeom>
          <a:solidFill>
            <a:srgbClr val="16A34A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</a:t>
            </a:r>
            <a:endParaRPr lang="en-US" sz="340" dirty="0"/>
          </a:p>
        </p:txBody>
      </p:sp>
      <p:sp>
        <p:nvSpPr>
          <p:cNvPr id="141" name="Text 138"/>
          <p:cNvSpPr/>
          <p:nvPr/>
        </p:nvSpPr>
        <p:spPr>
          <a:xfrm>
            <a:off x="102096" y="4080718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Distracted Danny</a:t>
            </a:r>
            <a:endParaRPr lang="en-US" sz="460" dirty="0"/>
          </a:p>
        </p:txBody>
      </p:sp>
      <p:sp>
        <p:nvSpPr>
          <p:cNvPr id="142" name="Text 139"/>
          <p:cNvSpPr/>
          <p:nvPr/>
        </p:nvSpPr>
        <p:spPr>
          <a:xfrm>
            <a:off x="102096" y="415260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· F90.2</a:t>
            </a:r>
            <a:endParaRPr lang="en-US" sz="370" dirty="0"/>
          </a:p>
        </p:txBody>
      </p:sp>
      <p:sp>
        <p:nvSpPr>
          <p:cNvPr id="143" name="Text 140"/>
          <p:cNvSpPr/>
          <p:nvPr/>
        </p:nvSpPr>
        <p:spPr>
          <a:xfrm>
            <a:off x="102096" y="421659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Presentation</a:t>
            </a:r>
            <a:endParaRPr lang="en-US" sz="370" dirty="0"/>
          </a:p>
        </p:txBody>
      </p:sp>
      <p:sp>
        <p:nvSpPr>
          <p:cNvPr id="144" name="Text 141"/>
          <p:cNvSpPr/>
          <p:nvPr/>
        </p:nvSpPr>
        <p:spPr>
          <a:xfrm>
            <a:off x="102096" y="4744641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42"/>
          <p:cNvSpPr/>
          <p:nvPr/>
        </p:nvSpPr>
        <p:spPr>
          <a:xfrm>
            <a:off x="173087" y="4739878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46" name="Text 143"/>
          <p:cNvSpPr/>
          <p:nvPr/>
        </p:nvSpPr>
        <p:spPr>
          <a:xfrm rot="16200000">
            <a:off x="2226022" y="3966567"/>
            <a:ext cx="57150" cy="57150"/>
          </a:xfrm>
          <a:prstGeom prst="triangle">
            <a:avLst/>
          </a:prstGeom>
          <a:solidFill>
            <a:srgbClr val="16A3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44"/>
          <p:cNvSpPr/>
          <p:nvPr/>
        </p:nvSpPr>
        <p:spPr>
          <a:xfrm>
            <a:off x="2321868" y="3957042"/>
            <a:ext cx="2235547" cy="865287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8" name="Text 145"/>
          <p:cNvSpPr/>
          <p:nvPr/>
        </p:nvSpPr>
        <p:spPr>
          <a:xfrm>
            <a:off x="2331393" y="3966567"/>
            <a:ext cx="2216497" cy="103319"/>
          </a:xfrm>
          <a:prstGeom prst="rect">
            <a:avLst/>
          </a:prstGeom>
          <a:solidFill>
            <a:srgbClr val="D97706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&amp; RELATED</a:t>
            </a:r>
            <a:endParaRPr lang="en-US" sz="340" dirty="0"/>
          </a:p>
        </p:txBody>
      </p:sp>
      <p:sp>
        <p:nvSpPr>
          <p:cNvPr id="149" name="Text 146"/>
          <p:cNvSpPr/>
          <p:nvPr/>
        </p:nvSpPr>
        <p:spPr>
          <a:xfrm>
            <a:off x="2366814" y="4080718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Manic Max</a:t>
            </a:r>
            <a:endParaRPr lang="en-US" sz="460" dirty="0"/>
          </a:p>
        </p:txBody>
      </p:sp>
      <p:sp>
        <p:nvSpPr>
          <p:cNvPr id="150" name="Text 147"/>
          <p:cNvSpPr/>
          <p:nvPr/>
        </p:nvSpPr>
        <p:spPr>
          <a:xfrm>
            <a:off x="2366814" y="415260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I · F31.11</a:t>
            </a:r>
            <a:endParaRPr lang="en-US" sz="370" dirty="0"/>
          </a:p>
        </p:txBody>
      </p:sp>
      <p:sp>
        <p:nvSpPr>
          <p:cNvPr id="151" name="Text 148"/>
          <p:cNvSpPr/>
          <p:nvPr/>
        </p:nvSpPr>
        <p:spPr>
          <a:xfrm>
            <a:off x="2366814" y="421659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 Episode ≥7 Days</a:t>
            </a:r>
            <a:endParaRPr lang="en-US" sz="370" dirty="0"/>
          </a:p>
        </p:txBody>
      </p:sp>
      <p:sp>
        <p:nvSpPr>
          <p:cNvPr id="152" name="Text 149"/>
          <p:cNvSpPr/>
          <p:nvPr/>
        </p:nvSpPr>
        <p:spPr>
          <a:xfrm>
            <a:off x="2366814" y="4744641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3" name="Text 150"/>
          <p:cNvSpPr/>
          <p:nvPr/>
        </p:nvSpPr>
        <p:spPr>
          <a:xfrm>
            <a:off x="2437805" y="4739878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54" name="Text 151"/>
          <p:cNvSpPr/>
          <p:nvPr/>
        </p:nvSpPr>
        <p:spPr>
          <a:xfrm rot="16200000">
            <a:off x="4490740" y="3966567"/>
            <a:ext cx="57150" cy="57150"/>
          </a:xfrm>
          <a:prstGeom prst="triangle">
            <a:avLst/>
          </a:prstGeom>
          <a:solidFill>
            <a:srgbClr val="D9770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5" name="Text 152"/>
          <p:cNvSpPr/>
          <p:nvPr/>
        </p:nvSpPr>
        <p:spPr>
          <a:xfrm>
            <a:off x="4586585" y="3957042"/>
            <a:ext cx="2235547" cy="865287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6" name="Text 153"/>
          <p:cNvSpPr/>
          <p:nvPr/>
        </p:nvSpPr>
        <p:spPr>
          <a:xfrm>
            <a:off x="4596110" y="3966567"/>
            <a:ext cx="2216497" cy="103319"/>
          </a:xfrm>
          <a:prstGeom prst="rect">
            <a:avLst/>
          </a:prstGeom>
          <a:solidFill>
            <a:srgbClr val="C89B20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DISORDERS</a:t>
            </a:r>
            <a:endParaRPr lang="en-US" sz="340" dirty="0"/>
          </a:p>
        </p:txBody>
      </p:sp>
      <p:sp>
        <p:nvSpPr>
          <p:cNvPr id="157" name="Text 154"/>
          <p:cNvSpPr/>
          <p:nvPr/>
        </p:nvSpPr>
        <p:spPr>
          <a:xfrm>
            <a:off x="4631531" y="4080718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Worrywart Wren</a:t>
            </a:r>
            <a:endParaRPr lang="en-US" sz="460" dirty="0"/>
          </a:p>
        </p:txBody>
      </p:sp>
      <p:sp>
        <p:nvSpPr>
          <p:cNvPr id="158" name="Text 155"/>
          <p:cNvSpPr/>
          <p:nvPr/>
        </p:nvSpPr>
        <p:spPr>
          <a:xfrm>
            <a:off x="4631531" y="415260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 · F41.1</a:t>
            </a:r>
            <a:endParaRPr lang="en-US" sz="370" dirty="0"/>
          </a:p>
        </p:txBody>
      </p:sp>
      <p:sp>
        <p:nvSpPr>
          <p:cNvPr id="159" name="Text 156"/>
          <p:cNvSpPr/>
          <p:nvPr/>
        </p:nvSpPr>
        <p:spPr>
          <a:xfrm>
            <a:off x="4631531" y="421659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Months, ≥3 Sx</a:t>
            </a:r>
            <a:endParaRPr lang="en-US" sz="370" dirty="0"/>
          </a:p>
        </p:txBody>
      </p:sp>
      <p:sp>
        <p:nvSpPr>
          <p:cNvPr id="160" name="Text 157"/>
          <p:cNvSpPr/>
          <p:nvPr/>
        </p:nvSpPr>
        <p:spPr>
          <a:xfrm>
            <a:off x="4631531" y="4744641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1" name="Text 158"/>
          <p:cNvSpPr/>
          <p:nvPr/>
        </p:nvSpPr>
        <p:spPr>
          <a:xfrm>
            <a:off x="4702522" y="4739878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62" name="Text 159"/>
          <p:cNvSpPr/>
          <p:nvPr/>
        </p:nvSpPr>
        <p:spPr>
          <a:xfrm rot="16200000">
            <a:off x="6755457" y="3966567"/>
            <a:ext cx="57150" cy="57150"/>
          </a:xfrm>
          <a:prstGeom prst="triangle">
            <a:avLst/>
          </a:prstGeom>
          <a:solidFill>
            <a:srgbClr val="C89B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3" name="Text 160"/>
          <p:cNvSpPr/>
          <p:nvPr/>
        </p:nvSpPr>
        <p:spPr>
          <a:xfrm>
            <a:off x="6851303" y="3957042"/>
            <a:ext cx="2235547" cy="865287"/>
          </a:xfrm>
          <a:prstGeom prst="roundRect">
            <a:avLst>
              <a:gd name="adj" fmla="val 3376"/>
            </a:avLst>
          </a:prstGeom>
          <a:solidFill>
            <a:srgbClr val="1E3045"/>
          </a:solidFill>
          <a:ln w="9525">
            <a:solidFill>
              <a:srgbClr val="5BA4C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4" name="Text 161"/>
          <p:cNvSpPr/>
          <p:nvPr/>
        </p:nvSpPr>
        <p:spPr>
          <a:xfrm>
            <a:off x="6860828" y="3966567"/>
            <a:ext cx="2216497" cy="103319"/>
          </a:xfrm>
          <a:prstGeom prst="rect">
            <a:avLst/>
          </a:prstGeom>
          <a:solidFill>
            <a:srgbClr val="2563A0"/>
          </a:solidFill>
          <a:ln/>
        </p:spPr>
        <p:txBody>
          <a:bodyPr wrap="none" lIns="43180" tIns="0" rIns="43180" bIns="0" rtlCol="0" anchor="ctr"/>
          <a:lstStyle/>
          <a:p>
            <a:pPr marL="0" indent="0" algn="l">
              <a:buNone/>
            </a:pPr>
            <a:r>
              <a:rPr lang="en-US" sz="34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DISORDERS</a:t>
            </a:r>
            <a:endParaRPr lang="en-US" sz="340" dirty="0"/>
          </a:p>
        </p:txBody>
      </p:sp>
      <p:sp>
        <p:nvSpPr>
          <p:cNvPr id="165" name="Text 162"/>
          <p:cNvSpPr/>
          <p:nvPr/>
        </p:nvSpPr>
        <p:spPr>
          <a:xfrm>
            <a:off x="6896249" y="4080718"/>
            <a:ext cx="2360221" cy="64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"/>
              </a:lnSpc>
              <a:buNone/>
            </a:pPr>
            <a:r>
              <a:rPr lang="en-US" sz="460" b="1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Melancholy Morgan</a:t>
            </a:r>
            <a:endParaRPr lang="en-US" sz="460" dirty="0"/>
          </a:p>
        </p:txBody>
      </p:sp>
      <p:sp>
        <p:nvSpPr>
          <p:cNvPr id="166" name="Text 163"/>
          <p:cNvSpPr/>
          <p:nvPr/>
        </p:nvSpPr>
        <p:spPr>
          <a:xfrm>
            <a:off x="6896249" y="4152602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· F32.1</a:t>
            </a:r>
            <a:endParaRPr lang="en-US" sz="370" dirty="0"/>
          </a:p>
        </p:txBody>
      </p:sp>
      <p:sp>
        <p:nvSpPr>
          <p:cNvPr id="167" name="Text 164"/>
          <p:cNvSpPr/>
          <p:nvPr/>
        </p:nvSpPr>
        <p:spPr>
          <a:xfrm>
            <a:off x="6896249" y="4216598"/>
            <a:ext cx="2360221" cy="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4"/>
              </a:lnSpc>
              <a:buNone/>
            </a:pPr>
            <a:r>
              <a:rPr lang="en-US" sz="37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Weeks, ≥5 Sx</a:t>
            </a:r>
            <a:endParaRPr lang="en-US" sz="370" dirty="0"/>
          </a:p>
        </p:txBody>
      </p:sp>
      <p:sp>
        <p:nvSpPr>
          <p:cNvPr id="168" name="Text 165"/>
          <p:cNvSpPr/>
          <p:nvPr/>
        </p:nvSpPr>
        <p:spPr>
          <a:xfrm>
            <a:off x="6896249" y="4744641"/>
            <a:ext cx="49411" cy="49411"/>
          </a:xfrm>
          <a:prstGeom prst="roundRect">
            <a:avLst>
              <a:gd name="adj" fmla="val 15422"/>
            </a:avLst>
          </a:prstGeom>
          <a:solidFill>
            <a:srgbClr val="5BA4CF">
              <a:alpha val="4000"/>
            </a:srgbClr>
          </a:solidFill>
          <a:ln w="9525">
            <a:solidFill>
              <a:srgbClr val="5BA4CF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9" name="Text 166"/>
          <p:cNvSpPr/>
          <p:nvPr/>
        </p:nvSpPr>
        <p:spPr>
          <a:xfrm>
            <a:off x="6967240" y="4739878"/>
            <a:ext cx="298118" cy="59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65"/>
              </a:lnSpc>
              <a:buNone/>
            </a:pPr>
            <a:r>
              <a:rPr lang="en-US" sz="31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310" dirty="0"/>
          </a:p>
        </p:txBody>
      </p:sp>
      <p:sp>
        <p:nvSpPr>
          <p:cNvPr id="170" name="Text 167"/>
          <p:cNvSpPr/>
          <p:nvPr/>
        </p:nvSpPr>
        <p:spPr>
          <a:xfrm rot="16200000">
            <a:off x="9020175" y="3966567"/>
            <a:ext cx="57150" cy="57150"/>
          </a:xfrm>
          <a:prstGeom prst="triangle">
            <a:avLst/>
          </a:prstGeom>
          <a:solidFill>
            <a:srgbClr val="2563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1" name="Text 168"/>
          <p:cNvSpPr/>
          <p:nvPr/>
        </p:nvSpPr>
        <p:spPr>
          <a:xfrm>
            <a:off x="0" y="4967139"/>
            <a:ext cx="9144000" cy="176361"/>
          </a:xfrm>
          <a:prstGeom prst="rect">
            <a:avLst/>
          </a:prstGeom>
          <a:gradFill rotWithShape="1">
            <a:gsLst>
              <a:gs pos="0">
                <a:srgbClr val="162130"/>
              </a:gs>
              <a:gs pos="50000">
                <a:srgbClr val="1E2F42"/>
              </a:gs>
              <a:gs pos="100000">
                <a:srgbClr val="16213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2" name="Text 169"/>
          <p:cNvSpPr/>
          <p:nvPr/>
        </p:nvSpPr>
        <p:spPr>
          <a:xfrm>
            <a:off x="0" y="4967139"/>
            <a:ext cx="9144000" cy="9525"/>
          </a:xfrm>
          <a:prstGeom prst="rect">
            <a:avLst/>
          </a:prstGeom>
          <a:solidFill>
            <a:srgbClr val="5BA4C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98" y="4993788"/>
            <a:ext cx="132588" cy="132588"/>
          </a:xfrm>
          <a:prstGeom prst="rect">
            <a:avLst/>
          </a:prstGeom>
        </p:spPr>
      </p:pic>
      <p:sp>
        <p:nvSpPr>
          <p:cNvPr id="174" name="Text 170"/>
          <p:cNvSpPr/>
          <p:nvPr/>
        </p:nvSpPr>
        <p:spPr>
          <a:xfrm>
            <a:off x="254794" y="5014317"/>
            <a:ext cx="1880056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show your secret character to your opponent.</a:t>
            </a:r>
            <a:endParaRPr lang="en-US" sz="480" dirty="0"/>
          </a:p>
        </p:txBody>
      </p:sp>
      <p:sp>
        <p:nvSpPr>
          <p:cNvPr id="175" name="Text 171"/>
          <p:cNvSpPr/>
          <p:nvPr/>
        </p:nvSpPr>
        <p:spPr>
          <a:xfrm>
            <a:off x="4955530" y="5020121"/>
            <a:ext cx="240311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dirty="0">
                <a:solidFill>
                  <a:srgbClr val="63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board is the mirror of Player 1 — matching positions for face-to-face gameplay.</a:t>
            </a:r>
            <a:endParaRPr lang="en-US" sz="420" dirty="0"/>
          </a:p>
        </p:txBody>
      </p:sp>
      <p:sp>
        <p:nvSpPr>
          <p:cNvPr id="176" name="Text 172"/>
          <p:cNvSpPr/>
          <p:nvPr/>
        </p:nvSpPr>
        <p:spPr>
          <a:xfrm>
            <a:off x="7254478" y="5020121"/>
            <a:ext cx="9525" cy="79921"/>
          </a:xfrm>
          <a:prstGeom prst="rect">
            <a:avLst/>
          </a:prstGeom>
          <a:solidFill>
            <a:srgbClr val="5BA4C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7487" y="4993713"/>
            <a:ext cx="132588" cy="132588"/>
          </a:xfrm>
          <a:prstGeom prst="rect">
            <a:avLst/>
          </a:prstGeom>
        </p:spPr>
      </p:pic>
      <p:sp>
        <p:nvSpPr>
          <p:cNvPr id="178" name="Text 173"/>
          <p:cNvSpPr/>
          <p:nvPr/>
        </p:nvSpPr>
        <p:spPr>
          <a:xfrm>
            <a:off x="7458670" y="5020121"/>
            <a:ext cx="884530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CHARACTERS · DSM-5-TR</a:t>
            </a:r>
            <a:endParaRPr lang="en-US" sz="420" dirty="0"/>
          </a:p>
        </p:txBody>
      </p:sp>
      <p:sp>
        <p:nvSpPr>
          <p:cNvPr id="179" name="Text 174"/>
          <p:cNvSpPr/>
          <p:nvPr/>
        </p:nvSpPr>
        <p:spPr>
          <a:xfrm>
            <a:off x="8377089" y="5005834"/>
            <a:ext cx="638770" cy="111751"/>
          </a:xfrm>
          <a:prstGeom prst="roundRect">
            <a:avLst>
              <a:gd name="adj" fmla="val 12501"/>
            </a:avLst>
          </a:prstGeom>
          <a:solidFill>
            <a:srgbClr val="5BA4CF">
              <a:alpha val="12000"/>
            </a:srgbClr>
          </a:solidFill>
          <a:ln w="9525">
            <a:solidFill>
              <a:srgbClr val="5BA4CF">
                <a:alpha val="30000"/>
              </a:srgbClr>
            </a:solidFill>
          </a:ln>
        </p:spPr>
        <p:txBody>
          <a:bodyPr wrap="none" lIns="49530" tIns="7620" rIns="49530" bIns="7620" rtlCol="0" anchor="t"/>
          <a:lstStyle/>
          <a:p>
            <a:pPr marL="0" indent="0" algn="l">
              <a:buNone/>
            </a:pPr>
            <a:r>
              <a:rPr lang="en-US" sz="390" b="1" kern="0" spc="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BOARD</a:t>
            </a:r>
            <a:endParaRPr lang="en-US" sz="390" dirty="0"/>
          </a:p>
        </p:txBody>
      </p:sp>
      <p:sp>
        <p:nvSpPr>
          <p:cNvPr id="180" name="Text 175"/>
          <p:cNvSpPr/>
          <p:nvPr/>
        </p:nvSpPr>
        <p:spPr>
          <a:xfrm>
            <a:off x="0" y="0"/>
            <a:ext cx="9144000" cy="33158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5BA4CF">
                  <a:alpha val="4000"/>
                </a:srgbClr>
              </a:gs>
              <a:gs pos="100000">
                <a:srgbClr val="5BA4CF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2679</Words>
  <Application>Microsoft Macintosh PowerPoint</Application>
  <PresentationFormat>On-screen Show (16:9)</PresentationFormat>
  <Paragraphs>553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Topher Fuqua</cp:lastModifiedBy>
  <cp:revision>1</cp:revision>
  <dcterms:created xsi:type="dcterms:W3CDTF">2026-06-11T01:52:49Z</dcterms:created>
  <dcterms:modified xsi:type="dcterms:W3CDTF">2026-06-20T15:03:02Z</dcterms:modified>
</cp:coreProperties>
</file>