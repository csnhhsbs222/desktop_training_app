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5E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43"/>
    <p:restoredTop sz="94610"/>
  </p:normalViewPr>
  <p:slideViewPr>
    <p:cSldViewPr snapToGrid="0" snapToObjects="1">
      <p:cViewPr varScale="1">
        <p:scale>
          <a:sx n="132" d="100"/>
          <a:sy n="132" d="100"/>
        </p:scale>
        <p:origin x="17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598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sv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svg"/></Relationships>
</file>

<file path=ppt/slides/_rels/slide9.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10.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1.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51.sv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50.svg"/><Relationship Id="rId17" Type="http://schemas.openxmlformats.org/officeDocument/2006/relationships/image" Target="../media/image55.svg"/><Relationship Id="rId2" Type="http://schemas.openxmlformats.org/officeDocument/2006/relationships/notesSlide" Target="../notesSlides/notesSlide11.xml"/><Relationship Id="rId16" Type="http://schemas.openxmlformats.org/officeDocument/2006/relationships/image" Target="../media/image54.svg"/><Relationship Id="rId1" Type="http://schemas.openxmlformats.org/officeDocument/2006/relationships/slideLayout" Target="../slideLayouts/slideLayout1.xml"/><Relationship Id="rId6" Type="http://schemas.openxmlformats.org/officeDocument/2006/relationships/image" Target="../media/image44.svg"/><Relationship Id="rId11" Type="http://schemas.openxmlformats.org/officeDocument/2006/relationships/image" Target="../media/image49.svg"/><Relationship Id="rId5" Type="http://schemas.openxmlformats.org/officeDocument/2006/relationships/image" Target="../media/image43.svg"/><Relationship Id="rId15" Type="http://schemas.openxmlformats.org/officeDocument/2006/relationships/image" Target="../media/image53.sv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svg"/><Relationship Id="rId14" Type="http://schemas.openxmlformats.org/officeDocument/2006/relationships/image" Target="../media/image52.svg"/></Relationships>
</file>

<file path=ppt/slides/_rels/slide12.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 Id="rId9" Type="http://schemas.openxmlformats.org/officeDocument/2006/relationships/image" Target="../media/image62.svg"/></Relationships>
</file>

<file path=ppt/slides/_rels/slide13.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svg"/><Relationship Id="rId7" Type="http://schemas.openxmlformats.org/officeDocument/2006/relationships/image" Target="../media/image67.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6.svg"/><Relationship Id="rId11" Type="http://schemas.openxmlformats.org/officeDocument/2006/relationships/image" Target="../media/image71.svg"/><Relationship Id="rId5" Type="http://schemas.openxmlformats.org/officeDocument/2006/relationships/image" Target="../media/image65.sv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svg"/></Relationships>
</file>

<file path=ppt/slides/_rels/slide14.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5.svg"/><Relationship Id="rId5" Type="http://schemas.openxmlformats.org/officeDocument/2006/relationships/image" Target="../media/image74.svg"/><Relationship Id="rId4" Type="http://schemas.openxmlformats.org/officeDocument/2006/relationships/image" Target="../media/image73.svg"/></Relationships>
</file>

<file path=ppt/slides/_rels/slide15.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6.svg"/><Relationship Id="rId7" Type="http://schemas.openxmlformats.org/officeDocument/2006/relationships/image" Target="../media/image80.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9.svg"/><Relationship Id="rId5" Type="http://schemas.openxmlformats.org/officeDocument/2006/relationships/image" Target="../media/image78.svg"/><Relationship Id="rId4" Type="http://schemas.openxmlformats.org/officeDocument/2006/relationships/image" Target="../media/image77.svg"/></Relationships>
</file>

<file path=ppt/slides/_rels/slide1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hyperlink" Target="https://forms.office.com/r/EXVCQtPbti"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2714030" cy="2571750"/>
          </a:xfrm>
          <a:prstGeom prst="ellipse">
            <a:avLst/>
          </a:prstGeom>
          <a:noFill/>
          <a:ln w="9525">
            <a:solidFill>
              <a:srgbClr val="FFFFFF">
                <a:alpha val="6000"/>
              </a:srgbClr>
            </a:solidFill>
          </a:ln>
        </p:spPr>
        <p:txBody>
          <a:bodyPr wrap="square" rtlCol="0" anchor="t"/>
          <a:lstStyle/>
          <a:p>
            <a:pPr marL="0" indent="0">
              <a:buNone/>
            </a:pPr>
            <a:endParaRPr lang="en-US" dirty="0"/>
          </a:p>
        </p:txBody>
      </p:sp>
      <p:sp>
        <p:nvSpPr>
          <p:cNvPr id="3" name="Text 1"/>
          <p:cNvSpPr/>
          <p:nvPr/>
        </p:nvSpPr>
        <p:spPr>
          <a:xfrm>
            <a:off x="0" y="0"/>
            <a:ext cx="2142530" cy="2000250"/>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4" name="Text 2"/>
          <p:cNvSpPr/>
          <p:nvPr/>
        </p:nvSpPr>
        <p:spPr>
          <a:xfrm>
            <a:off x="6715720" y="3000970"/>
            <a:ext cx="2428280" cy="2142530"/>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5" name="Text 3"/>
          <p:cNvSpPr/>
          <p:nvPr/>
        </p:nvSpPr>
        <p:spPr>
          <a:xfrm>
            <a:off x="7429500" y="3714750"/>
            <a:ext cx="1714500" cy="1428750"/>
          </a:xfrm>
          <a:prstGeom prst="ellipse">
            <a:avLst/>
          </a:prstGeom>
          <a:noFill/>
          <a:ln w="9525">
            <a:solidFill>
              <a:srgbClr val="FAB753">
                <a:alpha val="8000"/>
              </a:srgbClr>
            </a:solidFill>
          </a:ln>
        </p:spPr>
        <p:txBody>
          <a:bodyPr wrap="square" rtlCol="0" anchor="t"/>
          <a:lstStyle/>
          <a:p>
            <a:pPr marL="0" indent="0">
              <a:buNone/>
            </a:pPr>
            <a:endParaRPr lang="en-US" dirty="0"/>
          </a:p>
        </p:txBody>
      </p:sp>
      <p:sp>
        <p:nvSpPr>
          <p:cNvPr id="6" name="Text 4"/>
          <p:cNvSpPr/>
          <p:nvPr/>
        </p:nvSpPr>
        <p:spPr>
          <a:xfrm>
            <a:off x="0" y="1857375"/>
            <a:ext cx="35421" cy="1428750"/>
          </a:xfrm>
          <a:prstGeom prst="rect">
            <a:avLst/>
          </a:prstGeom>
          <a:gradFill rotWithShape="1">
            <a:gsLst>
              <a:gs pos="0">
                <a:srgbClr val="000000">
                  <a:alpha val="0"/>
                </a:srgbClr>
              </a:gs>
              <a:gs pos="40000">
                <a:srgbClr val="FAB753"/>
              </a:gs>
              <a:gs pos="60000">
                <a:srgbClr val="FAB753"/>
              </a:gs>
              <a:gs pos="100000">
                <a:srgbClr val="000000">
                  <a:alpha val="0"/>
                </a:srgbClr>
              </a:gs>
            </a:gsLst>
            <a:lin ang="5400000" scaled="1"/>
          </a:gradFill>
          <a:ln/>
        </p:spPr>
        <p:txBody>
          <a:bodyPr wrap="square" rtlCol="0" anchor="t"/>
          <a:lstStyle/>
          <a:p>
            <a:pPr marL="0" indent="0">
              <a:buNone/>
            </a:pPr>
            <a:endParaRPr lang="en-US" dirty="0"/>
          </a:p>
        </p:txBody>
      </p:sp>
      <p:sp>
        <p:nvSpPr>
          <p:cNvPr id="7" name="Text 5"/>
          <p:cNvSpPr/>
          <p:nvPr/>
        </p:nvSpPr>
        <p:spPr>
          <a:xfrm>
            <a:off x="9108579" y="1857375"/>
            <a:ext cx="35421" cy="1428750"/>
          </a:xfrm>
          <a:prstGeom prst="roundRect">
            <a:avLst>
              <a:gd name="adj" fmla="val 60953"/>
            </a:avLst>
          </a:prstGeom>
          <a:gradFill rotWithShape="1">
            <a:gsLst>
              <a:gs pos="0">
                <a:srgbClr val="000000">
                  <a:alpha val="0"/>
                </a:srgbClr>
              </a:gs>
              <a:gs pos="40000">
                <a:srgbClr val="FFFFFF">
                  <a:alpha val="12000"/>
                </a:srgbClr>
              </a:gs>
              <a:gs pos="60000">
                <a:srgbClr val="FFFFFF">
                  <a:alpha val="12000"/>
                </a:srgbClr>
              </a:gs>
              <a:gs pos="100000">
                <a:srgbClr val="000000">
                  <a:alpha val="0"/>
                </a:srgbClr>
              </a:gs>
            </a:gsLst>
            <a:lin ang="5400000" scaled="1"/>
          </a:gradFill>
          <a:ln/>
        </p:spPr>
        <p:txBody>
          <a:bodyPr wrap="square" rtlCol="0" anchor="t"/>
          <a:lstStyle/>
          <a:p>
            <a:pPr marL="0" indent="0">
              <a:buNone/>
            </a:pPr>
            <a:endParaRPr lang="en-US" dirty="0"/>
          </a:p>
        </p:txBody>
      </p:sp>
      <p:sp>
        <p:nvSpPr>
          <p:cNvPr id="8" name="Text 6"/>
          <p:cNvSpPr/>
          <p:nvPr/>
        </p:nvSpPr>
        <p:spPr>
          <a:xfrm>
            <a:off x="0" y="0"/>
            <a:ext cx="9144000" cy="29170"/>
          </a:xfrm>
          <a:prstGeom prst="rect">
            <a:avLst/>
          </a:prstGeom>
          <a:gradFill rotWithShape="1">
            <a:gsLst>
              <a:gs pos="0">
                <a:srgbClr val="000000">
                  <a:alpha val="0"/>
                </a:srgbClr>
              </a:gs>
              <a:gs pos="30000">
                <a:srgbClr val="FAB753"/>
              </a:gs>
              <a:gs pos="70000">
                <a:srgbClr val="FAB753"/>
              </a:gs>
              <a:gs pos="100000">
                <a:srgbClr val="000000">
                  <a:alpha val="0"/>
                </a:srgbClr>
              </a:gs>
            </a:gsLst>
            <a:lin ang="0" scaled="1"/>
          </a:gradFill>
          <a:ln/>
        </p:spPr>
        <p:txBody>
          <a:bodyPr wrap="none" rtlCol="0" anchor="t"/>
          <a:lstStyle/>
          <a:p>
            <a:pPr marL="0" indent="0">
              <a:buNone/>
            </a:pPr>
            <a:endParaRPr lang="en-US" dirty="0"/>
          </a:p>
        </p:txBody>
      </p:sp>
      <p:sp>
        <p:nvSpPr>
          <p:cNvPr id="9" name="Text 7"/>
          <p:cNvSpPr/>
          <p:nvPr/>
        </p:nvSpPr>
        <p:spPr>
          <a:xfrm>
            <a:off x="0" y="5114330"/>
            <a:ext cx="9144000" cy="29170"/>
          </a:xfrm>
          <a:prstGeom prst="rect">
            <a:avLst/>
          </a:prstGeom>
          <a:gradFill rotWithShape="1">
            <a:gsLst>
              <a:gs pos="0">
                <a:srgbClr val="000000">
                  <a:alpha val="0"/>
                </a:srgbClr>
              </a:gs>
              <a:gs pos="30000">
                <a:srgbClr val="FFFFFF">
                  <a:alpha val="15000"/>
                </a:srgbClr>
              </a:gs>
              <a:gs pos="70000">
                <a:srgbClr val="FFFFFF">
                  <a:alpha val="15000"/>
                </a:srgbClr>
              </a:gs>
              <a:gs pos="100000">
                <a:srgbClr val="000000">
                  <a:alpha val="0"/>
                </a:srgbClr>
              </a:gs>
            </a:gsLst>
            <a:lin ang="0" scaled="1"/>
          </a:gradFill>
          <a:ln/>
        </p:spPr>
        <p:txBody>
          <a:bodyPr wrap="none" rtlCol="0" anchor="t"/>
          <a:lstStyle/>
          <a:p>
            <a:pPr marL="0" indent="0">
              <a:buNone/>
            </a:pPr>
            <a:endParaRPr lang="en-US" dirty="0"/>
          </a:p>
        </p:txBody>
      </p:sp>
      <p:sp>
        <p:nvSpPr>
          <p:cNvPr id="10" name="Text 8"/>
          <p:cNvSpPr/>
          <p:nvPr/>
        </p:nvSpPr>
        <p:spPr>
          <a:xfrm>
            <a:off x="3072408" y="1393925"/>
            <a:ext cx="2999184" cy="139005"/>
          </a:xfrm>
          <a:prstGeom prst="rect">
            <a:avLst/>
          </a:prstGeom>
          <a:noFill/>
          <a:ln/>
        </p:spPr>
        <p:txBody>
          <a:bodyPr wrap="none" lIns="0" tIns="0" rIns="0" bIns="0" rtlCol="0" anchor="t"/>
          <a:lstStyle/>
          <a:p>
            <a:pPr marL="0" indent="0" algn="l">
              <a:lnSpc>
                <a:spcPts val="1095"/>
              </a:lnSpc>
              <a:buNone/>
            </a:pPr>
            <a:r>
              <a:rPr lang="en-US" sz="730" b="1" kern="0" spc="161" dirty="0">
                <a:solidFill>
                  <a:srgbClr val="FAB753"/>
                </a:solidFill>
                <a:latin typeface="Calibri" pitchFamily="34" charset="0"/>
                <a:ea typeface="Calibri" pitchFamily="34" charset="-122"/>
                <a:cs typeface="Calibri" pitchFamily="34" charset="-120"/>
              </a:rPr>
              <a:t>CENTERSTONE SCHOOL-BASED CLINICAL TRAINING SERIES</a:t>
            </a:r>
            <a:endParaRPr lang="en-US" sz="730" dirty="0"/>
          </a:p>
        </p:txBody>
      </p:sp>
      <p:sp>
        <p:nvSpPr>
          <p:cNvPr id="11" name="Text 9"/>
          <p:cNvSpPr/>
          <p:nvPr/>
        </p:nvSpPr>
        <p:spPr>
          <a:xfrm>
            <a:off x="4357390" y="1774031"/>
            <a:ext cx="429220" cy="13841"/>
          </a:xfrm>
          <a:prstGeom prst="rect">
            <a:avLst/>
          </a:prstGeom>
          <a:solidFill>
            <a:srgbClr val="FAB753"/>
          </a:solidFill>
          <a:ln/>
        </p:spPr>
        <p:txBody>
          <a:bodyPr wrap="none" rtlCol="0" anchor="t"/>
          <a:lstStyle/>
          <a:p>
            <a:pPr marL="0" indent="0">
              <a:buNone/>
            </a:pPr>
            <a:endParaRPr lang="en-US" dirty="0"/>
          </a:p>
        </p:txBody>
      </p:sp>
      <p:sp>
        <p:nvSpPr>
          <p:cNvPr id="12" name="Text 10"/>
          <p:cNvSpPr/>
          <p:nvPr/>
        </p:nvSpPr>
        <p:spPr>
          <a:xfrm>
            <a:off x="2280151" y="2016472"/>
            <a:ext cx="4583698" cy="685800"/>
          </a:xfrm>
          <a:prstGeom prst="rect">
            <a:avLst/>
          </a:prstGeom>
          <a:noFill/>
          <a:ln/>
        </p:spPr>
        <p:txBody>
          <a:bodyPr wrap="none" lIns="0" tIns="0" rIns="0" bIns="0" rtlCol="0" anchor="t"/>
          <a:lstStyle/>
          <a:p>
            <a:pPr marL="0" indent="0" algn="ctr">
              <a:lnSpc>
                <a:spcPts val="5400"/>
              </a:lnSpc>
              <a:buNone/>
            </a:pPr>
            <a:r>
              <a:rPr lang="en-US" sz="5400" kern="0" spc="-54" dirty="0">
                <a:solidFill>
                  <a:srgbClr val="FFFFFF"/>
                </a:solidFill>
                <a:latin typeface="Calibri Light" pitchFamily="34" charset="0"/>
                <a:ea typeface="Calibri Light" pitchFamily="34" charset="-122"/>
                <a:cs typeface="Calibri Light" pitchFamily="34" charset="-120"/>
              </a:rPr>
              <a:t>Telehealth 101</a:t>
            </a:r>
            <a:endParaRPr lang="en-US" sz="5400" dirty="0"/>
          </a:p>
        </p:txBody>
      </p:sp>
      <p:sp>
        <p:nvSpPr>
          <p:cNvPr id="13" name="Text 11"/>
          <p:cNvSpPr/>
          <p:nvPr/>
        </p:nvSpPr>
        <p:spPr>
          <a:xfrm>
            <a:off x="4214515" y="2873722"/>
            <a:ext cx="714970" cy="7590"/>
          </a:xfrm>
          <a:prstGeom prst="rect">
            <a:avLst/>
          </a:prstGeom>
          <a:solidFill>
            <a:srgbClr val="FFFFFF">
              <a:alpha val="25000"/>
            </a:srgbClr>
          </a:solidFill>
          <a:ln/>
        </p:spPr>
        <p:txBody>
          <a:bodyPr wrap="none" rtlCol="0" anchor="t"/>
          <a:lstStyle/>
          <a:p>
            <a:pPr marL="0" indent="0">
              <a:buNone/>
            </a:pPr>
            <a:endParaRPr lang="en-US" dirty="0"/>
          </a:p>
        </p:txBody>
      </p:sp>
      <p:sp>
        <p:nvSpPr>
          <p:cNvPr id="14" name="Text 12"/>
          <p:cNvSpPr/>
          <p:nvPr/>
        </p:nvSpPr>
        <p:spPr>
          <a:xfrm>
            <a:off x="3196699" y="3091125"/>
            <a:ext cx="2465448" cy="321915"/>
          </a:xfrm>
          <a:prstGeom prst="rect">
            <a:avLst/>
          </a:prstGeom>
          <a:noFill/>
          <a:ln/>
        </p:spPr>
        <p:txBody>
          <a:bodyPr wrap="none" lIns="0" tIns="0" rIns="0" bIns="0" rtlCol="0" anchor="t"/>
          <a:lstStyle/>
          <a:p>
            <a:pPr marL="0" indent="0" algn="l">
              <a:lnSpc>
                <a:spcPts val="2535"/>
              </a:lnSpc>
              <a:buNone/>
            </a:pPr>
            <a:r>
              <a:rPr lang="en-US" sz="1690" kern="0" spc="68" dirty="0">
                <a:solidFill>
                  <a:srgbClr val="55A49C"/>
                </a:solidFill>
                <a:latin typeface="Calibri Light" pitchFamily="34" charset="0"/>
                <a:ea typeface="Calibri Light" pitchFamily="34" charset="-122"/>
                <a:cs typeface="Calibri Light" pitchFamily="34" charset="-120"/>
              </a:rPr>
              <a:t>Policy · Scheduling · Intervention</a:t>
            </a:r>
            <a:endParaRPr lang="en-US" sz="1690" dirty="0"/>
          </a:p>
        </p:txBody>
      </p:sp>
      <p:sp>
        <p:nvSpPr>
          <p:cNvPr id="15" name="Text 13"/>
          <p:cNvSpPr/>
          <p:nvPr/>
        </p:nvSpPr>
        <p:spPr>
          <a:xfrm>
            <a:off x="3769370" y="3516660"/>
            <a:ext cx="1765786" cy="192435"/>
          </a:xfrm>
          <a:prstGeom prst="rect">
            <a:avLst/>
          </a:prstGeom>
          <a:noFill/>
          <a:ln/>
        </p:spPr>
        <p:txBody>
          <a:bodyPr wrap="none" lIns="0" tIns="0" rIns="0" bIns="0" rtlCol="0" anchor="t"/>
          <a:lstStyle/>
          <a:p>
            <a:pPr marL="0" indent="0" algn="l">
              <a:lnSpc>
                <a:spcPts val="1515"/>
              </a:lnSpc>
              <a:buNone/>
            </a:pPr>
            <a:endParaRPr lang="en-US" sz="10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57175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342900"/>
            <a:ext cx="2231053"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FAB753"/>
                </a:solidFill>
                <a:latin typeface="Calibri" pitchFamily="34" charset="0"/>
                <a:ea typeface="Calibri" pitchFamily="34" charset="-122"/>
                <a:cs typeface="Calibri" pitchFamily="34" charset="-120"/>
              </a:rPr>
              <a:t>PUTTING IT INTO PRACTICE</a:t>
            </a:r>
            <a:endParaRPr lang="en-US" sz="620" dirty="0"/>
          </a:p>
        </p:txBody>
      </p:sp>
      <p:sp>
        <p:nvSpPr>
          <p:cNvPr id="4" name="Text 2"/>
          <p:cNvSpPr/>
          <p:nvPr/>
        </p:nvSpPr>
        <p:spPr>
          <a:xfrm>
            <a:off x="285750" y="575221"/>
            <a:ext cx="3429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5" name="Text 3"/>
          <p:cNvSpPr/>
          <p:nvPr/>
        </p:nvSpPr>
        <p:spPr>
          <a:xfrm>
            <a:off x="285750" y="797421"/>
            <a:ext cx="2170206" cy="312390"/>
          </a:xfrm>
          <a:prstGeom prst="rect">
            <a:avLst/>
          </a:prstGeom>
          <a:noFill/>
          <a:ln/>
        </p:spPr>
        <p:txBody>
          <a:bodyPr wrap="none" lIns="0" tIns="0" rIns="0" bIns="0" rtlCol="0" anchor="t"/>
          <a:lstStyle/>
          <a:p>
            <a:pPr marL="0" indent="0" algn="l">
              <a:lnSpc>
                <a:spcPts val="2461"/>
              </a:lnSpc>
              <a:spcAft>
                <a:spcPts val="1130"/>
              </a:spcAft>
              <a:buNone/>
            </a:pPr>
            <a:r>
              <a:rPr lang="en-US" sz="2140" b="1" dirty="0">
                <a:solidFill>
                  <a:srgbClr val="FFFFFF"/>
                </a:solidFill>
                <a:latin typeface="Calibri Light" pitchFamily="34" charset="0"/>
                <a:ea typeface="Calibri Light" pitchFamily="34" charset="-122"/>
                <a:cs typeface="Calibri Light" pitchFamily="34" charset="-120"/>
              </a:rPr>
              <a:t>Telehealth 101</a:t>
            </a:r>
            <a:endParaRPr lang="en-US" sz="2140" dirty="0"/>
          </a:p>
        </p:txBody>
      </p:sp>
      <p:sp>
        <p:nvSpPr>
          <p:cNvPr id="6" name="Text 4"/>
          <p:cNvSpPr/>
          <p:nvPr/>
        </p:nvSpPr>
        <p:spPr>
          <a:xfrm>
            <a:off x="285750" y="1253282"/>
            <a:ext cx="2068794" cy="673834"/>
          </a:xfrm>
          <a:prstGeom prst="rect">
            <a:avLst/>
          </a:prstGeom>
          <a:noFill/>
          <a:ln/>
        </p:spPr>
        <p:txBody>
          <a:bodyPr wrap="square" lIns="0" tIns="0" rIns="0" bIns="0" rtlCol="0" anchor="t"/>
          <a:lstStyle/>
          <a:p>
            <a:pPr marL="0" indent="0" algn="l">
              <a:lnSpc>
                <a:spcPts val="1264"/>
              </a:lnSpc>
              <a:buNone/>
            </a:pPr>
            <a:r>
              <a:rPr lang="en-US" sz="790" dirty="0">
                <a:solidFill>
                  <a:srgbClr val="FFFFFF">
                    <a:alpha val="82000"/>
                  </a:srgbClr>
                </a:solidFill>
                <a:latin typeface="Calibri" pitchFamily="34" charset="0"/>
                <a:ea typeface="Calibri" pitchFamily="34" charset="-122"/>
                <a:cs typeface="Calibri" pitchFamily="34" charset="-120"/>
              </a:rPr>
              <a:t>This training includes interactive reflection and discussion, followed by a research-informed overview designed to serve as a takeaway and reference after the session.</a:t>
            </a:r>
            <a:endParaRPr lang="en-US" sz="790" dirty="0"/>
          </a:p>
        </p:txBody>
      </p:sp>
      <p:sp>
        <p:nvSpPr>
          <p:cNvPr id="7" name="Text 5"/>
          <p:cNvSpPr/>
          <p:nvPr/>
        </p:nvSpPr>
        <p:spPr>
          <a:xfrm>
            <a:off x="285750" y="4599980"/>
            <a:ext cx="257770" cy="257770"/>
          </a:xfrm>
          <a:prstGeom prst="ellipse">
            <a:avLst/>
          </a:prstGeom>
          <a:solidFill>
            <a:srgbClr val="FAB753">
              <a:alpha val="18000"/>
            </a:srgbClr>
          </a:solidFill>
          <a:ln w="9525">
            <a:solidFill>
              <a:srgbClr val="FAB753">
                <a:alpha val="40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341" y="4662571"/>
            <a:ext cx="132588" cy="132588"/>
          </a:xfrm>
          <a:prstGeom prst="rect">
            <a:avLst/>
          </a:prstGeom>
        </p:spPr>
      </p:pic>
      <p:sp>
        <p:nvSpPr>
          <p:cNvPr id="9" name="Text 6"/>
          <p:cNvSpPr/>
          <p:nvPr/>
        </p:nvSpPr>
        <p:spPr>
          <a:xfrm>
            <a:off x="614511" y="4613225"/>
            <a:ext cx="1733458" cy="242843"/>
          </a:xfrm>
          <a:prstGeom prst="rect">
            <a:avLst/>
          </a:prstGeom>
          <a:noFill/>
          <a:ln/>
        </p:spPr>
        <p:txBody>
          <a:bodyPr wrap="square" lIns="0" tIns="0" rIns="0" bIns="0" rtlCol="0" anchor="ctr"/>
          <a:lstStyle/>
          <a:p>
            <a:pPr marL="0" indent="0" algn="l">
              <a:lnSpc>
                <a:spcPts val="910"/>
              </a:lnSpc>
              <a:buNone/>
            </a:pPr>
            <a:r>
              <a:rPr lang="en-US" sz="650" i="1" dirty="0">
                <a:solidFill>
                  <a:srgbClr val="FFFFFF">
                    <a:alpha val="60000"/>
                  </a:srgbClr>
                </a:solidFill>
                <a:latin typeface="Calibri" pitchFamily="34" charset="0"/>
                <a:ea typeface="Calibri" pitchFamily="34" charset="-122"/>
                <a:cs typeface="Calibri" pitchFamily="34" charset="-120"/>
              </a:rPr>
              <a:t>Centerstone Clinical Training Series · June 2026</a:t>
            </a:r>
            <a:endParaRPr lang="en-US" sz="650" dirty="0"/>
          </a:p>
        </p:txBody>
      </p:sp>
      <p:sp>
        <p:nvSpPr>
          <p:cNvPr id="10" name="Text 7"/>
          <p:cNvSpPr/>
          <p:nvPr/>
        </p:nvSpPr>
        <p:spPr>
          <a:xfrm>
            <a:off x="2571750" y="0"/>
            <a:ext cx="6572250" cy="5143500"/>
          </a:xfrm>
          <a:prstGeom prst="rect">
            <a:avLst/>
          </a:prstGeom>
          <a:solidFill>
            <a:srgbClr val="FFFFFF"/>
          </a:solidFill>
          <a:ln/>
        </p:spPr>
        <p:txBody>
          <a:bodyPr wrap="square" rtlCol="0" anchor="t"/>
          <a:lstStyle/>
          <a:p>
            <a:pPr marL="0" indent="0">
              <a:buNone/>
            </a:pPr>
            <a:endParaRPr lang="en-US" dirty="0"/>
          </a:p>
        </p:txBody>
      </p:sp>
      <p:sp>
        <p:nvSpPr>
          <p:cNvPr id="11" name="Text 8"/>
          <p:cNvSpPr/>
          <p:nvPr/>
        </p:nvSpPr>
        <p:spPr>
          <a:xfrm>
            <a:off x="2886670" y="314920"/>
            <a:ext cx="6328440" cy="240655"/>
          </a:xfrm>
          <a:prstGeom prst="rect">
            <a:avLst/>
          </a:prstGeom>
          <a:noFill/>
          <a:ln/>
        </p:spPr>
        <p:txBody>
          <a:bodyPr wrap="none" lIns="0" tIns="0" rIns="0" bIns="0" rtlCol="0" anchor="t"/>
          <a:lstStyle/>
          <a:p>
            <a:pPr marL="0" indent="0" algn="l">
              <a:lnSpc>
                <a:spcPts val="1896"/>
              </a:lnSpc>
              <a:spcAft>
                <a:spcPts val="560"/>
              </a:spcAft>
              <a:buNone/>
            </a:pPr>
            <a:r>
              <a:rPr lang="en-US" sz="1580" b="1" dirty="0">
                <a:solidFill>
                  <a:srgbClr val="1B5E72"/>
                </a:solidFill>
                <a:latin typeface="Calibri Light" pitchFamily="34" charset="0"/>
                <a:ea typeface="Calibri Light" pitchFamily="34" charset="-122"/>
                <a:cs typeface="Calibri Light" pitchFamily="34" charset="-120"/>
              </a:rPr>
              <a:t>Welcome to Today's Training</a:t>
            </a:r>
            <a:endParaRPr lang="en-US" sz="1580" dirty="0"/>
          </a:p>
        </p:txBody>
      </p:sp>
      <p:sp>
        <p:nvSpPr>
          <p:cNvPr id="12" name="Text 9"/>
          <p:cNvSpPr/>
          <p:nvPr/>
        </p:nvSpPr>
        <p:spPr>
          <a:xfrm>
            <a:off x="2886670" y="626566"/>
            <a:ext cx="5914430" cy="680874"/>
          </a:xfrm>
          <a:prstGeom prst="rect">
            <a:avLst/>
          </a:prstGeom>
          <a:noFill/>
          <a:ln/>
        </p:spPr>
        <p:txBody>
          <a:bodyPr wrap="square" lIns="0" tIns="0" rIns="0" bIns="0" rtlCol="0" anchor="ctr"/>
          <a:lstStyle/>
          <a:p>
            <a:pPr marL="0" indent="0" algn="l">
              <a:buNone/>
            </a:pPr>
            <a:r>
              <a:rPr lang="en-US" sz="790" dirty="0">
                <a:solidFill>
                  <a:srgbClr val="444444"/>
                </a:solidFill>
                <a:latin typeface="Calibri" pitchFamily="34" charset="0"/>
                <a:ea typeface="Calibri" pitchFamily="34" charset="-122"/>
                <a:cs typeface="Calibri" pitchFamily="34" charset="-120"/>
              </a:rPr>
              <a:t>In this session we will explore how to deliver effective, ethical, and engaging telehealth services. We will cover Centerstone policy and documentation standards, practical technology tips, and a curated set of resources and activities designed specifically for the telehealth environment.</a:t>
            </a:r>
            <a:endParaRPr lang="en-US" sz="790" dirty="0"/>
          </a:p>
        </p:txBody>
      </p:sp>
      <p:sp>
        <p:nvSpPr>
          <p:cNvPr id="13" name="Text 10"/>
          <p:cNvSpPr/>
          <p:nvPr/>
        </p:nvSpPr>
        <p:spPr>
          <a:xfrm>
            <a:off x="2886670" y="1236018"/>
            <a:ext cx="5914430" cy="9525"/>
          </a:xfrm>
          <a:prstGeom prst="rect">
            <a:avLst/>
          </a:prstGeom>
          <a:solidFill>
            <a:srgbClr val="EAF4F4"/>
          </a:solidFill>
          <a:ln/>
        </p:spPr>
        <p:txBody>
          <a:bodyPr wrap="none" rtlCol="0" anchor="t"/>
          <a:lstStyle/>
          <a:p>
            <a:pPr marL="0" indent="0">
              <a:buNone/>
            </a:pPr>
            <a:endParaRPr lang="en-US" dirty="0"/>
          </a:p>
        </p:txBody>
      </p:sp>
      <p:sp>
        <p:nvSpPr>
          <p:cNvPr id="14" name="Text 11"/>
          <p:cNvSpPr/>
          <p:nvPr/>
        </p:nvSpPr>
        <p:spPr>
          <a:xfrm>
            <a:off x="2886670" y="1373684"/>
            <a:ext cx="6505873" cy="150465"/>
          </a:xfrm>
          <a:prstGeom prst="rect">
            <a:avLst/>
          </a:prstGeom>
          <a:noFill/>
          <a:ln/>
        </p:spPr>
        <p:txBody>
          <a:bodyPr wrap="none" lIns="0" tIns="0" rIns="0" bIns="0" rtlCol="0" anchor="t"/>
          <a:lstStyle/>
          <a:p>
            <a:pPr marL="0" indent="0" algn="l">
              <a:lnSpc>
                <a:spcPts val="1185"/>
              </a:lnSpc>
              <a:spcAft>
                <a:spcPts val="790"/>
              </a:spcAft>
              <a:buNone/>
            </a:pPr>
            <a:r>
              <a:rPr lang="en-US" sz="790" b="1" kern="0" spc="10" dirty="0">
                <a:solidFill>
                  <a:srgbClr val="1B5E72"/>
                </a:solidFill>
                <a:latin typeface="Calibri" pitchFamily="34" charset="0"/>
                <a:ea typeface="Calibri" pitchFamily="34" charset="-122"/>
                <a:cs typeface="Calibri" pitchFamily="34" charset="-120"/>
              </a:rPr>
              <a:t>Objectives — By the end of this training you will be able to:</a:t>
            </a:r>
            <a:endParaRPr lang="en-US" sz="790" dirty="0"/>
          </a:p>
        </p:txBody>
      </p:sp>
      <p:sp>
        <p:nvSpPr>
          <p:cNvPr id="15" name="Text 12"/>
          <p:cNvSpPr/>
          <p:nvPr/>
        </p:nvSpPr>
        <p:spPr>
          <a:xfrm>
            <a:off x="2886670" y="1632049"/>
            <a:ext cx="200620" cy="200620"/>
          </a:xfrm>
          <a:prstGeom prst="ellipse">
            <a:avLst/>
          </a:prstGeom>
          <a:solidFill>
            <a:srgbClr val="FAB753">
              <a:alpha val="15000"/>
            </a:srgbClr>
          </a:solidFill>
          <a:ln w="9525">
            <a:solidFill>
              <a:srgbClr val="FAB753">
                <a:alpha val="50000"/>
              </a:srgbClr>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0612" y="1665991"/>
            <a:ext cx="132588" cy="132588"/>
          </a:xfrm>
          <a:prstGeom prst="rect">
            <a:avLst/>
          </a:prstGeom>
        </p:spPr>
      </p:pic>
      <p:sp>
        <p:nvSpPr>
          <p:cNvPr id="17" name="Text 13"/>
          <p:cNvSpPr/>
          <p:nvPr/>
        </p:nvSpPr>
        <p:spPr>
          <a:xfrm>
            <a:off x="3173611" y="1624459"/>
            <a:ext cx="3740140" cy="150465"/>
          </a:xfrm>
          <a:prstGeom prst="rect">
            <a:avLst/>
          </a:prstGeom>
          <a:noFill/>
          <a:ln/>
        </p:spPr>
        <p:txBody>
          <a:bodyPr wrap="none" lIns="0" tIns="0" rIns="0" bIns="0" rtlCol="0" anchor="t"/>
          <a:lstStyle/>
          <a:p>
            <a:pPr marL="0" indent="0" algn="l">
              <a:lnSpc>
                <a:spcPts val="1185"/>
              </a:lnSpc>
              <a:buNone/>
            </a:pPr>
            <a:r>
              <a:rPr lang="en-US" sz="620" b="1" kern="0" spc="30" dirty="0">
                <a:solidFill>
                  <a:srgbClr val="1B5E72"/>
                </a:solidFill>
                <a:highlight>
                  <a:srgbClr val="EAF4F4"/>
                </a:highlight>
                <a:latin typeface="Calibri" pitchFamily="34" charset="0"/>
                <a:ea typeface="Calibri" pitchFamily="34" charset="-122"/>
                <a:cs typeface="Calibri" pitchFamily="34" charset="-120"/>
              </a:rPr>
              <a:t>01</a:t>
            </a:r>
            <a:r>
              <a:rPr lang="en-US" sz="790" dirty="0">
                <a:solidFill>
                  <a:srgbClr val="2C2C2C"/>
                </a:solidFill>
                <a:latin typeface="Calibri" pitchFamily="34" charset="0"/>
                <a:ea typeface="Calibri" pitchFamily="34" charset="-122"/>
                <a:cs typeface="Calibri" pitchFamily="34" charset="-120"/>
              </a:rPr>
              <a:t> Describe the clinical and practical benefits of telehealth service delivery.</a:t>
            </a:r>
            <a:endParaRPr lang="en-US" sz="790" dirty="0"/>
          </a:p>
        </p:txBody>
      </p:sp>
      <p:sp>
        <p:nvSpPr>
          <p:cNvPr id="18" name="Text 14"/>
          <p:cNvSpPr/>
          <p:nvPr/>
        </p:nvSpPr>
        <p:spPr>
          <a:xfrm>
            <a:off x="2886670" y="1911251"/>
            <a:ext cx="200620" cy="200620"/>
          </a:xfrm>
          <a:prstGeom prst="ellipse">
            <a:avLst/>
          </a:prstGeom>
          <a:solidFill>
            <a:srgbClr val="FAB753">
              <a:alpha val="15000"/>
            </a:srgbClr>
          </a:solidFill>
          <a:ln w="9525">
            <a:solidFill>
              <a:srgbClr val="FAB753">
                <a:alpha val="50000"/>
              </a:srgbClr>
            </a:solidFill>
          </a:ln>
        </p:spPr>
        <p:txBody>
          <a:bodyPr wrap="none" rtlCol="0" anchor="t"/>
          <a:lstStyle/>
          <a:p>
            <a:pPr marL="0" indent="0">
              <a:buNone/>
            </a:pPr>
            <a:endParaRPr lang="en-US"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20612" y="1945193"/>
            <a:ext cx="132588" cy="132588"/>
          </a:xfrm>
          <a:prstGeom prst="rect">
            <a:avLst/>
          </a:prstGeom>
        </p:spPr>
      </p:pic>
      <p:sp>
        <p:nvSpPr>
          <p:cNvPr id="20" name="Text 15"/>
          <p:cNvSpPr/>
          <p:nvPr/>
        </p:nvSpPr>
        <p:spPr>
          <a:xfrm>
            <a:off x="3173611" y="1903661"/>
            <a:ext cx="5279678" cy="150465"/>
          </a:xfrm>
          <a:prstGeom prst="rect">
            <a:avLst/>
          </a:prstGeom>
          <a:noFill/>
          <a:ln/>
        </p:spPr>
        <p:txBody>
          <a:bodyPr wrap="none" lIns="0" tIns="0" rIns="0" bIns="0" rtlCol="0" anchor="t"/>
          <a:lstStyle/>
          <a:p>
            <a:pPr marL="0" indent="0" algn="l">
              <a:lnSpc>
                <a:spcPts val="1185"/>
              </a:lnSpc>
              <a:buNone/>
            </a:pPr>
            <a:r>
              <a:rPr lang="en-US" sz="620" b="1" kern="0" spc="30" dirty="0">
                <a:solidFill>
                  <a:srgbClr val="1B5E72"/>
                </a:solidFill>
                <a:highlight>
                  <a:srgbClr val="EAF4F4"/>
                </a:highlight>
                <a:latin typeface="Calibri" pitchFamily="34" charset="0"/>
                <a:ea typeface="Calibri" pitchFamily="34" charset="-122"/>
                <a:cs typeface="Calibri" pitchFamily="34" charset="-120"/>
              </a:rPr>
              <a:t>02</a:t>
            </a:r>
            <a:r>
              <a:rPr lang="en-US" sz="790" dirty="0">
                <a:solidFill>
                  <a:srgbClr val="2C2C2C"/>
                </a:solidFill>
                <a:latin typeface="Calibri" pitchFamily="34" charset="0"/>
                <a:ea typeface="Calibri" pitchFamily="34" charset="-122"/>
                <a:cs typeface="Calibri" pitchFamily="34" charset="-120"/>
              </a:rPr>
              <a:t> Apply Centerstone telehealth policies, inclusion requirements, and consent procedures with confidence.</a:t>
            </a:r>
            <a:endParaRPr lang="en-US" sz="790" dirty="0"/>
          </a:p>
        </p:txBody>
      </p:sp>
      <p:sp>
        <p:nvSpPr>
          <p:cNvPr id="21" name="Text 16"/>
          <p:cNvSpPr/>
          <p:nvPr/>
        </p:nvSpPr>
        <p:spPr>
          <a:xfrm>
            <a:off x="2886670" y="2190452"/>
            <a:ext cx="200620" cy="200620"/>
          </a:xfrm>
          <a:prstGeom prst="ellipse">
            <a:avLst/>
          </a:prstGeom>
          <a:solidFill>
            <a:srgbClr val="FAB753">
              <a:alpha val="15000"/>
            </a:srgbClr>
          </a:solidFill>
          <a:ln w="9525">
            <a:solidFill>
              <a:srgbClr val="FAB753">
                <a:alpha val="50000"/>
              </a:srgbClr>
            </a:solidFill>
          </a:ln>
        </p:spPr>
        <p:txBody>
          <a:bodyPr wrap="non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20612" y="2224394"/>
            <a:ext cx="132588" cy="132588"/>
          </a:xfrm>
          <a:prstGeom prst="rect">
            <a:avLst/>
          </a:prstGeom>
        </p:spPr>
      </p:pic>
      <p:sp>
        <p:nvSpPr>
          <p:cNvPr id="23" name="Text 17"/>
          <p:cNvSpPr/>
          <p:nvPr/>
        </p:nvSpPr>
        <p:spPr>
          <a:xfrm>
            <a:off x="3173611" y="2182862"/>
            <a:ext cx="3501450" cy="150465"/>
          </a:xfrm>
          <a:prstGeom prst="rect">
            <a:avLst/>
          </a:prstGeom>
          <a:noFill/>
          <a:ln/>
        </p:spPr>
        <p:txBody>
          <a:bodyPr wrap="none" lIns="0" tIns="0" rIns="0" bIns="0" rtlCol="0" anchor="t"/>
          <a:lstStyle/>
          <a:p>
            <a:pPr marL="0" indent="0" algn="l">
              <a:lnSpc>
                <a:spcPts val="1185"/>
              </a:lnSpc>
              <a:buNone/>
            </a:pPr>
            <a:r>
              <a:rPr lang="en-US" sz="620" b="1" kern="0" spc="30" dirty="0">
                <a:solidFill>
                  <a:srgbClr val="1B5E72"/>
                </a:solidFill>
                <a:highlight>
                  <a:srgbClr val="EAF4F4"/>
                </a:highlight>
                <a:latin typeface="Calibri" pitchFamily="34" charset="0"/>
                <a:ea typeface="Calibri" pitchFamily="34" charset="-122"/>
                <a:cs typeface="Calibri" pitchFamily="34" charset="-120"/>
              </a:rPr>
              <a:t>03</a:t>
            </a:r>
            <a:r>
              <a:rPr lang="en-US" sz="790" dirty="0">
                <a:solidFill>
                  <a:srgbClr val="2C2C2C"/>
                </a:solidFill>
                <a:latin typeface="Calibri" pitchFamily="34" charset="0"/>
                <a:ea typeface="Calibri" pitchFamily="34" charset="-122"/>
                <a:cs typeface="Calibri" pitchFamily="34" charset="-120"/>
              </a:rPr>
              <a:t> Document telehealth sessions accurately and completely in Avatar.</a:t>
            </a:r>
            <a:endParaRPr lang="en-US" sz="790" dirty="0"/>
          </a:p>
        </p:txBody>
      </p:sp>
      <p:sp>
        <p:nvSpPr>
          <p:cNvPr id="24" name="Text 18"/>
          <p:cNvSpPr/>
          <p:nvPr/>
        </p:nvSpPr>
        <p:spPr>
          <a:xfrm>
            <a:off x="2886670" y="2469654"/>
            <a:ext cx="200620" cy="200620"/>
          </a:xfrm>
          <a:prstGeom prst="ellipse">
            <a:avLst/>
          </a:prstGeom>
          <a:solidFill>
            <a:srgbClr val="FAB753">
              <a:alpha val="15000"/>
            </a:srgbClr>
          </a:solidFill>
          <a:ln w="9525">
            <a:solidFill>
              <a:srgbClr val="FAB753">
                <a:alpha val="50000"/>
              </a:srgbClr>
            </a:solidFill>
          </a:ln>
        </p:spPr>
        <p:txBody>
          <a:bodyPr wrap="none" rtlCol="0" anchor="t"/>
          <a:lstStyle/>
          <a:p>
            <a:pPr marL="0" indent="0">
              <a:buNone/>
            </a:pPr>
            <a:endParaRPr lang="en-US"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20612" y="2503596"/>
            <a:ext cx="132588" cy="132588"/>
          </a:xfrm>
          <a:prstGeom prst="rect">
            <a:avLst/>
          </a:prstGeom>
        </p:spPr>
      </p:pic>
      <p:sp>
        <p:nvSpPr>
          <p:cNvPr id="26" name="Text 19"/>
          <p:cNvSpPr/>
          <p:nvPr/>
        </p:nvSpPr>
        <p:spPr>
          <a:xfrm>
            <a:off x="3173611" y="2462064"/>
            <a:ext cx="3246060" cy="150465"/>
          </a:xfrm>
          <a:prstGeom prst="rect">
            <a:avLst/>
          </a:prstGeom>
          <a:noFill/>
          <a:ln/>
        </p:spPr>
        <p:txBody>
          <a:bodyPr wrap="none" lIns="0" tIns="0" rIns="0" bIns="0" rtlCol="0" anchor="t"/>
          <a:lstStyle/>
          <a:p>
            <a:pPr marL="0" indent="0" algn="l">
              <a:lnSpc>
                <a:spcPts val="1185"/>
              </a:lnSpc>
              <a:buNone/>
            </a:pPr>
            <a:r>
              <a:rPr lang="en-US" sz="620" b="1" kern="0" spc="30" dirty="0">
                <a:solidFill>
                  <a:srgbClr val="1B5E72"/>
                </a:solidFill>
                <a:highlight>
                  <a:srgbClr val="EAF4F4"/>
                </a:highlight>
                <a:latin typeface="Calibri" pitchFamily="34" charset="0"/>
                <a:ea typeface="Calibri" pitchFamily="34" charset="-122"/>
                <a:cs typeface="Calibri" pitchFamily="34" charset="-120"/>
              </a:rPr>
              <a:t>04</a:t>
            </a:r>
            <a:r>
              <a:rPr lang="en-US" sz="790" dirty="0">
                <a:solidFill>
                  <a:srgbClr val="2C2C2C"/>
                </a:solidFill>
                <a:latin typeface="Calibri" pitchFamily="34" charset="0"/>
                <a:ea typeface="Calibri" pitchFamily="34" charset="-122"/>
                <a:cs typeface="Calibri" pitchFamily="34" charset="-120"/>
              </a:rPr>
              <a:t> Navigate Zoom and session technology smoothly with clients.</a:t>
            </a:r>
            <a:endParaRPr lang="en-US" sz="790" dirty="0"/>
          </a:p>
        </p:txBody>
      </p:sp>
      <p:sp>
        <p:nvSpPr>
          <p:cNvPr id="27" name="Text 20"/>
          <p:cNvSpPr/>
          <p:nvPr/>
        </p:nvSpPr>
        <p:spPr>
          <a:xfrm>
            <a:off x="2886670" y="2748855"/>
            <a:ext cx="200620" cy="200620"/>
          </a:xfrm>
          <a:prstGeom prst="ellipse">
            <a:avLst/>
          </a:prstGeom>
          <a:solidFill>
            <a:srgbClr val="FAB753">
              <a:alpha val="15000"/>
            </a:srgbClr>
          </a:solidFill>
          <a:ln w="9525">
            <a:solidFill>
              <a:srgbClr val="FAB753">
                <a:alpha val="50000"/>
              </a:srgbClr>
            </a:solidFill>
          </a:ln>
        </p:spPr>
        <p:txBody>
          <a:bodyPr wrap="none" rtlCol="0" anchor="t"/>
          <a:lstStyle/>
          <a:p>
            <a:pPr marL="0" indent="0">
              <a:buNone/>
            </a:pPr>
            <a:endParaRPr lang="en-US"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20612" y="2782797"/>
            <a:ext cx="132588" cy="132588"/>
          </a:xfrm>
          <a:prstGeom prst="rect">
            <a:avLst/>
          </a:prstGeom>
        </p:spPr>
      </p:pic>
      <p:sp>
        <p:nvSpPr>
          <p:cNvPr id="29" name="Text 21"/>
          <p:cNvSpPr/>
          <p:nvPr/>
        </p:nvSpPr>
        <p:spPr>
          <a:xfrm>
            <a:off x="3173611" y="2741265"/>
            <a:ext cx="4507781" cy="150465"/>
          </a:xfrm>
          <a:prstGeom prst="rect">
            <a:avLst/>
          </a:prstGeom>
          <a:noFill/>
          <a:ln/>
        </p:spPr>
        <p:txBody>
          <a:bodyPr wrap="none" lIns="0" tIns="0" rIns="0" bIns="0" rtlCol="0" anchor="t"/>
          <a:lstStyle/>
          <a:p>
            <a:pPr marL="0" indent="0" algn="l">
              <a:lnSpc>
                <a:spcPts val="1185"/>
              </a:lnSpc>
              <a:buNone/>
            </a:pPr>
            <a:r>
              <a:rPr lang="en-US" sz="620" b="1" kern="0" spc="30" dirty="0">
                <a:solidFill>
                  <a:srgbClr val="1B5E72"/>
                </a:solidFill>
                <a:highlight>
                  <a:srgbClr val="EAF4F4"/>
                </a:highlight>
                <a:latin typeface="Calibri" pitchFamily="34" charset="0"/>
                <a:ea typeface="Calibri" pitchFamily="34" charset="-122"/>
                <a:cs typeface="Calibri" pitchFamily="34" charset="-120"/>
              </a:rPr>
              <a:t>05</a:t>
            </a:r>
            <a:r>
              <a:rPr lang="en-US" sz="790" dirty="0">
                <a:solidFill>
                  <a:srgbClr val="2C2C2C"/>
                </a:solidFill>
                <a:latin typeface="Calibri" pitchFamily="34" charset="0"/>
                <a:ea typeface="Calibri" pitchFamily="34" charset="-122"/>
                <a:cs typeface="Calibri" pitchFamily="34" charset="-120"/>
              </a:rPr>
              <a:t> Access and use a curated set of telehealth-specific therapeutic activities and resources.</a:t>
            </a:r>
            <a:endParaRPr lang="en-US" sz="790" dirty="0"/>
          </a:p>
        </p:txBody>
      </p:sp>
      <p:sp>
        <p:nvSpPr>
          <p:cNvPr id="30" name="Text 22"/>
          <p:cNvSpPr/>
          <p:nvPr/>
        </p:nvSpPr>
        <p:spPr>
          <a:xfrm>
            <a:off x="1428750" y="4000500"/>
            <a:ext cx="1572216" cy="1143000"/>
          </a:xfrm>
          <a:prstGeom prst="ellipse">
            <a:avLst/>
          </a:prstGeom>
          <a:solidFill>
            <a:srgbClr val="FFFFFF">
              <a:alpha val="4000"/>
            </a:srgbClr>
          </a:solidFill>
          <a:ln/>
        </p:spPr>
        <p:txBody>
          <a:bodyPr wrap="square" rtlCol="0" anchor="t"/>
          <a:lstStyle/>
          <a:p>
            <a:pPr marL="0" indent="0">
              <a:buNone/>
            </a:pPr>
            <a:endParaRPr lang="en-US" dirty="0"/>
          </a:p>
        </p:txBody>
      </p:sp>
      <p:sp>
        <p:nvSpPr>
          <p:cNvPr id="31" name="Text 23"/>
          <p:cNvSpPr/>
          <p:nvPr/>
        </p:nvSpPr>
        <p:spPr>
          <a:xfrm>
            <a:off x="0" y="0"/>
            <a:ext cx="857250" cy="857250"/>
          </a:xfrm>
          <a:prstGeom prst="ellipse">
            <a:avLst/>
          </a:prstGeom>
          <a:solidFill>
            <a:srgbClr val="FFFFFF">
              <a:alpha val="3000"/>
            </a:srgbClr>
          </a:solidFill>
          <a:ln/>
        </p:spPr>
        <p:txBody>
          <a:bodyPr wrap="square" rtlCol="0" anchor="t"/>
          <a:lstStyle/>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3160"/>
          </a:xfrm>
          <a:prstGeom prst="rect">
            <a:avLst/>
          </a:prstGeom>
          <a:solidFill>
            <a:srgbClr val="1B5E72"/>
          </a:solidFill>
          <a:ln/>
        </p:spPr>
        <p:txBody>
          <a:bodyPr wrap="none" rtlCol="0" anchor="t"/>
          <a:lstStyle/>
          <a:p>
            <a:pPr marL="0" indent="0">
              <a:buNone/>
            </a:pPr>
            <a:endParaRPr lang="en-US" dirty="0"/>
          </a:p>
        </p:txBody>
      </p:sp>
      <p:sp>
        <p:nvSpPr>
          <p:cNvPr id="3" name="Text 1"/>
          <p:cNvSpPr/>
          <p:nvPr/>
        </p:nvSpPr>
        <p:spPr>
          <a:xfrm>
            <a:off x="7715250" y="0"/>
            <a:ext cx="1428750" cy="1471910"/>
          </a:xfrm>
          <a:prstGeom prst="ellipse">
            <a:avLst/>
          </a:prstGeom>
          <a:solidFill>
            <a:srgbClr val="1B5E72">
              <a:alpha val="5000"/>
            </a:srgbClr>
          </a:solidFill>
          <a:ln/>
        </p:spPr>
        <p:txBody>
          <a:bodyPr wrap="square" rtlCol="0" anchor="t"/>
          <a:lstStyle/>
          <a:p>
            <a:pPr marL="0" indent="0">
              <a:buNone/>
            </a:pPr>
            <a:endParaRPr lang="en-US" dirty="0"/>
          </a:p>
        </p:txBody>
      </p:sp>
      <p:sp>
        <p:nvSpPr>
          <p:cNvPr id="4" name="Text 2"/>
          <p:cNvSpPr/>
          <p:nvPr/>
        </p:nvSpPr>
        <p:spPr>
          <a:xfrm>
            <a:off x="0" y="3714750"/>
            <a:ext cx="999530" cy="1428750"/>
          </a:xfrm>
          <a:prstGeom prst="ellipse">
            <a:avLst/>
          </a:prstGeom>
          <a:solidFill>
            <a:srgbClr val="FAB753">
              <a:alpha val="7000"/>
            </a:srgbClr>
          </a:solidFill>
          <a:ln/>
        </p:spPr>
        <p:txBody>
          <a:bodyPr wrap="square" rtlCol="0" anchor="t"/>
          <a:lstStyle/>
          <a:p>
            <a:pPr marL="0" indent="0">
              <a:buNone/>
            </a:pPr>
            <a:endParaRPr lang="en-US" dirty="0"/>
          </a:p>
        </p:txBody>
      </p:sp>
      <p:sp>
        <p:nvSpPr>
          <p:cNvPr id="5" name="Text 3"/>
          <p:cNvSpPr/>
          <p:nvPr/>
        </p:nvSpPr>
        <p:spPr>
          <a:xfrm>
            <a:off x="786110" y="157460"/>
            <a:ext cx="675397" cy="1286470"/>
          </a:xfrm>
          <a:prstGeom prst="rect">
            <a:avLst/>
          </a:prstGeom>
          <a:noFill/>
          <a:ln/>
        </p:spPr>
        <p:txBody>
          <a:bodyPr wrap="none" lIns="0" tIns="0" rIns="0" bIns="0" rtlCol="0" anchor="t"/>
          <a:lstStyle/>
          <a:p>
            <a:pPr marL="0" indent="0" algn="l">
              <a:lnSpc>
                <a:spcPts val="10130"/>
              </a:lnSpc>
              <a:buNone/>
            </a:pPr>
            <a:r>
              <a:rPr lang="en-US" sz="10130" b="1" dirty="0">
                <a:solidFill>
                  <a:srgbClr val="1B5E72">
                    <a:alpha val="6000"/>
                  </a:srgbClr>
                </a:solidFill>
                <a:latin typeface="Constantia" pitchFamily="34" charset="0"/>
                <a:ea typeface="Constantia" pitchFamily="34" charset="-122"/>
                <a:cs typeface="Constantia" pitchFamily="34" charset="-120"/>
              </a:rPr>
              <a:t>“</a:t>
            </a:r>
            <a:endParaRPr lang="en-US" sz="10130" dirty="0"/>
          </a:p>
        </p:txBody>
      </p:sp>
      <p:sp>
        <p:nvSpPr>
          <p:cNvPr id="6" name="Text 4"/>
          <p:cNvSpPr/>
          <p:nvPr/>
        </p:nvSpPr>
        <p:spPr>
          <a:xfrm>
            <a:off x="2611049" y="1205359"/>
            <a:ext cx="3921754" cy="329654"/>
          </a:xfrm>
          <a:prstGeom prst="rect">
            <a:avLst/>
          </a:prstGeom>
          <a:noFill/>
          <a:ln/>
        </p:spPr>
        <p:txBody>
          <a:bodyPr wrap="none" lIns="0" tIns="0" rIns="0" bIns="0" rtlCol="0" anchor="t"/>
          <a:lstStyle/>
          <a:p>
            <a:pPr marL="0" indent="0" algn="ctr">
              <a:lnSpc>
                <a:spcPts val="2596"/>
              </a:lnSpc>
              <a:spcAft>
                <a:spcPts val="2030"/>
              </a:spcAft>
              <a:buNone/>
            </a:pPr>
            <a:r>
              <a:rPr lang="en-US" sz="2360" b="1" kern="0" spc="-20" dirty="0">
                <a:solidFill>
                  <a:srgbClr val="1B5E72"/>
                </a:solidFill>
                <a:latin typeface="Calibri Light" pitchFamily="34" charset="0"/>
                <a:ea typeface="Calibri Light" pitchFamily="34" charset="-122"/>
                <a:cs typeface="Calibri Light" pitchFamily="34" charset="-120"/>
              </a:rPr>
              <a:t>Why This Training Matters</a:t>
            </a:r>
            <a:endParaRPr lang="en-US" sz="2360" dirty="0"/>
          </a:p>
        </p:txBody>
      </p:sp>
      <p:sp>
        <p:nvSpPr>
          <p:cNvPr id="7" name="Text 5"/>
          <p:cNvSpPr/>
          <p:nvPr/>
        </p:nvSpPr>
        <p:spPr>
          <a:xfrm>
            <a:off x="1143000" y="1792784"/>
            <a:ext cx="35421" cy="1759148"/>
          </a:xfrm>
          <a:prstGeom prst="roundRect">
            <a:avLst>
              <a:gd name="adj" fmla="val 60953"/>
            </a:avLst>
          </a:prstGeom>
          <a:solidFill>
            <a:srgbClr val="FAB753"/>
          </a:solidFill>
          <a:ln/>
        </p:spPr>
        <p:txBody>
          <a:bodyPr wrap="square" rtlCol="0" anchor="t"/>
          <a:lstStyle/>
          <a:p>
            <a:pPr marL="0" indent="0">
              <a:buNone/>
            </a:pPr>
            <a:endParaRPr lang="en-US" dirty="0"/>
          </a:p>
        </p:txBody>
      </p:sp>
      <p:sp>
        <p:nvSpPr>
          <p:cNvPr id="8" name="Text 6"/>
          <p:cNvSpPr/>
          <p:nvPr/>
        </p:nvSpPr>
        <p:spPr>
          <a:xfrm>
            <a:off x="1407021" y="1792784"/>
            <a:ext cx="6725858" cy="430991"/>
          </a:xfrm>
          <a:prstGeom prst="rect">
            <a:avLst/>
          </a:prstGeom>
          <a:noFill/>
          <a:ln/>
        </p:spPr>
        <p:txBody>
          <a:bodyPr wrap="square" lIns="0" tIns="0" rIns="0" bIns="0" rtlCol="0" anchor="t"/>
          <a:lstStyle/>
          <a:p>
            <a:pPr marL="0" indent="0" algn="l">
              <a:lnSpc>
                <a:spcPts val="1616"/>
              </a:lnSpc>
              <a:buNone/>
            </a:pPr>
            <a:r>
              <a:rPr lang="en-US" sz="1010" dirty="0">
                <a:solidFill>
                  <a:srgbClr val="2C2C2C"/>
                </a:solidFill>
                <a:latin typeface="Calibri" pitchFamily="34" charset="0"/>
                <a:ea typeface="Calibri" pitchFamily="34" charset="-122"/>
                <a:cs typeface="Calibri" pitchFamily="34" charset="-120"/>
              </a:rPr>
              <a:t>Telehealth is not a lesser version of therapy — it is a different environment that requires intentional skill. How therapists show up in the telehealth space directly affects client engagement, trust, and clinical outcomes.</a:t>
            </a:r>
            <a:endParaRPr lang="en-US" sz="1010" dirty="0"/>
          </a:p>
        </p:txBody>
      </p:sp>
      <p:sp>
        <p:nvSpPr>
          <p:cNvPr id="9" name="Text 7"/>
          <p:cNvSpPr/>
          <p:nvPr/>
        </p:nvSpPr>
        <p:spPr>
          <a:xfrm>
            <a:off x="1407021" y="2331393"/>
            <a:ext cx="6593979" cy="7590"/>
          </a:xfrm>
          <a:prstGeom prst="rect">
            <a:avLst/>
          </a:prstGeom>
          <a:solidFill>
            <a:srgbClr val="E8F4F4"/>
          </a:solidFill>
          <a:ln/>
        </p:spPr>
        <p:txBody>
          <a:bodyPr wrap="none" rtlCol="0" anchor="t"/>
          <a:lstStyle/>
          <a:p>
            <a:pPr marL="0" indent="0">
              <a:buNone/>
            </a:pPr>
            <a:endParaRPr lang="en-US" dirty="0"/>
          </a:p>
        </p:txBody>
      </p:sp>
      <p:sp>
        <p:nvSpPr>
          <p:cNvPr id="10" name="Text 8"/>
          <p:cNvSpPr/>
          <p:nvPr/>
        </p:nvSpPr>
        <p:spPr>
          <a:xfrm>
            <a:off x="1407021" y="2467124"/>
            <a:ext cx="6725858" cy="430991"/>
          </a:xfrm>
          <a:prstGeom prst="rect">
            <a:avLst/>
          </a:prstGeom>
          <a:noFill/>
          <a:ln/>
        </p:spPr>
        <p:txBody>
          <a:bodyPr wrap="square" lIns="0" tIns="0" rIns="0" bIns="0" rtlCol="0" anchor="t"/>
          <a:lstStyle/>
          <a:p>
            <a:pPr marL="0" indent="0" algn="l">
              <a:lnSpc>
                <a:spcPts val="1616"/>
              </a:lnSpc>
              <a:buNone/>
            </a:pPr>
            <a:r>
              <a:rPr lang="en-US" sz="1010" dirty="0">
                <a:solidFill>
                  <a:srgbClr val="2C2C2C"/>
                </a:solidFill>
                <a:latin typeface="Calibri" pitchFamily="34" charset="0"/>
                <a:ea typeface="Calibri" pitchFamily="34" charset="-122"/>
                <a:cs typeface="Calibri" pitchFamily="34" charset="-120"/>
              </a:rPr>
              <a:t>This training equips you with the policy knowledge, documentation skills, and creative tools to deliver care that is consistent, compliant, and clinically strong — regardless of whether your client is across the room or across town.</a:t>
            </a:r>
            <a:endParaRPr lang="en-US" sz="1010" dirty="0"/>
          </a:p>
        </p:txBody>
      </p:sp>
      <p:sp>
        <p:nvSpPr>
          <p:cNvPr id="11" name="Text 9"/>
          <p:cNvSpPr/>
          <p:nvPr/>
        </p:nvSpPr>
        <p:spPr>
          <a:xfrm>
            <a:off x="1407021" y="3005733"/>
            <a:ext cx="6593979" cy="7590"/>
          </a:xfrm>
          <a:prstGeom prst="rect">
            <a:avLst/>
          </a:prstGeom>
          <a:solidFill>
            <a:srgbClr val="E8F4F4"/>
          </a:solidFill>
          <a:ln/>
        </p:spPr>
        <p:txBody>
          <a:bodyPr wrap="none" rtlCol="0" anchor="t"/>
          <a:lstStyle/>
          <a:p>
            <a:pPr marL="0" indent="0">
              <a:buNone/>
            </a:pPr>
            <a:endParaRPr lang="en-US" dirty="0"/>
          </a:p>
        </p:txBody>
      </p:sp>
      <p:sp>
        <p:nvSpPr>
          <p:cNvPr id="12" name="Text 10"/>
          <p:cNvSpPr/>
          <p:nvPr/>
        </p:nvSpPr>
        <p:spPr>
          <a:xfrm>
            <a:off x="1407021" y="3141464"/>
            <a:ext cx="6725858" cy="430991"/>
          </a:xfrm>
          <a:prstGeom prst="rect">
            <a:avLst/>
          </a:prstGeom>
          <a:noFill/>
          <a:ln/>
        </p:spPr>
        <p:txBody>
          <a:bodyPr wrap="square" lIns="0" tIns="0" rIns="0" bIns="0" rtlCol="0" anchor="t"/>
          <a:lstStyle/>
          <a:p>
            <a:pPr marL="0" indent="0" algn="l">
              <a:lnSpc>
                <a:spcPts val="1616"/>
              </a:lnSpc>
              <a:buNone/>
            </a:pPr>
            <a:r>
              <a:rPr lang="en-US" sz="1010" dirty="0">
                <a:solidFill>
                  <a:srgbClr val="2C2C2C"/>
                </a:solidFill>
                <a:latin typeface="Calibri" pitchFamily="34" charset="0"/>
                <a:ea typeface="Calibri" pitchFamily="34" charset="-122"/>
                <a:cs typeface="Calibri" pitchFamily="34" charset="-120"/>
              </a:rPr>
              <a:t>Strong telehealth practice reduces missed sessions, improves access to care, and supports therapist sustainability by creating predictable, structured workflows.</a:t>
            </a:r>
            <a:endParaRPr lang="en-US" sz="1010" dirty="0"/>
          </a:p>
        </p:txBody>
      </p:sp>
      <p:sp>
        <p:nvSpPr>
          <p:cNvPr id="13" name="Text 11"/>
          <p:cNvSpPr/>
          <p:nvPr/>
        </p:nvSpPr>
        <p:spPr>
          <a:xfrm>
            <a:off x="0" y="4714280"/>
            <a:ext cx="9144000" cy="472142"/>
          </a:xfrm>
          <a:prstGeom prst="rect">
            <a:avLst/>
          </a:prstGeom>
          <a:solidFill>
            <a:srgbClr val="FAB753"/>
          </a:solidFill>
          <a:ln/>
        </p:spPr>
        <p:txBody>
          <a:bodyPr wrap="none" lIns="0" tIns="0" rIns="0" bIns="0" rtlCol="0" anchor="ctr"/>
          <a:lstStyle/>
          <a:p>
            <a:pPr marL="0" indent="0" algn="ctr">
              <a:buNone/>
            </a:pPr>
            <a:r>
              <a:rPr lang="en-US" sz="1130" b="1" kern="0" spc="10" dirty="0">
                <a:solidFill>
                  <a:srgbClr val="1B2E1F"/>
                </a:solidFill>
                <a:latin typeface="Calibri" pitchFamily="34" charset="0"/>
                <a:ea typeface="Calibri" pitchFamily="34" charset="-122"/>
                <a:cs typeface="Calibri" pitchFamily="34" charset="-120"/>
              </a:rPr>
              <a:t>Same mission.  Different medium.  Same standard of care.</a:t>
            </a:r>
            <a:endParaRPr lang="en-US" sz="11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3160" cy="5143500"/>
          </a:xfrm>
          <a:prstGeom prst="rect">
            <a:avLst/>
          </a:prstGeom>
          <a:gradFill rotWithShape="1">
            <a:gsLst>
              <a:gs pos="60000">
                <a:srgbClr val="1B5E72"/>
              </a:gs>
              <a:gs pos="100000">
                <a:srgbClr val="FAB753"/>
              </a:gs>
            </a:gsLst>
            <a:lin ang="5400000" scaled="1"/>
          </a:gradFill>
          <a:ln/>
        </p:spPr>
        <p:txBody>
          <a:bodyPr wrap="square" rtlCol="0" anchor="t"/>
          <a:lstStyle/>
          <a:p>
            <a:pPr marL="0" indent="0">
              <a:buNone/>
            </a:pPr>
            <a:endParaRPr lang="en-US" dirty="0"/>
          </a:p>
        </p:txBody>
      </p:sp>
      <p:sp>
        <p:nvSpPr>
          <p:cNvPr id="3" name="Text 1"/>
          <p:cNvSpPr/>
          <p:nvPr/>
        </p:nvSpPr>
        <p:spPr>
          <a:xfrm>
            <a:off x="0" y="0"/>
            <a:ext cx="9418320" cy="701576"/>
          </a:xfrm>
          <a:prstGeom prst="rect">
            <a:avLst/>
          </a:prstGeom>
          <a:solidFill>
            <a:srgbClr val="FFFFFF"/>
          </a:solidFill>
          <a:ln/>
        </p:spPr>
        <p:txBody>
          <a:bodyPr wrap="none" lIns="514350" tIns="271780" rIns="514350" bIns="0" rtlCol="0" anchor="t"/>
          <a:lstStyle/>
          <a:p>
            <a:pPr marL="0" indent="0" algn="l">
              <a:buNone/>
            </a:pPr>
            <a:r>
              <a:rPr lang="en-US" sz="2360" b="1" kern="0" spc="-30" dirty="0">
                <a:solidFill>
                  <a:srgbClr val="1B5E72"/>
                </a:solidFill>
                <a:latin typeface="Calibri Light" pitchFamily="34" charset="0"/>
                <a:ea typeface="Calibri Light" pitchFamily="34" charset="-122"/>
                <a:cs typeface="Calibri Light" pitchFamily="34" charset="-120"/>
              </a:rPr>
              <a:t>What We Cover Today</a:t>
            </a:r>
            <a:endParaRPr lang="en-US" sz="2360" dirty="0"/>
          </a:p>
        </p:txBody>
      </p:sp>
      <p:sp>
        <p:nvSpPr>
          <p:cNvPr id="4" name="Text 2"/>
          <p:cNvSpPr/>
          <p:nvPr/>
        </p:nvSpPr>
        <p:spPr>
          <a:xfrm>
            <a:off x="514350" y="672405"/>
            <a:ext cx="57150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5" name="Text 3"/>
          <p:cNvSpPr/>
          <p:nvPr/>
        </p:nvSpPr>
        <p:spPr>
          <a:xfrm>
            <a:off x="419695" y="1674316"/>
            <a:ext cx="1400770" cy="928241"/>
          </a:xfrm>
          <a:prstGeom prst="roundRect">
            <a:avLst>
              <a:gd name="adj" fmla="val 9304"/>
            </a:avLst>
          </a:prstGeom>
          <a:solidFill>
            <a:srgbClr val="EAF4F4"/>
          </a:solidFill>
          <a:ln/>
          <a:effectLst>
            <a:outerShdw blurRad="71120" dist="13970" dir="5400000" algn="bl" rotWithShape="0">
              <a:srgbClr val="1B5E72">
                <a:alpha val="9000"/>
              </a:srgbClr>
            </a:outerShdw>
          </a:effectLst>
        </p:spPr>
        <p:txBody>
          <a:bodyPr wrap="square" rtlCol="0" anchor="t"/>
          <a:lstStyle/>
          <a:p>
            <a:pPr marL="0" indent="0">
              <a:buNone/>
            </a:pPr>
            <a:endParaRPr lang="en-US" dirty="0"/>
          </a:p>
        </p:txBody>
      </p:sp>
      <p:sp>
        <p:nvSpPr>
          <p:cNvPr id="6" name="Text 4"/>
          <p:cNvSpPr/>
          <p:nvPr/>
        </p:nvSpPr>
        <p:spPr>
          <a:xfrm>
            <a:off x="419695" y="1674316"/>
            <a:ext cx="1400770" cy="19050"/>
          </a:xfrm>
          <a:custGeom>
            <a:avLst/>
            <a:gdLst/>
            <a:ahLst/>
            <a:cxnLst/>
            <a:rect l="l" t="t" r="r" b="b"/>
            <a:pathLst>
              <a:path w="1400770"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368516" y="19050"/>
                </a:lnTo>
                <a:lnTo>
                  <a:pt x="1365412" y="16669"/>
                </a:lnTo>
                <a:lnTo>
                  <a:pt x="1361988" y="14288"/>
                </a:lnTo>
                <a:lnTo>
                  <a:pt x="1358167" y="11906"/>
                </a:lnTo>
                <a:lnTo>
                  <a:pt x="1353837" y="9525"/>
                </a:lnTo>
                <a:lnTo>
                  <a:pt x="1348803" y="7144"/>
                </a:lnTo>
                <a:lnTo>
                  <a:pt x="1342693" y="4763"/>
                </a:lnTo>
                <a:lnTo>
                  <a:pt x="1334550" y="2381"/>
                </a:lnTo>
                <a:lnTo>
                  <a:pt x="1314410" y="0"/>
                </a:lnTo>
                <a:close/>
              </a:path>
            </a:pathLst>
          </a:custGeom>
          <a:solidFill>
            <a:srgbClr val="FAB753"/>
          </a:solidFill>
          <a:ln/>
        </p:spPr>
        <p:txBody>
          <a:bodyPr wrap="none" rtlCol="0" anchor="t"/>
          <a:lstStyle/>
          <a:p>
            <a:pPr marL="0" indent="0">
              <a:buNone/>
            </a:pPr>
            <a:endParaRPr lang="en-US" dirty="0"/>
          </a:p>
        </p:txBody>
      </p:sp>
      <p:sp>
        <p:nvSpPr>
          <p:cNvPr id="7" name="Text 5"/>
          <p:cNvSpPr/>
          <p:nvPr/>
        </p:nvSpPr>
        <p:spPr>
          <a:xfrm>
            <a:off x="855524" y="1821507"/>
            <a:ext cx="529114" cy="146149"/>
          </a:xfrm>
          <a:prstGeom prst="rect">
            <a:avLst/>
          </a:prstGeom>
          <a:noFill/>
          <a:ln/>
        </p:spPr>
        <p:txBody>
          <a:bodyPr wrap="none" lIns="0" tIns="0" rIns="0" bIns="0" rtlCol="0" anchor="t"/>
          <a:lstStyle/>
          <a:p>
            <a:pPr marL="0" indent="0" algn="ctr">
              <a:lnSpc>
                <a:spcPts val="1152"/>
              </a:lnSpc>
              <a:buNone/>
            </a:pPr>
            <a:r>
              <a:rPr lang="en-US" sz="960" b="1" dirty="0">
                <a:solidFill>
                  <a:srgbClr val="1B5E72"/>
                </a:solidFill>
                <a:latin typeface="Calibri" pitchFamily="34" charset="0"/>
                <a:ea typeface="Calibri" pitchFamily="34" charset="-122"/>
                <a:cs typeface="Calibri" pitchFamily="34" charset="-120"/>
              </a:rPr>
              <a:t>Benefits</a:t>
            </a:r>
            <a:endParaRPr lang="en-US" sz="960" dirty="0"/>
          </a:p>
        </p:txBody>
      </p:sp>
      <p:sp>
        <p:nvSpPr>
          <p:cNvPr id="8" name="Text 6"/>
          <p:cNvSpPr/>
          <p:nvPr/>
        </p:nvSpPr>
        <p:spPr>
          <a:xfrm>
            <a:off x="522274" y="2017068"/>
            <a:ext cx="1195614" cy="294099"/>
          </a:xfrm>
          <a:prstGeom prst="rect">
            <a:avLst/>
          </a:prstGeom>
          <a:noFill/>
          <a:ln/>
        </p:spPr>
        <p:txBody>
          <a:bodyPr wrap="square" lIns="0" tIns="0" rIns="0" bIns="0" rtlCol="0" anchor="t"/>
          <a:lstStyle/>
          <a:p>
            <a:pPr marL="0" indent="0" algn="ctr">
              <a:lnSpc>
                <a:spcPts val="1102"/>
              </a:lnSpc>
              <a:buNone/>
            </a:pPr>
            <a:r>
              <a:rPr lang="en-US" sz="760" dirty="0">
                <a:solidFill>
                  <a:srgbClr val="4A6870"/>
                </a:solidFill>
                <a:latin typeface="Calibri" pitchFamily="34" charset="0"/>
                <a:ea typeface="Calibri" pitchFamily="34" charset="-122"/>
                <a:cs typeface="Calibri" pitchFamily="34" charset="-120"/>
              </a:rPr>
              <a:t>Why telehealth works and what the research says</a:t>
            </a:r>
            <a:endParaRPr lang="en-US" sz="760" dirty="0"/>
          </a:p>
        </p:txBody>
      </p:sp>
      <p:sp>
        <p:nvSpPr>
          <p:cNvPr id="9" name="Text 7"/>
          <p:cNvSpPr/>
          <p:nvPr/>
        </p:nvSpPr>
        <p:spPr>
          <a:xfrm>
            <a:off x="1840111" y="1288256"/>
            <a:ext cx="285750" cy="29170"/>
          </a:xfrm>
          <a:prstGeom prst="roundRect">
            <a:avLst>
              <a:gd name="adj" fmla="val 47892"/>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10" name="Text 8"/>
          <p:cNvSpPr/>
          <p:nvPr/>
        </p:nvSpPr>
        <p:spPr>
          <a:xfrm>
            <a:off x="2145506" y="1674316"/>
            <a:ext cx="1400770" cy="928241"/>
          </a:xfrm>
          <a:prstGeom prst="roundRect">
            <a:avLst>
              <a:gd name="adj" fmla="val 9304"/>
            </a:avLst>
          </a:prstGeom>
          <a:solidFill>
            <a:srgbClr val="EAF4F4"/>
          </a:solidFill>
          <a:ln/>
          <a:effectLst>
            <a:outerShdw blurRad="71120" dist="13970" dir="5400000" algn="bl" rotWithShape="0">
              <a:srgbClr val="1B5E72">
                <a:alpha val="9000"/>
              </a:srgbClr>
            </a:outerShdw>
          </a:effectLst>
        </p:spPr>
        <p:txBody>
          <a:bodyPr wrap="square" rtlCol="0" anchor="t"/>
          <a:lstStyle/>
          <a:p>
            <a:pPr marL="0" indent="0">
              <a:buNone/>
            </a:pPr>
            <a:endParaRPr lang="en-US" dirty="0"/>
          </a:p>
        </p:txBody>
      </p:sp>
      <p:sp>
        <p:nvSpPr>
          <p:cNvPr id="11" name="Text 9"/>
          <p:cNvSpPr/>
          <p:nvPr/>
        </p:nvSpPr>
        <p:spPr>
          <a:xfrm>
            <a:off x="2145506" y="1674316"/>
            <a:ext cx="1400770" cy="19050"/>
          </a:xfrm>
          <a:custGeom>
            <a:avLst/>
            <a:gdLst/>
            <a:ahLst/>
            <a:cxnLst/>
            <a:rect l="l" t="t" r="r" b="b"/>
            <a:pathLst>
              <a:path w="1400770"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368516" y="19050"/>
                </a:lnTo>
                <a:lnTo>
                  <a:pt x="1365412" y="16669"/>
                </a:lnTo>
                <a:lnTo>
                  <a:pt x="1361988" y="14288"/>
                </a:lnTo>
                <a:lnTo>
                  <a:pt x="1358167" y="11906"/>
                </a:lnTo>
                <a:lnTo>
                  <a:pt x="1353837" y="9525"/>
                </a:lnTo>
                <a:lnTo>
                  <a:pt x="1348803" y="7144"/>
                </a:lnTo>
                <a:lnTo>
                  <a:pt x="1342693" y="4763"/>
                </a:lnTo>
                <a:lnTo>
                  <a:pt x="1334550" y="2381"/>
                </a:lnTo>
                <a:lnTo>
                  <a:pt x="1314410" y="0"/>
                </a:lnTo>
                <a:close/>
              </a:path>
            </a:pathLst>
          </a:custGeom>
          <a:solidFill>
            <a:srgbClr val="FAB753"/>
          </a:solidFill>
          <a:ln/>
        </p:spPr>
        <p:txBody>
          <a:bodyPr wrap="none" rtlCol="0" anchor="t"/>
          <a:lstStyle/>
          <a:p>
            <a:pPr marL="0" indent="0">
              <a:buNone/>
            </a:pPr>
            <a:endParaRPr lang="en-US" dirty="0"/>
          </a:p>
        </p:txBody>
      </p:sp>
      <p:sp>
        <p:nvSpPr>
          <p:cNvPr id="12" name="Text 10"/>
          <p:cNvSpPr/>
          <p:nvPr/>
        </p:nvSpPr>
        <p:spPr>
          <a:xfrm>
            <a:off x="2234766" y="1821507"/>
            <a:ext cx="1222102" cy="146149"/>
          </a:xfrm>
          <a:prstGeom prst="rect">
            <a:avLst/>
          </a:prstGeom>
          <a:noFill/>
          <a:ln/>
        </p:spPr>
        <p:txBody>
          <a:bodyPr wrap="none" lIns="0" tIns="0" rIns="0" bIns="0" rtlCol="0" anchor="t"/>
          <a:lstStyle/>
          <a:p>
            <a:pPr marL="0" indent="0" algn="ctr">
              <a:lnSpc>
                <a:spcPts val="1152"/>
              </a:lnSpc>
              <a:buNone/>
            </a:pPr>
            <a:r>
              <a:rPr lang="en-US" sz="960" b="1" dirty="0">
                <a:solidFill>
                  <a:srgbClr val="1B5E72"/>
                </a:solidFill>
                <a:latin typeface="Calibri" pitchFamily="34" charset="0"/>
                <a:ea typeface="Calibri" pitchFamily="34" charset="-122"/>
                <a:cs typeface="Calibri" pitchFamily="34" charset="-120"/>
              </a:rPr>
              <a:t>Policy &amp; Standards</a:t>
            </a:r>
            <a:endParaRPr lang="en-US" sz="960" dirty="0"/>
          </a:p>
        </p:txBody>
      </p:sp>
      <p:sp>
        <p:nvSpPr>
          <p:cNvPr id="13" name="Text 11"/>
          <p:cNvSpPr/>
          <p:nvPr/>
        </p:nvSpPr>
        <p:spPr>
          <a:xfrm>
            <a:off x="2248085" y="2017068"/>
            <a:ext cx="1195614" cy="294099"/>
          </a:xfrm>
          <a:prstGeom prst="rect">
            <a:avLst/>
          </a:prstGeom>
          <a:noFill/>
          <a:ln/>
        </p:spPr>
        <p:txBody>
          <a:bodyPr wrap="square" lIns="0" tIns="0" rIns="0" bIns="0" rtlCol="0" anchor="t"/>
          <a:lstStyle/>
          <a:p>
            <a:pPr marL="0" indent="0" algn="ctr">
              <a:lnSpc>
                <a:spcPts val="1102"/>
              </a:lnSpc>
              <a:buNone/>
            </a:pPr>
            <a:r>
              <a:rPr lang="en-US" sz="760" dirty="0">
                <a:solidFill>
                  <a:srgbClr val="4A6870"/>
                </a:solidFill>
                <a:latin typeface="Calibri" pitchFamily="34" charset="0"/>
                <a:ea typeface="Calibri" pitchFamily="34" charset="-122"/>
                <a:cs typeface="Calibri" pitchFamily="34" charset="-120"/>
              </a:rPr>
              <a:t>Centerstone procedures, inclusion, and consent</a:t>
            </a:r>
            <a:endParaRPr lang="en-US" sz="760" dirty="0"/>
          </a:p>
        </p:txBody>
      </p:sp>
      <p:sp>
        <p:nvSpPr>
          <p:cNvPr id="14" name="Text 12"/>
          <p:cNvSpPr/>
          <p:nvPr/>
        </p:nvSpPr>
        <p:spPr>
          <a:xfrm>
            <a:off x="3566071" y="1288256"/>
            <a:ext cx="285750" cy="29170"/>
          </a:xfrm>
          <a:prstGeom prst="roundRect">
            <a:avLst>
              <a:gd name="adj" fmla="val 47892"/>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15" name="Text 13"/>
          <p:cNvSpPr/>
          <p:nvPr/>
        </p:nvSpPr>
        <p:spPr>
          <a:xfrm>
            <a:off x="3871466" y="1674316"/>
            <a:ext cx="1400770" cy="928241"/>
          </a:xfrm>
          <a:prstGeom prst="roundRect">
            <a:avLst>
              <a:gd name="adj" fmla="val 9304"/>
            </a:avLst>
          </a:prstGeom>
          <a:solidFill>
            <a:srgbClr val="EAF4F4"/>
          </a:solidFill>
          <a:ln/>
          <a:effectLst>
            <a:outerShdw blurRad="71120" dist="13970" dir="5400000" algn="bl" rotWithShape="0">
              <a:srgbClr val="1B5E72">
                <a:alpha val="9000"/>
              </a:srgbClr>
            </a:outerShdw>
          </a:effectLst>
        </p:spPr>
        <p:txBody>
          <a:bodyPr wrap="square" rtlCol="0" anchor="t"/>
          <a:lstStyle/>
          <a:p>
            <a:pPr marL="0" indent="0">
              <a:buNone/>
            </a:pPr>
            <a:endParaRPr lang="en-US" dirty="0"/>
          </a:p>
        </p:txBody>
      </p:sp>
      <p:sp>
        <p:nvSpPr>
          <p:cNvPr id="16" name="Text 14"/>
          <p:cNvSpPr/>
          <p:nvPr/>
        </p:nvSpPr>
        <p:spPr>
          <a:xfrm>
            <a:off x="3871466" y="1674316"/>
            <a:ext cx="1400770" cy="19050"/>
          </a:xfrm>
          <a:custGeom>
            <a:avLst/>
            <a:gdLst/>
            <a:ahLst/>
            <a:cxnLst/>
            <a:rect l="l" t="t" r="r" b="b"/>
            <a:pathLst>
              <a:path w="1400770"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368516" y="19050"/>
                </a:lnTo>
                <a:lnTo>
                  <a:pt x="1365412" y="16669"/>
                </a:lnTo>
                <a:lnTo>
                  <a:pt x="1361988" y="14288"/>
                </a:lnTo>
                <a:lnTo>
                  <a:pt x="1358167" y="11906"/>
                </a:lnTo>
                <a:lnTo>
                  <a:pt x="1353837" y="9525"/>
                </a:lnTo>
                <a:lnTo>
                  <a:pt x="1348803" y="7144"/>
                </a:lnTo>
                <a:lnTo>
                  <a:pt x="1342693" y="4763"/>
                </a:lnTo>
                <a:lnTo>
                  <a:pt x="1334550" y="2381"/>
                </a:lnTo>
                <a:lnTo>
                  <a:pt x="1314410" y="0"/>
                </a:lnTo>
                <a:close/>
              </a:path>
            </a:pathLst>
          </a:custGeom>
          <a:solidFill>
            <a:srgbClr val="FAB753"/>
          </a:solidFill>
          <a:ln/>
        </p:spPr>
        <p:txBody>
          <a:bodyPr wrap="none" rtlCol="0" anchor="t"/>
          <a:lstStyle/>
          <a:p>
            <a:pPr marL="0" indent="0">
              <a:buNone/>
            </a:pPr>
            <a:endParaRPr lang="en-US" dirty="0"/>
          </a:p>
        </p:txBody>
      </p:sp>
      <p:sp>
        <p:nvSpPr>
          <p:cNvPr id="17" name="Text 15"/>
          <p:cNvSpPr/>
          <p:nvPr/>
        </p:nvSpPr>
        <p:spPr>
          <a:xfrm>
            <a:off x="3974044" y="1821507"/>
            <a:ext cx="1195614" cy="306913"/>
          </a:xfrm>
          <a:prstGeom prst="rect">
            <a:avLst/>
          </a:prstGeom>
          <a:noFill/>
          <a:ln/>
        </p:spPr>
        <p:txBody>
          <a:bodyPr wrap="square" lIns="0" tIns="0" rIns="0" bIns="0" rtlCol="0" anchor="t"/>
          <a:lstStyle/>
          <a:p>
            <a:pPr marL="0" indent="0" algn="ctr">
              <a:lnSpc>
                <a:spcPts val="1152"/>
              </a:lnSpc>
              <a:buNone/>
            </a:pPr>
            <a:r>
              <a:rPr lang="en-US" sz="960" b="1" dirty="0">
                <a:solidFill>
                  <a:srgbClr val="1B5E72"/>
                </a:solidFill>
                <a:latin typeface="Calibri" pitchFamily="34" charset="0"/>
                <a:ea typeface="Calibri" pitchFamily="34" charset="-122"/>
                <a:cs typeface="Calibri" pitchFamily="34" charset="-120"/>
              </a:rPr>
              <a:t>Scheduling &amp; Documentation</a:t>
            </a:r>
            <a:endParaRPr lang="en-US" sz="960" dirty="0"/>
          </a:p>
        </p:txBody>
      </p:sp>
      <p:sp>
        <p:nvSpPr>
          <p:cNvPr id="18" name="Text 16"/>
          <p:cNvSpPr/>
          <p:nvPr/>
        </p:nvSpPr>
        <p:spPr>
          <a:xfrm>
            <a:off x="3974044" y="2163217"/>
            <a:ext cx="1195614" cy="294099"/>
          </a:xfrm>
          <a:prstGeom prst="rect">
            <a:avLst/>
          </a:prstGeom>
          <a:noFill/>
          <a:ln/>
        </p:spPr>
        <p:txBody>
          <a:bodyPr wrap="square" lIns="0" tIns="0" rIns="0" bIns="0" rtlCol="0" anchor="t"/>
          <a:lstStyle/>
          <a:p>
            <a:pPr marL="0" indent="0" algn="ctr">
              <a:lnSpc>
                <a:spcPts val="1102"/>
              </a:lnSpc>
              <a:buNone/>
            </a:pPr>
            <a:r>
              <a:rPr lang="en-US" sz="760" dirty="0">
                <a:solidFill>
                  <a:srgbClr val="4A6870"/>
                </a:solidFill>
                <a:latin typeface="Calibri" pitchFamily="34" charset="0"/>
                <a:ea typeface="Calibri" pitchFamily="34" charset="-122"/>
                <a:cs typeface="Calibri" pitchFamily="34" charset="-120"/>
              </a:rPr>
              <a:t>Avatar requirements and documentation essentials</a:t>
            </a:r>
            <a:endParaRPr lang="en-US" sz="760" dirty="0"/>
          </a:p>
        </p:txBody>
      </p:sp>
      <p:sp>
        <p:nvSpPr>
          <p:cNvPr id="19" name="Text 17"/>
          <p:cNvSpPr/>
          <p:nvPr/>
        </p:nvSpPr>
        <p:spPr>
          <a:xfrm>
            <a:off x="5292030" y="1288256"/>
            <a:ext cx="285750" cy="29170"/>
          </a:xfrm>
          <a:prstGeom prst="roundRect">
            <a:avLst>
              <a:gd name="adj" fmla="val 47892"/>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20" name="Text 18"/>
          <p:cNvSpPr/>
          <p:nvPr/>
        </p:nvSpPr>
        <p:spPr>
          <a:xfrm>
            <a:off x="5597426" y="1674316"/>
            <a:ext cx="1400770" cy="928241"/>
          </a:xfrm>
          <a:prstGeom prst="roundRect">
            <a:avLst>
              <a:gd name="adj" fmla="val 9304"/>
            </a:avLst>
          </a:prstGeom>
          <a:solidFill>
            <a:srgbClr val="EAF4F4"/>
          </a:solidFill>
          <a:ln/>
          <a:effectLst>
            <a:outerShdw blurRad="71120" dist="13970" dir="5400000" algn="bl" rotWithShape="0">
              <a:srgbClr val="1B5E72">
                <a:alpha val="9000"/>
              </a:srgbClr>
            </a:outerShdw>
          </a:effectLst>
        </p:spPr>
        <p:txBody>
          <a:bodyPr wrap="square" rtlCol="0" anchor="t"/>
          <a:lstStyle/>
          <a:p>
            <a:pPr marL="0" indent="0">
              <a:buNone/>
            </a:pPr>
            <a:endParaRPr lang="en-US" dirty="0"/>
          </a:p>
        </p:txBody>
      </p:sp>
      <p:sp>
        <p:nvSpPr>
          <p:cNvPr id="21" name="Text 19"/>
          <p:cNvSpPr/>
          <p:nvPr/>
        </p:nvSpPr>
        <p:spPr>
          <a:xfrm>
            <a:off x="5597426" y="1674316"/>
            <a:ext cx="1400770" cy="19050"/>
          </a:xfrm>
          <a:custGeom>
            <a:avLst/>
            <a:gdLst/>
            <a:ahLst/>
            <a:cxnLst/>
            <a:rect l="l" t="t" r="r" b="b"/>
            <a:pathLst>
              <a:path w="1400770"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368516" y="19050"/>
                </a:lnTo>
                <a:lnTo>
                  <a:pt x="1365412" y="16669"/>
                </a:lnTo>
                <a:lnTo>
                  <a:pt x="1361988" y="14288"/>
                </a:lnTo>
                <a:lnTo>
                  <a:pt x="1358167" y="11906"/>
                </a:lnTo>
                <a:lnTo>
                  <a:pt x="1353837" y="9525"/>
                </a:lnTo>
                <a:lnTo>
                  <a:pt x="1348803" y="7144"/>
                </a:lnTo>
                <a:lnTo>
                  <a:pt x="1342693" y="4763"/>
                </a:lnTo>
                <a:lnTo>
                  <a:pt x="1334550" y="2381"/>
                </a:lnTo>
                <a:lnTo>
                  <a:pt x="1314410" y="0"/>
                </a:lnTo>
                <a:close/>
              </a:path>
            </a:pathLst>
          </a:custGeom>
          <a:solidFill>
            <a:srgbClr val="FAB753"/>
          </a:solidFill>
          <a:ln/>
        </p:spPr>
        <p:txBody>
          <a:bodyPr wrap="none" rtlCol="0" anchor="t"/>
          <a:lstStyle/>
          <a:p>
            <a:pPr marL="0" indent="0">
              <a:buNone/>
            </a:pPr>
            <a:endParaRPr lang="en-US" dirty="0"/>
          </a:p>
        </p:txBody>
      </p:sp>
      <p:sp>
        <p:nvSpPr>
          <p:cNvPr id="22" name="Text 20"/>
          <p:cNvSpPr/>
          <p:nvPr/>
        </p:nvSpPr>
        <p:spPr>
          <a:xfrm>
            <a:off x="5865785" y="1821507"/>
            <a:ext cx="863903" cy="146149"/>
          </a:xfrm>
          <a:prstGeom prst="rect">
            <a:avLst/>
          </a:prstGeom>
          <a:noFill/>
          <a:ln/>
        </p:spPr>
        <p:txBody>
          <a:bodyPr wrap="none" lIns="0" tIns="0" rIns="0" bIns="0" rtlCol="0" anchor="t"/>
          <a:lstStyle/>
          <a:p>
            <a:pPr marL="0" indent="0" algn="ctr">
              <a:lnSpc>
                <a:spcPts val="1152"/>
              </a:lnSpc>
              <a:buNone/>
            </a:pPr>
            <a:r>
              <a:rPr lang="en-US" sz="960" b="1" dirty="0">
                <a:solidFill>
                  <a:srgbClr val="1B5E72"/>
                </a:solidFill>
                <a:latin typeface="Calibri" pitchFamily="34" charset="0"/>
                <a:ea typeface="Calibri" pitchFamily="34" charset="-122"/>
                <a:cs typeface="Calibri" pitchFamily="34" charset="-120"/>
              </a:rPr>
              <a:t>The Fun Stuff</a:t>
            </a:r>
            <a:endParaRPr lang="en-US" sz="960" dirty="0"/>
          </a:p>
        </p:txBody>
      </p:sp>
      <p:sp>
        <p:nvSpPr>
          <p:cNvPr id="23" name="Text 21"/>
          <p:cNvSpPr/>
          <p:nvPr/>
        </p:nvSpPr>
        <p:spPr>
          <a:xfrm>
            <a:off x="5700004" y="2017068"/>
            <a:ext cx="1195614" cy="441149"/>
          </a:xfrm>
          <a:prstGeom prst="rect">
            <a:avLst/>
          </a:prstGeom>
          <a:noFill/>
          <a:ln/>
        </p:spPr>
        <p:txBody>
          <a:bodyPr wrap="square" lIns="0" tIns="0" rIns="0" bIns="0" rtlCol="0" anchor="t"/>
          <a:lstStyle/>
          <a:p>
            <a:pPr marL="0" indent="0" algn="ctr">
              <a:lnSpc>
                <a:spcPts val="1102"/>
              </a:lnSpc>
              <a:buNone/>
            </a:pPr>
            <a:r>
              <a:rPr lang="en-US" sz="760" dirty="0">
                <a:solidFill>
                  <a:srgbClr val="4A6870"/>
                </a:solidFill>
                <a:latin typeface="Calibri" pitchFamily="34" charset="0"/>
                <a:ea typeface="Calibri" pitchFamily="34" charset="-122"/>
                <a:cs typeface="Calibri" pitchFamily="34" charset="-120"/>
              </a:rPr>
              <a:t>Topher's Telehealth Toybox, play therapy &amp; family activities</a:t>
            </a:r>
            <a:endParaRPr lang="en-US" sz="760" dirty="0"/>
          </a:p>
        </p:txBody>
      </p:sp>
      <p:sp>
        <p:nvSpPr>
          <p:cNvPr id="24" name="Text 22"/>
          <p:cNvSpPr/>
          <p:nvPr/>
        </p:nvSpPr>
        <p:spPr>
          <a:xfrm>
            <a:off x="7017990" y="1288256"/>
            <a:ext cx="285750" cy="29170"/>
          </a:xfrm>
          <a:prstGeom prst="roundRect">
            <a:avLst>
              <a:gd name="adj" fmla="val 47892"/>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25" name="Text 23"/>
          <p:cNvSpPr/>
          <p:nvPr/>
        </p:nvSpPr>
        <p:spPr>
          <a:xfrm>
            <a:off x="7323386" y="1674316"/>
            <a:ext cx="1400770" cy="928241"/>
          </a:xfrm>
          <a:prstGeom prst="roundRect">
            <a:avLst>
              <a:gd name="adj" fmla="val 9304"/>
            </a:avLst>
          </a:prstGeom>
          <a:solidFill>
            <a:srgbClr val="EAF4F4"/>
          </a:solidFill>
          <a:ln/>
          <a:effectLst>
            <a:outerShdw blurRad="71120" dist="13970" dir="5400000" algn="bl" rotWithShape="0">
              <a:srgbClr val="1B5E72">
                <a:alpha val="9000"/>
              </a:srgbClr>
            </a:outerShdw>
          </a:effectLst>
        </p:spPr>
        <p:txBody>
          <a:bodyPr wrap="square" rtlCol="0" anchor="t"/>
          <a:lstStyle/>
          <a:p>
            <a:pPr marL="0" indent="0">
              <a:buNone/>
            </a:pPr>
            <a:endParaRPr lang="en-US" dirty="0"/>
          </a:p>
        </p:txBody>
      </p:sp>
      <p:sp>
        <p:nvSpPr>
          <p:cNvPr id="26" name="Text 24"/>
          <p:cNvSpPr/>
          <p:nvPr/>
        </p:nvSpPr>
        <p:spPr>
          <a:xfrm>
            <a:off x="7323386" y="1674316"/>
            <a:ext cx="1400770" cy="19050"/>
          </a:xfrm>
          <a:custGeom>
            <a:avLst/>
            <a:gdLst/>
            <a:ahLst/>
            <a:cxnLst/>
            <a:rect l="l" t="t" r="r" b="b"/>
            <a:pathLst>
              <a:path w="1400770" h="19050">
                <a:moveTo>
                  <a:pt x="86360" y="0"/>
                </a:moveTo>
                <a:lnTo>
                  <a:pt x="66220" y="2381"/>
                </a:lnTo>
                <a:lnTo>
                  <a:pt x="58078" y="4763"/>
                </a:lnTo>
                <a:lnTo>
                  <a:pt x="51968" y="7144"/>
                </a:lnTo>
                <a:lnTo>
                  <a:pt x="46934" y="9525"/>
                </a:lnTo>
                <a:lnTo>
                  <a:pt x="42603" y="11906"/>
                </a:lnTo>
                <a:lnTo>
                  <a:pt x="38783" y="14288"/>
                </a:lnTo>
                <a:lnTo>
                  <a:pt x="35358" y="16669"/>
                </a:lnTo>
                <a:lnTo>
                  <a:pt x="32254" y="19050"/>
                </a:lnTo>
                <a:lnTo>
                  <a:pt x="1368516" y="19050"/>
                </a:lnTo>
                <a:lnTo>
                  <a:pt x="1365412" y="16669"/>
                </a:lnTo>
                <a:lnTo>
                  <a:pt x="1361988" y="14288"/>
                </a:lnTo>
                <a:lnTo>
                  <a:pt x="1358167" y="11906"/>
                </a:lnTo>
                <a:lnTo>
                  <a:pt x="1353837" y="9525"/>
                </a:lnTo>
                <a:lnTo>
                  <a:pt x="1348803" y="7144"/>
                </a:lnTo>
                <a:lnTo>
                  <a:pt x="1342693" y="4763"/>
                </a:lnTo>
                <a:lnTo>
                  <a:pt x="1334550" y="2381"/>
                </a:lnTo>
                <a:lnTo>
                  <a:pt x="1314410" y="0"/>
                </a:lnTo>
                <a:close/>
              </a:path>
            </a:pathLst>
          </a:custGeom>
          <a:solidFill>
            <a:srgbClr val="FAB753"/>
          </a:solidFill>
          <a:ln/>
        </p:spPr>
        <p:txBody>
          <a:bodyPr wrap="none" rtlCol="0" anchor="t"/>
          <a:lstStyle/>
          <a:p>
            <a:pPr marL="0" indent="0">
              <a:buNone/>
            </a:pPr>
            <a:endParaRPr lang="en-US" dirty="0"/>
          </a:p>
        </p:txBody>
      </p:sp>
      <p:sp>
        <p:nvSpPr>
          <p:cNvPr id="27" name="Text 25"/>
          <p:cNvSpPr/>
          <p:nvPr/>
        </p:nvSpPr>
        <p:spPr>
          <a:xfrm>
            <a:off x="7452263" y="1821507"/>
            <a:ext cx="1142866" cy="146149"/>
          </a:xfrm>
          <a:prstGeom prst="rect">
            <a:avLst/>
          </a:prstGeom>
          <a:noFill/>
          <a:ln/>
        </p:spPr>
        <p:txBody>
          <a:bodyPr wrap="none" lIns="0" tIns="0" rIns="0" bIns="0" rtlCol="0" anchor="t"/>
          <a:lstStyle/>
          <a:p>
            <a:pPr marL="0" indent="0" algn="ctr">
              <a:lnSpc>
                <a:spcPts val="1152"/>
              </a:lnSpc>
              <a:buNone/>
            </a:pPr>
            <a:r>
              <a:rPr lang="en-US" sz="960" b="1" dirty="0">
                <a:solidFill>
                  <a:srgbClr val="1B5E72"/>
                </a:solidFill>
                <a:latin typeface="Calibri" pitchFamily="34" charset="0"/>
                <a:ea typeface="Calibri" pitchFamily="34" charset="-122"/>
                <a:cs typeface="Calibri" pitchFamily="34" charset="-120"/>
              </a:rPr>
              <a:t>Tips &amp; Takeaways</a:t>
            </a:r>
            <a:endParaRPr lang="en-US" sz="960" dirty="0"/>
          </a:p>
        </p:txBody>
      </p:sp>
      <p:sp>
        <p:nvSpPr>
          <p:cNvPr id="28" name="Text 26"/>
          <p:cNvSpPr/>
          <p:nvPr/>
        </p:nvSpPr>
        <p:spPr>
          <a:xfrm>
            <a:off x="7425964" y="2017068"/>
            <a:ext cx="1195614" cy="294099"/>
          </a:xfrm>
          <a:prstGeom prst="rect">
            <a:avLst/>
          </a:prstGeom>
          <a:noFill/>
          <a:ln/>
        </p:spPr>
        <p:txBody>
          <a:bodyPr wrap="square" lIns="0" tIns="0" rIns="0" bIns="0" rtlCol="0" anchor="t"/>
          <a:lstStyle/>
          <a:p>
            <a:pPr marL="0" indent="0" algn="ctr">
              <a:lnSpc>
                <a:spcPts val="1102"/>
              </a:lnSpc>
              <a:buNone/>
            </a:pPr>
            <a:r>
              <a:rPr lang="en-US" sz="760" dirty="0">
                <a:solidFill>
                  <a:srgbClr val="4A6870"/>
                </a:solidFill>
                <a:latin typeface="Calibri" pitchFamily="34" charset="0"/>
                <a:ea typeface="Calibri" pitchFamily="34" charset="-122"/>
                <a:cs typeface="Calibri" pitchFamily="34" charset="-120"/>
              </a:rPr>
              <a:t>Final guidance and next steps</a:t>
            </a:r>
            <a:endParaRPr lang="en-US" sz="760" dirty="0"/>
          </a:p>
        </p:txBody>
      </p:sp>
      <p:sp>
        <p:nvSpPr>
          <p:cNvPr id="29" name="Text 27"/>
          <p:cNvSpPr/>
          <p:nvPr/>
        </p:nvSpPr>
        <p:spPr>
          <a:xfrm>
            <a:off x="514350" y="4793010"/>
            <a:ext cx="8115300" cy="7590"/>
          </a:xfrm>
          <a:prstGeom prst="rect">
            <a:avLst/>
          </a:prstGeom>
          <a:gradFill rotWithShape="1">
            <a:gsLst>
              <a:gs pos="0">
                <a:srgbClr val="1B5E72">
                  <a:alpha val="18000"/>
                </a:srgbClr>
              </a:gs>
              <a:gs pos="50000">
                <a:srgbClr val="FAB753">
                  <a:alpha val="18000"/>
                </a:srgbClr>
              </a:gs>
              <a:gs pos="100000">
                <a:srgbClr val="1B5E72">
                  <a:alpha val="18000"/>
                </a:srgbClr>
              </a:gs>
            </a:gsLst>
            <a:lin ang="0" scaled="1"/>
          </a:gradFill>
          <a:ln/>
        </p:spPr>
        <p:txBody>
          <a:bodyPr wrap="none" rtlCol="0" anchor="t"/>
          <a:lstStyle/>
          <a:p>
            <a:pPr marL="0" indent="0">
              <a:buNone/>
            </a:pPr>
            <a:endParaRPr lang="en-US" dirty="0"/>
          </a:p>
        </p:txBody>
      </p:sp>
      <p:sp>
        <p:nvSpPr>
          <p:cNvPr id="30" name="Text 28"/>
          <p:cNvSpPr/>
          <p:nvPr/>
        </p:nvSpPr>
        <p:spPr>
          <a:xfrm>
            <a:off x="-457200" y="4835575"/>
            <a:ext cx="10058400" cy="150465"/>
          </a:xfrm>
          <a:prstGeom prst="rect">
            <a:avLst/>
          </a:prstGeom>
          <a:noFill/>
          <a:ln/>
        </p:spPr>
        <p:txBody>
          <a:bodyPr wrap="none" lIns="0" tIns="0" rIns="0" bIns="0" rtlCol="0" anchor="t"/>
          <a:lstStyle/>
          <a:p>
            <a:pPr marL="0" indent="0" algn="ctr">
              <a:lnSpc>
                <a:spcPts val="1185"/>
              </a:lnSpc>
              <a:buNone/>
            </a:pPr>
            <a:r>
              <a:rPr lang="en-US" sz="790" i="1" kern="0" spc="20" dirty="0">
                <a:solidFill>
                  <a:srgbClr val="55A49C"/>
                </a:solidFill>
                <a:latin typeface="Calibri" pitchFamily="34" charset="0"/>
                <a:ea typeface="Calibri" pitchFamily="34" charset="-122"/>
                <a:cs typeface="Calibri" pitchFamily="34" charset="-120"/>
              </a:rPr>
              <a:t>Centerstone Clinical Training Series  ·  June 2026</a:t>
            </a:r>
            <a:endParaRPr lang="en-US" sz="790" dirty="0"/>
          </a:p>
        </p:txBody>
      </p:sp>
      <p:sp>
        <p:nvSpPr>
          <p:cNvPr id="31" name="Text 29"/>
          <p:cNvSpPr/>
          <p:nvPr/>
        </p:nvSpPr>
        <p:spPr>
          <a:xfrm>
            <a:off x="2108597" y="1252696"/>
            <a:ext cx="66675" cy="95250"/>
          </a:xfrm>
          <a:prstGeom prst="rect">
            <a:avLst/>
          </a:prstGeom>
          <a:noFill/>
          <a:ln/>
        </p:spPr>
        <p:txBody>
          <a:bodyPr wrap="none" rtlCol="0" anchor="t"/>
          <a:lstStyle/>
          <a:p>
            <a:pPr marL="0" indent="0">
              <a:buNone/>
            </a:pPr>
            <a:endParaRPr lang="en-US" dirty="0"/>
          </a:p>
        </p:txBody>
      </p:sp>
      <p:sp>
        <p:nvSpPr>
          <p:cNvPr id="32" name="Text 30"/>
          <p:cNvSpPr/>
          <p:nvPr/>
        </p:nvSpPr>
        <p:spPr>
          <a:xfrm>
            <a:off x="3834557" y="1252696"/>
            <a:ext cx="66675" cy="95250"/>
          </a:xfrm>
          <a:prstGeom prst="rect">
            <a:avLst/>
          </a:prstGeom>
          <a:noFill/>
          <a:ln/>
        </p:spPr>
        <p:txBody>
          <a:bodyPr wrap="none" rtlCol="0" anchor="t"/>
          <a:lstStyle/>
          <a:p>
            <a:pPr marL="0" indent="0">
              <a:buNone/>
            </a:pPr>
            <a:endParaRPr lang="en-US" dirty="0"/>
          </a:p>
        </p:txBody>
      </p:sp>
      <p:sp>
        <p:nvSpPr>
          <p:cNvPr id="33" name="Text 31"/>
          <p:cNvSpPr/>
          <p:nvPr/>
        </p:nvSpPr>
        <p:spPr>
          <a:xfrm>
            <a:off x="5560516" y="1252696"/>
            <a:ext cx="66675" cy="95250"/>
          </a:xfrm>
          <a:prstGeom prst="rect">
            <a:avLst/>
          </a:prstGeom>
          <a:noFill/>
          <a:ln/>
        </p:spPr>
        <p:txBody>
          <a:bodyPr wrap="none" rtlCol="0" anchor="t"/>
          <a:lstStyle/>
          <a:p>
            <a:pPr marL="0" indent="0">
              <a:buNone/>
            </a:pPr>
            <a:endParaRPr lang="en-US" dirty="0"/>
          </a:p>
        </p:txBody>
      </p:sp>
      <p:sp>
        <p:nvSpPr>
          <p:cNvPr id="34" name="Text 32"/>
          <p:cNvSpPr/>
          <p:nvPr/>
        </p:nvSpPr>
        <p:spPr>
          <a:xfrm>
            <a:off x="7286476" y="1252696"/>
            <a:ext cx="66675" cy="95250"/>
          </a:xfrm>
          <a:prstGeom prst="rect">
            <a:avLst/>
          </a:prstGeom>
          <a:noFill/>
          <a:ln/>
        </p:spPr>
        <p:txBody>
          <a:bodyPr wrap="none" rtlCol="0" anchor="t"/>
          <a:lstStyle/>
          <a:p>
            <a:pPr marL="0" indent="0">
              <a:buNone/>
            </a:pPr>
            <a:endParaRPr lang="en-US" dirty="0"/>
          </a:p>
        </p:txBody>
      </p:sp>
      <p:sp>
        <p:nvSpPr>
          <p:cNvPr id="35" name="Text 33"/>
          <p:cNvSpPr/>
          <p:nvPr/>
        </p:nvSpPr>
        <p:spPr>
          <a:xfrm>
            <a:off x="848320" y="1016496"/>
            <a:ext cx="543520" cy="597872"/>
          </a:xfrm>
          <a:prstGeom prst="ellipse">
            <a:avLst/>
          </a:prstGeom>
          <a:solidFill>
            <a:srgbClr val="1B5E72"/>
          </a:solidFill>
          <a:ln w="19050">
            <a:solidFill>
              <a:srgbClr val="FFFFFF">
                <a:alpha val="90000"/>
              </a:srgbClr>
            </a:solidFill>
          </a:ln>
          <a:effectLst>
            <a:outerShdw blurRad="114300" dist="29210" dir="5400000" algn="bl" rotWithShape="0">
              <a:srgbClr val="1B5E72">
                <a:alpha val="22000"/>
              </a:srgbClr>
            </a:outerShdw>
          </a:effectLst>
        </p:spPr>
        <p:txBody>
          <a:bodyPr wrap="none" lIns="0" tIns="0" rIns="0" bIns="0" rtlCol="0" anchor="ctr"/>
          <a:lstStyle/>
          <a:p>
            <a:pPr marL="0" indent="0" algn="ctr">
              <a:buNone/>
            </a:pPr>
            <a:r>
              <a:rPr lang="en-US" sz="1690" b="1" dirty="0">
                <a:solidFill>
                  <a:srgbClr val="FAB753"/>
                </a:solidFill>
                <a:latin typeface="Calibri Light" pitchFamily="34" charset="0"/>
                <a:ea typeface="Calibri Light" pitchFamily="34" charset="-122"/>
                <a:cs typeface="Calibri Light" pitchFamily="34" charset="-120"/>
              </a:rPr>
              <a:t>1</a:t>
            </a:r>
            <a:endParaRPr lang="en-US" sz="1690" dirty="0"/>
          </a:p>
        </p:txBody>
      </p:sp>
      <p:sp>
        <p:nvSpPr>
          <p:cNvPr id="36" name="Text 34"/>
          <p:cNvSpPr/>
          <p:nvPr/>
        </p:nvSpPr>
        <p:spPr>
          <a:xfrm>
            <a:off x="2574131" y="1016496"/>
            <a:ext cx="543520" cy="597872"/>
          </a:xfrm>
          <a:prstGeom prst="ellipse">
            <a:avLst/>
          </a:prstGeom>
          <a:solidFill>
            <a:srgbClr val="1B5E72"/>
          </a:solidFill>
          <a:ln w="19050">
            <a:solidFill>
              <a:srgbClr val="FFFFFF">
                <a:alpha val="90000"/>
              </a:srgbClr>
            </a:solidFill>
          </a:ln>
          <a:effectLst>
            <a:outerShdw blurRad="114300" dist="29210" dir="5400000" algn="bl" rotWithShape="0">
              <a:srgbClr val="1B5E72">
                <a:alpha val="22000"/>
              </a:srgbClr>
            </a:outerShdw>
          </a:effectLst>
        </p:spPr>
        <p:txBody>
          <a:bodyPr wrap="none" lIns="0" tIns="0" rIns="0" bIns="0" rtlCol="0" anchor="ctr"/>
          <a:lstStyle/>
          <a:p>
            <a:pPr marL="0" indent="0" algn="ctr">
              <a:buNone/>
            </a:pPr>
            <a:r>
              <a:rPr lang="en-US" sz="1690" b="1" dirty="0">
                <a:solidFill>
                  <a:srgbClr val="FAB753"/>
                </a:solidFill>
                <a:latin typeface="Calibri Light" pitchFamily="34" charset="0"/>
                <a:ea typeface="Calibri Light" pitchFamily="34" charset="-122"/>
                <a:cs typeface="Calibri Light" pitchFamily="34" charset="-120"/>
              </a:rPr>
              <a:t>2</a:t>
            </a:r>
            <a:endParaRPr lang="en-US" sz="1690" dirty="0"/>
          </a:p>
        </p:txBody>
      </p:sp>
      <p:sp>
        <p:nvSpPr>
          <p:cNvPr id="37" name="Text 35"/>
          <p:cNvSpPr/>
          <p:nvPr/>
        </p:nvSpPr>
        <p:spPr>
          <a:xfrm>
            <a:off x="4300091" y="1016496"/>
            <a:ext cx="543520" cy="597872"/>
          </a:xfrm>
          <a:prstGeom prst="ellipse">
            <a:avLst/>
          </a:prstGeom>
          <a:solidFill>
            <a:srgbClr val="1B5E72"/>
          </a:solidFill>
          <a:ln w="19050">
            <a:solidFill>
              <a:srgbClr val="FFFFFF">
                <a:alpha val="90000"/>
              </a:srgbClr>
            </a:solidFill>
          </a:ln>
          <a:effectLst>
            <a:outerShdw blurRad="114300" dist="29210" dir="5400000" algn="bl" rotWithShape="0">
              <a:srgbClr val="1B5E72">
                <a:alpha val="22000"/>
              </a:srgbClr>
            </a:outerShdw>
          </a:effectLst>
        </p:spPr>
        <p:txBody>
          <a:bodyPr wrap="none" lIns="0" tIns="0" rIns="0" bIns="0" rtlCol="0" anchor="ctr"/>
          <a:lstStyle/>
          <a:p>
            <a:pPr marL="0" indent="0" algn="ctr">
              <a:buNone/>
            </a:pPr>
            <a:r>
              <a:rPr lang="en-US" sz="1690" b="1" dirty="0">
                <a:solidFill>
                  <a:srgbClr val="FAB753"/>
                </a:solidFill>
                <a:latin typeface="Calibri Light" pitchFamily="34" charset="0"/>
                <a:ea typeface="Calibri Light" pitchFamily="34" charset="-122"/>
                <a:cs typeface="Calibri Light" pitchFamily="34" charset="-120"/>
              </a:rPr>
              <a:t>3</a:t>
            </a:r>
            <a:endParaRPr lang="en-US" sz="1690" dirty="0"/>
          </a:p>
        </p:txBody>
      </p:sp>
      <p:sp>
        <p:nvSpPr>
          <p:cNvPr id="38" name="Text 36"/>
          <p:cNvSpPr/>
          <p:nvPr/>
        </p:nvSpPr>
        <p:spPr>
          <a:xfrm>
            <a:off x="6026051" y="1016496"/>
            <a:ext cx="543520" cy="597872"/>
          </a:xfrm>
          <a:prstGeom prst="ellipse">
            <a:avLst/>
          </a:prstGeom>
          <a:solidFill>
            <a:srgbClr val="1B5E72"/>
          </a:solidFill>
          <a:ln w="19050">
            <a:solidFill>
              <a:srgbClr val="FFFFFF">
                <a:alpha val="90000"/>
              </a:srgbClr>
            </a:solidFill>
          </a:ln>
          <a:effectLst>
            <a:outerShdw blurRad="114300" dist="29210" dir="5400000" algn="bl" rotWithShape="0">
              <a:srgbClr val="1B5E72">
                <a:alpha val="22000"/>
              </a:srgbClr>
            </a:outerShdw>
          </a:effectLst>
        </p:spPr>
        <p:txBody>
          <a:bodyPr wrap="none" lIns="0" tIns="0" rIns="0" bIns="0" rtlCol="0" anchor="ctr"/>
          <a:lstStyle/>
          <a:p>
            <a:pPr marL="0" indent="0" algn="ctr">
              <a:buNone/>
            </a:pPr>
            <a:r>
              <a:rPr lang="en-US" sz="1690" b="1" dirty="0">
                <a:solidFill>
                  <a:srgbClr val="FAB753"/>
                </a:solidFill>
                <a:latin typeface="Calibri Light" pitchFamily="34" charset="0"/>
                <a:ea typeface="Calibri Light" pitchFamily="34" charset="-122"/>
                <a:cs typeface="Calibri Light" pitchFamily="34" charset="-120"/>
              </a:rPr>
              <a:t>4</a:t>
            </a:r>
            <a:endParaRPr lang="en-US" sz="1690" dirty="0"/>
          </a:p>
        </p:txBody>
      </p:sp>
      <p:sp>
        <p:nvSpPr>
          <p:cNvPr id="39" name="Text 37"/>
          <p:cNvSpPr/>
          <p:nvPr/>
        </p:nvSpPr>
        <p:spPr>
          <a:xfrm>
            <a:off x="7752011" y="1016496"/>
            <a:ext cx="543520" cy="597872"/>
          </a:xfrm>
          <a:prstGeom prst="ellipse">
            <a:avLst/>
          </a:prstGeom>
          <a:solidFill>
            <a:srgbClr val="1B5E72"/>
          </a:solidFill>
          <a:ln w="19050">
            <a:solidFill>
              <a:srgbClr val="FFFFFF">
                <a:alpha val="90000"/>
              </a:srgbClr>
            </a:solidFill>
          </a:ln>
          <a:effectLst>
            <a:outerShdw blurRad="114300" dist="29210" dir="5400000" algn="bl" rotWithShape="0">
              <a:srgbClr val="1B5E72">
                <a:alpha val="22000"/>
              </a:srgbClr>
            </a:outerShdw>
          </a:effectLst>
        </p:spPr>
        <p:txBody>
          <a:bodyPr wrap="none" lIns="0" tIns="0" rIns="0" bIns="0" rtlCol="0" anchor="ctr"/>
          <a:lstStyle/>
          <a:p>
            <a:pPr marL="0" indent="0" algn="ctr">
              <a:buNone/>
            </a:pPr>
            <a:r>
              <a:rPr lang="en-US" sz="1690" b="1" dirty="0">
                <a:solidFill>
                  <a:srgbClr val="FAB753"/>
                </a:solidFill>
                <a:latin typeface="Calibri Light" pitchFamily="34" charset="0"/>
                <a:ea typeface="Calibri Light" pitchFamily="34" charset="-122"/>
                <a:cs typeface="Calibri Light" pitchFamily="34" charset="-120"/>
              </a:rPr>
              <a:t>5</a:t>
            </a:r>
            <a:endParaRPr lang="en-US" sz="16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001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457200" y="162223"/>
            <a:ext cx="8805672" cy="278904"/>
          </a:xfrm>
          <a:prstGeom prst="rect">
            <a:avLst/>
          </a:prstGeom>
          <a:noFill/>
          <a:ln/>
        </p:spPr>
        <p:txBody>
          <a:bodyPr wrap="none" lIns="0" tIns="0" rIns="0" bIns="0" rtlCol="0" anchor="t"/>
          <a:lstStyle/>
          <a:p>
            <a:pPr marL="0" indent="0" algn="l">
              <a:lnSpc>
                <a:spcPts val="2197"/>
              </a:lnSpc>
              <a:buNone/>
            </a:pPr>
            <a:r>
              <a:rPr lang="en-US" sz="1910" b="1" kern="0" spc="-20" dirty="0">
                <a:solidFill>
                  <a:srgbClr val="FFFFFF"/>
                </a:solidFill>
                <a:latin typeface="Calibri" pitchFamily="34" charset="0"/>
                <a:ea typeface="Calibri" pitchFamily="34" charset="-122"/>
                <a:cs typeface="Calibri" pitchFamily="34" charset="-120"/>
              </a:rPr>
              <a:t>The Benefits of Telehealth</a:t>
            </a:r>
            <a:endParaRPr lang="en-US" sz="1910" dirty="0"/>
          </a:p>
        </p:txBody>
      </p:sp>
      <p:sp>
        <p:nvSpPr>
          <p:cNvPr id="4" name="Text 2"/>
          <p:cNvSpPr/>
          <p:nvPr/>
        </p:nvSpPr>
        <p:spPr>
          <a:xfrm>
            <a:off x="457200" y="454968"/>
            <a:ext cx="9052560" cy="182761"/>
          </a:xfrm>
          <a:prstGeom prst="rect">
            <a:avLst/>
          </a:prstGeom>
          <a:noFill/>
          <a:ln/>
        </p:spPr>
        <p:txBody>
          <a:bodyPr wrap="none" lIns="0" tIns="0" rIns="0" bIns="0" rtlCol="0" anchor="t"/>
          <a:lstStyle/>
          <a:p>
            <a:pPr marL="0" indent="0" algn="l">
              <a:lnSpc>
                <a:spcPts val="1440"/>
              </a:lnSpc>
              <a:buNone/>
            </a:pPr>
            <a:r>
              <a:rPr lang="en-US" sz="960" kern="0" spc="10" dirty="0">
                <a:solidFill>
                  <a:srgbClr val="FAB753"/>
                </a:solidFill>
                <a:latin typeface="Calibri Light" pitchFamily="34" charset="0"/>
                <a:ea typeface="Calibri Light" pitchFamily="34" charset="-122"/>
                <a:cs typeface="Calibri Light" pitchFamily="34" charset="-120"/>
              </a:rPr>
              <a:t>What the research says — and what it means for your practice</a:t>
            </a:r>
            <a:endParaRPr lang="en-US" sz="960" dirty="0"/>
          </a:p>
        </p:txBody>
      </p:sp>
      <p:sp>
        <p:nvSpPr>
          <p:cNvPr id="5" name="Text 3"/>
          <p:cNvSpPr/>
          <p:nvPr/>
        </p:nvSpPr>
        <p:spPr>
          <a:xfrm>
            <a:off x="400050" y="1000720"/>
            <a:ext cx="2667000" cy="3423642"/>
          </a:xfrm>
          <a:prstGeom prst="roundRect">
            <a:avLst>
              <a:gd name="adj" fmla="val 3238"/>
            </a:avLst>
          </a:prstGeom>
          <a:solidFill>
            <a:srgbClr val="EAF4F4"/>
          </a:solidFill>
          <a:ln/>
        </p:spPr>
        <p:txBody>
          <a:bodyPr wrap="square" rtlCol="0" anchor="t"/>
          <a:lstStyle/>
          <a:p>
            <a:pPr marL="0" indent="0">
              <a:buNone/>
            </a:pPr>
            <a:endParaRPr lang="en-US" dirty="0"/>
          </a:p>
        </p:txBody>
      </p:sp>
      <p:sp>
        <p:nvSpPr>
          <p:cNvPr id="6" name="Text 4"/>
          <p:cNvSpPr/>
          <p:nvPr/>
        </p:nvSpPr>
        <p:spPr>
          <a:xfrm>
            <a:off x="400050" y="1000720"/>
            <a:ext cx="2667000" cy="28575"/>
          </a:xfrm>
          <a:custGeom>
            <a:avLst/>
            <a:gdLst/>
            <a:ahLst/>
            <a:cxnLst/>
            <a:rect l="l" t="t" r="r" b="b"/>
            <a:pathLst>
              <a:path w="26670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644819" y="28575"/>
                </a:lnTo>
                <a:lnTo>
                  <a:pt x="2641413" y="25003"/>
                </a:lnTo>
                <a:lnTo>
                  <a:pt x="2637581" y="21431"/>
                </a:lnTo>
                <a:lnTo>
                  <a:pt x="2633230" y="17859"/>
                </a:lnTo>
                <a:lnTo>
                  <a:pt x="2628217" y="14288"/>
                </a:lnTo>
                <a:lnTo>
                  <a:pt x="2622305" y="10716"/>
                </a:lnTo>
                <a:lnTo>
                  <a:pt x="2615032" y="7144"/>
                </a:lnTo>
                <a:lnTo>
                  <a:pt x="2605220" y="3572"/>
                </a:lnTo>
                <a:lnTo>
                  <a:pt x="2580640" y="0"/>
                </a:lnTo>
                <a:close/>
              </a:path>
            </a:pathLst>
          </a:custGeom>
          <a:solidFill>
            <a:srgbClr val="1B5E72"/>
          </a:solidFill>
          <a:ln/>
        </p:spPr>
        <p:txBody>
          <a:bodyPr wrap="none" rtlCol="0" anchor="t"/>
          <a:lstStyle/>
          <a:p>
            <a:pPr marL="0" indent="0">
              <a:buNone/>
            </a:pPr>
            <a:endParaRPr lang="en-US" dirty="0"/>
          </a:p>
        </p:txBody>
      </p:sp>
      <p:sp>
        <p:nvSpPr>
          <p:cNvPr id="7" name="Text 5"/>
          <p:cNvSpPr/>
          <p:nvPr/>
        </p:nvSpPr>
        <p:spPr>
          <a:xfrm>
            <a:off x="2852440" y="1157436"/>
            <a:ext cx="57150" cy="57150"/>
          </a:xfrm>
          <a:prstGeom prst="ellipse">
            <a:avLst/>
          </a:prstGeom>
          <a:solidFill>
            <a:srgbClr val="FAB753"/>
          </a:solidFill>
          <a:ln/>
        </p:spPr>
        <p:txBody>
          <a:bodyPr wrap="none" rtlCol="0" anchor="t"/>
          <a:lstStyle/>
          <a:p>
            <a:pPr marL="0" indent="0">
              <a:buNone/>
            </a:pPr>
            <a:endParaRPr lang="en-US" dirty="0"/>
          </a:p>
        </p:txBody>
      </p:sp>
      <p:sp>
        <p:nvSpPr>
          <p:cNvPr id="8" name="Text 6"/>
          <p:cNvSpPr/>
          <p:nvPr/>
        </p:nvSpPr>
        <p:spPr>
          <a:xfrm>
            <a:off x="600670" y="1243905"/>
            <a:ext cx="372070" cy="372070"/>
          </a:xfrm>
          <a:prstGeom prst="roundRect">
            <a:avLst>
              <a:gd name="adj" fmla="val 19115"/>
            </a:avLst>
          </a:prstGeom>
          <a:solidFill>
            <a:srgbClr val="1B5E72"/>
          </a:solidFill>
          <a:ln/>
        </p:spPr>
        <p:txBody>
          <a:bodyPr wrap="square" rtlCol="0" anchor="t"/>
          <a:lstStyle/>
          <a:p>
            <a:pPr marL="0" indent="0">
              <a:buNone/>
            </a:pPr>
            <a:endParaRPr lang="en-US"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7203" y="1360438"/>
            <a:ext cx="139005" cy="139005"/>
          </a:xfrm>
          <a:prstGeom prst="rect">
            <a:avLst/>
          </a:prstGeom>
        </p:spPr>
      </p:pic>
      <p:sp>
        <p:nvSpPr>
          <p:cNvPr id="10" name="Text 7"/>
          <p:cNvSpPr/>
          <p:nvPr/>
        </p:nvSpPr>
        <p:spPr>
          <a:xfrm>
            <a:off x="600670" y="1702296"/>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1" name="Text 8"/>
          <p:cNvSpPr/>
          <p:nvPr/>
        </p:nvSpPr>
        <p:spPr>
          <a:xfrm>
            <a:off x="600670" y="1810196"/>
            <a:ext cx="2492335" cy="162967"/>
          </a:xfrm>
          <a:prstGeom prst="rect">
            <a:avLst/>
          </a:prstGeom>
          <a:noFill/>
          <a:ln/>
        </p:spPr>
        <p:txBody>
          <a:bodyPr wrap="none" lIns="0" tIns="0" rIns="0" bIns="0" rtlCol="0" anchor="t"/>
          <a:lstStyle/>
          <a:p>
            <a:pPr marL="0" indent="0" algn="l">
              <a:lnSpc>
                <a:spcPts val="1284"/>
              </a:lnSpc>
              <a:buNone/>
            </a:pPr>
            <a:r>
              <a:rPr lang="en-US" sz="1070" b="1" dirty="0">
                <a:solidFill>
                  <a:srgbClr val="1B5E72"/>
                </a:solidFill>
                <a:latin typeface="Calibri" pitchFamily="34" charset="0"/>
                <a:ea typeface="Calibri" pitchFamily="34" charset="-122"/>
                <a:cs typeface="Calibri" pitchFamily="34" charset="-120"/>
              </a:rPr>
              <a:t>Proven Quality of Care</a:t>
            </a:r>
            <a:endParaRPr lang="en-US" sz="1070" dirty="0"/>
          </a:p>
        </p:txBody>
      </p:sp>
      <p:sp>
        <p:nvSpPr>
          <p:cNvPr id="12" name="Text 9"/>
          <p:cNvSpPr/>
          <p:nvPr/>
        </p:nvSpPr>
        <p:spPr>
          <a:xfrm>
            <a:off x="600670" y="2059484"/>
            <a:ext cx="2311075" cy="2288567"/>
          </a:xfrm>
          <a:prstGeom prst="rect">
            <a:avLst/>
          </a:prstGeom>
          <a:noFill/>
          <a:ln/>
        </p:spPr>
        <p:txBody>
          <a:bodyPr wrap="square" lIns="0" tIns="0" rIns="0" bIns="0" rtlCol="0" anchor="t"/>
          <a:lstStyle/>
          <a:p>
            <a:pPr marL="0" indent="0" algn="l">
              <a:lnSpc>
                <a:spcPts val="1349"/>
              </a:lnSpc>
              <a:buNone/>
            </a:pPr>
            <a:r>
              <a:rPr lang="en-US" sz="870" dirty="0">
                <a:solidFill>
                  <a:srgbClr val="3A3A3A"/>
                </a:solidFill>
                <a:latin typeface="Calibri" pitchFamily="34" charset="0"/>
                <a:ea typeface="Calibri" pitchFamily="34" charset="-122"/>
                <a:cs typeface="Calibri" pitchFamily="34" charset="-120"/>
              </a:rPr>
              <a:t>Countless studies over the last decade have consistently shown that telehealth provides quality of care on par with traditional in-person services. You are not compromising the work.</a:t>
            </a:r>
            <a:endParaRPr lang="en-US" sz="870" dirty="0"/>
          </a:p>
        </p:txBody>
      </p:sp>
      <p:sp>
        <p:nvSpPr>
          <p:cNvPr id="13" name="Text 10"/>
          <p:cNvSpPr/>
          <p:nvPr/>
        </p:nvSpPr>
        <p:spPr>
          <a:xfrm>
            <a:off x="3238500" y="1000720"/>
            <a:ext cx="2667000" cy="3423642"/>
          </a:xfrm>
          <a:prstGeom prst="roundRect">
            <a:avLst>
              <a:gd name="adj" fmla="val 3238"/>
            </a:avLst>
          </a:prstGeom>
          <a:solidFill>
            <a:srgbClr val="EAF4F4"/>
          </a:solidFill>
          <a:ln/>
        </p:spPr>
        <p:txBody>
          <a:bodyPr wrap="square" rtlCol="0" anchor="t"/>
          <a:lstStyle/>
          <a:p>
            <a:pPr marL="0" indent="0">
              <a:buNone/>
            </a:pPr>
            <a:endParaRPr lang="en-US" dirty="0"/>
          </a:p>
        </p:txBody>
      </p:sp>
      <p:sp>
        <p:nvSpPr>
          <p:cNvPr id="14" name="Text 11"/>
          <p:cNvSpPr/>
          <p:nvPr/>
        </p:nvSpPr>
        <p:spPr>
          <a:xfrm>
            <a:off x="3238500" y="1000720"/>
            <a:ext cx="2667000" cy="28575"/>
          </a:xfrm>
          <a:custGeom>
            <a:avLst/>
            <a:gdLst/>
            <a:ahLst/>
            <a:cxnLst/>
            <a:rect l="l" t="t" r="r" b="b"/>
            <a:pathLst>
              <a:path w="26670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644819" y="28575"/>
                </a:lnTo>
                <a:lnTo>
                  <a:pt x="2641413" y="25003"/>
                </a:lnTo>
                <a:lnTo>
                  <a:pt x="2637581" y="21431"/>
                </a:lnTo>
                <a:lnTo>
                  <a:pt x="2633230" y="17859"/>
                </a:lnTo>
                <a:lnTo>
                  <a:pt x="2628217" y="14288"/>
                </a:lnTo>
                <a:lnTo>
                  <a:pt x="2622305" y="10716"/>
                </a:lnTo>
                <a:lnTo>
                  <a:pt x="2615032" y="7144"/>
                </a:lnTo>
                <a:lnTo>
                  <a:pt x="2605220" y="3572"/>
                </a:lnTo>
                <a:lnTo>
                  <a:pt x="2580640" y="0"/>
                </a:lnTo>
                <a:close/>
              </a:path>
            </a:pathLst>
          </a:custGeom>
          <a:solidFill>
            <a:srgbClr val="1B5E72"/>
          </a:solidFill>
          <a:ln/>
        </p:spPr>
        <p:txBody>
          <a:bodyPr wrap="none" rtlCol="0" anchor="t"/>
          <a:lstStyle/>
          <a:p>
            <a:pPr marL="0" indent="0">
              <a:buNone/>
            </a:pPr>
            <a:endParaRPr lang="en-US" dirty="0"/>
          </a:p>
        </p:txBody>
      </p:sp>
      <p:sp>
        <p:nvSpPr>
          <p:cNvPr id="15" name="Text 12"/>
          <p:cNvSpPr/>
          <p:nvPr/>
        </p:nvSpPr>
        <p:spPr>
          <a:xfrm>
            <a:off x="5690890" y="1157436"/>
            <a:ext cx="57150" cy="57150"/>
          </a:xfrm>
          <a:prstGeom prst="ellipse">
            <a:avLst/>
          </a:prstGeom>
          <a:solidFill>
            <a:srgbClr val="FAB753"/>
          </a:solidFill>
          <a:ln/>
        </p:spPr>
        <p:txBody>
          <a:bodyPr wrap="none" rtlCol="0" anchor="t"/>
          <a:lstStyle/>
          <a:p>
            <a:pPr marL="0" indent="0">
              <a:buNone/>
            </a:pPr>
            <a:endParaRPr lang="en-US" dirty="0"/>
          </a:p>
        </p:txBody>
      </p:sp>
      <p:sp>
        <p:nvSpPr>
          <p:cNvPr id="16" name="Text 13"/>
          <p:cNvSpPr/>
          <p:nvPr/>
        </p:nvSpPr>
        <p:spPr>
          <a:xfrm>
            <a:off x="3439120" y="1243905"/>
            <a:ext cx="372070" cy="372070"/>
          </a:xfrm>
          <a:prstGeom prst="roundRect">
            <a:avLst>
              <a:gd name="adj" fmla="val 19115"/>
            </a:avLst>
          </a:prstGeom>
          <a:solidFill>
            <a:srgbClr val="1B5E72"/>
          </a:solidFill>
          <a:ln/>
        </p:spPr>
        <p:txBody>
          <a:bodyPr wrap="square" rtlCol="0" anchor="t"/>
          <a:lstStyle/>
          <a:p>
            <a:pPr marL="0" indent="0">
              <a:buNone/>
            </a:pPr>
            <a:endParaRPr lang="en-US"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55653" y="1360438"/>
            <a:ext cx="139005" cy="139005"/>
          </a:xfrm>
          <a:prstGeom prst="rect">
            <a:avLst/>
          </a:prstGeom>
        </p:spPr>
      </p:pic>
      <p:sp>
        <p:nvSpPr>
          <p:cNvPr id="18" name="Text 14"/>
          <p:cNvSpPr/>
          <p:nvPr/>
        </p:nvSpPr>
        <p:spPr>
          <a:xfrm>
            <a:off x="3439120" y="1702296"/>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9" name="Text 15"/>
          <p:cNvSpPr/>
          <p:nvPr/>
        </p:nvSpPr>
        <p:spPr>
          <a:xfrm>
            <a:off x="3439120" y="1810196"/>
            <a:ext cx="2492335" cy="162967"/>
          </a:xfrm>
          <a:prstGeom prst="rect">
            <a:avLst/>
          </a:prstGeom>
          <a:noFill/>
          <a:ln/>
        </p:spPr>
        <p:txBody>
          <a:bodyPr wrap="none" lIns="0" tIns="0" rIns="0" bIns="0" rtlCol="0" anchor="t"/>
          <a:lstStyle/>
          <a:p>
            <a:pPr marL="0" indent="0" algn="l">
              <a:lnSpc>
                <a:spcPts val="1284"/>
              </a:lnSpc>
              <a:buNone/>
            </a:pPr>
            <a:r>
              <a:rPr lang="en-US" sz="1070" b="1" dirty="0">
                <a:solidFill>
                  <a:srgbClr val="1B5E72"/>
                </a:solidFill>
                <a:latin typeface="Calibri" pitchFamily="34" charset="0"/>
                <a:ea typeface="Calibri" pitchFamily="34" charset="-122"/>
                <a:cs typeface="Calibri" pitchFamily="34" charset="-120"/>
              </a:rPr>
              <a:t>Flexible Scheduling</a:t>
            </a:r>
            <a:endParaRPr lang="en-US" sz="1070" dirty="0"/>
          </a:p>
        </p:txBody>
      </p:sp>
      <p:sp>
        <p:nvSpPr>
          <p:cNvPr id="20" name="Text 16"/>
          <p:cNvSpPr/>
          <p:nvPr/>
        </p:nvSpPr>
        <p:spPr>
          <a:xfrm>
            <a:off x="3439120" y="2059484"/>
            <a:ext cx="2311075" cy="2288567"/>
          </a:xfrm>
          <a:prstGeom prst="rect">
            <a:avLst/>
          </a:prstGeom>
          <a:noFill/>
          <a:ln/>
        </p:spPr>
        <p:txBody>
          <a:bodyPr wrap="square" lIns="0" tIns="0" rIns="0" bIns="0" rtlCol="0" anchor="t"/>
          <a:lstStyle/>
          <a:p>
            <a:pPr marL="0" indent="0" algn="l">
              <a:lnSpc>
                <a:spcPts val="1349"/>
              </a:lnSpc>
              <a:buNone/>
            </a:pPr>
            <a:r>
              <a:rPr lang="en-US" sz="870" dirty="0">
                <a:solidFill>
                  <a:srgbClr val="3A3A3A"/>
                </a:solidFill>
                <a:latin typeface="Calibri" pitchFamily="34" charset="0"/>
                <a:ea typeface="Calibri" pitchFamily="34" charset="-122"/>
                <a:cs typeface="Calibri" pitchFamily="34" charset="-120"/>
              </a:rPr>
              <a:t>Telehealth allows secure, real-time communication with clients at times that fit both your schedule and theirs. Fewer barriers to attendance means fewer missed sessions.</a:t>
            </a:r>
            <a:endParaRPr lang="en-US" sz="870" dirty="0"/>
          </a:p>
        </p:txBody>
      </p:sp>
      <p:sp>
        <p:nvSpPr>
          <p:cNvPr id="21" name="Text 17"/>
          <p:cNvSpPr/>
          <p:nvPr/>
        </p:nvSpPr>
        <p:spPr>
          <a:xfrm>
            <a:off x="6076950" y="1000720"/>
            <a:ext cx="2667000" cy="3423642"/>
          </a:xfrm>
          <a:prstGeom prst="roundRect">
            <a:avLst>
              <a:gd name="adj" fmla="val 3238"/>
            </a:avLst>
          </a:prstGeom>
          <a:solidFill>
            <a:srgbClr val="EAF4F4"/>
          </a:solidFill>
          <a:ln/>
        </p:spPr>
        <p:txBody>
          <a:bodyPr wrap="square" rtlCol="0" anchor="t"/>
          <a:lstStyle/>
          <a:p>
            <a:pPr marL="0" indent="0">
              <a:buNone/>
            </a:pPr>
            <a:endParaRPr lang="en-US" dirty="0"/>
          </a:p>
        </p:txBody>
      </p:sp>
      <p:sp>
        <p:nvSpPr>
          <p:cNvPr id="22" name="Text 18"/>
          <p:cNvSpPr/>
          <p:nvPr/>
        </p:nvSpPr>
        <p:spPr>
          <a:xfrm>
            <a:off x="6076950" y="1000720"/>
            <a:ext cx="2667000" cy="28575"/>
          </a:xfrm>
          <a:custGeom>
            <a:avLst/>
            <a:gdLst/>
            <a:ahLst/>
            <a:cxnLst/>
            <a:rect l="l" t="t" r="r" b="b"/>
            <a:pathLst>
              <a:path w="26670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644819" y="28575"/>
                </a:lnTo>
                <a:lnTo>
                  <a:pt x="2641413" y="25003"/>
                </a:lnTo>
                <a:lnTo>
                  <a:pt x="2637581" y="21431"/>
                </a:lnTo>
                <a:lnTo>
                  <a:pt x="2633230" y="17859"/>
                </a:lnTo>
                <a:lnTo>
                  <a:pt x="2628217" y="14288"/>
                </a:lnTo>
                <a:lnTo>
                  <a:pt x="2622305" y="10716"/>
                </a:lnTo>
                <a:lnTo>
                  <a:pt x="2615032" y="7144"/>
                </a:lnTo>
                <a:lnTo>
                  <a:pt x="2605220" y="3572"/>
                </a:lnTo>
                <a:lnTo>
                  <a:pt x="2580640" y="0"/>
                </a:lnTo>
                <a:close/>
              </a:path>
            </a:pathLst>
          </a:custGeom>
          <a:solidFill>
            <a:srgbClr val="1B5E72"/>
          </a:solidFill>
          <a:ln/>
        </p:spPr>
        <p:txBody>
          <a:bodyPr wrap="none" rtlCol="0" anchor="t"/>
          <a:lstStyle/>
          <a:p>
            <a:pPr marL="0" indent="0">
              <a:buNone/>
            </a:pPr>
            <a:endParaRPr lang="en-US" dirty="0"/>
          </a:p>
        </p:txBody>
      </p:sp>
      <p:sp>
        <p:nvSpPr>
          <p:cNvPr id="23" name="Text 19"/>
          <p:cNvSpPr/>
          <p:nvPr/>
        </p:nvSpPr>
        <p:spPr>
          <a:xfrm>
            <a:off x="8529340" y="1157436"/>
            <a:ext cx="57150" cy="57150"/>
          </a:xfrm>
          <a:prstGeom prst="ellipse">
            <a:avLst/>
          </a:prstGeom>
          <a:solidFill>
            <a:srgbClr val="FAB753"/>
          </a:solidFill>
          <a:ln/>
        </p:spPr>
        <p:txBody>
          <a:bodyPr wrap="none" rtlCol="0" anchor="t"/>
          <a:lstStyle/>
          <a:p>
            <a:pPr marL="0" indent="0">
              <a:buNone/>
            </a:pPr>
            <a:endParaRPr lang="en-US" dirty="0"/>
          </a:p>
        </p:txBody>
      </p:sp>
      <p:sp>
        <p:nvSpPr>
          <p:cNvPr id="24" name="Text 20"/>
          <p:cNvSpPr/>
          <p:nvPr/>
        </p:nvSpPr>
        <p:spPr>
          <a:xfrm>
            <a:off x="6277570" y="1243905"/>
            <a:ext cx="372070" cy="372070"/>
          </a:xfrm>
          <a:prstGeom prst="roundRect">
            <a:avLst>
              <a:gd name="adj" fmla="val 19115"/>
            </a:avLst>
          </a:prstGeom>
          <a:solidFill>
            <a:srgbClr val="1B5E72"/>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94103" y="1360438"/>
            <a:ext cx="139005" cy="139005"/>
          </a:xfrm>
          <a:prstGeom prst="rect">
            <a:avLst/>
          </a:prstGeom>
        </p:spPr>
      </p:pic>
      <p:sp>
        <p:nvSpPr>
          <p:cNvPr id="26" name="Text 21"/>
          <p:cNvSpPr/>
          <p:nvPr/>
        </p:nvSpPr>
        <p:spPr>
          <a:xfrm>
            <a:off x="6277570" y="1702296"/>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27" name="Text 22"/>
          <p:cNvSpPr/>
          <p:nvPr/>
        </p:nvSpPr>
        <p:spPr>
          <a:xfrm>
            <a:off x="6277570" y="1810196"/>
            <a:ext cx="2492335" cy="162967"/>
          </a:xfrm>
          <a:prstGeom prst="rect">
            <a:avLst/>
          </a:prstGeom>
          <a:noFill/>
          <a:ln/>
        </p:spPr>
        <p:txBody>
          <a:bodyPr wrap="none" lIns="0" tIns="0" rIns="0" bIns="0" rtlCol="0" anchor="t"/>
          <a:lstStyle/>
          <a:p>
            <a:pPr marL="0" indent="0" algn="l">
              <a:lnSpc>
                <a:spcPts val="1284"/>
              </a:lnSpc>
              <a:buNone/>
            </a:pPr>
            <a:r>
              <a:rPr lang="en-US" sz="1070" b="1" dirty="0">
                <a:solidFill>
                  <a:srgbClr val="1B5E72"/>
                </a:solidFill>
                <a:latin typeface="Calibri" pitchFamily="34" charset="0"/>
                <a:ea typeface="Calibri" pitchFamily="34" charset="-122"/>
                <a:cs typeface="Calibri" pitchFamily="34" charset="-120"/>
              </a:rPr>
              <a:t>Expanded Access</a:t>
            </a:r>
            <a:endParaRPr lang="en-US" sz="1070" dirty="0"/>
          </a:p>
        </p:txBody>
      </p:sp>
      <p:sp>
        <p:nvSpPr>
          <p:cNvPr id="28" name="Text 23"/>
          <p:cNvSpPr/>
          <p:nvPr/>
        </p:nvSpPr>
        <p:spPr>
          <a:xfrm>
            <a:off x="6277570" y="2059484"/>
            <a:ext cx="2311075" cy="2288567"/>
          </a:xfrm>
          <a:prstGeom prst="rect">
            <a:avLst/>
          </a:prstGeom>
          <a:noFill/>
          <a:ln/>
        </p:spPr>
        <p:txBody>
          <a:bodyPr wrap="square" lIns="0" tIns="0" rIns="0" bIns="0" rtlCol="0" anchor="t"/>
          <a:lstStyle/>
          <a:p>
            <a:pPr marL="0" indent="0" algn="l">
              <a:lnSpc>
                <a:spcPts val="1349"/>
              </a:lnSpc>
              <a:buNone/>
            </a:pPr>
            <a:r>
              <a:rPr lang="en-US" sz="870" dirty="0">
                <a:solidFill>
                  <a:srgbClr val="3A3A3A"/>
                </a:solidFill>
                <a:latin typeface="Calibri" pitchFamily="34" charset="0"/>
                <a:ea typeface="Calibri" pitchFamily="34" charset="-122"/>
                <a:cs typeface="Calibri" pitchFamily="34" charset="-120"/>
              </a:rPr>
              <a:t>You can provide services from your office, a client's home, or any secure location. Telehealth removes the constraint of physical location and opens care to clients who could not otherwise access it.</a:t>
            </a:r>
            <a:endParaRPr lang="en-US" sz="870" dirty="0"/>
          </a:p>
        </p:txBody>
      </p:sp>
      <p:sp>
        <p:nvSpPr>
          <p:cNvPr id="29" name="Text 24"/>
          <p:cNvSpPr/>
          <p:nvPr/>
        </p:nvSpPr>
        <p:spPr>
          <a:xfrm>
            <a:off x="400050" y="4581823"/>
            <a:ext cx="8343900" cy="418207"/>
          </a:xfrm>
          <a:prstGeom prst="roundRect">
            <a:avLst>
              <a:gd name="adj" fmla="val 17006"/>
            </a:avLst>
          </a:prstGeom>
          <a:solidFill>
            <a:srgbClr val="EAF4F4"/>
          </a:solidFill>
          <a:ln/>
        </p:spPr>
        <p:txBody>
          <a:bodyPr wrap="square" rtlCol="0" anchor="t"/>
          <a:lstStyle/>
          <a:p>
            <a:pPr marL="0" indent="0">
              <a:buNone/>
            </a:pPr>
            <a:endParaRPr lang="en-US" dirty="0"/>
          </a:p>
        </p:txBody>
      </p:sp>
      <p:sp>
        <p:nvSpPr>
          <p:cNvPr id="30" name="Text 25"/>
          <p:cNvSpPr/>
          <p:nvPr/>
        </p:nvSpPr>
        <p:spPr>
          <a:xfrm>
            <a:off x="400050" y="4581823"/>
            <a:ext cx="38100" cy="418207"/>
          </a:xfrm>
          <a:custGeom>
            <a:avLst/>
            <a:gdLst/>
            <a:ahLst/>
            <a:cxnLst/>
            <a:rect l="l" t="t" r="r" b="b"/>
            <a:pathLst>
              <a:path w="38100" h="418207">
                <a:moveTo>
                  <a:pt x="0" y="71120"/>
                </a:moveTo>
                <a:lnTo>
                  <a:pt x="4763" y="45532"/>
                </a:lnTo>
                <a:lnTo>
                  <a:pt x="9525" y="35566"/>
                </a:lnTo>
                <a:lnTo>
                  <a:pt x="14288" y="28363"/>
                </a:lnTo>
                <a:lnTo>
                  <a:pt x="19050" y="22677"/>
                </a:lnTo>
                <a:lnTo>
                  <a:pt x="23813" y="18016"/>
                </a:lnTo>
                <a:lnTo>
                  <a:pt x="28575" y="14129"/>
                </a:lnTo>
                <a:lnTo>
                  <a:pt x="33338" y="10866"/>
                </a:lnTo>
                <a:lnTo>
                  <a:pt x="38100" y="8130"/>
                </a:lnTo>
                <a:lnTo>
                  <a:pt x="38100" y="410077"/>
                </a:lnTo>
                <a:lnTo>
                  <a:pt x="33338" y="407341"/>
                </a:lnTo>
                <a:lnTo>
                  <a:pt x="28575" y="404078"/>
                </a:lnTo>
                <a:lnTo>
                  <a:pt x="23813" y="400191"/>
                </a:lnTo>
                <a:lnTo>
                  <a:pt x="19050" y="395530"/>
                </a:lnTo>
                <a:lnTo>
                  <a:pt x="14288" y="389844"/>
                </a:lnTo>
                <a:lnTo>
                  <a:pt x="9525" y="382641"/>
                </a:lnTo>
                <a:lnTo>
                  <a:pt x="4763" y="372675"/>
                </a:lnTo>
                <a:lnTo>
                  <a:pt x="0" y="347087"/>
                </a:lnTo>
                <a:close/>
              </a:path>
            </a:pathLst>
          </a:custGeom>
          <a:solidFill>
            <a:srgbClr val="55A49C"/>
          </a:solidFill>
          <a:ln/>
        </p:spPr>
        <p:txBody>
          <a:bodyPr wrap="square" rtlCol="0" anchor="t"/>
          <a:lstStyle/>
          <a:p>
            <a:pPr marL="0" indent="0">
              <a:buNone/>
            </a:pPr>
            <a:endParaRPr lang="en-US"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8770" y="4715619"/>
            <a:ext cx="150465" cy="150465"/>
          </a:xfrm>
          <a:prstGeom prst="rect">
            <a:avLst/>
          </a:prstGeom>
        </p:spPr>
      </p:pic>
      <p:sp>
        <p:nvSpPr>
          <p:cNvPr id="32" name="Text 26"/>
          <p:cNvSpPr/>
          <p:nvPr/>
        </p:nvSpPr>
        <p:spPr>
          <a:xfrm>
            <a:off x="917377" y="4705648"/>
            <a:ext cx="6873240" cy="170557"/>
          </a:xfrm>
          <a:prstGeom prst="rect">
            <a:avLst/>
          </a:prstGeom>
          <a:noFill/>
          <a:ln/>
        </p:spPr>
        <p:txBody>
          <a:bodyPr wrap="none" lIns="0" tIns="0" rIns="0" bIns="0" rtlCol="0" anchor="ctr"/>
          <a:lstStyle/>
          <a:p>
            <a:pPr marL="0" indent="0" algn="l">
              <a:lnSpc>
                <a:spcPts val="1344"/>
              </a:lnSpc>
              <a:buNone/>
            </a:pPr>
            <a:r>
              <a:rPr lang="en-US" sz="960" dirty="0">
                <a:solidFill>
                  <a:srgbClr val="2C2C2C"/>
                </a:solidFill>
                <a:latin typeface="Calibri" pitchFamily="34" charset="0"/>
                <a:ea typeface="Calibri" pitchFamily="34" charset="-122"/>
                <a:cs typeface="Calibri" pitchFamily="34" charset="-120"/>
              </a:rPr>
              <a:t>Telehealth does not replace in-person care — it </a:t>
            </a:r>
            <a:r>
              <a:rPr lang="en-US" sz="960" b="1" dirty="0">
                <a:solidFill>
                  <a:srgbClr val="1B5E72"/>
                </a:solidFill>
                <a:latin typeface="Calibri" pitchFamily="34" charset="0"/>
                <a:ea typeface="Calibri" pitchFamily="34" charset="-122"/>
                <a:cs typeface="Calibri" pitchFamily="34" charset="-120"/>
              </a:rPr>
              <a:t>extends</a:t>
            </a:r>
            <a:r>
              <a:rPr lang="en-US" sz="960" dirty="0">
                <a:solidFill>
                  <a:srgbClr val="2C2C2C"/>
                </a:solidFill>
                <a:latin typeface="Calibri" pitchFamily="34" charset="0"/>
                <a:ea typeface="Calibri" pitchFamily="34" charset="-122"/>
                <a:cs typeface="Calibri" pitchFamily="34" charset="-120"/>
              </a:rPr>
              <a:t> it. </a:t>
            </a:r>
            <a:r>
              <a:rPr lang="en-US" sz="960" b="1" dirty="0">
                <a:solidFill>
                  <a:srgbClr val="55A49C"/>
                </a:solidFill>
                <a:latin typeface="Calibri" pitchFamily="34" charset="0"/>
                <a:ea typeface="Calibri" pitchFamily="34" charset="-122"/>
                <a:cs typeface="Calibri" pitchFamily="34" charset="-120"/>
              </a:rPr>
              <a:t>More access.</a:t>
            </a:r>
            <a:r>
              <a:rPr lang="en-US" sz="960" dirty="0">
                <a:solidFill>
                  <a:srgbClr val="2C2C2C"/>
                </a:solidFill>
                <a:latin typeface="Calibri" pitchFamily="34" charset="0"/>
                <a:ea typeface="Calibri" pitchFamily="34" charset="-122"/>
                <a:cs typeface="Calibri" pitchFamily="34" charset="-120"/>
              </a:rPr>
              <a:t> </a:t>
            </a:r>
            <a:r>
              <a:rPr lang="en-US" sz="960" b="1" dirty="0">
                <a:solidFill>
                  <a:srgbClr val="55A49C"/>
                </a:solidFill>
                <a:latin typeface="Calibri" pitchFamily="34" charset="0"/>
                <a:ea typeface="Calibri" pitchFamily="34" charset="-122"/>
                <a:cs typeface="Calibri" pitchFamily="34" charset="-120"/>
              </a:rPr>
              <a:t>More consistency.</a:t>
            </a:r>
            <a:r>
              <a:rPr lang="en-US" sz="960" dirty="0">
                <a:solidFill>
                  <a:srgbClr val="2C2C2C"/>
                </a:solidFill>
                <a:latin typeface="Calibri" pitchFamily="34" charset="0"/>
                <a:ea typeface="Calibri" pitchFamily="34" charset="-122"/>
                <a:cs typeface="Calibri" pitchFamily="34" charset="-120"/>
              </a:rPr>
              <a:t> </a:t>
            </a:r>
            <a:r>
              <a:rPr lang="en-US" sz="960" b="1" dirty="0">
                <a:solidFill>
                  <a:srgbClr val="55A49C"/>
                </a:solidFill>
                <a:latin typeface="Calibri" pitchFamily="34" charset="0"/>
                <a:ea typeface="Calibri" pitchFamily="34" charset="-122"/>
                <a:cs typeface="Calibri" pitchFamily="34" charset="-120"/>
              </a:rPr>
              <a:t>More impact.</a:t>
            </a:r>
            <a:endParaRPr lang="en-US" sz="960" dirty="0"/>
          </a:p>
        </p:txBody>
      </p:sp>
      <p:sp>
        <p:nvSpPr>
          <p:cNvPr id="33" name="Text 27"/>
          <p:cNvSpPr/>
          <p:nvPr/>
        </p:nvSpPr>
        <p:spPr>
          <a:xfrm>
            <a:off x="2495550" y="3852867"/>
            <a:ext cx="571500" cy="571500"/>
          </a:xfrm>
          <a:prstGeom prst="ellipse">
            <a:avLst/>
          </a:prstGeom>
          <a:solidFill>
            <a:srgbClr val="1B5E72">
              <a:alpha val="5000"/>
            </a:srgbClr>
          </a:solidFill>
          <a:ln/>
        </p:spPr>
        <p:txBody>
          <a:bodyPr wrap="square" rtlCol="0" anchor="t"/>
          <a:lstStyle/>
          <a:p>
            <a:pPr marL="0" indent="0">
              <a:buNone/>
            </a:pPr>
            <a:endParaRPr lang="en-US" dirty="0"/>
          </a:p>
        </p:txBody>
      </p:sp>
      <p:sp>
        <p:nvSpPr>
          <p:cNvPr id="34" name="Text 28"/>
          <p:cNvSpPr/>
          <p:nvPr/>
        </p:nvSpPr>
        <p:spPr>
          <a:xfrm>
            <a:off x="5334000" y="3852867"/>
            <a:ext cx="571500" cy="571500"/>
          </a:xfrm>
          <a:prstGeom prst="ellipse">
            <a:avLst/>
          </a:prstGeom>
          <a:solidFill>
            <a:srgbClr val="1B5E72">
              <a:alpha val="5000"/>
            </a:srgbClr>
          </a:solidFill>
          <a:ln/>
        </p:spPr>
        <p:txBody>
          <a:bodyPr wrap="square" rtlCol="0" anchor="t"/>
          <a:lstStyle/>
          <a:p>
            <a:pPr marL="0" indent="0">
              <a:buNone/>
            </a:pPr>
            <a:endParaRPr lang="en-US" dirty="0"/>
          </a:p>
        </p:txBody>
      </p:sp>
      <p:sp>
        <p:nvSpPr>
          <p:cNvPr id="35" name="Text 29"/>
          <p:cNvSpPr/>
          <p:nvPr/>
        </p:nvSpPr>
        <p:spPr>
          <a:xfrm>
            <a:off x="8172450" y="3852867"/>
            <a:ext cx="571500" cy="571500"/>
          </a:xfrm>
          <a:prstGeom prst="ellipse">
            <a:avLst/>
          </a:prstGeom>
          <a:solidFill>
            <a:srgbClr val="1B5E72">
              <a:alpha val="5000"/>
            </a:srgbClr>
          </a:solidFill>
          <a:ln/>
        </p:spPr>
        <p:txBody>
          <a:bodyPr wrap="square" rtlCol="0" anchor="t"/>
          <a:lstStyle/>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571750" cy="5143500"/>
          </a:xfrm>
          <a:prstGeom prst="rect">
            <a:avLst/>
          </a:prstGeom>
          <a:solidFill>
            <a:srgbClr val="1B5E72"/>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alphaModFix amt="10000"/>
            <a:extLst>
              <a:ext uri="{96DAC541-7B7A-43D3-8B79-37D633B846F1}">
                <asvg:svgBlip xmlns:asvg="http://schemas.microsoft.com/office/drawing/2016/SVG/main" r:embed="rId3"/>
              </a:ext>
            </a:extLst>
          </a:blip>
          <a:stretch>
            <a:fillRect/>
          </a:stretch>
        </p:blipFill>
        <p:spPr>
          <a:xfrm>
            <a:off x="314920" y="3749427"/>
            <a:ext cx="964853" cy="964853"/>
          </a:xfrm>
          <a:prstGeom prst="rect">
            <a:avLst/>
          </a:prstGeom>
        </p:spPr>
      </p:pic>
      <p:sp>
        <p:nvSpPr>
          <p:cNvPr id="4" name="Text 1"/>
          <p:cNvSpPr/>
          <p:nvPr/>
        </p:nvSpPr>
        <p:spPr>
          <a:xfrm>
            <a:off x="314920" y="372070"/>
            <a:ext cx="1174968" cy="195411"/>
          </a:xfrm>
          <a:prstGeom prst="roundRect">
            <a:avLst>
              <a:gd name="adj" fmla="val 14948"/>
            </a:avLst>
          </a:prstGeom>
          <a:solidFill>
            <a:srgbClr val="FAB753">
              <a:alpha val="18000"/>
            </a:srgbClr>
          </a:solidFill>
          <a:ln w="9525">
            <a:solidFill>
              <a:srgbClr val="FAB753"/>
            </a:solidFill>
          </a:ln>
        </p:spPr>
        <p:txBody>
          <a:bodyPr wrap="none" lIns="86360" tIns="29210" rIns="86360" bIns="29210" rtlCol="0" anchor="ctr"/>
          <a:lstStyle/>
          <a:p>
            <a:pPr marL="0" indent="0" algn="l">
              <a:buNone/>
            </a:pPr>
            <a:r>
              <a:rPr lang="en-US" sz="620" b="1" kern="0" spc="80" dirty="0">
                <a:solidFill>
                  <a:srgbClr val="FAB753"/>
                </a:solidFill>
                <a:latin typeface="Calibri" pitchFamily="34" charset="0"/>
                <a:ea typeface="Calibri" pitchFamily="34" charset="-122"/>
                <a:cs typeface="Calibri" pitchFamily="34" charset="-120"/>
              </a:rPr>
              <a:t>POLICY REFERENCE</a:t>
            </a:r>
            <a:endParaRPr lang="en-US" sz="620" dirty="0"/>
          </a:p>
        </p:txBody>
      </p:sp>
      <p:sp>
        <p:nvSpPr>
          <p:cNvPr id="5" name="Text 2"/>
          <p:cNvSpPr/>
          <p:nvPr/>
        </p:nvSpPr>
        <p:spPr>
          <a:xfrm>
            <a:off x="314920" y="768102"/>
            <a:ext cx="2010501" cy="627578"/>
          </a:xfrm>
          <a:prstGeom prst="rect">
            <a:avLst/>
          </a:prstGeom>
          <a:noFill/>
          <a:ln/>
        </p:spPr>
        <p:txBody>
          <a:bodyPr wrap="square" lIns="0" tIns="0" rIns="0" bIns="0" rtlCol="0" anchor="ctr"/>
          <a:lstStyle/>
          <a:p>
            <a:pPr marL="0" indent="0" algn="l">
              <a:lnSpc>
                <a:spcPts val="2354"/>
              </a:lnSpc>
              <a:buNone/>
            </a:pPr>
            <a:r>
              <a:rPr lang="en-US" sz="2140" b="1" dirty="0">
                <a:solidFill>
                  <a:srgbClr val="FFFFFF"/>
                </a:solidFill>
                <a:latin typeface="Calibri Light" pitchFamily="34" charset="0"/>
                <a:ea typeface="Calibri Light" pitchFamily="34" charset="-122"/>
                <a:cs typeface="Calibri Light" pitchFamily="34" charset="-120"/>
              </a:rPr>
              <a:t>Centerstone</a:t>
            </a:r>
            <a:br/>
            <a:r>
              <a:rPr lang="en-US" sz="2140" b="1" dirty="0">
                <a:solidFill>
                  <a:srgbClr val="FFFFFF"/>
                </a:solidFill>
                <a:latin typeface="Calibri Light" pitchFamily="34" charset="0"/>
                <a:ea typeface="Calibri Light" pitchFamily="34" charset="-122"/>
                <a:cs typeface="Calibri Light" pitchFamily="34" charset="-120"/>
              </a:rPr>
              <a:t>Policy</a:t>
            </a:r>
            <a:endParaRPr lang="en-US" sz="2140" dirty="0"/>
          </a:p>
        </p:txBody>
      </p:sp>
      <p:sp>
        <p:nvSpPr>
          <p:cNvPr id="6" name="Text 3"/>
          <p:cNvSpPr/>
          <p:nvPr/>
        </p:nvSpPr>
        <p:spPr>
          <a:xfrm>
            <a:off x="314920" y="1480096"/>
            <a:ext cx="2168188" cy="156270"/>
          </a:xfrm>
          <a:prstGeom prst="rect">
            <a:avLst/>
          </a:prstGeom>
          <a:noFill/>
          <a:ln/>
        </p:spPr>
        <p:txBody>
          <a:bodyPr wrap="none" lIns="0" tIns="0" rIns="0" bIns="0" rtlCol="0" anchor="t"/>
          <a:lstStyle/>
          <a:p>
            <a:pPr marL="0" indent="0" algn="l">
              <a:lnSpc>
                <a:spcPts val="1230"/>
              </a:lnSpc>
              <a:buNone/>
            </a:pPr>
            <a:r>
              <a:rPr lang="en-US" sz="820" b="1" kern="0" spc="20" dirty="0">
                <a:solidFill>
                  <a:srgbClr val="FAB753"/>
                </a:solidFill>
                <a:latin typeface="Calibri" pitchFamily="34" charset="0"/>
                <a:ea typeface="Calibri" pitchFamily="34" charset="-122"/>
                <a:cs typeface="Calibri" pitchFamily="34" charset="-120"/>
              </a:rPr>
              <a:t>Telehealth Services — 04.017.AM</a:t>
            </a:r>
            <a:endParaRPr lang="en-US" sz="820" dirty="0"/>
          </a:p>
        </p:txBody>
      </p:sp>
      <p:sp>
        <p:nvSpPr>
          <p:cNvPr id="7" name="Text 4"/>
          <p:cNvSpPr/>
          <p:nvPr/>
        </p:nvSpPr>
        <p:spPr>
          <a:xfrm>
            <a:off x="314920" y="1779836"/>
            <a:ext cx="285750" cy="21580"/>
          </a:xfrm>
          <a:prstGeom prst="roundRect">
            <a:avLst>
              <a:gd name="adj" fmla="val 64736"/>
            </a:avLst>
          </a:prstGeom>
          <a:solidFill>
            <a:srgbClr val="FAB753">
              <a:alpha val="50000"/>
            </a:srgbClr>
          </a:solidFill>
          <a:ln/>
        </p:spPr>
        <p:txBody>
          <a:bodyPr wrap="none" rtlCol="0" anchor="t"/>
          <a:lstStyle/>
          <a:p>
            <a:pPr marL="0" indent="0">
              <a:buNone/>
            </a:pPr>
            <a:endParaRPr lang="en-US" dirty="0"/>
          </a:p>
        </p:txBody>
      </p:sp>
      <p:sp>
        <p:nvSpPr>
          <p:cNvPr id="8" name="Text 5"/>
          <p:cNvSpPr/>
          <p:nvPr/>
        </p:nvSpPr>
        <p:spPr>
          <a:xfrm>
            <a:off x="314920" y="1972866"/>
            <a:ext cx="2010501" cy="486623"/>
          </a:xfrm>
          <a:prstGeom prst="rect">
            <a:avLst/>
          </a:prstGeom>
          <a:noFill/>
          <a:ln/>
        </p:spPr>
        <p:txBody>
          <a:bodyPr wrap="square" lIns="0" tIns="0" rIns="0" bIns="0" rtlCol="0" anchor="t"/>
          <a:lstStyle/>
          <a:p>
            <a:pPr marL="0" indent="0" algn="l">
              <a:lnSpc>
                <a:spcPts val="1216"/>
              </a:lnSpc>
              <a:buNone/>
            </a:pPr>
            <a:r>
              <a:rPr lang="en-US" sz="760" i="1" dirty="0">
                <a:solidFill>
                  <a:srgbClr val="FFFFFF">
                    <a:alpha val="78000"/>
                  </a:srgbClr>
                </a:solidFill>
                <a:latin typeface="Calibri" pitchFamily="34" charset="0"/>
                <a:ea typeface="Calibri" pitchFamily="34" charset="-122"/>
                <a:cs typeface="Calibri" pitchFamily="34" charset="-120"/>
              </a:rPr>
              <a:t>Ethical and legal guidelines for telehealth are reviewed at hire and annually thereafter via Relias training.</a:t>
            </a:r>
            <a:endParaRPr lang="en-US" sz="760" dirty="0"/>
          </a:p>
        </p:txBody>
      </p:sp>
      <p:sp>
        <p:nvSpPr>
          <p:cNvPr id="9" name="Text 6"/>
          <p:cNvSpPr/>
          <p:nvPr/>
        </p:nvSpPr>
        <p:spPr>
          <a:xfrm>
            <a:off x="2571750" y="0"/>
            <a:ext cx="6572250" cy="5143500"/>
          </a:xfrm>
          <a:prstGeom prst="rect">
            <a:avLst/>
          </a:prstGeom>
          <a:solidFill>
            <a:srgbClr val="FFFFFF"/>
          </a:solidFill>
          <a:ln/>
        </p:spPr>
        <p:txBody>
          <a:bodyPr wrap="square" rtlCol="0" anchor="t"/>
          <a:lstStyle/>
          <a:p>
            <a:pPr marL="0" indent="0">
              <a:buNone/>
            </a:pPr>
            <a:endParaRPr lang="en-US" dirty="0"/>
          </a:p>
        </p:txBody>
      </p:sp>
      <p:sp>
        <p:nvSpPr>
          <p:cNvPr id="10" name="Text 7"/>
          <p:cNvSpPr/>
          <p:nvPr/>
        </p:nvSpPr>
        <p:spPr>
          <a:xfrm>
            <a:off x="2943820" y="314920"/>
            <a:ext cx="6236077" cy="300930"/>
          </a:xfrm>
          <a:prstGeom prst="rect">
            <a:avLst/>
          </a:prstGeom>
          <a:noFill/>
          <a:ln/>
        </p:spPr>
        <p:txBody>
          <a:bodyPr wrap="none" lIns="0" tIns="0" rIns="0" bIns="0" rtlCol="0" anchor="t"/>
          <a:lstStyle/>
          <a:p>
            <a:pPr marL="0" indent="0" algn="l">
              <a:lnSpc>
                <a:spcPts val="2370"/>
              </a:lnSpc>
              <a:buNone/>
            </a:pPr>
            <a:r>
              <a:rPr lang="en-US" sz="1580" b="1" kern="0" spc="-20" dirty="0">
                <a:solidFill>
                  <a:srgbClr val="1B5E72"/>
                </a:solidFill>
                <a:latin typeface="Calibri Light" pitchFamily="34" charset="0"/>
                <a:ea typeface="Calibri Light" pitchFamily="34" charset="-122"/>
                <a:cs typeface="Calibri Light" pitchFamily="34" charset="-120"/>
              </a:rPr>
              <a:t>Key Policy Standards</a:t>
            </a:r>
            <a:endParaRPr lang="en-US" sz="1580" dirty="0"/>
          </a:p>
        </p:txBody>
      </p:sp>
      <p:sp>
        <p:nvSpPr>
          <p:cNvPr id="11" name="Text 8"/>
          <p:cNvSpPr/>
          <p:nvPr/>
        </p:nvSpPr>
        <p:spPr>
          <a:xfrm>
            <a:off x="2943820" y="659011"/>
            <a:ext cx="40005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2" name="Text 9"/>
          <p:cNvSpPr/>
          <p:nvPr/>
        </p:nvSpPr>
        <p:spPr>
          <a:xfrm>
            <a:off x="2943820" y="888802"/>
            <a:ext cx="271760" cy="271760"/>
          </a:xfrm>
          <a:prstGeom prst="ellipse">
            <a:avLst/>
          </a:prstGeom>
          <a:solidFill>
            <a:srgbClr val="EAF4F4"/>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3332" y="958313"/>
            <a:ext cx="132588" cy="132588"/>
          </a:xfrm>
          <a:prstGeom prst="rect">
            <a:avLst/>
          </a:prstGeom>
        </p:spPr>
      </p:pic>
      <p:sp>
        <p:nvSpPr>
          <p:cNvPr id="14" name="Text 10"/>
          <p:cNvSpPr/>
          <p:nvPr/>
        </p:nvSpPr>
        <p:spPr>
          <a:xfrm>
            <a:off x="3329880" y="881211"/>
            <a:ext cx="5986254"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Who telehealth serves</a:t>
            </a:r>
            <a:endParaRPr lang="en-US" sz="870" dirty="0"/>
          </a:p>
        </p:txBody>
      </p:sp>
      <p:sp>
        <p:nvSpPr>
          <p:cNvPr id="15" name="Text 11"/>
          <p:cNvSpPr/>
          <p:nvPr/>
        </p:nvSpPr>
        <p:spPr>
          <a:xfrm>
            <a:off x="3329880" y="1038523"/>
            <a:ext cx="5986254" cy="150465"/>
          </a:xfrm>
          <a:prstGeom prst="rect">
            <a:avLst/>
          </a:prstGeom>
          <a:noFill/>
          <a:ln/>
        </p:spPr>
        <p:txBody>
          <a:bodyPr wrap="none" lIns="0" tIns="0" rIns="0" bIns="0" rtlCol="0" anchor="t"/>
          <a:lstStyle/>
          <a:p>
            <a:pPr marL="0" indent="0" algn="l">
              <a:lnSpc>
                <a:spcPts val="1185"/>
              </a:lnSpc>
              <a:buNone/>
            </a:pPr>
            <a:r>
              <a:rPr lang="en-US" sz="790" dirty="0">
                <a:solidFill>
                  <a:srgbClr val="444444"/>
                </a:solidFill>
                <a:latin typeface="Calibri" pitchFamily="34" charset="0"/>
                <a:ea typeface="Calibri" pitchFamily="34" charset="-122"/>
                <a:cs typeface="Calibri" pitchFamily="34" charset="-120"/>
              </a:rPr>
              <a:t>Outpatient clients who are unable to be seen in person, or who request telehealth and are deemed clinically appropriate.</a:t>
            </a:r>
            <a:endParaRPr lang="en-US" sz="790" dirty="0"/>
          </a:p>
        </p:txBody>
      </p:sp>
      <p:sp>
        <p:nvSpPr>
          <p:cNvPr id="16" name="Text 12"/>
          <p:cNvSpPr/>
          <p:nvPr/>
        </p:nvSpPr>
        <p:spPr>
          <a:xfrm>
            <a:off x="2943820" y="1332458"/>
            <a:ext cx="5828109" cy="7590"/>
          </a:xfrm>
          <a:prstGeom prst="rect">
            <a:avLst/>
          </a:prstGeom>
          <a:solidFill>
            <a:srgbClr val="E8F0F0"/>
          </a:solidFill>
          <a:ln/>
        </p:spPr>
        <p:txBody>
          <a:bodyPr wrap="none" rtlCol="0" anchor="t"/>
          <a:lstStyle/>
          <a:p>
            <a:pPr marL="0" indent="0">
              <a:buNone/>
            </a:pPr>
            <a:endParaRPr lang="en-US" dirty="0"/>
          </a:p>
        </p:txBody>
      </p:sp>
      <p:sp>
        <p:nvSpPr>
          <p:cNvPr id="17" name="Text 13"/>
          <p:cNvSpPr/>
          <p:nvPr/>
        </p:nvSpPr>
        <p:spPr>
          <a:xfrm>
            <a:off x="2943820" y="1491109"/>
            <a:ext cx="271760" cy="271760"/>
          </a:xfrm>
          <a:prstGeom prst="ellipse">
            <a:avLst/>
          </a:prstGeom>
          <a:solidFill>
            <a:srgbClr val="EAF4F4"/>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13332" y="1560621"/>
            <a:ext cx="132588" cy="132588"/>
          </a:xfrm>
          <a:prstGeom prst="rect">
            <a:avLst/>
          </a:prstGeom>
        </p:spPr>
      </p:pic>
      <p:sp>
        <p:nvSpPr>
          <p:cNvPr id="19" name="Text 14"/>
          <p:cNvSpPr/>
          <p:nvPr/>
        </p:nvSpPr>
        <p:spPr>
          <a:xfrm>
            <a:off x="3329880" y="1483519"/>
            <a:ext cx="5986254"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Provider licensing requirement</a:t>
            </a:r>
            <a:endParaRPr lang="en-US" sz="870" dirty="0"/>
          </a:p>
        </p:txBody>
      </p:sp>
      <p:sp>
        <p:nvSpPr>
          <p:cNvPr id="20" name="Text 15"/>
          <p:cNvSpPr/>
          <p:nvPr/>
        </p:nvSpPr>
        <p:spPr>
          <a:xfrm>
            <a:off x="3329880" y="1640830"/>
            <a:ext cx="5550890" cy="315977"/>
          </a:xfrm>
          <a:prstGeom prst="rect">
            <a:avLst/>
          </a:prstGeom>
          <a:noFill/>
          <a:ln/>
        </p:spPr>
        <p:txBody>
          <a:bodyPr wrap="square" lIns="0" tIns="0" rIns="0" bIns="0" rtlCol="0" anchor="t"/>
          <a:lstStyle/>
          <a:p>
            <a:pPr marL="0" indent="0" algn="l">
              <a:lnSpc>
                <a:spcPts val="1185"/>
              </a:lnSpc>
              <a:buNone/>
            </a:pPr>
            <a:r>
              <a:rPr lang="en-US" sz="790" dirty="0">
                <a:solidFill>
                  <a:srgbClr val="444444"/>
                </a:solidFill>
                <a:latin typeface="Calibri" pitchFamily="34" charset="0"/>
                <a:ea typeface="Calibri" pitchFamily="34" charset="-122"/>
                <a:cs typeface="Calibri" pitchFamily="34" charset="-120"/>
              </a:rPr>
              <a:t>Clients must be in the state where the provider or clinical supervisor is independently licensed. Out-of-state exceptions for school-based staff require Compliance approval.</a:t>
            </a:r>
            <a:endParaRPr lang="en-US" sz="790" dirty="0"/>
          </a:p>
        </p:txBody>
      </p:sp>
      <p:sp>
        <p:nvSpPr>
          <p:cNvPr id="21" name="Text 16"/>
          <p:cNvSpPr/>
          <p:nvPr/>
        </p:nvSpPr>
        <p:spPr>
          <a:xfrm>
            <a:off x="2943820" y="2085231"/>
            <a:ext cx="5828109" cy="7590"/>
          </a:xfrm>
          <a:prstGeom prst="rect">
            <a:avLst/>
          </a:prstGeom>
          <a:solidFill>
            <a:srgbClr val="E8F0F0"/>
          </a:solidFill>
          <a:ln/>
        </p:spPr>
        <p:txBody>
          <a:bodyPr wrap="none" rtlCol="0" anchor="t"/>
          <a:lstStyle/>
          <a:p>
            <a:pPr marL="0" indent="0">
              <a:buNone/>
            </a:pPr>
            <a:endParaRPr lang="en-US" dirty="0"/>
          </a:p>
        </p:txBody>
      </p:sp>
      <p:sp>
        <p:nvSpPr>
          <p:cNvPr id="22" name="Text 17"/>
          <p:cNvSpPr/>
          <p:nvPr/>
        </p:nvSpPr>
        <p:spPr>
          <a:xfrm>
            <a:off x="2943820" y="2243882"/>
            <a:ext cx="271760" cy="271760"/>
          </a:xfrm>
          <a:prstGeom prst="ellipse">
            <a:avLst/>
          </a:prstGeom>
          <a:solidFill>
            <a:srgbClr val="EAF4F4"/>
          </a:solidFill>
          <a:ln/>
        </p:spPr>
        <p:txBody>
          <a:bodyPr wrap="non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13332" y="2313393"/>
            <a:ext cx="132588" cy="132588"/>
          </a:xfrm>
          <a:prstGeom prst="rect">
            <a:avLst/>
          </a:prstGeom>
        </p:spPr>
      </p:pic>
      <p:sp>
        <p:nvSpPr>
          <p:cNvPr id="24" name="Text 18"/>
          <p:cNvSpPr/>
          <p:nvPr/>
        </p:nvSpPr>
        <p:spPr>
          <a:xfrm>
            <a:off x="3329880" y="2236291"/>
            <a:ext cx="5986254"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Informed consent</a:t>
            </a:r>
            <a:endParaRPr lang="en-US" sz="870" dirty="0"/>
          </a:p>
        </p:txBody>
      </p:sp>
      <p:sp>
        <p:nvSpPr>
          <p:cNvPr id="25" name="Text 19"/>
          <p:cNvSpPr/>
          <p:nvPr/>
        </p:nvSpPr>
        <p:spPr>
          <a:xfrm>
            <a:off x="3329880" y="2393603"/>
            <a:ext cx="5550890" cy="315977"/>
          </a:xfrm>
          <a:prstGeom prst="rect">
            <a:avLst/>
          </a:prstGeom>
          <a:noFill/>
          <a:ln/>
        </p:spPr>
        <p:txBody>
          <a:bodyPr wrap="square" lIns="0" tIns="0" rIns="0" bIns="0" rtlCol="0" anchor="t"/>
          <a:lstStyle/>
          <a:p>
            <a:pPr marL="0" indent="0" algn="l">
              <a:lnSpc>
                <a:spcPts val="1185"/>
              </a:lnSpc>
              <a:buNone/>
            </a:pPr>
            <a:r>
              <a:rPr lang="en-US" sz="790" dirty="0">
                <a:solidFill>
                  <a:srgbClr val="444444"/>
                </a:solidFill>
                <a:latin typeface="Calibri" pitchFamily="34" charset="0"/>
                <a:ea typeface="Calibri" pitchFamily="34" charset="-122"/>
                <a:cs typeface="Calibri" pitchFamily="34" charset="-120"/>
              </a:rPr>
              <a:t>All clients undergo an informed consent procedure — including signing the consent for treatment and reviewing emergency contact and safety protocols.</a:t>
            </a:r>
            <a:endParaRPr lang="en-US" sz="790" dirty="0"/>
          </a:p>
        </p:txBody>
      </p:sp>
      <p:sp>
        <p:nvSpPr>
          <p:cNvPr id="26" name="Text 20"/>
          <p:cNvSpPr/>
          <p:nvPr/>
        </p:nvSpPr>
        <p:spPr>
          <a:xfrm>
            <a:off x="2943820" y="2838004"/>
            <a:ext cx="5828109" cy="7590"/>
          </a:xfrm>
          <a:prstGeom prst="rect">
            <a:avLst/>
          </a:prstGeom>
          <a:solidFill>
            <a:srgbClr val="E8F0F0"/>
          </a:solidFill>
          <a:ln/>
        </p:spPr>
        <p:txBody>
          <a:bodyPr wrap="none" rtlCol="0" anchor="t"/>
          <a:lstStyle/>
          <a:p>
            <a:pPr marL="0" indent="0">
              <a:buNone/>
            </a:pPr>
            <a:endParaRPr lang="en-US" dirty="0"/>
          </a:p>
        </p:txBody>
      </p:sp>
      <p:sp>
        <p:nvSpPr>
          <p:cNvPr id="27" name="Text 21"/>
          <p:cNvSpPr/>
          <p:nvPr/>
        </p:nvSpPr>
        <p:spPr>
          <a:xfrm>
            <a:off x="2943820" y="2996654"/>
            <a:ext cx="271760" cy="271760"/>
          </a:xfrm>
          <a:prstGeom prst="ellipse">
            <a:avLst/>
          </a:prstGeom>
          <a:solidFill>
            <a:srgbClr val="EAF4F4"/>
          </a:solidFill>
          <a:ln/>
        </p:spPr>
        <p:txBody>
          <a:bodyPr wrap="none" rtlCol="0" anchor="t"/>
          <a:lstStyle/>
          <a:p>
            <a:pPr marL="0" indent="0">
              <a:buNone/>
            </a:pPr>
            <a:endParaRPr lang="en-US"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13332" y="3066166"/>
            <a:ext cx="132588" cy="132588"/>
          </a:xfrm>
          <a:prstGeom prst="rect">
            <a:avLst/>
          </a:prstGeom>
        </p:spPr>
      </p:pic>
      <p:sp>
        <p:nvSpPr>
          <p:cNvPr id="29" name="Text 22"/>
          <p:cNvSpPr/>
          <p:nvPr/>
        </p:nvSpPr>
        <p:spPr>
          <a:xfrm>
            <a:off x="3329880" y="2989064"/>
            <a:ext cx="5986254"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Clinical appropriateness is ongoing</a:t>
            </a:r>
            <a:endParaRPr lang="en-US" sz="870" dirty="0"/>
          </a:p>
        </p:txBody>
      </p:sp>
      <p:sp>
        <p:nvSpPr>
          <p:cNvPr id="30" name="Text 23"/>
          <p:cNvSpPr/>
          <p:nvPr/>
        </p:nvSpPr>
        <p:spPr>
          <a:xfrm>
            <a:off x="3329880" y="3146375"/>
            <a:ext cx="5550890" cy="315977"/>
          </a:xfrm>
          <a:prstGeom prst="rect">
            <a:avLst/>
          </a:prstGeom>
          <a:noFill/>
          <a:ln/>
        </p:spPr>
        <p:txBody>
          <a:bodyPr wrap="square" lIns="0" tIns="0" rIns="0" bIns="0" rtlCol="0" anchor="t"/>
          <a:lstStyle/>
          <a:p>
            <a:pPr marL="0" indent="0" algn="l">
              <a:lnSpc>
                <a:spcPts val="1185"/>
              </a:lnSpc>
              <a:buNone/>
            </a:pPr>
            <a:r>
              <a:rPr lang="en-US" sz="790" dirty="0">
                <a:solidFill>
                  <a:srgbClr val="444444"/>
                </a:solidFill>
                <a:latin typeface="Calibri" pitchFamily="34" charset="0"/>
                <a:ea typeface="Calibri" pitchFamily="34" charset="-122"/>
                <a:cs typeface="Calibri" pitchFamily="34" charset="-120"/>
              </a:rPr>
              <a:t>Screening occurs at intake and throughout the treatment episode. Either the client or provider may determine that in-person sessions are more appropriate at any point.</a:t>
            </a:r>
            <a:endParaRPr lang="en-US" sz="790" dirty="0"/>
          </a:p>
        </p:txBody>
      </p:sp>
      <p:sp>
        <p:nvSpPr>
          <p:cNvPr id="31" name="Text 24"/>
          <p:cNvSpPr/>
          <p:nvPr/>
        </p:nvSpPr>
        <p:spPr>
          <a:xfrm>
            <a:off x="2571750" y="4800600"/>
            <a:ext cx="6572250" cy="342900"/>
          </a:xfrm>
          <a:prstGeom prst="rect">
            <a:avLst/>
          </a:prstGeom>
          <a:solidFill>
            <a:srgbClr val="FAB753"/>
          </a:solidFill>
          <a:ln/>
        </p:spPr>
        <p:txBody>
          <a:bodyPr wrap="square" rtlCol="0" anchor="t"/>
          <a:lstStyle/>
          <a:p>
            <a:pPr marL="0" indent="0">
              <a:buNone/>
            </a:pPr>
            <a:endParaRPr lang="en-US" dirty="0"/>
          </a:p>
        </p:txBody>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92336" y="4905756"/>
            <a:ext cx="132588" cy="132588"/>
          </a:xfrm>
          <a:prstGeom prst="rect">
            <a:avLst/>
          </a:prstGeom>
        </p:spPr>
      </p:pic>
      <p:sp>
        <p:nvSpPr>
          <p:cNvPr id="33" name="Text 25"/>
          <p:cNvSpPr/>
          <p:nvPr/>
        </p:nvSpPr>
        <p:spPr>
          <a:xfrm>
            <a:off x="4893022" y="4896743"/>
            <a:ext cx="2323386" cy="150465"/>
          </a:xfrm>
          <a:prstGeom prst="rect">
            <a:avLst/>
          </a:prstGeom>
          <a:noFill/>
          <a:ln/>
        </p:spPr>
        <p:txBody>
          <a:bodyPr wrap="none" lIns="0" tIns="0" rIns="0" bIns="0" rtlCol="0" anchor="ctr"/>
          <a:lstStyle/>
          <a:p>
            <a:pPr marL="0" indent="0" algn="l">
              <a:lnSpc>
                <a:spcPts val="1185"/>
              </a:lnSpc>
              <a:buNone/>
            </a:pPr>
            <a:r>
              <a:rPr lang="en-US" sz="790" b="1" dirty="0">
                <a:solidFill>
                  <a:srgbClr val="2C2C2C"/>
                </a:solidFill>
                <a:latin typeface="Calibri" pitchFamily="34" charset="0"/>
                <a:ea typeface="Calibri" pitchFamily="34" charset="-122"/>
                <a:cs typeface="Calibri" pitchFamily="34" charset="-120"/>
              </a:rPr>
              <a:t>See Policy: 04.017.AM Telehealth Services</a:t>
            </a:r>
            <a:endParaRPr lang="en-US" sz="790" dirty="0"/>
          </a:p>
        </p:txBody>
      </p:sp>
      <p:sp>
        <p:nvSpPr>
          <p:cNvPr id="34" name="Text 26"/>
          <p:cNvSpPr/>
          <p:nvPr/>
        </p:nvSpPr>
        <p:spPr>
          <a:xfrm>
            <a:off x="0" y="5108077"/>
            <a:ext cx="2571750" cy="35421"/>
          </a:xfrm>
          <a:prstGeom prst="rect">
            <a:avLst/>
          </a:prstGeom>
          <a:solidFill>
            <a:srgbClr val="FAB753"/>
          </a:solidFill>
          <a:ln/>
        </p:spPr>
        <p:txBody>
          <a:bodyPr wrap="none" rtlCol="0" anchor="t"/>
          <a:lstStyle/>
          <a:p>
            <a:pPr marL="0" indent="0">
              <a:buNone/>
            </a:pPr>
            <a:endParaRPr lang="en-US" dirty="0"/>
          </a:p>
        </p:txBody>
      </p:sp>
      <p:sp>
        <p:nvSpPr>
          <p:cNvPr id="35" name="Text 27"/>
          <p:cNvSpPr/>
          <p:nvPr/>
        </p:nvSpPr>
        <p:spPr>
          <a:xfrm>
            <a:off x="2414290" y="4428530"/>
            <a:ext cx="314920" cy="314920"/>
          </a:xfrm>
          <a:prstGeom prst="ellipse">
            <a:avLst/>
          </a:prstGeom>
          <a:solidFill>
            <a:srgbClr val="FAB753">
              <a:alpha val="85000"/>
            </a:srgbClr>
          </a:solidFill>
          <a:ln/>
        </p:spPr>
        <p:txBody>
          <a:bodyPr wrap="squar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57267"/>
          </a:xfrm>
          <a:prstGeom prst="rect">
            <a:avLst/>
          </a:prstGeom>
          <a:solidFill>
            <a:srgbClr val="1B5E72"/>
          </a:solidFill>
          <a:ln/>
        </p:spPr>
        <p:txBody>
          <a:bodyPr wrap="square" lIns="400050" tIns="157480" rIns="400050" bIns="114300" rtlCol="0" anchor="t"/>
          <a:lstStyle/>
          <a:p>
            <a:pPr marL="0" indent="0" algn="l">
              <a:buNone/>
            </a:pPr>
            <a:r>
              <a:rPr lang="en-US" sz="1800" b="1" kern="0" spc="18" dirty="0">
                <a:solidFill>
                  <a:srgbClr val="FFFFFF"/>
                </a:solidFill>
                <a:latin typeface="Calibri Light" pitchFamily="34" charset="0"/>
                <a:ea typeface="Calibri Light" pitchFamily="34" charset="-122"/>
                <a:cs typeface="Calibri Light" pitchFamily="34" charset="-120"/>
              </a:rPr>
              <a:t>Before the First Telehealth Session</a:t>
            </a:r>
            <a:endParaRPr lang="en-US" sz="1800" dirty="0"/>
          </a:p>
          <a:p>
            <a:pPr marL="0" indent="0" algn="l">
              <a:buNone/>
            </a:pPr>
            <a:r>
              <a:rPr lang="en-US" sz="900" kern="0" spc="18" dirty="0">
                <a:solidFill>
                  <a:srgbClr val="A8D5D1"/>
                </a:solidFill>
                <a:latin typeface="Calibri" pitchFamily="34" charset="0"/>
                <a:ea typeface="Calibri" pitchFamily="34" charset="-122"/>
                <a:cs typeface="Calibri" pitchFamily="34" charset="-120"/>
              </a:rPr>
              <a:t>Inclusion, screening, and informed consent — every time.</a:t>
            </a:r>
            <a:endParaRPr lang="en-US" sz="1800" dirty="0"/>
          </a:p>
        </p:txBody>
      </p:sp>
      <p:sp>
        <p:nvSpPr>
          <p:cNvPr id="3" name="Text 1"/>
          <p:cNvSpPr/>
          <p:nvPr/>
        </p:nvSpPr>
        <p:spPr>
          <a:xfrm>
            <a:off x="400050" y="892671"/>
            <a:ext cx="4071640" cy="367903"/>
          </a:xfrm>
          <a:custGeom>
            <a:avLst/>
            <a:gdLst/>
            <a:ahLst/>
            <a:cxnLst/>
            <a:rect l="l" t="t" r="r" b="b"/>
            <a:pathLst>
              <a:path w="4071640" h="367903">
                <a:moveTo>
                  <a:pt x="71120" y="0"/>
                </a:moveTo>
                <a:lnTo>
                  <a:pt x="57245" y="1367"/>
                </a:lnTo>
                <a:lnTo>
                  <a:pt x="43904" y="5414"/>
                </a:lnTo>
                <a:lnTo>
                  <a:pt x="31608" y="11986"/>
                </a:lnTo>
                <a:lnTo>
                  <a:pt x="20831" y="20831"/>
                </a:lnTo>
                <a:lnTo>
                  <a:pt x="11986" y="31608"/>
                </a:lnTo>
                <a:lnTo>
                  <a:pt x="5414" y="43904"/>
                </a:lnTo>
                <a:lnTo>
                  <a:pt x="1367" y="57245"/>
                </a:lnTo>
                <a:lnTo>
                  <a:pt x="0" y="71120"/>
                </a:lnTo>
                <a:lnTo>
                  <a:pt x="0" y="367903"/>
                </a:lnTo>
                <a:lnTo>
                  <a:pt x="4071640" y="367903"/>
                </a:lnTo>
                <a:lnTo>
                  <a:pt x="4071640" y="71120"/>
                </a:lnTo>
                <a:lnTo>
                  <a:pt x="4070273" y="57245"/>
                </a:lnTo>
                <a:lnTo>
                  <a:pt x="4066226" y="43904"/>
                </a:lnTo>
                <a:lnTo>
                  <a:pt x="4059654" y="31608"/>
                </a:lnTo>
                <a:lnTo>
                  <a:pt x="4050809" y="20831"/>
                </a:lnTo>
                <a:lnTo>
                  <a:pt x="4040032" y="11986"/>
                </a:lnTo>
                <a:lnTo>
                  <a:pt x="4027736" y="5414"/>
                </a:lnTo>
                <a:lnTo>
                  <a:pt x="4014395" y="1367"/>
                </a:lnTo>
                <a:lnTo>
                  <a:pt x="4000520" y="0"/>
                </a:lnTo>
                <a:close/>
              </a:path>
            </a:pathLst>
          </a:custGeom>
          <a:solidFill>
            <a:srgbClr val="1B5E72"/>
          </a:solidFill>
          <a:ln/>
        </p:spPr>
        <p:txBody>
          <a:bodyPr wrap="square" rtlCol="0" anchor="t"/>
          <a:lstStyle/>
          <a:p>
            <a:pPr marL="0" indent="0">
              <a:buNone/>
            </a:pPr>
            <a:endParaRPr lang="en-US" dirty="0"/>
          </a:p>
        </p:txBody>
      </p:sp>
      <p:sp>
        <p:nvSpPr>
          <p:cNvPr id="4" name="Text 2"/>
          <p:cNvSpPr/>
          <p:nvPr/>
        </p:nvSpPr>
        <p:spPr>
          <a:xfrm>
            <a:off x="400050" y="892671"/>
            <a:ext cx="4153073" cy="367903"/>
          </a:xfrm>
          <a:prstGeom prst="rect">
            <a:avLst/>
          </a:prstGeom>
          <a:noFill/>
          <a:ln/>
        </p:spPr>
        <p:txBody>
          <a:bodyPr wrap="none" lIns="157480" tIns="92710" rIns="157480" bIns="92710" rtlCol="0" anchor="ctr"/>
          <a:lstStyle/>
          <a:p>
            <a:pPr marL="0" indent="0" algn="l">
              <a:buNone/>
            </a:pPr>
            <a:r>
              <a:rPr lang="en-US" sz="960" b="1" kern="0" spc="38" dirty="0">
                <a:solidFill>
                  <a:srgbClr val="FFFFFF"/>
                </a:solidFill>
                <a:latin typeface="Calibri Light" pitchFamily="34" charset="0"/>
                <a:ea typeface="Calibri Light" pitchFamily="34" charset="-122"/>
                <a:cs typeface="Calibri Light" pitchFamily="34" charset="-120"/>
              </a:rPr>
              <a:t>INCLUSION REQUIREMENTS</a:t>
            </a:r>
            <a:endParaRPr lang="en-US" sz="96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510" y="997893"/>
            <a:ext cx="157460" cy="157460"/>
          </a:xfrm>
          <a:prstGeom prst="rect">
            <a:avLst/>
          </a:prstGeom>
        </p:spPr>
      </p:pic>
      <p:sp>
        <p:nvSpPr>
          <p:cNvPr id="6" name="Text 3"/>
          <p:cNvSpPr/>
          <p:nvPr/>
        </p:nvSpPr>
        <p:spPr>
          <a:xfrm>
            <a:off x="400050" y="1260574"/>
            <a:ext cx="4071640" cy="3118247"/>
          </a:xfrm>
          <a:custGeom>
            <a:avLst/>
            <a:gdLst/>
            <a:ahLst/>
            <a:cxnLst/>
            <a:rect l="l" t="t" r="r" b="b"/>
            <a:pathLst>
              <a:path w="4071640" h="3118247">
                <a:moveTo>
                  <a:pt x="0" y="0"/>
                </a:moveTo>
                <a:lnTo>
                  <a:pt x="0" y="3047127"/>
                </a:lnTo>
                <a:lnTo>
                  <a:pt x="1367" y="3061002"/>
                </a:lnTo>
                <a:lnTo>
                  <a:pt x="5414" y="3074343"/>
                </a:lnTo>
                <a:lnTo>
                  <a:pt x="11986" y="3086639"/>
                </a:lnTo>
                <a:lnTo>
                  <a:pt x="20831" y="3097416"/>
                </a:lnTo>
                <a:lnTo>
                  <a:pt x="31608" y="3106261"/>
                </a:lnTo>
                <a:lnTo>
                  <a:pt x="43904" y="3112833"/>
                </a:lnTo>
                <a:lnTo>
                  <a:pt x="57245" y="3116880"/>
                </a:lnTo>
                <a:lnTo>
                  <a:pt x="71120" y="3118247"/>
                </a:lnTo>
                <a:lnTo>
                  <a:pt x="4000520" y="3118247"/>
                </a:lnTo>
                <a:lnTo>
                  <a:pt x="4014395" y="3116880"/>
                </a:lnTo>
                <a:lnTo>
                  <a:pt x="4027736" y="3112833"/>
                </a:lnTo>
                <a:lnTo>
                  <a:pt x="4040032" y="3106261"/>
                </a:lnTo>
                <a:lnTo>
                  <a:pt x="4050809" y="3097416"/>
                </a:lnTo>
                <a:lnTo>
                  <a:pt x="4059654" y="3086639"/>
                </a:lnTo>
                <a:lnTo>
                  <a:pt x="4066226" y="3074343"/>
                </a:lnTo>
                <a:lnTo>
                  <a:pt x="4070273" y="3061002"/>
                </a:lnTo>
                <a:lnTo>
                  <a:pt x="4071640" y="3047127"/>
                </a:lnTo>
                <a:lnTo>
                  <a:pt x="4071640" y="0"/>
                </a:lnTo>
                <a:close/>
              </a:path>
            </a:pathLst>
          </a:custGeom>
          <a:solidFill>
            <a:srgbClr val="EAF4F4"/>
          </a:solidFill>
          <a:ln/>
        </p:spPr>
        <p:txBody>
          <a:bodyPr wrap="square" rtlCol="0" anchor="t"/>
          <a:lstStyle/>
          <a:p>
            <a:pPr marL="0" indent="0">
              <a:buNone/>
            </a:pPr>
            <a:endParaRPr lang="en-US" dirty="0"/>
          </a:p>
        </p:txBody>
      </p:sp>
      <p:sp>
        <p:nvSpPr>
          <p:cNvPr id="7" name="Text 4"/>
          <p:cNvSpPr/>
          <p:nvPr/>
        </p:nvSpPr>
        <p:spPr>
          <a:xfrm>
            <a:off x="557510" y="1396305"/>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FAB753"/>
                </a:solidFill>
                <a:latin typeface="Calibri" pitchFamily="34" charset="0"/>
                <a:ea typeface="Calibri" pitchFamily="34" charset="-122"/>
                <a:cs typeface="Calibri" pitchFamily="34" charset="-120"/>
              </a:rPr>
              <a:t>—</a:t>
            </a:r>
            <a:endParaRPr lang="en-US" sz="1010" dirty="0"/>
          </a:p>
        </p:txBody>
      </p:sp>
      <p:sp>
        <p:nvSpPr>
          <p:cNvPr id="8" name="Text 5"/>
          <p:cNvSpPr/>
          <p:nvPr/>
        </p:nvSpPr>
        <p:spPr>
          <a:xfrm>
            <a:off x="756642" y="1388715"/>
            <a:ext cx="3628739" cy="317227"/>
          </a:xfrm>
          <a:prstGeom prst="rect">
            <a:avLst/>
          </a:prstGeom>
          <a:noFill/>
          <a:ln/>
        </p:spPr>
        <p:txBody>
          <a:bodyPr wrap="squar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Client screened for clinical appropriateness at intake and throughout treatment.</a:t>
            </a:r>
            <a:endParaRPr lang="en-US" sz="820" dirty="0"/>
          </a:p>
        </p:txBody>
      </p:sp>
      <p:sp>
        <p:nvSpPr>
          <p:cNvPr id="9" name="Text 6"/>
          <p:cNvSpPr/>
          <p:nvPr/>
        </p:nvSpPr>
        <p:spPr>
          <a:xfrm>
            <a:off x="557510" y="1777157"/>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FAB753"/>
                </a:solidFill>
                <a:latin typeface="Calibri" pitchFamily="34" charset="0"/>
                <a:ea typeface="Calibri" pitchFamily="34" charset="-122"/>
                <a:cs typeface="Calibri" pitchFamily="34" charset="-120"/>
              </a:rPr>
              <a:t>—</a:t>
            </a:r>
            <a:endParaRPr lang="en-US" sz="1010" dirty="0"/>
          </a:p>
        </p:txBody>
      </p:sp>
      <p:sp>
        <p:nvSpPr>
          <p:cNvPr id="10" name="Text 7"/>
          <p:cNvSpPr/>
          <p:nvPr/>
        </p:nvSpPr>
        <p:spPr>
          <a:xfrm>
            <a:off x="756642" y="1769566"/>
            <a:ext cx="3890590"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Enrollment is at the discretion of the provider and/or supervisory clinical staff.</a:t>
            </a:r>
            <a:endParaRPr lang="en-US" sz="820" dirty="0"/>
          </a:p>
        </p:txBody>
      </p:sp>
      <p:sp>
        <p:nvSpPr>
          <p:cNvPr id="11" name="Text 8"/>
          <p:cNvSpPr/>
          <p:nvPr/>
        </p:nvSpPr>
        <p:spPr>
          <a:xfrm>
            <a:off x="557510" y="2049363"/>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FAB753"/>
                </a:solidFill>
                <a:latin typeface="Calibri" pitchFamily="34" charset="0"/>
                <a:ea typeface="Calibri" pitchFamily="34" charset="-122"/>
                <a:cs typeface="Calibri" pitchFamily="34" charset="-120"/>
              </a:rPr>
              <a:t>—</a:t>
            </a:r>
            <a:endParaRPr lang="en-US" sz="1010" dirty="0"/>
          </a:p>
        </p:txBody>
      </p:sp>
      <p:sp>
        <p:nvSpPr>
          <p:cNvPr id="12" name="Text 9"/>
          <p:cNvSpPr/>
          <p:nvPr/>
        </p:nvSpPr>
        <p:spPr>
          <a:xfrm>
            <a:off x="756642" y="2041773"/>
            <a:ext cx="3628739" cy="317227"/>
          </a:xfrm>
          <a:prstGeom prst="rect">
            <a:avLst/>
          </a:prstGeom>
          <a:noFill/>
          <a:ln/>
        </p:spPr>
        <p:txBody>
          <a:bodyPr wrap="squar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At any point the client or provider may determine in-person is more appropriate.</a:t>
            </a:r>
            <a:endParaRPr lang="en-US" sz="820" dirty="0"/>
          </a:p>
        </p:txBody>
      </p:sp>
      <p:sp>
        <p:nvSpPr>
          <p:cNvPr id="13" name="Text 10"/>
          <p:cNvSpPr/>
          <p:nvPr/>
        </p:nvSpPr>
        <p:spPr>
          <a:xfrm>
            <a:off x="557510" y="2430214"/>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FAB753"/>
                </a:solidFill>
                <a:latin typeface="Calibri" pitchFamily="34" charset="0"/>
                <a:ea typeface="Calibri" pitchFamily="34" charset="-122"/>
                <a:cs typeface="Calibri" pitchFamily="34" charset="-120"/>
              </a:rPr>
              <a:t>—</a:t>
            </a:r>
            <a:endParaRPr lang="en-US" sz="1010" dirty="0"/>
          </a:p>
        </p:txBody>
      </p:sp>
      <p:sp>
        <p:nvSpPr>
          <p:cNvPr id="14" name="Text 11"/>
          <p:cNvSpPr/>
          <p:nvPr/>
        </p:nvSpPr>
        <p:spPr>
          <a:xfrm>
            <a:off x="756642" y="2422624"/>
            <a:ext cx="3628739" cy="317227"/>
          </a:xfrm>
          <a:prstGeom prst="rect">
            <a:avLst/>
          </a:prstGeom>
          <a:noFill/>
          <a:ln/>
        </p:spPr>
        <p:txBody>
          <a:bodyPr wrap="squar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Failure to comply with telehealth agreements may result in termination of telehealth appointments.</a:t>
            </a:r>
            <a:endParaRPr lang="en-US" sz="820" dirty="0"/>
          </a:p>
        </p:txBody>
      </p:sp>
      <p:sp>
        <p:nvSpPr>
          <p:cNvPr id="15" name="Text 12"/>
          <p:cNvSpPr/>
          <p:nvPr/>
        </p:nvSpPr>
        <p:spPr>
          <a:xfrm>
            <a:off x="557510" y="2811066"/>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FAB753"/>
                </a:solidFill>
                <a:latin typeface="Calibri" pitchFamily="34" charset="0"/>
                <a:ea typeface="Calibri" pitchFamily="34" charset="-122"/>
                <a:cs typeface="Calibri" pitchFamily="34" charset="-120"/>
              </a:rPr>
              <a:t>—</a:t>
            </a:r>
            <a:endParaRPr lang="en-US" sz="1010" dirty="0"/>
          </a:p>
        </p:txBody>
      </p:sp>
      <p:sp>
        <p:nvSpPr>
          <p:cNvPr id="16" name="Text 13"/>
          <p:cNvSpPr/>
          <p:nvPr/>
        </p:nvSpPr>
        <p:spPr>
          <a:xfrm>
            <a:off x="756642" y="2803475"/>
            <a:ext cx="3628739" cy="317227"/>
          </a:xfrm>
          <a:prstGeom prst="rect">
            <a:avLst/>
          </a:prstGeom>
          <a:noFill/>
          <a:ln/>
        </p:spPr>
        <p:txBody>
          <a:bodyPr wrap="squar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Referral generally follows a face-to-face intake. Some intakes may be conducted via telehealth under clinic manager guidance.</a:t>
            </a:r>
            <a:endParaRPr lang="en-US" sz="820" dirty="0"/>
          </a:p>
        </p:txBody>
      </p:sp>
      <p:sp>
        <p:nvSpPr>
          <p:cNvPr id="17" name="Text 14"/>
          <p:cNvSpPr/>
          <p:nvPr/>
        </p:nvSpPr>
        <p:spPr>
          <a:xfrm>
            <a:off x="4672310" y="892671"/>
            <a:ext cx="4071640" cy="367903"/>
          </a:xfrm>
          <a:custGeom>
            <a:avLst/>
            <a:gdLst/>
            <a:ahLst/>
            <a:cxnLst/>
            <a:rect l="l" t="t" r="r" b="b"/>
            <a:pathLst>
              <a:path w="4071640" h="367903">
                <a:moveTo>
                  <a:pt x="71120" y="0"/>
                </a:moveTo>
                <a:lnTo>
                  <a:pt x="57245" y="1367"/>
                </a:lnTo>
                <a:lnTo>
                  <a:pt x="43904" y="5414"/>
                </a:lnTo>
                <a:lnTo>
                  <a:pt x="31608" y="11986"/>
                </a:lnTo>
                <a:lnTo>
                  <a:pt x="20831" y="20831"/>
                </a:lnTo>
                <a:lnTo>
                  <a:pt x="11986" y="31608"/>
                </a:lnTo>
                <a:lnTo>
                  <a:pt x="5414" y="43904"/>
                </a:lnTo>
                <a:lnTo>
                  <a:pt x="1367" y="57245"/>
                </a:lnTo>
                <a:lnTo>
                  <a:pt x="0" y="71120"/>
                </a:lnTo>
                <a:lnTo>
                  <a:pt x="0" y="367903"/>
                </a:lnTo>
                <a:lnTo>
                  <a:pt x="4071640" y="367903"/>
                </a:lnTo>
                <a:lnTo>
                  <a:pt x="4071640" y="71120"/>
                </a:lnTo>
                <a:lnTo>
                  <a:pt x="4070273" y="57245"/>
                </a:lnTo>
                <a:lnTo>
                  <a:pt x="4066226" y="43904"/>
                </a:lnTo>
                <a:lnTo>
                  <a:pt x="4059654" y="31608"/>
                </a:lnTo>
                <a:lnTo>
                  <a:pt x="4050809" y="20831"/>
                </a:lnTo>
                <a:lnTo>
                  <a:pt x="4040032" y="11986"/>
                </a:lnTo>
                <a:lnTo>
                  <a:pt x="4027736" y="5414"/>
                </a:lnTo>
                <a:lnTo>
                  <a:pt x="4014395" y="1367"/>
                </a:lnTo>
                <a:lnTo>
                  <a:pt x="4000520" y="0"/>
                </a:lnTo>
                <a:close/>
              </a:path>
            </a:pathLst>
          </a:custGeom>
          <a:solidFill>
            <a:srgbClr val="FAB753"/>
          </a:solidFill>
          <a:ln/>
        </p:spPr>
        <p:txBody>
          <a:bodyPr wrap="square" rtlCol="0" anchor="t"/>
          <a:lstStyle/>
          <a:p>
            <a:pPr marL="0" indent="0">
              <a:buNone/>
            </a:pPr>
            <a:endParaRPr lang="en-US" dirty="0"/>
          </a:p>
        </p:txBody>
      </p:sp>
      <p:sp>
        <p:nvSpPr>
          <p:cNvPr id="18" name="Text 15"/>
          <p:cNvSpPr/>
          <p:nvPr/>
        </p:nvSpPr>
        <p:spPr>
          <a:xfrm>
            <a:off x="4672310" y="892671"/>
            <a:ext cx="4153073" cy="367903"/>
          </a:xfrm>
          <a:prstGeom prst="rect">
            <a:avLst/>
          </a:prstGeom>
          <a:noFill/>
          <a:ln/>
        </p:spPr>
        <p:txBody>
          <a:bodyPr wrap="none" lIns="157480" tIns="92710" rIns="157480" bIns="92710" rtlCol="0" anchor="ctr"/>
          <a:lstStyle/>
          <a:p>
            <a:pPr marL="0" indent="0" algn="l">
              <a:buNone/>
            </a:pPr>
            <a:r>
              <a:rPr lang="en-US" sz="960" b="1" kern="0" spc="38" dirty="0">
                <a:solidFill>
                  <a:srgbClr val="1A1A1A"/>
                </a:solidFill>
                <a:latin typeface="Calibri Light" pitchFamily="34" charset="0"/>
                <a:ea typeface="Calibri Light" pitchFamily="34" charset="-122"/>
                <a:cs typeface="Calibri Light" pitchFamily="34" charset="-120"/>
              </a:rPr>
              <a:t>INFORMED CONSENT MUST INCLUDE</a:t>
            </a:r>
            <a:endParaRPr lang="en-US" sz="96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29770" y="997893"/>
            <a:ext cx="157460" cy="157460"/>
          </a:xfrm>
          <a:prstGeom prst="rect">
            <a:avLst/>
          </a:prstGeom>
        </p:spPr>
      </p:pic>
      <p:sp>
        <p:nvSpPr>
          <p:cNvPr id="20" name="Text 16"/>
          <p:cNvSpPr/>
          <p:nvPr/>
        </p:nvSpPr>
        <p:spPr>
          <a:xfrm>
            <a:off x="4672310" y="1260574"/>
            <a:ext cx="4071640" cy="3118247"/>
          </a:xfrm>
          <a:custGeom>
            <a:avLst/>
            <a:gdLst/>
            <a:ahLst/>
            <a:cxnLst/>
            <a:rect l="l" t="t" r="r" b="b"/>
            <a:pathLst>
              <a:path w="4071640" h="3118247">
                <a:moveTo>
                  <a:pt x="0" y="0"/>
                </a:moveTo>
                <a:lnTo>
                  <a:pt x="0" y="3047127"/>
                </a:lnTo>
                <a:lnTo>
                  <a:pt x="1367" y="3061002"/>
                </a:lnTo>
                <a:lnTo>
                  <a:pt x="5414" y="3074343"/>
                </a:lnTo>
                <a:lnTo>
                  <a:pt x="11986" y="3086639"/>
                </a:lnTo>
                <a:lnTo>
                  <a:pt x="20831" y="3097416"/>
                </a:lnTo>
                <a:lnTo>
                  <a:pt x="31608" y="3106261"/>
                </a:lnTo>
                <a:lnTo>
                  <a:pt x="43904" y="3112833"/>
                </a:lnTo>
                <a:lnTo>
                  <a:pt x="57245" y="3116880"/>
                </a:lnTo>
                <a:lnTo>
                  <a:pt x="71120" y="3118247"/>
                </a:lnTo>
                <a:lnTo>
                  <a:pt x="4000520" y="3118247"/>
                </a:lnTo>
                <a:lnTo>
                  <a:pt x="4014395" y="3116880"/>
                </a:lnTo>
                <a:lnTo>
                  <a:pt x="4027736" y="3112833"/>
                </a:lnTo>
                <a:lnTo>
                  <a:pt x="4040032" y="3106261"/>
                </a:lnTo>
                <a:lnTo>
                  <a:pt x="4050809" y="3097416"/>
                </a:lnTo>
                <a:lnTo>
                  <a:pt x="4059654" y="3086639"/>
                </a:lnTo>
                <a:lnTo>
                  <a:pt x="4066226" y="3074343"/>
                </a:lnTo>
                <a:lnTo>
                  <a:pt x="4070273" y="3061002"/>
                </a:lnTo>
                <a:lnTo>
                  <a:pt x="4071640" y="3047127"/>
                </a:lnTo>
                <a:lnTo>
                  <a:pt x="4071640" y="0"/>
                </a:lnTo>
                <a:close/>
              </a:path>
            </a:pathLst>
          </a:custGeom>
          <a:solidFill>
            <a:srgbClr val="FFFFFF"/>
          </a:solidFill>
          <a:ln/>
        </p:spPr>
        <p:txBody>
          <a:bodyPr wrap="square" rtlCol="0" anchor="t"/>
          <a:lstStyle/>
          <a:p>
            <a:pPr marL="0" indent="0">
              <a:buNone/>
            </a:pPr>
            <a:endParaRPr lang="en-US" dirty="0"/>
          </a:p>
        </p:txBody>
      </p:sp>
      <p:sp>
        <p:nvSpPr>
          <p:cNvPr id="21" name="Text 17"/>
          <p:cNvSpPr/>
          <p:nvPr/>
        </p:nvSpPr>
        <p:spPr>
          <a:xfrm>
            <a:off x="4672310" y="1260574"/>
            <a:ext cx="9525" cy="3118247"/>
          </a:xfrm>
          <a:prstGeom prst="rect">
            <a:avLst/>
          </a:prstGeom>
          <a:solidFill>
            <a:srgbClr val="C8C8C8"/>
          </a:solidFill>
          <a:ln/>
        </p:spPr>
        <p:txBody>
          <a:bodyPr wrap="square" rtlCol="0" anchor="t"/>
          <a:lstStyle/>
          <a:p>
            <a:pPr marL="0" indent="0">
              <a:buNone/>
            </a:pPr>
            <a:endParaRPr lang="en-US" dirty="0"/>
          </a:p>
        </p:txBody>
      </p:sp>
      <p:sp>
        <p:nvSpPr>
          <p:cNvPr id="22" name="Text 18"/>
          <p:cNvSpPr/>
          <p:nvPr/>
        </p:nvSpPr>
        <p:spPr>
          <a:xfrm>
            <a:off x="8734425" y="1260574"/>
            <a:ext cx="9525" cy="3118247"/>
          </a:xfrm>
          <a:prstGeom prst="rect">
            <a:avLst/>
          </a:prstGeom>
          <a:solidFill>
            <a:srgbClr val="C8C8C8"/>
          </a:solidFill>
          <a:ln/>
        </p:spPr>
        <p:txBody>
          <a:bodyPr wrap="square" rtlCol="0" anchor="t"/>
          <a:lstStyle/>
          <a:p>
            <a:pPr marL="0" indent="0">
              <a:buNone/>
            </a:pPr>
            <a:endParaRPr lang="en-US" dirty="0"/>
          </a:p>
        </p:txBody>
      </p:sp>
      <p:sp>
        <p:nvSpPr>
          <p:cNvPr id="23" name="Text 19"/>
          <p:cNvSpPr/>
          <p:nvPr/>
        </p:nvSpPr>
        <p:spPr>
          <a:xfrm>
            <a:off x="4839295" y="1396305"/>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55A49C"/>
                </a:solidFill>
                <a:latin typeface="Calibri" pitchFamily="34" charset="0"/>
                <a:ea typeface="Calibri" pitchFamily="34" charset="-122"/>
                <a:cs typeface="Calibri" pitchFamily="34" charset="-120"/>
              </a:rPr>
              <a:t>—</a:t>
            </a:r>
            <a:endParaRPr lang="en-US" sz="1010" dirty="0"/>
          </a:p>
        </p:txBody>
      </p:sp>
      <p:sp>
        <p:nvSpPr>
          <p:cNvPr id="24" name="Text 20"/>
          <p:cNvSpPr/>
          <p:nvPr/>
        </p:nvSpPr>
        <p:spPr>
          <a:xfrm>
            <a:off x="5038427" y="1388715"/>
            <a:ext cx="2760821"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Discussion of the use, risks, and benefits of telehealth.</a:t>
            </a:r>
            <a:endParaRPr lang="en-US" sz="820" dirty="0"/>
          </a:p>
        </p:txBody>
      </p:sp>
      <p:sp>
        <p:nvSpPr>
          <p:cNvPr id="25" name="Text 21"/>
          <p:cNvSpPr/>
          <p:nvPr/>
        </p:nvSpPr>
        <p:spPr>
          <a:xfrm>
            <a:off x="4839295" y="1668512"/>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55A49C"/>
                </a:solidFill>
                <a:latin typeface="Calibri" pitchFamily="34" charset="0"/>
                <a:ea typeface="Calibri" pitchFamily="34" charset="-122"/>
                <a:cs typeface="Calibri" pitchFamily="34" charset="-120"/>
              </a:rPr>
              <a:t>—</a:t>
            </a:r>
            <a:endParaRPr lang="en-US" sz="1010" dirty="0"/>
          </a:p>
        </p:txBody>
      </p:sp>
      <p:sp>
        <p:nvSpPr>
          <p:cNvPr id="26" name="Text 22"/>
          <p:cNvSpPr/>
          <p:nvPr/>
        </p:nvSpPr>
        <p:spPr>
          <a:xfrm>
            <a:off x="5038427" y="1660922"/>
            <a:ext cx="2677984"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Safety procedures and emergency contact protocols.</a:t>
            </a:r>
            <a:endParaRPr lang="en-US" sz="820" dirty="0"/>
          </a:p>
        </p:txBody>
      </p:sp>
      <p:sp>
        <p:nvSpPr>
          <p:cNvPr id="27" name="Text 23"/>
          <p:cNvSpPr/>
          <p:nvPr/>
        </p:nvSpPr>
        <p:spPr>
          <a:xfrm>
            <a:off x="4839295" y="1940719"/>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55A49C"/>
                </a:solidFill>
                <a:latin typeface="Calibri" pitchFamily="34" charset="0"/>
                <a:ea typeface="Calibri" pitchFamily="34" charset="-122"/>
                <a:cs typeface="Calibri" pitchFamily="34" charset="-120"/>
              </a:rPr>
              <a:t>—</a:t>
            </a:r>
            <a:endParaRPr lang="en-US" sz="1010" dirty="0"/>
          </a:p>
        </p:txBody>
      </p:sp>
      <p:sp>
        <p:nvSpPr>
          <p:cNvPr id="28" name="Text 24"/>
          <p:cNvSpPr/>
          <p:nvPr/>
        </p:nvSpPr>
        <p:spPr>
          <a:xfrm>
            <a:off x="5038427" y="1933129"/>
            <a:ext cx="2684368"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Limits of confidentiality in the telehealth environment.</a:t>
            </a:r>
            <a:endParaRPr lang="en-US" sz="820" dirty="0"/>
          </a:p>
        </p:txBody>
      </p:sp>
      <p:sp>
        <p:nvSpPr>
          <p:cNvPr id="29" name="Text 25"/>
          <p:cNvSpPr/>
          <p:nvPr/>
        </p:nvSpPr>
        <p:spPr>
          <a:xfrm>
            <a:off x="4839295" y="2212925"/>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55A49C"/>
                </a:solidFill>
                <a:latin typeface="Calibri" pitchFamily="34" charset="0"/>
                <a:ea typeface="Calibri" pitchFamily="34" charset="-122"/>
                <a:cs typeface="Calibri" pitchFamily="34" charset="-120"/>
              </a:rPr>
              <a:t>—</a:t>
            </a:r>
            <a:endParaRPr lang="en-US" sz="1010" dirty="0"/>
          </a:p>
        </p:txBody>
      </p:sp>
      <p:sp>
        <p:nvSpPr>
          <p:cNvPr id="30" name="Text 26"/>
          <p:cNvSpPr/>
          <p:nvPr/>
        </p:nvSpPr>
        <p:spPr>
          <a:xfrm>
            <a:off x="5038427" y="2205335"/>
            <a:ext cx="3269635"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Routine and emergency contact procedures specific to the clinic.</a:t>
            </a:r>
            <a:endParaRPr lang="en-US" sz="820" dirty="0"/>
          </a:p>
        </p:txBody>
      </p:sp>
      <p:sp>
        <p:nvSpPr>
          <p:cNvPr id="31" name="Text 27"/>
          <p:cNvSpPr/>
          <p:nvPr/>
        </p:nvSpPr>
        <p:spPr>
          <a:xfrm>
            <a:off x="4839295" y="2485132"/>
            <a:ext cx="140955" cy="185886"/>
          </a:xfrm>
          <a:prstGeom prst="rect">
            <a:avLst/>
          </a:prstGeom>
          <a:noFill/>
          <a:ln/>
        </p:spPr>
        <p:txBody>
          <a:bodyPr wrap="none" lIns="0" tIns="0" rIns="0" bIns="0" rtlCol="0" anchor="ctr"/>
          <a:lstStyle/>
          <a:p>
            <a:pPr marL="0" indent="0" algn="l">
              <a:lnSpc>
                <a:spcPts val="1465"/>
              </a:lnSpc>
              <a:buNone/>
            </a:pPr>
            <a:r>
              <a:rPr lang="en-US" sz="1010" b="1" dirty="0">
                <a:solidFill>
                  <a:srgbClr val="55A49C"/>
                </a:solidFill>
                <a:latin typeface="Calibri" pitchFamily="34" charset="0"/>
                <a:ea typeface="Calibri" pitchFamily="34" charset="-122"/>
                <a:cs typeface="Calibri" pitchFamily="34" charset="-120"/>
              </a:rPr>
              <a:t>—</a:t>
            </a:r>
            <a:endParaRPr lang="en-US" sz="1010" dirty="0"/>
          </a:p>
        </p:txBody>
      </p:sp>
      <p:sp>
        <p:nvSpPr>
          <p:cNvPr id="32" name="Text 28"/>
          <p:cNvSpPr/>
          <p:nvPr/>
        </p:nvSpPr>
        <p:spPr>
          <a:xfrm>
            <a:off x="5038427" y="2477542"/>
            <a:ext cx="3609308" cy="317227"/>
          </a:xfrm>
          <a:prstGeom prst="rect">
            <a:avLst/>
          </a:prstGeom>
          <a:noFill/>
          <a:ln/>
        </p:spPr>
        <p:txBody>
          <a:bodyPr wrap="squar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Photo ID verification at initial session if provider has not seen client face to face.</a:t>
            </a:r>
            <a:endParaRPr lang="en-US" sz="820" dirty="0"/>
          </a:p>
        </p:txBody>
      </p:sp>
      <p:sp>
        <p:nvSpPr>
          <p:cNvPr id="33" name="Text 29"/>
          <p:cNvSpPr/>
          <p:nvPr/>
        </p:nvSpPr>
        <p:spPr>
          <a:xfrm>
            <a:off x="0" y="4493121"/>
            <a:ext cx="9144000" cy="326975"/>
          </a:xfrm>
          <a:prstGeom prst="rect">
            <a:avLst/>
          </a:prstGeom>
          <a:solidFill>
            <a:srgbClr val="EAF4F4"/>
          </a:solidFill>
          <a:ln/>
        </p:spPr>
        <p:txBody>
          <a:bodyPr wrap="square" rtlCol="0" anchor="t"/>
          <a:lstStyle/>
          <a:p>
            <a:pPr marL="0" indent="0">
              <a:buNone/>
            </a:pPr>
            <a:endParaRPr lang="en-US" dirty="0"/>
          </a:p>
        </p:txBody>
      </p:sp>
      <p:sp>
        <p:nvSpPr>
          <p:cNvPr id="34" name="Text 30"/>
          <p:cNvSpPr/>
          <p:nvPr/>
        </p:nvSpPr>
        <p:spPr>
          <a:xfrm>
            <a:off x="0" y="4493121"/>
            <a:ext cx="9144000" cy="19050"/>
          </a:xfrm>
          <a:prstGeom prst="rect">
            <a:avLst/>
          </a:prstGeom>
          <a:solidFill>
            <a:srgbClr val="A8D5D1"/>
          </a:solidFill>
          <a:ln/>
        </p:spPr>
        <p:txBody>
          <a:bodyPr wrap="none" rtlCol="0" anchor="t"/>
          <a:lstStyle/>
          <a:p>
            <a:pPr marL="0" indent="0">
              <a:buNone/>
            </a:pPr>
            <a:endParaRPr lang="en-US" dirty="0"/>
          </a:p>
        </p:txBody>
      </p:sp>
      <p:pic>
        <p:nvPicPr>
          <p:cNvPr id="3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0050" y="4590901"/>
            <a:ext cx="150465" cy="150465"/>
          </a:xfrm>
          <a:prstGeom prst="rect">
            <a:avLst/>
          </a:prstGeom>
        </p:spPr>
      </p:pic>
      <p:sp>
        <p:nvSpPr>
          <p:cNvPr id="36" name="Text 31"/>
          <p:cNvSpPr/>
          <p:nvPr/>
        </p:nvSpPr>
        <p:spPr>
          <a:xfrm>
            <a:off x="650825" y="4593134"/>
            <a:ext cx="8047866" cy="145852"/>
          </a:xfrm>
          <a:prstGeom prst="rect">
            <a:avLst/>
          </a:prstGeom>
          <a:noFill/>
          <a:ln/>
        </p:spPr>
        <p:txBody>
          <a:bodyPr wrap="none" lIns="0" tIns="0" rIns="0" bIns="0" rtlCol="0" anchor="ctr"/>
          <a:lstStyle/>
          <a:p>
            <a:pPr marL="0" indent="0" algn="l">
              <a:lnSpc>
                <a:spcPts val="1148"/>
              </a:lnSpc>
              <a:buNone/>
            </a:pPr>
            <a:r>
              <a:rPr lang="en-US" sz="820" b="1" dirty="0">
                <a:solidFill>
                  <a:srgbClr val="1B5E72"/>
                </a:solidFill>
                <a:latin typeface="Calibri" pitchFamily="34" charset="0"/>
                <a:ea typeface="Calibri" pitchFamily="34" charset="-122"/>
                <a:cs typeface="Calibri" pitchFamily="34" charset="-120"/>
              </a:rPr>
              <a:t>All staff — including support staff, THL/CM, therapists, and med providers — must attest to reviewing the telehealth SOP and clinic general policies.</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7747"/>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400050" y="143470"/>
            <a:ext cx="8927973" cy="240655"/>
          </a:xfrm>
          <a:prstGeom prst="rect">
            <a:avLst/>
          </a:prstGeom>
          <a:noFill/>
          <a:ln/>
        </p:spPr>
        <p:txBody>
          <a:bodyPr wrap="none" lIns="0" tIns="0" rIns="0" bIns="0" rtlCol="0" anchor="t"/>
          <a:lstStyle/>
          <a:p>
            <a:pPr marL="0" indent="0" algn="l">
              <a:lnSpc>
                <a:spcPts val="1896"/>
              </a:lnSpc>
              <a:buNone/>
            </a:pPr>
            <a:r>
              <a:rPr lang="en-US" sz="1580" b="1" kern="0" spc="16" dirty="0">
                <a:solidFill>
                  <a:srgbClr val="FFFFFF"/>
                </a:solidFill>
                <a:latin typeface="Calibri Light" pitchFamily="34" charset="0"/>
                <a:ea typeface="Calibri Light" pitchFamily="34" charset="-122"/>
                <a:cs typeface="Calibri Light" pitchFamily="34" charset="-120"/>
              </a:rPr>
              <a:t>Documentation — Initial Telehealth Session</a:t>
            </a:r>
            <a:endParaRPr lang="en-US" sz="1580" dirty="0"/>
          </a:p>
        </p:txBody>
      </p:sp>
      <p:sp>
        <p:nvSpPr>
          <p:cNvPr id="4" name="Text 2"/>
          <p:cNvSpPr/>
          <p:nvPr/>
        </p:nvSpPr>
        <p:spPr>
          <a:xfrm>
            <a:off x="400050" y="441275"/>
            <a:ext cx="3844909" cy="218331"/>
          </a:xfrm>
          <a:prstGeom prst="rect">
            <a:avLst/>
          </a:prstGeom>
          <a:solidFill>
            <a:srgbClr val="55A49C">
              <a:alpha val="18000"/>
            </a:srgbClr>
          </a:solidFill>
          <a:ln/>
        </p:spPr>
        <p:txBody>
          <a:bodyPr wrap="none" lIns="86360" tIns="29210" rIns="86360" bIns="29210" rtlCol="0" anchor="t"/>
          <a:lstStyle/>
          <a:p>
            <a:pPr marL="0" indent="0" algn="l">
              <a:buNone/>
            </a:pPr>
            <a:r>
              <a:rPr lang="en-US" sz="840" dirty="0">
                <a:solidFill>
                  <a:srgbClr val="55A49C"/>
                </a:solidFill>
                <a:latin typeface="Calibri" pitchFamily="34" charset="0"/>
                <a:ea typeface="Calibri" pitchFamily="34" charset="-122"/>
                <a:cs typeface="Calibri" pitchFamily="34" charset="-120"/>
              </a:rPr>
              <a:t>Every telehealth encounter must be documented as such in Avatar — in full.</a:t>
            </a:r>
            <a:endParaRPr lang="en-US" sz="840" dirty="0"/>
          </a:p>
        </p:txBody>
      </p:sp>
      <p:sp>
        <p:nvSpPr>
          <p:cNvPr id="5" name="Text 3"/>
          <p:cNvSpPr/>
          <p:nvPr/>
        </p:nvSpPr>
        <p:spPr>
          <a:xfrm>
            <a:off x="400050" y="441275"/>
            <a:ext cx="19050" cy="218331"/>
          </a:xfrm>
          <a:prstGeom prst="rect">
            <a:avLst/>
          </a:prstGeom>
          <a:solidFill>
            <a:srgbClr val="55A49C"/>
          </a:solidFill>
          <a:ln/>
        </p:spPr>
        <p:txBody>
          <a:bodyPr wrap="none" rtlCol="0" anchor="t"/>
          <a:lstStyle/>
          <a:p>
            <a:pPr marL="0" indent="0">
              <a:buNone/>
            </a:pPr>
            <a:endParaRPr lang="en-US" dirty="0"/>
          </a:p>
        </p:txBody>
      </p:sp>
      <p:sp>
        <p:nvSpPr>
          <p:cNvPr id="6" name="Text 4"/>
          <p:cNvSpPr/>
          <p:nvPr/>
        </p:nvSpPr>
        <p:spPr>
          <a:xfrm>
            <a:off x="2100560" y="1220688"/>
            <a:ext cx="699790" cy="21580"/>
          </a:xfrm>
          <a:prstGeom prst="rect">
            <a:avLst/>
          </a:prstGeom>
          <a:solidFill>
            <a:srgbClr val="FAB753"/>
          </a:solidFill>
          <a:ln/>
        </p:spPr>
        <p:txBody>
          <a:bodyPr wrap="none" rtlCol="0" anchor="t"/>
          <a:lstStyle/>
          <a:p>
            <a:pPr marL="0" indent="0">
              <a:buNone/>
            </a:pPr>
            <a:endParaRPr lang="en-US" dirty="0"/>
          </a:p>
        </p:txBody>
      </p:sp>
      <p:sp>
        <p:nvSpPr>
          <p:cNvPr id="7" name="Text 5"/>
          <p:cNvSpPr/>
          <p:nvPr/>
        </p:nvSpPr>
        <p:spPr>
          <a:xfrm>
            <a:off x="1128415" y="1517898"/>
            <a:ext cx="1572220" cy="1080790"/>
          </a:xfrm>
          <a:prstGeom prst="roundRect">
            <a:avLst>
              <a:gd name="adj" fmla="val 5288"/>
            </a:avLst>
          </a:prstGeom>
          <a:solidFill>
            <a:srgbClr val="EAF4F4"/>
          </a:solidFill>
          <a:ln/>
        </p:spPr>
        <p:txBody>
          <a:bodyPr wrap="square" rtlCol="0" anchor="t"/>
          <a:lstStyle/>
          <a:p>
            <a:pPr marL="0" indent="0">
              <a:buNone/>
            </a:pPr>
            <a:endParaRPr lang="en-US" dirty="0"/>
          </a:p>
        </p:txBody>
      </p:sp>
      <p:sp>
        <p:nvSpPr>
          <p:cNvPr id="8" name="Text 6"/>
          <p:cNvSpPr/>
          <p:nvPr/>
        </p:nvSpPr>
        <p:spPr>
          <a:xfrm>
            <a:off x="1128415" y="1517898"/>
            <a:ext cx="1572220" cy="19050"/>
          </a:xfrm>
          <a:custGeom>
            <a:avLst/>
            <a:gdLst/>
            <a:ahLst/>
            <a:cxnLst/>
            <a:rect l="l" t="t" r="r" b="b"/>
            <a:pathLst>
              <a:path w="157222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57667" y="19050"/>
                </a:lnTo>
                <a:lnTo>
                  <a:pt x="1555411" y="16669"/>
                </a:lnTo>
                <a:lnTo>
                  <a:pt x="1552871" y="14288"/>
                </a:lnTo>
                <a:lnTo>
                  <a:pt x="1549986" y="11906"/>
                </a:lnTo>
                <a:lnTo>
                  <a:pt x="1546661" y="9525"/>
                </a:lnTo>
                <a:lnTo>
                  <a:pt x="1542738" y="7144"/>
                </a:lnTo>
                <a:lnTo>
                  <a:pt x="1537910" y="4763"/>
                </a:lnTo>
                <a:lnTo>
                  <a:pt x="1531395" y="2381"/>
                </a:lnTo>
                <a:lnTo>
                  <a:pt x="1515070" y="0"/>
                </a:lnTo>
                <a:close/>
              </a:path>
            </a:pathLst>
          </a:custGeom>
          <a:solidFill>
            <a:srgbClr val="FAB753"/>
          </a:solidFill>
          <a:ln/>
        </p:spPr>
        <p:txBody>
          <a:bodyPr wrap="none" rtlCol="0" anchor="t"/>
          <a:lstStyle/>
          <a:p>
            <a:pPr marL="0" indent="0">
              <a:buNone/>
            </a:pPr>
            <a:endParaRPr lang="en-US"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9272" y="1667330"/>
            <a:ext cx="132588" cy="132588"/>
          </a:xfrm>
          <a:prstGeom prst="rect">
            <a:avLst/>
          </a:prstGeom>
        </p:spPr>
      </p:pic>
      <p:sp>
        <p:nvSpPr>
          <p:cNvPr id="10" name="Text 7"/>
          <p:cNvSpPr/>
          <p:nvPr/>
        </p:nvSpPr>
        <p:spPr>
          <a:xfrm>
            <a:off x="1431727" y="1665089"/>
            <a:ext cx="843439" cy="137071"/>
          </a:xfrm>
          <a:prstGeom prst="rect">
            <a:avLst/>
          </a:prstGeom>
          <a:noFill/>
          <a:ln/>
        </p:spPr>
        <p:txBody>
          <a:bodyPr wrap="none" lIns="0" tIns="0" rIns="0" bIns="0" rtlCol="0" anchor="ctr"/>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Verify Identity</a:t>
            </a:r>
            <a:endParaRPr lang="en-US" sz="900" dirty="0"/>
          </a:p>
        </p:txBody>
      </p:sp>
      <p:sp>
        <p:nvSpPr>
          <p:cNvPr id="11" name="Text 8"/>
          <p:cNvSpPr/>
          <p:nvPr/>
        </p:nvSpPr>
        <p:spPr>
          <a:xfrm>
            <a:off x="1256556" y="1859310"/>
            <a:ext cx="1342257" cy="656332"/>
          </a:xfrm>
          <a:prstGeom prst="rect">
            <a:avLst/>
          </a:prstGeom>
          <a:noFill/>
          <a:ln/>
        </p:spPr>
        <p:txBody>
          <a:bodyPr wrap="square" lIns="0" tIns="0" rIns="0" bIns="0" rtlCol="0" anchor="t"/>
          <a:lstStyle/>
          <a:p>
            <a:pPr marL="0" indent="0" algn="l">
              <a:lnSpc>
                <a:spcPts val="1230"/>
              </a:lnSpc>
              <a:spcBef>
                <a:spcPts val="340"/>
              </a:spcBef>
              <a:buNone/>
            </a:pPr>
            <a:r>
              <a:rPr lang="en-US" sz="820" dirty="0">
                <a:solidFill>
                  <a:srgbClr val="444444"/>
                </a:solidFill>
                <a:latin typeface="Calibri" pitchFamily="34" charset="0"/>
                <a:ea typeface="Calibri" pitchFamily="34" charset="-122"/>
                <a:cs typeface="Calibri" pitchFamily="34" charset="-120"/>
              </a:rPr>
              <a:t>Request photo ID at the initial telehealth contact if you have not seen the client face to face prior to the visit.</a:t>
            </a:r>
            <a:endParaRPr lang="en-US" sz="820" dirty="0"/>
          </a:p>
        </p:txBody>
      </p:sp>
      <p:sp>
        <p:nvSpPr>
          <p:cNvPr id="12" name="Text 9"/>
          <p:cNvSpPr/>
          <p:nvPr/>
        </p:nvSpPr>
        <p:spPr>
          <a:xfrm>
            <a:off x="2800350" y="1220688"/>
            <a:ext cx="699790" cy="21580"/>
          </a:xfrm>
          <a:prstGeom prst="rect">
            <a:avLst/>
          </a:prstGeom>
          <a:solidFill>
            <a:srgbClr val="FAB753"/>
          </a:solidFill>
          <a:ln/>
        </p:spPr>
        <p:txBody>
          <a:bodyPr wrap="none" rtlCol="0" anchor="t"/>
          <a:lstStyle/>
          <a:p>
            <a:pPr marL="0" indent="0">
              <a:buNone/>
            </a:pPr>
            <a:endParaRPr lang="en-US" dirty="0"/>
          </a:p>
        </p:txBody>
      </p:sp>
      <p:sp>
        <p:nvSpPr>
          <p:cNvPr id="13" name="Text 10"/>
          <p:cNvSpPr/>
          <p:nvPr/>
        </p:nvSpPr>
        <p:spPr>
          <a:xfrm>
            <a:off x="3872210" y="1220688"/>
            <a:ext cx="699790" cy="21580"/>
          </a:xfrm>
          <a:prstGeom prst="rect">
            <a:avLst/>
          </a:prstGeom>
          <a:solidFill>
            <a:srgbClr val="FAB753"/>
          </a:solidFill>
          <a:ln/>
        </p:spPr>
        <p:txBody>
          <a:bodyPr wrap="none" rtlCol="0" anchor="t"/>
          <a:lstStyle/>
          <a:p>
            <a:pPr marL="0" indent="0">
              <a:buNone/>
            </a:pPr>
            <a:endParaRPr lang="en-US" dirty="0"/>
          </a:p>
        </p:txBody>
      </p:sp>
      <p:sp>
        <p:nvSpPr>
          <p:cNvPr id="14" name="Text 11"/>
          <p:cNvSpPr/>
          <p:nvPr/>
        </p:nvSpPr>
        <p:spPr>
          <a:xfrm>
            <a:off x="2900065" y="1517898"/>
            <a:ext cx="1572220" cy="1530400"/>
          </a:xfrm>
          <a:prstGeom prst="roundRect">
            <a:avLst>
              <a:gd name="adj" fmla="val 3734"/>
            </a:avLst>
          </a:prstGeom>
          <a:solidFill>
            <a:srgbClr val="EAF4F4"/>
          </a:solidFill>
          <a:ln/>
        </p:spPr>
        <p:txBody>
          <a:bodyPr wrap="square" rtlCol="0" anchor="t"/>
          <a:lstStyle/>
          <a:p>
            <a:pPr marL="0" indent="0">
              <a:buNone/>
            </a:pPr>
            <a:endParaRPr lang="en-US" dirty="0"/>
          </a:p>
        </p:txBody>
      </p:sp>
      <p:sp>
        <p:nvSpPr>
          <p:cNvPr id="15" name="Text 12"/>
          <p:cNvSpPr/>
          <p:nvPr/>
        </p:nvSpPr>
        <p:spPr>
          <a:xfrm>
            <a:off x="2900065" y="1517898"/>
            <a:ext cx="1572220" cy="19050"/>
          </a:xfrm>
          <a:custGeom>
            <a:avLst/>
            <a:gdLst/>
            <a:ahLst/>
            <a:cxnLst/>
            <a:rect l="l" t="t" r="r" b="b"/>
            <a:pathLst>
              <a:path w="157222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57667" y="19050"/>
                </a:lnTo>
                <a:lnTo>
                  <a:pt x="1555411" y="16669"/>
                </a:lnTo>
                <a:lnTo>
                  <a:pt x="1552871" y="14288"/>
                </a:lnTo>
                <a:lnTo>
                  <a:pt x="1549986" y="11906"/>
                </a:lnTo>
                <a:lnTo>
                  <a:pt x="1546661" y="9525"/>
                </a:lnTo>
                <a:lnTo>
                  <a:pt x="1542738" y="7144"/>
                </a:lnTo>
                <a:lnTo>
                  <a:pt x="1537910" y="4763"/>
                </a:lnTo>
                <a:lnTo>
                  <a:pt x="1531395" y="2381"/>
                </a:lnTo>
                <a:lnTo>
                  <a:pt x="1515070" y="0"/>
                </a:lnTo>
                <a:close/>
              </a:path>
            </a:pathLst>
          </a:custGeom>
          <a:solidFill>
            <a:srgbClr val="FAB753"/>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0161" y="1735791"/>
            <a:ext cx="132588" cy="132588"/>
          </a:xfrm>
          <a:prstGeom prst="rect">
            <a:avLst/>
          </a:prstGeom>
        </p:spPr>
      </p:pic>
      <p:sp>
        <p:nvSpPr>
          <p:cNvPr id="17" name="Text 13"/>
          <p:cNvSpPr/>
          <p:nvPr/>
        </p:nvSpPr>
        <p:spPr>
          <a:xfrm>
            <a:off x="3161854" y="1665089"/>
            <a:ext cx="1205936" cy="287848"/>
          </a:xfrm>
          <a:prstGeom prst="rect">
            <a:avLst/>
          </a:prstGeom>
          <a:noFill/>
          <a:ln/>
        </p:spPr>
        <p:txBody>
          <a:bodyPr wrap="square" lIns="0" tIns="0" rIns="0" bIns="0" rtlCol="0" anchor="ctr"/>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Document Telehealth Discussion</a:t>
            </a:r>
            <a:endParaRPr lang="en-US" sz="900" dirty="0"/>
          </a:p>
        </p:txBody>
      </p:sp>
      <p:sp>
        <p:nvSpPr>
          <p:cNvPr id="18" name="Text 14"/>
          <p:cNvSpPr/>
          <p:nvPr/>
        </p:nvSpPr>
        <p:spPr>
          <a:xfrm>
            <a:off x="3028206" y="1996380"/>
            <a:ext cx="1342257" cy="984498"/>
          </a:xfrm>
          <a:prstGeom prst="rect">
            <a:avLst/>
          </a:prstGeom>
          <a:noFill/>
          <a:ln/>
        </p:spPr>
        <p:txBody>
          <a:bodyPr wrap="square" lIns="0" tIns="0" rIns="0" bIns="0" rtlCol="0" anchor="t"/>
          <a:lstStyle/>
          <a:p>
            <a:pPr marL="0" indent="0" algn="l">
              <a:lnSpc>
                <a:spcPts val="1230"/>
              </a:lnSpc>
              <a:spcBef>
                <a:spcPts val="340"/>
              </a:spcBef>
              <a:buNone/>
            </a:pPr>
            <a:r>
              <a:rPr lang="en-US" sz="820" dirty="0">
                <a:solidFill>
                  <a:srgbClr val="444444"/>
                </a:solidFill>
                <a:latin typeface="Calibri" pitchFamily="34" charset="0"/>
                <a:ea typeface="Calibri" pitchFamily="34" charset="-122"/>
                <a:cs typeface="Calibri" pitchFamily="34" charset="-120"/>
              </a:rPr>
              <a:t>Record that you discussed the use, risks and benefits of telehealth, as well as safety, emergency contact procedures, and limits of confidentiality.</a:t>
            </a:r>
            <a:endParaRPr lang="en-US" sz="820" dirty="0"/>
          </a:p>
        </p:txBody>
      </p:sp>
      <p:sp>
        <p:nvSpPr>
          <p:cNvPr id="19" name="Text 15"/>
          <p:cNvSpPr/>
          <p:nvPr/>
        </p:nvSpPr>
        <p:spPr>
          <a:xfrm>
            <a:off x="4572000" y="1220688"/>
            <a:ext cx="699790" cy="21580"/>
          </a:xfrm>
          <a:prstGeom prst="rect">
            <a:avLst/>
          </a:prstGeom>
          <a:solidFill>
            <a:srgbClr val="FAB753"/>
          </a:solidFill>
          <a:ln/>
        </p:spPr>
        <p:txBody>
          <a:bodyPr wrap="none" rtlCol="0" anchor="t"/>
          <a:lstStyle/>
          <a:p>
            <a:pPr marL="0" indent="0">
              <a:buNone/>
            </a:pPr>
            <a:endParaRPr lang="en-US" dirty="0"/>
          </a:p>
        </p:txBody>
      </p:sp>
      <p:sp>
        <p:nvSpPr>
          <p:cNvPr id="20" name="Text 16"/>
          <p:cNvSpPr/>
          <p:nvPr/>
        </p:nvSpPr>
        <p:spPr>
          <a:xfrm>
            <a:off x="5643860" y="1220688"/>
            <a:ext cx="699790" cy="21580"/>
          </a:xfrm>
          <a:prstGeom prst="rect">
            <a:avLst/>
          </a:prstGeom>
          <a:solidFill>
            <a:srgbClr val="FAB753"/>
          </a:solidFill>
          <a:ln/>
        </p:spPr>
        <p:txBody>
          <a:bodyPr wrap="none" rtlCol="0" anchor="t"/>
          <a:lstStyle/>
          <a:p>
            <a:pPr marL="0" indent="0">
              <a:buNone/>
            </a:pPr>
            <a:endParaRPr lang="en-US" dirty="0"/>
          </a:p>
        </p:txBody>
      </p:sp>
      <p:sp>
        <p:nvSpPr>
          <p:cNvPr id="21" name="Text 17"/>
          <p:cNvSpPr/>
          <p:nvPr/>
        </p:nvSpPr>
        <p:spPr>
          <a:xfrm>
            <a:off x="4671715" y="1517898"/>
            <a:ext cx="1572220" cy="1061591"/>
          </a:xfrm>
          <a:prstGeom prst="roundRect">
            <a:avLst>
              <a:gd name="adj" fmla="val 5383"/>
            </a:avLst>
          </a:prstGeom>
          <a:solidFill>
            <a:srgbClr val="EAF4F4"/>
          </a:solidFill>
          <a:ln/>
        </p:spPr>
        <p:txBody>
          <a:bodyPr wrap="square" rtlCol="0" anchor="t"/>
          <a:lstStyle/>
          <a:p>
            <a:pPr marL="0" indent="0">
              <a:buNone/>
            </a:pPr>
            <a:endParaRPr lang="en-US" dirty="0"/>
          </a:p>
        </p:txBody>
      </p:sp>
      <p:sp>
        <p:nvSpPr>
          <p:cNvPr id="22" name="Text 18"/>
          <p:cNvSpPr/>
          <p:nvPr/>
        </p:nvSpPr>
        <p:spPr>
          <a:xfrm>
            <a:off x="4671715" y="1517898"/>
            <a:ext cx="1572220" cy="19050"/>
          </a:xfrm>
          <a:custGeom>
            <a:avLst/>
            <a:gdLst/>
            <a:ahLst/>
            <a:cxnLst/>
            <a:rect l="l" t="t" r="r" b="b"/>
            <a:pathLst>
              <a:path w="157222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57667" y="19050"/>
                </a:lnTo>
                <a:lnTo>
                  <a:pt x="1555411" y="16669"/>
                </a:lnTo>
                <a:lnTo>
                  <a:pt x="1552871" y="14288"/>
                </a:lnTo>
                <a:lnTo>
                  <a:pt x="1549986" y="11906"/>
                </a:lnTo>
                <a:lnTo>
                  <a:pt x="1546661" y="9525"/>
                </a:lnTo>
                <a:lnTo>
                  <a:pt x="1542738" y="7144"/>
                </a:lnTo>
                <a:lnTo>
                  <a:pt x="1537910" y="4763"/>
                </a:lnTo>
                <a:lnTo>
                  <a:pt x="1531395" y="2381"/>
                </a:lnTo>
                <a:lnTo>
                  <a:pt x="1515070" y="0"/>
                </a:lnTo>
                <a:close/>
              </a:path>
            </a:pathLst>
          </a:custGeom>
          <a:solidFill>
            <a:srgbClr val="FAB753"/>
          </a:solidFill>
          <a:ln/>
        </p:spPr>
        <p:txBody>
          <a:bodyPr wrap="none" rtlCol="0" anchor="t"/>
          <a:lstStyle/>
          <a:p>
            <a:pPr marL="0" indent="0">
              <a:buNone/>
            </a:pPr>
            <a:endParaRPr lang="en-US"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81708" y="1735791"/>
            <a:ext cx="132588" cy="132588"/>
          </a:xfrm>
          <a:prstGeom prst="rect">
            <a:avLst/>
          </a:prstGeom>
        </p:spPr>
      </p:pic>
      <p:sp>
        <p:nvSpPr>
          <p:cNvPr id="24" name="Text 19"/>
          <p:cNvSpPr/>
          <p:nvPr/>
        </p:nvSpPr>
        <p:spPr>
          <a:xfrm>
            <a:off x="4953298" y="1665089"/>
            <a:ext cx="1185746" cy="287848"/>
          </a:xfrm>
          <a:prstGeom prst="rect">
            <a:avLst/>
          </a:prstGeom>
          <a:noFill/>
          <a:ln/>
        </p:spPr>
        <p:txBody>
          <a:bodyPr wrap="square" lIns="0" tIns="0" rIns="0" bIns="0" rtlCol="0" anchor="ctr"/>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Record Provider Location</a:t>
            </a:r>
            <a:endParaRPr lang="en-US" sz="900" dirty="0"/>
          </a:p>
        </p:txBody>
      </p:sp>
      <p:sp>
        <p:nvSpPr>
          <p:cNvPr id="25" name="Text 20"/>
          <p:cNvSpPr/>
          <p:nvPr/>
        </p:nvSpPr>
        <p:spPr>
          <a:xfrm>
            <a:off x="4799856" y="1996380"/>
            <a:ext cx="1342257" cy="492249"/>
          </a:xfrm>
          <a:prstGeom prst="rect">
            <a:avLst/>
          </a:prstGeom>
          <a:noFill/>
          <a:ln/>
        </p:spPr>
        <p:txBody>
          <a:bodyPr wrap="square" lIns="0" tIns="0" rIns="0" bIns="0" rtlCol="0" anchor="t"/>
          <a:lstStyle/>
          <a:p>
            <a:pPr marL="0" indent="0" algn="l">
              <a:lnSpc>
                <a:spcPts val="1230"/>
              </a:lnSpc>
              <a:spcBef>
                <a:spcPts val="340"/>
              </a:spcBef>
              <a:buNone/>
            </a:pPr>
            <a:r>
              <a:rPr lang="en-US" sz="820" dirty="0">
                <a:solidFill>
                  <a:srgbClr val="444444"/>
                </a:solidFill>
                <a:latin typeface="Calibri" pitchFamily="34" charset="0"/>
                <a:ea typeface="Calibri" pitchFamily="34" charset="-122"/>
                <a:cs typeface="Calibri" pitchFamily="34" charset="-120"/>
              </a:rPr>
              <a:t>Document your location in Avatar for every telehealth session.</a:t>
            </a:r>
            <a:endParaRPr lang="en-US" sz="820" dirty="0"/>
          </a:p>
        </p:txBody>
      </p:sp>
      <p:sp>
        <p:nvSpPr>
          <p:cNvPr id="26" name="Text 21"/>
          <p:cNvSpPr/>
          <p:nvPr/>
        </p:nvSpPr>
        <p:spPr>
          <a:xfrm>
            <a:off x="6343650" y="1220688"/>
            <a:ext cx="699790" cy="21580"/>
          </a:xfrm>
          <a:prstGeom prst="rect">
            <a:avLst/>
          </a:prstGeom>
          <a:solidFill>
            <a:srgbClr val="FAB753"/>
          </a:solidFill>
          <a:ln/>
        </p:spPr>
        <p:txBody>
          <a:bodyPr wrap="none" rtlCol="0" anchor="t"/>
          <a:lstStyle/>
          <a:p>
            <a:pPr marL="0" indent="0">
              <a:buNone/>
            </a:pPr>
            <a:endParaRPr lang="en-US" dirty="0"/>
          </a:p>
        </p:txBody>
      </p:sp>
      <p:sp>
        <p:nvSpPr>
          <p:cNvPr id="27" name="Text 22"/>
          <p:cNvSpPr/>
          <p:nvPr/>
        </p:nvSpPr>
        <p:spPr>
          <a:xfrm>
            <a:off x="6443365" y="1517898"/>
            <a:ext cx="1572220" cy="1217861"/>
          </a:xfrm>
          <a:prstGeom prst="roundRect">
            <a:avLst>
              <a:gd name="adj" fmla="val 4693"/>
            </a:avLst>
          </a:prstGeom>
          <a:solidFill>
            <a:srgbClr val="EAF4F4"/>
          </a:solidFill>
          <a:ln/>
        </p:spPr>
        <p:txBody>
          <a:bodyPr wrap="square" rtlCol="0" anchor="t"/>
          <a:lstStyle/>
          <a:p>
            <a:pPr marL="0" indent="0">
              <a:buNone/>
            </a:pPr>
            <a:endParaRPr lang="en-US" dirty="0"/>
          </a:p>
        </p:txBody>
      </p:sp>
      <p:sp>
        <p:nvSpPr>
          <p:cNvPr id="28" name="Text 23"/>
          <p:cNvSpPr/>
          <p:nvPr/>
        </p:nvSpPr>
        <p:spPr>
          <a:xfrm>
            <a:off x="6443365" y="1517898"/>
            <a:ext cx="1572220" cy="19050"/>
          </a:xfrm>
          <a:custGeom>
            <a:avLst/>
            <a:gdLst/>
            <a:ahLst/>
            <a:cxnLst/>
            <a:rect l="l" t="t" r="r" b="b"/>
            <a:pathLst>
              <a:path w="1572220" h="19050">
                <a:moveTo>
                  <a:pt x="57150" y="0"/>
                </a:moveTo>
                <a:lnTo>
                  <a:pt x="40825" y="2381"/>
                </a:lnTo>
                <a:lnTo>
                  <a:pt x="34310" y="4763"/>
                </a:lnTo>
                <a:lnTo>
                  <a:pt x="29482" y="7144"/>
                </a:lnTo>
                <a:lnTo>
                  <a:pt x="25559" y="9525"/>
                </a:lnTo>
                <a:lnTo>
                  <a:pt x="22234" y="11906"/>
                </a:lnTo>
                <a:lnTo>
                  <a:pt x="19349" y="14288"/>
                </a:lnTo>
                <a:lnTo>
                  <a:pt x="16809" y="16669"/>
                </a:lnTo>
                <a:lnTo>
                  <a:pt x="14553" y="19050"/>
                </a:lnTo>
                <a:lnTo>
                  <a:pt x="1557667" y="19050"/>
                </a:lnTo>
                <a:lnTo>
                  <a:pt x="1555411" y="16669"/>
                </a:lnTo>
                <a:lnTo>
                  <a:pt x="1552871" y="14288"/>
                </a:lnTo>
                <a:lnTo>
                  <a:pt x="1549986" y="11906"/>
                </a:lnTo>
                <a:lnTo>
                  <a:pt x="1546661" y="9525"/>
                </a:lnTo>
                <a:lnTo>
                  <a:pt x="1542738" y="7144"/>
                </a:lnTo>
                <a:lnTo>
                  <a:pt x="1537910" y="4763"/>
                </a:lnTo>
                <a:lnTo>
                  <a:pt x="1531395" y="2381"/>
                </a:lnTo>
                <a:lnTo>
                  <a:pt x="1515070" y="0"/>
                </a:lnTo>
                <a:close/>
              </a:path>
            </a:pathLst>
          </a:custGeom>
          <a:solidFill>
            <a:srgbClr val="FAB753"/>
          </a:solidFill>
          <a:ln/>
        </p:spPr>
        <p:txBody>
          <a:bodyPr wrap="none" rtlCol="0" anchor="t"/>
          <a:lstStyle/>
          <a:p>
            <a:pPr marL="0" indent="0">
              <a:buNone/>
            </a:pPr>
            <a:endParaRPr lang="en-US" dirty="0"/>
          </a:p>
        </p:txBody>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56781" y="1735791"/>
            <a:ext cx="132588" cy="132588"/>
          </a:xfrm>
          <a:prstGeom prst="rect">
            <a:avLst/>
          </a:prstGeom>
        </p:spPr>
      </p:pic>
      <p:sp>
        <p:nvSpPr>
          <p:cNvPr id="30" name="Text 24"/>
          <p:cNvSpPr/>
          <p:nvPr/>
        </p:nvSpPr>
        <p:spPr>
          <a:xfrm>
            <a:off x="6731794" y="1665089"/>
            <a:ext cx="1178763" cy="287848"/>
          </a:xfrm>
          <a:prstGeom prst="rect">
            <a:avLst/>
          </a:prstGeom>
          <a:noFill/>
          <a:ln/>
        </p:spPr>
        <p:txBody>
          <a:bodyPr wrap="square" lIns="0" tIns="0" rIns="0" bIns="0" rtlCol="0" anchor="ctr"/>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Confirm Client Location</a:t>
            </a:r>
            <a:endParaRPr lang="en-US" sz="900" dirty="0"/>
          </a:p>
        </p:txBody>
      </p:sp>
      <p:sp>
        <p:nvSpPr>
          <p:cNvPr id="31" name="Text 25"/>
          <p:cNvSpPr/>
          <p:nvPr/>
        </p:nvSpPr>
        <p:spPr>
          <a:xfrm>
            <a:off x="6571506" y="1996380"/>
            <a:ext cx="1342257" cy="656332"/>
          </a:xfrm>
          <a:prstGeom prst="rect">
            <a:avLst/>
          </a:prstGeom>
          <a:noFill/>
          <a:ln/>
        </p:spPr>
        <p:txBody>
          <a:bodyPr wrap="square" lIns="0" tIns="0" rIns="0" bIns="0" rtlCol="0" anchor="t"/>
          <a:lstStyle/>
          <a:p>
            <a:pPr marL="0" indent="0" algn="l">
              <a:lnSpc>
                <a:spcPts val="1230"/>
              </a:lnSpc>
              <a:spcBef>
                <a:spcPts val="340"/>
              </a:spcBef>
              <a:buNone/>
            </a:pPr>
            <a:r>
              <a:rPr lang="en-US" sz="820" dirty="0">
                <a:solidFill>
                  <a:srgbClr val="444444"/>
                </a:solidFill>
                <a:latin typeface="Calibri" pitchFamily="34" charset="0"/>
                <a:ea typeface="Calibri" pitchFamily="34" charset="-122"/>
                <a:cs typeface="Calibri" pitchFamily="34" charset="-120"/>
              </a:rPr>
              <a:t>Document the client's location — note specifically if they are not at their home address.</a:t>
            </a:r>
            <a:endParaRPr lang="en-US" sz="820" dirty="0"/>
          </a:p>
        </p:txBody>
      </p:sp>
      <p:sp>
        <p:nvSpPr>
          <p:cNvPr id="32" name="Text 26"/>
          <p:cNvSpPr/>
          <p:nvPr/>
        </p:nvSpPr>
        <p:spPr>
          <a:xfrm>
            <a:off x="1054298" y="3219748"/>
            <a:ext cx="1042392" cy="259110"/>
          </a:xfrm>
          <a:prstGeom prst="roundRect">
            <a:avLst>
              <a:gd name="adj" fmla="val 16665"/>
            </a:avLst>
          </a:prstGeom>
          <a:solidFill>
            <a:srgbClr val="EAF4F4"/>
          </a:solidFill>
          <a:ln/>
        </p:spPr>
        <p:txBody>
          <a:bodyPr wrap="none" rtlCol="0" anchor="t"/>
          <a:lstStyle/>
          <a:p>
            <a:pPr marL="0" indent="0">
              <a:buNone/>
            </a:pPr>
            <a:endParaRPr lang="en-US" dirty="0"/>
          </a:p>
        </p:txBody>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9008" y="3282934"/>
            <a:ext cx="132588" cy="132588"/>
          </a:xfrm>
          <a:prstGeom prst="rect">
            <a:avLst/>
          </a:prstGeom>
        </p:spPr>
      </p:pic>
      <p:sp>
        <p:nvSpPr>
          <p:cNvPr id="34" name="Text 27"/>
          <p:cNvSpPr/>
          <p:nvPr/>
        </p:nvSpPr>
        <p:spPr>
          <a:xfrm>
            <a:off x="1325314" y="3276898"/>
            <a:ext cx="707559" cy="144810"/>
          </a:xfrm>
          <a:prstGeom prst="rect">
            <a:avLst/>
          </a:prstGeom>
          <a:noFill/>
          <a:ln/>
        </p:spPr>
        <p:txBody>
          <a:bodyPr wrap="none" lIns="0" tIns="0" rIns="0" bIns="0" rtlCol="0" anchor="ctr"/>
          <a:lstStyle/>
          <a:p>
            <a:pPr marL="0" indent="0" algn="l">
              <a:lnSpc>
                <a:spcPts val="1140"/>
              </a:lnSpc>
              <a:buNone/>
            </a:pPr>
            <a:r>
              <a:rPr lang="en-US" sz="760" b="1" dirty="0">
                <a:solidFill>
                  <a:srgbClr val="1B5E72"/>
                </a:solidFill>
                <a:latin typeface="Calibri" pitchFamily="34" charset="0"/>
                <a:ea typeface="Calibri" pitchFamily="34" charset="-122"/>
                <a:cs typeface="Calibri" pitchFamily="34" charset="-120"/>
              </a:rPr>
              <a:t>ID Verification</a:t>
            </a:r>
            <a:endParaRPr lang="en-US" sz="760" dirty="0"/>
          </a:p>
        </p:txBody>
      </p:sp>
      <p:sp>
        <p:nvSpPr>
          <p:cNvPr id="35" name="Text 28"/>
          <p:cNvSpPr/>
          <p:nvPr/>
        </p:nvSpPr>
        <p:spPr>
          <a:xfrm>
            <a:off x="2325291" y="3219748"/>
            <a:ext cx="92169" cy="259110"/>
          </a:xfrm>
          <a:prstGeom prst="rect">
            <a:avLst/>
          </a:prstGeom>
          <a:noFill/>
          <a:ln/>
        </p:spPr>
        <p:txBody>
          <a:bodyPr wrap="none" lIns="0" tIns="0" rIns="0" bIns="0" rtlCol="0" anchor="ctr"/>
          <a:lstStyle/>
          <a:p>
            <a:pPr marL="0" indent="0" algn="l">
              <a:lnSpc>
                <a:spcPts val="1800"/>
              </a:lnSpc>
              <a:buNone/>
            </a:pPr>
            <a:r>
              <a:rPr lang="en-US" sz="1130" dirty="0">
                <a:solidFill>
                  <a:srgbClr val="FAB753"/>
                </a:solidFill>
                <a:latin typeface="Calibri" pitchFamily="34" charset="0"/>
                <a:ea typeface="Calibri" pitchFamily="34" charset="-122"/>
                <a:cs typeface="Calibri" pitchFamily="34" charset="-120"/>
              </a:rPr>
              <a:t>+</a:t>
            </a:r>
            <a:endParaRPr lang="en-US" sz="1200" dirty="0"/>
          </a:p>
        </p:txBody>
      </p:sp>
      <p:sp>
        <p:nvSpPr>
          <p:cNvPr id="36" name="Text 29"/>
          <p:cNvSpPr/>
          <p:nvPr/>
        </p:nvSpPr>
        <p:spPr>
          <a:xfrm>
            <a:off x="2637681" y="3219748"/>
            <a:ext cx="1326356" cy="259110"/>
          </a:xfrm>
          <a:prstGeom prst="roundRect">
            <a:avLst>
              <a:gd name="adj" fmla="val 16665"/>
            </a:avLst>
          </a:prstGeom>
          <a:solidFill>
            <a:srgbClr val="EAF4F4"/>
          </a:solidFill>
          <a:ln/>
        </p:spPr>
        <p:txBody>
          <a:bodyPr wrap="none" rtlCol="0" anchor="t"/>
          <a:lstStyle/>
          <a:p>
            <a:pPr marL="0" indent="0">
              <a:buNone/>
            </a:pPr>
            <a:endParaRPr lang="en-US" dirty="0"/>
          </a:p>
        </p:txBody>
      </p:sp>
      <p:pic>
        <p:nvPicPr>
          <p:cNvPr id="3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42390" y="3282934"/>
            <a:ext cx="132588" cy="132588"/>
          </a:xfrm>
          <a:prstGeom prst="rect">
            <a:avLst/>
          </a:prstGeom>
        </p:spPr>
      </p:pic>
      <p:sp>
        <p:nvSpPr>
          <p:cNvPr id="38" name="Text 30"/>
          <p:cNvSpPr/>
          <p:nvPr/>
        </p:nvSpPr>
        <p:spPr>
          <a:xfrm>
            <a:off x="2908697" y="3276898"/>
            <a:ext cx="1019919" cy="144810"/>
          </a:xfrm>
          <a:prstGeom prst="rect">
            <a:avLst/>
          </a:prstGeom>
          <a:noFill/>
          <a:ln/>
        </p:spPr>
        <p:txBody>
          <a:bodyPr wrap="none" lIns="0" tIns="0" rIns="0" bIns="0" rtlCol="0" anchor="ctr"/>
          <a:lstStyle/>
          <a:p>
            <a:pPr marL="0" indent="0" algn="l">
              <a:lnSpc>
                <a:spcPts val="1140"/>
              </a:lnSpc>
              <a:buNone/>
            </a:pPr>
            <a:r>
              <a:rPr lang="en-US" sz="760" b="1" dirty="0">
                <a:solidFill>
                  <a:srgbClr val="1B5E72"/>
                </a:solidFill>
                <a:latin typeface="Calibri" pitchFamily="34" charset="0"/>
                <a:ea typeface="Calibri" pitchFamily="34" charset="-122"/>
                <a:cs typeface="Calibri" pitchFamily="34" charset="-120"/>
              </a:rPr>
              <a:t>Consent Discussion</a:t>
            </a:r>
            <a:endParaRPr lang="en-US" sz="760" dirty="0"/>
          </a:p>
        </p:txBody>
      </p:sp>
      <p:sp>
        <p:nvSpPr>
          <p:cNvPr id="39" name="Text 31"/>
          <p:cNvSpPr/>
          <p:nvPr/>
        </p:nvSpPr>
        <p:spPr>
          <a:xfrm>
            <a:off x="4192637" y="3219748"/>
            <a:ext cx="92169" cy="259110"/>
          </a:xfrm>
          <a:prstGeom prst="rect">
            <a:avLst/>
          </a:prstGeom>
          <a:noFill/>
          <a:ln/>
        </p:spPr>
        <p:txBody>
          <a:bodyPr wrap="none" lIns="0" tIns="0" rIns="0" bIns="0" rtlCol="0" anchor="ctr"/>
          <a:lstStyle/>
          <a:p>
            <a:pPr marL="0" indent="0" algn="l">
              <a:lnSpc>
                <a:spcPts val="1800"/>
              </a:lnSpc>
              <a:buNone/>
            </a:pPr>
            <a:r>
              <a:rPr lang="en-US" sz="1130" dirty="0">
                <a:solidFill>
                  <a:srgbClr val="FAB753"/>
                </a:solidFill>
                <a:latin typeface="Calibri" pitchFamily="34" charset="0"/>
                <a:ea typeface="Calibri" pitchFamily="34" charset="-122"/>
                <a:cs typeface="Calibri" pitchFamily="34" charset="-120"/>
              </a:rPr>
              <a:t>+</a:t>
            </a:r>
            <a:endParaRPr lang="en-US" sz="1200" dirty="0"/>
          </a:p>
        </p:txBody>
      </p:sp>
      <p:sp>
        <p:nvSpPr>
          <p:cNvPr id="40" name="Text 32"/>
          <p:cNvSpPr/>
          <p:nvPr/>
        </p:nvSpPr>
        <p:spPr>
          <a:xfrm>
            <a:off x="4505027" y="3219748"/>
            <a:ext cx="1529655" cy="259110"/>
          </a:xfrm>
          <a:prstGeom prst="roundRect">
            <a:avLst>
              <a:gd name="adj" fmla="val 16665"/>
            </a:avLst>
          </a:prstGeom>
          <a:solidFill>
            <a:srgbClr val="EAF4F4"/>
          </a:solidFill>
          <a:ln/>
        </p:spPr>
        <p:txBody>
          <a:bodyPr wrap="none" rtlCol="0" anchor="t"/>
          <a:lstStyle/>
          <a:p>
            <a:pPr marL="0" indent="0">
              <a:buNone/>
            </a:pPr>
            <a:endParaRPr lang="en-US" dirty="0"/>
          </a:p>
        </p:txBody>
      </p:sp>
      <p:pic>
        <p:nvPicPr>
          <p:cNvPr id="4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09737" y="3282934"/>
            <a:ext cx="132588" cy="132588"/>
          </a:xfrm>
          <a:prstGeom prst="rect">
            <a:avLst/>
          </a:prstGeom>
        </p:spPr>
      </p:pic>
      <p:sp>
        <p:nvSpPr>
          <p:cNvPr id="42" name="Text 33"/>
          <p:cNvSpPr/>
          <p:nvPr/>
        </p:nvSpPr>
        <p:spPr>
          <a:xfrm>
            <a:off x="4776043" y="3276898"/>
            <a:ext cx="1243548" cy="144810"/>
          </a:xfrm>
          <a:prstGeom prst="rect">
            <a:avLst/>
          </a:prstGeom>
          <a:noFill/>
          <a:ln/>
        </p:spPr>
        <p:txBody>
          <a:bodyPr wrap="none" lIns="0" tIns="0" rIns="0" bIns="0" rtlCol="0" anchor="ctr"/>
          <a:lstStyle/>
          <a:p>
            <a:pPr marL="0" indent="0" algn="l">
              <a:lnSpc>
                <a:spcPts val="1140"/>
              </a:lnSpc>
              <a:buNone/>
            </a:pPr>
            <a:r>
              <a:rPr lang="en-US" sz="760" b="1" dirty="0">
                <a:solidFill>
                  <a:srgbClr val="1B5E72"/>
                </a:solidFill>
                <a:latin typeface="Calibri" pitchFamily="34" charset="0"/>
                <a:ea typeface="Calibri" pitchFamily="34" charset="-122"/>
                <a:cs typeface="Calibri" pitchFamily="34" charset="-120"/>
              </a:rPr>
              <a:t>Location Documentation</a:t>
            </a:r>
            <a:endParaRPr lang="en-US" sz="760" dirty="0"/>
          </a:p>
        </p:txBody>
      </p:sp>
      <p:sp>
        <p:nvSpPr>
          <p:cNvPr id="43" name="Text 34"/>
          <p:cNvSpPr/>
          <p:nvPr/>
        </p:nvSpPr>
        <p:spPr>
          <a:xfrm>
            <a:off x="6263283" y="3219748"/>
            <a:ext cx="92169" cy="259110"/>
          </a:xfrm>
          <a:prstGeom prst="rect">
            <a:avLst/>
          </a:prstGeom>
          <a:noFill/>
          <a:ln/>
        </p:spPr>
        <p:txBody>
          <a:bodyPr wrap="none" lIns="0" tIns="0" rIns="0" bIns="0" rtlCol="0" anchor="ctr"/>
          <a:lstStyle/>
          <a:p>
            <a:pPr marL="0" indent="0" algn="l">
              <a:lnSpc>
                <a:spcPts val="1800"/>
              </a:lnSpc>
              <a:buNone/>
            </a:pPr>
            <a:r>
              <a:rPr lang="en-US" sz="1130" dirty="0">
                <a:solidFill>
                  <a:srgbClr val="FAB753"/>
                </a:solidFill>
                <a:latin typeface="Calibri" pitchFamily="34" charset="0"/>
                <a:ea typeface="Calibri" pitchFamily="34" charset="-122"/>
                <a:cs typeface="Calibri" pitchFamily="34" charset="-120"/>
              </a:rPr>
              <a:t>=</a:t>
            </a:r>
            <a:endParaRPr lang="en-US" sz="1200" dirty="0"/>
          </a:p>
        </p:txBody>
      </p:sp>
      <p:sp>
        <p:nvSpPr>
          <p:cNvPr id="44" name="Text 35"/>
          <p:cNvSpPr/>
          <p:nvPr/>
        </p:nvSpPr>
        <p:spPr>
          <a:xfrm>
            <a:off x="6575673" y="3219748"/>
            <a:ext cx="1513880" cy="259110"/>
          </a:xfrm>
          <a:prstGeom prst="roundRect">
            <a:avLst>
              <a:gd name="adj" fmla="val 16665"/>
            </a:avLst>
          </a:prstGeom>
          <a:solidFill>
            <a:srgbClr val="1B5E72"/>
          </a:solidFill>
          <a:ln/>
        </p:spPr>
        <p:txBody>
          <a:bodyPr wrap="none" rtlCol="0" anchor="t"/>
          <a:lstStyle/>
          <a:p>
            <a:pPr marL="0" indent="0">
              <a:buNone/>
            </a:pPr>
            <a:endParaRPr lang="en-US" dirty="0"/>
          </a:p>
        </p:txBody>
      </p:sp>
      <p:pic>
        <p:nvPicPr>
          <p:cNvPr id="4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80383" y="3282934"/>
            <a:ext cx="132588" cy="132588"/>
          </a:xfrm>
          <a:prstGeom prst="rect">
            <a:avLst/>
          </a:prstGeom>
        </p:spPr>
      </p:pic>
      <p:sp>
        <p:nvSpPr>
          <p:cNvPr id="46" name="Text 36"/>
          <p:cNvSpPr/>
          <p:nvPr/>
        </p:nvSpPr>
        <p:spPr>
          <a:xfrm>
            <a:off x="6846689" y="3276898"/>
            <a:ext cx="1226195" cy="144810"/>
          </a:xfrm>
          <a:prstGeom prst="rect">
            <a:avLst/>
          </a:prstGeom>
          <a:noFill/>
          <a:ln/>
        </p:spPr>
        <p:txBody>
          <a:bodyPr wrap="none" lIns="0" tIns="0" rIns="0" bIns="0" rtlCol="0" anchor="ctr"/>
          <a:lstStyle/>
          <a:p>
            <a:pPr marL="0" indent="0" algn="l">
              <a:lnSpc>
                <a:spcPts val="1140"/>
              </a:lnSpc>
              <a:buNone/>
            </a:pPr>
            <a:r>
              <a:rPr lang="en-US" sz="760" b="1" dirty="0">
                <a:solidFill>
                  <a:srgbClr val="FAB753"/>
                </a:solidFill>
                <a:latin typeface="Calibri" pitchFamily="34" charset="0"/>
                <a:ea typeface="Calibri" pitchFamily="34" charset="-122"/>
                <a:cs typeface="Calibri" pitchFamily="34" charset="-120"/>
              </a:rPr>
              <a:t>Complete Initial Session</a:t>
            </a:r>
            <a:endParaRPr lang="en-US" sz="760" dirty="0"/>
          </a:p>
        </p:txBody>
      </p:sp>
      <p:sp>
        <p:nvSpPr>
          <p:cNvPr id="47" name="Text 37"/>
          <p:cNvSpPr/>
          <p:nvPr/>
        </p:nvSpPr>
        <p:spPr>
          <a:xfrm>
            <a:off x="0" y="4771430"/>
            <a:ext cx="9144000" cy="372070"/>
          </a:xfrm>
          <a:prstGeom prst="rect">
            <a:avLst/>
          </a:prstGeom>
          <a:solidFill>
            <a:srgbClr val="FAB753"/>
          </a:solidFill>
          <a:ln/>
        </p:spPr>
        <p:txBody>
          <a:bodyPr wrap="square" rtlCol="0" anchor="t"/>
          <a:lstStyle/>
          <a:p>
            <a:pPr marL="0" indent="0">
              <a:buNone/>
            </a:pPr>
            <a:endParaRPr lang="en-US" dirty="0"/>
          </a:p>
        </p:txBody>
      </p:sp>
      <p:pic>
        <p:nvPicPr>
          <p:cNvPr id="48"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87557" y="4891096"/>
            <a:ext cx="132588" cy="132588"/>
          </a:xfrm>
          <a:prstGeom prst="rect">
            <a:avLst/>
          </a:prstGeom>
        </p:spPr>
      </p:pic>
      <p:sp>
        <p:nvSpPr>
          <p:cNvPr id="49" name="Text 38"/>
          <p:cNvSpPr/>
          <p:nvPr/>
        </p:nvSpPr>
        <p:spPr>
          <a:xfrm>
            <a:off x="607963" y="4871740"/>
            <a:ext cx="6455286" cy="171450"/>
          </a:xfrm>
          <a:prstGeom prst="rect">
            <a:avLst/>
          </a:prstGeom>
          <a:noFill/>
          <a:ln/>
        </p:spPr>
        <p:txBody>
          <a:bodyPr wrap="none" lIns="0" tIns="0" rIns="0" bIns="0" rtlCol="0" anchor="ctr"/>
          <a:lstStyle/>
          <a:p>
            <a:pPr marL="0" indent="0" algn="l">
              <a:lnSpc>
                <a:spcPts val="1350"/>
              </a:lnSpc>
              <a:buNone/>
            </a:pPr>
            <a:r>
              <a:rPr lang="en-US" sz="900" b="1" dirty="0">
                <a:solidFill>
                  <a:srgbClr val="1B3A20"/>
                </a:solidFill>
                <a:latin typeface="Calibri" pitchFamily="34" charset="0"/>
                <a:ea typeface="Calibri" pitchFamily="34" charset="-122"/>
                <a:cs typeface="Calibri" pitchFamily="34" charset="-120"/>
              </a:rPr>
              <a:t>At the initial session: ID verification + consent discussion + location documentation. All three. Every time.</a:t>
            </a:r>
            <a:endParaRPr lang="en-US" sz="900" dirty="0"/>
          </a:p>
        </p:txBody>
      </p:sp>
      <p:sp>
        <p:nvSpPr>
          <p:cNvPr id="50" name="Text 39"/>
          <p:cNvSpPr/>
          <p:nvPr/>
        </p:nvSpPr>
        <p:spPr>
          <a:xfrm>
            <a:off x="1728490" y="1045518"/>
            <a:ext cx="372070" cy="409277"/>
          </a:xfrm>
          <a:prstGeom prst="ellipse">
            <a:avLst/>
          </a:prstGeom>
          <a:solidFill>
            <a:srgbClr val="1B5E72"/>
          </a:solidFill>
          <a:ln/>
          <a:effectLst>
            <a:outerShdw blurRad="57150" dist="13970" dir="5400000" algn="bl" rotWithShape="0">
              <a:srgbClr val="1B5E72">
                <a:alpha val="25000"/>
              </a:srgbClr>
            </a:outerShdw>
          </a:effectLst>
        </p:spPr>
        <p:txBody>
          <a:bodyPr wrap="none" lIns="0" tIns="0" rIns="0" bIns="0" rtlCol="0" anchor="ctr"/>
          <a:lstStyle/>
          <a:p>
            <a:pPr marL="0" indent="0" algn="ctr">
              <a:buNone/>
            </a:pPr>
            <a:r>
              <a:rPr lang="en-US" sz="1240" b="1" dirty="0">
                <a:solidFill>
                  <a:srgbClr val="FFFFFF"/>
                </a:solidFill>
                <a:latin typeface="Calibri Light" pitchFamily="34" charset="0"/>
                <a:ea typeface="Calibri Light" pitchFamily="34" charset="-122"/>
                <a:cs typeface="Calibri Light" pitchFamily="34" charset="-120"/>
              </a:rPr>
              <a:t>1</a:t>
            </a:r>
            <a:endParaRPr lang="en-US" sz="1240" dirty="0"/>
          </a:p>
        </p:txBody>
      </p:sp>
      <p:sp>
        <p:nvSpPr>
          <p:cNvPr id="51" name="Text 40"/>
          <p:cNvSpPr/>
          <p:nvPr/>
        </p:nvSpPr>
        <p:spPr>
          <a:xfrm>
            <a:off x="3500140" y="1045518"/>
            <a:ext cx="372070" cy="409277"/>
          </a:xfrm>
          <a:prstGeom prst="ellipse">
            <a:avLst/>
          </a:prstGeom>
          <a:solidFill>
            <a:srgbClr val="1B5E72"/>
          </a:solidFill>
          <a:ln/>
          <a:effectLst>
            <a:outerShdw blurRad="57150" dist="13970" dir="5400000" algn="bl" rotWithShape="0">
              <a:srgbClr val="1B5E72">
                <a:alpha val="25000"/>
              </a:srgbClr>
            </a:outerShdw>
          </a:effectLst>
        </p:spPr>
        <p:txBody>
          <a:bodyPr wrap="none" lIns="0" tIns="0" rIns="0" bIns="0" rtlCol="0" anchor="ctr"/>
          <a:lstStyle/>
          <a:p>
            <a:pPr marL="0" indent="0" algn="ctr">
              <a:buNone/>
            </a:pPr>
            <a:r>
              <a:rPr lang="en-US" sz="1240" b="1" dirty="0">
                <a:solidFill>
                  <a:srgbClr val="FFFFFF"/>
                </a:solidFill>
                <a:latin typeface="Calibri Light" pitchFamily="34" charset="0"/>
                <a:ea typeface="Calibri Light" pitchFamily="34" charset="-122"/>
                <a:cs typeface="Calibri Light" pitchFamily="34" charset="-120"/>
              </a:rPr>
              <a:t>2</a:t>
            </a:r>
            <a:endParaRPr lang="en-US" sz="1240" dirty="0"/>
          </a:p>
        </p:txBody>
      </p:sp>
      <p:sp>
        <p:nvSpPr>
          <p:cNvPr id="52" name="Text 41"/>
          <p:cNvSpPr/>
          <p:nvPr/>
        </p:nvSpPr>
        <p:spPr>
          <a:xfrm>
            <a:off x="5271790" y="1045518"/>
            <a:ext cx="372070" cy="409277"/>
          </a:xfrm>
          <a:prstGeom prst="ellipse">
            <a:avLst/>
          </a:prstGeom>
          <a:solidFill>
            <a:srgbClr val="1B5E72"/>
          </a:solidFill>
          <a:ln/>
          <a:effectLst>
            <a:outerShdw blurRad="57150" dist="13970" dir="5400000" algn="bl" rotWithShape="0">
              <a:srgbClr val="1B5E72">
                <a:alpha val="25000"/>
              </a:srgbClr>
            </a:outerShdw>
          </a:effectLst>
        </p:spPr>
        <p:txBody>
          <a:bodyPr wrap="none" lIns="0" tIns="0" rIns="0" bIns="0" rtlCol="0" anchor="ctr"/>
          <a:lstStyle/>
          <a:p>
            <a:pPr marL="0" indent="0" algn="ctr">
              <a:buNone/>
            </a:pPr>
            <a:r>
              <a:rPr lang="en-US" sz="1240" b="1" dirty="0">
                <a:solidFill>
                  <a:srgbClr val="FFFFFF"/>
                </a:solidFill>
                <a:latin typeface="Calibri Light" pitchFamily="34" charset="0"/>
                <a:ea typeface="Calibri Light" pitchFamily="34" charset="-122"/>
                <a:cs typeface="Calibri Light" pitchFamily="34" charset="-120"/>
              </a:rPr>
              <a:t>3</a:t>
            </a:r>
            <a:endParaRPr lang="en-US" sz="1240" dirty="0"/>
          </a:p>
        </p:txBody>
      </p:sp>
      <p:sp>
        <p:nvSpPr>
          <p:cNvPr id="53" name="Text 42"/>
          <p:cNvSpPr/>
          <p:nvPr/>
        </p:nvSpPr>
        <p:spPr>
          <a:xfrm>
            <a:off x="7043440" y="1045518"/>
            <a:ext cx="372070" cy="409277"/>
          </a:xfrm>
          <a:prstGeom prst="ellipse">
            <a:avLst/>
          </a:prstGeom>
          <a:solidFill>
            <a:srgbClr val="1B5E72"/>
          </a:solidFill>
          <a:ln/>
          <a:effectLst>
            <a:outerShdw blurRad="57150" dist="13970" dir="5400000" algn="bl" rotWithShape="0">
              <a:srgbClr val="1B5E72">
                <a:alpha val="25000"/>
              </a:srgbClr>
            </a:outerShdw>
          </a:effectLst>
        </p:spPr>
        <p:txBody>
          <a:bodyPr wrap="none" lIns="0" tIns="0" rIns="0" bIns="0" rtlCol="0" anchor="ctr"/>
          <a:lstStyle/>
          <a:p>
            <a:pPr marL="0" indent="0" algn="ctr">
              <a:buNone/>
            </a:pPr>
            <a:r>
              <a:rPr lang="en-US" sz="1240" b="1" dirty="0">
                <a:solidFill>
                  <a:srgbClr val="FFFFFF"/>
                </a:solidFill>
                <a:latin typeface="Calibri Light" pitchFamily="34" charset="0"/>
                <a:ea typeface="Calibri Light" pitchFamily="34" charset="-122"/>
                <a:cs typeface="Calibri Light" pitchFamily="34" charset="-120"/>
              </a:rPr>
              <a:t>4</a:t>
            </a:r>
            <a:endParaRPr lang="en-US" sz="12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372070"/>
            <a:ext cx="400050" cy="400050"/>
          </a:xfrm>
          <a:prstGeom prst="roundRect">
            <a:avLst>
              <a:gd name="adj" fmla="val 17778"/>
            </a:avLst>
          </a:prstGeom>
          <a:solidFill>
            <a:srgbClr val="FAB753">
              <a:alpha val="15000"/>
            </a:srgbClr>
          </a:solidFill>
          <a:ln/>
        </p:spPr>
        <p:txBody>
          <a:bodyPr wrap="square" rtlCol="0" anchor="t"/>
          <a:lstStyle/>
          <a:p>
            <a:pPr marL="0" indent="0">
              <a:buNone/>
            </a:pPr>
            <a:endParaRPr lang="en-US"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0468" y="496788"/>
            <a:ext cx="150465" cy="150465"/>
          </a:xfrm>
          <a:prstGeom prst="rect">
            <a:avLst/>
          </a:prstGeom>
        </p:spPr>
      </p:pic>
      <p:sp>
        <p:nvSpPr>
          <p:cNvPr id="5" name="Text 2"/>
          <p:cNvSpPr/>
          <p:nvPr/>
        </p:nvSpPr>
        <p:spPr>
          <a:xfrm>
            <a:off x="285750" y="972741"/>
            <a:ext cx="2074545"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DOCUMENTATION</a:t>
            </a:r>
            <a:endParaRPr lang="en-US" sz="620" dirty="0"/>
          </a:p>
        </p:txBody>
      </p:sp>
      <p:sp>
        <p:nvSpPr>
          <p:cNvPr id="6" name="Text 3"/>
          <p:cNvSpPr/>
          <p:nvPr/>
        </p:nvSpPr>
        <p:spPr>
          <a:xfrm>
            <a:off x="285750" y="1191071"/>
            <a:ext cx="1923669" cy="505376"/>
          </a:xfrm>
          <a:prstGeom prst="rect">
            <a:avLst/>
          </a:prstGeom>
          <a:noFill/>
          <a:ln/>
        </p:spPr>
        <p:txBody>
          <a:bodyPr wrap="square" lIns="0" tIns="0" rIns="0" bIns="0" rtlCol="0" anchor="t"/>
          <a:lstStyle/>
          <a:p>
            <a:pPr marL="0" indent="0" algn="l">
              <a:lnSpc>
                <a:spcPts val="1896"/>
              </a:lnSpc>
              <a:buNone/>
            </a:pPr>
            <a:r>
              <a:rPr lang="en-US" sz="1580" b="1" dirty="0">
                <a:solidFill>
                  <a:srgbClr val="FFFFFF"/>
                </a:solidFill>
                <a:latin typeface="Calibri Light" pitchFamily="34" charset="0"/>
                <a:ea typeface="Calibri Light" pitchFamily="34" charset="-122"/>
                <a:cs typeface="Calibri Light" pitchFamily="34" charset="-120"/>
              </a:rPr>
              <a:t>Ongoing Session Documentation</a:t>
            </a:r>
            <a:endParaRPr lang="en-US" sz="1580" dirty="0"/>
          </a:p>
        </p:txBody>
      </p:sp>
      <p:sp>
        <p:nvSpPr>
          <p:cNvPr id="7" name="Text 4"/>
          <p:cNvSpPr/>
          <p:nvPr/>
        </p:nvSpPr>
        <p:spPr>
          <a:xfrm>
            <a:off x="285750" y="1772692"/>
            <a:ext cx="1923669" cy="328166"/>
          </a:xfrm>
          <a:prstGeom prst="rect">
            <a:avLst/>
          </a:prstGeom>
          <a:noFill/>
          <a:ln/>
        </p:spPr>
        <p:txBody>
          <a:bodyPr wrap="square" lIns="0" tIns="0" rIns="0" bIns="0" rtlCol="0" anchor="t"/>
          <a:lstStyle/>
          <a:p>
            <a:pPr marL="0" indent="0" algn="l">
              <a:lnSpc>
                <a:spcPts val="1230"/>
              </a:lnSpc>
              <a:buNone/>
            </a:pPr>
            <a:r>
              <a:rPr lang="en-US" sz="820" dirty="0">
                <a:solidFill>
                  <a:srgbClr val="FFFFFF">
                    <a:alpha val="85000"/>
                  </a:srgbClr>
                </a:solidFill>
                <a:latin typeface="Calibri" pitchFamily="34" charset="0"/>
                <a:ea typeface="Calibri" pitchFamily="34" charset="-122"/>
                <a:cs typeface="Calibri" pitchFamily="34" charset="-120"/>
              </a:rPr>
              <a:t>Required at every subsequent telehealth session in Avatar.</a:t>
            </a:r>
            <a:endParaRPr lang="en-US" sz="820" dirty="0"/>
          </a:p>
        </p:txBody>
      </p:sp>
      <p:sp>
        <p:nvSpPr>
          <p:cNvPr id="8" name="Text 5"/>
          <p:cNvSpPr/>
          <p:nvPr/>
        </p:nvSpPr>
        <p:spPr>
          <a:xfrm>
            <a:off x="285750" y="2285851"/>
            <a:ext cx="228600" cy="13841"/>
          </a:xfrm>
          <a:prstGeom prst="roundRect">
            <a:avLst>
              <a:gd name="adj" fmla="val 100932"/>
            </a:avLst>
          </a:prstGeom>
          <a:solidFill>
            <a:srgbClr val="FAB753">
              <a:alpha val="40000"/>
            </a:srgbClr>
          </a:solidFill>
          <a:ln/>
        </p:spPr>
        <p:txBody>
          <a:bodyPr wrap="none" rtlCol="0" anchor="t"/>
          <a:lstStyle/>
          <a:p>
            <a:pPr marL="0" indent="0">
              <a:buNone/>
            </a:pPr>
            <a:endParaRPr lang="en-US" dirty="0"/>
          </a:p>
        </p:txBody>
      </p:sp>
      <p:sp>
        <p:nvSpPr>
          <p:cNvPr id="9" name="Text 6"/>
          <p:cNvSpPr/>
          <p:nvPr/>
        </p:nvSpPr>
        <p:spPr>
          <a:xfrm>
            <a:off x="285750" y="2342852"/>
            <a:ext cx="143470" cy="13841"/>
          </a:xfrm>
          <a:prstGeom prst="roundRect">
            <a:avLst>
              <a:gd name="adj" fmla="val 100932"/>
            </a:avLst>
          </a:prstGeom>
          <a:solidFill>
            <a:srgbClr val="FAB753">
              <a:alpha val="25000"/>
            </a:srgbClr>
          </a:solidFill>
          <a:ln/>
        </p:spPr>
        <p:txBody>
          <a:bodyPr wrap="none" rtlCol="0" anchor="t"/>
          <a:lstStyle/>
          <a:p>
            <a:pPr marL="0" indent="0">
              <a:buNone/>
            </a:pPr>
            <a:endParaRPr lang="en-US" dirty="0"/>
          </a:p>
        </p:txBody>
      </p:sp>
      <p:sp>
        <p:nvSpPr>
          <p:cNvPr id="10" name="Text 7"/>
          <p:cNvSpPr/>
          <p:nvPr/>
        </p:nvSpPr>
        <p:spPr>
          <a:xfrm>
            <a:off x="285750" y="2399854"/>
            <a:ext cx="86320" cy="13841"/>
          </a:xfrm>
          <a:prstGeom prst="roundRect">
            <a:avLst>
              <a:gd name="adj" fmla="val 100932"/>
            </a:avLst>
          </a:prstGeom>
          <a:solidFill>
            <a:srgbClr val="FAB753">
              <a:alpha val="15000"/>
            </a:srgbClr>
          </a:solidFill>
          <a:ln/>
        </p:spPr>
        <p:txBody>
          <a:bodyPr wrap="none" rtlCol="0" anchor="t"/>
          <a:lstStyle/>
          <a:p>
            <a:pPr marL="0" indent="0">
              <a:buNone/>
            </a:pPr>
            <a:endParaRPr lang="en-US" dirty="0"/>
          </a:p>
        </p:txBody>
      </p:sp>
      <p:sp>
        <p:nvSpPr>
          <p:cNvPr id="11" name="Text 8"/>
          <p:cNvSpPr/>
          <p:nvPr/>
        </p:nvSpPr>
        <p:spPr>
          <a:xfrm>
            <a:off x="285750" y="4287738"/>
            <a:ext cx="1885950" cy="615931"/>
          </a:xfrm>
          <a:prstGeom prst="rect">
            <a:avLst/>
          </a:prstGeom>
          <a:noFill/>
          <a:ln/>
        </p:spPr>
        <p:txBody>
          <a:bodyPr wrap="square" lIns="0" tIns="171450" rIns="0" bIns="0" rtlCol="0" anchor="t"/>
          <a:lstStyle/>
          <a:p>
            <a:pPr marL="0" indent="0" algn="l">
              <a:buNone/>
            </a:pPr>
            <a:r>
              <a:rPr lang="en-US" sz="730" dirty="0">
                <a:solidFill>
                  <a:srgbClr val="FFFFFF"/>
                </a:solidFill>
                <a:latin typeface="Calibri" pitchFamily="34" charset="0"/>
                <a:ea typeface="Calibri" pitchFamily="34" charset="-122"/>
                <a:cs typeface="Calibri" pitchFamily="34" charset="-120"/>
              </a:rPr>
              <a:t>Progress notes must contain evidence of each of these elements — not just session content.</a:t>
            </a:r>
            <a:endParaRPr lang="en-US" sz="730" dirty="0"/>
          </a:p>
        </p:txBody>
      </p:sp>
      <p:sp>
        <p:nvSpPr>
          <p:cNvPr id="12" name="Text 9"/>
          <p:cNvSpPr/>
          <p:nvPr/>
        </p:nvSpPr>
        <p:spPr>
          <a:xfrm>
            <a:off x="285750" y="4287738"/>
            <a:ext cx="1885950" cy="9525"/>
          </a:xfrm>
          <a:prstGeom prst="rect">
            <a:avLst/>
          </a:prstGeom>
          <a:solidFill>
            <a:srgbClr val="FFFFFF">
              <a:alpha val="15000"/>
            </a:srgbClr>
          </a:solidFill>
          <a:ln/>
        </p:spPr>
        <p:txBody>
          <a:bodyPr wrap="none" rtlCol="0" anchor="t"/>
          <a:lstStyle/>
          <a:p>
            <a:pPr marL="0" indent="0">
              <a:buNone/>
            </a:pPr>
            <a:endParaRPr lang="en-US" dirty="0"/>
          </a:p>
        </p:txBody>
      </p:sp>
      <p:sp>
        <p:nvSpPr>
          <p:cNvPr id="13" name="Text 10"/>
          <p:cNvSpPr/>
          <p:nvPr/>
        </p:nvSpPr>
        <p:spPr>
          <a:xfrm>
            <a:off x="2429470" y="0"/>
            <a:ext cx="6714530" cy="5143500"/>
          </a:xfrm>
          <a:prstGeom prst="rect">
            <a:avLst/>
          </a:prstGeom>
          <a:solidFill>
            <a:srgbClr val="FFFFFF"/>
          </a:solidFill>
          <a:ln/>
        </p:spPr>
        <p:txBody>
          <a:bodyPr wrap="square" rtlCol="0" anchor="t"/>
          <a:lstStyle/>
          <a:p>
            <a:pPr marL="0" indent="0">
              <a:buNone/>
            </a:pPr>
            <a:endParaRPr lang="en-US" dirty="0"/>
          </a:p>
        </p:txBody>
      </p:sp>
      <p:sp>
        <p:nvSpPr>
          <p:cNvPr id="14" name="Text 11"/>
          <p:cNvSpPr/>
          <p:nvPr/>
        </p:nvSpPr>
        <p:spPr>
          <a:xfrm>
            <a:off x="2744391" y="314920"/>
            <a:ext cx="6510617" cy="222498"/>
          </a:xfrm>
          <a:prstGeom prst="rect">
            <a:avLst/>
          </a:prstGeom>
          <a:noFill/>
          <a:ln/>
        </p:spPr>
        <p:txBody>
          <a:bodyPr wrap="none" lIns="0" tIns="0" rIns="0" bIns="0" rtlCol="0" anchor="t"/>
          <a:lstStyle/>
          <a:p>
            <a:pPr marL="0" indent="0" algn="l">
              <a:lnSpc>
                <a:spcPts val="1752"/>
              </a:lnSpc>
              <a:buNone/>
            </a:pPr>
            <a:r>
              <a:rPr lang="en-US" sz="1460" b="1" dirty="0">
                <a:solidFill>
                  <a:srgbClr val="1B5E72"/>
                </a:solidFill>
                <a:latin typeface="Calibri Light" pitchFamily="34" charset="0"/>
                <a:ea typeface="Calibri Light" pitchFamily="34" charset="-122"/>
                <a:cs typeface="Calibri Light" pitchFamily="34" charset="-120"/>
              </a:rPr>
              <a:t>What Every Note Must Confirm</a:t>
            </a:r>
            <a:endParaRPr lang="en-US" sz="1460" dirty="0"/>
          </a:p>
        </p:txBody>
      </p:sp>
      <p:sp>
        <p:nvSpPr>
          <p:cNvPr id="15" name="Text 12"/>
          <p:cNvSpPr/>
          <p:nvPr/>
        </p:nvSpPr>
        <p:spPr>
          <a:xfrm>
            <a:off x="2744391" y="580579"/>
            <a:ext cx="3720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6" name="Text 13"/>
          <p:cNvSpPr/>
          <p:nvPr/>
        </p:nvSpPr>
        <p:spPr>
          <a:xfrm>
            <a:off x="2744391" y="759619"/>
            <a:ext cx="6084689" cy="393650"/>
          </a:xfrm>
          <a:prstGeom prst="roundRect">
            <a:avLst>
              <a:gd name="adj" fmla="val 14518"/>
            </a:avLst>
          </a:prstGeom>
          <a:solidFill>
            <a:srgbClr val="F8FCFC"/>
          </a:solidFill>
          <a:ln/>
        </p:spPr>
        <p:txBody>
          <a:bodyPr wrap="square" rtlCol="0" anchor="t"/>
          <a:lstStyle/>
          <a:p>
            <a:pPr marL="0" indent="0">
              <a:buNone/>
            </a:pPr>
            <a:endParaRPr lang="en-US" dirty="0"/>
          </a:p>
        </p:txBody>
      </p:sp>
      <p:sp>
        <p:nvSpPr>
          <p:cNvPr id="17" name="Text 14"/>
          <p:cNvSpPr/>
          <p:nvPr/>
        </p:nvSpPr>
        <p:spPr>
          <a:xfrm>
            <a:off x="2744391" y="759619"/>
            <a:ext cx="19050" cy="393650"/>
          </a:xfrm>
          <a:custGeom>
            <a:avLst/>
            <a:gdLst/>
            <a:ahLst/>
            <a:cxnLst/>
            <a:rect l="l" t="t" r="r" b="b"/>
            <a:pathLst>
              <a:path w="19050" h="393650">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379097"/>
                </a:lnTo>
                <a:lnTo>
                  <a:pt x="16669" y="376841"/>
                </a:lnTo>
                <a:lnTo>
                  <a:pt x="14288" y="374302"/>
                </a:lnTo>
                <a:lnTo>
                  <a:pt x="11906" y="371416"/>
                </a:lnTo>
                <a:lnTo>
                  <a:pt x="9525" y="368091"/>
                </a:lnTo>
                <a:lnTo>
                  <a:pt x="7144" y="364168"/>
                </a:lnTo>
                <a:lnTo>
                  <a:pt x="4763" y="359341"/>
                </a:lnTo>
                <a:lnTo>
                  <a:pt x="2381" y="352825"/>
                </a:lnTo>
                <a:lnTo>
                  <a:pt x="0" y="336500"/>
                </a:lnTo>
                <a:close/>
              </a:path>
            </a:pathLst>
          </a:custGeom>
          <a:solidFill>
            <a:srgbClr val="FAB753"/>
          </a:solidFill>
          <a:ln/>
        </p:spPr>
        <p:txBody>
          <a:bodyPr wrap="square" rtlCol="0" anchor="t"/>
          <a:lstStyle/>
          <a:p>
            <a:pPr marL="0" indent="0">
              <a:buNone/>
            </a:pPr>
            <a:endParaRPr lang="en-US" dirty="0"/>
          </a:p>
        </p:txBody>
      </p:sp>
      <p:sp>
        <p:nvSpPr>
          <p:cNvPr id="18" name="Text 15"/>
          <p:cNvSpPr/>
          <p:nvPr/>
        </p:nvSpPr>
        <p:spPr>
          <a:xfrm>
            <a:off x="2849761" y="845939"/>
            <a:ext cx="228600" cy="228600"/>
          </a:xfrm>
          <a:prstGeom prst="roundRect">
            <a:avLst>
              <a:gd name="adj" fmla="val 21667"/>
            </a:avLst>
          </a:prstGeom>
          <a:solidFill>
            <a:srgbClr val="FAB753">
              <a:alpha val="15000"/>
            </a:srgbClr>
          </a:solidFill>
          <a:ln/>
        </p:spPr>
        <p:txBody>
          <a:bodyPr wrap="none" rtlCol="0" anchor="t"/>
          <a:lstStyle/>
          <a:p>
            <a:pPr marL="0" indent="0">
              <a:buNone/>
            </a:pPr>
            <a:endParaRPr lang="en-US"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97767" y="893945"/>
            <a:ext cx="132588" cy="132588"/>
          </a:xfrm>
          <a:prstGeom prst="rect">
            <a:avLst/>
          </a:prstGeom>
        </p:spPr>
      </p:pic>
      <p:sp>
        <p:nvSpPr>
          <p:cNvPr id="20" name="Text 16"/>
          <p:cNvSpPr/>
          <p:nvPr/>
        </p:nvSpPr>
        <p:spPr>
          <a:xfrm>
            <a:off x="3178671" y="838349"/>
            <a:ext cx="3328734" cy="159990"/>
          </a:xfrm>
          <a:prstGeom prst="rect">
            <a:avLst/>
          </a:prstGeom>
          <a:noFill/>
          <a:ln/>
        </p:spPr>
        <p:txBody>
          <a:bodyPr wrap="none" lIns="0" tIns="0" rIns="0" bIns="0" rtlCol="0" anchor="ctr"/>
          <a:lstStyle/>
          <a:p>
            <a:pPr marL="0" indent="0" algn="l">
              <a:lnSpc>
                <a:spcPts val="1262"/>
              </a:lnSpc>
              <a:buNone/>
            </a:pPr>
            <a:r>
              <a:rPr lang="en-US" sz="870" b="1" dirty="0">
                <a:solidFill>
                  <a:srgbClr val="1B5E72"/>
                </a:solidFill>
                <a:latin typeface="Calibri" pitchFamily="34" charset="0"/>
                <a:ea typeface="Calibri" pitchFamily="34" charset="-122"/>
                <a:cs typeface="Calibri" pitchFamily="34" charset="-120"/>
              </a:rPr>
              <a:t>Date and time</a:t>
            </a:r>
            <a:r>
              <a:rPr lang="en-US" sz="870" dirty="0">
                <a:solidFill>
                  <a:srgbClr val="2C2C2C"/>
                </a:solidFill>
                <a:latin typeface="Calibri" pitchFamily="34" charset="0"/>
                <a:ea typeface="Calibri" pitchFamily="34" charset="-122"/>
                <a:cs typeface="Calibri" pitchFamily="34" charset="-120"/>
              </a:rPr>
              <a:t> — Document the date and time of the session.</a:t>
            </a:r>
            <a:endParaRPr lang="en-US" sz="870" dirty="0"/>
          </a:p>
        </p:txBody>
      </p:sp>
      <p:sp>
        <p:nvSpPr>
          <p:cNvPr id="21" name="Text 17"/>
          <p:cNvSpPr/>
          <p:nvPr/>
        </p:nvSpPr>
        <p:spPr>
          <a:xfrm>
            <a:off x="2744391" y="1224260"/>
            <a:ext cx="6084689" cy="393650"/>
          </a:xfrm>
          <a:prstGeom prst="roundRect">
            <a:avLst>
              <a:gd name="adj" fmla="val 14518"/>
            </a:avLst>
          </a:prstGeom>
          <a:solidFill>
            <a:srgbClr val="F8FCFC"/>
          </a:solidFill>
          <a:ln/>
        </p:spPr>
        <p:txBody>
          <a:bodyPr wrap="square" rtlCol="0" anchor="t"/>
          <a:lstStyle/>
          <a:p>
            <a:pPr marL="0" indent="0">
              <a:buNone/>
            </a:pPr>
            <a:endParaRPr lang="en-US" dirty="0"/>
          </a:p>
        </p:txBody>
      </p:sp>
      <p:sp>
        <p:nvSpPr>
          <p:cNvPr id="22" name="Text 18"/>
          <p:cNvSpPr/>
          <p:nvPr/>
        </p:nvSpPr>
        <p:spPr>
          <a:xfrm>
            <a:off x="2744391" y="1224260"/>
            <a:ext cx="19050" cy="393650"/>
          </a:xfrm>
          <a:custGeom>
            <a:avLst/>
            <a:gdLst/>
            <a:ahLst/>
            <a:cxnLst/>
            <a:rect l="l" t="t" r="r" b="b"/>
            <a:pathLst>
              <a:path w="19050" h="393650">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379097"/>
                </a:lnTo>
                <a:lnTo>
                  <a:pt x="16669" y="376841"/>
                </a:lnTo>
                <a:lnTo>
                  <a:pt x="14288" y="374302"/>
                </a:lnTo>
                <a:lnTo>
                  <a:pt x="11906" y="371416"/>
                </a:lnTo>
                <a:lnTo>
                  <a:pt x="9525" y="368091"/>
                </a:lnTo>
                <a:lnTo>
                  <a:pt x="7144" y="364168"/>
                </a:lnTo>
                <a:lnTo>
                  <a:pt x="4763" y="359341"/>
                </a:lnTo>
                <a:lnTo>
                  <a:pt x="2381" y="352825"/>
                </a:lnTo>
                <a:lnTo>
                  <a:pt x="0" y="336500"/>
                </a:lnTo>
                <a:close/>
              </a:path>
            </a:pathLst>
          </a:custGeom>
          <a:solidFill>
            <a:srgbClr val="FAB753"/>
          </a:solidFill>
          <a:ln/>
        </p:spPr>
        <p:txBody>
          <a:bodyPr wrap="square" rtlCol="0" anchor="t"/>
          <a:lstStyle/>
          <a:p>
            <a:pPr marL="0" indent="0">
              <a:buNone/>
            </a:pPr>
            <a:endParaRPr lang="en-US" dirty="0"/>
          </a:p>
        </p:txBody>
      </p:sp>
      <p:sp>
        <p:nvSpPr>
          <p:cNvPr id="23" name="Text 19"/>
          <p:cNvSpPr/>
          <p:nvPr/>
        </p:nvSpPr>
        <p:spPr>
          <a:xfrm>
            <a:off x="2849761" y="1310580"/>
            <a:ext cx="228600" cy="228600"/>
          </a:xfrm>
          <a:prstGeom prst="roundRect">
            <a:avLst>
              <a:gd name="adj" fmla="val 21667"/>
            </a:avLst>
          </a:prstGeom>
          <a:solidFill>
            <a:srgbClr val="FAB753">
              <a:alpha val="15000"/>
            </a:srgbClr>
          </a:solidFill>
          <a:ln/>
        </p:spPr>
        <p:txBody>
          <a:bodyPr wrap="non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97767" y="1358586"/>
            <a:ext cx="132588" cy="132588"/>
          </a:xfrm>
          <a:prstGeom prst="rect">
            <a:avLst/>
          </a:prstGeom>
        </p:spPr>
      </p:pic>
      <p:sp>
        <p:nvSpPr>
          <p:cNvPr id="25" name="Text 20"/>
          <p:cNvSpPr/>
          <p:nvPr/>
        </p:nvSpPr>
        <p:spPr>
          <a:xfrm>
            <a:off x="3178671" y="1302990"/>
            <a:ext cx="5460251" cy="159990"/>
          </a:xfrm>
          <a:prstGeom prst="rect">
            <a:avLst/>
          </a:prstGeom>
          <a:noFill/>
          <a:ln/>
        </p:spPr>
        <p:txBody>
          <a:bodyPr wrap="none" lIns="0" tIns="0" rIns="0" bIns="0" rtlCol="0" anchor="ctr"/>
          <a:lstStyle/>
          <a:p>
            <a:pPr marL="0" indent="0" algn="l">
              <a:lnSpc>
                <a:spcPts val="1262"/>
              </a:lnSpc>
              <a:buNone/>
            </a:pPr>
            <a:r>
              <a:rPr lang="en-US" sz="870" b="1" dirty="0">
                <a:solidFill>
                  <a:srgbClr val="1B5E72"/>
                </a:solidFill>
                <a:latin typeface="Calibri" pitchFamily="34" charset="0"/>
                <a:ea typeface="Calibri" pitchFamily="34" charset="-122"/>
                <a:cs typeface="Calibri" pitchFamily="34" charset="-120"/>
              </a:rPr>
              <a:t>Session modality</a:t>
            </a:r>
            <a:r>
              <a:rPr lang="en-US" sz="870" dirty="0">
                <a:solidFill>
                  <a:srgbClr val="2C2C2C"/>
                </a:solidFill>
                <a:latin typeface="Calibri" pitchFamily="34" charset="0"/>
                <a:ea typeface="Calibri" pitchFamily="34" charset="-122"/>
                <a:cs typeface="Calibri" pitchFamily="34" charset="-120"/>
              </a:rPr>
              <a:t> — Clearly state that the session was conducted via telehealth / televideo in Avatar.</a:t>
            </a:r>
            <a:endParaRPr lang="en-US" sz="870" dirty="0"/>
          </a:p>
        </p:txBody>
      </p:sp>
      <p:sp>
        <p:nvSpPr>
          <p:cNvPr id="26" name="Text 21"/>
          <p:cNvSpPr/>
          <p:nvPr/>
        </p:nvSpPr>
        <p:spPr>
          <a:xfrm>
            <a:off x="2744391" y="1688902"/>
            <a:ext cx="6084689" cy="393650"/>
          </a:xfrm>
          <a:prstGeom prst="roundRect">
            <a:avLst>
              <a:gd name="adj" fmla="val 14518"/>
            </a:avLst>
          </a:prstGeom>
          <a:solidFill>
            <a:srgbClr val="F8FCFC"/>
          </a:solidFill>
          <a:ln/>
        </p:spPr>
        <p:txBody>
          <a:bodyPr wrap="square" rtlCol="0" anchor="t"/>
          <a:lstStyle/>
          <a:p>
            <a:pPr marL="0" indent="0">
              <a:buNone/>
            </a:pPr>
            <a:endParaRPr lang="en-US" dirty="0"/>
          </a:p>
        </p:txBody>
      </p:sp>
      <p:sp>
        <p:nvSpPr>
          <p:cNvPr id="27" name="Text 22"/>
          <p:cNvSpPr/>
          <p:nvPr/>
        </p:nvSpPr>
        <p:spPr>
          <a:xfrm>
            <a:off x="2744391" y="1688902"/>
            <a:ext cx="19050" cy="393650"/>
          </a:xfrm>
          <a:custGeom>
            <a:avLst/>
            <a:gdLst/>
            <a:ahLst/>
            <a:cxnLst/>
            <a:rect l="l" t="t" r="r" b="b"/>
            <a:pathLst>
              <a:path w="19050" h="393650">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379097"/>
                </a:lnTo>
                <a:lnTo>
                  <a:pt x="16669" y="376841"/>
                </a:lnTo>
                <a:lnTo>
                  <a:pt x="14288" y="374302"/>
                </a:lnTo>
                <a:lnTo>
                  <a:pt x="11906" y="371416"/>
                </a:lnTo>
                <a:lnTo>
                  <a:pt x="9525" y="368091"/>
                </a:lnTo>
                <a:lnTo>
                  <a:pt x="7144" y="364168"/>
                </a:lnTo>
                <a:lnTo>
                  <a:pt x="4763" y="359341"/>
                </a:lnTo>
                <a:lnTo>
                  <a:pt x="2381" y="352825"/>
                </a:lnTo>
                <a:lnTo>
                  <a:pt x="0" y="336500"/>
                </a:lnTo>
                <a:close/>
              </a:path>
            </a:pathLst>
          </a:custGeom>
          <a:solidFill>
            <a:srgbClr val="FAB753"/>
          </a:solidFill>
          <a:ln/>
        </p:spPr>
        <p:txBody>
          <a:bodyPr wrap="square" rtlCol="0" anchor="t"/>
          <a:lstStyle/>
          <a:p>
            <a:pPr marL="0" indent="0">
              <a:buNone/>
            </a:pPr>
            <a:endParaRPr lang="en-US" dirty="0"/>
          </a:p>
        </p:txBody>
      </p:sp>
      <p:sp>
        <p:nvSpPr>
          <p:cNvPr id="28" name="Text 23"/>
          <p:cNvSpPr/>
          <p:nvPr/>
        </p:nvSpPr>
        <p:spPr>
          <a:xfrm>
            <a:off x="2849761" y="1775222"/>
            <a:ext cx="228600" cy="228600"/>
          </a:xfrm>
          <a:prstGeom prst="roundRect">
            <a:avLst>
              <a:gd name="adj" fmla="val 21667"/>
            </a:avLst>
          </a:prstGeom>
          <a:solidFill>
            <a:srgbClr val="FAB753">
              <a:alpha val="15000"/>
            </a:srgbClr>
          </a:solidFill>
          <a:ln/>
        </p:spPr>
        <p:txBody>
          <a:bodyPr wrap="none" rtlCol="0" anchor="t"/>
          <a:lstStyle/>
          <a:p>
            <a:pPr marL="0" indent="0">
              <a:buNone/>
            </a:pPr>
            <a:endParaRPr lang="en-US" dirty="0"/>
          </a:p>
        </p:txBody>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97767" y="1823228"/>
            <a:ext cx="132588" cy="132588"/>
          </a:xfrm>
          <a:prstGeom prst="rect">
            <a:avLst/>
          </a:prstGeom>
        </p:spPr>
      </p:pic>
      <p:sp>
        <p:nvSpPr>
          <p:cNvPr id="30" name="Text 24"/>
          <p:cNvSpPr/>
          <p:nvPr/>
        </p:nvSpPr>
        <p:spPr>
          <a:xfrm>
            <a:off x="3178671" y="1767632"/>
            <a:ext cx="4224397" cy="159990"/>
          </a:xfrm>
          <a:prstGeom prst="rect">
            <a:avLst/>
          </a:prstGeom>
          <a:noFill/>
          <a:ln/>
        </p:spPr>
        <p:txBody>
          <a:bodyPr wrap="none" lIns="0" tIns="0" rIns="0" bIns="0" rtlCol="0" anchor="ctr"/>
          <a:lstStyle/>
          <a:p>
            <a:pPr marL="0" indent="0" algn="l">
              <a:lnSpc>
                <a:spcPts val="1262"/>
              </a:lnSpc>
              <a:buNone/>
            </a:pPr>
            <a:r>
              <a:rPr lang="en-US" sz="870" b="1" dirty="0">
                <a:solidFill>
                  <a:srgbClr val="1B5E72"/>
                </a:solidFill>
                <a:latin typeface="Calibri" pitchFamily="34" charset="0"/>
                <a:ea typeface="Calibri" pitchFamily="34" charset="-122"/>
                <a:cs typeface="Calibri" pitchFamily="34" charset="-120"/>
              </a:rPr>
              <a:t>Provider location</a:t>
            </a:r>
            <a:r>
              <a:rPr lang="en-US" sz="870" dirty="0">
                <a:solidFill>
                  <a:srgbClr val="2C2C2C"/>
                </a:solidFill>
                <a:latin typeface="Calibri" pitchFamily="34" charset="0"/>
                <a:ea typeface="Calibri" pitchFamily="34" charset="-122"/>
                <a:cs typeface="Calibri" pitchFamily="34" charset="-120"/>
              </a:rPr>
              <a:t> — Your location at the time of session — required in Avatar.</a:t>
            </a:r>
            <a:endParaRPr lang="en-US" sz="870" dirty="0"/>
          </a:p>
        </p:txBody>
      </p:sp>
      <p:sp>
        <p:nvSpPr>
          <p:cNvPr id="31" name="Text 25"/>
          <p:cNvSpPr/>
          <p:nvPr/>
        </p:nvSpPr>
        <p:spPr>
          <a:xfrm>
            <a:off x="2744391" y="2153543"/>
            <a:ext cx="6084689" cy="393650"/>
          </a:xfrm>
          <a:prstGeom prst="roundRect">
            <a:avLst>
              <a:gd name="adj" fmla="val 14518"/>
            </a:avLst>
          </a:prstGeom>
          <a:solidFill>
            <a:srgbClr val="F8FCFC"/>
          </a:solidFill>
          <a:ln/>
        </p:spPr>
        <p:txBody>
          <a:bodyPr wrap="square" rtlCol="0" anchor="t"/>
          <a:lstStyle/>
          <a:p>
            <a:pPr marL="0" indent="0">
              <a:buNone/>
            </a:pPr>
            <a:endParaRPr lang="en-US" dirty="0"/>
          </a:p>
        </p:txBody>
      </p:sp>
      <p:sp>
        <p:nvSpPr>
          <p:cNvPr id="32" name="Text 26"/>
          <p:cNvSpPr/>
          <p:nvPr/>
        </p:nvSpPr>
        <p:spPr>
          <a:xfrm>
            <a:off x="2744391" y="2153543"/>
            <a:ext cx="19050" cy="393650"/>
          </a:xfrm>
          <a:custGeom>
            <a:avLst/>
            <a:gdLst/>
            <a:ahLst/>
            <a:cxnLst/>
            <a:rect l="l" t="t" r="r" b="b"/>
            <a:pathLst>
              <a:path w="19050" h="393650">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379097"/>
                </a:lnTo>
                <a:lnTo>
                  <a:pt x="16669" y="376841"/>
                </a:lnTo>
                <a:lnTo>
                  <a:pt x="14288" y="374302"/>
                </a:lnTo>
                <a:lnTo>
                  <a:pt x="11906" y="371416"/>
                </a:lnTo>
                <a:lnTo>
                  <a:pt x="9525" y="368091"/>
                </a:lnTo>
                <a:lnTo>
                  <a:pt x="7144" y="364168"/>
                </a:lnTo>
                <a:lnTo>
                  <a:pt x="4763" y="359341"/>
                </a:lnTo>
                <a:lnTo>
                  <a:pt x="2381" y="352825"/>
                </a:lnTo>
                <a:lnTo>
                  <a:pt x="0" y="336500"/>
                </a:lnTo>
                <a:close/>
              </a:path>
            </a:pathLst>
          </a:custGeom>
          <a:solidFill>
            <a:srgbClr val="FAB753"/>
          </a:solidFill>
          <a:ln/>
        </p:spPr>
        <p:txBody>
          <a:bodyPr wrap="square" rtlCol="0" anchor="t"/>
          <a:lstStyle/>
          <a:p>
            <a:pPr marL="0" indent="0">
              <a:buNone/>
            </a:pPr>
            <a:endParaRPr lang="en-US" dirty="0"/>
          </a:p>
        </p:txBody>
      </p:sp>
      <p:sp>
        <p:nvSpPr>
          <p:cNvPr id="33" name="Text 27"/>
          <p:cNvSpPr/>
          <p:nvPr/>
        </p:nvSpPr>
        <p:spPr>
          <a:xfrm>
            <a:off x="2849761" y="2239863"/>
            <a:ext cx="228600" cy="228600"/>
          </a:xfrm>
          <a:prstGeom prst="roundRect">
            <a:avLst>
              <a:gd name="adj" fmla="val 21667"/>
            </a:avLst>
          </a:prstGeom>
          <a:solidFill>
            <a:srgbClr val="FAB753">
              <a:alpha val="15000"/>
            </a:srgbClr>
          </a:solidFill>
          <a:ln/>
        </p:spPr>
        <p:txBody>
          <a:bodyPr wrap="none" rtlCol="0" anchor="t"/>
          <a:lstStyle/>
          <a:p>
            <a:pPr marL="0" indent="0">
              <a:buNone/>
            </a:pPr>
            <a:endParaRPr lang="en-US" dirty="0"/>
          </a:p>
        </p:txBody>
      </p:sp>
      <p:pic>
        <p:nvPicPr>
          <p:cNvPr id="3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97767" y="2287869"/>
            <a:ext cx="132588" cy="132588"/>
          </a:xfrm>
          <a:prstGeom prst="rect">
            <a:avLst/>
          </a:prstGeom>
        </p:spPr>
      </p:pic>
      <p:sp>
        <p:nvSpPr>
          <p:cNvPr id="35" name="Text 28"/>
          <p:cNvSpPr/>
          <p:nvPr/>
        </p:nvSpPr>
        <p:spPr>
          <a:xfrm>
            <a:off x="3178671" y="2232273"/>
            <a:ext cx="5257249" cy="159990"/>
          </a:xfrm>
          <a:prstGeom prst="rect">
            <a:avLst/>
          </a:prstGeom>
          <a:noFill/>
          <a:ln/>
        </p:spPr>
        <p:txBody>
          <a:bodyPr wrap="none" lIns="0" tIns="0" rIns="0" bIns="0" rtlCol="0" anchor="ctr"/>
          <a:lstStyle/>
          <a:p>
            <a:pPr marL="0" indent="0" algn="l">
              <a:lnSpc>
                <a:spcPts val="1262"/>
              </a:lnSpc>
              <a:buNone/>
            </a:pPr>
            <a:r>
              <a:rPr lang="en-US" sz="870" b="1" dirty="0">
                <a:solidFill>
                  <a:srgbClr val="1B5E72"/>
                </a:solidFill>
                <a:latin typeface="Calibri" pitchFamily="34" charset="0"/>
                <a:ea typeface="Calibri" pitchFamily="34" charset="-122"/>
                <a:cs typeface="Calibri" pitchFamily="34" charset="-120"/>
              </a:rPr>
              <a:t>Client location</a:t>
            </a:r>
            <a:r>
              <a:rPr lang="en-US" sz="870" dirty="0">
                <a:solidFill>
                  <a:srgbClr val="2C2C2C"/>
                </a:solidFill>
                <a:latin typeface="Calibri" pitchFamily="34" charset="0"/>
                <a:ea typeface="Calibri" pitchFamily="34" charset="-122"/>
                <a:cs typeface="Calibri" pitchFamily="34" charset="-120"/>
              </a:rPr>
              <a:t> — Confirm client location in Avatar. If not at home, document the specific location.</a:t>
            </a:r>
            <a:endParaRPr lang="en-US" sz="870" dirty="0"/>
          </a:p>
        </p:txBody>
      </p:sp>
      <p:sp>
        <p:nvSpPr>
          <p:cNvPr id="36" name="Text 29"/>
          <p:cNvSpPr/>
          <p:nvPr/>
        </p:nvSpPr>
        <p:spPr>
          <a:xfrm>
            <a:off x="2744391" y="2618184"/>
            <a:ext cx="6084689" cy="393650"/>
          </a:xfrm>
          <a:prstGeom prst="roundRect">
            <a:avLst>
              <a:gd name="adj" fmla="val 14518"/>
            </a:avLst>
          </a:prstGeom>
          <a:solidFill>
            <a:srgbClr val="F8FCFC"/>
          </a:solidFill>
          <a:ln/>
        </p:spPr>
        <p:txBody>
          <a:bodyPr wrap="square" rtlCol="0" anchor="t"/>
          <a:lstStyle/>
          <a:p>
            <a:pPr marL="0" indent="0">
              <a:buNone/>
            </a:pPr>
            <a:endParaRPr lang="en-US" dirty="0"/>
          </a:p>
        </p:txBody>
      </p:sp>
      <p:sp>
        <p:nvSpPr>
          <p:cNvPr id="37" name="Text 30"/>
          <p:cNvSpPr/>
          <p:nvPr/>
        </p:nvSpPr>
        <p:spPr>
          <a:xfrm>
            <a:off x="2744391" y="2618184"/>
            <a:ext cx="19050" cy="393650"/>
          </a:xfrm>
          <a:custGeom>
            <a:avLst/>
            <a:gdLst/>
            <a:ahLst/>
            <a:cxnLst/>
            <a:rect l="l" t="t" r="r" b="b"/>
            <a:pathLst>
              <a:path w="19050" h="393650">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379097"/>
                </a:lnTo>
                <a:lnTo>
                  <a:pt x="16669" y="376841"/>
                </a:lnTo>
                <a:lnTo>
                  <a:pt x="14288" y="374302"/>
                </a:lnTo>
                <a:lnTo>
                  <a:pt x="11906" y="371416"/>
                </a:lnTo>
                <a:lnTo>
                  <a:pt x="9525" y="368091"/>
                </a:lnTo>
                <a:lnTo>
                  <a:pt x="7144" y="364168"/>
                </a:lnTo>
                <a:lnTo>
                  <a:pt x="4763" y="359341"/>
                </a:lnTo>
                <a:lnTo>
                  <a:pt x="2381" y="352825"/>
                </a:lnTo>
                <a:lnTo>
                  <a:pt x="0" y="336500"/>
                </a:lnTo>
                <a:close/>
              </a:path>
            </a:pathLst>
          </a:custGeom>
          <a:solidFill>
            <a:srgbClr val="FAB753"/>
          </a:solidFill>
          <a:ln/>
        </p:spPr>
        <p:txBody>
          <a:bodyPr wrap="square" rtlCol="0" anchor="t"/>
          <a:lstStyle/>
          <a:p>
            <a:pPr marL="0" indent="0">
              <a:buNone/>
            </a:pPr>
            <a:endParaRPr lang="en-US" dirty="0"/>
          </a:p>
        </p:txBody>
      </p:sp>
      <p:sp>
        <p:nvSpPr>
          <p:cNvPr id="38" name="Text 31"/>
          <p:cNvSpPr/>
          <p:nvPr/>
        </p:nvSpPr>
        <p:spPr>
          <a:xfrm>
            <a:off x="2849761" y="2704505"/>
            <a:ext cx="228600" cy="228600"/>
          </a:xfrm>
          <a:prstGeom prst="roundRect">
            <a:avLst>
              <a:gd name="adj" fmla="val 21667"/>
            </a:avLst>
          </a:prstGeom>
          <a:solidFill>
            <a:srgbClr val="FAB753">
              <a:alpha val="15000"/>
            </a:srgbClr>
          </a:solidFill>
          <a:ln/>
        </p:spPr>
        <p:txBody>
          <a:bodyPr wrap="none" rtlCol="0" anchor="t"/>
          <a:lstStyle/>
          <a:p>
            <a:pPr marL="0" indent="0">
              <a:buNone/>
            </a:pPr>
            <a:endParaRPr lang="en-US" dirty="0"/>
          </a:p>
        </p:txBody>
      </p:sp>
      <p:pic>
        <p:nvPicPr>
          <p:cNvPr id="3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97767" y="2752511"/>
            <a:ext cx="132588" cy="132588"/>
          </a:xfrm>
          <a:prstGeom prst="rect">
            <a:avLst/>
          </a:prstGeom>
        </p:spPr>
      </p:pic>
      <p:sp>
        <p:nvSpPr>
          <p:cNvPr id="40" name="Text 32"/>
          <p:cNvSpPr/>
          <p:nvPr/>
        </p:nvSpPr>
        <p:spPr>
          <a:xfrm>
            <a:off x="3178671" y="2696914"/>
            <a:ext cx="6011466" cy="159990"/>
          </a:xfrm>
          <a:prstGeom prst="rect">
            <a:avLst/>
          </a:prstGeom>
          <a:noFill/>
          <a:ln/>
        </p:spPr>
        <p:txBody>
          <a:bodyPr wrap="none" lIns="0" tIns="0" rIns="0" bIns="0" rtlCol="0" anchor="ctr"/>
          <a:lstStyle/>
          <a:p>
            <a:pPr marL="0" indent="0" algn="l">
              <a:lnSpc>
                <a:spcPts val="1262"/>
              </a:lnSpc>
              <a:buNone/>
            </a:pPr>
            <a:r>
              <a:rPr lang="en-US" sz="870" b="1" dirty="0">
                <a:solidFill>
                  <a:srgbClr val="1B5E72"/>
                </a:solidFill>
                <a:latin typeface="Calibri" pitchFamily="34" charset="0"/>
                <a:ea typeface="Calibri" pitchFamily="34" charset="-122"/>
                <a:cs typeface="Calibri" pitchFamily="34" charset="-120"/>
              </a:rPr>
              <a:t>Client phone number</a:t>
            </a:r>
            <a:r>
              <a:rPr lang="en-US" sz="870" dirty="0">
                <a:solidFill>
                  <a:srgbClr val="2C2C2C"/>
                </a:solidFill>
                <a:latin typeface="Calibri" pitchFamily="34" charset="0"/>
                <a:ea typeface="Calibri" pitchFamily="34" charset="-122"/>
                <a:cs typeface="Calibri" pitchFamily="34" charset="-120"/>
              </a:rPr>
              <a:t> — Confirm the client's current phone number at the time of the session — every session.</a:t>
            </a:r>
            <a:endParaRPr lang="en-US" sz="870" dirty="0"/>
          </a:p>
        </p:txBody>
      </p:sp>
      <p:sp>
        <p:nvSpPr>
          <p:cNvPr id="41" name="Text 33"/>
          <p:cNvSpPr/>
          <p:nvPr/>
        </p:nvSpPr>
        <p:spPr>
          <a:xfrm>
            <a:off x="2683544" y="4777978"/>
            <a:ext cx="6206383" cy="365522"/>
          </a:xfrm>
          <a:prstGeom prst="rect">
            <a:avLst/>
          </a:prstGeom>
          <a:solidFill>
            <a:srgbClr val="EAF4F4"/>
          </a:solidFill>
          <a:ln/>
        </p:spPr>
        <p:txBody>
          <a:bodyPr wrap="none" lIns="143510" tIns="100330" rIns="143510" bIns="100330" rtlCol="0" anchor="t"/>
          <a:lstStyle/>
          <a:p>
            <a:pPr marL="0" indent="0" algn="ctr">
              <a:buNone/>
            </a:pPr>
            <a:r>
              <a:rPr lang="en-US" sz="820" b="1" dirty="0">
                <a:solidFill>
                  <a:srgbClr val="2C2C2C"/>
                </a:solidFill>
                <a:latin typeface="Calibri" pitchFamily="34" charset="0"/>
                <a:ea typeface="Calibri" pitchFamily="34" charset="-122"/>
                <a:cs typeface="Calibri" pitchFamily="34" charset="-120"/>
              </a:rPr>
              <a:t>Documentation is not optional and it is not an afterthought. It is part of the clinical and legal record of care delivered.</a:t>
            </a:r>
            <a:endParaRPr lang="en-US" sz="820" dirty="0"/>
          </a:p>
        </p:txBody>
      </p:sp>
      <p:sp>
        <p:nvSpPr>
          <p:cNvPr id="42" name="Text 34"/>
          <p:cNvSpPr/>
          <p:nvPr/>
        </p:nvSpPr>
        <p:spPr>
          <a:xfrm>
            <a:off x="2744391" y="4777978"/>
            <a:ext cx="6084689" cy="19050"/>
          </a:xfrm>
          <a:prstGeom prst="rect">
            <a:avLst/>
          </a:prstGeom>
          <a:solidFill>
            <a:srgbClr val="FAB753"/>
          </a:solidFill>
          <a:ln/>
        </p:spPr>
        <p:txBody>
          <a:bodyPr wrap="none" rtlCol="0" anchor="t"/>
          <a:lstStyle/>
          <a:p>
            <a:pPr marL="0" indent="0">
              <a:buNone/>
            </a:pPr>
            <a:endParaRPr lang="en-US" dirty="0"/>
          </a:p>
        </p:txBody>
      </p:sp>
      <p:sp>
        <p:nvSpPr>
          <p:cNvPr id="43" name="Text 35"/>
          <p:cNvSpPr/>
          <p:nvPr/>
        </p:nvSpPr>
        <p:spPr>
          <a:xfrm>
            <a:off x="2400300" y="0"/>
            <a:ext cx="29170" cy="5143500"/>
          </a:xfrm>
          <a:prstGeom prst="rect">
            <a:avLst/>
          </a:prstGeom>
          <a:solidFill>
            <a:srgbClr val="FAB753"/>
          </a:solidFill>
          <a:ln/>
        </p:spPr>
        <p:txBody>
          <a:bodyPr wrap="square" rtlCol="0" anchor="t"/>
          <a:lstStyle/>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49039"/>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42900" y="128141"/>
            <a:ext cx="9050274" cy="246757"/>
          </a:xfrm>
          <a:prstGeom prst="rect">
            <a:avLst/>
          </a:prstGeom>
          <a:noFill/>
          <a:ln/>
        </p:spPr>
        <p:txBody>
          <a:bodyPr wrap="none" lIns="0" tIns="0" rIns="0" bIns="0" rtlCol="0" anchor="t"/>
          <a:lstStyle/>
          <a:p>
            <a:pPr marL="0" indent="0" algn="l">
              <a:lnSpc>
                <a:spcPts val="1943"/>
              </a:lnSpc>
              <a:buNone/>
            </a:pPr>
            <a:r>
              <a:rPr lang="en-US" sz="1690" b="1" dirty="0">
                <a:solidFill>
                  <a:srgbClr val="FFFFFF"/>
                </a:solidFill>
                <a:latin typeface="Calibri Light" pitchFamily="34" charset="0"/>
                <a:ea typeface="Calibri Light" pitchFamily="34" charset="-122"/>
                <a:cs typeface="Calibri Light" pitchFamily="34" charset="-120"/>
              </a:rPr>
              <a:t>Navigating Zoom &amp; Session Technology</a:t>
            </a:r>
            <a:endParaRPr lang="en-US" sz="1690" dirty="0"/>
          </a:p>
        </p:txBody>
      </p:sp>
      <p:sp>
        <p:nvSpPr>
          <p:cNvPr id="4" name="Text 2"/>
          <p:cNvSpPr/>
          <p:nvPr/>
        </p:nvSpPr>
        <p:spPr>
          <a:xfrm>
            <a:off x="342900" y="388739"/>
            <a:ext cx="9304020" cy="159990"/>
          </a:xfrm>
          <a:prstGeom prst="rect">
            <a:avLst/>
          </a:prstGeom>
          <a:noFill/>
          <a:ln/>
        </p:spPr>
        <p:txBody>
          <a:bodyPr wrap="none" lIns="0" tIns="0" rIns="0" bIns="0" rtlCol="0" anchor="t"/>
          <a:lstStyle/>
          <a:p>
            <a:pPr marL="0" indent="0" algn="l">
              <a:lnSpc>
                <a:spcPts val="1260"/>
              </a:lnSpc>
              <a:buNone/>
            </a:pPr>
            <a:r>
              <a:rPr lang="en-US" sz="840" kern="0" spc="8" dirty="0">
                <a:solidFill>
                  <a:srgbClr val="FAB753"/>
                </a:solidFill>
                <a:latin typeface="Calibri" pitchFamily="34" charset="0"/>
                <a:ea typeface="Calibri" pitchFamily="34" charset="-122"/>
                <a:cs typeface="Calibri" pitchFamily="34" charset="-120"/>
              </a:rPr>
              <a:t>Setting yourself and your client up for success before the session starts.</a:t>
            </a:r>
            <a:endParaRPr lang="en-US" sz="840" dirty="0"/>
          </a:p>
        </p:txBody>
      </p:sp>
      <p:sp>
        <p:nvSpPr>
          <p:cNvPr id="5" name="Text 3"/>
          <p:cNvSpPr/>
          <p:nvPr/>
        </p:nvSpPr>
        <p:spPr>
          <a:xfrm>
            <a:off x="285750" y="763339"/>
            <a:ext cx="2799904" cy="1857375"/>
          </a:xfrm>
          <a:prstGeom prst="roundRect">
            <a:avLst>
              <a:gd name="adj" fmla="val 3829"/>
            </a:avLst>
          </a:prstGeom>
          <a:solidFill>
            <a:srgbClr val="EAF4F4"/>
          </a:solidFill>
          <a:ln/>
        </p:spPr>
        <p:txBody>
          <a:bodyPr wrap="square" rtlCol="0" anchor="t"/>
          <a:lstStyle/>
          <a:p>
            <a:pPr marL="0" indent="0">
              <a:buNone/>
            </a:pPr>
            <a:endParaRPr lang="en-US" dirty="0"/>
          </a:p>
        </p:txBody>
      </p:sp>
      <p:sp>
        <p:nvSpPr>
          <p:cNvPr id="6" name="Text 4"/>
          <p:cNvSpPr/>
          <p:nvPr/>
        </p:nvSpPr>
        <p:spPr>
          <a:xfrm>
            <a:off x="413891" y="896689"/>
            <a:ext cx="257770" cy="257770"/>
          </a:xfrm>
          <a:prstGeom prst="roundRect">
            <a:avLst>
              <a:gd name="adj" fmla="val 22171"/>
            </a:avLst>
          </a:prstGeom>
          <a:solidFill>
            <a:srgbClr val="FFFFFF"/>
          </a:solidFill>
          <a:ln/>
          <a:effectLst>
            <a:outerShdw blurRad="29210" dist="7620" dir="5400000" algn="bl" rotWithShape="0">
              <a:srgbClr val="1B5E72">
                <a:alpha val="10000"/>
              </a:srgbClr>
            </a:outerShdw>
          </a:effectLst>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6408" y="959206"/>
            <a:ext cx="132588" cy="132588"/>
          </a:xfrm>
          <a:prstGeom prst="rect">
            <a:avLst/>
          </a:prstGeom>
        </p:spPr>
      </p:pic>
      <p:sp>
        <p:nvSpPr>
          <p:cNvPr id="8" name="Text 5"/>
          <p:cNvSpPr/>
          <p:nvPr/>
        </p:nvSpPr>
        <p:spPr>
          <a:xfrm>
            <a:off x="413891" y="1197620"/>
            <a:ext cx="2797984" cy="137071"/>
          </a:xfrm>
          <a:prstGeom prst="rect">
            <a:avLst/>
          </a:prstGeom>
          <a:noFill/>
          <a:ln/>
        </p:spPr>
        <p:txBody>
          <a:bodyPr wrap="none" lIns="0" tIns="0" rIns="0" bIns="0" rtlCol="0" anchor="t"/>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Connection First</a:t>
            </a:r>
            <a:endParaRPr lang="en-US" sz="900" dirty="0"/>
          </a:p>
        </p:txBody>
      </p:sp>
      <p:sp>
        <p:nvSpPr>
          <p:cNvPr id="9" name="Text 6"/>
          <p:cNvSpPr/>
          <p:nvPr/>
        </p:nvSpPr>
        <p:spPr>
          <a:xfrm>
            <a:off x="413891" y="1377851"/>
            <a:ext cx="25944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Test your connection before sessions. A wired connection is more stable than Wi-Fi when possible.</a:t>
            </a:r>
            <a:endParaRPr lang="en-US" sz="760" dirty="0"/>
          </a:p>
        </p:txBody>
      </p:sp>
      <p:sp>
        <p:nvSpPr>
          <p:cNvPr id="10" name="Text 7"/>
          <p:cNvSpPr/>
          <p:nvPr/>
        </p:nvSpPr>
        <p:spPr>
          <a:xfrm>
            <a:off x="3171974" y="763339"/>
            <a:ext cx="2799904" cy="1857375"/>
          </a:xfrm>
          <a:prstGeom prst="roundRect">
            <a:avLst>
              <a:gd name="adj" fmla="val 3829"/>
            </a:avLst>
          </a:prstGeom>
          <a:solidFill>
            <a:srgbClr val="EAF4F4"/>
          </a:solidFill>
          <a:ln/>
        </p:spPr>
        <p:txBody>
          <a:bodyPr wrap="square" rtlCol="0" anchor="t"/>
          <a:lstStyle/>
          <a:p>
            <a:pPr marL="0" indent="0">
              <a:buNone/>
            </a:pPr>
            <a:endParaRPr lang="en-US" dirty="0"/>
          </a:p>
        </p:txBody>
      </p:sp>
      <p:sp>
        <p:nvSpPr>
          <p:cNvPr id="11" name="Text 8"/>
          <p:cNvSpPr/>
          <p:nvPr/>
        </p:nvSpPr>
        <p:spPr>
          <a:xfrm>
            <a:off x="3300115" y="896689"/>
            <a:ext cx="257770" cy="257770"/>
          </a:xfrm>
          <a:prstGeom prst="roundRect">
            <a:avLst>
              <a:gd name="adj" fmla="val 22171"/>
            </a:avLst>
          </a:prstGeom>
          <a:solidFill>
            <a:srgbClr val="FFFFFF"/>
          </a:solidFill>
          <a:ln/>
          <a:effectLst>
            <a:outerShdw blurRad="29210" dist="7620" dir="5400000" algn="bl" rotWithShape="0">
              <a:srgbClr val="1B5E72">
                <a:alpha val="10000"/>
              </a:srgbClr>
            </a:outerShdw>
          </a:effectLst>
        </p:spPr>
        <p:txBody>
          <a:bodyPr wrap="non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62632" y="959206"/>
            <a:ext cx="132588" cy="132588"/>
          </a:xfrm>
          <a:prstGeom prst="rect">
            <a:avLst/>
          </a:prstGeom>
        </p:spPr>
      </p:pic>
      <p:sp>
        <p:nvSpPr>
          <p:cNvPr id="13" name="Text 9"/>
          <p:cNvSpPr/>
          <p:nvPr/>
        </p:nvSpPr>
        <p:spPr>
          <a:xfrm>
            <a:off x="3300115" y="1197620"/>
            <a:ext cx="2797984" cy="137071"/>
          </a:xfrm>
          <a:prstGeom prst="rect">
            <a:avLst/>
          </a:prstGeom>
          <a:noFill/>
          <a:ln/>
        </p:spPr>
        <p:txBody>
          <a:bodyPr wrap="none" lIns="0" tIns="0" rIns="0" bIns="0" rtlCol="0" anchor="t"/>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Private Space</a:t>
            </a:r>
            <a:endParaRPr lang="en-US" sz="900" dirty="0"/>
          </a:p>
        </p:txBody>
      </p:sp>
      <p:sp>
        <p:nvSpPr>
          <p:cNvPr id="14" name="Text 10"/>
          <p:cNvSpPr/>
          <p:nvPr/>
        </p:nvSpPr>
        <p:spPr>
          <a:xfrm>
            <a:off x="3300115" y="1377851"/>
            <a:ext cx="2594494" cy="44114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Ensure your environment is private and HIPAA-compliant. Use a white noise machine or close doors to protect confidentiality.</a:t>
            </a:r>
            <a:endParaRPr lang="en-US" sz="760" dirty="0"/>
          </a:p>
        </p:txBody>
      </p:sp>
      <p:sp>
        <p:nvSpPr>
          <p:cNvPr id="15" name="Text 11"/>
          <p:cNvSpPr/>
          <p:nvPr/>
        </p:nvSpPr>
        <p:spPr>
          <a:xfrm>
            <a:off x="6058198" y="763339"/>
            <a:ext cx="2800052" cy="1857375"/>
          </a:xfrm>
          <a:prstGeom prst="roundRect">
            <a:avLst>
              <a:gd name="adj" fmla="val 3829"/>
            </a:avLst>
          </a:prstGeom>
          <a:solidFill>
            <a:srgbClr val="EAF4F4"/>
          </a:solidFill>
          <a:ln/>
        </p:spPr>
        <p:txBody>
          <a:bodyPr wrap="square" rtlCol="0" anchor="t"/>
          <a:lstStyle/>
          <a:p>
            <a:pPr marL="0" indent="0">
              <a:buNone/>
            </a:pPr>
            <a:endParaRPr lang="en-US" dirty="0"/>
          </a:p>
        </p:txBody>
      </p:sp>
      <p:sp>
        <p:nvSpPr>
          <p:cNvPr id="16" name="Text 12"/>
          <p:cNvSpPr/>
          <p:nvPr/>
        </p:nvSpPr>
        <p:spPr>
          <a:xfrm>
            <a:off x="6186339" y="896689"/>
            <a:ext cx="257770" cy="257770"/>
          </a:xfrm>
          <a:prstGeom prst="roundRect">
            <a:avLst>
              <a:gd name="adj" fmla="val 22171"/>
            </a:avLst>
          </a:prstGeom>
          <a:solidFill>
            <a:srgbClr val="FFFFFF"/>
          </a:solidFill>
          <a:ln/>
          <a:effectLst>
            <a:outerShdw blurRad="29210" dist="7620" dir="5400000" algn="bl" rotWithShape="0">
              <a:srgbClr val="1B5E72">
                <a:alpha val="10000"/>
              </a:srgbClr>
            </a:outerShdw>
          </a:effectLst>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8855" y="959206"/>
            <a:ext cx="132588" cy="132588"/>
          </a:xfrm>
          <a:prstGeom prst="rect">
            <a:avLst/>
          </a:prstGeom>
        </p:spPr>
      </p:pic>
      <p:sp>
        <p:nvSpPr>
          <p:cNvPr id="18" name="Text 13"/>
          <p:cNvSpPr/>
          <p:nvPr/>
        </p:nvSpPr>
        <p:spPr>
          <a:xfrm>
            <a:off x="6186339" y="1197620"/>
            <a:ext cx="2798147" cy="137071"/>
          </a:xfrm>
          <a:prstGeom prst="rect">
            <a:avLst/>
          </a:prstGeom>
          <a:noFill/>
          <a:ln/>
        </p:spPr>
        <p:txBody>
          <a:bodyPr wrap="none" lIns="0" tIns="0" rIns="0" bIns="0" rtlCol="0" anchor="t"/>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Camera Placement</a:t>
            </a:r>
            <a:endParaRPr lang="en-US" sz="900" dirty="0"/>
          </a:p>
        </p:txBody>
      </p:sp>
      <p:sp>
        <p:nvSpPr>
          <p:cNvPr id="19" name="Text 14"/>
          <p:cNvSpPr/>
          <p:nvPr/>
        </p:nvSpPr>
        <p:spPr>
          <a:xfrm>
            <a:off x="6186339" y="1377851"/>
            <a:ext cx="2594646"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Position your camera at eye level. Sit with light in front of you — not behind. What clients see matters.</a:t>
            </a:r>
            <a:endParaRPr lang="en-US" sz="760" dirty="0"/>
          </a:p>
        </p:txBody>
      </p:sp>
      <p:sp>
        <p:nvSpPr>
          <p:cNvPr id="20" name="Text 15"/>
          <p:cNvSpPr/>
          <p:nvPr/>
        </p:nvSpPr>
        <p:spPr>
          <a:xfrm>
            <a:off x="285750" y="2707035"/>
            <a:ext cx="2799904" cy="1857375"/>
          </a:xfrm>
          <a:prstGeom prst="roundRect">
            <a:avLst>
              <a:gd name="adj" fmla="val 3829"/>
            </a:avLst>
          </a:prstGeom>
          <a:solidFill>
            <a:srgbClr val="EAF4F4"/>
          </a:solidFill>
          <a:ln/>
        </p:spPr>
        <p:txBody>
          <a:bodyPr wrap="square" rtlCol="0" anchor="t"/>
          <a:lstStyle/>
          <a:p>
            <a:pPr marL="0" indent="0">
              <a:buNone/>
            </a:pPr>
            <a:endParaRPr lang="en-US" dirty="0"/>
          </a:p>
        </p:txBody>
      </p:sp>
      <p:sp>
        <p:nvSpPr>
          <p:cNvPr id="21" name="Text 16"/>
          <p:cNvSpPr/>
          <p:nvPr/>
        </p:nvSpPr>
        <p:spPr>
          <a:xfrm>
            <a:off x="413891" y="2840385"/>
            <a:ext cx="257770" cy="257770"/>
          </a:xfrm>
          <a:prstGeom prst="roundRect">
            <a:avLst>
              <a:gd name="adj" fmla="val 22171"/>
            </a:avLst>
          </a:prstGeom>
          <a:solidFill>
            <a:srgbClr val="FFFFFF"/>
          </a:solidFill>
          <a:ln/>
          <a:effectLst>
            <a:outerShdw blurRad="29210" dist="7620" dir="5400000" algn="bl" rotWithShape="0">
              <a:srgbClr val="1B5E72">
                <a:alpha val="10000"/>
              </a:srgbClr>
            </a:outerShdw>
          </a:effectLst>
        </p:spPr>
        <p:txBody>
          <a:bodyPr wrap="non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6408" y="2902902"/>
            <a:ext cx="132588" cy="132588"/>
          </a:xfrm>
          <a:prstGeom prst="rect">
            <a:avLst/>
          </a:prstGeom>
        </p:spPr>
      </p:pic>
      <p:sp>
        <p:nvSpPr>
          <p:cNvPr id="23" name="Text 17"/>
          <p:cNvSpPr/>
          <p:nvPr/>
        </p:nvSpPr>
        <p:spPr>
          <a:xfrm>
            <a:off x="413891" y="3141315"/>
            <a:ext cx="2797984" cy="137071"/>
          </a:xfrm>
          <a:prstGeom prst="rect">
            <a:avLst/>
          </a:prstGeom>
          <a:noFill/>
          <a:ln/>
        </p:spPr>
        <p:txBody>
          <a:bodyPr wrap="none" lIns="0" tIns="0" rIns="0" bIns="0" rtlCol="0" anchor="t"/>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Audio Check</a:t>
            </a:r>
            <a:endParaRPr lang="en-US" sz="900" dirty="0"/>
          </a:p>
        </p:txBody>
      </p:sp>
      <p:sp>
        <p:nvSpPr>
          <p:cNvPr id="24" name="Text 18"/>
          <p:cNvSpPr/>
          <p:nvPr/>
        </p:nvSpPr>
        <p:spPr>
          <a:xfrm>
            <a:off x="413891" y="3321546"/>
            <a:ext cx="2594494" cy="44114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Test your audio and ask clients to do the same before starting. Headphones reduce echo and background noise significantly.</a:t>
            </a:r>
            <a:endParaRPr lang="en-US" sz="760" dirty="0"/>
          </a:p>
        </p:txBody>
      </p:sp>
      <p:sp>
        <p:nvSpPr>
          <p:cNvPr id="25" name="Text 19"/>
          <p:cNvSpPr/>
          <p:nvPr/>
        </p:nvSpPr>
        <p:spPr>
          <a:xfrm>
            <a:off x="3171974" y="2707035"/>
            <a:ext cx="2799904" cy="1857375"/>
          </a:xfrm>
          <a:prstGeom prst="roundRect">
            <a:avLst>
              <a:gd name="adj" fmla="val 3829"/>
            </a:avLst>
          </a:prstGeom>
          <a:solidFill>
            <a:srgbClr val="EAF4F4"/>
          </a:solidFill>
          <a:ln/>
        </p:spPr>
        <p:txBody>
          <a:bodyPr wrap="square" rtlCol="0" anchor="t"/>
          <a:lstStyle/>
          <a:p>
            <a:pPr marL="0" indent="0">
              <a:buNone/>
            </a:pPr>
            <a:endParaRPr lang="en-US" dirty="0"/>
          </a:p>
        </p:txBody>
      </p:sp>
      <p:sp>
        <p:nvSpPr>
          <p:cNvPr id="26" name="Text 20"/>
          <p:cNvSpPr/>
          <p:nvPr/>
        </p:nvSpPr>
        <p:spPr>
          <a:xfrm>
            <a:off x="3300115" y="2840385"/>
            <a:ext cx="257770" cy="257770"/>
          </a:xfrm>
          <a:prstGeom prst="roundRect">
            <a:avLst>
              <a:gd name="adj" fmla="val 22171"/>
            </a:avLst>
          </a:prstGeom>
          <a:solidFill>
            <a:srgbClr val="FFFFFF"/>
          </a:solidFill>
          <a:ln/>
          <a:effectLst>
            <a:outerShdw blurRad="29210" dist="7620" dir="5400000" algn="bl" rotWithShape="0">
              <a:srgbClr val="1B5E72">
                <a:alpha val="10000"/>
              </a:srgbClr>
            </a:outerShdw>
          </a:effectLst>
        </p:spPr>
        <p:txBody>
          <a:bodyPr wrap="non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62632" y="2902902"/>
            <a:ext cx="132588" cy="132588"/>
          </a:xfrm>
          <a:prstGeom prst="rect">
            <a:avLst/>
          </a:prstGeom>
        </p:spPr>
      </p:pic>
      <p:sp>
        <p:nvSpPr>
          <p:cNvPr id="28" name="Text 21"/>
          <p:cNvSpPr/>
          <p:nvPr/>
        </p:nvSpPr>
        <p:spPr>
          <a:xfrm>
            <a:off x="3300115" y="3141315"/>
            <a:ext cx="2797984" cy="137071"/>
          </a:xfrm>
          <a:prstGeom prst="rect">
            <a:avLst/>
          </a:prstGeom>
          <a:noFill/>
          <a:ln/>
        </p:spPr>
        <p:txBody>
          <a:bodyPr wrap="none" lIns="0" tIns="0" rIns="0" bIns="0" rtlCol="0" anchor="t"/>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Backup Plan</a:t>
            </a:r>
            <a:endParaRPr lang="en-US" sz="900" dirty="0"/>
          </a:p>
        </p:txBody>
      </p:sp>
      <p:sp>
        <p:nvSpPr>
          <p:cNvPr id="29" name="Text 22"/>
          <p:cNvSpPr/>
          <p:nvPr/>
        </p:nvSpPr>
        <p:spPr>
          <a:xfrm>
            <a:off x="3300115" y="3321546"/>
            <a:ext cx="25944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Always have a backup plan — know your client's phone number and have a plan ready if the video connection fails.</a:t>
            </a:r>
            <a:endParaRPr lang="en-US" sz="760" dirty="0"/>
          </a:p>
        </p:txBody>
      </p:sp>
      <p:sp>
        <p:nvSpPr>
          <p:cNvPr id="30" name="Text 23"/>
          <p:cNvSpPr/>
          <p:nvPr/>
        </p:nvSpPr>
        <p:spPr>
          <a:xfrm>
            <a:off x="6058198" y="2707035"/>
            <a:ext cx="2800052" cy="1857375"/>
          </a:xfrm>
          <a:prstGeom prst="roundRect">
            <a:avLst>
              <a:gd name="adj" fmla="val 3829"/>
            </a:avLst>
          </a:prstGeom>
          <a:solidFill>
            <a:srgbClr val="EAF4F4"/>
          </a:solidFill>
          <a:ln/>
        </p:spPr>
        <p:txBody>
          <a:bodyPr wrap="square" rtlCol="0" anchor="t"/>
          <a:lstStyle/>
          <a:p>
            <a:pPr marL="0" indent="0">
              <a:buNone/>
            </a:pPr>
            <a:endParaRPr lang="en-US" dirty="0"/>
          </a:p>
        </p:txBody>
      </p:sp>
      <p:sp>
        <p:nvSpPr>
          <p:cNvPr id="31" name="Text 24"/>
          <p:cNvSpPr/>
          <p:nvPr/>
        </p:nvSpPr>
        <p:spPr>
          <a:xfrm>
            <a:off x="6186339" y="2840385"/>
            <a:ext cx="257770" cy="257770"/>
          </a:xfrm>
          <a:prstGeom prst="roundRect">
            <a:avLst>
              <a:gd name="adj" fmla="val 22171"/>
            </a:avLst>
          </a:prstGeom>
          <a:solidFill>
            <a:srgbClr val="FFFFFF"/>
          </a:solidFill>
          <a:ln/>
          <a:effectLst>
            <a:outerShdw blurRad="29210" dist="7620" dir="5400000" algn="bl" rotWithShape="0">
              <a:srgbClr val="1B5E72">
                <a:alpha val="10000"/>
              </a:srgbClr>
            </a:outerShdw>
          </a:effectLst>
        </p:spPr>
        <p:txBody>
          <a:bodyPr wrap="none" rtlCol="0" anchor="t"/>
          <a:lstStyle/>
          <a:p>
            <a:pPr marL="0" indent="0">
              <a:buNone/>
            </a:pPr>
            <a:endParaRPr lang="en-US" dirty="0"/>
          </a:p>
        </p:txBody>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8855" y="2902902"/>
            <a:ext cx="132588" cy="132588"/>
          </a:xfrm>
          <a:prstGeom prst="rect">
            <a:avLst/>
          </a:prstGeom>
        </p:spPr>
      </p:pic>
      <p:sp>
        <p:nvSpPr>
          <p:cNvPr id="33" name="Text 25"/>
          <p:cNvSpPr/>
          <p:nvPr/>
        </p:nvSpPr>
        <p:spPr>
          <a:xfrm>
            <a:off x="6186339" y="3141315"/>
            <a:ext cx="2798147" cy="137071"/>
          </a:xfrm>
          <a:prstGeom prst="rect">
            <a:avLst/>
          </a:prstGeom>
          <a:noFill/>
          <a:ln/>
        </p:spPr>
        <p:txBody>
          <a:bodyPr wrap="none" lIns="0" tIns="0" rIns="0" bIns="0" rtlCol="0" anchor="t"/>
          <a:lstStyle/>
          <a:p>
            <a:pPr marL="0" indent="0" algn="l">
              <a:lnSpc>
                <a:spcPts val="1080"/>
              </a:lnSpc>
              <a:buNone/>
            </a:pPr>
            <a:r>
              <a:rPr lang="en-US" sz="900" b="1" dirty="0">
                <a:solidFill>
                  <a:srgbClr val="1B5E72"/>
                </a:solidFill>
                <a:latin typeface="Calibri Light" pitchFamily="34" charset="0"/>
                <a:ea typeface="Calibri Light" pitchFamily="34" charset="-122"/>
                <a:cs typeface="Calibri Light" pitchFamily="34" charset="-120"/>
              </a:rPr>
              <a:t>Set Expectations with Clients</a:t>
            </a:r>
            <a:endParaRPr lang="en-US" sz="900" dirty="0"/>
          </a:p>
        </p:txBody>
      </p:sp>
      <p:sp>
        <p:nvSpPr>
          <p:cNvPr id="34" name="Text 26"/>
          <p:cNvSpPr/>
          <p:nvPr/>
        </p:nvSpPr>
        <p:spPr>
          <a:xfrm>
            <a:off x="6186339" y="3321546"/>
            <a:ext cx="2594646" cy="44114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Walk clients and families through how Zoom works at the first session. Do not assume they know. Simple orientation reduces friction every session after.</a:t>
            </a:r>
            <a:endParaRPr lang="en-US" sz="760" dirty="0"/>
          </a:p>
        </p:txBody>
      </p:sp>
      <p:sp>
        <p:nvSpPr>
          <p:cNvPr id="35" name="Text 27"/>
          <p:cNvSpPr/>
          <p:nvPr/>
        </p:nvSpPr>
        <p:spPr>
          <a:xfrm>
            <a:off x="0" y="4843909"/>
            <a:ext cx="9144000" cy="329550"/>
          </a:xfrm>
          <a:prstGeom prst="rect">
            <a:avLst/>
          </a:prstGeom>
          <a:solidFill>
            <a:srgbClr val="FAB753"/>
          </a:solidFill>
          <a:ln/>
        </p:spPr>
        <p:txBody>
          <a:bodyPr wrap="none" lIns="0" tIns="0" rIns="0" bIns="0" rtlCol="0" anchor="ctr"/>
          <a:lstStyle/>
          <a:p>
            <a:pPr marL="0" indent="0" algn="ctr">
              <a:buNone/>
            </a:pPr>
            <a:r>
              <a:rPr lang="en-US" sz="840" b="1" kern="0" spc="17" dirty="0">
                <a:solidFill>
                  <a:srgbClr val="2C2C2C"/>
                </a:solidFill>
                <a:latin typeface="Calibri" pitchFamily="34" charset="0"/>
                <a:ea typeface="Calibri" pitchFamily="34" charset="-122"/>
                <a:cs typeface="Calibri" pitchFamily="34" charset="-120"/>
              </a:rPr>
              <a:t>A smooth session starts before you press join.</a:t>
            </a:r>
            <a:endParaRPr lang="en-US" sz="840" dirty="0"/>
          </a:p>
        </p:txBody>
      </p:sp>
      <p:sp>
        <p:nvSpPr>
          <p:cNvPr id="36" name="Text 28"/>
          <p:cNvSpPr/>
          <p:nvPr/>
        </p:nvSpPr>
        <p:spPr>
          <a:xfrm>
            <a:off x="285750" y="782389"/>
            <a:ext cx="2799902" cy="21580"/>
          </a:xfrm>
          <a:custGeom>
            <a:avLst/>
            <a:gdLst/>
            <a:ahLst/>
            <a:cxnLst/>
            <a:rect l="l" t="t" r="r" b="b"/>
            <a:pathLst>
              <a:path w="2799902" h="21580">
                <a:moveTo>
                  <a:pt x="71120" y="0"/>
                </a:moveTo>
                <a:lnTo>
                  <a:pt x="2728782" y="0"/>
                </a:lnTo>
                <a:lnTo>
                  <a:pt x="2748184" y="2698"/>
                </a:lnTo>
                <a:lnTo>
                  <a:pt x="2755954" y="5395"/>
                </a:lnTo>
                <a:lnTo>
                  <a:pt x="2761731" y="8093"/>
                </a:lnTo>
                <a:lnTo>
                  <a:pt x="2766443" y="10790"/>
                </a:lnTo>
                <a:lnTo>
                  <a:pt x="2770454" y="13488"/>
                </a:lnTo>
                <a:lnTo>
                  <a:pt x="2773951" y="16185"/>
                </a:lnTo>
                <a:lnTo>
                  <a:pt x="2777045" y="18883"/>
                </a:lnTo>
                <a:lnTo>
                  <a:pt x="277981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37" name="Text 29"/>
          <p:cNvSpPr/>
          <p:nvPr/>
        </p:nvSpPr>
        <p:spPr>
          <a:xfrm>
            <a:off x="3171974" y="782389"/>
            <a:ext cx="2799902" cy="21580"/>
          </a:xfrm>
          <a:custGeom>
            <a:avLst/>
            <a:gdLst/>
            <a:ahLst/>
            <a:cxnLst/>
            <a:rect l="l" t="t" r="r" b="b"/>
            <a:pathLst>
              <a:path w="2799902" h="21580">
                <a:moveTo>
                  <a:pt x="71120" y="0"/>
                </a:moveTo>
                <a:lnTo>
                  <a:pt x="2728782" y="0"/>
                </a:lnTo>
                <a:lnTo>
                  <a:pt x="2748184" y="2698"/>
                </a:lnTo>
                <a:lnTo>
                  <a:pt x="2755954" y="5395"/>
                </a:lnTo>
                <a:lnTo>
                  <a:pt x="2761731" y="8093"/>
                </a:lnTo>
                <a:lnTo>
                  <a:pt x="2766443" y="10790"/>
                </a:lnTo>
                <a:lnTo>
                  <a:pt x="2770454" y="13488"/>
                </a:lnTo>
                <a:lnTo>
                  <a:pt x="2773951" y="16185"/>
                </a:lnTo>
                <a:lnTo>
                  <a:pt x="2777045" y="18883"/>
                </a:lnTo>
                <a:lnTo>
                  <a:pt x="277981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38" name="Text 30"/>
          <p:cNvSpPr/>
          <p:nvPr/>
        </p:nvSpPr>
        <p:spPr>
          <a:xfrm>
            <a:off x="6058198" y="782389"/>
            <a:ext cx="2800055" cy="21580"/>
          </a:xfrm>
          <a:custGeom>
            <a:avLst/>
            <a:gdLst/>
            <a:ahLst/>
            <a:cxnLst/>
            <a:rect l="l" t="t" r="r" b="b"/>
            <a:pathLst>
              <a:path w="2800055" h="21580">
                <a:moveTo>
                  <a:pt x="71120" y="0"/>
                </a:moveTo>
                <a:lnTo>
                  <a:pt x="2728935" y="0"/>
                </a:lnTo>
                <a:lnTo>
                  <a:pt x="2748336" y="2698"/>
                </a:lnTo>
                <a:lnTo>
                  <a:pt x="2756106" y="5395"/>
                </a:lnTo>
                <a:lnTo>
                  <a:pt x="2761883" y="8093"/>
                </a:lnTo>
                <a:lnTo>
                  <a:pt x="2766596" y="10790"/>
                </a:lnTo>
                <a:lnTo>
                  <a:pt x="2770607" y="13488"/>
                </a:lnTo>
                <a:lnTo>
                  <a:pt x="2774103" y="16185"/>
                </a:lnTo>
                <a:lnTo>
                  <a:pt x="2777198" y="18883"/>
                </a:lnTo>
                <a:lnTo>
                  <a:pt x="2779963"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39" name="Text 31"/>
          <p:cNvSpPr/>
          <p:nvPr/>
        </p:nvSpPr>
        <p:spPr>
          <a:xfrm>
            <a:off x="285750" y="2726085"/>
            <a:ext cx="2799902" cy="21580"/>
          </a:xfrm>
          <a:custGeom>
            <a:avLst/>
            <a:gdLst/>
            <a:ahLst/>
            <a:cxnLst/>
            <a:rect l="l" t="t" r="r" b="b"/>
            <a:pathLst>
              <a:path w="2799902" h="21580">
                <a:moveTo>
                  <a:pt x="71120" y="0"/>
                </a:moveTo>
                <a:lnTo>
                  <a:pt x="2728782" y="0"/>
                </a:lnTo>
                <a:lnTo>
                  <a:pt x="2748184" y="2698"/>
                </a:lnTo>
                <a:lnTo>
                  <a:pt x="2755954" y="5395"/>
                </a:lnTo>
                <a:lnTo>
                  <a:pt x="2761731" y="8093"/>
                </a:lnTo>
                <a:lnTo>
                  <a:pt x="2766443" y="10790"/>
                </a:lnTo>
                <a:lnTo>
                  <a:pt x="2770454" y="13488"/>
                </a:lnTo>
                <a:lnTo>
                  <a:pt x="2773951" y="16185"/>
                </a:lnTo>
                <a:lnTo>
                  <a:pt x="2777045" y="18883"/>
                </a:lnTo>
                <a:lnTo>
                  <a:pt x="277981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0" name="Text 32"/>
          <p:cNvSpPr/>
          <p:nvPr/>
        </p:nvSpPr>
        <p:spPr>
          <a:xfrm>
            <a:off x="3171974" y="2726085"/>
            <a:ext cx="2799902" cy="21580"/>
          </a:xfrm>
          <a:custGeom>
            <a:avLst/>
            <a:gdLst/>
            <a:ahLst/>
            <a:cxnLst/>
            <a:rect l="l" t="t" r="r" b="b"/>
            <a:pathLst>
              <a:path w="2799902" h="21580">
                <a:moveTo>
                  <a:pt x="71120" y="0"/>
                </a:moveTo>
                <a:lnTo>
                  <a:pt x="2728782" y="0"/>
                </a:lnTo>
                <a:lnTo>
                  <a:pt x="2748184" y="2698"/>
                </a:lnTo>
                <a:lnTo>
                  <a:pt x="2755954" y="5395"/>
                </a:lnTo>
                <a:lnTo>
                  <a:pt x="2761731" y="8093"/>
                </a:lnTo>
                <a:lnTo>
                  <a:pt x="2766443" y="10790"/>
                </a:lnTo>
                <a:lnTo>
                  <a:pt x="2770454" y="13488"/>
                </a:lnTo>
                <a:lnTo>
                  <a:pt x="2773951" y="16185"/>
                </a:lnTo>
                <a:lnTo>
                  <a:pt x="2777045" y="18883"/>
                </a:lnTo>
                <a:lnTo>
                  <a:pt x="277981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1" name="Text 33"/>
          <p:cNvSpPr/>
          <p:nvPr/>
        </p:nvSpPr>
        <p:spPr>
          <a:xfrm>
            <a:off x="6058198" y="2726085"/>
            <a:ext cx="2800055" cy="21580"/>
          </a:xfrm>
          <a:custGeom>
            <a:avLst/>
            <a:gdLst/>
            <a:ahLst/>
            <a:cxnLst/>
            <a:rect l="l" t="t" r="r" b="b"/>
            <a:pathLst>
              <a:path w="2800055" h="21580">
                <a:moveTo>
                  <a:pt x="71120" y="0"/>
                </a:moveTo>
                <a:lnTo>
                  <a:pt x="2728935" y="0"/>
                </a:lnTo>
                <a:lnTo>
                  <a:pt x="2748336" y="2698"/>
                </a:lnTo>
                <a:lnTo>
                  <a:pt x="2756106" y="5395"/>
                </a:lnTo>
                <a:lnTo>
                  <a:pt x="2761883" y="8093"/>
                </a:lnTo>
                <a:lnTo>
                  <a:pt x="2766596" y="10790"/>
                </a:lnTo>
                <a:lnTo>
                  <a:pt x="2770607" y="13488"/>
                </a:lnTo>
                <a:lnTo>
                  <a:pt x="2774103" y="16185"/>
                </a:lnTo>
                <a:lnTo>
                  <a:pt x="2777198" y="18883"/>
                </a:lnTo>
                <a:lnTo>
                  <a:pt x="2779963"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57770" y="314920"/>
            <a:ext cx="2105323" cy="112216"/>
          </a:xfrm>
          <a:prstGeom prst="rect">
            <a:avLst/>
          </a:prstGeom>
          <a:noFill/>
          <a:ln/>
        </p:spPr>
        <p:txBody>
          <a:bodyPr wrap="none" lIns="0" tIns="0" rIns="0" bIns="0" rtlCol="0" anchor="t"/>
          <a:lstStyle/>
          <a:p>
            <a:pPr marL="0" indent="0" algn="l">
              <a:lnSpc>
                <a:spcPts val="885"/>
              </a:lnSpc>
              <a:buNone/>
            </a:pPr>
            <a:r>
              <a:rPr lang="en-US" sz="590" b="1" kern="0" spc="77" dirty="0">
                <a:solidFill>
                  <a:srgbClr val="FAB753"/>
                </a:solidFill>
                <a:latin typeface="Calibri" pitchFamily="34" charset="0"/>
                <a:ea typeface="Calibri" pitchFamily="34" charset="-122"/>
                <a:cs typeface="Calibri" pitchFamily="34" charset="-120"/>
              </a:rPr>
              <a:t>TOPHER'S TELEHEALTH TOYBOX</a:t>
            </a:r>
            <a:endParaRPr lang="en-US" sz="590" dirty="0"/>
          </a:p>
        </p:txBody>
      </p:sp>
      <p:sp>
        <p:nvSpPr>
          <p:cNvPr id="4" name="Text 2"/>
          <p:cNvSpPr/>
          <p:nvPr/>
        </p:nvSpPr>
        <p:spPr>
          <a:xfrm>
            <a:off x="257770" y="498128"/>
            <a:ext cx="1952208" cy="627578"/>
          </a:xfrm>
          <a:prstGeom prst="rect">
            <a:avLst/>
          </a:prstGeom>
          <a:noFill/>
          <a:ln/>
        </p:spPr>
        <p:txBody>
          <a:bodyPr wrap="square" lIns="0" tIns="0" rIns="0" bIns="0" rtlCol="0" anchor="ctr"/>
          <a:lstStyle/>
          <a:p>
            <a:pPr marL="0" indent="0" algn="l">
              <a:lnSpc>
                <a:spcPts val="2354"/>
              </a:lnSpc>
              <a:buNone/>
            </a:pPr>
            <a:r>
              <a:rPr lang="en-US" sz="2140" b="1" dirty="0">
                <a:solidFill>
                  <a:srgbClr val="FFFFFF"/>
                </a:solidFill>
                <a:latin typeface="Calibri Light" pitchFamily="34" charset="0"/>
                <a:ea typeface="Calibri Light" pitchFamily="34" charset="-122"/>
                <a:cs typeface="Calibri Light" pitchFamily="34" charset="-120"/>
              </a:rPr>
              <a:t>The Fun</a:t>
            </a:r>
            <a:br/>
            <a:r>
              <a:rPr lang="en-US" sz="2140" b="1" dirty="0">
                <a:solidFill>
                  <a:srgbClr val="FFFFFF"/>
                </a:solidFill>
                <a:latin typeface="Calibri Light" pitchFamily="34" charset="0"/>
                <a:ea typeface="Calibri Light" pitchFamily="34" charset="-122"/>
                <a:cs typeface="Calibri Light" pitchFamily="34" charset="-120"/>
              </a:rPr>
              <a:t>Stuff</a:t>
            </a:r>
            <a:endParaRPr lang="en-US" sz="2140" dirty="0"/>
          </a:p>
        </p:txBody>
      </p:sp>
      <p:sp>
        <p:nvSpPr>
          <p:cNvPr id="5" name="Text 3"/>
          <p:cNvSpPr/>
          <p:nvPr/>
        </p:nvSpPr>
        <p:spPr>
          <a:xfrm>
            <a:off x="257770" y="1223963"/>
            <a:ext cx="1952208" cy="471153"/>
          </a:xfrm>
          <a:prstGeom prst="rect">
            <a:avLst/>
          </a:prstGeom>
          <a:noFill/>
          <a:ln/>
        </p:spPr>
        <p:txBody>
          <a:bodyPr wrap="square" lIns="0" tIns="0" rIns="0" bIns="0" rtlCol="0" anchor="t"/>
          <a:lstStyle/>
          <a:p>
            <a:pPr marL="0" indent="0" algn="l">
              <a:lnSpc>
                <a:spcPts val="1178"/>
              </a:lnSpc>
              <a:buNone/>
            </a:pPr>
            <a:r>
              <a:rPr lang="en-US" sz="760" i="1" dirty="0">
                <a:solidFill>
                  <a:srgbClr val="FFFFFF">
                    <a:alpha val="82000"/>
                  </a:srgbClr>
                </a:solidFill>
                <a:latin typeface="Calibri" pitchFamily="34" charset="0"/>
                <a:ea typeface="Calibri" pitchFamily="34" charset="-122"/>
                <a:cs typeface="Calibri" pitchFamily="34" charset="-120"/>
              </a:rPr>
              <a:t>A curated collection of virtual games, art tools, play therapy activities, and therapeutic resources — ready to use in session.</a:t>
            </a:r>
            <a:endParaRPr lang="en-US" sz="760" dirty="0"/>
          </a:p>
        </p:txBody>
      </p:sp>
      <p:sp>
        <p:nvSpPr>
          <p:cNvPr id="6" name="Text 4"/>
          <p:cNvSpPr/>
          <p:nvPr/>
        </p:nvSpPr>
        <p:spPr>
          <a:xfrm>
            <a:off x="928985" y="1873300"/>
            <a:ext cx="571500" cy="571500"/>
          </a:xfrm>
          <a:prstGeom prst="ellipse">
            <a:avLst/>
          </a:prstGeom>
          <a:solidFill>
            <a:srgbClr val="FAB753">
              <a:alpha val="15000"/>
            </a:srgbClr>
          </a:solidFill>
          <a:ln w="9525">
            <a:solidFill>
              <a:srgbClr val="FAB753">
                <a:alpha val="35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7579" y="2051893"/>
            <a:ext cx="214313" cy="214313"/>
          </a:xfrm>
          <a:prstGeom prst="rect">
            <a:avLst/>
          </a:prstGeom>
        </p:spPr>
      </p:pic>
      <p:sp>
        <p:nvSpPr>
          <p:cNvPr id="8" name="Text 5"/>
          <p:cNvSpPr/>
          <p:nvPr/>
        </p:nvSpPr>
        <p:spPr>
          <a:xfrm>
            <a:off x="286941" y="2645420"/>
            <a:ext cx="49411" cy="49411"/>
          </a:xfrm>
          <a:prstGeom prst="ellipse">
            <a:avLst/>
          </a:prstGeom>
          <a:solidFill>
            <a:srgbClr val="FAB753">
              <a:alpha val="50000"/>
            </a:srgbClr>
          </a:solidFill>
          <a:ln/>
        </p:spPr>
        <p:txBody>
          <a:bodyPr wrap="none" rtlCol="0" anchor="t"/>
          <a:lstStyle/>
          <a:p>
            <a:pPr marL="0" indent="0">
              <a:buNone/>
            </a:pPr>
            <a:endParaRPr lang="en-US" dirty="0"/>
          </a:p>
        </p:txBody>
      </p:sp>
      <p:sp>
        <p:nvSpPr>
          <p:cNvPr id="9" name="Text 6"/>
          <p:cNvSpPr/>
          <p:nvPr/>
        </p:nvSpPr>
        <p:spPr>
          <a:xfrm>
            <a:off x="385763" y="2645420"/>
            <a:ext cx="49411" cy="49411"/>
          </a:xfrm>
          <a:prstGeom prst="ellipse">
            <a:avLst/>
          </a:prstGeom>
          <a:solidFill>
            <a:srgbClr val="FAB753">
              <a:alpha val="30000"/>
            </a:srgbClr>
          </a:solidFill>
          <a:ln/>
        </p:spPr>
        <p:txBody>
          <a:bodyPr wrap="none" rtlCol="0" anchor="t"/>
          <a:lstStyle/>
          <a:p>
            <a:pPr marL="0" indent="0">
              <a:buNone/>
            </a:pPr>
            <a:endParaRPr lang="en-US" dirty="0"/>
          </a:p>
        </p:txBody>
      </p:sp>
      <p:sp>
        <p:nvSpPr>
          <p:cNvPr id="10" name="Text 7"/>
          <p:cNvSpPr/>
          <p:nvPr/>
        </p:nvSpPr>
        <p:spPr>
          <a:xfrm>
            <a:off x="484584" y="2645420"/>
            <a:ext cx="49411" cy="49411"/>
          </a:xfrm>
          <a:prstGeom prst="ellipse">
            <a:avLst/>
          </a:prstGeom>
          <a:solidFill>
            <a:srgbClr val="FAB753">
              <a:alpha val="15000"/>
            </a:srgbClr>
          </a:solidFill>
          <a:ln/>
        </p:spPr>
        <p:txBody>
          <a:bodyPr wrap="none" rtlCol="0" anchor="t"/>
          <a:lstStyle/>
          <a:p>
            <a:pPr marL="0" indent="0">
              <a:buNone/>
            </a:pPr>
            <a:endParaRPr lang="en-US" dirty="0"/>
          </a:p>
        </p:txBody>
      </p:sp>
      <p:sp>
        <p:nvSpPr>
          <p:cNvPr id="11" name="Text 8"/>
          <p:cNvSpPr/>
          <p:nvPr/>
        </p:nvSpPr>
        <p:spPr>
          <a:xfrm>
            <a:off x="286941" y="2781151"/>
            <a:ext cx="1855589" cy="7590"/>
          </a:xfrm>
          <a:prstGeom prst="rect">
            <a:avLst/>
          </a:prstGeom>
          <a:solidFill>
            <a:srgbClr val="FFFFFF">
              <a:alpha val="10000"/>
            </a:srgbClr>
          </a:solidFill>
          <a:ln/>
        </p:spPr>
        <p:txBody>
          <a:bodyPr wrap="none" rtlCol="0" anchor="t"/>
          <a:lstStyle/>
          <a:p>
            <a:pPr marL="0" indent="0">
              <a:buNone/>
            </a:pPr>
            <a:endParaRPr lang="en-US" dirty="0"/>
          </a:p>
        </p:txBody>
      </p:sp>
      <p:sp>
        <p:nvSpPr>
          <p:cNvPr id="12" name="Text 9"/>
          <p:cNvSpPr/>
          <p:nvPr/>
        </p:nvSpPr>
        <p:spPr>
          <a:xfrm>
            <a:off x="286941" y="2889052"/>
            <a:ext cx="1892701" cy="247843"/>
          </a:xfrm>
          <a:prstGeom prst="rect">
            <a:avLst/>
          </a:prstGeom>
          <a:noFill/>
          <a:ln/>
        </p:spPr>
        <p:txBody>
          <a:bodyPr wrap="square" lIns="0" tIns="0" rIns="0" bIns="0" rtlCol="0" anchor="ctr"/>
          <a:lstStyle/>
          <a:p>
            <a:pPr marL="0" indent="0" algn="l">
              <a:lnSpc>
                <a:spcPts val="930"/>
              </a:lnSpc>
              <a:buNone/>
            </a:pPr>
            <a:r>
              <a:rPr lang="en-US" sz="620" dirty="0">
                <a:solidFill>
                  <a:srgbClr val="FFFFFF">
                    <a:alpha val="45000"/>
                  </a:srgbClr>
                </a:solidFill>
                <a:latin typeface="Calibri" pitchFamily="34" charset="0"/>
                <a:ea typeface="Calibri" pitchFamily="34" charset="-122"/>
                <a:cs typeface="Calibri" pitchFamily="34" charset="-120"/>
              </a:rPr>
              <a:t>Centerstone Clinical Training Series</a:t>
            </a:r>
            <a:br/>
            <a:r>
              <a:rPr lang="en-US" sz="620" dirty="0">
                <a:solidFill>
                  <a:srgbClr val="FFFFFF">
                    <a:alpha val="45000"/>
                  </a:srgbClr>
                </a:solidFill>
                <a:latin typeface="Calibri" pitchFamily="34" charset="0"/>
                <a:ea typeface="Calibri" pitchFamily="34" charset="-122"/>
                <a:cs typeface="Calibri" pitchFamily="34" charset="-120"/>
              </a:rPr>
              <a:t>Telehealth 101 · June 2026</a:t>
            </a:r>
            <a:endParaRPr lang="en-US" sz="620" dirty="0"/>
          </a:p>
        </p:txBody>
      </p:sp>
      <p:sp>
        <p:nvSpPr>
          <p:cNvPr id="13" name="Text 10"/>
          <p:cNvSpPr/>
          <p:nvPr/>
        </p:nvSpPr>
        <p:spPr>
          <a:xfrm>
            <a:off x="0" y="5100340"/>
            <a:ext cx="2429470" cy="43160"/>
          </a:xfrm>
          <a:prstGeom prst="rect">
            <a:avLst/>
          </a:prstGeom>
          <a:solidFill>
            <a:srgbClr val="FAB753"/>
          </a:solidFill>
          <a:ln/>
        </p:spPr>
        <p:txBody>
          <a:bodyPr wrap="none" rtlCol="0" anchor="t"/>
          <a:lstStyle/>
          <a:p>
            <a:pPr marL="0" indent="0">
              <a:buNone/>
            </a:pPr>
            <a:endParaRPr lang="en-US" dirty="0"/>
          </a:p>
        </p:txBody>
      </p:sp>
      <p:sp>
        <p:nvSpPr>
          <p:cNvPr id="14" name="Text 11"/>
          <p:cNvSpPr/>
          <p:nvPr/>
        </p:nvSpPr>
        <p:spPr>
          <a:xfrm>
            <a:off x="2429470" y="0"/>
            <a:ext cx="6714530" cy="5143500"/>
          </a:xfrm>
          <a:prstGeom prst="rect">
            <a:avLst/>
          </a:prstGeom>
          <a:solidFill>
            <a:srgbClr val="FFFFFF"/>
          </a:solidFill>
          <a:ln/>
        </p:spPr>
        <p:txBody>
          <a:bodyPr wrap="square" rtlCol="0" anchor="t"/>
          <a:lstStyle/>
          <a:p>
            <a:pPr marL="0" indent="0">
              <a:buNone/>
            </a:pPr>
            <a:endParaRPr lang="en-US" dirty="0"/>
          </a:p>
        </p:txBody>
      </p:sp>
      <p:sp>
        <p:nvSpPr>
          <p:cNvPr id="15" name="Text 12"/>
          <p:cNvSpPr/>
          <p:nvPr/>
        </p:nvSpPr>
        <p:spPr>
          <a:xfrm>
            <a:off x="2744391" y="257770"/>
            <a:ext cx="6725245" cy="236190"/>
          </a:xfrm>
          <a:prstGeom prst="rect">
            <a:avLst/>
          </a:prstGeom>
          <a:noFill/>
          <a:ln/>
        </p:spPr>
        <p:txBody>
          <a:bodyPr wrap="none" lIns="0" tIns="0" rIns="0" bIns="0" rtlCol="0" anchor="t"/>
          <a:lstStyle/>
          <a:p>
            <a:pPr marL="0" indent="0" algn="l">
              <a:lnSpc>
                <a:spcPts val="1860"/>
              </a:lnSpc>
              <a:buNone/>
            </a:pPr>
            <a:r>
              <a:rPr lang="en-US" sz="1240" b="1" kern="0" spc="12" dirty="0">
                <a:solidFill>
                  <a:srgbClr val="1B5E72"/>
                </a:solidFill>
                <a:latin typeface="Calibri Light" pitchFamily="34" charset="0"/>
                <a:ea typeface="Calibri Light" pitchFamily="34" charset="-122"/>
                <a:cs typeface="Calibri Light" pitchFamily="34" charset="-120"/>
              </a:rPr>
              <a:t>Virtual Games &amp; Activities</a:t>
            </a:r>
            <a:endParaRPr lang="en-US" sz="1240" dirty="0"/>
          </a:p>
        </p:txBody>
      </p:sp>
      <p:sp>
        <p:nvSpPr>
          <p:cNvPr id="16" name="Text 13"/>
          <p:cNvSpPr/>
          <p:nvPr/>
        </p:nvSpPr>
        <p:spPr>
          <a:xfrm>
            <a:off x="2744391" y="537121"/>
            <a:ext cx="3429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7" name="Text 14"/>
          <p:cNvSpPr/>
          <p:nvPr/>
        </p:nvSpPr>
        <p:spPr>
          <a:xfrm>
            <a:off x="2744391" y="673001"/>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89048" y="711407"/>
            <a:ext cx="132588" cy="132588"/>
          </a:xfrm>
          <a:prstGeom prst="rect">
            <a:avLst/>
          </a:prstGeom>
        </p:spPr>
      </p:pic>
      <p:sp>
        <p:nvSpPr>
          <p:cNvPr id="19" name="Text 15"/>
          <p:cNvSpPr/>
          <p:nvPr/>
        </p:nvSpPr>
        <p:spPr>
          <a:xfrm>
            <a:off x="2966293" y="730151"/>
            <a:ext cx="2280821"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Therapeutic Jeopardy — multiple topic templates</a:t>
            </a:r>
            <a:endParaRPr lang="en-US" sz="730" dirty="0"/>
          </a:p>
        </p:txBody>
      </p:sp>
      <p:sp>
        <p:nvSpPr>
          <p:cNvPr id="20" name="Text 16"/>
          <p:cNvSpPr/>
          <p:nvPr/>
        </p:nvSpPr>
        <p:spPr>
          <a:xfrm>
            <a:off x="2744391" y="966490"/>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89048" y="1004896"/>
            <a:ext cx="132588" cy="132588"/>
          </a:xfrm>
          <a:prstGeom prst="rect">
            <a:avLst/>
          </a:prstGeom>
        </p:spPr>
      </p:pic>
      <p:sp>
        <p:nvSpPr>
          <p:cNvPr id="22" name="Text 17"/>
          <p:cNvSpPr/>
          <p:nvPr/>
        </p:nvSpPr>
        <p:spPr>
          <a:xfrm>
            <a:off x="2966293" y="1023640"/>
            <a:ext cx="2122512"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skribbl.io — Free drawing and guessing game</a:t>
            </a:r>
            <a:endParaRPr lang="en-US" sz="730" dirty="0"/>
          </a:p>
        </p:txBody>
      </p:sp>
      <p:sp>
        <p:nvSpPr>
          <p:cNvPr id="23" name="Text 18"/>
          <p:cNvSpPr/>
          <p:nvPr/>
        </p:nvSpPr>
        <p:spPr>
          <a:xfrm>
            <a:off x="2744391" y="1259979"/>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89048" y="1298385"/>
            <a:ext cx="132588" cy="132588"/>
          </a:xfrm>
          <a:prstGeom prst="rect">
            <a:avLst/>
          </a:prstGeom>
        </p:spPr>
      </p:pic>
      <p:sp>
        <p:nvSpPr>
          <p:cNvPr id="25" name="Text 19"/>
          <p:cNvSpPr/>
          <p:nvPr/>
        </p:nvSpPr>
        <p:spPr>
          <a:xfrm>
            <a:off x="2966293" y="1317129"/>
            <a:ext cx="1369769"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Uno Freak — Play Uno online</a:t>
            </a:r>
            <a:endParaRPr lang="en-US" sz="730" dirty="0"/>
          </a:p>
        </p:txBody>
      </p:sp>
      <p:sp>
        <p:nvSpPr>
          <p:cNvPr id="26" name="Text 20"/>
          <p:cNvSpPr/>
          <p:nvPr/>
        </p:nvSpPr>
        <p:spPr>
          <a:xfrm>
            <a:off x="2744391" y="1553468"/>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89048" y="1591875"/>
            <a:ext cx="132588" cy="132588"/>
          </a:xfrm>
          <a:prstGeom prst="rect">
            <a:avLst/>
          </a:prstGeom>
        </p:spPr>
      </p:pic>
      <p:sp>
        <p:nvSpPr>
          <p:cNvPr id="28" name="Text 21"/>
          <p:cNvSpPr/>
          <p:nvPr/>
        </p:nvSpPr>
        <p:spPr>
          <a:xfrm>
            <a:off x="2966293" y="1610618"/>
            <a:ext cx="1867614"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Go Fish, Crazy Eights, Checkers online</a:t>
            </a:r>
            <a:endParaRPr lang="en-US" sz="730" dirty="0"/>
          </a:p>
        </p:txBody>
      </p:sp>
      <p:sp>
        <p:nvSpPr>
          <p:cNvPr id="29" name="Text 22"/>
          <p:cNvSpPr/>
          <p:nvPr/>
        </p:nvSpPr>
        <p:spPr>
          <a:xfrm>
            <a:off x="2744391" y="1846957"/>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89048" y="1885364"/>
            <a:ext cx="132588" cy="132588"/>
          </a:xfrm>
          <a:prstGeom prst="rect">
            <a:avLst/>
          </a:prstGeom>
        </p:spPr>
      </p:pic>
      <p:sp>
        <p:nvSpPr>
          <p:cNvPr id="31" name="Text 23"/>
          <p:cNvSpPr/>
          <p:nvPr/>
        </p:nvSpPr>
        <p:spPr>
          <a:xfrm>
            <a:off x="2966293" y="1904107"/>
            <a:ext cx="2473017"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Battleship, Connect 4, Tic Tac Toe — papergames.io</a:t>
            </a:r>
            <a:endParaRPr lang="en-US" sz="730" dirty="0"/>
          </a:p>
        </p:txBody>
      </p:sp>
      <p:sp>
        <p:nvSpPr>
          <p:cNvPr id="32" name="Text 24"/>
          <p:cNvSpPr/>
          <p:nvPr/>
        </p:nvSpPr>
        <p:spPr>
          <a:xfrm>
            <a:off x="2744391" y="2140446"/>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89048" y="2178853"/>
            <a:ext cx="132588" cy="132588"/>
          </a:xfrm>
          <a:prstGeom prst="rect">
            <a:avLst/>
          </a:prstGeom>
        </p:spPr>
      </p:pic>
      <p:sp>
        <p:nvSpPr>
          <p:cNvPr id="34" name="Text 25"/>
          <p:cNvSpPr/>
          <p:nvPr/>
        </p:nvSpPr>
        <p:spPr>
          <a:xfrm>
            <a:off x="2966293" y="2197596"/>
            <a:ext cx="747013"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Mancala Online</a:t>
            </a:r>
            <a:endParaRPr lang="en-US" sz="730" dirty="0"/>
          </a:p>
        </p:txBody>
      </p:sp>
      <p:sp>
        <p:nvSpPr>
          <p:cNvPr id="35" name="Text 26"/>
          <p:cNvSpPr/>
          <p:nvPr/>
        </p:nvSpPr>
        <p:spPr>
          <a:xfrm>
            <a:off x="2744391" y="2433935"/>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3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89048" y="2472342"/>
            <a:ext cx="132588" cy="132588"/>
          </a:xfrm>
          <a:prstGeom prst="rect">
            <a:avLst/>
          </a:prstGeom>
        </p:spPr>
      </p:pic>
      <p:sp>
        <p:nvSpPr>
          <p:cNvPr id="37" name="Text 27"/>
          <p:cNvSpPr/>
          <p:nvPr/>
        </p:nvSpPr>
        <p:spPr>
          <a:xfrm>
            <a:off x="2966293" y="2491085"/>
            <a:ext cx="2382813"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Wheel of Names — any word list including emotions</a:t>
            </a:r>
            <a:endParaRPr lang="en-US" sz="730" dirty="0"/>
          </a:p>
        </p:txBody>
      </p:sp>
      <p:sp>
        <p:nvSpPr>
          <p:cNvPr id="38" name="Text 28"/>
          <p:cNvSpPr/>
          <p:nvPr/>
        </p:nvSpPr>
        <p:spPr>
          <a:xfrm>
            <a:off x="5887045" y="673001"/>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3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31703" y="711407"/>
            <a:ext cx="132588" cy="132588"/>
          </a:xfrm>
          <a:prstGeom prst="rect">
            <a:avLst/>
          </a:prstGeom>
        </p:spPr>
      </p:pic>
      <p:sp>
        <p:nvSpPr>
          <p:cNvPr id="40" name="Text 29"/>
          <p:cNvSpPr/>
          <p:nvPr/>
        </p:nvSpPr>
        <p:spPr>
          <a:xfrm>
            <a:off x="6108948" y="730151"/>
            <a:ext cx="1748760"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Memory / Concentration game online</a:t>
            </a:r>
            <a:endParaRPr lang="en-US" sz="730" dirty="0"/>
          </a:p>
        </p:txBody>
      </p:sp>
      <p:sp>
        <p:nvSpPr>
          <p:cNvPr id="41" name="Text 30"/>
          <p:cNvSpPr/>
          <p:nvPr/>
        </p:nvSpPr>
        <p:spPr>
          <a:xfrm>
            <a:off x="5887045" y="966490"/>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42"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931703" y="1004896"/>
            <a:ext cx="132588" cy="132588"/>
          </a:xfrm>
          <a:prstGeom prst="rect">
            <a:avLst/>
          </a:prstGeom>
        </p:spPr>
      </p:pic>
      <p:sp>
        <p:nvSpPr>
          <p:cNvPr id="43" name="Text 31"/>
          <p:cNvSpPr/>
          <p:nvPr/>
        </p:nvSpPr>
        <p:spPr>
          <a:xfrm>
            <a:off x="6108948" y="1023640"/>
            <a:ext cx="1329988"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Free Online Jigsaw Puzzles</a:t>
            </a:r>
            <a:endParaRPr lang="en-US" sz="730" dirty="0"/>
          </a:p>
        </p:txBody>
      </p:sp>
      <p:sp>
        <p:nvSpPr>
          <p:cNvPr id="44" name="Text 32"/>
          <p:cNvSpPr/>
          <p:nvPr/>
        </p:nvSpPr>
        <p:spPr>
          <a:xfrm>
            <a:off x="5887045" y="1259979"/>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45"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31703" y="1298385"/>
            <a:ext cx="132588" cy="132588"/>
          </a:xfrm>
          <a:prstGeom prst="rect">
            <a:avLst/>
          </a:prstGeom>
        </p:spPr>
      </p:pic>
      <p:sp>
        <p:nvSpPr>
          <p:cNvPr id="46" name="Text 33"/>
          <p:cNvSpPr/>
          <p:nvPr/>
        </p:nvSpPr>
        <p:spPr>
          <a:xfrm>
            <a:off x="6108948" y="1317129"/>
            <a:ext cx="1601748"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Digital UnGame — speaking cards</a:t>
            </a:r>
            <a:endParaRPr lang="en-US" sz="730" dirty="0"/>
          </a:p>
        </p:txBody>
      </p:sp>
      <p:sp>
        <p:nvSpPr>
          <p:cNvPr id="47" name="Text 34"/>
          <p:cNvSpPr/>
          <p:nvPr/>
        </p:nvSpPr>
        <p:spPr>
          <a:xfrm>
            <a:off x="5887045" y="1553468"/>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48"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931703" y="1591875"/>
            <a:ext cx="132588" cy="132588"/>
          </a:xfrm>
          <a:prstGeom prst="rect">
            <a:avLst/>
          </a:prstGeom>
        </p:spPr>
      </p:pic>
      <p:sp>
        <p:nvSpPr>
          <p:cNvPr id="49" name="Text 35"/>
          <p:cNvSpPr/>
          <p:nvPr/>
        </p:nvSpPr>
        <p:spPr>
          <a:xfrm>
            <a:off x="6108948" y="1610618"/>
            <a:ext cx="2037219"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FREE Color Boardgame — create your own</a:t>
            </a:r>
            <a:endParaRPr lang="en-US" sz="730" dirty="0"/>
          </a:p>
        </p:txBody>
      </p:sp>
      <p:sp>
        <p:nvSpPr>
          <p:cNvPr id="50" name="Text 36"/>
          <p:cNvSpPr/>
          <p:nvPr/>
        </p:nvSpPr>
        <p:spPr>
          <a:xfrm>
            <a:off x="5887045" y="1846957"/>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51"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31703" y="1885364"/>
            <a:ext cx="132588" cy="132588"/>
          </a:xfrm>
          <a:prstGeom prst="rect">
            <a:avLst/>
          </a:prstGeom>
        </p:spPr>
      </p:pic>
      <p:sp>
        <p:nvSpPr>
          <p:cNvPr id="52" name="Text 37"/>
          <p:cNvSpPr/>
          <p:nvPr/>
        </p:nvSpPr>
        <p:spPr>
          <a:xfrm>
            <a:off x="6108948" y="1904107"/>
            <a:ext cx="2097792"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Virtual Manipulatives — tangrams, dominoes</a:t>
            </a:r>
            <a:endParaRPr lang="en-US" sz="730" dirty="0"/>
          </a:p>
        </p:txBody>
      </p:sp>
      <p:sp>
        <p:nvSpPr>
          <p:cNvPr id="53" name="Text 38"/>
          <p:cNvSpPr/>
          <p:nvPr/>
        </p:nvSpPr>
        <p:spPr>
          <a:xfrm>
            <a:off x="5887045" y="2140446"/>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54"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31703" y="2178853"/>
            <a:ext cx="132588" cy="132588"/>
          </a:xfrm>
          <a:prstGeom prst="rect">
            <a:avLst/>
          </a:prstGeom>
        </p:spPr>
      </p:pic>
      <p:sp>
        <p:nvSpPr>
          <p:cNvPr id="55" name="Text 39"/>
          <p:cNvSpPr/>
          <p:nvPr/>
        </p:nvSpPr>
        <p:spPr>
          <a:xfrm>
            <a:off x="6108948" y="2197596"/>
            <a:ext cx="922675"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Simon Game online</a:t>
            </a:r>
            <a:endParaRPr lang="en-US" sz="730" dirty="0"/>
          </a:p>
        </p:txBody>
      </p:sp>
      <p:sp>
        <p:nvSpPr>
          <p:cNvPr id="56" name="Text 40"/>
          <p:cNvSpPr/>
          <p:nvPr/>
        </p:nvSpPr>
        <p:spPr>
          <a:xfrm>
            <a:off x="5887045" y="2433935"/>
            <a:ext cx="2971205" cy="244078"/>
          </a:xfrm>
          <a:prstGeom prst="roundRect">
            <a:avLst>
              <a:gd name="adj" fmla="val 20293"/>
            </a:avLst>
          </a:prstGeom>
          <a:solidFill>
            <a:srgbClr val="EAF4F4"/>
          </a:solidFill>
          <a:ln/>
        </p:spPr>
        <p:txBody>
          <a:bodyPr wrap="none" rtlCol="0" anchor="t"/>
          <a:lstStyle/>
          <a:p>
            <a:pPr marL="0" indent="0">
              <a:buNone/>
            </a:pPr>
            <a:endParaRPr lang="en-US" dirty="0"/>
          </a:p>
        </p:txBody>
      </p:sp>
      <p:pic>
        <p:nvPicPr>
          <p:cNvPr id="57" name="Image 14" descr="preencoded.png"/>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931703" y="2472342"/>
            <a:ext cx="132588" cy="132588"/>
          </a:xfrm>
          <a:prstGeom prst="rect">
            <a:avLst/>
          </a:prstGeom>
        </p:spPr>
      </p:pic>
      <p:sp>
        <p:nvSpPr>
          <p:cNvPr id="58" name="Text 41"/>
          <p:cNvSpPr/>
          <p:nvPr/>
        </p:nvSpPr>
        <p:spPr>
          <a:xfrm>
            <a:off x="6108948" y="2491085"/>
            <a:ext cx="1358473" cy="129778"/>
          </a:xfrm>
          <a:prstGeom prst="rect">
            <a:avLst/>
          </a:prstGeom>
          <a:noFill/>
          <a:ln/>
        </p:spPr>
        <p:txBody>
          <a:bodyPr wrap="none" lIns="0" tIns="0" rIns="0" bIns="0" rtlCol="0" anchor="ctr"/>
          <a:lstStyle/>
          <a:p>
            <a:pPr marL="0" indent="0" algn="l">
              <a:lnSpc>
                <a:spcPts val="1022"/>
              </a:lnSpc>
              <a:buNone/>
            </a:pPr>
            <a:r>
              <a:rPr lang="en-US" sz="730" dirty="0">
                <a:solidFill>
                  <a:srgbClr val="2C2C2C"/>
                </a:solidFill>
                <a:latin typeface="Calibri" pitchFamily="34" charset="0"/>
                <a:ea typeface="Calibri" pitchFamily="34" charset="-122"/>
                <a:cs typeface="Calibri" pitchFamily="34" charset="-120"/>
              </a:rPr>
              <a:t>Categories word game online</a:t>
            </a:r>
            <a:endParaRPr lang="en-US" sz="730" dirty="0"/>
          </a:p>
        </p:txBody>
      </p:sp>
      <p:sp>
        <p:nvSpPr>
          <p:cNvPr id="59" name="Text 42"/>
          <p:cNvSpPr/>
          <p:nvPr/>
        </p:nvSpPr>
        <p:spPr>
          <a:xfrm>
            <a:off x="2744391" y="4674543"/>
            <a:ext cx="6236137" cy="325487"/>
          </a:xfrm>
          <a:prstGeom prst="rect">
            <a:avLst/>
          </a:prstGeom>
          <a:solidFill>
            <a:srgbClr val="EAF4F4"/>
          </a:solidFill>
          <a:ln/>
        </p:spPr>
        <p:txBody>
          <a:bodyPr wrap="none" lIns="171450" tIns="92710" rIns="171450" bIns="92710" rtlCol="0" anchor="t"/>
          <a:lstStyle/>
          <a:p>
            <a:pPr marL="0" indent="0" algn="l">
              <a:lnSpc>
                <a:spcPts val="1106"/>
              </a:lnSpc>
              <a:buNone/>
            </a:pPr>
            <a:r>
              <a:rPr lang="en-US" sz="790" b="1" dirty="0">
                <a:solidFill>
                  <a:srgbClr val="1B5E72"/>
                </a:solidFill>
                <a:latin typeface="Calibri" pitchFamily="34" charset="0"/>
                <a:ea typeface="Calibri" pitchFamily="34" charset="-122"/>
                <a:cs typeface="Calibri" pitchFamily="34" charset="-120"/>
              </a:rPr>
              <a:t>These are tools — not tricks. Each one can be the entry point for meaningful clinical work.</a:t>
            </a:r>
            <a:endParaRPr lang="en-US" sz="790" dirty="0"/>
          </a:p>
        </p:txBody>
      </p:sp>
      <p:sp>
        <p:nvSpPr>
          <p:cNvPr id="60" name="Text 43"/>
          <p:cNvSpPr/>
          <p:nvPr/>
        </p:nvSpPr>
        <p:spPr>
          <a:xfrm>
            <a:off x="2744391" y="4674543"/>
            <a:ext cx="28575" cy="325487"/>
          </a:xfrm>
          <a:prstGeom prst="rect">
            <a:avLst/>
          </a:prstGeom>
          <a:solidFill>
            <a:srgbClr val="FAB753"/>
          </a:solidFill>
          <a:ln/>
        </p:spPr>
        <p:txBody>
          <a:bodyPr wrap="squar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38324"/>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72070" y="128141"/>
            <a:ext cx="8987850" cy="236041"/>
          </a:xfrm>
          <a:prstGeom prst="rect">
            <a:avLst/>
          </a:prstGeom>
          <a:noFill/>
          <a:ln/>
        </p:spPr>
        <p:txBody>
          <a:bodyPr wrap="none" lIns="0" tIns="0" rIns="0" bIns="0" rtlCol="0" anchor="t"/>
          <a:lstStyle/>
          <a:p>
            <a:pPr marL="0" indent="0" algn="l">
              <a:lnSpc>
                <a:spcPts val="1859"/>
              </a:lnSpc>
              <a:buNone/>
            </a:pPr>
            <a:r>
              <a:rPr lang="en-US" sz="1690" b="1" kern="0" spc="17" dirty="0">
                <a:solidFill>
                  <a:srgbClr val="FFFFFF"/>
                </a:solidFill>
                <a:latin typeface="Calibri Light" pitchFamily="34" charset="0"/>
                <a:ea typeface="Calibri Light" pitchFamily="34" charset="-122"/>
                <a:cs typeface="Calibri Light" pitchFamily="34" charset="-120"/>
              </a:rPr>
              <a:t>More From the Toybox</a:t>
            </a:r>
            <a:endParaRPr lang="en-US" sz="1690" dirty="0"/>
          </a:p>
        </p:txBody>
      </p:sp>
      <p:sp>
        <p:nvSpPr>
          <p:cNvPr id="4" name="Text 2"/>
          <p:cNvSpPr/>
          <p:nvPr/>
        </p:nvSpPr>
        <p:spPr>
          <a:xfrm>
            <a:off x="372070" y="378023"/>
            <a:ext cx="9239845" cy="159990"/>
          </a:xfrm>
          <a:prstGeom prst="rect">
            <a:avLst/>
          </a:prstGeom>
          <a:noFill/>
          <a:ln/>
        </p:spPr>
        <p:txBody>
          <a:bodyPr wrap="none" lIns="0" tIns="0" rIns="0" bIns="0" rtlCol="0" anchor="t"/>
          <a:lstStyle/>
          <a:p>
            <a:pPr marL="0" indent="0" algn="l">
              <a:lnSpc>
                <a:spcPts val="1260"/>
              </a:lnSpc>
              <a:buNone/>
            </a:pPr>
            <a:r>
              <a:rPr lang="en-US" sz="840" b="1" kern="0" spc="25" dirty="0">
                <a:solidFill>
                  <a:srgbClr val="FAB753"/>
                </a:solidFill>
                <a:latin typeface="Calibri" pitchFamily="34" charset="0"/>
                <a:ea typeface="Calibri" pitchFamily="34" charset="-122"/>
                <a:cs typeface="Calibri" pitchFamily="34" charset="-120"/>
              </a:rPr>
              <a:t>Sand tray, puppets, art, scavenger hunts, and more.</a:t>
            </a:r>
            <a:endParaRPr lang="en-US" sz="840" dirty="0"/>
          </a:p>
        </p:txBody>
      </p:sp>
      <p:sp>
        <p:nvSpPr>
          <p:cNvPr id="5" name="Text 3"/>
          <p:cNvSpPr/>
          <p:nvPr/>
        </p:nvSpPr>
        <p:spPr>
          <a:xfrm>
            <a:off x="314920" y="752624"/>
            <a:ext cx="2776240" cy="1119783"/>
          </a:xfrm>
          <a:prstGeom prst="roundRect">
            <a:avLst>
              <a:gd name="adj" fmla="val 6351"/>
            </a:avLst>
          </a:prstGeom>
          <a:solidFill>
            <a:srgbClr val="EAF4F4"/>
          </a:solidFill>
          <a:ln/>
        </p:spPr>
        <p:txBody>
          <a:bodyPr wrap="square" rtlCol="0" anchor="t"/>
          <a:lstStyle/>
          <a:p>
            <a:pPr marL="0" indent="0">
              <a:buNone/>
            </a:pPr>
            <a:endParaRPr lang="en-US" dirty="0"/>
          </a:p>
        </p:txBody>
      </p:sp>
      <p:sp>
        <p:nvSpPr>
          <p:cNvPr id="6" name="Text 4"/>
          <p:cNvSpPr/>
          <p:nvPr/>
        </p:nvSpPr>
        <p:spPr>
          <a:xfrm>
            <a:off x="443061" y="885974"/>
            <a:ext cx="257770" cy="257770"/>
          </a:xfrm>
          <a:prstGeom prst="roundRect">
            <a:avLst>
              <a:gd name="adj" fmla="val 22171"/>
            </a:avLst>
          </a:prstGeom>
          <a:solidFill>
            <a:srgbClr val="1B5E72"/>
          </a:soli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578" y="948491"/>
            <a:ext cx="132588" cy="132588"/>
          </a:xfrm>
          <a:prstGeom prst="rect">
            <a:avLst/>
          </a:prstGeom>
        </p:spPr>
      </p:pic>
      <p:sp>
        <p:nvSpPr>
          <p:cNvPr id="8" name="Text 5"/>
          <p:cNvSpPr/>
          <p:nvPr/>
        </p:nvSpPr>
        <p:spPr>
          <a:xfrm>
            <a:off x="443061" y="1200745"/>
            <a:ext cx="2771954" cy="125016"/>
          </a:xfrm>
          <a:prstGeom prst="rect">
            <a:avLst/>
          </a:prstGeom>
          <a:noFill/>
          <a:ln/>
        </p:spPr>
        <p:txBody>
          <a:bodyPr wrap="none" lIns="0" tIns="0" rIns="0" bIns="0" rtlCol="0" anchor="t"/>
          <a:lstStyle/>
          <a:p>
            <a:pPr marL="0" indent="0" algn="l">
              <a:lnSpc>
                <a:spcPts val="984"/>
              </a:lnSpc>
              <a:spcBef>
                <a:spcPts val="110"/>
              </a:spcBef>
              <a:buNone/>
            </a:pPr>
            <a:r>
              <a:rPr lang="en-US" sz="820" b="1" dirty="0">
                <a:solidFill>
                  <a:srgbClr val="1B5E72"/>
                </a:solidFill>
                <a:latin typeface="Calibri" pitchFamily="34" charset="0"/>
                <a:ea typeface="Calibri" pitchFamily="34" charset="-122"/>
                <a:cs typeface="Calibri" pitchFamily="34" charset="-120"/>
              </a:rPr>
              <a:t>Dr. Karen Fried Freebies</a:t>
            </a:r>
            <a:endParaRPr lang="en-US" sz="820" dirty="0"/>
          </a:p>
        </p:txBody>
      </p:sp>
      <p:sp>
        <p:nvSpPr>
          <p:cNvPr id="9" name="Text 6"/>
          <p:cNvSpPr/>
          <p:nvPr/>
        </p:nvSpPr>
        <p:spPr>
          <a:xfrm>
            <a:off x="443061" y="1368921"/>
            <a:ext cx="2570357" cy="282223"/>
          </a:xfrm>
          <a:prstGeom prst="rect">
            <a:avLst/>
          </a:prstGeom>
          <a:noFill/>
          <a:ln/>
        </p:spPr>
        <p:txBody>
          <a:bodyPr wrap="square" lIns="0" tIns="0" rIns="0" bIns="0" rtlCol="0" anchor="t"/>
          <a:lstStyle/>
          <a:p>
            <a:pPr marL="0" indent="0" algn="l">
              <a:lnSpc>
                <a:spcPts val="1058"/>
              </a:lnSpc>
              <a:buNone/>
            </a:pPr>
            <a:r>
              <a:rPr lang="en-US" sz="730" dirty="0">
                <a:solidFill>
                  <a:srgbClr val="3A3A3A"/>
                </a:solidFill>
                <a:latin typeface="Calibri" pitchFamily="34" charset="0"/>
                <a:ea typeface="Calibri" pitchFamily="34" charset="-122"/>
                <a:cs typeface="Calibri" pitchFamily="34" charset="-120"/>
              </a:rPr>
              <a:t>Free Online Dollhouse, Puppets, and Sand Tray — virtual versions of classic play therapy tools. Available at no cost.</a:t>
            </a:r>
            <a:endParaRPr lang="en-US" sz="730" dirty="0"/>
          </a:p>
        </p:txBody>
      </p:sp>
      <p:sp>
        <p:nvSpPr>
          <p:cNvPr id="10" name="Text 7"/>
          <p:cNvSpPr/>
          <p:nvPr/>
        </p:nvSpPr>
        <p:spPr>
          <a:xfrm>
            <a:off x="3183731" y="752624"/>
            <a:ext cx="2776389" cy="1119783"/>
          </a:xfrm>
          <a:prstGeom prst="roundRect">
            <a:avLst>
              <a:gd name="adj" fmla="val 6351"/>
            </a:avLst>
          </a:prstGeom>
          <a:solidFill>
            <a:srgbClr val="EAF4F4"/>
          </a:solidFill>
          <a:ln/>
        </p:spPr>
        <p:txBody>
          <a:bodyPr wrap="square" rtlCol="0" anchor="t"/>
          <a:lstStyle/>
          <a:p>
            <a:pPr marL="0" indent="0">
              <a:buNone/>
            </a:pPr>
            <a:endParaRPr lang="en-US" dirty="0"/>
          </a:p>
        </p:txBody>
      </p:sp>
      <p:sp>
        <p:nvSpPr>
          <p:cNvPr id="11" name="Text 8"/>
          <p:cNvSpPr/>
          <p:nvPr/>
        </p:nvSpPr>
        <p:spPr>
          <a:xfrm>
            <a:off x="3311872" y="885974"/>
            <a:ext cx="257770" cy="257770"/>
          </a:xfrm>
          <a:prstGeom prst="roundRect">
            <a:avLst>
              <a:gd name="adj" fmla="val 22171"/>
            </a:avLst>
          </a:prstGeom>
          <a:solidFill>
            <a:srgbClr val="1B5E72"/>
          </a:solidFill>
          <a:ln/>
        </p:spPr>
        <p:txBody>
          <a:bodyPr wrap="non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4389" y="948491"/>
            <a:ext cx="132588" cy="132588"/>
          </a:xfrm>
          <a:prstGeom prst="rect">
            <a:avLst/>
          </a:prstGeom>
        </p:spPr>
      </p:pic>
      <p:sp>
        <p:nvSpPr>
          <p:cNvPr id="13" name="Text 9"/>
          <p:cNvSpPr/>
          <p:nvPr/>
        </p:nvSpPr>
        <p:spPr>
          <a:xfrm>
            <a:off x="3311872" y="1200745"/>
            <a:ext cx="2772117" cy="125016"/>
          </a:xfrm>
          <a:prstGeom prst="rect">
            <a:avLst/>
          </a:prstGeom>
          <a:noFill/>
          <a:ln/>
        </p:spPr>
        <p:txBody>
          <a:bodyPr wrap="none" lIns="0" tIns="0" rIns="0" bIns="0" rtlCol="0" anchor="t"/>
          <a:lstStyle/>
          <a:p>
            <a:pPr marL="0" indent="0" algn="l">
              <a:lnSpc>
                <a:spcPts val="984"/>
              </a:lnSpc>
              <a:spcBef>
                <a:spcPts val="110"/>
              </a:spcBef>
              <a:buNone/>
            </a:pPr>
            <a:r>
              <a:rPr lang="en-US" sz="820" b="1" dirty="0">
                <a:solidFill>
                  <a:srgbClr val="1B5E72"/>
                </a:solidFill>
                <a:latin typeface="Calibri" pitchFamily="34" charset="0"/>
                <a:ea typeface="Calibri" pitchFamily="34" charset="-122"/>
                <a:cs typeface="Calibri" pitchFamily="34" charset="-120"/>
              </a:rPr>
              <a:t>Online Art Tools</a:t>
            </a:r>
            <a:endParaRPr lang="en-US" sz="820" dirty="0"/>
          </a:p>
        </p:txBody>
      </p:sp>
      <p:sp>
        <p:nvSpPr>
          <p:cNvPr id="14" name="Text 10"/>
          <p:cNvSpPr/>
          <p:nvPr/>
        </p:nvSpPr>
        <p:spPr>
          <a:xfrm>
            <a:off x="3311872" y="1368921"/>
            <a:ext cx="2570509" cy="282223"/>
          </a:xfrm>
          <a:prstGeom prst="rect">
            <a:avLst/>
          </a:prstGeom>
          <a:noFill/>
          <a:ln/>
        </p:spPr>
        <p:txBody>
          <a:bodyPr wrap="square" lIns="0" tIns="0" rIns="0" bIns="0" rtlCol="0" anchor="t"/>
          <a:lstStyle/>
          <a:p>
            <a:pPr marL="0" indent="0" algn="l">
              <a:lnSpc>
                <a:spcPts val="1058"/>
              </a:lnSpc>
              <a:buNone/>
            </a:pPr>
            <a:r>
              <a:rPr lang="en-US" sz="730" dirty="0">
                <a:solidFill>
                  <a:srgbClr val="3A3A3A"/>
                </a:solidFill>
                <a:latin typeface="Calibri" pitchFamily="34" charset="0"/>
                <a:ea typeface="Calibri" pitchFamily="34" charset="-122"/>
                <a:cs typeface="Calibri" pitchFamily="34" charset="-120"/>
              </a:rPr>
              <a:t>Inspiral Web, Mandala Coloring, and Storyboard That — creative expression tools accessible directly from a browser.</a:t>
            </a:r>
            <a:endParaRPr lang="en-US" sz="730" dirty="0"/>
          </a:p>
        </p:txBody>
      </p:sp>
      <p:sp>
        <p:nvSpPr>
          <p:cNvPr id="15" name="Text 11"/>
          <p:cNvSpPr/>
          <p:nvPr/>
        </p:nvSpPr>
        <p:spPr>
          <a:xfrm>
            <a:off x="6052691" y="752624"/>
            <a:ext cx="2776240" cy="1119783"/>
          </a:xfrm>
          <a:prstGeom prst="roundRect">
            <a:avLst>
              <a:gd name="adj" fmla="val 6351"/>
            </a:avLst>
          </a:prstGeom>
          <a:solidFill>
            <a:srgbClr val="EAF4F4"/>
          </a:solidFill>
          <a:ln/>
        </p:spPr>
        <p:txBody>
          <a:bodyPr wrap="square" rtlCol="0" anchor="t"/>
          <a:lstStyle/>
          <a:p>
            <a:pPr marL="0" indent="0">
              <a:buNone/>
            </a:pPr>
            <a:endParaRPr lang="en-US" dirty="0"/>
          </a:p>
        </p:txBody>
      </p:sp>
      <p:sp>
        <p:nvSpPr>
          <p:cNvPr id="16" name="Text 12"/>
          <p:cNvSpPr/>
          <p:nvPr/>
        </p:nvSpPr>
        <p:spPr>
          <a:xfrm>
            <a:off x="6180832" y="885974"/>
            <a:ext cx="257770" cy="257770"/>
          </a:xfrm>
          <a:prstGeom prst="roundRect">
            <a:avLst>
              <a:gd name="adj" fmla="val 22171"/>
            </a:avLst>
          </a:prstGeom>
          <a:solidFill>
            <a:srgbClr val="1B5E72"/>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3349" y="948491"/>
            <a:ext cx="132588" cy="132588"/>
          </a:xfrm>
          <a:prstGeom prst="rect">
            <a:avLst/>
          </a:prstGeom>
        </p:spPr>
      </p:pic>
      <p:sp>
        <p:nvSpPr>
          <p:cNvPr id="18" name="Text 13"/>
          <p:cNvSpPr/>
          <p:nvPr/>
        </p:nvSpPr>
        <p:spPr>
          <a:xfrm>
            <a:off x="6180832" y="1200745"/>
            <a:ext cx="2771954" cy="125016"/>
          </a:xfrm>
          <a:prstGeom prst="rect">
            <a:avLst/>
          </a:prstGeom>
          <a:noFill/>
          <a:ln/>
        </p:spPr>
        <p:txBody>
          <a:bodyPr wrap="none" lIns="0" tIns="0" rIns="0" bIns="0" rtlCol="0" anchor="t"/>
          <a:lstStyle/>
          <a:p>
            <a:pPr marL="0" indent="0" algn="l">
              <a:lnSpc>
                <a:spcPts val="984"/>
              </a:lnSpc>
              <a:spcBef>
                <a:spcPts val="110"/>
              </a:spcBef>
              <a:buNone/>
            </a:pPr>
            <a:r>
              <a:rPr lang="en-US" sz="820" b="1" dirty="0">
                <a:solidFill>
                  <a:srgbClr val="1B5E72"/>
                </a:solidFill>
                <a:latin typeface="Calibri" pitchFamily="34" charset="0"/>
                <a:ea typeface="Calibri" pitchFamily="34" charset="-122"/>
                <a:cs typeface="Calibri" pitchFamily="34" charset="-120"/>
              </a:rPr>
              <a:t>Therapeutic Videos</a:t>
            </a:r>
            <a:endParaRPr lang="en-US" sz="820" dirty="0"/>
          </a:p>
        </p:txBody>
      </p:sp>
      <p:sp>
        <p:nvSpPr>
          <p:cNvPr id="19" name="Text 14"/>
          <p:cNvSpPr/>
          <p:nvPr/>
        </p:nvSpPr>
        <p:spPr>
          <a:xfrm>
            <a:off x="6180832" y="1368921"/>
            <a:ext cx="2570357" cy="423334"/>
          </a:xfrm>
          <a:prstGeom prst="rect">
            <a:avLst/>
          </a:prstGeom>
          <a:noFill/>
          <a:ln/>
        </p:spPr>
        <p:txBody>
          <a:bodyPr wrap="square" lIns="0" tIns="0" rIns="0" bIns="0" rtlCol="0" anchor="t"/>
          <a:lstStyle/>
          <a:p>
            <a:pPr marL="0" indent="0" algn="l">
              <a:lnSpc>
                <a:spcPts val="1058"/>
              </a:lnSpc>
              <a:buNone/>
            </a:pPr>
            <a:r>
              <a:rPr lang="en-US" sz="730" dirty="0">
                <a:solidFill>
                  <a:srgbClr val="3A3A3A"/>
                </a:solidFill>
                <a:latin typeface="Calibri" pitchFamily="34" charset="0"/>
                <a:ea typeface="Calibri" pitchFamily="34" charset="-122"/>
                <a:cs typeface="Calibri" pitchFamily="34" charset="-120"/>
              </a:rPr>
              <a:t>Whole Child Counseling, Cosmic Kids Yoga, and Coping Skills for Kids — curated YouTube channels for in-session use.</a:t>
            </a:r>
            <a:endParaRPr lang="en-US" sz="730" dirty="0"/>
          </a:p>
        </p:txBody>
      </p:sp>
      <p:sp>
        <p:nvSpPr>
          <p:cNvPr id="20" name="Text 15"/>
          <p:cNvSpPr/>
          <p:nvPr/>
        </p:nvSpPr>
        <p:spPr>
          <a:xfrm>
            <a:off x="314920" y="1964978"/>
            <a:ext cx="2776240" cy="1119783"/>
          </a:xfrm>
          <a:prstGeom prst="roundRect">
            <a:avLst>
              <a:gd name="adj" fmla="val 6351"/>
            </a:avLst>
          </a:prstGeom>
          <a:solidFill>
            <a:srgbClr val="EAF4F4"/>
          </a:solidFill>
          <a:ln/>
        </p:spPr>
        <p:txBody>
          <a:bodyPr wrap="square" rtlCol="0" anchor="t"/>
          <a:lstStyle/>
          <a:p>
            <a:pPr marL="0" indent="0">
              <a:buNone/>
            </a:pPr>
            <a:endParaRPr lang="en-US" dirty="0"/>
          </a:p>
        </p:txBody>
      </p:sp>
      <p:sp>
        <p:nvSpPr>
          <p:cNvPr id="21" name="Text 16"/>
          <p:cNvSpPr/>
          <p:nvPr/>
        </p:nvSpPr>
        <p:spPr>
          <a:xfrm>
            <a:off x="443061" y="2098328"/>
            <a:ext cx="257770" cy="257770"/>
          </a:xfrm>
          <a:prstGeom prst="roundRect">
            <a:avLst>
              <a:gd name="adj" fmla="val 22171"/>
            </a:avLst>
          </a:prstGeom>
          <a:solidFill>
            <a:srgbClr val="1B5E72"/>
          </a:solidFill>
          <a:ln/>
        </p:spPr>
        <p:txBody>
          <a:bodyPr wrap="non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5578" y="2160844"/>
            <a:ext cx="132588" cy="132588"/>
          </a:xfrm>
          <a:prstGeom prst="rect">
            <a:avLst/>
          </a:prstGeom>
        </p:spPr>
      </p:pic>
      <p:sp>
        <p:nvSpPr>
          <p:cNvPr id="23" name="Text 17"/>
          <p:cNvSpPr/>
          <p:nvPr/>
        </p:nvSpPr>
        <p:spPr>
          <a:xfrm>
            <a:off x="443061" y="2413099"/>
            <a:ext cx="2771954" cy="125016"/>
          </a:xfrm>
          <a:prstGeom prst="rect">
            <a:avLst/>
          </a:prstGeom>
          <a:noFill/>
          <a:ln/>
        </p:spPr>
        <p:txBody>
          <a:bodyPr wrap="none" lIns="0" tIns="0" rIns="0" bIns="0" rtlCol="0" anchor="t"/>
          <a:lstStyle/>
          <a:p>
            <a:pPr marL="0" indent="0" algn="l">
              <a:lnSpc>
                <a:spcPts val="984"/>
              </a:lnSpc>
              <a:spcBef>
                <a:spcPts val="110"/>
              </a:spcBef>
              <a:buNone/>
            </a:pPr>
            <a:r>
              <a:rPr lang="en-US" sz="820" b="1" dirty="0">
                <a:solidFill>
                  <a:srgbClr val="1B5E72"/>
                </a:solidFill>
                <a:latin typeface="Calibri" pitchFamily="34" charset="0"/>
                <a:ea typeface="Calibri" pitchFamily="34" charset="-122"/>
                <a:cs typeface="Calibri" pitchFamily="34" charset="-120"/>
              </a:rPr>
              <a:t>Scavenger Hunts</a:t>
            </a:r>
            <a:endParaRPr lang="en-US" sz="820" dirty="0"/>
          </a:p>
        </p:txBody>
      </p:sp>
      <p:sp>
        <p:nvSpPr>
          <p:cNvPr id="24" name="Text 18"/>
          <p:cNvSpPr/>
          <p:nvPr/>
        </p:nvSpPr>
        <p:spPr>
          <a:xfrm>
            <a:off x="443061" y="2581275"/>
            <a:ext cx="2570357" cy="423334"/>
          </a:xfrm>
          <a:prstGeom prst="rect">
            <a:avLst/>
          </a:prstGeom>
          <a:noFill/>
          <a:ln/>
        </p:spPr>
        <p:txBody>
          <a:bodyPr wrap="square" lIns="0" tIns="0" rIns="0" bIns="0" rtlCol="0" anchor="t"/>
          <a:lstStyle/>
          <a:p>
            <a:pPr marL="0" indent="0" algn="l">
              <a:lnSpc>
                <a:spcPts val="1058"/>
              </a:lnSpc>
              <a:buNone/>
            </a:pPr>
            <a:r>
              <a:rPr lang="en-US" sz="730" dirty="0">
                <a:solidFill>
                  <a:srgbClr val="3A3A3A"/>
                </a:solidFill>
                <a:latin typeface="Calibri" pitchFamily="34" charset="0"/>
                <a:ea typeface="Calibri" pitchFamily="34" charset="-122"/>
                <a:cs typeface="Calibri" pitchFamily="34" charset="-120"/>
              </a:rPr>
              <a:t>Primary Playground and MMHS Play Therapy scavenger hunts — free downloads that work well for engagement and assessment.</a:t>
            </a:r>
            <a:endParaRPr lang="en-US" sz="730" dirty="0"/>
          </a:p>
        </p:txBody>
      </p:sp>
      <p:sp>
        <p:nvSpPr>
          <p:cNvPr id="25" name="Text 19"/>
          <p:cNvSpPr/>
          <p:nvPr/>
        </p:nvSpPr>
        <p:spPr>
          <a:xfrm>
            <a:off x="3183731" y="1964978"/>
            <a:ext cx="2776389" cy="1119783"/>
          </a:xfrm>
          <a:prstGeom prst="roundRect">
            <a:avLst>
              <a:gd name="adj" fmla="val 6351"/>
            </a:avLst>
          </a:prstGeom>
          <a:solidFill>
            <a:srgbClr val="EAF4F4"/>
          </a:solidFill>
          <a:ln/>
        </p:spPr>
        <p:txBody>
          <a:bodyPr wrap="square" rtlCol="0" anchor="t"/>
          <a:lstStyle/>
          <a:p>
            <a:pPr marL="0" indent="0">
              <a:buNone/>
            </a:pPr>
            <a:endParaRPr lang="en-US" dirty="0"/>
          </a:p>
        </p:txBody>
      </p:sp>
      <p:sp>
        <p:nvSpPr>
          <p:cNvPr id="26" name="Text 20"/>
          <p:cNvSpPr/>
          <p:nvPr/>
        </p:nvSpPr>
        <p:spPr>
          <a:xfrm>
            <a:off x="3311872" y="2098328"/>
            <a:ext cx="257770" cy="257770"/>
          </a:xfrm>
          <a:prstGeom prst="roundRect">
            <a:avLst>
              <a:gd name="adj" fmla="val 22171"/>
            </a:avLst>
          </a:prstGeom>
          <a:solidFill>
            <a:srgbClr val="1B5E72"/>
          </a:solidFill>
          <a:ln/>
        </p:spPr>
        <p:txBody>
          <a:bodyPr wrap="non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74389" y="2160844"/>
            <a:ext cx="132588" cy="132588"/>
          </a:xfrm>
          <a:prstGeom prst="rect">
            <a:avLst/>
          </a:prstGeom>
        </p:spPr>
      </p:pic>
      <p:sp>
        <p:nvSpPr>
          <p:cNvPr id="28" name="Text 21"/>
          <p:cNvSpPr/>
          <p:nvPr/>
        </p:nvSpPr>
        <p:spPr>
          <a:xfrm>
            <a:off x="3311872" y="2413099"/>
            <a:ext cx="2772117" cy="125016"/>
          </a:xfrm>
          <a:prstGeom prst="rect">
            <a:avLst/>
          </a:prstGeom>
          <a:noFill/>
          <a:ln/>
        </p:spPr>
        <p:txBody>
          <a:bodyPr wrap="none" lIns="0" tIns="0" rIns="0" bIns="0" rtlCol="0" anchor="t"/>
          <a:lstStyle/>
          <a:p>
            <a:pPr marL="0" indent="0" algn="l">
              <a:lnSpc>
                <a:spcPts val="984"/>
              </a:lnSpc>
              <a:spcBef>
                <a:spcPts val="110"/>
              </a:spcBef>
              <a:buNone/>
            </a:pPr>
            <a:r>
              <a:rPr lang="en-US" sz="820" b="1" dirty="0">
                <a:solidFill>
                  <a:srgbClr val="1B5E72"/>
                </a:solidFill>
                <a:latin typeface="Calibri" pitchFamily="34" charset="0"/>
                <a:ea typeface="Calibri" pitchFamily="34" charset="-122"/>
                <a:cs typeface="Calibri" pitchFamily="34" charset="-120"/>
              </a:rPr>
              <a:t>Mad Libs &amp; Creative Writing</a:t>
            </a:r>
            <a:endParaRPr lang="en-US" sz="820" dirty="0"/>
          </a:p>
        </p:txBody>
      </p:sp>
      <p:sp>
        <p:nvSpPr>
          <p:cNvPr id="29" name="Text 22"/>
          <p:cNvSpPr/>
          <p:nvPr/>
        </p:nvSpPr>
        <p:spPr>
          <a:xfrm>
            <a:off x="3311872" y="2581275"/>
            <a:ext cx="2570509" cy="282223"/>
          </a:xfrm>
          <a:prstGeom prst="rect">
            <a:avLst/>
          </a:prstGeom>
          <a:noFill/>
          <a:ln/>
        </p:spPr>
        <p:txBody>
          <a:bodyPr wrap="square" lIns="0" tIns="0" rIns="0" bIns="0" rtlCol="0" anchor="t"/>
          <a:lstStyle/>
          <a:p>
            <a:pPr marL="0" indent="0" algn="l">
              <a:lnSpc>
                <a:spcPts val="1058"/>
              </a:lnSpc>
              <a:buNone/>
            </a:pPr>
            <a:r>
              <a:rPr lang="en-US" sz="730" dirty="0">
                <a:solidFill>
                  <a:srgbClr val="3A3A3A"/>
                </a:solidFill>
                <a:latin typeface="Calibri" pitchFamily="34" charset="0"/>
                <a:ea typeface="Calibri" pitchFamily="34" charset="-122"/>
                <a:cs typeface="Calibri" pitchFamily="34" charset="-120"/>
              </a:rPr>
              <a:t>GlowWordBooks online Mad Libs — a low-barrier entry point for kids who resist direct conversation.</a:t>
            </a:r>
            <a:endParaRPr lang="en-US" sz="730" dirty="0"/>
          </a:p>
        </p:txBody>
      </p:sp>
      <p:sp>
        <p:nvSpPr>
          <p:cNvPr id="30" name="Text 23"/>
          <p:cNvSpPr/>
          <p:nvPr/>
        </p:nvSpPr>
        <p:spPr>
          <a:xfrm>
            <a:off x="6052691" y="1964978"/>
            <a:ext cx="2776240" cy="1119783"/>
          </a:xfrm>
          <a:prstGeom prst="roundRect">
            <a:avLst>
              <a:gd name="adj" fmla="val 6351"/>
            </a:avLst>
          </a:prstGeom>
          <a:solidFill>
            <a:srgbClr val="EAF4F4"/>
          </a:solidFill>
          <a:ln/>
        </p:spPr>
        <p:txBody>
          <a:bodyPr wrap="square" rtlCol="0" anchor="t"/>
          <a:lstStyle/>
          <a:p>
            <a:pPr marL="0" indent="0">
              <a:buNone/>
            </a:pPr>
            <a:endParaRPr lang="en-US" dirty="0"/>
          </a:p>
        </p:txBody>
      </p:sp>
      <p:sp>
        <p:nvSpPr>
          <p:cNvPr id="31" name="Text 24"/>
          <p:cNvSpPr/>
          <p:nvPr/>
        </p:nvSpPr>
        <p:spPr>
          <a:xfrm>
            <a:off x="6180832" y="2098328"/>
            <a:ext cx="257770" cy="257770"/>
          </a:xfrm>
          <a:prstGeom prst="roundRect">
            <a:avLst>
              <a:gd name="adj" fmla="val 22171"/>
            </a:avLst>
          </a:prstGeom>
          <a:solidFill>
            <a:srgbClr val="1B5E72"/>
          </a:solidFill>
          <a:ln/>
        </p:spPr>
        <p:txBody>
          <a:bodyPr wrap="none" rtlCol="0" anchor="t"/>
          <a:lstStyle/>
          <a:p>
            <a:pPr marL="0" indent="0">
              <a:buNone/>
            </a:pPr>
            <a:endParaRPr lang="en-US" dirty="0"/>
          </a:p>
        </p:txBody>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3349" y="2160844"/>
            <a:ext cx="132588" cy="132588"/>
          </a:xfrm>
          <a:prstGeom prst="rect">
            <a:avLst/>
          </a:prstGeom>
        </p:spPr>
      </p:pic>
      <p:sp>
        <p:nvSpPr>
          <p:cNvPr id="33" name="Text 25"/>
          <p:cNvSpPr/>
          <p:nvPr/>
        </p:nvSpPr>
        <p:spPr>
          <a:xfrm>
            <a:off x="6180832" y="2413099"/>
            <a:ext cx="2771954" cy="125016"/>
          </a:xfrm>
          <a:prstGeom prst="rect">
            <a:avLst/>
          </a:prstGeom>
          <a:noFill/>
          <a:ln/>
        </p:spPr>
        <p:txBody>
          <a:bodyPr wrap="none" lIns="0" tIns="0" rIns="0" bIns="0" rtlCol="0" anchor="t"/>
          <a:lstStyle/>
          <a:p>
            <a:pPr marL="0" indent="0" algn="l">
              <a:lnSpc>
                <a:spcPts val="984"/>
              </a:lnSpc>
              <a:spcBef>
                <a:spcPts val="110"/>
              </a:spcBef>
              <a:buNone/>
            </a:pPr>
            <a:r>
              <a:rPr lang="en-US" sz="820" b="1" dirty="0">
                <a:solidFill>
                  <a:srgbClr val="1B5E72"/>
                </a:solidFill>
                <a:latin typeface="Calibri" pitchFamily="34" charset="0"/>
                <a:ea typeface="Calibri" pitchFamily="34" charset="-122"/>
                <a:cs typeface="Calibri" pitchFamily="34" charset="-120"/>
              </a:rPr>
              <a:t>Follow-Along Art</a:t>
            </a:r>
            <a:endParaRPr lang="en-US" sz="820" dirty="0"/>
          </a:p>
        </p:txBody>
      </p:sp>
      <p:sp>
        <p:nvSpPr>
          <p:cNvPr id="34" name="Text 26"/>
          <p:cNvSpPr/>
          <p:nvPr/>
        </p:nvSpPr>
        <p:spPr>
          <a:xfrm>
            <a:off x="6180832" y="2581275"/>
            <a:ext cx="2570357" cy="282223"/>
          </a:xfrm>
          <a:prstGeom prst="rect">
            <a:avLst/>
          </a:prstGeom>
          <a:noFill/>
          <a:ln/>
        </p:spPr>
        <p:txBody>
          <a:bodyPr wrap="square" lIns="0" tIns="0" rIns="0" bIns="0" rtlCol="0" anchor="t"/>
          <a:lstStyle/>
          <a:p>
            <a:pPr marL="0" indent="0" algn="l">
              <a:lnSpc>
                <a:spcPts val="1058"/>
              </a:lnSpc>
              <a:buNone/>
            </a:pPr>
            <a:r>
              <a:rPr lang="en-US" sz="730" dirty="0">
                <a:solidFill>
                  <a:srgbClr val="3A3A3A"/>
                </a:solidFill>
                <a:latin typeface="Calibri" pitchFamily="34" charset="0"/>
                <a:ea typeface="Calibri" pitchFamily="34" charset="-122"/>
                <a:cs typeface="Calibri" pitchFamily="34" charset="-120"/>
              </a:rPr>
              <a:t>Origami jumping frog and origami fish tutorials — prep families with a single sheet of paper. Works across ages.</a:t>
            </a:r>
            <a:endParaRPr lang="en-US" sz="730" dirty="0"/>
          </a:p>
        </p:txBody>
      </p:sp>
      <p:sp>
        <p:nvSpPr>
          <p:cNvPr id="35" name="Text 27"/>
          <p:cNvSpPr/>
          <p:nvPr/>
        </p:nvSpPr>
        <p:spPr>
          <a:xfrm>
            <a:off x="0" y="3185071"/>
            <a:ext cx="9144000" cy="285750"/>
          </a:xfrm>
          <a:prstGeom prst="rect">
            <a:avLst/>
          </a:prstGeom>
          <a:solidFill>
            <a:srgbClr val="FAB753"/>
          </a:solidFill>
          <a:ln/>
        </p:spPr>
        <p:txBody>
          <a:bodyPr wrap="square" rtlCol="0" anchor="t"/>
          <a:lstStyle/>
          <a:p>
            <a:pPr marL="0" indent="0">
              <a:buNone/>
            </a:pPr>
            <a:endParaRPr lang="en-US" dirty="0"/>
          </a:p>
        </p:txBody>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8639" y="3261652"/>
            <a:ext cx="132588" cy="132588"/>
          </a:xfrm>
          <a:prstGeom prst="rect">
            <a:avLst/>
          </a:prstGeom>
        </p:spPr>
      </p:pic>
      <p:sp>
        <p:nvSpPr>
          <p:cNvPr id="37" name="Text 28"/>
          <p:cNvSpPr/>
          <p:nvPr/>
        </p:nvSpPr>
        <p:spPr>
          <a:xfrm>
            <a:off x="528786" y="3249811"/>
            <a:ext cx="3733592" cy="156270"/>
          </a:xfrm>
          <a:prstGeom prst="rect">
            <a:avLst/>
          </a:prstGeom>
          <a:noFill/>
          <a:ln/>
        </p:spPr>
        <p:txBody>
          <a:bodyPr wrap="none" lIns="0" tIns="0" rIns="0" bIns="0" rtlCol="0" anchor="ctr"/>
          <a:lstStyle/>
          <a:p>
            <a:pPr marL="0" indent="0" algn="l">
              <a:lnSpc>
                <a:spcPts val="1230"/>
              </a:lnSpc>
              <a:buNone/>
            </a:pPr>
            <a:r>
              <a:rPr lang="en-US" sz="820" b="1" dirty="0">
                <a:solidFill>
                  <a:srgbClr val="1B1B1B"/>
                </a:solidFill>
                <a:latin typeface="Calibri" pitchFamily="34" charset="0"/>
                <a:ea typeface="Calibri" pitchFamily="34" charset="-122"/>
                <a:cs typeface="Calibri" pitchFamily="34" charset="-120"/>
              </a:rPr>
              <a:t>Send families the resource before the session. Prep creates buy-in.</a:t>
            </a:r>
            <a:endParaRPr lang="en-US" sz="820" dirty="0"/>
          </a:p>
        </p:txBody>
      </p:sp>
      <p:sp>
        <p:nvSpPr>
          <p:cNvPr id="38" name="Text 29"/>
          <p:cNvSpPr/>
          <p:nvPr/>
        </p:nvSpPr>
        <p:spPr>
          <a:xfrm>
            <a:off x="314920" y="771674"/>
            <a:ext cx="2776242" cy="21580"/>
          </a:xfrm>
          <a:custGeom>
            <a:avLst/>
            <a:gdLst/>
            <a:ahLst/>
            <a:cxnLst/>
            <a:rect l="l" t="t" r="r" b="b"/>
            <a:pathLst>
              <a:path w="2776242" h="21580">
                <a:moveTo>
                  <a:pt x="71120" y="0"/>
                </a:moveTo>
                <a:lnTo>
                  <a:pt x="2705122" y="0"/>
                </a:lnTo>
                <a:lnTo>
                  <a:pt x="2724524" y="2698"/>
                </a:lnTo>
                <a:lnTo>
                  <a:pt x="2732294" y="5395"/>
                </a:lnTo>
                <a:lnTo>
                  <a:pt x="2738070" y="8093"/>
                </a:lnTo>
                <a:lnTo>
                  <a:pt x="2742783" y="10790"/>
                </a:lnTo>
                <a:lnTo>
                  <a:pt x="2746794" y="13488"/>
                </a:lnTo>
                <a:lnTo>
                  <a:pt x="2750291" y="16185"/>
                </a:lnTo>
                <a:lnTo>
                  <a:pt x="2753385" y="18883"/>
                </a:lnTo>
                <a:lnTo>
                  <a:pt x="275615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39" name="Text 30"/>
          <p:cNvSpPr/>
          <p:nvPr/>
        </p:nvSpPr>
        <p:spPr>
          <a:xfrm>
            <a:off x="3183731" y="771674"/>
            <a:ext cx="2776385" cy="21580"/>
          </a:xfrm>
          <a:custGeom>
            <a:avLst/>
            <a:gdLst/>
            <a:ahLst/>
            <a:cxnLst/>
            <a:rect l="l" t="t" r="r" b="b"/>
            <a:pathLst>
              <a:path w="2776385" h="21580">
                <a:moveTo>
                  <a:pt x="71120" y="0"/>
                </a:moveTo>
                <a:lnTo>
                  <a:pt x="2705265" y="0"/>
                </a:lnTo>
                <a:lnTo>
                  <a:pt x="2724667" y="2698"/>
                </a:lnTo>
                <a:lnTo>
                  <a:pt x="2732436" y="5395"/>
                </a:lnTo>
                <a:lnTo>
                  <a:pt x="2738213" y="8093"/>
                </a:lnTo>
                <a:lnTo>
                  <a:pt x="2742926" y="10790"/>
                </a:lnTo>
                <a:lnTo>
                  <a:pt x="2746937" y="13488"/>
                </a:lnTo>
                <a:lnTo>
                  <a:pt x="2750434" y="16185"/>
                </a:lnTo>
                <a:lnTo>
                  <a:pt x="2753528" y="18883"/>
                </a:lnTo>
                <a:lnTo>
                  <a:pt x="2756293"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0" name="Text 31"/>
          <p:cNvSpPr/>
          <p:nvPr/>
        </p:nvSpPr>
        <p:spPr>
          <a:xfrm>
            <a:off x="6052691" y="771674"/>
            <a:ext cx="2776242" cy="21580"/>
          </a:xfrm>
          <a:custGeom>
            <a:avLst/>
            <a:gdLst/>
            <a:ahLst/>
            <a:cxnLst/>
            <a:rect l="l" t="t" r="r" b="b"/>
            <a:pathLst>
              <a:path w="2776242" h="21580">
                <a:moveTo>
                  <a:pt x="71120" y="0"/>
                </a:moveTo>
                <a:lnTo>
                  <a:pt x="2705122" y="0"/>
                </a:lnTo>
                <a:lnTo>
                  <a:pt x="2724524" y="2698"/>
                </a:lnTo>
                <a:lnTo>
                  <a:pt x="2732294" y="5395"/>
                </a:lnTo>
                <a:lnTo>
                  <a:pt x="2738070" y="8093"/>
                </a:lnTo>
                <a:lnTo>
                  <a:pt x="2742783" y="10790"/>
                </a:lnTo>
                <a:lnTo>
                  <a:pt x="2746794" y="13488"/>
                </a:lnTo>
                <a:lnTo>
                  <a:pt x="2750291" y="16185"/>
                </a:lnTo>
                <a:lnTo>
                  <a:pt x="2753385" y="18883"/>
                </a:lnTo>
                <a:lnTo>
                  <a:pt x="275615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1" name="Text 32"/>
          <p:cNvSpPr/>
          <p:nvPr/>
        </p:nvSpPr>
        <p:spPr>
          <a:xfrm>
            <a:off x="314920" y="1984028"/>
            <a:ext cx="2776242" cy="21580"/>
          </a:xfrm>
          <a:custGeom>
            <a:avLst/>
            <a:gdLst/>
            <a:ahLst/>
            <a:cxnLst/>
            <a:rect l="l" t="t" r="r" b="b"/>
            <a:pathLst>
              <a:path w="2776242" h="21580">
                <a:moveTo>
                  <a:pt x="71120" y="0"/>
                </a:moveTo>
                <a:lnTo>
                  <a:pt x="2705122" y="0"/>
                </a:lnTo>
                <a:lnTo>
                  <a:pt x="2724524" y="2698"/>
                </a:lnTo>
                <a:lnTo>
                  <a:pt x="2732294" y="5395"/>
                </a:lnTo>
                <a:lnTo>
                  <a:pt x="2738070" y="8093"/>
                </a:lnTo>
                <a:lnTo>
                  <a:pt x="2742783" y="10790"/>
                </a:lnTo>
                <a:lnTo>
                  <a:pt x="2746794" y="13488"/>
                </a:lnTo>
                <a:lnTo>
                  <a:pt x="2750291" y="16185"/>
                </a:lnTo>
                <a:lnTo>
                  <a:pt x="2753385" y="18883"/>
                </a:lnTo>
                <a:lnTo>
                  <a:pt x="275615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2" name="Text 33"/>
          <p:cNvSpPr/>
          <p:nvPr/>
        </p:nvSpPr>
        <p:spPr>
          <a:xfrm>
            <a:off x="3183731" y="1984028"/>
            <a:ext cx="2776385" cy="21580"/>
          </a:xfrm>
          <a:custGeom>
            <a:avLst/>
            <a:gdLst/>
            <a:ahLst/>
            <a:cxnLst/>
            <a:rect l="l" t="t" r="r" b="b"/>
            <a:pathLst>
              <a:path w="2776385" h="21580">
                <a:moveTo>
                  <a:pt x="71120" y="0"/>
                </a:moveTo>
                <a:lnTo>
                  <a:pt x="2705265" y="0"/>
                </a:lnTo>
                <a:lnTo>
                  <a:pt x="2724667" y="2698"/>
                </a:lnTo>
                <a:lnTo>
                  <a:pt x="2732436" y="5395"/>
                </a:lnTo>
                <a:lnTo>
                  <a:pt x="2738213" y="8093"/>
                </a:lnTo>
                <a:lnTo>
                  <a:pt x="2742926" y="10790"/>
                </a:lnTo>
                <a:lnTo>
                  <a:pt x="2746937" y="13488"/>
                </a:lnTo>
                <a:lnTo>
                  <a:pt x="2750434" y="16185"/>
                </a:lnTo>
                <a:lnTo>
                  <a:pt x="2753528" y="18883"/>
                </a:lnTo>
                <a:lnTo>
                  <a:pt x="2756293"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3" name="Text 34"/>
          <p:cNvSpPr/>
          <p:nvPr/>
        </p:nvSpPr>
        <p:spPr>
          <a:xfrm>
            <a:off x="6052691" y="1984028"/>
            <a:ext cx="2776242" cy="21580"/>
          </a:xfrm>
          <a:custGeom>
            <a:avLst/>
            <a:gdLst/>
            <a:ahLst/>
            <a:cxnLst/>
            <a:rect l="l" t="t" r="r" b="b"/>
            <a:pathLst>
              <a:path w="2776242" h="21580">
                <a:moveTo>
                  <a:pt x="71120" y="0"/>
                </a:moveTo>
                <a:lnTo>
                  <a:pt x="2705122" y="0"/>
                </a:lnTo>
                <a:lnTo>
                  <a:pt x="2724524" y="2698"/>
                </a:lnTo>
                <a:lnTo>
                  <a:pt x="2732294" y="5395"/>
                </a:lnTo>
                <a:lnTo>
                  <a:pt x="2738070" y="8093"/>
                </a:lnTo>
                <a:lnTo>
                  <a:pt x="2742783" y="10790"/>
                </a:lnTo>
                <a:lnTo>
                  <a:pt x="2746794" y="13488"/>
                </a:lnTo>
                <a:lnTo>
                  <a:pt x="2750291" y="16185"/>
                </a:lnTo>
                <a:lnTo>
                  <a:pt x="2753385" y="18883"/>
                </a:lnTo>
                <a:lnTo>
                  <a:pt x="2756150"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642741"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642741" y="0"/>
            <a:ext cx="6501259" cy="5143500"/>
          </a:xfrm>
          <a:prstGeom prst="rect">
            <a:avLst/>
          </a:prstGeom>
          <a:solidFill>
            <a:srgbClr val="FFFFFF"/>
          </a:solidFill>
          <a:ln/>
        </p:spPr>
        <p:txBody>
          <a:bodyPr wrap="square" rtlCol="0" anchor="t"/>
          <a:lstStyle/>
          <a:p>
            <a:pPr marL="0" indent="0">
              <a:buNone/>
            </a:pPr>
            <a:endParaRPr lang="en-US" dirty="0"/>
          </a:p>
        </p:txBody>
      </p:sp>
      <p:sp>
        <p:nvSpPr>
          <p:cNvPr id="4" name="Text 2"/>
          <p:cNvSpPr/>
          <p:nvPr/>
        </p:nvSpPr>
        <p:spPr>
          <a:xfrm>
            <a:off x="2985641" y="285750"/>
            <a:ext cx="6222541" cy="278160"/>
          </a:xfrm>
          <a:prstGeom prst="rect">
            <a:avLst/>
          </a:prstGeom>
          <a:noFill/>
          <a:ln/>
        </p:spPr>
        <p:txBody>
          <a:bodyPr wrap="none" lIns="0" tIns="0" rIns="0" bIns="0" rtlCol="0" anchor="t"/>
          <a:lstStyle/>
          <a:p>
            <a:pPr marL="0" indent="0" algn="l">
              <a:lnSpc>
                <a:spcPts val="2190"/>
              </a:lnSpc>
              <a:buNone/>
            </a:pPr>
            <a:r>
              <a:rPr lang="en-US" sz="1460" b="1" kern="0" spc="10" dirty="0">
                <a:solidFill>
                  <a:srgbClr val="1B5E72"/>
                </a:solidFill>
                <a:latin typeface="Calibri Light" pitchFamily="34" charset="0"/>
                <a:ea typeface="Calibri Light" pitchFamily="34" charset="-122"/>
                <a:cs typeface="Calibri Light" pitchFamily="34" charset="-120"/>
              </a:rPr>
              <a:t>Activities to Try</a:t>
            </a:r>
            <a:endParaRPr lang="en-US" sz="1460" dirty="0"/>
          </a:p>
        </p:txBody>
      </p:sp>
      <p:sp>
        <p:nvSpPr>
          <p:cNvPr id="5" name="Text 3"/>
          <p:cNvSpPr/>
          <p:nvPr/>
        </p:nvSpPr>
        <p:spPr>
          <a:xfrm>
            <a:off x="2985641" y="607070"/>
            <a:ext cx="5815459" cy="13841"/>
          </a:xfrm>
          <a:prstGeom prst="roundRect">
            <a:avLst>
              <a:gd name="adj" fmla="val 55054"/>
            </a:avLst>
          </a:prstGeom>
          <a:gradFill rotWithShape="1">
            <a:gsLst>
              <a:gs pos="0">
                <a:srgbClr val="FAB753"/>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2985641" y="778371"/>
            <a:ext cx="5815459" cy="634305"/>
          </a:xfrm>
          <a:prstGeom prst="roundRect">
            <a:avLst>
              <a:gd name="adj" fmla="val 9010"/>
            </a:avLst>
          </a:prstGeom>
          <a:solidFill>
            <a:srgbClr val="EAF4F4"/>
          </a:solidFill>
          <a:ln/>
        </p:spPr>
        <p:txBody>
          <a:bodyPr wrap="square" rtlCol="0" anchor="t"/>
          <a:lstStyle/>
          <a:p>
            <a:pPr marL="0" indent="0">
              <a:buNone/>
            </a:pPr>
            <a:endParaRPr lang="en-US" dirty="0"/>
          </a:p>
        </p:txBody>
      </p:sp>
      <p:sp>
        <p:nvSpPr>
          <p:cNvPr id="7" name="Text 5"/>
          <p:cNvSpPr/>
          <p:nvPr/>
        </p:nvSpPr>
        <p:spPr>
          <a:xfrm>
            <a:off x="2985641" y="778371"/>
            <a:ext cx="28575" cy="634305"/>
          </a:xfrm>
          <a:custGeom>
            <a:avLst/>
            <a:gdLst/>
            <a:ahLst/>
            <a:cxnLst/>
            <a:rect l="l" t="t" r="r" b="b"/>
            <a:pathLst>
              <a:path w="28575" h="634305">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626649"/>
                </a:lnTo>
                <a:lnTo>
                  <a:pt x="25003" y="624407"/>
                </a:lnTo>
                <a:lnTo>
                  <a:pt x="21431" y="621768"/>
                </a:lnTo>
                <a:lnTo>
                  <a:pt x="17859" y="618657"/>
                </a:lnTo>
                <a:lnTo>
                  <a:pt x="14288" y="614957"/>
                </a:lnTo>
                <a:lnTo>
                  <a:pt x="10716" y="610472"/>
                </a:lnTo>
                <a:lnTo>
                  <a:pt x="7144" y="604823"/>
                </a:lnTo>
                <a:lnTo>
                  <a:pt x="3572" y="597043"/>
                </a:lnTo>
                <a:lnTo>
                  <a:pt x="0" y="577155"/>
                </a:lnTo>
                <a:close/>
              </a:path>
            </a:pathLst>
          </a:custGeom>
          <a:solidFill>
            <a:srgbClr val="FAB753"/>
          </a:solidFill>
          <a:ln/>
        </p:spPr>
        <p:txBody>
          <a:bodyPr wrap="square" rtlCol="0" anchor="t"/>
          <a:lstStyle/>
          <a:p>
            <a:pPr marL="0" indent="0">
              <a:buNone/>
            </a:pPr>
            <a:endParaRPr lang="en-US" dirty="0"/>
          </a:p>
        </p:txBody>
      </p:sp>
      <p:sp>
        <p:nvSpPr>
          <p:cNvPr id="8" name="Text 6"/>
          <p:cNvSpPr/>
          <p:nvPr/>
        </p:nvSpPr>
        <p:spPr>
          <a:xfrm>
            <a:off x="3128516" y="878532"/>
            <a:ext cx="257770" cy="257770"/>
          </a:xfrm>
          <a:prstGeom prst="ellipse">
            <a:avLst/>
          </a:prstGeom>
          <a:solidFill>
            <a:srgbClr val="1B5E72"/>
          </a:solidFill>
          <a:ln/>
        </p:spPr>
        <p:txBody>
          <a:bodyPr wrap="none" rtlCol="0" anchor="t"/>
          <a:lstStyle/>
          <a:p>
            <a:pPr marL="0" indent="0">
              <a:buNone/>
            </a:pPr>
            <a:endParaRPr lang="en-US"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1107" y="941124"/>
            <a:ext cx="132588" cy="132588"/>
          </a:xfrm>
          <a:prstGeom prst="rect">
            <a:avLst/>
          </a:prstGeom>
        </p:spPr>
      </p:pic>
      <p:sp>
        <p:nvSpPr>
          <p:cNvPr id="10" name="Text 7"/>
          <p:cNvSpPr/>
          <p:nvPr/>
        </p:nvSpPr>
        <p:spPr>
          <a:xfrm>
            <a:off x="3486596" y="870942"/>
            <a:ext cx="5720224" cy="137964"/>
          </a:xfrm>
          <a:prstGeom prst="rect">
            <a:avLst/>
          </a:prstGeom>
          <a:noFill/>
          <a:ln/>
        </p:spPr>
        <p:txBody>
          <a:bodyPr wrap="none" lIns="0" tIns="0" rIns="0" bIns="0" rtlCol="0" anchor="t"/>
          <a:lstStyle/>
          <a:p>
            <a:pPr marL="0" indent="0" algn="l">
              <a:lnSpc>
                <a:spcPts val="1088"/>
              </a:lnSpc>
              <a:buNone/>
            </a:pPr>
            <a:r>
              <a:rPr lang="en-US" sz="870" b="1" dirty="0">
                <a:solidFill>
                  <a:srgbClr val="1B5E72"/>
                </a:solidFill>
                <a:latin typeface="Calibri" pitchFamily="34" charset="0"/>
                <a:ea typeface="Calibri" pitchFamily="34" charset="-122"/>
                <a:cs typeface="Calibri" pitchFamily="34" charset="-120"/>
              </a:rPr>
              <a:t>Paper Plate Activity</a:t>
            </a:r>
            <a:endParaRPr lang="en-US" sz="870" dirty="0"/>
          </a:p>
        </p:txBody>
      </p:sp>
      <p:sp>
        <p:nvSpPr>
          <p:cNvPr id="11" name="Text 8"/>
          <p:cNvSpPr/>
          <p:nvPr/>
        </p:nvSpPr>
        <p:spPr>
          <a:xfrm>
            <a:off x="3486596" y="1030486"/>
            <a:ext cx="5304208" cy="304101"/>
          </a:xfrm>
          <a:prstGeom prst="rect">
            <a:avLst/>
          </a:prstGeom>
          <a:noFill/>
          <a:ln/>
        </p:spPr>
        <p:txBody>
          <a:bodyPr wrap="square" lIns="0" tIns="0" rIns="0" bIns="0" rtlCol="0" anchor="t"/>
          <a:lstStyle/>
          <a:p>
            <a:pPr marL="0" indent="0" algn="l">
              <a:lnSpc>
                <a:spcPts val="1140"/>
              </a:lnSpc>
              <a:buNone/>
            </a:pPr>
            <a:r>
              <a:rPr lang="en-US" sz="760" dirty="0">
                <a:solidFill>
                  <a:srgbClr val="444444"/>
                </a:solidFill>
                <a:latin typeface="Calibri" pitchFamily="34" charset="0"/>
                <a:ea typeface="Calibri" pitchFamily="34" charset="-122"/>
                <a:cs typeface="Calibri" pitchFamily="34" charset="-120"/>
              </a:rPr>
              <a:t>Client collects items from home and stacks them on a plate held in one hand. Used to explore anxiety, worry, and coping. Works beautifully on video — no special materials needed.</a:t>
            </a:r>
            <a:endParaRPr lang="en-US" sz="760" dirty="0"/>
          </a:p>
        </p:txBody>
      </p:sp>
      <p:sp>
        <p:nvSpPr>
          <p:cNvPr id="12" name="Text 9"/>
          <p:cNvSpPr/>
          <p:nvPr/>
        </p:nvSpPr>
        <p:spPr>
          <a:xfrm>
            <a:off x="2985641" y="1512987"/>
            <a:ext cx="5815459" cy="634305"/>
          </a:xfrm>
          <a:prstGeom prst="roundRect">
            <a:avLst>
              <a:gd name="adj" fmla="val 9010"/>
            </a:avLst>
          </a:prstGeom>
          <a:solidFill>
            <a:srgbClr val="EAF4F4"/>
          </a:solidFill>
          <a:ln/>
        </p:spPr>
        <p:txBody>
          <a:bodyPr wrap="square" rtlCol="0" anchor="t"/>
          <a:lstStyle/>
          <a:p>
            <a:pPr marL="0" indent="0">
              <a:buNone/>
            </a:pPr>
            <a:endParaRPr lang="en-US" dirty="0"/>
          </a:p>
        </p:txBody>
      </p:sp>
      <p:sp>
        <p:nvSpPr>
          <p:cNvPr id="13" name="Text 10"/>
          <p:cNvSpPr/>
          <p:nvPr/>
        </p:nvSpPr>
        <p:spPr>
          <a:xfrm>
            <a:off x="2985641" y="1512987"/>
            <a:ext cx="28575" cy="634305"/>
          </a:xfrm>
          <a:custGeom>
            <a:avLst/>
            <a:gdLst/>
            <a:ahLst/>
            <a:cxnLst/>
            <a:rect l="l" t="t" r="r" b="b"/>
            <a:pathLst>
              <a:path w="28575" h="634305">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626649"/>
                </a:lnTo>
                <a:lnTo>
                  <a:pt x="25003" y="624407"/>
                </a:lnTo>
                <a:lnTo>
                  <a:pt x="21431" y="621768"/>
                </a:lnTo>
                <a:lnTo>
                  <a:pt x="17859" y="618657"/>
                </a:lnTo>
                <a:lnTo>
                  <a:pt x="14288" y="614957"/>
                </a:lnTo>
                <a:lnTo>
                  <a:pt x="10716" y="610472"/>
                </a:lnTo>
                <a:lnTo>
                  <a:pt x="7144" y="604823"/>
                </a:lnTo>
                <a:lnTo>
                  <a:pt x="3572" y="597043"/>
                </a:lnTo>
                <a:lnTo>
                  <a:pt x="0" y="577155"/>
                </a:lnTo>
                <a:close/>
              </a:path>
            </a:pathLst>
          </a:custGeom>
          <a:solidFill>
            <a:srgbClr val="FAB753"/>
          </a:solidFill>
          <a:ln/>
        </p:spPr>
        <p:txBody>
          <a:bodyPr wrap="square" rtlCol="0" anchor="t"/>
          <a:lstStyle/>
          <a:p>
            <a:pPr marL="0" indent="0">
              <a:buNone/>
            </a:pPr>
            <a:endParaRPr lang="en-US" dirty="0"/>
          </a:p>
        </p:txBody>
      </p:sp>
      <p:sp>
        <p:nvSpPr>
          <p:cNvPr id="14" name="Text 11"/>
          <p:cNvSpPr/>
          <p:nvPr/>
        </p:nvSpPr>
        <p:spPr>
          <a:xfrm>
            <a:off x="3128516" y="1613148"/>
            <a:ext cx="257770" cy="257770"/>
          </a:xfrm>
          <a:prstGeom prst="ellipse">
            <a:avLst/>
          </a:prstGeom>
          <a:solidFill>
            <a:srgbClr val="1B5E72"/>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91107" y="1675739"/>
            <a:ext cx="132588" cy="132588"/>
          </a:xfrm>
          <a:prstGeom prst="rect">
            <a:avLst/>
          </a:prstGeom>
        </p:spPr>
      </p:pic>
      <p:sp>
        <p:nvSpPr>
          <p:cNvPr id="16" name="Text 12"/>
          <p:cNvSpPr/>
          <p:nvPr/>
        </p:nvSpPr>
        <p:spPr>
          <a:xfrm>
            <a:off x="3486596" y="1605558"/>
            <a:ext cx="5720224" cy="137964"/>
          </a:xfrm>
          <a:prstGeom prst="rect">
            <a:avLst/>
          </a:prstGeom>
          <a:noFill/>
          <a:ln/>
        </p:spPr>
        <p:txBody>
          <a:bodyPr wrap="none" lIns="0" tIns="0" rIns="0" bIns="0" rtlCol="0" anchor="t"/>
          <a:lstStyle/>
          <a:p>
            <a:pPr marL="0" indent="0" algn="l">
              <a:lnSpc>
                <a:spcPts val="1088"/>
              </a:lnSpc>
              <a:buNone/>
            </a:pPr>
            <a:r>
              <a:rPr lang="en-US" sz="870" b="1" dirty="0">
                <a:solidFill>
                  <a:srgbClr val="1B5E72"/>
                </a:solidFill>
                <a:latin typeface="Calibri" pitchFamily="34" charset="0"/>
                <a:ea typeface="Calibri" pitchFamily="34" charset="-122"/>
                <a:cs typeface="Calibri" pitchFamily="34" charset="-120"/>
              </a:rPr>
              <a:t>Me Tree</a:t>
            </a:r>
            <a:endParaRPr lang="en-US" sz="870" dirty="0"/>
          </a:p>
        </p:txBody>
      </p:sp>
      <p:sp>
        <p:nvSpPr>
          <p:cNvPr id="17" name="Text 13"/>
          <p:cNvSpPr/>
          <p:nvPr/>
        </p:nvSpPr>
        <p:spPr>
          <a:xfrm>
            <a:off x="3486596" y="1765102"/>
            <a:ext cx="5304208" cy="304101"/>
          </a:xfrm>
          <a:prstGeom prst="rect">
            <a:avLst/>
          </a:prstGeom>
          <a:noFill/>
          <a:ln/>
        </p:spPr>
        <p:txBody>
          <a:bodyPr wrap="square" lIns="0" tIns="0" rIns="0" bIns="0" rtlCol="0" anchor="t"/>
          <a:lstStyle/>
          <a:p>
            <a:pPr marL="0" indent="0" algn="l">
              <a:lnSpc>
                <a:spcPts val="1140"/>
              </a:lnSpc>
              <a:buNone/>
            </a:pPr>
            <a:r>
              <a:rPr lang="en-US" sz="760" dirty="0">
                <a:solidFill>
                  <a:srgbClr val="444444"/>
                </a:solidFill>
                <a:latin typeface="Calibri" pitchFamily="34" charset="0"/>
                <a:ea typeface="Calibri" pitchFamily="34" charset="-122"/>
                <a:cs typeface="Calibri" pitchFamily="34" charset="-120"/>
              </a:rPr>
              <a:t>Client draws a tree with roots, trunk, branches, falling leaves, and a treetop — each part corresponds to a clinical prompt about identity, strengths, and growth. Drawing materials only.</a:t>
            </a:r>
            <a:endParaRPr lang="en-US" sz="760" dirty="0"/>
          </a:p>
        </p:txBody>
      </p:sp>
      <p:sp>
        <p:nvSpPr>
          <p:cNvPr id="18" name="Text 14"/>
          <p:cNvSpPr/>
          <p:nvPr/>
        </p:nvSpPr>
        <p:spPr>
          <a:xfrm>
            <a:off x="2985641" y="2247602"/>
            <a:ext cx="5815459" cy="634305"/>
          </a:xfrm>
          <a:prstGeom prst="roundRect">
            <a:avLst>
              <a:gd name="adj" fmla="val 9010"/>
            </a:avLst>
          </a:prstGeom>
          <a:solidFill>
            <a:srgbClr val="EAF4F4"/>
          </a:solidFill>
          <a:ln/>
        </p:spPr>
        <p:txBody>
          <a:bodyPr wrap="square" rtlCol="0" anchor="t"/>
          <a:lstStyle/>
          <a:p>
            <a:pPr marL="0" indent="0">
              <a:buNone/>
            </a:pPr>
            <a:endParaRPr lang="en-US" dirty="0"/>
          </a:p>
        </p:txBody>
      </p:sp>
      <p:sp>
        <p:nvSpPr>
          <p:cNvPr id="19" name="Text 15"/>
          <p:cNvSpPr/>
          <p:nvPr/>
        </p:nvSpPr>
        <p:spPr>
          <a:xfrm>
            <a:off x="2985641" y="2247602"/>
            <a:ext cx="28575" cy="634305"/>
          </a:xfrm>
          <a:custGeom>
            <a:avLst/>
            <a:gdLst/>
            <a:ahLst/>
            <a:cxnLst/>
            <a:rect l="l" t="t" r="r" b="b"/>
            <a:pathLst>
              <a:path w="28575" h="634305">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626649"/>
                </a:lnTo>
                <a:lnTo>
                  <a:pt x="25003" y="624407"/>
                </a:lnTo>
                <a:lnTo>
                  <a:pt x="21431" y="621768"/>
                </a:lnTo>
                <a:lnTo>
                  <a:pt x="17859" y="618657"/>
                </a:lnTo>
                <a:lnTo>
                  <a:pt x="14288" y="614957"/>
                </a:lnTo>
                <a:lnTo>
                  <a:pt x="10716" y="610472"/>
                </a:lnTo>
                <a:lnTo>
                  <a:pt x="7144" y="604823"/>
                </a:lnTo>
                <a:lnTo>
                  <a:pt x="3572" y="597043"/>
                </a:lnTo>
                <a:lnTo>
                  <a:pt x="0" y="577155"/>
                </a:lnTo>
                <a:close/>
              </a:path>
            </a:pathLst>
          </a:custGeom>
          <a:solidFill>
            <a:srgbClr val="FAB753"/>
          </a:solidFill>
          <a:ln/>
        </p:spPr>
        <p:txBody>
          <a:bodyPr wrap="square" rtlCol="0" anchor="t"/>
          <a:lstStyle/>
          <a:p>
            <a:pPr marL="0" indent="0">
              <a:buNone/>
            </a:pPr>
            <a:endParaRPr lang="en-US" dirty="0"/>
          </a:p>
        </p:txBody>
      </p:sp>
      <p:sp>
        <p:nvSpPr>
          <p:cNvPr id="20" name="Text 16"/>
          <p:cNvSpPr/>
          <p:nvPr/>
        </p:nvSpPr>
        <p:spPr>
          <a:xfrm>
            <a:off x="3128516" y="2347764"/>
            <a:ext cx="257770" cy="257770"/>
          </a:xfrm>
          <a:prstGeom prst="ellipse">
            <a:avLst/>
          </a:prstGeom>
          <a:solidFill>
            <a:srgbClr val="1B5E72"/>
          </a:solidFill>
          <a:ln/>
        </p:spPr>
        <p:txBody>
          <a:bodyPr wrap="non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91107" y="2410355"/>
            <a:ext cx="132588" cy="132588"/>
          </a:xfrm>
          <a:prstGeom prst="rect">
            <a:avLst/>
          </a:prstGeom>
        </p:spPr>
      </p:pic>
      <p:sp>
        <p:nvSpPr>
          <p:cNvPr id="22" name="Text 17"/>
          <p:cNvSpPr/>
          <p:nvPr/>
        </p:nvSpPr>
        <p:spPr>
          <a:xfrm>
            <a:off x="3486596" y="2340173"/>
            <a:ext cx="5720224" cy="137964"/>
          </a:xfrm>
          <a:prstGeom prst="rect">
            <a:avLst/>
          </a:prstGeom>
          <a:noFill/>
          <a:ln/>
        </p:spPr>
        <p:txBody>
          <a:bodyPr wrap="none" lIns="0" tIns="0" rIns="0" bIns="0" rtlCol="0" anchor="t"/>
          <a:lstStyle/>
          <a:p>
            <a:pPr marL="0" indent="0" algn="l">
              <a:lnSpc>
                <a:spcPts val="1088"/>
              </a:lnSpc>
              <a:buNone/>
            </a:pPr>
            <a:r>
              <a:rPr lang="en-US" sz="870" b="1" dirty="0">
                <a:solidFill>
                  <a:srgbClr val="1B5E72"/>
                </a:solidFill>
                <a:latin typeface="Calibri" pitchFamily="34" charset="0"/>
                <a:ea typeface="Calibri" pitchFamily="34" charset="-122"/>
                <a:cs typeface="Calibri" pitchFamily="34" charset="-120"/>
              </a:rPr>
              <a:t>Benevolent Experiences Ecomap</a:t>
            </a:r>
            <a:endParaRPr lang="en-US" sz="870" dirty="0"/>
          </a:p>
        </p:txBody>
      </p:sp>
      <p:sp>
        <p:nvSpPr>
          <p:cNvPr id="23" name="Text 18"/>
          <p:cNvSpPr/>
          <p:nvPr/>
        </p:nvSpPr>
        <p:spPr>
          <a:xfrm>
            <a:off x="3486596" y="2499717"/>
            <a:ext cx="5304208" cy="304101"/>
          </a:xfrm>
          <a:prstGeom prst="rect">
            <a:avLst/>
          </a:prstGeom>
          <a:noFill/>
          <a:ln/>
        </p:spPr>
        <p:txBody>
          <a:bodyPr wrap="square" lIns="0" tIns="0" rIns="0" bIns="0" rtlCol="0" anchor="t"/>
          <a:lstStyle/>
          <a:p>
            <a:pPr marL="0" indent="0" algn="l">
              <a:lnSpc>
                <a:spcPts val="1140"/>
              </a:lnSpc>
              <a:buNone/>
            </a:pPr>
            <a:r>
              <a:rPr lang="en-US" sz="760" dirty="0">
                <a:solidFill>
                  <a:srgbClr val="444444"/>
                </a:solidFill>
                <a:latin typeface="Calibri" pitchFamily="34" charset="0"/>
                <a:ea typeface="Calibri" pitchFamily="34" charset="-122"/>
                <a:cs typeface="Calibri" pitchFamily="34" charset="-120"/>
              </a:rPr>
              <a:t>Client uses drawings, symbols, or objects from home to map protective factors and positive influences in their life. Flexible across ages and modalities.</a:t>
            </a:r>
            <a:endParaRPr lang="en-US" sz="760" dirty="0"/>
          </a:p>
        </p:txBody>
      </p:sp>
      <p:sp>
        <p:nvSpPr>
          <p:cNvPr id="24" name="Text 19"/>
          <p:cNvSpPr/>
          <p:nvPr/>
        </p:nvSpPr>
        <p:spPr>
          <a:xfrm>
            <a:off x="2985641" y="2982218"/>
            <a:ext cx="5815459" cy="779115"/>
          </a:xfrm>
          <a:prstGeom prst="roundRect">
            <a:avLst>
              <a:gd name="adj" fmla="val 7335"/>
            </a:avLst>
          </a:prstGeom>
          <a:solidFill>
            <a:srgbClr val="EAF4F4"/>
          </a:solidFill>
          <a:ln/>
        </p:spPr>
        <p:txBody>
          <a:bodyPr wrap="square" rtlCol="0" anchor="t"/>
          <a:lstStyle/>
          <a:p>
            <a:pPr marL="0" indent="0">
              <a:buNone/>
            </a:pPr>
            <a:endParaRPr lang="en-US" dirty="0"/>
          </a:p>
        </p:txBody>
      </p:sp>
      <p:sp>
        <p:nvSpPr>
          <p:cNvPr id="25" name="Text 20"/>
          <p:cNvSpPr/>
          <p:nvPr/>
        </p:nvSpPr>
        <p:spPr>
          <a:xfrm>
            <a:off x="2985641" y="2982218"/>
            <a:ext cx="28575" cy="779115"/>
          </a:xfrm>
          <a:custGeom>
            <a:avLst/>
            <a:gdLst/>
            <a:ahLst/>
            <a:cxnLst/>
            <a:rect l="l" t="t" r="r" b="b"/>
            <a:pathLst>
              <a:path w="28575" h="779115">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771459"/>
                </a:lnTo>
                <a:lnTo>
                  <a:pt x="25003" y="769217"/>
                </a:lnTo>
                <a:lnTo>
                  <a:pt x="21431" y="766578"/>
                </a:lnTo>
                <a:lnTo>
                  <a:pt x="17859" y="763467"/>
                </a:lnTo>
                <a:lnTo>
                  <a:pt x="14288" y="759766"/>
                </a:lnTo>
                <a:lnTo>
                  <a:pt x="10716" y="755281"/>
                </a:lnTo>
                <a:lnTo>
                  <a:pt x="7144" y="749633"/>
                </a:lnTo>
                <a:lnTo>
                  <a:pt x="3572" y="741853"/>
                </a:lnTo>
                <a:lnTo>
                  <a:pt x="0" y="721965"/>
                </a:lnTo>
                <a:close/>
              </a:path>
            </a:pathLst>
          </a:custGeom>
          <a:solidFill>
            <a:srgbClr val="FAB753"/>
          </a:solidFill>
          <a:ln/>
        </p:spPr>
        <p:txBody>
          <a:bodyPr wrap="square" rtlCol="0" anchor="t"/>
          <a:lstStyle/>
          <a:p>
            <a:pPr marL="0" indent="0">
              <a:buNone/>
            </a:pPr>
            <a:endParaRPr lang="en-US" dirty="0"/>
          </a:p>
        </p:txBody>
      </p:sp>
      <p:sp>
        <p:nvSpPr>
          <p:cNvPr id="26" name="Text 21"/>
          <p:cNvSpPr/>
          <p:nvPr/>
        </p:nvSpPr>
        <p:spPr>
          <a:xfrm>
            <a:off x="3128516" y="3082379"/>
            <a:ext cx="257770" cy="257770"/>
          </a:xfrm>
          <a:prstGeom prst="ellipse">
            <a:avLst/>
          </a:prstGeom>
          <a:solidFill>
            <a:srgbClr val="1B5E72"/>
          </a:solidFill>
          <a:ln/>
        </p:spPr>
        <p:txBody>
          <a:bodyPr wrap="none" rtlCol="0" anchor="t"/>
          <a:lstStyle/>
          <a:p>
            <a:pPr marL="0" indent="0">
              <a:buNone/>
            </a:pPr>
            <a:endParaRPr lang="en-US" dirty="0"/>
          </a:p>
        </p:txBody>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91107" y="3144970"/>
            <a:ext cx="132588" cy="132588"/>
          </a:xfrm>
          <a:prstGeom prst="rect">
            <a:avLst/>
          </a:prstGeom>
        </p:spPr>
      </p:pic>
      <p:sp>
        <p:nvSpPr>
          <p:cNvPr id="28" name="Text 22"/>
          <p:cNvSpPr/>
          <p:nvPr/>
        </p:nvSpPr>
        <p:spPr>
          <a:xfrm>
            <a:off x="3486596" y="3074789"/>
            <a:ext cx="5720224" cy="137964"/>
          </a:xfrm>
          <a:prstGeom prst="rect">
            <a:avLst/>
          </a:prstGeom>
          <a:noFill/>
          <a:ln/>
        </p:spPr>
        <p:txBody>
          <a:bodyPr wrap="none" lIns="0" tIns="0" rIns="0" bIns="0" rtlCol="0" anchor="t"/>
          <a:lstStyle/>
          <a:p>
            <a:pPr marL="0" indent="0" algn="l">
              <a:lnSpc>
                <a:spcPts val="1088"/>
              </a:lnSpc>
              <a:buNone/>
            </a:pPr>
            <a:r>
              <a:rPr lang="en-US" sz="870" b="1" dirty="0">
                <a:solidFill>
                  <a:srgbClr val="1B5E72"/>
                </a:solidFill>
                <a:latin typeface="Calibri" pitchFamily="34" charset="0"/>
                <a:ea typeface="Calibri" pitchFamily="34" charset="-122"/>
                <a:cs typeface="Calibri" pitchFamily="34" charset="-120"/>
              </a:rPr>
              <a:t>Family Play Therapy</a:t>
            </a:r>
            <a:endParaRPr lang="en-US" sz="870" dirty="0"/>
          </a:p>
        </p:txBody>
      </p:sp>
      <p:sp>
        <p:nvSpPr>
          <p:cNvPr id="29" name="Text 23"/>
          <p:cNvSpPr/>
          <p:nvPr/>
        </p:nvSpPr>
        <p:spPr>
          <a:xfrm>
            <a:off x="3486596" y="3234333"/>
            <a:ext cx="5304208" cy="456151"/>
          </a:xfrm>
          <a:prstGeom prst="rect">
            <a:avLst/>
          </a:prstGeom>
          <a:noFill/>
          <a:ln/>
        </p:spPr>
        <p:txBody>
          <a:bodyPr wrap="square" lIns="0" tIns="0" rIns="0" bIns="0" rtlCol="0" anchor="t"/>
          <a:lstStyle/>
          <a:p>
            <a:pPr marL="0" indent="0" algn="l">
              <a:lnSpc>
                <a:spcPts val="1140"/>
              </a:lnSpc>
              <a:buNone/>
            </a:pPr>
            <a:r>
              <a:rPr lang="en-US" sz="760" dirty="0">
                <a:solidFill>
                  <a:srgbClr val="444444"/>
                </a:solidFill>
                <a:latin typeface="Calibri" pitchFamily="34" charset="0"/>
                <a:ea typeface="Calibri" pitchFamily="34" charset="-122"/>
                <a:cs typeface="Calibri" pitchFamily="34" charset="-120"/>
              </a:rPr>
              <a:t>Involve the whole family — not just the identified client. Art and play bypass defenses, open communication, and create opportunities for insight that direct conversation cannot reach. Research by Gil, Lowenstein, and Sprunk supports this approach strongly.</a:t>
            </a:r>
            <a:endParaRPr lang="en-US" sz="760" dirty="0"/>
          </a:p>
        </p:txBody>
      </p:sp>
      <p:sp>
        <p:nvSpPr>
          <p:cNvPr id="30" name="Text 24"/>
          <p:cNvSpPr/>
          <p:nvPr/>
        </p:nvSpPr>
        <p:spPr>
          <a:xfrm>
            <a:off x="2642741" y="4788843"/>
            <a:ext cx="6501259" cy="354657"/>
          </a:xfrm>
          <a:prstGeom prst="rect">
            <a:avLst/>
          </a:prstGeom>
          <a:solidFill>
            <a:srgbClr val="EAF4F4"/>
          </a:solidFill>
          <a:ln/>
        </p:spPr>
        <p:txBody>
          <a:bodyPr wrap="square" rtlCol="0" anchor="t"/>
          <a:lstStyle/>
          <a:p>
            <a:pPr marL="0" indent="0">
              <a:buNone/>
            </a:pPr>
            <a:endParaRPr lang="en-US" dirty="0"/>
          </a:p>
        </p:txBody>
      </p:sp>
      <p:sp>
        <p:nvSpPr>
          <p:cNvPr id="31" name="Text 25"/>
          <p:cNvSpPr/>
          <p:nvPr/>
        </p:nvSpPr>
        <p:spPr>
          <a:xfrm>
            <a:off x="2642741" y="4788843"/>
            <a:ext cx="6501259" cy="19050"/>
          </a:xfrm>
          <a:prstGeom prst="rect">
            <a:avLst/>
          </a:prstGeom>
          <a:solidFill>
            <a:srgbClr val="FAB753"/>
          </a:solidFill>
          <a:ln/>
        </p:spPr>
        <p:txBody>
          <a:bodyPr wrap="none" rtlCol="0" anchor="t"/>
          <a:lstStyle/>
          <a:p>
            <a:pPr marL="0" indent="0">
              <a:buNone/>
            </a:pPr>
            <a:endParaRPr lang="en-US" dirty="0"/>
          </a:p>
        </p:txBody>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78357" y="4909402"/>
            <a:ext cx="132588" cy="132588"/>
          </a:xfrm>
          <a:prstGeom prst="rect">
            <a:avLst/>
          </a:prstGeom>
        </p:spPr>
      </p:pic>
      <p:sp>
        <p:nvSpPr>
          <p:cNvPr id="33" name="Text 26"/>
          <p:cNvSpPr/>
          <p:nvPr/>
        </p:nvSpPr>
        <p:spPr>
          <a:xfrm>
            <a:off x="3203972" y="4900464"/>
            <a:ext cx="4064451" cy="150465"/>
          </a:xfrm>
          <a:prstGeom prst="rect">
            <a:avLst/>
          </a:prstGeom>
          <a:noFill/>
          <a:ln/>
        </p:spPr>
        <p:txBody>
          <a:bodyPr wrap="none" lIns="0" tIns="0" rIns="0" bIns="0" rtlCol="0" anchor="ctr"/>
          <a:lstStyle/>
          <a:p>
            <a:pPr marL="0" indent="0" algn="l">
              <a:lnSpc>
                <a:spcPts val="1185"/>
              </a:lnSpc>
              <a:buNone/>
            </a:pPr>
            <a:r>
              <a:rPr lang="en-US" sz="790" b="1" dirty="0">
                <a:solidFill>
                  <a:srgbClr val="1B5E72"/>
                </a:solidFill>
                <a:latin typeface="Calibri" pitchFamily="34" charset="0"/>
                <a:ea typeface="Calibri" pitchFamily="34" charset="-122"/>
                <a:cs typeface="Calibri" pitchFamily="34" charset="-120"/>
              </a:rPr>
              <a:t>The materials are wherever the client is. That is the advantage of telehealth.</a:t>
            </a:r>
            <a:endParaRPr lang="en-US" sz="790" dirty="0"/>
          </a:p>
        </p:txBody>
      </p:sp>
      <p:sp>
        <p:nvSpPr>
          <p:cNvPr id="34" name="Text 27"/>
          <p:cNvSpPr/>
          <p:nvPr/>
        </p:nvSpPr>
        <p:spPr>
          <a:xfrm>
            <a:off x="1643215" y="0"/>
            <a:ext cx="1428750" cy="999490"/>
          </a:xfrm>
          <a:prstGeom prst="ellipse">
            <a:avLst/>
          </a:prstGeom>
          <a:solidFill>
            <a:srgbClr val="FFFFFF">
              <a:alpha val="4000"/>
            </a:srgbClr>
          </a:solidFill>
          <a:ln/>
        </p:spPr>
        <p:txBody>
          <a:bodyPr wrap="square" rtlCol="0" anchor="t"/>
          <a:lstStyle/>
          <a:p>
            <a:pPr marL="0" indent="0">
              <a:buNone/>
            </a:pPr>
            <a:endParaRPr lang="en-US" dirty="0"/>
          </a:p>
        </p:txBody>
      </p:sp>
      <p:sp>
        <p:nvSpPr>
          <p:cNvPr id="35" name="Text 28"/>
          <p:cNvSpPr/>
          <p:nvPr/>
        </p:nvSpPr>
        <p:spPr>
          <a:xfrm>
            <a:off x="0" y="3571284"/>
            <a:ext cx="857250" cy="1143000"/>
          </a:xfrm>
          <a:prstGeom prst="ellipse">
            <a:avLst/>
          </a:prstGeom>
          <a:solidFill>
            <a:srgbClr val="FAB753">
              <a:alpha val="7000"/>
            </a:srgbClr>
          </a:solidFill>
          <a:ln/>
        </p:spPr>
        <p:txBody>
          <a:bodyPr wrap="square" rtlCol="0" anchor="t"/>
          <a:lstStyle/>
          <a:p>
            <a:pPr marL="0" indent="0">
              <a:buNone/>
            </a:pPr>
            <a:endParaRPr lang="en-US" dirty="0"/>
          </a:p>
        </p:txBody>
      </p:sp>
      <p:sp>
        <p:nvSpPr>
          <p:cNvPr id="36" name="Text 29"/>
          <p:cNvSpPr/>
          <p:nvPr/>
        </p:nvSpPr>
        <p:spPr>
          <a:xfrm>
            <a:off x="285750" y="342900"/>
            <a:ext cx="2309143" cy="118021"/>
          </a:xfrm>
          <a:prstGeom prst="rect">
            <a:avLst/>
          </a:prstGeom>
          <a:noFill/>
          <a:ln/>
        </p:spPr>
        <p:txBody>
          <a:bodyPr wrap="none" lIns="0" tIns="0" rIns="0" bIns="0" rtlCol="0" anchor="t"/>
          <a:lstStyle/>
          <a:p>
            <a:pPr marL="0" indent="0" algn="l">
              <a:lnSpc>
                <a:spcPts val="930"/>
              </a:lnSpc>
              <a:buNone/>
            </a:pPr>
            <a:r>
              <a:rPr lang="en-US" sz="620" b="1" kern="0" spc="110" dirty="0">
                <a:solidFill>
                  <a:srgbClr val="FAB753"/>
                </a:solidFill>
                <a:latin typeface="Calibri" pitchFamily="34" charset="0"/>
                <a:ea typeface="Calibri" pitchFamily="34" charset="-122"/>
                <a:cs typeface="Calibri" pitchFamily="34" charset="-120"/>
              </a:rPr>
              <a:t>PLAY THERAPY · TELEHEALTH</a:t>
            </a:r>
            <a:endParaRPr lang="en-US" sz="620" dirty="0"/>
          </a:p>
        </p:txBody>
      </p:sp>
      <p:sp>
        <p:nvSpPr>
          <p:cNvPr id="37" name="Text 30"/>
          <p:cNvSpPr/>
          <p:nvPr/>
        </p:nvSpPr>
        <p:spPr>
          <a:xfrm>
            <a:off x="285750" y="561231"/>
            <a:ext cx="31492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38" name="Text 31"/>
          <p:cNvSpPr/>
          <p:nvPr/>
        </p:nvSpPr>
        <p:spPr>
          <a:xfrm>
            <a:off x="285750" y="747861"/>
            <a:ext cx="2141205" cy="540693"/>
          </a:xfrm>
          <a:prstGeom prst="rect">
            <a:avLst/>
          </a:prstGeom>
          <a:noFill/>
          <a:ln/>
        </p:spPr>
        <p:txBody>
          <a:bodyPr wrap="square" lIns="0" tIns="0" rIns="0" bIns="0" rtlCol="0" anchor="t"/>
          <a:lstStyle/>
          <a:p>
            <a:pPr marL="0" indent="0" algn="l">
              <a:lnSpc>
                <a:spcPts val="2028"/>
              </a:lnSpc>
              <a:buNone/>
            </a:pPr>
            <a:r>
              <a:rPr lang="en-US" sz="1690" b="1" dirty="0">
                <a:solidFill>
                  <a:srgbClr val="FFFFFF"/>
                </a:solidFill>
                <a:latin typeface="Calibri Light" pitchFamily="34" charset="0"/>
                <a:ea typeface="Calibri Light" pitchFamily="34" charset="-122"/>
                <a:cs typeface="Calibri Light" pitchFamily="34" charset="-120"/>
              </a:rPr>
              <a:t>Play Therapy in the Telehealth Room</a:t>
            </a:r>
            <a:endParaRPr lang="en-US" sz="1690" dirty="0"/>
          </a:p>
        </p:txBody>
      </p:sp>
      <p:sp>
        <p:nvSpPr>
          <p:cNvPr id="39" name="Text 32"/>
          <p:cNvSpPr/>
          <p:nvPr/>
        </p:nvSpPr>
        <p:spPr>
          <a:xfrm>
            <a:off x="285750" y="1406277"/>
            <a:ext cx="2141205" cy="508657"/>
          </a:xfrm>
          <a:prstGeom prst="rect">
            <a:avLst/>
          </a:prstGeom>
          <a:noFill/>
          <a:ln/>
        </p:spPr>
        <p:txBody>
          <a:bodyPr wrap="square" lIns="0" tIns="0" rIns="0" bIns="0" rtlCol="0" anchor="t"/>
          <a:lstStyle/>
          <a:p>
            <a:pPr marL="0" indent="0" algn="l">
              <a:lnSpc>
                <a:spcPts val="1271"/>
              </a:lnSpc>
              <a:buNone/>
            </a:pPr>
            <a:r>
              <a:rPr lang="en-US" sz="820" i="1" dirty="0">
                <a:solidFill>
                  <a:srgbClr val="FFFFFF">
                    <a:alpha val="75000"/>
                  </a:srgbClr>
                </a:solidFill>
                <a:latin typeface="Calibri" pitchFamily="34" charset="0"/>
                <a:ea typeface="Calibri" pitchFamily="34" charset="-122"/>
                <a:cs typeface="Calibri" pitchFamily="34" charset="-120"/>
              </a:rPr>
              <a:t>Adapted activities that work through a screen — with materials families already have at home.</a:t>
            </a:r>
            <a:endParaRPr lang="en-US" sz="820" dirty="0"/>
          </a:p>
        </p:txBody>
      </p:sp>
      <p:pic>
        <p:nvPicPr>
          <p:cNvPr id="40" name="Image 5" descr="preencoded.png"/>
          <p:cNvPicPr>
            <a:picLocks noChangeAspect="1"/>
          </p:cNvPicPr>
          <p:nvPr/>
        </p:nvPicPr>
        <p:blipFill>
          <a:blip>
            <a:alphaModFix amt="55000"/>
            <a:extLst>
              <a:ext uri="{96DAC541-7B7A-43D3-8B79-37D633B846F1}">
                <asvg:svgBlip xmlns:asvg="http://schemas.microsoft.com/office/drawing/2016/SVG/main" r:embed="rId8"/>
              </a:ext>
            </a:extLst>
          </a:blip>
          <a:stretch>
            <a:fillRect/>
          </a:stretch>
        </p:blipFill>
        <p:spPr>
          <a:xfrm>
            <a:off x="267527" y="4037344"/>
            <a:ext cx="132588" cy="132588"/>
          </a:xfrm>
          <a:prstGeom prst="rect">
            <a:avLst/>
          </a:prstGeom>
        </p:spPr>
      </p:pic>
      <p:sp>
        <p:nvSpPr>
          <p:cNvPr id="41" name="Text 33"/>
          <p:cNvSpPr/>
          <p:nvPr/>
        </p:nvSpPr>
        <p:spPr>
          <a:xfrm>
            <a:off x="452884" y="4038898"/>
            <a:ext cx="639291" cy="129480"/>
          </a:xfrm>
          <a:prstGeom prst="rect">
            <a:avLst/>
          </a:prstGeom>
          <a:noFill/>
          <a:ln/>
        </p:spPr>
        <p:txBody>
          <a:bodyPr wrap="none" lIns="0" tIns="0" rIns="0" bIns="0" rtlCol="0" anchor="ctr"/>
          <a:lstStyle/>
          <a:p>
            <a:pPr marL="0" indent="0" algn="l">
              <a:lnSpc>
                <a:spcPts val="1020"/>
              </a:lnSpc>
              <a:buNone/>
            </a:pPr>
            <a:r>
              <a:rPr lang="en-US" sz="680" dirty="0">
                <a:solidFill>
                  <a:srgbClr val="FFFFFF">
                    <a:alpha val="85000"/>
                  </a:srgbClr>
                </a:solidFill>
                <a:latin typeface="Calibri" pitchFamily="34" charset="0"/>
                <a:ea typeface="Calibri" pitchFamily="34" charset="-122"/>
                <a:cs typeface="Calibri" pitchFamily="34" charset="-120"/>
              </a:rPr>
              <a:t>Art &amp; Drawing</a:t>
            </a:r>
            <a:endParaRPr lang="en-US" sz="680" dirty="0"/>
          </a:p>
        </p:txBody>
      </p:sp>
      <p:pic>
        <p:nvPicPr>
          <p:cNvPr id="42" name="Image 6" descr="preencoded.png"/>
          <p:cNvPicPr>
            <a:picLocks noChangeAspect="1"/>
          </p:cNvPicPr>
          <p:nvPr/>
        </p:nvPicPr>
        <p:blipFill>
          <a:blip>
            <a:alphaModFix amt="55000"/>
            <a:extLst>
              <a:ext uri="{96DAC541-7B7A-43D3-8B79-37D633B846F1}">
                <asvg:svgBlip xmlns:asvg="http://schemas.microsoft.com/office/drawing/2016/SVG/main" r:embed="rId9"/>
              </a:ext>
            </a:extLst>
          </a:blip>
          <a:stretch>
            <a:fillRect/>
          </a:stretch>
        </p:blipFill>
        <p:spPr>
          <a:xfrm>
            <a:off x="267527" y="4267135"/>
            <a:ext cx="132588" cy="132588"/>
          </a:xfrm>
          <a:prstGeom prst="rect">
            <a:avLst/>
          </a:prstGeom>
        </p:spPr>
      </p:pic>
      <p:sp>
        <p:nvSpPr>
          <p:cNvPr id="43" name="Text 34"/>
          <p:cNvSpPr/>
          <p:nvPr/>
        </p:nvSpPr>
        <p:spPr>
          <a:xfrm>
            <a:off x="452884" y="4268688"/>
            <a:ext cx="892061" cy="129480"/>
          </a:xfrm>
          <a:prstGeom prst="rect">
            <a:avLst/>
          </a:prstGeom>
          <a:noFill/>
          <a:ln/>
        </p:spPr>
        <p:txBody>
          <a:bodyPr wrap="none" lIns="0" tIns="0" rIns="0" bIns="0" rtlCol="0" anchor="ctr"/>
          <a:lstStyle/>
          <a:p>
            <a:pPr marL="0" indent="0" algn="l">
              <a:lnSpc>
                <a:spcPts val="1020"/>
              </a:lnSpc>
              <a:buNone/>
            </a:pPr>
            <a:r>
              <a:rPr lang="en-US" sz="680" dirty="0">
                <a:solidFill>
                  <a:srgbClr val="FFFFFF">
                    <a:alpha val="85000"/>
                  </a:srgbClr>
                </a:solidFill>
                <a:latin typeface="Calibri" pitchFamily="34" charset="0"/>
                <a:ea typeface="Calibri" pitchFamily="34" charset="-122"/>
                <a:cs typeface="Calibri" pitchFamily="34" charset="-120"/>
              </a:rPr>
              <a:t>Family Involvement</a:t>
            </a:r>
            <a:endParaRPr lang="en-US" sz="680" dirty="0"/>
          </a:p>
        </p:txBody>
      </p:sp>
      <p:pic>
        <p:nvPicPr>
          <p:cNvPr id="44" name="Image 7" descr="preencoded.png"/>
          <p:cNvPicPr>
            <a:picLocks noChangeAspect="1"/>
          </p:cNvPicPr>
          <p:nvPr/>
        </p:nvPicPr>
        <p:blipFill>
          <a:blip>
            <a:alphaModFix amt="55000"/>
            <a:extLst>
              <a:ext uri="{96DAC541-7B7A-43D3-8B79-37D633B846F1}">
                <asvg:svgBlip xmlns:asvg="http://schemas.microsoft.com/office/drawing/2016/SVG/main" r:embed="rId10"/>
              </a:ext>
            </a:extLst>
          </a:blip>
          <a:stretch>
            <a:fillRect/>
          </a:stretch>
        </p:blipFill>
        <p:spPr>
          <a:xfrm>
            <a:off x="267527" y="4496925"/>
            <a:ext cx="132588" cy="132588"/>
          </a:xfrm>
          <a:prstGeom prst="rect">
            <a:avLst/>
          </a:prstGeom>
        </p:spPr>
      </p:pic>
      <p:sp>
        <p:nvSpPr>
          <p:cNvPr id="45" name="Text 35"/>
          <p:cNvSpPr/>
          <p:nvPr/>
        </p:nvSpPr>
        <p:spPr>
          <a:xfrm>
            <a:off x="452884" y="4498479"/>
            <a:ext cx="768950" cy="129480"/>
          </a:xfrm>
          <a:prstGeom prst="rect">
            <a:avLst/>
          </a:prstGeom>
          <a:noFill/>
          <a:ln/>
        </p:spPr>
        <p:txBody>
          <a:bodyPr wrap="none" lIns="0" tIns="0" rIns="0" bIns="0" rtlCol="0" anchor="ctr"/>
          <a:lstStyle/>
          <a:p>
            <a:pPr marL="0" indent="0" algn="l">
              <a:lnSpc>
                <a:spcPts val="1020"/>
              </a:lnSpc>
              <a:buNone/>
            </a:pPr>
            <a:r>
              <a:rPr lang="en-US" sz="680" dirty="0">
                <a:solidFill>
                  <a:srgbClr val="FFFFFF">
                    <a:alpha val="85000"/>
                  </a:srgbClr>
                </a:solidFill>
                <a:latin typeface="Calibri" pitchFamily="34" charset="0"/>
                <a:ea typeface="Calibri" pitchFamily="34" charset="-122"/>
                <a:cs typeface="Calibri" pitchFamily="34" charset="-120"/>
              </a:rPr>
              <a:t>Strengths-Based</a:t>
            </a:r>
            <a:endParaRPr lang="en-US" sz="680" dirty="0"/>
          </a:p>
        </p:txBody>
      </p:sp>
      <p:pic>
        <p:nvPicPr>
          <p:cNvPr id="46" name="Image 8" descr="preencoded.png"/>
          <p:cNvPicPr>
            <a:picLocks noChangeAspect="1"/>
          </p:cNvPicPr>
          <p:nvPr/>
        </p:nvPicPr>
        <p:blipFill>
          <a:blip>
            <a:alphaModFix amt="55000"/>
            <a:extLst>
              <a:ext uri="{96DAC541-7B7A-43D3-8B79-37D633B846F1}">
                <asvg:svgBlip xmlns:asvg="http://schemas.microsoft.com/office/drawing/2016/SVG/main" r:embed="rId11"/>
              </a:ext>
            </a:extLst>
          </a:blip>
          <a:stretch>
            <a:fillRect/>
          </a:stretch>
        </p:blipFill>
        <p:spPr>
          <a:xfrm>
            <a:off x="267527" y="4726716"/>
            <a:ext cx="132588" cy="132588"/>
          </a:xfrm>
          <a:prstGeom prst="rect">
            <a:avLst/>
          </a:prstGeom>
        </p:spPr>
      </p:pic>
      <p:sp>
        <p:nvSpPr>
          <p:cNvPr id="47" name="Text 36"/>
          <p:cNvSpPr/>
          <p:nvPr/>
        </p:nvSpPr>
        <p:spPr>
          <a:xfrm>
            <a:off x="452884" y="4728270"/>
            <a:ext cx="953125" cy="129480"/>
          </a:xfrm>
          <a:prstGeom prst="rect">
            <a:avLst/>
          </a:prstGeom>
          <a:noFill/>
          <a:ln/>
        </p:spPr>
        <p:txBody>
          <a:bodyPr wrap="none" lIns="0" tIns="0" rIns="0" bIns="0" rtlCol="0" anchor="ctr"/>
          <a:lstStyle/>
          <a:p>
            <a:pPr marL="0" indent="0" algn="l">
              <a:lnSpc>
                <a:spcPts val="1020"/>
              </a:lnSpc>
              <a:buNone/>
            </a:pPr>
            <a:r>
              <a:rPr lang="en-US" sz="680" dirty="0">
                <a:solidFill>
                  <a:srgbClr val="FFFFFF">
                    <a:alpha val="85000"/>
                  </a:srgbClr>
                </a:solidFill>
                <a:latin typeface="Calibri" pitchFamily="34" charset="0"/>
                <a:ea typeface="Calibri" pitchFamily="34" charset="-122"/>
                <a:cs typeface="Calibri" pitchFamily="34" charset="-120"/>
              </a:rPr>
              <a:t>No Special Materials</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37605"/>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400050" y="200620"/>
            <a:ext cx="6591992" cy="278904"/>
          </a:xfrm>
          <a:prstGeom prst="rect">
            <a:avLst/>
          </a:prstGeom>
          <a:noFill/>
          <a:ln/>
        </p:spPr>
        <p:txBody>
          <a:bodyPr wrap="none" lIns="0" tIns="0" rIns="0" bIns="0" rtlCol="0" anchor="ctr"/>
          <a:lstStyle/>
          <a:p>
            <a:pPr marL="0" indent="0" algn="l">
              <a:lnSpc>
                <a:spcPts val="2197"/>
              </a:lnSpc>
              <a:spcAft>
                <a:spcPts val="230"/>
              </a:spcAft>
              <a:buNone/>
            </a:pPr>
            <a:r>
              <a:rPr lang="en-US" sz="1910" b="1" dirty="0">
                <a:solidFill>
                  <a:srgbClr val="FFFFFF"/>
                </a:solidFill>
                <a:latin typeface="Calibri Light" pitchFamily="34" charset="0"/>
                <a:ea typeface="Calibri Light" pitchFamily="34" charset="-122"/>
                <a:cs typeface="Calibri Light" pitchFamily="34" charset="-120"/>
              </a:rPr>
              <a:t>A Few More Worth Bookmarking</a:t>
            </a:r>
            <a:endParaRPr lang="en-US" sz="1910" dirty="0"/>
          </a:p>
        </p:txBody>
      </p:sp>
      <p:sp>
        <p:nvSpPr>
          <p:cNvPr id="4" name="Text 2"/>
          <p:cNvSpPr/>
          <p:nvPr/>
        </p:nvSpPr>
        <p:spPr>
          <a:xfrm>
            <a:off x="400050" y="508695"/>
            <a:ext cx="6776814" cy="171450"/>
          </a:xfrm>
          <a:prstGeom prst="rect">
            <a:avLst/>
          </a:prstGeom>
          <a:noFill/>
          <a:ln/>
        </p:spPr>
        <p:txBody>
          <a:bodyPr wrap="none" lIns="0" tIns="0" rIns="0" bIns="0" rtlCol="0" anchor="ctr"/>
          <a:lstStyle/>
          <a:p>
            <a:pPr marL="0" indent="0" algn="l">
              <a:lnSpc>
                <a:spcPts val="1350"/>
              </a:lnSpc>
              <a:buNone/>
            </a:pPr>
            <a:r>
              <a:rPr lang="en-US" sz="900" kern="0" spc="9" dirty="0">
                <a:solidFill>
                  <a:srgbClr val="FAB753"/>
                </a:solidFill>
                <a:latin typeface="Calibri" pitchFamily="34" charset="0"/>
                <a:ea typeface="Calibri" pitchFamily="34" charset="-122"/>
                <a:cs typeface="Calibri" pitchFamily="34" charset="-120"/>
              </a:rPr>
              <a:t>Songs, mindfulness, and relational tools that meet clients where they are.</a:t>
            </a:r>
            <a:endParaRPr lang="en-US" sz="900" dirty="0"/>
          </a:p>
        </p:txBody>
      </p:sp>
      <p:sp>
        <p:nvSpPr>
          <p:cNvPr id="5" name="Text 3"/>
          <p:cNvSpPr/>
          <p:nvPr/>
        </p:nvSpPr>
        <p:spPr>
          <a:xfrm>
            <a:off x="6688931" y="247352"/>
            <a:ext cx="29170" cy="386060"/>
          </a:xfrm>
          <a:prstGeom prst="roundRect">
            <a:avLst>
              <a:gd name="adj" fmla="val 47892"/>
            </a:avLst>
          </a:prstGeom>
          <a:solidFill>
            <a:srgbClr val="FAB753"/>
          </a:solidFill>
          <a:ln/>
        </p:spPr>
        <p:txBody>
          <a:bodyPr wrap="square" rtlCol="0" anchor="t"/>
          <a:lstStyle/>
          <a:p>
            <a:pPr marL="0" indent="0">
              <a:buNone/>
            </a:pPr>
            <a:endParaRPr lang="en-US" dirty="0"/>
          </a:p>
        </p:txBody>
      </p:sp>
      <p:sp>
        <p:nvSpPr>
          <p:cNvPr id="6" name="Text 4"/>
          <p:cNvSpPr/>
          <p:nvPr/>
        </p:nvSpPr>
        <p:spPr>
          <a:xfrm>
            <a:off x="6656472" y="318343"/>
            <a:ext cx="2087478" cy="125909"/>
          </a:xfrm>
          <a:prstGeom prst="rect">
            <a:avLst/>
          </a:prstGeom>
          <a:noFill/>
          <a:ln/>
        </p:spPr>
        <p:txBody>
          <a:bodyPr wrap="none" lIns="0" tIns="0" rIns="0" bIns="0" rtlCol="0" anchor="t"/>
          <a:lstStyle/>
          <a:p>
            <a:pPr marL="0" indent="0" algn="r">
              <a:lnSpc>
                <a:spcPts val="992"/>
              </a:lnSpc>
              <a:buNone/>
            </a:pPr>
            <a:r>
              <a:rPr lang="en-US" sz="620" kern="0" spc="50" dirty="0">
                <a:solidFill>
                  <a:srgbClr val="FFFFFF">
                    <a:alpha val="60000"/>
                  </a:srgbClr>
                </a:solidFill>
                <a:latin typeface="Calibri" pitchFamily="34" charset="0"/>
                <a:ea typeface="Calibri" pitchFamily="34" charset="-122"/>
                <a:cs typeface="Calibri" pitchFamily="34" charset="-120"/>
              </a:rPr>
              <a:t>CENTERSTONE CLINICAL TRAINING SERIES</a:t>
            </a:r>
            <a:endParaRPr lang="en-US" sz="620" dirty="0"/>
          </a:p>
        </p:txBody>
      </p:sp>
      <p:sp>
        <p:nvSpPr>
          <p:cNvPr id="7" name="Text 5"/>
          <p:cNvSpPr/>
          <p:nvPr/>
        </p:nvSpPr>
        <p:spPr>
          <a:xfrm>
            <a:off x="6656472" y="444252"/>
            <a:ext cx="2087478" cy="118021"/>
          </a:xfrm>
          <a:prstGeom prst="rect">
            <a:avLst/>
          </a:prstGeom>
          <a:noFill/>
          <a:ln/>
        </p:spPr>
        <p:txBody>
          <a:bodyPr wrap="none" lIns="0" tIns="0" rIns="0" bIns="0" rtlCol="0" anchor="t"/>
          <a:lstStyle/>
          <a:p>
            <a:pPr marL="0" indent="0" algn="r">
              <a:lnSpc>
                <a:spcPts val="930"/>
              </a:lnSpc>
              <a:buNone/>
            </a:pPr>
            <a:r>
              <a:rPr lang="en-US" sz="620" kern="0" spc="25" dirty="0">
                <a:solidFill>
                  <a:srgbClr val="FAB753"/>
                </a:solidFill>
                <a:latin typeface="Calibri" pitchFamily="34" charset="0"/>
                <a:ea typeface="Calibri" pitchFamily="34" charset="-122"/>
                <a:cs typeface="Calibri" pitchFamily="34" charset="-120"/>
              </a:rPr>
              <a:t>Telehealth 101 · June 2026</a:t>
            </a:r>
            <a:endParaRPr lang="en-US" sz="620" dirty="0"/>
          </a:p>
        </p:txBody>
      </p:sp>
      <p:sp>
        <p:nvSpPr>
          <p:cNvPr id="8" name="Text 6"/>
          <p:cNvSpPr/>
          <p:nvPr/>
        </p:nvSpPr>
        <p:spPr>
          <a:xfrm>
            <a:off x="400050" y="1009055"/>
            <a:ext cx="1978372" cy="2035820"/>
          </a:xfrm>
          <a:prstGeom prst="roundRect">
            <a:avLst>
              <a:gd name="adj" fmla="val 3595"/>
            </a:avLst>
          </a:prstGeom>
          <a:solidFill>
            <a:srgbClr val="EAF4F4"/>
          </a:solidFill>
          <a:ln/>
        </p:spPr>
        <p:txBody>
          <a:bodyPr wrap="square" rtlCol="0" anchor="t"/>
          <a:lstStyle/>
          <a:p>
            <a:pPr marL="0" indent="0">
              <a:buNone/>
            </a:pPr>
            <a:endParaRPr lang="en-US" dirty="0"/>
          </a:p>
        </p:txBody>
      </p:sp>
      <p:sp>
        <p:nvSpPr>
          <p:cNvPr id="9" name="Text 7"/>
          <p:cNvSpPr/>
          <p:nvPr/>
        </p:nvSpPr>
        <p:spPr>
          <a:xfrm>
            <a:off x="400050" y="1009055"/>
            <a:ext cx="1978372" cy="28575"/>
          </a:xfrm>
          <a:custGeom>
            <a:avLst/>
            <a:gdLst/>
            <a:ahLst/>
            <a:cxnLst/>
            <a:rect l="l" t="t" r="r" b="b"/>
            <a:pathLst>
              <a:path w="1978372"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1964243" y="28575"/>
                </a:lnTo>
                <a:lnTo>
                  <a:pt x="1961394" y="25003"/>
                </a:lnTo>
                <a:lnTo>
                  <a:pt x="1958135" y="21431"/>
                </a:lnTo>
                <a:lnTo>
                  <a:pt x="1954384" y="17859"/>
                </a:lnTo>
                <a:lnTo>
                  <a:pt x="1950009" y="14288"/>
                </a:lnTo>
                <a:lnTo>
                  <a:pt x="1944794" y="10716"/>
                </a:lnTo>
                <a:lnTo>
                  <a:pt x="1938318" y="7144"/>
                </a:lnTo>
                <a:lnTo>
                  <a:pt x="1929508" y="3572"/>
                </a:lnTo>
                <a:lnTo>
                  <a:pt x="1907252" y="0"/>
                </a:lnTo>
                <a:close/>
              </a:path>
            </a:pathLst>
          </a:custGeom>
          <a:solidFill>
            <a:srgbClr val="FAB753"/>
          </a:solidFill>
          <a:ln/>
        </p:spPr>
        <p:txBody>
          <a:bodyPr wrap="none" rtlCol="0" anchor="t"/>
          <a:lstStyle/>
          <a:p>
            <a:pPr marL="0" indent="0">
              <a:buNone/>
            </a:pPr>
            <a:endParaRPr lang="en-US" dirty="0"/>
          </a:p>
        </p:txBody>
      </p:sp>
      <p:sp>
        <p:nvSpPr>
          <p:cNvPr id="10" name="Text 8"/>
          <p:cNvSpPr/>
          <p:nvPr/>
        </p:nvSpPr>
        <p:spPr>
          <a:xfrm>
            <a:off x="557510" y="1209080"/>
            <a:ext cx="342900" cy="342900"/>
          </a:xfrm>
          <a:prstGeom prst="ellipse">
            <a:avLst/>
          </a:prstGeom>
          <a:solidFill>
            <a:srgbClr val="1B5E72"/>
          </a:solidFill>
          <a:ln/>
        </p:spPr>
        <p:txBody>
          <a:bodyPr wrap="square" rtlCol="0" anchor="t"/>
          <a:lstStyle/>
          <a:p>
            <a:pPr marL="0" indent="0">
              <a:buNone/>
            </a:pPr>
            <a:endParaRPr lang="en-US"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457" y="1311027"/>
            <a:ext cx="139005" cy="139005"/>
          </a:xfrm>
          <a:prstGeom prst="rect">
            <a:avLst/>
          </a:prstGeom>
        </p:spPr>
      </p:pic>
      <p:sp>
        <p:nvSpPr>
          <p:cNvPr id="12" name="Text 9"/>
          <p:cNvSpPr/>
          <p:nvPr/>
        </p:nvSpPr>
        <p:spPr>
          <a:xfrm>
            <a:off x="557510" y="1652290"/>
            <a:ext cx="1248221" cy="160273"/>
          </a:xfrm>
          <a:prstGeom prst="roundRect">
            <a:avLst>
              <a:gd name="adj" fmla="val 18225"/>
            </a:avLst>
          </a:prstGeom>
          <a:solidFill>
            <a:srgbClr val="1B5E72">
              <a:alpha val="10000"/>
            </a:srgbClr>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SONG · GROWTH MINDSET</a:t>
            </a:r>
            <a:endParaRPr lang="en-US" sz="620" dirty="0"/>
          </a:p>
        </p:txBody>
      </p:sp>
      <p:sp>
        <p:nvSpPr>
          <p:cNvPr id="13" name="Text 10"/>
          <p:cNvSpPr/>
          <p:nvPr/>
        </p:nvSpPr>
        <p:spPr>
          <a:xfrm>
            <a:off x="557510" y="1868984"/>
            <a:ext cx="843439" cy="153888"/>
          </a:xfrm>
          <a:prstGeom prst="rect">
            <a:avLst/>
          </a:prstGeom>
          <a:noFill/>
          <a:ln/>
        </p:spPr>
        <p:txBody>
          <a:bodyPr wrap="none" lIns="0" tIns="0" rIns="0" bIns="0" rtlCol="0" anchor="t"/>
          <a:lstStyle/>
          <a:p>
            <a:pPr marL="0" indent="0" algn="l">
              <a:lnSpc>
                <a:spcPts val="1212"/>
              </a:lnSpc>
              <a:spcAft>
                <a:spcPts val="450"/>
              </a:spcAft>
              <a:buNone/>
            </a:pPr>
            <a:r>
              <a:rPr lang="en-US" sz="1010" b="1" dirty="0">
                <a:solidFill>
                  <a:srgbClr val="1B5E72"/>
                </a:solidFill>
                <a:latin typeface="Calibri Light" pitchFamily="34" charset="0"/>
                <a:ea typeface="Calibri Light" pitchFamily="34" charset="-122"/>
                <a:cs typeface="Calibri Light" pitchFamily="34" charset="-120"/>
              </a:rPr>
              <a:t>Power of Yet</a:t>
            </a:r>
            <a:endParaRPr lang="en-US" sz="1010" dirty="0"/>
          </a:p>
        </p:txBody>
      </p:sp>
      <p:sp>
        <p:nvSpPr>
          <p:cNvPr id="14" name="Text 11"/>
          <p:cNvSpPr/>
          <p:nvPr/>
        </p:nvSpPr>
        <p:spPr>
          <a:xfrm>
            <a:off x="557510" y="2080022"/>
            <a:ext cx="1696721" cy="847762"/>
          </a:xfrm>
          <a:prstGeom prst="rect">
            <a:avLst/>
          </a:prstGeom>
          <a:noFill/>
          <a:ln/>
        </p:spPr>
        <p:txBody>
          <a:bodyPr wrap="square" lIns="0" tIns="0" rIns="0" bIns="0" rtlCol="0" anchor="t"/>
          <a:lstStyle/>
          <a:p>
            <a:pPr marL="0" indent="0" algn="l">
              <a:lnSpc>
                <a:spcPts val="1271"/>
              </a:lnSpc>
              <a:buNone/>
            </a:pPr>
            <a:r>
              <a:rPr lang="en-US" sz="820" dirty="0">
                <a:solidFill>
                  <a:srgbClr val="3A3A3A"/>
                </a:solidFill>
                <a:latin typeface="Calibri" pitchFamily="34" charset="0"/>
                <a:ea typeface="Calibri" pitchFamily="34" charset="-122"/>
                <a:cs typeface="Calibri" pitchFamily="34" charset="-120"/>
              </a:rPr>
              <a:t>Sesame Street: Janelle Monáe — </a:t>
            </a:r>
            <a:r>
              <a:rPr lang="en-US" sz="820" i="1" dirty="0">
                <a:solidFill>
                  <a:srgbClr val="3A3A3A"/>
                </a:solidFill>
                <a:latin typeface="Calibri" pitchFamily="34" charset="0"/>
                <a:ea typeface="Calibri" pitchFamily="34" charset="-122"/>
                <a:cs typeface="Calibri" pitchFamily="34" charset="-120"/>
              </a:rPr>
              <a:t>Power of Yet</a:t>
            </a:r>
            <a:r>
              <a:rPr lang="en-US" sz="820" dirty="0">
                <a:solidFill>
                  <a:srgbClr val="3A3A3A"/>
                </a:solidFill>
                <a:latin typeface="Calibri" pitchFamily="34" charset="0"/>
                <a:ea typeface="Calibri" pitchFamily="34" charset="-122"/>
                <a:cs typeface="Calibri" pitchFamily="34" charset="-120"/>
              </a:rPr>
              <a:t>. A song about growth mindset that works with young children and opens conversation about effort and resilience.</a:t>
            </a:r>
            <a:endParaRPr lang="en-US" sz="820" dirty="0"/>
          </a:p>
        </p:txBody>
      </p:sp>
      <p:sp>
        <p:nvSpPr>
          <p:cNvPr id="15" name="Text 12"/>
          <p:cNvSpPr/>
          <p:nvPr/>
        </p:nvSpPr>
        <p:spPr>
          <a:xfrm>
            <a:off x="2521893" y="1009055"/>
            <a:ext cx="1978372" cy="2035820"/>
          </a:xfrm>
          <a:prstGeom prst="roundRect">
            <a:avLst>
              <a:gd name="adj" fmla="val 3595"/>
            </a:avLst>
          </a:prstGeom>
          <a:solidFill>
            <a:srgbClr val="EAF4F4"/>
          </a:solidFill>
          <a:ln/>
        </p:spPr>
        <p:txBody>
          <a:bodyPr wrap="square" rtlCol="0" anchor="t"/>
          <a:lstStyle/>
          <a:p>
            <a:pPr marL="0" indent="0">
              <a:buNone/>
            </a:pPr>
            <a:endParaRPr lang="en-US" dirty="0"/>
          </a:p>
        </p:txBody>
      </p:sp>
      <p:sp>
        <p:nvSpPr>
          <p:cNvPr id="16" name="Text 13"/>
          <p:cNvSpPr/>
          <p:nvPr/>
        </p:nvSpPr>
        <p:spPr>
          <a:xfrm>
            <a:off x="2521893" y="1009055"/>
            <a:ext cx="1978372" cy="28575"/>
          </a:xfrm>
          <a:custGeom>
            <a:avLst/>
            <a:gdLst/>
            <a:ahLst/>
            <a:cxnLst/>
            <a:rect l="l" t="t" r="r" b="b"/>
            <a:pathLst>
              <a:path w="1978372"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1964243" y="28575"/>
                </a:lnTo>
                <a:lnTo>
                  <a:pt x="1961394" y="25003"/>
                </a:lnTo>
                <a:lnTo>
                  <a:pt x="1958135" y="21431"/>
                </a:lnTo>
                <a:lnTo>
                  <a:pt x="1954384" y="17859"/>
                </a:lnTo>
                <a:lnTo>
                  <a:pt x="1950009" y="14288"/>
                </a:lnTo>
                <a:lnTo>
                  <a:pt x="1944794" y="10716"/>
                </a:lnTo>
                <a:lnTo>
                  <a:pt x="1938318" y="7144"/>
                </a:lnTo>
                <a:lnTo>
                  <a:pt x="1929508" y="3572"/>
                </a:lnTo>
                <a:lnTo>
                  <a:pt x="1907252" y="0"/>
                </a:lnTo>
                <a:close/>
              </a:path>
            </a:pathLst>
          </a:custGeom>
          <a:solidFill>
            <a:srgbClr val="FAB753"/>
          </a:solidFill>
          <a:ln/>
        </p:spPr>
        <p:txBody>
          <a:bodyPr wrap="none" rtlCol="0" anchor="t"/>
          <a:lstStyle/>
          <a:p>
            <a:pPr marL="0" indent="0">
              <a:buNone/>
            </a:pPr>
            <a:endParaRPr lang="en-US" dirty="0"/>
          </a:p>
        </p:txBody>
      </p:sp>
      <p:sp>
        <p:nvSpPr>
          <p:cNvPr id="17" name="Text 14"/>
          <p:cNvSpPr/>
          <p:nvPr/>
        </p:nvSpPr>
        <p:spPr>
          <a:xfrm>
            <a:off x="2679353" y="1209080"/>
            <a:ext cx="342900" cy="342900"/>
          </a:xfrm>
          <a:prstGeom prst="ellipse">
            <a:avLst/>
          </a:prstGeom>
          <a:solidFill>
            <a:srgbClr val="1B5E72"/>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81300" y="1311027"/>
            <a:ext cx="139005" cy="139005"/>
          </a:xfrm>
          <a:prstGeom prst="rect">
            <a:avLst/>
          </a:prstGeom>
        </p:spPr>
      </p:pic>
      <p:sp>
        <p:nvSpPr>
          <p:cNvPr id="19" name="Text 15"/>
          <p:cNvSpPr/>
          <p:nvPr/>
        </p:nvSpPr>
        <p:spPr>
          <a:xfrm>
            <a:off x="2679353" y="1652290"/>
            <a:ext cx="1233785" cy="160273"/>
          </a:xfrm>
          <a:prstGeom prst="roundRect">
            <a:avLst>
              <a:gd name="adj" fmla="val 18225"/>
            </a:avLst>
          </a:prstGeom>
          <a:solidFill>
            <a:srgbClr val="1B5E72">
              <a:alpha val="10000"/>
            </a:srgbClr>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MINDFULNESS · YOUTUBE</a:t>
            </a:r>
            <a:endParaRPr lang="en-US" sz="620" dirty="0"/>
          </a:p>
        </p:txBody>
      </p:sp>
      <p:sp>
        <p:nvSpPr>
          <p:cNvPr id="20" name="Text 16"/>
          <p:cNvSpPr/>
          <p:nvPr/>
        </p:nvSpPr>
        <p:spPr>
          <a:xfrm>
            <a:off x="2679353" y="1868984"/>
            <a:ext cx="1224558" cy="153888"/>
          </a:xfrm>
          <a:prstGeom prst="rect">
            <a:avLst/>
          </a:prstGeom>
          <a:noFill/>
          <a:ln/>
        </p:spPr>
        <p:txBody>
          <a:bodyPr wrap="none" lIns="0" tIns="0" rIns="0" bIns="0" rtlCol="0" anchor="t"/>
          <a:lstStyle/>
          <a:p>
            <a:pPr marL="0" indent="0" algn="l">
              <a:lnSpc>
                <a:spcPts val="1212"/>
              </a:lnSpc>
              <a:spcAft>
                <a:spcPts val="450"/>
              </a:spcAft>
              <a:buNone/>
            </a:pPr>
            <a:r>
              <a:rPr lang="en-US" sz="1010" b="1" dirty="0">
                <a:solidFill>
                  <a:srgbClr val="1B5E72"/>
                </a:solidFill>
                <a:latin typeface="Calibri Light" pitchFamily="34" charset="0"/>
                <a:ea typeface="Calibri Light" pitchFamily="34" charset="-122"/>
                <a:cs typeface="Calibri Light" pitchFamily="34" charset="-120"/>
              </a:rPr>
              <a:t>Cosmic Kids Yoga</a:t>
            </a:r>
            <a:endParaRPr lang="en-US" sz="1010" dirty="0"/>
          </a:p>
        </p:txBody>
      </p:sp>
      <p:sp>
        <p:nvSpPr>
          <p:cNvPr id="21" name="Text 17"/>
          <p:cNvSpPr/>
          <p:nvPr/>
        </p:nvSpPr>
        <p:spPr>
          <a:xfrm>
            <a:off x="2679353" y="2080022"/>
            <a:ext cx="1696721" cy="678210"/>
          </a:xfrm>
          <a:prstGeom prst="rect">
            <a:avLst/>
          </a:prstGeom>
          <a:noFill/>
          <a:ln/>
        </p:spPr>
        <p:txBody>
          <a:bodyPr wrap="square" lIns="0" tIns="0" rIns="0" bIns="0" rtlCol="0" anchor="t"/>
          <a:lstStyle/>
          <a:p>
            <a:pPr marL="0" indent="0" algn="l">
              <a:lnSpc>
                <a:spcPts val="1271"/>
              </a:lnSpc>
              <a:buNone/>
            </a:pPr>
            <a:r>
              <a:rPr lang="en-US" sz="820" dirty="0">
                <a:solidFill>
                  <a:srgbClr val="3A3A3A"/>
                </a:solidFill>
                <a:latin typeface="Calibri" pitchFamily="34" charset="0"/>
                <a:ea typeface="Calibri" pitchFamily="34" charset="-122"/>
                <a:cs typeface="Calibri" pitchFamily="34" charset="-120"/>
              </a:rPr>
              <a:t>YouTube channel with themed yoga and mindfulness stories for children. Works in session and as a between-session tool for families.</a:t>
            </a:r>
            <a:endParaRPr lang="en-US" sz="820" dirty="0"/>
          </a:p>
        </p:txBody>
      </p:sp>
      <p:sp>
        <p:nvSpPr>
          <p:cNvPr id="22" name="Text 18"/>
          <p:cNvSpPr/>
          <p:nvPr/>
        </p:nvSpPr>
        <p:spPr>
          <a:xfrm>
            <a:off x="4643735" y="1009055"/>
            <a:ext cx="1978372" cy="2035820"/>
          </a:xfrm>
          <a:prstGeom prst="roundRect">
            <a:avLst>
              <a:gd name="adj" fmla="val 3595"/>
            </a:avLst>
          </a:prstGeom>
          <a:solidFill>
            <a:srgbClr val="EAF4F4"/>
          </a:solidFill>
          <a:ln/>
        </p:spPr>
        <p:txBody>
          <a:bodyPr wrap="square" rtlCol="0" anchor="t"/>
          <a:lstStyle/>
          <a:p>
            <a:pPr marL="0" indent="0">
              <a:buNone/>
            </a:pPr>
            <a:endParaRPr lang="en-US" dirty="0"/>
          </a:p>
        </p:txBody>
      </p:sp>
      <p:sp>
        <p:nvSpPr>
          <p:cNvPr id="23" name="Text 19"/>
          <p:cNvSpPr/>
          <p:nvPr/>
        </p:nvSpPr>
        <p:spPr>
          <a:xfrm>
            <a:off x="4643735" y="1009055"/>
            <a:ext cx="1978372" cy="28575"/>
          </a:xfrm>
          <a:custGeom>
            <a:avLst/>
            <a:gdLst/>
            <a:ahLst/>
            <a:cxnLst/>
            <a:rect l="l" t="t" r="r" b="b"/>
            <a:pathLst>
              <a:path w="1978372"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1964243" y="28575"/>
                </a:lnTo>
                <a:lnTo>
                  <a:pt x="1961394" y="25003"/>
                </a:lnTo>
                <a:lnTo>
                  <a:pt x="1958135" y="21431"/>
                </a:lnTo>
                <a:lnTo>
                  <a:pt x="1954384" y="17859"/>
                </a:lnTo>
                <a:lnTo>
                  <a:pt x="1950009" y="14288"/>
                </a:lnTo>
                <a:lnTo>
                  <a:pt x="1944794" y="10716"/>
                </a:lnTo>
                <a:lnTo>
                  <a:pt x="1938318" y="7144"/>
                </a:lnTo>
                <a:lnTo>
                  <a:pt x="1929508" y="3572"/>
                </a:lnTo>
                <a:lnTo>
                  <a:pt x="1907252" y="0"/>
                </a:lnTo>
                <a:close/>
              </a:path>
            </a:pathLst>
          </a:custGeom>
          <a:solidFill>
            <a:srgbClr val="FAB753"/>
          </a:solidFill>
          <a:ln/>
        </p:spPr>
        <p:txBody>
          <a:bodyPr wrap="none" rtlCol="0" anchor="t"/>
          <a:lstStyle/>
          <a:p>
            <a:pPr marL="0" indent="0">
              <a:buNone/>
            </a:pPr>
            <a:endParaRPr lang="en-US" dirty="0"/>
          </a:p>
        </p:txBody>
      </p:sp>
      <p:sp>
        <p:nvSpPr>
          <p:cNvPr id="24" name="Text 20"/>
          <p:cNvSpPr/>
          <p:nvPr/>
        </p:nvSpPr>
        <p:spPr>
          <a:xfrm>
            <a:off x="4801195" y="1209080"/>
            <a:ext cx="342900" cy="342900"/>
          </a:xfrm>
          <a:prstGeom prst="ellipse">
            <a:avLst/>
          </a:prstGeom>
          <a:solidFill>
            <a:srgbClr val="1B5E72"/>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03143" y="1311027"/>
            <a:ext cx="139005" cy="139005"/>
          </a:xfrm>
          <a:prstGeom prst="rect">
            <a:avLst/>
          </a:prstGeom>
        </p:spPr>
      </p:pic>
      <p:sp>
        <p:nvSpPr>
          <p:cNvPr id="26" name="Text 21"/>
          <p:cNvSpPr/>
          <p:nvPr/>
        </p:nvSpPr>
        <p:spPr>
          <a:xfrm>
            <a:off x="4801195" y="1652290"/>
            <a:ext cx="1467296" cy="160273"/>
          </a:xfrm>
          <a:prstGeom prst="roundRect">
            <a:avLst>
              <a:gd name="adj" fmla="val 18225"/>
            </a:avLst>
          </a:prstGeom>
          <a:solidFill>
            <a:srgbClr val="1B5E72">
              <a:alpha val="10000"/>
            </a:srgbClr>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FEELINGS · COPING · YOUTUBE</a:t>
            </a:r>
            <a:endParaRPr lang="en-US" sz="620" dirty="0"/>
          </a:p>
        </p:txBody>
      </p:sp>
      <p:sp>
        <p:nvSpPr>
          <p:cNvPr id="27" name="Text 22"/>
          <p:cNvSpPr/>
          <p:nvPr/>
        </p:nvSpPr>
        <p:spPr>
          <a:xfrm>
            <a:off x="4801195" y="1868984"/>
            <a:ext cx="1620902" cy="153888"/>
          </a:xfrm>
          <a:prstGeom prst="rect">
            <a:avLst/>
          </a:prstGeom>
          <a:noFill/>
          <a:ln/>
        </p:spPr>
        <p:txBody>
          <a:bodyPr wrap="none" lIns="0" tIns="0" rIns="0" bIns="0" rtlCol="0" anchor="t"/>
          <a:lstStyle/>
          <a:p>
            <a:pPr marL="0" indent="0" algn="l">
              <a:lnSpc>
                <a:spcPts val="1212"/>
              </a:lnSpc>
              <a:spcAft>
                <a:spcPts val="450"/>
              </a:spcAft>
              <a:buNone/>
            </a:pPr>
            <a:r>
              <a:rPr lang="en-US" sz="1010" b="1" dirty="0">
                <a:solidFill>
                  <a:srgbClr val="1B5E72"/>
                </a:solidFill>
                <a:latin typeface="Calibri Light" pitchFamily="34" charset="0"/>
                <a:ea typeface="Calibri Light" pitchFamily="34" charset="-122"/>
                <a:cs typeface="Calibri Light" pitchFamily="34" charset="-120"/>
              </a:rPr>
              <a:t>Whole Child Counseling</a:t>
            </a:r>
            <a:endParaRPr lang="en-US" sz="1010" dirty="0"/>
          </a:p>
        </p:txBody>
      </p:sp>
      <p:sp>
        <p:nvSpPr>
          <p:cNvPr id="28" name="Text 23"/>
          <p:cNvSpPr/>
          <p:nvPr/>
        </p:nvSpPr>
        <p:spPr>
          <a:xfrm>
            <a:off x="4801195" y="2080022"/>
            <a:ext cx="1696721" cy="678210"/>
          </a:xfrm>
          <a:prstGeom prst="rect">
            <a:avLst/>
          </a:prstGeom>
          <a:noFill/>
          <a:ln/>
        </p:spPr>
        <p:txBody>
          <a:bodyPr wrap="square" lIns="0" tIns="0" rIns="0" bIns="0" rtlCol="0" anchor="t"/>
          <a:lstStyle/>
          <a:p>
            <a:pPr marL="0" indent="0" algn="l">
              <a:lnSpc>
                <a:spcPts val="1271"/>
              </a:lnSpc>
              <a:buNone/>
            </a:pPr>
            <a:r>
              <a:rPr lang="en-US" sz="820" dirty="0">
                <a:solidFill>
                  <a:srgbClr val="3A3A3A"/>
                </a:solidFill>
                <a:latin typeface="Calibri" pitchFamily="34" charset="0"/>
                <a:ea typeface="Calibri" pitchFamily="34" charset="-122"/>
                <a:cs typeface="Calibri" pitchFamily="34" charset="-120"/>
              </a:rPr>
              <a:t>Therapeutic YouTube channel with videos on feelings, coping, and self-regulation designed for elementary through middle school.</a:t>
            </a:r>
            <a:endParaRPr lang="en-US" sz="820" dirty="0"/>
          </a:p>
        </p:txBody>
      </p:sp>
      <p:sp>
        <p:nvSpPr>
          <p:cNvPr id="29" name="Text 24"/>
          <p:cNvSpPr/>
          <p:nvPr/>
        </p:nvSpPr>
        <p:spPr>
          <a:xfrm>
            <a:off x="6765578" y="1009055"/>
            <a:ext cx="1978372" cy="2035820"/>
          </a:xfrm>
          <a:prstGeom prst="roundRect">
            <a:avLst>
              <a:gd name="adj" fmla="val 3595"/>
            </a:avLst>
          </a:prstGeom>
          <a:solidFill>
            <a:srgbClr val="EAF4F4"/>
          </a:solidFill>
          <a:ln/>
        </p:spPr>
        <p:txBody>
          <a:bodyPr wrap="square" rtlCol="0" anchor="t"/>
          <a:lstStyle/>
          <a:p>
            <a:pPr marL="0" indent="0">
              <a:buNone/>
            </a:pPr>
            <a:endParaRPr lang="en-US" dirty="0"/>
          </a:p>
        </p:txBody>
      </p:sp>
      <p:sp>
        <p:nvSpPr>
          <p:cNvPr id="30" name="Text 25"/>
          <p:cNvSpPr/>
          <p:nvPr/>
        </p:nvSpPr>
        <p:spPr>
          <a:xfrm>
            <a:off x="6765578" y="1009055"/>
            <a:ext cx="1978372" cy="28575"/>
          </a:xfrm>
          <a:custGeom>
            <a:avLst/>
            <a:gdLst/>
            <a:ahLst/>
            <a:cxnLst/>
            <a:rect l="l" t="t" r="r" b="b"/>
            <a:pathLst>
              <a:path w="1978372"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1964243" y="28575"/>
                </a:lnTo>
                <a:lnTo>
                  <a:pt x="1961394" y="25003"/>
                </a:lnTo>
                <a:lnTo>
                  <a:pt x="1958135" y="21431"/>
                </a:lnTo>
                <a:lnTo>
                  <a:pt x="1954384" y="17859"/>
                </a:lnTo>
                <a:lnTo>
                  <a:pt x="1950009" y="14288"/>
                </a:lnTo>
                <a:lnTo>
                  <a:pt x="1944794" y="10716"/>
                </a:lnTo>
                <a:lnTo>
                  <a:pt x="1938318" y="7144"/>
                </a:lnTo>
                <a:lnTo>
                  <a:pt x="1929508" y="3572"/>
                </a:lnTo>
                <a:lnTo>
                  <a:pt x="1907252" y="0"/>
                </a:lnTo>
                <a:close/>
              </a:path>
            </a:pathLst>
          </a:custGeom>
          <a:solidFill>
            <a:srgbClr val="FAB753"/>
          </a:solidFill>
          <a:ln/>
        </p:spPr>
        <p:txBody>
          <a:bodyPr wrap="none" rtlCol="0" anchor="t"/>
          <a:lstStyle/>
          <a:p>
            <a:pPr marL="0" indent="0">
              <a:buNone/>
            </a:pPr>
            <a:endParaRPr lang="en-US" dirty="0"/>
          </a:p>
        </p:txBody>
      </p:sp>
      <p:sp>
        <p:nvSpPr>
          <p:cNvPr id="31" name="Text 26"/>
          <p:cNvSpPr/>
          <p:nvPr/>
        </p:nvSpPr>
        <p:spPr>
          <a:xfrm>
            <a:off x="6923038" y="1209080"/>
            <a:ext cx="342900" cy="342900"/>
          </a:xfrm>
          <a:prstGeom prst="ellipse">
            <a:avLst/>
          </a:prstGeom>
          <a:solidFill>
            <a:srgbClr val="1B5E72"/>
          </a:solidFill>
          <a:ln/>
        </p:spPr>
        <p:txBody>
          <a:bodyPr wrap="square" rtlCol="0" anchor="t"/>
          <a:lstStyle/>
          <a:p>
            <a:pPr marL="0" indent="0">
              <a:buNone/>
            </a:pPr>
            <a:endParaRPr lang="en-US" dirty="0"/>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4985" y="1311027"/>
            <a:ext cx="139005" cy="139005"/>
          </a:xfrm>
          <a:prstGeom prst="rect">
            <a:avLst/>
          </a:prstGeom>
        </p:spPr>
      </p:pic>
      <p:sp>
        <p:nvSpPr>
          <p:cNvPr id="33" name="Text 27"/>
          <p:cNvSpPr/>
          <p:nvPr/>
        </p:nvSpPr>
        <p:spPr>
          <a:xfrm>
            <a:off x="6923038" y="1652290"/>
            <a:ext cx="1613148" cy="160273"/>
          </a:xfrm>
          <a:prstGeom prst="roundRect">
            <a:avLst>
              <a:gd name="adj" fmla="val 18225"/>
            </a:avLst>
          </a:prstGeom>
          <a:solidFill>
            <a:srgbClr val="1B5E72">
              <a:alpha val="10000"/>
            </a:srgbClr>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EMOTIONS · ELEMENTARY–MIDDLE</a:t>
            </a:r>
            <a:endParaRPr lang="en-US" sz="620" dirty="0"/>
          </a:p>
        </p:txBody>
      </p:sp>
      <p:sp>
        <p:nvSpPr>
          <p:cNvPr id="34" name="Text 28"/>
          <p:cNvSpPr/>
          <p:nvPr/>
        </p:nvSpPr>
        <p:spPr>
          <a:xfrm>
            <a:off x="6923038" y="1868984"/>
            <a:ext cx="1464558" cy="153888"/>
          </a:xfrm>
          <a:prstGeom prst="rect">
            <a:avLst/>
          </a:prstGeom>
          <a:noFill/>
          <a:ln/>
        </p:spPr>
        <p:txBody>
          <a:bodyPr wrap="none" lIns="0" tIns="0" rIns="0" bIns="0" rtlCol="0" anchor="t"/>
          <a:lstStyle/>
          <a:p>
            <a:pPr marL="0" indent="0" algn="l">
              <a:lnSpc>
                <a:spcPts val="1212"/>
              </a:lnSpc>
              <a:spcAft>
                <a:spcPts val="450"/>
              </a:spcAft>
              <a:buNone/>
            </a:pPr>
            <a:r>
              <a:rPr lang="en-US" sz="1010" b="1" dirty="0">
                <a:solidFill>
                  <a:srgbClr val="1B5E72"/>
                </a:solidFill>
                <a:latin typeface="Calibri Light" pitchFamily="34" charset="0"/>
                <a:ea typeface="Calibri Light" pitchFamily="34" charset="-122"/>
                <a:cs typeface="Calibri Light" pitchFamily="34" charset="-120"/>
              </a:rPr>
              <a:t>Coping Skills for Kids</a:t>
            </a:r>
            <a:endParaRPr lang="en-US" sz="1010" dirty="0"/>
          </a:p>
        </p:txBody>
      </p:sp>
      <p:sp>
        <p:nvSpPr>
          <p:cNvPr id="35" name="Text 29"/>
          <p:cNvSpPr/>
          <p:nvPr/>
        </p:nvSpPr>
        <p:spPr>
          <a:xfrm>
            <a:off x="6923038" y="2080022"/>
            <a:ext cx="1696721" cy="678210"/>
          </a:xfrm>
          <a:prstGeom prst="rect">
            <a:avLst/>
          </a:prstGeom>
          <a:noFill/>
          <a:ln/>
        </p:spPr>
        <p:txBody>
          <a:bodyPr wrap="square" lIns="0" tIns="0" rIns="0" bIns="0" rtlCol="0" anchor="t"/>
          <a:lstStyle/>
          <a:p>
            <a:pPr marL="0" indent="0" algn="l">
              <a:lnSpc>
                <a:spcPts val="1271"/>
              </a:lnSpc>
              <a:buNone/>
            </a:pPr>
            <a:r>
              <a:rPr lang="en-US" sz="820" dirty="0">
                <a:solidFill>
                  <a:srgbClr val="3A3A3A"/>
                </a:solidFill>
                <a:latin typeface="Calibri" pitchFamily="34" charset="0"/>
                <a:ea typeface="Calibri" pitchFamily="34" charset="-122"/>
                <a:cs typeface="Calibri" pitchFamily="34" charset="-120"/>
              </a:rPr>
              <a:t>Managing feelings and emotions for elementary and middle school — designed for in-session viewing and discussion.</a:t>
            </a:r>
            <a:endParaRPr lang="en-US" sz="820" dirty="0"/>
          </a:p>
        </p:txBody>
      </p:sp>
      <p:sp>
        <p:nvSpPr>
          <p:cNvPr id="36" name="Text 30"/>
          <p:cNvSpPr/>
          <p:nvPr/>
        </p:nvSpPr>
        <p:spPr>
          <a:xfrm>
            <a:off x="400050" y="3188345"/>
            <a:ext cx="8343900" cy="371475"/>
          </a:xfrm>
          <a:prstGeom prst="roundRect">
            <a:avLst>
              <a:gd name="adj" fmla="val 15385"/>
            </a:avLst>
          </a:prstGeom>
          <a:solidFill>
            <a:srgbClr val="EAF4F4"/>
          </a:solidFill>
          <a:ln/>
        </p:spPr>
        <p:txBody>
          <a:bodyPr wrap="square" rtlCol="0" anchor="t"/>
          <a:lstStyle/>
          <a:p>
            <a:pPr marL="0" indent="0">
              <a:buNone/>
            </a:pPr>
            <a:endParaRPr lang="en-US" dirty="0"/>
          </a:p>
        </p:txBody>
      </p:sp>
      <p:sp>
        <p:nvSpPr>
          <p:cNvPr id="37" name="Text 31"/>
          <p:cNvSpPr/>
          <p:nvPr/>
        </p:nvSpPr>
        <p:spPr>
          <a:xfrm>
            <a:off x="400050" y="3188345"/>
            <a:ext cx="28575" cy="371475"/>
          </a:xfrm>
          <a:custGeom>
            <a:avLst/>
            <a:gdLst/>
            <a:ahLst/>
            <a:cxnLst/>
            <a:rect l="l" t="t" r="r" b="b"/>
            <a:pathLst>
              <a:path w="28575" h="371475">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363818"/>
                </a:lnTo>
                <a:lnTo>
                  <a:pt x="25003" y="361576"/>
                </a:lnTo>
                <a:lnTo>
                  <a:pt x="21431" y="358938"/>
                </a:lnTo>
                <a:lnTo>
                  <a:pt x="17859" y="355826"/>
                </a:lnTo>
                <a:lnTo>
                  <a:pt x="14288" y="352126"/>
                </a:lnTo>
                <a:lnTo>
                  <a:pt x="10716" y="347641"/>
                </a:lnTo>
                <a:lnTo>
                  <a:pt x="7144" y="341993"/>
                </a:lnTo>
                <a:lnTo>
                  <a:pt x="3572" y="334212"/>
                </a:lnTo>
                <a:lnTo>
                  <a:pt x="0" y="314325"/>
                </a:lnTo>
                <a:close/>
              </a:path>
            </a:pathLst>
          </a:custGeom>
          <a:solidFill>
            <a:srgbClr val="FAB753"/>
          </a:solidFill>
          <a:ln/>
        </p:spPr>
        <p:txBody>
          <a:bodyPr wrap="square" rtlCol="0" anchor="t"/>
          <a:lstStyle/>
          <a:p>
            <a:pPr marL="0" indent="0">
              <a:buNone/>
            </a:pPr>
            <a:endParaRPr lang="en-US" dirty="0"/>
          </a:p>
        </p:txBody>
      </p:sp>
      <p:sp>
        <p:nvSpPr>
          <p:cNvPr id="38" name="Text 32"/>
          <p:cNvSpPr/>
          <p:nvPr/>
        </p:nvSpPr>
        <p:spPr>
          <a:xfrm>
            <a:off x="2155924" y="3345507"/>
            <a:ext cx="57150" cy="57150"/>
          </a:xfrm>
          <a:prstGeom prst="ellipse">
            <a:avLst/>
          </a:prstGeom>
          <a:solidFill>
            <a:srgbClr val="FAB753"/>
          </a:solidFill>
          <a:ln/>
        </p:spPr>
        <p:txBody>
          <a:bodyPr wrap="none" rtlCol="0" anchor="t"/>
          <a:lstStyle/>
          <a:p>
            <a:pPr marL="0" indent="0">
              <a:buNone/>
            </a:pPr>
            <a:endParaRPr lang="en-US" dirty="0"/>
          </a:p>
        </p:txBody>
      </p:sp>
      <p:sp>
        <p:nvSpPr>
          <p:cNvPr id="39" name="Text 33"/>
          <p:cNvSpPr/>
          <p:nvPr/>
        </p:nvSpPr>
        <p:spPr>
          <a:xfrm>
            <a:off x="2086094" y="3294906"/>
            <a:ext cx="5000387" cy="158353"/>
          </a:xfrm>
          <a:prstGeom prst="rect">
            <a:avLst/>
          </a:prstGeom>
          <a:noFill/>
          <a:ln/>
        </p:spPr>
        <p:txBody>
          <a:bodyPr wrap="none" lIns="0" tIns="0" rIns="0" bIns="0" rtlCol="0" anchor="ctr"/>
          <a:lstStyle/>
          <a:p>
            <a:pPr marL="0" indent="0" algn="ctr">
              <a:lnSpc>
                <a:spcPts val="1248"/>
              </a:lnSpc>
              <a:buNone/>
            </a:pPr>
            <a:r>
              <a:rPr lang="en-US" sz="960" b="1" dirty="0">
                <a:solidFill>
                  <a:srgbClr val="2C2C2C"/>
                </a:solidFill>
                <a:latin typeface="Calibri" pitchFamily="34" charset="0"/>
                <a:ea typeface="Calibri" pitchFamily="34" charset="-122"/>
                <a:cs typeface="Calibri" pitchFamily="34" charset="-120"/>
              </a:rPr>
              <a:t>Every resource here has been used in real sessions with real kids.  They work.</a:t>
            </a:r>
            <a:endParaRPr lang="en-US" sz="960" dirty="0"/>
          </a:p>
        </p:txBody>
      </p:sp>
      <p:sp>
        <p:nvSpPr>
          <p:cNvPr id="40" name="Text 34"/>
          <p:cNvSpPr/>
          <p:nvPr/>
        </p:nvSpPr>
        <p:spPr>
          <a:xfrm>
            <a:off x="6959501" y="3345507"/>
            <a:ext cx="57150" cy="57150"/>
          </a:xfrm>
          <a:prstGeom prst="ellipse">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3286720"/>
            <a:ext cx="2142530" cy="1856780"/>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3" name="Text 1"/>
          <p:cNvSpPr/>
          <p:nvPr/>
        </p:nvSpPr>
        <p:spPr>
          <a:xfrm>
            <a:off x="0" y="0"/>
            <a:ext cx="43160" cy="5143500"/>
          </a:xfrm>
          <a:prstGeom prst="rect">
            <a:avLst/>
          </a:prstGeom>
          <a:solidFill>
            <a:srgbClr val="FAB753"/>
          </a:solidFill>
          <a:ln/>
        </p:spPr>
        <p:txBody>
          <a:bodyPr wrap="square" rtlCol="0" anchor="t"/>
          <a:lstStyle/>
          <a:p>
            <a:pPr marL="0" indent="0">
              <a:buNone/>
            </a:pPr>
            <a:endParaRPr lang="en-US" dirty="0"/>
          </a:p>
        </p:txBody>
      </p:sp>
      <p:sp>
        <p:nvSpPr>
          <p:cNvPr id="4" name="Text 2"/>
          <p:cNvSpPr/>
          <p:nvPr/>
        </p:nvSpPr>
        <p:spPr>
          <a:xfrm>
            <a:off x="409575" y="1100733"/>
            <a:ext cx="21580" cy="1783109"/>
          </a:xfrm>
          <a:custGeom>
            <a:avLst/>
            <a:gdLst/>
            <a:ahLst/>
            <a:cxnLst/>
            <a:rect l="l" t="t" r="r" b="b"/>
            <a:pathLst>
              <a:path w="21580" h="1783109">
                <a:moveTo>
                  <a:pt x="0" y="57150"/>
                </a:moveTo>
                <a:lnTo>
                  <a:pt x="2698" y="39799"/>
                </a:lnTo>
                <a:lnTo>
                  <a:pt x="5395" y="32911"/>
                </a:lnTo>
                <a:lnTo>
                  <a:pt x="8093" y="27833"/>
                </a:lnTo>
                <a:lnTo>
                  <a:pt x="10790" y="23730"/>
                </a:lnTo>
                <a:lnTo>
                  <a:pt x="13488" y="20276"/>
                </a:lnTo>
                <a:lnTo>
                  <a:pt x="16185" y="17300"/>
                </a:lnTo>
                <a:lnTo>
                  <a:pt x="18883" y="14703"/>
                </a:lnTo>
                <a:lnTo>
                  <a:pt x="21580" y="12419"/>
                </a:lnTo>
                <a:lnTo>
                  <a:pt x="21580" y="1770690"/>
                </a:lnTo>
                <a:lnTo>
                  <a:pt x="18883" y="1768405"/>
                </a:lnTo>
                <a:lnTo>
                  <a:pt x="16185" y="1765808"/>
                </a:lnTo>
                <a:lnTo>
                  <a:pt x="13488" y="1762833"/>
                </a:lnTo>
                <a:lnTo>
                  <a:pt x="10790" y="1759378"/>
                </a:lnTo>
                <a:lnTo>
                  <a:pt x="8093" y="1755276"/>
                </a:lnTo>
                <a:lnTo>
                  <a:pt x="5395" y="1750198"/>
                </a:lnTo>
                <a:lnTo>
                  <a:pt x="2698" y="1743309"/>
                </a:lnTo>
                <a:lnTo>
                  <a:pt x="0" y="1725959"/>
                </a:lnTo>
                <a:close/>
              </a:path>
            </a:pathLst>
          </a:custGeom>
          <a:solidFill>
            <a:srgbClr val="FAB753">
              <a:alpha val="85000"/>
            </a:srgbClr>
          </a:solidFill>
          <a:ln/>
        </p:spPr>
        <p:txBody>
          <a:bodyPr wrap="square" rtlCol="0" anchor="t"/>
          <a:lstStyle/>
          <a:p>
            <a:pPr marL="0" indent="0">
              <a:buNone/>
            </a:pPr>
            <a:endParaRPr lang="en-US" dirty="0"/>
          </a:p>
        </p:txBody>
      </p:sp>
      <p:sp>
        <p:nvSpPr>
          <p:cNvPr id="5" name="Text 3"/>
          <p:cNvSpPr/>
          <p:nvPr/>
        </p:nvSpPr>
        <p:spPr>
          <a:xfrm>
            <a:off x="3214539" y="1100733"/>
            <a:ext cx="21580" cy="1783109"/>
          </a:xfrm>
          <a:custGeom>
            <a:avLst/>
            <a:gdLst/>
            <a:ahLst/>
            <a:cxnLst/>
            <a:rect l="l" t="t" r="r" b="b"/>
            <a:pathLst>
              <a:path w="21580" h="1783109">
                <a:moveTo>
                  <a:pt x="0" y="57150"/>
                </a:moveTo>
                <a:lnTo>
                  <a:pt x="2698" y="39799"/>
                </a:lnTo>
                <a:lnTo>
                  <a:pt x="5395" y="32911"/>
                </a:lnTo>
                <a:lnTo>
                  <a:pt x="8093" y="27833"/>
                </a:lnTo>
                <a:lnTo>
                  <a:pt x="10790" y="23730"/>
                </a:lnTo>
                <a:lnTo>
                  <a:pt x="13488" y="20276"/>
                </a:lnTo>
                <a:lnTo>
                  <a:pt x="16185" y="17300"/>
                </a:lnTo>
                <a:lnTo>
                  <a:pt x="18883" y="14703"/>
                </a:lnTo>
                <a:lnTo>
                  <a:pt x="21580" y="12419"/>
                </a:lnTo>
                <a:lnTo>
                  <a:pt x="21580" y="1770690"/>
                </a:lnTo>
                <a:lnTo>
                  <a:pt x="18883" y="1768405"/>
                </a:lnTo>
                <a:lnTo>
                  <a:pt x="16185" y="1765808"/>
                </a:lnTo>
                <a:lnTo>
                  <a:pt x="13488" y="1762833"/>
                </a:lnTo>
                <a:lnTo>
                  <a:pt x="10790" y="1759378"/>
                </a:lnTo>
                <a:lnTo>
                  <a:pt x="8093" y="1755276"/>
                </a:lnTo>
                <a:lnTo>
                  <a:pt x="5395" y="1750198"/>
                </a:lnTo>
                <a:lnTo>
                  <a:pt x="2698" y="1743309"/>
                </a:lnTo>
                <a:lnTo>
                  <a:pt x="0" y="1725959"/>
                </a:lnTo>
                <a:close/>
              </a:path>
            </a:pathLst>
          </a:custGeom>
          <a:solidFill>
            <a:srgbClr val="FAB753">
              <a:alpha val="85000"/>
            </a:srgbClr>
          </a:solidFill>
          <a:ln/>
        </p:spPr>
        <p:txBody>
          <a:bodyPr wrap="square" rtlCol="0" anchor="t"/>
          <a:lstStyle/>
          <a:p>
            <a:pPr marL="0" indent="0">
              <a:buNone/>
            </a:pPr>
            <a:endParaRPr lang="en-US" dirty="0"/>
          </a:p>
        </p:txBody>
      </p:sp>
      <p:sp>
        <p:nvSpPr>
          <p:cNvPr id="6" name="Text 4"/>
          <p:cNvSpPr/>
          <p:nvPr/>
        </p:nvSpPr>
        <p:spPr>
          <a:xfrm>
            <a:off x="6019502" y="1100733"/>
            <a:ext cx="21580" cy="1783109"/>
          </a:xfrm>
          <a:custGeom>
            <a:avLst/>
            <a:gdLst/>
            <a:ahLst/>
            <a:cxnLst/>
            <a:rect l="l" t="t" r="r" b="b"/>
            <a:pathLst>
              <a:path w="21580" h="1783109">
                <a:moveTo>
                  <a:pt x="0" y="57150"/>
                </a:moveTo>
                <a:lnTo>
                  <a:pt x="2698" y="39799"/>
                </a:lnTo>
                <a:lnTo>
                  <a:pt x="5395" y="32911"/>
                </a:lnTo>
                <a:lnTo>
                  <a:pt x="8093" y="27833"/>
                </a:lnTo>
                <a:lnTo>
                  <a:pt x="10790" y="23730"/>
                </a:lnTo>
                <a:lnTo>
                  <a:pt x="13488" y="20276"/>
                </a:lnTo>
                <a:lnTo>
                  <a:pt x="16185" y="17300"/>
                </a:lnTo>
                <a:lnTo>
                  <a:pt x="18883" y="14703"/>
                </a:lnTo>
                <a:lnTo>
                  <a:pt x="21580" y="12419"/>
                </a:lnTo>
                <a:lnTo>
                  <a:pt x="21580" y="1770690"/>
                </a:lnTo>
                <a:lnTo>
                  <a:pt x="18883" y="1768405"/>
                </a:lnTo>
                <a:lnTo>
                  <a:pt x="16185" y="1765808"/>
                </a:lnTo>
                <a:lnTo>
                  <a:pt x="13488" y="1762833"/>
                </a:lnTo>
                <a:lnTo>
                  <a:pt x="10790" y="1759378"/>
                </a:lnTo>
                <a:lnTo>
                  <a:pt x="8093" y="1755276"/>
                </a:lnTo>
                <a:lnTo>
                  <a:pt x="5395" y="1750198"/>
                </a:lnTo>
                <a:lnTo>
                  <a:pt x="2698" y="1743309"/>
                </a:lnTo>
                <a:lnTo>
                  <a:pt x="0" y="1725959"/>
                </a:lnTo>
                <a:close/>
              </a:path>
            </a:pathLst>
          </a:custGeom>
          <a:solidFill>
            <a:srgbClr val="FAB753">
              <a:alpha val="85000"/>
            </a:srgbClr>
          </a:solidFill>
          <a:ln/>
        </p:spPr>
        <p:txBody>
          <a:bodyPr wrap="square" rtlCol="0" anchor="t"/>
          <a:lstStyle/>
          <a:p>
            <a:pPr marL="0" indent="0">
              <a:buNone/>
            </a:pPr>
            <a:endParaRPr lang="en-US" dirty="0"/>
          </a:p>
        </p:txBody>
      </p:sp>
      <p:sp>
        <p:nvSpPr>
          <p:cNvPr id="7" name="Text 5"/>
          <p:cNvSpPr/>
          <p:nvPr/>
        </p:nvSpPr>
        <p:spPr>
          <a:xfrm>
            <a:off x="409575" y="2973884"/>
            <a:ext cx="21580" cy="1783261"/>
          </a:xfrm>
          <a:custGeom>
            <a:avLst/>
            <a:gdLst/>
            <a:ahLst/>
            <a:cxnLst/>
            <a:rect l="l" t="t" r="r" b="b"/>
            <a:pathLst>
              <a:path w="21580" h="1783261">
                <a:moveTo>
                  <a:pt x="0" y="57150"/>
                </a:moveTo>
                <a:lnTo>
                  <a:pt x="2698" y="39799"/>
                </a:lnTo>
                <a:lnTo>
                  <a:pt x="5395" y="32911"/>
                </a:lnTo>
                <a:lnTo>
                  <a:pt x="8093" y="27833"/>
                </a:lnTo>
                <a:lnTo>
                  <a:pt x="10790" y="23730"/>
                </a:lnTo>
                <a:lnTo>
                  <a:pt x="13488" y="20276"/>
                </a:lnTo>
                <a:lnTo>
                  <a:pt x="16185" y="17300"/>
                </a:lnTo>
                <a:lnTo>
                  <a:pt x="18883" y="14703"/>
                </a:lnTo>
                <a:lnTo>
                  <a:pt x="21580" y="12419"/>
                </a:lnTo>
                <a:lnTo>
                  <a:pt x="21580" y="1770842"/>
                </a:lnTo>
                <a:lnTo>
                  <a:pt x="18883" y="1768558"/>
                </a:lnTo>
                <a:lnTo>
                  <a:pt x="16185" y="1765961"/>
                </a:lnTo>
                <a:lnTo>
                  <a:pt x="13488" y="1762985"/>
                </a:lnTo>
                <a:lnTo>
                  <a:pt x="10790" y="1759531"/>
                </a:lnTo>
                <a:lnTo>
                  <a:pt x="8093" y="1755428"/>
                </a:lnTo>
                <a:lnTo>
                  <a:pt x="5395" y="1750350"/>
                </a:lnTo>
                <a:lnTo>
                  <a:pt x="2698" y="1743462"/>
                </a:lnTo>
                <a:lnTo>
                  <a:pt x="0" y="1726111"/>
                </a:lnTo>
                <a:close/>
              </a:path>
            </a:pathLst>
          </a:custGeom>
          <a:solidFill>
            <a:srgbClr val="FAB753">
              <a:alpha val="85000"/>
            </a:srgbClr>
          </a:solidFill>
          <a:ln/>
        </p:spPr>
        <p:txBody>
          <a:bodyPr wrap="square" rtlCol="0" anchor="t"/>
          <a:lstStyle/>
          <a:p>
            <a:pPr marL="0" indent="0">
              <a:buNone/>
            </a:pPr>
            <a:endParaRPr lang="en-US" dirty="0"/>
          </a:p>
        </p:txBody>
      </p:sp>
      <p:sp>
        <p:nvSpPr>
          <p:cNvPr id="8" name="Text 6"/>
          <p:cNvSpPr/>
          <p:nvPr/>
        </p:nvSpPr>
        <p:spPr>
          <a:xfrm>
            <a:off x="3214539" y="2973884"/>
            <a:ext cx="21580" cy="1783261"/>
          </a:xfrm>
          <a:custGeom>
            <a:avLst/>
            <a:gdLst/>
            <a:ahLst/>
            <a:cxnLst/>
            <a:rect l="l" t="t" r="r" b="b"/>
            <a:pathLst>
              <a:path w="21580" h="1783261">
                <a:moveTo>
                  <a:pt x="0" y="57150"/>
                </a:moveTo>
                <a:lnTo>
                  <a:pt x="2698" y="39799"/>
                </a:lnTo>
                <a:lnTo>
                  <a:pt x="5395" y="32911"/>
                </a:lnTo>
                <a:lnTo>
                  <a:pt x="8093" y="27833"/>
                </a:lnTo>
                <a:lnTo>
                  <a:pt x="10790" y="23730"/>
                </a:lnTo>
                <a:lnTo>
                  <a:pt x="13488" y="20276"/>
                </a:lnTo>
                <a:lnTo>
                  <a:pt x="16185" y="17300"/>
                </a:lnTo>
                <a:lnTo>
                  <a:pt x="18883" y="14703"/>
                </a:lnTo>
                <a:lnTo>
                  <a:pt x="21580" y="12419"/>
                </a:lnTo>
                <a:lnTo>
                  <a:pt x="21580" y="1770842"/>
                </a:lnTo>
                <a:lnTo>
                  <a:pt x="18883" y="1768558"/>
                </a:lnTo>
                <a:lnTo>
                  <a:pt x="16185" y="1765961"/>
                </a:lnTo>
                <a:lnTo>
                  <a:pt x="13488" y="1762985"/>
                </a:lnTo>
                <a:lnTo>
                  <a:pt x="10790" y="1759531"/>
                </a:lnTo>
                <a:lnTo>
                  <a:pt x="8093" y="1755428"/>
                </a:lnTo>
                <a:lnTo>
                  <a:pt x="5395" y="1750350"/>
                </a:lnTo>
                <a:lnTo>
                  <a:pt x="2698" y="1743462"/>
                </a:lnTo>
                <a:lnTo>
                  <a:pt x="0" y="1726111"/>
                </a:lnTo>
                <a:close/>
              </a:path>
            </a:pathLst>
          </a:custGeom>
          <a:solidFill>
            <a:srgbClr val="FAB753">
              <a:alpha val="85000"/>
            </a:srgbClr>
          </a:solidFill>
          <a:ln/>
        </p:spPr>
        <p:txBody>
          <a:bodyPr wrap="square" rtlCol="0" anchor="t"/>
          <a:lstStyle/>
          <a:p>
            <a:pPr marL="0" indent="0">
              <a:buNone/>
            </a:pPr>
            <a:endParaRPr lang="en-US" dirty="0"/>
          </a:p>
        </p:txBody>
      </p:sp>
      <p:sp>
        <p:nvSpPr>
          <p:cNvPr id="9" name="Text 7"/>
          <p:cNvSpPr/>
          <p:nvPr/>
        </p:nvSpPr>
        <p:spPr>
          <a:xfrm>
            <a:off x="6019502" y="2973884"/>
            <a:ext cx="21580" cy="1783261"/>
          </a:xfrm>
          <a:custGeom>
            <a:avLst/>
            <a:gdLst/>
            <a:ahLst/>
            <a:cxnLst/>
            <a:rect l="l" t="t" r="r" b="b"/>
            <a:pathLst>
              <a:path w="21580" h="1783261">
                <a:moveTo>
                  <a:pt x="0" y="57150"/>
                </a:moveTo>
                <a:lnTo>
                  <a:pt x="2698" y="39799"/>
                </a:lnTo>
                <a:lnTo>
                  <a:pt x="5395" y="32911"/>
                </a:lnTo>
                <a:lnTo>
                  <a:pt x="8093" y="27833"/>
                </a:lnTo>
                <a:lnTo>
                  <a:pt x="10790" y="23730"/>
                </a:lnTo>
                <a:lnTo>
                  <a:pt x="13488" y="20276"/>
                </a:lnTo>
                <a:lnTo>
                  <a:pt x="16185" y="17300"/>
                </a:lnTo>
                <a:lnTo>
                  <a:pt x="18883" y="14703"/>
                </a:lnTo>
                <a:lnTo>
                  <a:pt x="21580" y="12419"/>
                </a:lnTo>
                <a:lnTo>
                  <a:pt x="21580" y="1770842"/>
                </a:lnTo>
                <a:lnTo>
                  <a:pt x="18883" y="1768558"/>
                </a:lnTo>
                <a:lnTo>
                  <a:pt x="16185" y="1765961"/>
                </a:lnTo>
                <a:lnTo>
                  <a:pt x="13488" y="1762985"/>
                </a:lnTo>
                <a:lnTo>
                  <a:pt x="10790" y="1759531"/>
                </a:lnTo>
                <a:lnTo>
                  <a:pt x="8093" y="1755428"/>
                </a:lnTo>
                <a:lnTo>
                  <a:pt x="5395" y="1750350"/>
                </a:lnTo>
                <a:lnTo>
                  <a:pt x="2698" y="1743462"/>
                </a:lnTo>
                <a:lnTo>
                  <a:pt x="0" y="1726111"/>
                </a:lnTo>
                <a:close/>
              </a:path>
            </a:pathLst>
          </a:custGeom>
          <a:solidFill>
            <a:srgbClr val="FAB753">
              <a:alpha val="85000"/>
            </a:srgbClr>
          </a:solidFill>
          <a:ln/>
        </p:spPr>
        <p:txBody>
          <a:bodyPr wrap="square" rtlCol="0" anchor="t"/>
          <a:lstStyle/>
          <a:p>
            <a:pPr marL="0" indent="0">
              <a:buNone/>
            </a:pPr>
            <a:endParaRPr lang="en-US" dirty="0"/>
          </a:p>
        </p:txBody>
      </p:sp>
      <p:sp>
        <p:nvSpPr>
          <p:cNvPr id="10" name="Text 8"/>
          <p:cNvSpPr/>
          <p:nvPr/>
        </p:nvSpPr>
        <p:spPr>
          <a:xfrm>
            <a:off x="6572250" y="0"/>
            <a:ext cx="2571750" cy="2571750"/>
          </a:xfrm>
          <a:prstGeom prst="ellipse">
            <a:avLst/>
          </a:prstGeom>
          <a:noFill/>
          <a:ln w="9525">
            <a:solidFill>
              <a:srgbClr val="FAB753">
                <a:alpha val="10000"/>
              </a:srgbClr>
            </a:solidFill>
          </a:ln>
        </p:spPr>
        <p:txBody>
          <a:bodyPr wrap="square" rtlCol="0" anchor="t"/>
          <a:lstStyle/>
          <a:p>
            <a:pPr marL="0" indent="0">
              <a:buNone/>
            </a:pPr>
            <a:endParaRPr lang="en-US" dirty="0"/>
          </a:p>
        </p:txBody>
      </p:sp>
      <p:sp>
        <p:nvSpPr>
          <p:cNvPr id="11" name="Text 9"/>
          <p:cNvSpPr/>
          <p:nvPr/>
        </p:nvSpPr>
        <p:spPr>
          <a:xfrm>
            <a:off x="7287216" y="0"/>
            <a:ext cx="1856784" cy="1856740"/>
          </a:xfrm>
          <a:prstGeom prst="ellipse">
            <a:avLst/>
          </a:prstGeom>
          <a:noFill/>
          <a:ln w="9525">
            <a:solidFill>
              <a:srgbClr val="FAB753">
                <a:alpha val="8000"/>
              </a:srgbClr>
            </a:solidFill>
          </a:ln>
        </p:spPr>
        <p:txBody>
          <a:bodyPr wrap="square" rtlCol="0" anchor="t"/>
          <a:lstStyle/>
          <a:p>
            <a:pPr marL="0" indent="0">
              <a:buNone/>
            </a:pPr>
            <a:endParaRPr lang="en-US" dirty="0"/>
          </a:p>
        </p:txBody>
      </p:sp>
      <p:sp>
        <p:nvSpPr>
          <p:cNvPr id="12" name="Text 10"/>
          <p:cNvSpPr/>
          <p:nvPr/>
        </p:nvSpPr>
        <p:spPr>
          <a:xfrm>
            <a:off x="311467" y="257770"/>
            <a:ext cx="8521065" cy="361801"/>
          </a:xfrm>
          <a:prstGeom prst="rect">
            <a:avLst/>
          </a:prstGeom>
          <a:noFill/>
          <a:ln/>
        </p:spPr>
        <p:txBody>
          <a:bodyPr wrap="none" lIns="0" tIns="0" rIns="0" bIns="0" rtlCol="0" anchor="t"/>
          <a:lstStyle/>
          <a:p>
            <a:pPr marL="0" indent="0" algn="ctr">
              <a:lnSpc>
                <a:spcPts val="2849"/>
              </a:lnSpc>
              <a:spcAft>
                <a:spcPts val="340"/>
              </a:spcAft>
              <a:buNone/>
            </a:pPr>
            <a:r>
              <a:rPr lang="en-US" sz="2590" b="1" kern="0" spc="-30" dirty="0">
                <a:solidFill>
                  <a:srgbClr val="FFFFFF"/>
                </a:solidFill>
                <a:latin typeface="Calibri Light" pitchFamily="34" charset="0"/>
                <a:ea typeface="Calibri Light" pitchFamily="34" charset="-122"/>
                <a:cs typeface="Calibri Light" pitchFamily="34" charset="-120"/>
              </a:rPr>
              <a:t>Final Tips &amp; Takeaways</a:t>
            </a:r>
            <a:endParaRPr lang="en-US" sz="2590" dirty="0"/>
          </a:p>
        </p:txBody>
      </p:sp>
      <p:sp>
        <p:nvSpPr>
          <p:cNvPr id="13" name="Text 11"/>
          <p:cNvSpPr/>
          <p:nvPr/>
        </p:nvSpPr>
        <p:spPr>
          <a:xfrm>
            <a:off x="4343400" y="662732"/>
            <a:ext cx="4572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4" name="Text 12"/>
          <p:cNvSpPr/>
          <p:nvPr/>
        </p:nvSpPr>
        <p:spPr>
          <a:xfrm>
            <a:off x="108585" y="755303"/>
            <a:ext cx="8926830" cy="192435"/>
          </a:xfrm>
          <a:prstGeom prst="rect">
            <a:avLst/>
          </a:prstGeom>
          <a:noFill/>
          <a:ln/>
        </p:spPr>
        <p:txBody>
          <a:bodyPr wrap="none" lIns="0" tIns="0" rIns="0" bIns="0" rtlCol="0" anchor="t"/>
          <a:lstStyle/>
          <a:p>
            <a:pPr marL="0" indent="0" algn="ctr">
              <a:lnSpc>
                <a:spcPts val="1515"/>
              </a:lnSpc>
              <a:buNone/>
            </a:pPr>
            <a:r>
              <a:rPr lang="en-US" sz="1010" i="1" dirty="0">
                <a:solidFill>
                  <a:srgbClr val="FAB753"/>
                </a:solidFill>
                <a:latin typeface="Calibri Light" pitchFamily="34" charset="0"/>
                <a:ea typeface="Calibri Light" pitchFamily="34" charset="-122"/>
                <a:cs typeface="Calibri Light" pitchFamily="34" charset="-120"/>
              </a:rPr>
              <a:t>Telehealth done well is telehealth done intentionally.</a:t>
            </a:r>
            <a:endParaRPr lang="en-US" sz="1010" dirty="0"/>
          </a:p>
        </p:txBody>
      </p:sp>
      <p:sp>
        <p:nvSpPr>
          <p:cNvPr id="15" name="Text 13"/>
          <p:cNvSpPr/>
          <p:nvPr/>
        </p:nvSpPr>
        <p:spPr>
          <a:xfrm>
            <a:off x="400050" y="1091208"/>
            <a:ext cx="2733973" cy="1802160"/>
          </a:xfrm>
          <a:prstGeom prst="roundRect">
            <a:avLst>
              <a:gd name="adj" fmla="val 3171"/>
            </a:avLst>
          </a:prstGeom>
          <a:solidFill>
            <a:srgbClr val="FFFFFF">
              <a:alpha val="7000"/>
            </a:srgbClr>
          </a:solidFill>
          <a:ln w="9525">
            <a:solidFill>
              <a:srgbClr val="FFFFFF">
                <a:alpha val="10000"/>
              </a:srgbClr>
            </a:solidFill>
          </a:ln>
        </p:spPr>
        <p:txBody>
          <a:bodyPr wrap="square" rtlCol="0" anchor="t"/>
          <a:lstStyle/>
          <a:p>
            <a:pPr marL="0" indent="0">
              <a:buNone/>
            </a:pPr>
            <a:endParaRPr lang="en-US" dirty="0"/>
          </a:p>
        </p:txBody>
      </p:sp>
      <p:sp>
        <p:nvSpPr>
          <p:cNvPr id="16" name="Text 14"/>
          <p:cNvSpPr/>
          <p:nvPr/>
        </p:nvSpPr>
        <p:spPr>
          <a:xfrm>
            <a:off x="537716" y="1222623"/>
            <a:ext cx="257770" cy="257770"/>
          </a:xfrm>
          <a:prstGeom prst="ellipse">
            <a:avLst/>
          </a:prstGeom>
          <a:solidFill>
            <a:srgbClr val="FAB753">
              <a:alpha val="15000"/>
            </a:srgbClr>
          </a:solidFill>
          <a:ln/>
        </p:spPr>
        <p:txBody>
          <a:bodyPr wrap="none" rtlCol="0" anchor="t"/>
          <a:lstStyle/>
          <a:p>
            <a:pPr marL="0" indent="0">
              <a:buNone/>
            </a:pPr>
            <a:endParaRPr lang="en-US" dirty="0"/>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307" y="1285214"/>
            <a:ext cx="132588" cy="132588"/>
          </a:xfrm>
          <a:prstGeom prst="rect">
            <a:avLst/>
          </a:prstGeom>
        </p:spPr>
      </p:pic>
      <p:sp>
        <p:nvSpPr>
          <p:cNvPr id="18" name="Text 15"/>
          <p:cNvSpPr/>
          <p:nvPr/>
        </p:nvSpPr>
        <p:spPr>
          <a:xfrm>
            <a:off x="895796" y="1215033"/>
            <a:ext cx="2293754" cy="127992"/>
          </a:xfrm>
          <a:prstGeom prst="rect">
            <a:avLst/>
          </a:prstGeom>
          <a:noFill/>
          <a:ln/>
        </p:spPr>
        <p:txBody>
          <a:bodyPr wrap="none" lIns="0" tIns="0" rIns="0" bIns="0" rtlCol="0" anchor="t"/>
          <a:lstStyle/>
          <a:p>
            <a:pPr marL="0" indent="0" algn="l">
              <a:lnSpc>
                <a:spcPts val="1008"/>
              </a:lnSpc>
              <a:spcAft>
                <a:spcPts val="170"/>
              </a:spcAft>
              <a:buNone/>
            </a:pPr>
            <a:r>
              <a:rPr lang="en-US" sz="840" b="1" dirty="0">
                <a:solidFill>
                  <a:srgbClr val="FFFFFF"/>
                </a:solidFill>
                <a:latin typeface="Calibri" pitchFamily="34" charset="0"/>
                <a:ea typeface="Calibri" pitchFamily="34" charset="-122"/>
                <a:cs typeface="Calibri" pitchFamily="34" charset="-120"/>
              </a:rPr>
              <a:t>Policy is not paperwork.</a:t>
            </a:r>
            <a:endParaRPr lang="en-US" sz="840" dirty="0"/>
          </a:p>
        </p:txBody>
      </p:sp>
      <p:sp>
        <p:nvSpPr>
          <p:cNvPr id="19" name="Text 16"/>
          <p:cNvSpPr/>
          <p:nvPr/>
        </p:nvSpPr>
        <p:spPr>
          <a:xfrm>
            <a:off x="895796" y="1364605"/>
            <a:ext cx="2126935" cy="441149"/>
          </a:xfrm>
          <a:prstGeom prst="rect">
            <a:avLst/>
          </a:prstGeom>
          <a:noFill/>
          <a:ln/>
        </p:spPr>
        <p:txBody>
          <a:bodyPr wrap="square" lIns="0" tIns="0" rIns="0" bIns="0" rtlCol="0" anchor="t"/>
          <a:lstStyle/>
          <a:p>
            <a:pPr marL="0" indent="0" algn="l">
              <a:lnSpc>
                <a:spcPts val="1102"/>
              </a:lnSpc>
              <a:buNone/>
            </a:pPr>
            <a:r>
              <a:rPr lang="en-US" sz="760" dirty="0">
                <a:solidFill>
                  <a:srgbClr val="FFFFFF">
                    <a:alpha val="82000"/>
                  </a:srgbClr>
                </a:solidFill>
                <a:latin typeface="Calibri" pitchFamily="34" charset="0"/>
                <a:ea typeface="Calibri" pitchFamily="34" charset="-122"/>
                <a:cs typeface="Calibri" pitchFamily="34" charset="-120"/>
              </a:rPr>
              <a:t>Consent, documentation, and location confirmation protect your clients and your license. Do them every time.</a:t>
            </a:r>
            <a:endParaRPr lang="en-US" sz="760" dirty="0"/>
          </a:p>
        </p:txBody>
      </p:sp>
      <p:sp>
        <p:nvSpPr>
          <p:cNvPr id="20" name="Text 17"/>
          <p:cNvSpPr/>
          <p:nvPr/>
        </p:nvSpPr>
        <p:spPr>
          <a:xfrm>
            <a:off x="3205014" y="1091208"/>
            <a:ext cx="2733973" cy="1802160"/>
          </a:xfrm>
          <a:prstGeom prst="roundRect">
            <a:avLst>
              <a:gd name="adj" fmla="val 3171"/>
            </a:avLst>
          </a:prstGeom>
          <a:solidFill>
            <a:srgbClr val="FFFFFF">
              <a:alpha val="7000"/>
            </a:srgbClr>
          </a:solidFill>
          <a:ln w="9525">
            <a:solidFill>
              <a:srgbClr val="FFFFFF">
                <a:alpha val="10000"/>
              </a:srgbClr>
            </a:solidFill>
          </a:ln>
        </p:spPr>
        <p:txBody>
          <a:bodyPr wrap="square" rtlCol="0" anchor="t"/>
          <a:lstStyle/>
          <a:p>
            <a:pPr marL="0" indent="0">
              <a:buNone/>
            </a:pPr>
            <a:endParaRPr lang="en-US" dirty="0"/>
          </a:p>
        </p:txBody>
      </p:sp>
      <p:sp>
        <p:nvSpPr>
          <p:cNvPr id="21" name="Text 18"/>
          <p:cNvSpPr/>
          <p:nvPr/>
        </p:nvSpPr>
        <p:spPr>
          <a:xfrm>
            <a:off x="3342680" y="1222623"/>
            <a:ext cx="257770" cy="257770"/>
          </a:xfrm>
          <a:prstGeom prst="ellipse">
            <a:avLst/>
          </a:prstGeom>
          <a:solidFill>
            <a:srgbClr val="FAB753">
              <a:alpha val="15000"/>
            </a:srgbClr>
          </a:solidFill>
          <a:ln/>
        </p:spPr>
        <p:txBody>
          <a:bodyPr wrap="non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05271" y="1285214"/>
            <a:ext cx="132588" cy="132588"/>
          </a:xfrm>
          <a:prstGeom prst="rect">
            <a:avLst/>
          </a:prstGeom>
        </p:spPr>
      </p:pic>
      <p:sp>
        <p:nvSpPr>
          <p:cNvPr id="23" name="Text 19"/>
          <p:cNvSpPr/>
          <p:nvPr/>
        </p:nvSpPr>
        <p:spPr>
          <a:xfrm>
            <a:off x="3700760" y="1215033"/>
            <a:ext cx="2126935" cy="268784"/>
          </a:xfrm>
          <a:prstGeom prst="rect">
            <a:avLst/>
          </a:prstGeom>
          <a:noFill/>
          <a:ln/>
        </p:spPr>
        <p:txBody>
          <a:bodyPr wrap="square" lIns="0" tIns="0" rIns="0" bIns="0" rtlCol="0" anchor="t"/>
          <a:lstStyle/>
          <a:p>
            <a:pPr marL="0" indent="0" algn="l">
              <a:lnSpc>
                <a:spcPts val="1008"/>
              </a:lnSpc>
              <a:spcAft>
                <a:spcPts val="170"/>
              </a:spcAft>
              <a:buNone/>
            </a:pPr>
            <a:r>
              <a:rPr lang="en-US" sz="840" b="1" dirty="0">
                <a:solidFill>
                  <a:srgbClr val="FFFFFF"/>
                </a:solidFill>
                <a:latin typeface="Calibri" pitchFamily="34" charset="0"/>
                <a:ea typeface="Calibri" pitchFamily="34" charset="-122"/>
                <a:cs typeface="Calibri" pitchFamily="34" charset="-120"/>
              </a:rPr>
              <a:t>Prep your space like you prep your session.</a:t>
            </a:r>
            <a:endParaRPr lang="en-US" sz="840" dirty="0"/>
          </a:p>
        </p:txBody>
      </p:sp>
      <p:sp>
        <p:nvSpPr>
          <p:cNvPr id="24" name="Text 20"/>
          <p:cNvSpPr/>
          <p:nvPr/>
        </p:nvSpPr>
        <p:spPr>
          <a:xfrm>
            <a:off x="3700760" y="1492597"/>
            <a:ext cx="2126935" cy="294099"/>
          </a:xfrm>
          <a:prstGeom prst="rect">
            <a:avLst/>
          </a:prstGeom>
          <a:noFill/>
          <a:ln/>
        </p:spPr>
        <p:txBody>
          <a:bodyPr wrap="square" lIns="0" tIns="0" rIns="0" bIns="0" rtlCol="0" anchor="t"/>
          <a:lstStyle/>
          <a:p>
            <a:pPr marL="0" indent="0" algn="l">
              <a:lnSpc>
                <a:spcPts val="1102"/>
              </a:lnSpc>
              <a:buNone/>
            </a:pPr>
            <a:r>
              <a:rPr lang="en-US" sz="760" dirty="0">
                <a:solidFill>
                  <a:srgbClr val="FFFFFF">
                    <a:alpha val="82000"/>
                  </a:srgbClr>
                </a:solidFill>
                <a:latin typeface="Calibri" pitchFamily="34" charset="0"/>
                <a:ea typeface="Calibri" pitchFamily="34" charset="-122"/>
                <a:cs typeface="Calibri" pitchFamily="34" charset="-120"/>
              </a:rPr>
              <a:t>Connection, privacy, camera, audio, and backup plan. Five minutes before saves the whole hour.</a:t>
            </a:r>
            <a:endParaRPr lang="en-US" sz="760" dirty="0"/>
          </a:p>
        </p:txBody>
      </p:sp>
      <p:sp>
        <p:nvSpPr>
          <p:cNvPr id="25" name="Text 21"/>
          <p:cNvSpPr/>
          <p:nvPr/>
        </p:nvSpPr>
        <p:spPr>
          <a:xfrm>
            <a:off x="6009977" y="1091208"/>
            <a:ext cx="2733973" cy="1802160"/>
          </a:xfrm>
          <a:prstGeom prst="roundRect">
            <a:avLst>
              <a:gd name="adj" fmla="val 3171"/>
            </a:avLst>
          </a:prstGeom>
          <a:solidFill>
            <a:srgbClr val="FFFFFF">
              <a:alpha val="7000"/>
            </a:srgbClr>
          </a:solidFill>
          <a:ln w="9525">
            <a:solidFill>
              <a:srgbClr val="FFFFFF">
                <a:alpha val="10000"/>
              </a:srgbClr>
            </a:solidFill>
          </a:ln>
        </p:spPr>
        <p:txBody>
          <a:bodyPr wrap="square" rtlCol="0" anchor="t"/>
          <a:lstStyle/>
          <a:p>
            <a:pPr marL="0" indent="0">
              <a:buNone/>
            </a:pPr>
            <a:endParaRPr lang="en-US" dirty="0"/>
          </a:p>
        </p:txBody>
      </p:sp>
      <p:sp>
        <p:nvSpPr>
          <p:cNvPr id="26" name="Text 22"/>
          <p:cNvSpPr/>
          <p:nvPr/>
        </p:nvSpPr>
        <p:spPr>
          <a:xfrm>
            <a:off x="6147643" y="1222623"/>
            <a:ext cx="257770" cy="257770"/>
          </a:xfrm>
          <a:prstGeom prst="ellipse">
            <a:avLst/>
          </a:prstGeom>
          <a:solidFill>
            <a:srgbClr val="FAB753">
              <a:alpha val="15000"/>
            </a:srgbClr>
          </a:solidFill>
          <a:ln/>
        </p:spPr>
        <p:txBody>
          <a:bodyPr wrap="none" rtlCol="0" anchor="t"/>
          <a:lstStyle/>
          <a:p>
            <a:pPr marL="0" indent="0">
              <a:buNone/>
            </a:pPr>
            <a:endParaRPr lang="en-US" dirty="0"/>
          </a:p>
        </p:txBody>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0235" y="1285214"/>
            <a:ext cx="132588" cy="132588"/>
          </a:xfrm>
          <a:prstGeom prst="rect">
            <a:avLst/>
          </a:prstGeom>
        </p:spPr>
      </p:pic>
      <p:sp>
        <p:nvSpPr>
          <p:cNvPr id="28" name="Text 23"/>
          <p:cNvSpPr/>
          <p:nvPr/>
        </p:nvSpPr>
        <p:spPr>
          <a:xfrm>
            <a:off x="6505724" y="1215033"/>
            <a:ext cx="2126935" cy="268784"/>
          </a:xfrm>
          <a:prstGeom prst="rect">
            <a:avLst/>
          </a:prstGeom>
          <a:noFill/>
          <a:ln/>
        </p:spPr>
        <p:txBody>
          <a:bodyPr wrap="square" lIns="0" tIns="0" rIns="0" bIns="0" rtlCol="0" anchor="t"/>
          <a:lstStyle/>
          <a:p>
            <a:pPr marL="0" indent="0" algn="l">
              <a:lnSpc>
                <a:spcPts val="1008"/>
              </a:lnSpc>
              <a:spcAft>
                <a:spcPts val="170"/>
              </a:spcAft>
              <a:buNone/>
            </a:pPr>
            <a:r>
              <a:rPr lang="en-US" sz="840" b="1" dirty="0">
                <a:solidFill>
                  <a:srgbClr val="FFFFFF"/>
                </a:solidFill>
                <a:latin typeface="Calibri" pitchFamily="34" charset="0"/>
                <a:ea typeface="Calibri" pitchFamily="34" charset="-122"/>
                <a:cs typeface="Calibri" pitchFamily="34" charset="-120"/>
              </a:rPr>
              <a:t>Engagement looks different through a screen.</a:t>
            </a:r>
            <a:endParaRPr lang="en-US" sz="840" dirty="0"/>
          </a:p>
        </p:txBody>
      </p:sp>
      <p:sp>
        <p:nvSpPr>
          <p:cNvPr id="29" name="Text 24"/>
          <p:cNvSpPr/>
          <p:nvPr/>
        </p:nvSpPr>
        <p:spPr>
          <a:xfrm>
            <a:off x="6505724" y="1492597"/>
            <a:ext cx="2126935" cy="294099"/>
          </a:xfrm>
          <a:prstGeom prst="rect">
            <a:avLst/>
          </a:prstGeom>
          <a:noFill/>
          <a:ln/>
        </p:spPr>
        <p:txBody>
          <a:bodyPr wrap="square" lIns="0" tIns="0" rIns="0" bIns="0" rtlCol="0" anchor="t"/>
          <a:lstStyle/>
          <a:p>
            <a:pPr marL="0" indent="0" algn="l">
              <a:lnSpc>
                <a:spcPts val="1102"/>
              </a:lnSpc>
              <a:buNone/>
            </a:pPr>
            <a:r>
              <a:rPr lang="en-US" sz="760" dirty="0">
                <a:solidFill>
                  <a:srgbClr val="FFFFFF">
                    <a:alpha val="82000"/>
                  </a:srgbClr>
                </a:solidFill>
                <a:latin typeface="Calibri" pitchFamily="34" charset="0"/>
                <a:ea typeface="Calibri" pitchFamily="34" charset="-122"/>
                <a:cs typeface="Calibri" pitchFamily="34" charset="-120"/>
              </a:rPr>
              <a:t>Use tools from the Toybox. Play is not optional in telehealth — it is often the only thing that works.</a:t>
            </a:r>
            <a:endParaRPr lang="en-US" sz="760" dirty="0"/>
          </a:p>
        </p:txBody>
      </p:sp>
      <p:sp>
        <p:nvSpPr>
          <p:cNvPr id="30" name="Text 25"/>
          <p:cNvSpPr/>
          <p:nvPr/>
        </p:nvSpPr>
        <p:spPr>
          <a:xfrm>
            <a:off x="400050" y="2964359"/>
            <a:ext cx="2733973" cy="1802309"/>
          </a:xfrm>
          <a:prstGeom prst="roundRect">
            <a:avLst>
              <a:gd name="adj" fmla="val 3171"/>
            </a:avLst>
          </a:prstGeom>
          <a:solidFill>
            <a:srgbClr val="FFFFFF">
              <a:alpha val="7000"/>
            </a:srgbClr>
          </a:solidFill>
          <a:ln w="9525">
            <a:solidFill>
              <a:srgbClr val="FFFFFF">
                <a:alpha val="10000"/>
              </a:srgbClr>
            </a:solidFill>
          </a:ln>
        </p:spPr>
        <p:txBody>
          <a:bodyPr wrap="square" rtlCol="0" anchor="t"/>
          <a:lstStyle/>
          <a:p>
            <a:pPr marL="0" indent="0">
              <a:buNone/>
            </a:pPr>
            <a:endParaRPr lang="en-US" dirty="0"/>
          </a:p>
        </p:txBody>
      </p:sp>
      <p:sp>
        <p:nvSpPr>
          <p:cNvPr id="31" name="Text 26"/>
          <p:cNvSpPr/>
          <p:nvPr/>
        </p:nvSpPr>
        <p:spPr>
          <a:xfrm>
            <a:off x="537716" y="3095774"/>
            <a:ext cx="257770" cy="257770"/>
          </a:xfrm>
          <a:prstGeom prst="ellipse">
            <a:avLst/>
          </a:prstGeom>
          <a:solidFill>
            <a:srgbClr val="FAB753">
              <a:alpha val="15000"/>
            </a:srgbClr>
          </a:solidFill>
          <a:ln/>
        </p:spPr>
        <p:txBody>
          <a:bodyPr wrap="none" rtlCol="0" anchor="t"/>
          <a:lstStyle/>
          <a:p>
            <a:pPr marL="0" indent="0">
              <a:buNone/>
            </a:pPr>
            <a:endParaRPr lang="en-US" dirty="0"/>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0307" y="3158365"/>
            <a:ext cx="132588" cy="132588"/>
          </a:xfrm>
          <a:prstGeom prst="rect">
            <a:avLst/>
          </a:prstGeom>
        </p:spPr>
      </p:pic>
      <p:sp>
        <p:nvSpPr>
          <p:cNvPr id="33" name="Text 27"/>
          <p:cNvSpPr/>
          <p:nvPr/>
        </p:nvSpPr>
        <p:spPr>
          <a:xfrm>
            <a:off x="895796" y="3088184"/>
            <a:ext cx="2126935" cy="268784"/>
          </a:xfrm>
          <a:prstGeom prst="rect">
            <a:avLst/>
          </a:prstGeom>
          <a:noFill/>
          <a:ln/>
        </p:spPr>
        <p:txBody>
          <a:bodyPr wrap="square" lIns="0" tIns="0" rIns="0" bIns="0" rtlCol="0" anchor="t"/>
          <a:lstStyle/>
          <a:p>
            <a:pPr marL="0" indent="0" algn="l">
              <a:lnSpc>
                <a:spcPts val="1008"/>
              </a:lnSpc>
              <a:spcAft>
                <a:spcPts val="170"/>
              </a:spcAft>
              <a:buNone/>
            </a:pPr>
            <a:r>
              <a:rPr lang="en-US" sz="840" b="1" dirty="0">
                <a:solidFill>
                  <a:srgbClr val="FFFFFF"/>
                </a:solidFill>
                <a:latin typeface="Calibri" pitchFamily="34" charset="0"/>
                <a:ea typeface="Calibri" pitchFamily="34" charset="-122"/>
                <a:cs typeface="Calibri" pitchFamily="34" charset="-120"/>
              </a:rPr>
              <a:t>Complete your documentation in session.</a:t>
            </a:r>
            <a:endParaRPr lang="en-US" sz="840" dirty="0"/>
          </a:p>
        </p:txBody>
      </p:sp>
      <p:sp>
        <p:nvSpPr>
          <p:cNvPr id="34" name="Text 28"/>
          <p:cNvSpPr/>
          <p:nvPr/>
        </p:nvSpPr>
        <p:spPr>
          <a:xfrm>
            <a:off x="895796" y="3365748"/>
            <a:ext cx="2126935" cy="441149"/>
          </a:xfrm>
          <a:prstGeom prst="rect">
            <a:avLst/>
          </a:prstGeom>
          <a:noFill/>
          <a:ln/>
        </p:spPr>
        <p:txBody>
          <a:bodyPr wrap="square" lIns="0" tIns="0" rIns="0" bIns="0" rtlCol="0" anchor="t"/>
          <a:lstStyle/>
          <a:p>
            <a:pPr marL="0" indent="0" algn="l">
              <a:lnSpc>
                <a:spcPts val="1102"/>
              </a:lnSpc>
              <a:buNone/>
            </a:pPr>
            <a:r>
              <a:rPr lang="en-US" sz="760" dirty="0">
                <a:solidFill>
                  <a:srgbClr val="FFFFFF">
                    <a:alpha val="82000"/>
                  </a:srgbClr>
                </a:solidFill>
                <a:latin typeface="Calibri" pitchFamily="34" charset="0"/>
                <a:ea typeface="Calibri" pitchFamily="34" charset="-122"/>
                <a:cs typeface="Calibri" pitchFamily="34" charset="-120"/>
              </a:rPr>
              <a:t>Telehealth and Eleos work together. Use the final minutes to confirm your note before you close the session.</a:t>
            </a:r>
            <a:endParaRPr lang="en-US" sz="760" dirty="0"/>
          </a:p>
        </p:txBody>
      </p:sp>
      <p:sp>
        <p:nvSpPr>
          <p:cNvPr id="35" name="Text 29"/>
          <p:cNvSpPr/>
          <p:nvPr/>
        </p:nvSpPr>
        <p:spPr>
          <a:xfrm>
            <a:off x="3205014" y="2964359"/>
            <a:ext cx="2733973" cy="1802309"/>
          </a:xfrm>
          <a:prstGeom prst="roundRect">
            <a:avLst>
              <a:gd name="adj" fmla="val 3171"/>
            </a:avLst>
          </a:prstGeom>
          <a:solidFill>
            <a:srgbClr val="FFFFFF">
              <a:alpha val="7000"/>
            </a:srgbClr>
          </a:solidFill>
          <a:ln w="9525">
            <a:solidFill>
              <a:srgbClr val="FFFFFF">
                <a:alpha val="10000"/>
              </a:srgbClr>
            </a:solidFill>
          </a:ln>
        </p:spPr>
        <p:txBody>
          <a:bodyPr wrap="square" rtlCol="0" anchor="t"/>
          <a:lstStyle/>
          <a:p>
            <a:pPr marL="0" indent="0">
              <a:buNone/>
            </a:pPr>
            <a:endParaRPr lang="en-US" dirty="0"/>
          </a:p>
        </p:txBody>
      </p:sp>
      <p:sp>
        <p:nvSpPr>
          <p:cNvPr id="36" name="Text 30"/>
          <p:cNvSpPr/>
          <p:nvPr/>
        </p:nvSpPr>
        <p:spPr>
          <a:xfrm>
            <a:off x="3342680" y="3095774"/>
            <a:ext cx="257770" cy="257770"/>
          </a:xfrm>
          <a:prstGeom prst="ellipse">
            <a:avLst/>
          </a:prstGeom>
          <a:solidFill>
            <a:srgbClr val="FAB753">
              <a:alpha val="15000"/>
            </a:srgbClr>
          </a:solidFill>
          <a:ln/>
        </p:spPr>
        <p:txBody>
          <a:bodyPr wrap="none" rtlCol="0" anchor="t"/>
          <a:lstStyle/>
          <a:p>
            <a:pPr marL="0" indent="0">
              <a:buNone/>
            </a:pPr>
            <a:endParaRPr lang="en-US"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05271" y="3158365"/>
            <a:ext cx="132588" cy="132588"/>
          </a:xfrm>
          <a:prstGeom prst="rect">
            <a:avLst/>
          </a:prstGeom>
        </p:spPr>
      </p:pic>
      <p:sp>
        <p:nvSpPr>
          <p:cNvPr id="38" name="Text 31"/>
          <p:cNvSpPr/>
          <p:nvPr/>
        </p:nvSpPr>
        <p:spPr>
          <a:xfrm>
            <a:off x="3700760" y="3088184"/>
            <a:ext cx="2293754" cy="127992"/>
          </a:xfrm>
          <a:prstGeom prst="rect">
            <a:avLst/>
          </a:prstGeom>
          <a:noFill/>
          <a:ln/>
        </p:spPr>
        <p:txBody>
          <a:bodyPr wrap="none" lIns="0" tIns="0" rIns="0" bIns="0" rtlCol="0" anchor="t"/>
          <a:lstStyle/>
          <a:p>
            <a:pPr marL="0" indent="0" algn="l">
              <a:lnSpc>
                <a:spcPts val="1008"/>
              </a:lnSpc>
              <a:spcAft>
                <a:spcPts val="170"/>
              </a:spcAft>
              <a:buNone/>
            </a:pPr>
            <a:r>
              <a:rPr lang="en-US" sz="840" b="1" dirty="0">
                <a:solidFill>
                  <a:srgbClr val="FFFFFF"/>
                </a:solidFill>
                <a:latin typeface="Calibri" pitchFamily="34" charset="0"/>
                <a:ea typeface="Calibri" pitchFamily="34" charset="-122"/>
                <a:cs typeface="Calibri" pitchFamily="34" charset="-120"/>
              </a:rPr>
              <a:t>Involve the family.</a:t>
            </a:r>
            <a:endParaRPr lang="en-US" sz="840" dirty="0"/>
          </a:p>
        </p:txBody>
      </p:sp>
      <p:sp>
        <p:nvSpPr>
          <p:cNvPr id="39" name="Text 32"/>
          <p:cNvSpPr/>
          <p:nvPr/>
        </p:nvSpPr>
        <p:spPr>
          <a:xfrm>
            <a:off x="3700760" y="3237756"/>
            <a:ext cx="2126935" cy="441149"/>
          </a:xfrm>
          <a:prstGeom prst="rect">
            <a:avLst/>
          </a:prstGeom>
          <a:noFill/>
          <a:ln/>
        </p:spPr>
        <p:txBody>
          <a:bodyPr wrap="square" lIns="0" tIns="0" rIns="0" bIns="0" rtlCol="0" anchor="t"/>
          <a:lstStyle/>
          <a:p>
            <a:pPr marL="0" indent="0" algn="l">
              <a:lnSpc>
                <a:spcPts val="1102"/>
              </a:lnSpc>
              <a:buNone/>
            </a:pPr>
            <a:r>
              <a:rPr lang="en-US" sz="760" dirty="0">
                <a:solidFill>
                  <a:srgbClr val="FFFFFF">
                    <a:alpha val="82000"/>
                  </a:srgbClr>
                </a:solidFill>
                <a:latin typeface="Calibri" pitchFamily="34" charset="0"/>
                <a:ea typeface="Calibri" pitchFamily="34" charset="-122"/>
                <a:cs typeface="Calibri" pitchFamily="34" charset="-120"/>
              </a:rPr>
              <a:t>Telehealth removes the commute barrier for caregivers. Use that. Family involvement improves outcomes — the research is clear.</a:t>
            </a:r>
            <a:endParaRPr lang="en-US" sz="760" dirty="0"/>
          </a:p>
        </p:txBody>
      </p:sp>
      <p:sp>
        <p:nvSpPr>
          <p:cNvPr id="40" name="Text 33"/>
          <p:cNvSpPr/>
          <p:nvPr/>
        </p:nvSpPr>
        <p:spPr>
          <a:xfrm>
            <a:off x="6009977" y="2964359"/>
            <a:ext cx="2733973" cy="1802309"/>
          </a:xfrm>
          <a:prstGeom prst="roundRect">
            <a:avLst>
              <a:gd name="adj" fmla="val 3171"/>
            </a:avLst>
          </a:prstGeom>
          <a:solidFill>
            <a:srgbClr val="FFFFFF">
              <a:alpha val="7000"/>
            </a:srgbClr>
          </a:solidFill>
          <a:ln w="9525">
            <a:solidFill>
              <a:srgbClr val="FFFFFF">
                <a:alpha val="10000"/>
              </a:srgbClr>
            </a:solidFill>
          </a:ln>
        </p:spPr>
        <p:txBody>
          <a:bodyPr wrap="square" rtlCol="0" anchor="t"/>
          <a:lstStyle/>
          <a:p>
            <a:pPr marL="0" indent="0">
              <a:buNone/>
            </a:pPr>
            <a:endParaRPr lang="en-US" dirty="0"/>
          </a:p>
        </p:txBody>
      </p:sp>
      <p:sp>
        <p:nvSpPr>
          <p:cNvPr id="41" name="Text 34"/>
          <p:cNvSpPr/>
          <p:nvPr/>
        </p:nvSpPr>
        <p:spPr>
          <a:xfrm>
            <a:off x="6147643" y="3095774"/>
            <a:ext cx="257770" cy="257770"/>
          </a:xfrm>
          <a:prstGeom prst="ellipse">
            <a:avLst/>
          </a:prstGeom>
          <a:solidFill>
            <a:srgbClr val="FAB753">
              <a:alpha val="15000"/>
            </a:srgbClr>
          </a:solidFill>
          <a:ln/>
        </p:spPr>
        <p:txBody>
          <a:bodyPr wrap="none" rtlCol="0" anchor="t"/>
          <a:lstStyle/>
          <a:p>
            <a:pPr marL="0" indent="0">
              <a:buNone/>
            </a:pPr>
            <a:endParaRPr lang="en-US" dirty="0"/>
          </a:p>
        </p:txBody>
      </p:sp>
      <p:pic>
        <p:nvPicPr>
          <p:cNvPr id="4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10235" y="3158365"/>
            <a:ext cx="132588" cy="132588"/>
          </a:xfrm>
          <a:prstGeom prst="rect">
            <a:avLst/>
          </a:prstGeom>
        </p:spPr>
      </p:pic>
      <p:sp>
        <p:nvSpPr>
          <p:cNvPr id="43" name="Text 35"/>
          <p:cNvSpPr/>
          <p:nvPr/>
        </p:nvSpPr>
        <p:spPr>
          <a:xfrm>
            <a:off x="6505724" y="3088184"/>
            <a:ext cx="2293754" cy="127992"/>
          </a:xfrm>
          <a:prstGeom prst="rect">
            <a:avLst/>
          </a:prstGeom>
          <a:noFill/>
          <a:ln/>
        </p:spPr>
        <p:txBody>
          <a:bodyPr wrap="none" lIns="0" tIns="0" rIns="0" bIns="0" rtlCol="0" anchor="t"/>
          <a:lstStyle/>
          <a:p>
            <a:pPr marL="0" indent="0" algn="l">
              <a:lnSpc>
                <a:spcPts val="1008"/>
              </a:lnSpc>
              <a:spcAft>
                <a:spcPts val="170"/>
              </a:spcAft>
              <a:buNone/>
            </a:pPr>
            <a:r>
              <a:rPr lang="en-US" sz="840" b="1" dirty="0">
                <a:solidFill>
                  <a:srgbClr val="FFFFFF"/>
                </a:solidFill>
                <a:latin typeface="Calibri" pitchFamily="34" charset="0"/>
                <a:ea typeface="Calibri" pitchFamily="34" charset="-122"/>
                <a:cs typeface="Calibri" pitchFamily="34" charset="-120"/>
              </a:rPr>
              <a:t>You are not alone in this.</a:t>
            </a:r>
            <a:endParaRPr lang="en-US" sz="840" dirty="0"/>
          </a:p>
        </p:txBody>
      </p:sp>
      <p:sp>
        <p:nvSpPr>
          <p:cNvPr id="44" name="Text 36"/>
          <p:cNvSpPr/>
          <p:nvPr/>
        </p:nvSpPr>
        <p:spPr>
          <a:xfrm>
            <a:off x="6505724" y="3237756"/>
            <a:ext cx="2126935" cy="441149"/>
          </a:xfrm>
          <a:prstGeom prst="rect">
            <a:avLst/>
          </a:prstGeom>
          <a:noFill/>
          <a:ln/>
        </p:spPr>
        <p:txBody>
          <a:bodyPr wrap="square" lIns="0" tIns="0" rIns="0" bIns="0" rtlCol="0" anchor="t"/>
          <a:lstStyle/>
          <a:p>
            <a:pPr marL="0" indent="0" algn="l">
              <a:lnSpc>
                <a:spcPts val="1102"/>
              </a:lnSpc>
              <a:buNone/>
            </a:pPr>
            <a:r>
              <a:rPr lang="en-US" sz="760" dirty="0">
                <a:solidFill>
                  <a:srgbClr val="FFFFFF">
                    <a:alpha val="82000"/>
                  </a:srgbClr>
                </a:solidFill>
                <a:latin typeface="Calibri" pitchFamily="34" charset="0"/>
                <a:ea typeface="Calibri" pitchFamily="34" charset="-122"/>
                <a:cs typeface="Calibri" pitchFamily="34" charset="-120"/>
              </a:rPr>
              <a:t>Your team lead and Centerstone support are here. If something is not working — in your tech, your documentation, or your sessions — ask.</a:t>
            </a:r>
            <a:endParaRPr lang="en-US" sz="760" dirty="0"/>
          </a:p>
        </p:txBody>
      </p:sp>
      <p:sp>
        <p:nvSpPr>
          <p:cNvPr id="45" name="Text 37"/>
          <p:cNvSpPr/>
          <p:nvPr/>
        </p:nvSpPr>
        <p:spPr>
          <a:xfrm>
            <a:off x="-91440" y="4852988"/>
            <a:ext cx="9326880" cy="290513"/>
          </a:xfrm>
          <a:prstGeom prst="rect">
            <a:avLst/>
          </a:prstGeom>
          <a:noFill/>
          <a:ln/>
        </p:spPr>
        <p:txBody>
          <a:bodyPr wrap="none" lIns="514350" tIns="71120" rIns="514350" bIns="71120" rtlCol="0" anchor="t"/>
          <a:lstStyle/>
          <a:p>
            <a:pPr marL="0" indent="0" algn="ctr">
              <a:buNone/>
            </a:pPr>
            <a:r>
              <a:rPr lang="en-US" sz="730" dirty="0">
                <a:solidFill>
                  <a:srgbClr val="FAB753"/>
                </a:solidFill>
                <a:latin typeface="Calibri" pitchFamily="34" charset="0"/>
                <a:ea typeface="Calibri" pitchFamily="34" charset="-122"/>
                <a:cs typeface="Calibri" pitchFamily="34" charset="-120"/>
              </a:rPr>
              <a:t>Centerstone Clinical Training Series  ·  Telehealth 101  ·  June 2026  ·  Topher Fuqua, LMFT</a:t>
            </a:r>
            <a:endParaRPr lang="en-US" sz="730" dirty="0"/>
          </a:p>
        </p:txBody>
      </p:sp>
      <p:sp>
        <p:nvSpPr>
          <p:cNvPr id="46" name="Text 38"/>
          <p:cNvSpPr/>
          <p:nvPr/>
        </p:nvSpPr>
        <p:spPr>
          <a:xfrm>
            <a:off x="0" y="4852988"/>
            <a:ext cx="9144000" cy="9525"/>
          </a:xfrm>
          <a:prstGeom prst="rect">
            <a:avLst/>
          </a:prstGeom>
          <a:solidFill>
            <a:srgbClr val="FFFFFF">
              <a:alpha val="10000"/>
            </a:srgbClr>
          </a:solidFill>
          <a:ln/>
        </p:spPr>
        <p:txBody>
          <a:bodyPr wrap="none" rtlCol="0" anchor="t"/>
          <a:lstStyle/>
          <a:p>
            <a:pPr marL="0" indent="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5E72"/>
        </a:solidFill>
        <a:effectLst/>
      </p:bgPr>
    </p:bg>
    <p:spTree>
      <p:nvGrpSpPr>
        <p:cNvPr id="1" name=""/>
        <p:cNvGrpSpPr/>
        <p:nvPr/>
      </p:nvGrpSpPr>
      <p:grpSpPr>
        <a:xfrm>
          <a:off x="0" y="0"/>
          <a:ext cx="0" cy="0"/>
          <a:chOff x="0" y="0"/>
          <a:chExt cx="0" cy="0"/>
        </a:xfrm>
      </p:grpSpPr>
      <p:sp>
        <p:nvSpPr>
          <p:cNvPr id="2" name="Text 0"/>
          <p:cNvSpPr/>
          <p:nvPr/>
        </p:nvSpPr>
        <p:spPr>
          <a:xfrm>
            <a:off x="6144220" y="0"/>
            <a:ext cx="2999780" cy="2857500"/>
          </a:xfrm>
          <a:prstGeom prst="ellipse">
            <a:avLst/>
          </a:prstGeom>
          <a:solidFill>
            <a:srgbClr val="FFFFFF">
              <a:alpha val="3000"/>
            </a:srgbClr>
          </a:solidFill>
          <a:ln/>
        </p:spPr>
        <p:txBody>
          <a:bodyPr wrap="square" rtlCol="0" anchor="t"/>
          <a:lstStyle/>
          <a:p>
            <a:pPr marL="0" indent="0">
              <a:buNone/>
            </a:pPr>
            <a:endParaRPr lang="en-US"/>
          </a:p>
        </p:txBody>
      </p:sp>
      <p:sp>
        <p:nvSpPr>
          <p:cNvPr id="3" name="Text 1"/>
          <p:cNvSpPr/>
          <p:nvPr/>
        </p:nvSpPr>
        <p:spPr>
          <a:xfrm>
            <a:off x="0" y="3572470"/>
            <a:ext cx="2000250" cy="1571030"/>
          </a:xfrm>
          <a:prstGeom prst="ellipse">
            <a:avLst/>
          </a:prstGeom>
          <a:solidFill>
            <a:srgbClr val="FFFFFF">
              <a:alpha val="3000"/>
            </a:srgbClr>
          </a:solidFill>
          <a:ln/>
        </p:spPr>
        <p:txBody>
          <a:bodyPr wrap="square" rtlCol="0" anchor="t"/>
          <a:lstStyle/>
          <a:p>
            <a:pPr marL="0" indent="0">
              <a:buNone/>
            </a:pPr>
            <a:endParaRPr lang="en-US"/>
          </a:p>
        </p:txBody>
      </p:sp>
      <p:sp>
        <p:nvSpPr>
          <p:cNvPr id="4" name="Text 2"/>
          <p:cNvSpPr/>
          <p:nvPr/>
        </p:nvSpPr>
        <p:spPr>
          <a:xfrm>
            <a:off x="5429250" y="0"/>
            <a:ext cx="3714750" cy="357128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5" name="Text 3"/>
          <p:cNvSpPr/>
          <p:nvPr/>
        </p:nvSpPr>
        <p:spPr>
          <a:xfrm>
            <a:off x="0" y="3356521"/>
            <a:ext cx="2358479" cy="1786979"/>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6" name="Text 4"/>
          <p:cNvSpPr/>
          <p:nvPr/>
        </p:nvSpPr>
        <p:spPr>
          <a:xfrm>
            <a:off x="429220" y="429220"/>
            <a:ext cx="2143720" cy="214372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7" name="Text 5"/>
          <p:cNvSpPr/>
          <p:nvPr/>
        </p:nvSpPr>
        <p:spPr>
          <a:xfrm>
            <a:off x="0" y="0"/>
            <a:ext cx="29170" cy="51435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a:p>
        </p:txBody>
      </p:sp>
      <p:sp>
        <p:nvSpPr>
          <p:cNvPr id="8" name="Eyebrow"/>
          <p:cNvSpPr/>
          <p:nvPr/>
        </p:nvSpPr>
        <p:spPr>
          <a:xfrm>
            <a:off x="3144441" y="627387"/>
            <a:ext cx="2999779" cy="99725"/>
          </a:xfrm>
          <a:prstGeom prst="rect">
            <a:avLst/>
          </a:prstGeom>
          <a:noFill/>
          <a:ln/>
        </p:spPr>
        <p:txBody>
          <a:bodyPr wrap="square" lIns="0" tIns="0" rIns="0" bIns="0" rtlCol="0" anchor="t"/>
          <a:lstStyle/>
          <a:p>
            <a:pPr marL="0" indent="0" algn="ctr">
              <a:lnSpc>
                <a:spcPts val="930"/>
              </a:lnSpc>
              <a:buNone/>
            </a:pPr>
            <a:r>
              <a:rPr lang="en-US" sz="620" b="1" kern="0" spc="155"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9" name="Accent Line Top"/>
          <p:cNvSpPr/>
          <p:nvPr/>
        </p:nvSpPr>
        <p:spPr>
          <a:xfrm>
            <a:off x="4357390" y="931416"/>
            <a:ext cx="429220" cy="13841"/>
          </a:xfrm>
          <a:prstGeom prst="rect">
            <a:avLst/>
          </a:prstGeom>
          <a:solidFill>
            <a:srgbClr val="FAB753"/>
          </a:solidFill>
          <a:ln/>
        </p:spPr>
        <p:txBody>
          <a:bodyPr wrap="none" rtlCol="0" anchor="t"/>
          <a:lstStyle/>
          <a:p>
            <a:pPr marL="0" indent="0">
              <a:buNone/>
            </a:pPr>
            <a:endParaRPr lang="en-US"/>
          </a:p>
        </p:txBody>
      </p:sp>
      <p:sp>
        <p:nvSpPr>
          <p:cNvPr id="10" name="Title"/>
          <p:cNvSpPr/>
          <p:nvPr/>
        </p:nvSpPr>
        <p:spPr>
          <a:xfrm>
            <a:off x="1700323" y="1112565"/>
            <a:ext cx="5599606" cy="565696"/>
          </a:xfrm>
          <a:prstGeom prst="rect">
            <a:avLst/>
          </a:prstGeom>
          <a:noFill/>
          <a:ln/>
        </p:spPr>
        <p:txBody>
          <a:bodyPr wrap="squar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cs typeface="Calibri Light" pitchFamily="34" charset="-120"/>
              </a:rPr>
              <a:t>Telehealth 101</a:t>
            </a:r>
            <a:endParaRPr lang="en-US" sz="4050" dirty="0"/>
          </a:p>
        </p:txBody>
      </p:sp>
      <p:sp>
        <p:nvSpPr>
          <p:cNvPr id="11" name="Accent Line Bottom"/>
          <p:cNvSpPr/>
          <p:nvPr/>
        </p:nvSpPr>
        <p:spPr>
          <a:xfrm>
            <a:off x="4143375" y="1900000"/>
            <a:ext cx="857250" cy="7590"/>
          </a:xfrm>
          <a:prstGeom prst="rect">
            <a:avLst/>
          </a:prstGeom>
          <a:solidFill>
            <a:srgbClr val="FAB753">
              <a:alpha val="35000"/>
            </a:srgbClr>
          </a:solidFill>
          <a:ln/>
        </p:spPr>
        <p:txBody>
          <a:bodyPr wrap="none" rtlCol="0" anchor="t"/>
          <a:lstStyle/>
          <a:p>
            <a:pPr marL="0" indent="0">
              <a:buNone/>
            </a:pPr>
            <a:endParaRPr lang="en-US"/>
          </a:p>
        </p:txBody>
      </p:sp>
      <p:sp>
        <p:nvSpPr>
          <p:cNvPr id="12" name="Message"/>
          <p:cNvSpPr/>
          <p:nvPr/>
        </p:nvSpPr>
        <p:spPr>
          <a:xfrm>
            <a:off x="2072123" y="2040000"/>
            <a:ext cx="4999754" cy="400000"/>
          </a:xfrm>
          <a:prstGeom prst="rect">
            <a:avLst/>
          </a:prstGeom>
          <a:noFill/>
          <a:ln/>
        </p:spPr>
        <p:txBody>
          <a:bodyPr wrap="square" lIns="0" tIns="0" rIns="0" bIns="0" rtlCol="0" anchor="t"/>
          <a:lstStyle/>
          <a:p>
            <a:pPr marL="0" indent="0" algn="ctr">
              <a:lnSpc>
                <a:spcPts val="1860"/>
              </a:lnSpc>
              <a:buNone/>
            </a:pPr>
            <a:r>
              <a:rPr lang="en-US" sz="1240" kern="0" spc="50"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240" dirty="0"/>
          </a:p>
        </p:txBody>
      </p:sp>
      <p:sp>
        <p:nvSpPr>
          <p:cNvPr id="17" name="Survey Link Placeholder"/>
          <p:cNvSpPr/>
          <p:nvPr/>
        </p:nvSpPr>
        <p:spPr>
          <a:xfrm>
            <a:off x="2000250" y="4192872"/>
            <a:ext cx="4999754" cy="330000"/>
          </a:xfrm>
          <a:prstGeom prst="rect">
            <a:avLst/>
          </a:prstGeom>
          <a:noFill/>
          <a:ln/>
        </p:spPr>
        <p:txBody>
          <a:bodyPr wrap="square" lIns="0" tIns="0" rIns="0" bIns="0" rtlCol="0" anchor="t"/>
          <a:lstStyle/>
          <a:p>
            <a:pPr algn="ctr">
              <a:lnSpc>
                <a:spcPts val="1440"/>
              </a:lnSpc>
            </a:pPr>
            <a:r>
              <a:rPr lang="en-US" sz="1060" u="sng" dirty="0">
                <a:solidFill>
                  <a:srgbClr val="FBB753"/>
                </a:solidFill>
                <a:hlinkClick r:id="rId2">
                  <a:extLst>
                    <a:ext uri="{A12FA001-AC4F-418D-AE19-62706E023703}">
                      <ahyp:hlinkClr xmlns:ahyp="http://schemas.microsoft.com/office/drawing/2018/hyperlinkcolor" val="tx"/>
                    </a:ext>
                  </a:extLst>
                </a:hlinkClick>
              </a:rPr>
              <a:t>https://forms.office.com/r/EXVCQtPbti</a:t>
            </a:r>
            <a:endParaRPr lang="en-US" sz="1060" dirty="0">
              <a:solidFill>
                <a:srgbClr val="FBB753"/>
              </a:solidFill>
            </a:endParaRPr>
          </a:p>
          <a:p>
            <a:pPr marL="0" indent="0" algn="ctr">
              <a:lnSpc>
                <a:spcPts val="1440"/>
              </a:lnSpc>
              <a:buNone/>
            </a:pPr>
            <a:endParaRPr lang="en-US" sz="1050" dirty="0"/>
          </a:p>
        </p:txBody>
      </p:sp>
      <p:sp>
        <p:nvSpPr>
          <p:cNvPr id="15" name="Bottom Accent"/>
          <p:cNvSpPr/>
          <p:nvPr/>
        </p:nvSpPr>
        <p:spPr>
          <a:xfrm>
            <a:off x="0" y="5114330"/>
            <a:ext cx="9144000" cy="29170"/>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pPr marL="0" indent="0">
              <a:buNone/>
            </a:pPr>
            <a:endParaRPr lang="en-US"/>
          </a:p>
        </p:txBody>
      </p:sp>
      <p:pic>
        <p:nvPicPr>
          <p:cNvPr id="14" name="Picture 13">
            <a:extLst>
              <a:ext uri="{FF2B5EF4-FFF2-40B4-BE49-F238E27FC236}">
                <a16:creationId xmlns:a16="http://schemas.microsoft.com/office/drawing/2014/main" id="{E3F00BDF-A22A-92E6-20D7-10B4478873EF}"/>
              </a:ext>
            </a:extLst>
          </p:cNvPr>
          <p:cNvPicPr>
            <a:picLocks noChangeAspect="1"/>
          </p:cNvPicPr>
          <p:nvPr/>
        </p:nvPicPr>
        <p:blipFill>
          <a:blip r:embed="rId3"/>
          <a:stretch>
            <a:fillRect/>
          </a:stretch>
        </p:blipFill>
        <p:spPr>
          <a:xfrm>
            <a:off x="3820429" y="2676823"/>
            <a:ext cx="1359395" cy="1359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2206</Words>
  <Application>Microsoft Macintosh PowerPoint</Application>
  <PresentationFormat>On-screen Show (16:9)</PresentationFormat>
  <Paragraphs>237</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Constantia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Topher Fuqua</cp:lastModifiedBy>
  <cp:revision>4</cp:revision>
  <dcterms:created xsi:type="dcterms:W3CDTF">2026-06-11T01:47:16Z</dcterms:created>
  <dcterms:modified xsi:type="dcterms:W3CDTF">2026-07-08T01:13:03Z</dcterms:modified>
</cp:coreProperties>
</file>